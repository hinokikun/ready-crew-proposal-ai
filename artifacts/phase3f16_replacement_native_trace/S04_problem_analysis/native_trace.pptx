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688e87678d94c07" /><Relationship Type="http://schemas.openxmlformats.org/officeDocument/2006/relationships/extended-properties" Target="/docProps/app.xml" Id="R27dacbf2b08746dd" /><Relationship Type="http://schemas.openxmlformats.org/officeDocument/2006/relationships/officeDocument" Target="/ppt/presentation.xml" Id="R84bf9566db5b455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ad7cf029f8a40e6"/>
  </p:sldMasterIdLst>
  <p:notesMasterIdLst>
    <p:notesMasterId xmlns:r="http://schemas.openxmlformats.org/officeDocument/2006/relationships" r:id="R77ca399ff0d54b1b"/>
  </p:notesMasterIdLst>
  <p:sldIdLst>
    <p:sldId xmlns:r="http://schemas.openxmlformats.org/officeDocument/2006/relationships" id="256" r:id="R20238f0e3d4e463f"/>
  </p:sldIdLst>
  <p:sldSz cx="15925800" cy="89630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054a192d0aa42d8" /><Relationship Type="http://schemas.openxmlformats.org/officeDocument/2006/relationships/slideMaster" Target="/ppt/slideMasters/slideMaster1.xml" Id="R3ad7cf029f8a40e6" /><Relationship Type="http://schemas.openxmlformats.org/officeDocument/2006/relationships/notesMaster" Target="/ppt/notesMasters/notesMaster1.xml" Id="R77ca399ff0d54b1b" /><Relationship Type="http://schemas.openxmlformats.org/officeDocument/2006/relationships/presProps" Target="/ppt/presProps.xml" Id="Rb41f9ceb43164889" /><Relationship Type="http://schemas.openxmlformats.org/officeDocument/2006/relationships/tableStyles" Target="/ppt/tableStyles.xml" Id="Rf8149d1a60284f20" /><Relationship Type="http://schemas.openxmlformats.org/officeDocument/2006/relationships/slide" Target="/ppt/slides/slide1.xml" Id="R20238f0e3d4e463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3066502dcdd434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98ea22b02c048b8" /><Relationship Type="http://schemas.openxmlformats.org/officeDocument/2006/relationships/notesMaster" Target="/ppt/notesMasters/notesMaster1.xml" Id="R4367c41bb41644a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S04 replacement Native Trace built from the approved Canonical source. Sample content is trace-only.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92b47f64af494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1548e4b74df4f16" /><Relationship Type="http://schemas.openxmlformats.org/officeDocument/2006/relationships/slideLayout" Target="/ppt/slideLayouts/slideLayout1.xml" Id="R0625d5f1bcdb458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625d5f1bcdb458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f5ff7316d64214" /><Relationship Type="http://schemas.openxmlformats.org/officeDocument/2006/relationships/notesSlide" Target="/ppt/notesSlides/notesSlide1.xml" Id="R2adcfcf2ea2b48b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CAEE54DF-8B91-40B2-BF78-DFC73F0D8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57175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77309E-0E88-443F-B61B-AB784F875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7175"/>
            <a:ext cx="9525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C7B8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50F200-CB33-4934-9C07-D707E3DEA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"/>
            <a:ext cx="1809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現状理解・課題整理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DCEFF2-16C7-4A77-9550-7B3ED7642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371475"/>
            <a:ext cx="11658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E7B8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F0C361-A337-4D50-96FC-3C0FE8957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35175" y="257175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6C7B88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6C7B88"/>
                </a:solidFill>
                <a:latin typeface="Yu Gothic"/>
                <a:ea typeface="Yu Gothic"/>
                <a:cs typeface="Yu Gothic"/>
              </a:rPr>
              <a:t>2026.08.26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810DDA-C35B-4F6F-B091-B1E2DB90A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790575"/>
            <a:ext cx="285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250" b="1">
                <a:solidFill>
                  <a:srgbClr val="ED1C24"/>
                </a:solidFill>
                <a:latin typeface="Yu Gothic"/>
                <a:ea typeface="Yu Gothic"/>
                <a:cs typeface="Yu Gothic"/>
              </a:defRPr>
            </a:pPr>
            <a:r>
              <a:rPr sz="5250" b="1">
                <a:solidFill>
                  <a:srgbClr val="ED1C24"/>
                </a:solidFill>
                <a:latin typeface="Yu Gothic"/>
                <a:ea typeface="Yu Gothic"/>
                <a:cs typeface="Yu Gothic"/>
              </a:rPr>
              <a:t>主要課題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5F43EF-5CAD-429E-A988-69841EC12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790575"/>
            <a:ext cx="5334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950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4950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と改善優先テーマ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F829AD-26F1-4DAD-B10A-2A27468AD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57350"/>
            <a:ext cx="5334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0233D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10233D"/>
                </a:solidFill>
                <a:latin typeface="Yu Gothic"/>
                <a:ea typeface="Yu Gothic"/>
                <a:cs typeface="Yu Gothic"/>
              </a:rPr>
              <a:t>提案業務の生産性と受注精度を高めるため、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91F03F-2720-45ED-985E-4C60B1177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657350"/>
            <a:ext cx="4048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ED1C24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ED1C24"/>
                </a:solidFill>
                <a:latin typeface="Yu Gothic"/>
                <a:ea typeface="Yu Gothic"/>
                <a:cs typeface="Yu Gothic"/>
              </a:rPr>
              <a:t>優先して解決すべき課題を整理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BA15A9-257C-453E-B086-EC34B1176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657350"/>
            <a:ext cx="1181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0233D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10233D"/>
                </a:solidFill>
                <a:latin typeface="Yu Gothic"/>
                <a:ea typeface="Yu Gothic"/>
                <a:cs typeface="Yu Gothic"/>
              </a:rPr>
              <a:t>します。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A1289B-857B-476C-ACDF-8BCDB00EB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95525"/>
            <a:ext cx="5048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4D5394-A1F6-4123-8E9D-A2B7B883E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00275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主な業務課題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5DAE4A-38C6-44B1-AF69-454662918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209800"/>
            <a:ext cx="9525" cy="5086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DE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861A77-387D-48BB-BFC8-19C7C5894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95525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A27457-AF2C-4B35-9B70-970B4EA21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200275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改善優先テーマ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92A25F-BAD1-411D-9EF8-A1607C836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52700"/>
            <a:ext cx="8172450" cy="1066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12ED94-A72A-4754-BDC6-D900EFF09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52700"/>
            <a:ext cx="914400" cy="1066800"/>
          </a:xfrm>
          <a:custGeom xmlns:a="http://schemas.openxmlformats.org/drawingml/2006/main">
            <a:pathLst>
              <a:path w="914400" h="1066800">
                <a:moveTo>
                  <a:pt x="0" y="0"/>
                </a:moveTo>
                <a:lnTo>
                  <a:pt x="742950" y="0"/>
                </a:lnTo>
                <a:lnTo>
                  <a:pt x="914400" y="533400"/>
                </a:lnTo>
                <a:lnTo>
                  <a:pt x="742950" y="1066800"/>
                </a:lnTo>
                <a:lnTo>
                  <a:pt x="0" y="1066800"/>
                </a:lnTo>
                <a:close/>
              </a:path>
            </a:pathLst>
          </a:custGeom>
          <a:solidFill xmlns:a="http://schemas.openxmlformats.org/drawingml/2006/main">
            <a:srgbClr val="ED1C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7DD3BE-57A2-4F04-99FD-3230AE019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24175"/>
            <a:ext cx="457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2DDAD79-86FD-43A7-B92A-91631CC7A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743200"/>
            <a:ext cx="9525" cy="676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7B3B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97DB706-7C03-4D50-9BCF-E8F99ADBC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7241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ED1C24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ED1C24"/>
                </a:solidFill>
                <a:latin typeface="Yu Gothic"/>
                <a:ea typeface="Yu Gothic"/>
                <a:cs typeface="Yu Gothic"/>
              </a:rPr>
              <a:t>情報収集が属人化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B43A4A3-F703-40DB-8C02-484330056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3105150"/>
            <a:ext cx="552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0233D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10233D"/>
                </a:solidFill>
                <a:latin typeface="Yu Gothic"/>
                <a:ea typeface="Yu Gothic"/>
                <a:cs typeface="Yu Gothic"/>
              </a:rPr>
              <a:t>過去の提案資料・競合情報・顧客情報が各担当者に散在し、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0233D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10233D"/>
                </a:solidFill>
                <a:latin typeface="Yu Gothic"/>
                <a:ea typeface="Yu Gothic"/>
                <a:cs typeface="Yu Gothic"/>
              </a:rPr>
              <a:t>必要な情報にたどり着きにくく、再利用しにくい状況です。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2F8ACD9-40AA-496C-9A89-D65E67E81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33800"/>
            <a:ext cx="8172450" cy="1066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92A591D-0784-4BBC-864E-6FA78745D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33800"/>
            <a:ext cx="914400" cy="1066800"/>
          </a:xfrm>
          <a:custGeom xmlns:a="http://schemas.openxmlformats.org/drawingml/2006/main">
            <a:pathLst>
              <a:path w="914400" h="1066800">
                <a:moveTo>
                  <a:pt x="0" y="0"/>
                </a:moveTo>
                <a:lnTo>
                  <a:pt x="742950" y="0"/>
                </a:lnTo>
                <a:lnTo>
                  <a:pt x="914400" y="533400"/>
                </a:lnTo>
                <a:lnTo>
                  <a:pt x="742950" y="1066800"/>
                </a:lnTo>
                <a:lnTo>
                  <a:pt x="0" y="1066800"/>
                </a:lnTo>
                <a:close/>
              </a:path>
            </a:pathLst>
          </a:custGeom>
          <a:solidFill xmlns:a="http://schemas.openxmlformats.org/drawingml/2006/main">
            <a:srgbClr val="ED1C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637D2CE-F9C2-40AB-A3D0-CB7D5DDD5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105275"/>
            <a:ext cx="457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AB1DEEB-EED4-40FF-ACCB-D8E4B06B3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010025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0233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8B18E94-CCBF-4062-A0ED-28F6A1392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426720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0233D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4873C51-6F2D-495E-AEAF-0D3B6149C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4267200"/>
            <a:ext cx="123825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0233D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1C2D920-636A-4223-83F8-0D2EC7F6D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863" y="4243388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33D"/>
          </a:solidFill>
          <a:ln xmlns:a="http://schemas.openxmlformats.org/drawingml/2006/main" w="0">
            <a:solidFill>
              <a:srgbClr val="10233D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C7B8D69-B535-426B-BF42-7BB8B49C1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924300"/>
            <a:ext cx="9525" cy="676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7B3B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A3986F2-C553-481E-AAE2-36797C6DC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39052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ED1C24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ED1C24"/>
                </a:solidFill>
                <a:latin typeface="Yu Gothic"/>
                <a:ea typeface="Yu Gothic"/>
                <a:cs typeface="Yu Gothic"/>
              </a:rPr>
              <a:t>提案作成に時間がかかる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FD219C4-1376-4E36-8B69-DD320CB07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4286250"/>
            <a:ext cx="552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0233D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10233D"/>
                </a:solidFill>
                <a:latin typeface="Yu Gothic"/>
                <a:ea typeface="Yu Gothic"/>
                <a:cs typeface="Yu Gothic"/>
              </a:rPr>
              <a:t>構成の検討、文章の整理、資料の整形に多くの工数がかかり、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0233D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10233D"/>
                </a:solidFill>
                <a:latin typeface="Yu Gothic"/>
                <a:ea typeface="Yu Gothic"/>
                <a:cs typeface="Yu Gothic"/>
              </a:rPr>
              <a:t>提案スピードの低下につながっています。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C3A45AA-DAF5-4711-A9F8-BB30B4246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0"/>
            <a:ext cx="8172450" cy="1066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080FADE-F927-4B0B-88D3-E99D5D2E9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0"/>
            <a:ext cx="914400" cy="1066800"/>
          </a:xfrm>
          <a:custGeom xmlns:a="http://schemas.openxmlformats.org/drawingml/2006/main">
            <a:pathLst>
              <a:path w="914400" h="1066800">
                <a:moveTo>
                  <a:pt x="0" y="0"/>
                </a:moveTo>
                <a:lnTo>
                  <a:pt x="742950" y="0"/>
                </a:lnTo>
                <a:lnTo>
                  <a:pt x="914400" y="533400"/>
                </a:lnTo>
                <a:lnTo>
                  <a:pt x="742950" y="1066800"/>
                </a:lnTo>
                <a:lnTo>
                  <a:pt x="0" y="1066800"/>
                </a:lnTo>
                <a:close/>
              </a:path>
            </a:pathLst>
          </a:custGeom>
          <a:solidFill xmlns:a="http://schemas.openxmlformats.org/drawingml/2006/main">
            <a:srgbClr val="ED1C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569D23A-C540-4D06-82A6-534570E46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324475"/>
            <a:ext cx="457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DAC8105-2C78-48A8-8854-F9D59FB12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5219700"/>
            <a:ext cx="381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0233D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51902E5-CF67-48A7-8AC3-57BBE3096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219700"/>
            <a:ext cx="11430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0233D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BA37206-80E5-46B3-9B4D-73A3F8FDA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219700"/>
            <a:ext cx="9525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0233D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EEF3DEA-54A4-4458-A244-AEF28A9AC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457825"/>
            <a:ext cx="2190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0233D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70F5FBA-AF68-418A-ACF3-E5F68C454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572125"/>
            <a:ext cx="2190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0233D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5E42332-9587-48D2-9F34-0125ED332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5143500"/>
            <a:ext cx="9525" cy="676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7B3B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2FEA36C-7466-4993-A555-7DDEDC3AD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51244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ED1C24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ED1C24"/>
                </a:solidFill>
                <a:latin typeface="Yu Gothic"/>
                <a:ea typeface="Yu Gothic"/>
                <a:cs typeface="Yu Gothic"/>
              </a:rPr>
              <a:t>提案品質にばらつき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923AE73-4080-43A4-8C23-FD2D9D6EF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5505450"/>
            <a:ext cx="552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0233D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10233D"/>
                </a:solidFill>
                <a:latin typeface="Yu Gothic"/>
                <a:ea typeface="Yu Gothic"/>
                <a:cs typeface="Yu Gothic"/>
              </a:rPr>
              <a:t>担当者ごとに論点整理の深さや表現の質に差が生じ、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0233D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10233D"/>
                </a:solidFill>
                <a:latin typeface="Yu Gothic"/>
                <a:ea typeface="Yu Gothic"/>
                <a:cs typeface="Yu Gothic"/>
              </a:rPr>
              <a:t>提案内容の一貫性や訴求力にばらつきがあります。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453CED3-361D-4BDF-90D2-252155A58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72200"/>
            <a:ext cx="8172450" cy="1066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5F592BD-2AFD-4801-985A-69C965495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72200"/>
            <a:ext cx="914400" cy="1066800"/>
          </a:xfrm>
          <a:custGeom xmlns:a="http://schemas.openxmlformats.org/drawingml/2006/main">
            <a:pathLst>
              <a:path w="914400" h="1066800">
                <a:moveTo>
                  <a:pt x="0" y="0"/>
                </a:moveTo>
                <a:lnTo>
                  <a:pt x="742950" y="0"/>
                </a:lnTo>
                <a:lnTo>
                  <a:pt x="914400" y="533400"/>
                </a:lnTo>
                <a:lnTo>
                  <a:pt x="742950" y="1066800"/>
                </a:lnTo>
                <a:lnTo>
                  <a:pt x="0" y="1066800"/>
                </a:lnTo>
                <a:close/>
              </a:path>
            </a:pathLst>
          </a:custGeom>
          <a:solidFill xmlns:a="http://schemas.openxmlformats.org/drawingml/2006/main">
            <a:srgbClr val="ED1C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523F2F5-ADF4-40EA-8CF6-B3201760F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543675"/>
            <a:ext cx="457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A0F2B4F-3993-453D-AE7B-7C7BC7741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6943725"/>
            <a:ext cx="5429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0233D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C6AFA6E-AA40-4AE2-B9D6-A17EF2E99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6734175"/>
            <a:ext cx="114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0233D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E506F89-F471-4DEB-8CC7-63F55AD47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6610350"/>
            <a:ext cx="114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0233D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6E0C84B-EEBD-4E9B-B89B-39E50761E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6467475"/>
            <a:ext cx="114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0233D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255F499-497B-437F-8F57-0B1AF261C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6362700"/>
            <a:ext cx="9525" cy="676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7B3BF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D3E21ED-253F-45D7-A7B7-980E6848F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63436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ED1C24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ED1C24"/>
                </a:solidFill>
                <a:latin typeface="Yu Gothic"/>
                <a:ea typeface="Yu Gothic"/>
                <a:cs typeface="Yu Gothic"/>
              </a:rPr>
              <a:t>判断材料が不足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78A39AB-122B-4339-9E27-FE904FC86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6686550"/>
            <a:ext cx="552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233D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10233D"/>
                </a:solidFill>
                <a:latin typeface="Yu Gothic"/>
                <a:ea typeface="Yu Gothic"/>
                <a:cs typeface="Yu Gothic"/>
              </a:rPr>
              <a:t>受注確度、競合優位性、見積根拠などの情報が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0233D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10233D"/>
                </a:solidFill>
                <a:latin typeface="Yu Gothic"/>
                <a:ea typeface="Yu Gothic"/>
                <a:cs typeface="Yu Gothic"/>
              </a:rPr>
              <a:t>十分に可視化されておらず、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0233D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10233D"/>
                </a:solidFill>
                <a:latin typeface="Yu Gothic"/>
                <a:ea typeface="Yu Gothic"/>
                <a:cs typeface="Yu Gothic"/>
              </a:rPr>
              <a:t>戦略的な意思決定が難しい状況です。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49744BF-48ED-43E2-9F0D-57CA29A47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52700"/>
            <a:ext cx="6200775" cy="1047750"/>
          </a:xfrm>
          <a:prstGeom xmlns:a="http://schemas.openxmlformats.org/drawingml/2006/main" prst="roundRect">
            <a:avLst>
              <a:gd name="adj" fmla="val 6364"/>
            </a:avLst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0BDB13B-1033-4314-99F3-D6F80D08F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09850"/>
            <a:ext cx="857250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C24"/>
          </a:solidFill>
          <a:ln xmlns:a="http://schemas.openxmlformats.org/drawingml/2006/main" w="0">
            <a:solidFill>
              <a:srgbClr val="ED1C24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2F6F7B8-7710-4413-9B86-981BA11D7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00350"/>
            <a:ext cx="476250" cy="14287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FFFFFF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34C8F2F-EC49-46DF-9449-F60C33B6C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765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FFFFFF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872CEFA-4205-40E3-8A3B-AB7847D4A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133725"/>
            <a:ext cx="476250" cy="14287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FFFFFF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4B713BA-2782-4314-B2F6-743AD5B88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67025"/>
            <a:ext cx="9525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FFFFFF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EE8EF44-677A-405D-B0F5-A6BE3BF90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867025"/>
            <a:ext cx="9525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FFFFFF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A4BD419-8556-478D-8E1F-E713ED2E7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2705100"/>
            <a:ext cx="433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ED1C24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ED1C24"/>
                </a:solidFill>
                <a:latin typeface="Yu Gothic"/>
                <a:ea typeface="Yu Gothic"/>
                <a:cs typeface="Yu Gothic"/>
              </a:rPr>
              <a:t>A. 情報の蓄積と再利用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A0C6D5F-8396-46E9-9238-94754ECB6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3095625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233D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0233D"/>
                </a:solidFill>
                <a:latin typeface="Yu Gothic"/>
                <a:ea typeface="Yu Gothic"/>
                <a:cs typeface="Yu Gothic"/>
              </a:rPr>
              <a:t>提案・顧客・競合情報を一元化し、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233D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0233D"/>
                </a:solidFill>
                <a:latin typeface="Yu Gothic"/>
                <a:ea typeface="Yu Gothic"/>
                <a:cs typeface="Yu Gothic"/>
              </a:rPr>
              <a:t>誰でも活用できるナレッジ基盤を構築します。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DEF64BB-C9C1-46AF-8FC1-E344E3B1A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667125"/>
            <a:ext cx="6200775" cy="1047750"/>
          </a:xfrm>
          <a:prstGeom xmlns:a="http://schemas.openxmlformats.org/drawingml/2006/main" prst="roundRect">
            <a:avLst>
              <a:gd name="adj" fmla="val 6364"/>
            </a:avLst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52BC140-7A51-45F8-B676-1801E7962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724275"/>
            <a:ext cx="857250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C24"/>
          </a:solidFill>
          <a:ln xmlns:a="http://schemas.openxmlformats.org/drawingml/2006/main" w="0">
            <a:solidFill>
              <a:srgbClr val="ED1C24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A09B9BE5-D141-4A93-9558-799BBACAA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3819525"/>
            <a:ext cx="433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ED1C24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ED1C24"/>
                </a:solidFill>
                <a:latin typeface="Yu Gothic"/>
                <a:ea typeface="Yu Gothic"/>
                <a:cs typeface="Yu Gothic"/>
              </a:rPr>
              <a:t>B. 作成業務の自動化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A4FE363B-60D5-4A7A-800B-4AF9BB6EA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421005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233D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0233D"/>
                </a:solidFill>
                <a:latin typeface="Yu Gothic"/>
                <a:ea typeface="Yu Gothic"/>
                <a:cs typeface="Yu Gothic"/>
              </a:rPr>
              <a:t>AI・テンプレートの活用により、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233D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0233D"/>
                </a:solidFill>
                <a:latin typeface="Yu Gothic"/>
                <a:ea typeface="Yu Gothic"/>
                <a:cs typeface="Yu Gothic"/>
              </a:rPr>
              <a:t>構成・文章・資料作成の工数を削減します。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042BB095-DD39-4405-ACB6-287E9BC9A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781550"/>
            <a:ext cx="6200775" cy="1047750"/>
          </a:xfrm>
          <a:prstGeom xmlns:a="http://schemas.openxmlformats.org/drawingml/2006/main" prst="roundRect">
            <a:avLst>
              <a:gd name="adj" fmla="val 6364"/>
            </a:avLst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652DB01B-0529-486C-8502-3236C4289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838700"/>
            <a:ext cx="857250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C24"/>
          </a:solidFill>
          <a:ln xmlns:a="http://schemas.openxmlformats.org/drawingml/2006/main" w="0">
            <a:solidFill>
              <a:srgbClr val="ED1C24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03702006-5F7F-4891-B049-B220C07AF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5505450"/>
            <a:ext cx="5429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FFFFFF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39C6ED44-B2BF-4AC0-90E7-30555097B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295900"/>
            <a:ext cx="114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FFFFFF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F570FEEE-C9A8-4499-B100-EA31541D5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172075"/>
            <a:ext cx="114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FFFFFF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07AC167E-8562-46CA-BC91-45A36AC33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029200"/>
            <a:ext cx="114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FFFFFF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82F7CC9D-92F6-4758-A3E9-9661A85AA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4933950"/>
            <a:ext cx="433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ED1C24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ED1C24"/>
                </a:solidFill>
                <a:latin typeface="Yu Gothic"/>
                <a:ea typeface="Yu Gothic"/>
                <a:cs typeface="Yu Gothic"/>
              </a:rPr>
              <a:t>C. 判断支援の標準化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AAB6D708-744B-4111-A306-384221BF0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5324475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233D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0233D"/>
                </a:solidFill>
                <a:latin typeface="Yu Gothic"/>
                <a:ea typeface="Yu Gothic"/>
                <a:cs typeface="Yu Gothic"/>
              </a:rPr>
              <a:t>受注確度や競合分析、見積根拠を可視化し、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233D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0233D"/>
                </a:solidFill>
                <a:latin typeface="Yu Gothic"/>
                <a:ea typeface="Yu Gothic"/>
                <a:cs typeface="Yu Gothic"/>
              </a:rPr>
              <a:t>データに基づく意思決定を支援します。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7DE4A518-1CB0-4E78-B929-75204B55E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5905500"/>
            <a:ext cx="666750" cy="247650"/>
          </a:xfrm>
          <a:custGeom xmlns:a="http://schemas.openxmlformats.org/drawingml/2006/main">
            <a:pathLst>
              <a:path w="666750" h="247650">
                <a:moveTo>
                  <a:pt x="0" y="0"/>
                </a:moveTo>
                <a:lnTo>
                  <a:pt x="666750" y="0"/>
                </a:lnTo>
                <a:lnTo>
                  <a:pt x="333375" y="247650"/>
                </a:lnTo>
                <a:close/>
              </a:path>
            </a:pathLst>
          </a:custGeom>
          <a:solidFill xmlns:a="http://schemas.openxmlformats.org/drawingml/2006/main">
            <a:srgbClr val="FFD8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A39CCDF4-FBE1-46D4-AA67-FC7F94CBF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5325" y="5905500"/>
            <a:ext cx="419100" cy="152400"/>
          </a:xfrm>
          <a:custGeom xmlns:a="http://schemas.openxmlformats.org/drawingml/2006/main">
            <a:pathLst>
              <a:path w="419100" h="152400">
                <a:moveTo>
                  <a:pt x="0" y="0"/>
                </a:moveTo>
                <a:lnTo>
                  <a:pt x="419100" y="0"/>
                </a:lnTo>
                <a:lnTo>
                  <a:pt x="209550" y="152400"/>
                </a:lnTo>
                <a:close/>
              </a:path>
            </a:pathLst>
          </a:custGeom>
          <a:solidFill xmlns:a="http://schemas.openxmlformats.org/drawingml/2006/main">
            <a:srgbClr val="ED1C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EC960B6C-8618-4FB7-BF15-136F945CA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172200"/>
            <a:ext cx="6200775" cy="1181100"/>
          </a:xfrm>
          <a:prstGeom xmlns:a="http://schemas.openxmlformats.org/drawingml/2006/main" prst="roundRect">
            <a:avLst>
              <a:gd name="adj" fmla="val 5645"/>
            </a:avLst>
          </a:prstGeom>
          <a:solidFill xmlns:a="http://schemas.openxmlformats.org/drawingml/2006/main">
            <a:srgbClr val="FF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0E0F6DDD-2362-436D-90C4-6CB334062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353175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EF778BAE-2DF8-4073-902C-37CD88A12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6286500"/>
            <a:ext cx="2190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期待される効果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3CE362F9-A463-4739-9A30-8D3DB5AF9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7134225"/>
            <a:ext cx="5429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ED1C24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3DD2537E-B87A-45B9-90BB-6338A36E3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6924675"/>
            <a:ext cx="114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ED1C24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737F07E1-4EE2-4E25-AE53-FFC5706AD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6800850"/>
            <a:ext cx="114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ED1C24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2F6EA8E1-2170-42ED-8BF5-C46E550CB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6657975"/>
            <a:ext cx="114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ED1C24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91D6C705-E022-4226-AF80-0B5B57FCA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6294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ED1C24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ED1C24"/>
                </a:solidFill>
                <a:latin typeface="Yu Gothic"/>
                <a:ea typeface="Yu Gothic"/>
                <a:cs typeface="Yu Gothic"/>
              </a:rPr>
              <a:t>提案時間短縮 / 品質平準化 / 受注率向上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835BC919-5D7C-455D-8074-EF09A8D13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70485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233D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10233D"/>
                </a:solidFill>
                <a:latin typeface="Yu Gothic"/>
                <a:ea typeface="Yu Gothic"/>
                <a:cs typeface="Yu Gothic"/>
              </a:rPr>
              <a:t>業務の効率化と提案力の強化により、継続的な成果創出を実現します。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864DCF56-9D94-4B31-88A9-65EEC7892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524750"/>
            <a:ext cx="12534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DEA12D65-2D05-4BB0-8478-F21160EF6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524750"/>
            <a:ext cx="2362200" cy="590550"/>
          </a:xfrm>
          <a:custGeom xmlns:a="http://schemas.openxmlformats.org/drawingml/2006/main">
            <a:pathLst>
              <a:path w="2362200" h="590550">
                <a:moveTo>
                  <a:pt x="0" y="0"/>
                </a:moveTo>
                <a:lnTo>
                  <a:pt x="2095500" y="0"/>
                </a:lnTo>
                <a:lnTo>
                  <a:pt x="2362200" y="295275"/>
                </a:lnTo>
                <a:lnTo>
                  <a:pt x="2095500" y="590550"/>
                </a:lnTo>
                <a:lnTo>
                  <a:pt x="0" y="590550"/>
                </a:lnTo>
                <a:close/>
              </a:path>
            </a:pathLst>
          </a:custGeom>
          <a:solidFill xmlns:a="http://schemas.openxmlformats.org/drawingml/2006/main">
            <a:srgbClr val="ED1C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25A86124-5C18-41DD-9C49-61861AB14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7639050"/>
            <a:ext cx="9525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FFFFFF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20CAA6D4-4F79-4752-A7A3-7BF15E609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658100"/>
            <a:ext cx="266700" cy="161925"/>
          </a:xfrm>
          <a:custGeom xmlns:a="http://schemas.openxmlformats.org/drawingml/2006/main">
            <a:pathLst>
              <a:path w="266700" h="161925">
                <a:moveTo>
                  <a:pt x="0" y="0"/>
                </a:moveTo>
                <a:lnTo>
                  <a:pt x="266700" y="38100"/>
                </a:lnTo>
                <a:lnTo>
                  <a:pt x="171450" y="104775"/>
                </a:lnTo>
                <a:lnTo>
                  <a:pt x="266700" y="161925"/>
                </a:lnTo>
                <a:lnTo>
                  <a:pt x="0" y="16192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FFFFFF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6364BDEC-9C93-44A0-89A3-ABE301AFD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76771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今後の方針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FF5EA23D-A57C-4725-937A-952F37982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7648575"/>
            <a:ext cx="3905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重点課題を段階的に解決し、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CEFDD4DB-BB3F-4C93-9951-FBDD24199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7648575"/>
            <a:ext cx="5619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ED1C24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ED1C24"/>
                </a:solidFill>
                <a:latin typeface="Yu Gothic"/>
                <a:ea typeface="Yu Gothic"/>
                <a:cs typeface="Yu Gothic"/>
              </a:rPr>
              <a:t>提案業務を再現性のある仕組みに変えていきます。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599E9897-6973-4730-A6E6-50857A22D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8391525"/>
            <a:ext cx="122586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D1C24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0F4C6FCD-6D1C-48D7-92EE-90C593EC4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8467725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7CD93C8F-10F6-4134-8DB3-5F811AE2A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467725"/>
            <a:ext cx="9525" cy="257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C7B88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6E3BDD0F-EA4F-430B-AAE0-FB89B39C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4677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提案クエスト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8BD2E128-573E-4366-BF67-05CDAD40F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8467725"/>
            <a:ext cx="9525" cy="257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C7B88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83C70DF2-5F5B-42EF-9550-CA941080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8401050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C7B88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6C7B88"/>
                </a:solidFill>
                <a:latin typeface="Yu Gothic"/>
                <a:ea typeface="Yu Gothic"/>
                <a:cs typeface="Yu Gothic"/>
              </a:rPr>
              <a:t>人とテクノロジーで、より良い社会をつくる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6C7B88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6C7B88"/>
                </a:solidFill>
                <a:latin typeface="Yu Gothic"/>
                <a:ea typeface="Yu Gothic"/>
                <a:cs typeface="Yu Gothic"/>
              </a:rPr>
              <a:t>Think Together, Create the Next.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C80678D6-0524-4CAC-B969-9D014F15C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7410450"/>
            <a:ext cx="3848100" cy="1552575"/>
          </a:xfrm>
          <a:custGeom xmlns:a="http://schemas.openxmlformats.org/drawingml/2006/main">
            <a:pathLst>
              <a:path w="3848100" h="1552575">
                <a:moveTo>
                  <a:pt x="0" y="1552575"/>
                </a:moveTo>
                <a:lnTo>
                  <a:pt x="3848100" y="0"/>
                </a:lnTo>
                <a:lnTo>
                  <a:pt x="3848100" y="1552575"/>
                </a:lnTo>
                <a:close/>
              </a:path>
            </a:pathLst>
          </a:custGeom>
          <a:solidFill xmlns:a="http://schemas.openxmlformats.org/drawingml/2006/main">
            <a:srgbClr val="ED1C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CC51B945-D3D4-4E64-A220-CDA253EC2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7905750"/>
            <a:ext cx="2038350" cy="1057275"/>
          </a:xfrm>
          <a:custGeom xmlns:a="http://schemas.openxmlformats.org/drawingml/2006/main">
            <a:pathLst>
              <a:path w="2038350" h="1057275">
                <a:moveTo>
                  <a:pt x="0" y="1057275"/>
                </a:moveTo>
                <a:lnTo>
                  <a:pt x="2038350" y="0"/>
                </a:lnTo>
                <a:lnTo>
                  <a:pt x="2038350" y="1057275"/>
                </a:lnTo>
                <a:close/>
              </a:path>
            </a:pathLst>
          </a:custGeom>
          <a:solidFill xmlns:a="http://schemas.openxmlformats.org/drawingml/2006/main">
            <a:srgbClr val="C50F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12BC2A03-8C99-48D2-93FE-C65FD61FD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039100"/>
            <a:ext cx="133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8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THINK TOGETHER.</a:t>
            </a:r>
          </a:p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8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CREATE THE NEXT.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6AA198B0-4DB5-4EA2-A672-7C1E6E3DC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524875"/>
            <a:ext cx="1333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9A485820-B473-4193-889F-757D85439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914775"/>
            <a:ext cx="476250" cy="476250"/>
          </a:xfrm>
          <a:custGeom xmlns:a="http://schemas.openxmlformats.org/drawingml/2006/main">
            <a:pathLst>
              <a:path w="476250" h="476250">
                <a:moveTo>
                  <a:pt x="238125" y="9525"/>
                </a:moveTo>
                <a:lnTo>
                  <a:pt x="282723" y="13917"/>
                </a:lnTo>
                <a:lnTo>
                  <a:pt x="306361" y="73390"/>
                </a:lnTo>
                <a:lnTo>
                  <a:pt x="337188" y="89867"/>
                </a:lnTo>
                <a:lnTo>
                  <a:pt x="399770" y="76480"/>
                </a:lnTo>
                <a:lnTo>
                  <a:pt x="428199" y="111122"/>
                </a:lnTo>
                <a:lnTo>
                  <a:pt x="402860" y="169889"/>
                </a:lnTo>
                <a:lnTo>
                  <a:pt x="413007" y="203339"/>
                </a:lnTo>
                <a:lnTo>
                  <a:pt x="466725" y="238125"/>
                </a:lnTo>
                <a:lnTo>
                  <a:pt x="462333" y="282723"/>
                </a:lnTo>
                <a:lnTo>
                  <a:pt x="402860" y="306361"/>
                </a:lnTo>
                <a:lnTo>
                  <a:pt x="386383" y="337188"/>
                </a:lnTo>
                <a:lnTo>
                  <a:pt x="399770" y="399770"/>
                </a:lnTo>
                <a:lnTo>
                  <a:pt x="365128" y="428199"/>
                </a:lnTo>
                <a:lnTo>
                  <a:pt x="306361" y="402860"/>
                </a:lnTo>
                <a:lnTo>
                  <a:pt x="272911" y="413007"/>
                </a:lnTo>
                <a:lnTo>
                  <a:pt x="238125" y="466725"/>
                </a:lnTo>
                <a:lnTo>
                  <a:pt x="193527" y="462333"/>
                </a:lnTo>
                <a:lnTo>
                  <a:pt x="169889" y="402860"/>
                </a:lnTo>
                <a:lnTo>
                  <a:pt x="139062" y="386383"/>
                </a:lnTo>
                <a:lnTo>
                  <a:pt x="76480" y="399770"/>
                </a:lnTo>
                <a:lnTo>
                  <a:pt x="48051" y="365128"/>
                </a:lnTo>
                <a:lnTo>
                  <a:pt x="73390" y="306361"/>
                </a:lnTo>
                <a:lnTo>
                  <a:pt x="63243" y="272911"/>
                </a:lnTo>
                <a:lnTo>
                  <a:pt x="9525" y="238125"/>
                </a:lnTo>
                <a:lnTo>
                  <a:pt x="13917" y="193527"/>
                </a:lnTo>
                <a:lnTo>
                  <a:pt x="73390" y="169889"/>
                </a:lnTo>
                <a:lnTo>
                  <a:pt x="89867" y="139062"/>
                </a:lnTo>
                <a:lnTo>
                  <a:pt x="76480" y="76480"/>
                </a:lnTo>
                <a:lnTo>
                  <a:pt x="111122" y="48051"/>
                </a:lnTo>
                <a:lnTo>
                  <a:pt x="169889" y="73390"/>
                </a:lnTo>
                <a:lnTo>
                  <a:pt x="203339" y="6324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708F8EB3-B90D-48A7-B170-B3E66915A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067175"/>
            <a:ext cx="171450" cy="1714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F92EBB25-D49B-4A3E-B53D-593918B35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838450"/>
            <a:ext cx="171450" cy="1714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0213D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30404F06-CA33-44B1-8864-7C25D1A97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2724150"/>
            <a:ext cx="228600" cy="2286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0213D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F0E65B1A-3458-4299-8E1A-982B642A5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838450"/>
            <a:ext cx="171450" cy="1714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0213D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FBAD4A70-E116-4325-B64C-E5C1A93C9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038475"/>
            <a:ext cx="304800" cy="285750"/>
          </a:xfrm>
          <a:custGeom xmlns:a="http://schemas.openxmlformats.org/drawingml/2006/main">
            <a:pathLst>
              <a:path w="304800" h="285750">
                <a:moveTo>
                  <a:pt x="0" y="285750"/>
                </a:moveTo>
                <a:lnTo>
                  <a:pt x="0" y="190500"/>
                </a:lnTo>
                <a:lnTo>
                  <a:pt x="66675" y="95250"/>
                </a:lnTo>
                <a:lnTo>
                  <a:pt x="238125" y="95250"/>
                </a:lnTo>
                <a:lnTo>
                  <a:pt x="304800" y="190500"/>
                </a:lnTo>
                <a:lnTo>
                  <a:pt x="304800" y="2857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0213D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C8029F27-0962-4D06-9438-A07A5615C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3009900"/>
            <a:ext cx="323850" cy="342900"/>
          </a:xfrm>
          <a:custGeom xmlns:a="http://schemas.openxmlformats.org/drawingml/2006/main">
            <a:pathLst>
              <a:path w="323850" h="342900">
                <a:moveTo>
                  <a:pt x="0" y="342900"/>
                </a:moveTo>
                <a:lnTo>
                  <a:pt x="0" y="200025"/>
                </a:lnTo>
                <a:lnTo>
                  <a:pt x="76200" y="85725"/>
                </a:lnTo>
                <a:lnTo>
                  <a:pt x="247650" y="85725"/>
                </a:lnTo>
                <a:lnTo>
                  <a:pt x="323850" y="200025"/>
                </a:lnTo>
                <a:lnTo>
                  <a:pt x="323850" y="3429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0213D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FEB8282F-73C5-4F82-9755-ED47DD632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038475"/>
            <a:ext cx="304800" cy="285750"/>
          </a:xfrm>
          <a:custGeom xmlns:a="http://schemas.openxmlformats.org/drawingml/2006/main">
            <a:pathLst>
              <a:path w="304800" h="285750">
                <a:moveTo>
                  <a:pt x="0" y="285750"/>
                </a:moveTo>
                <a:lnTo>
                  <a:pt x="0" y="190500"/>
                </a:lnTo>
                <a:lnTo>
                  <a:pt x="66675" y="95250"/>
                </a:lnTo>
                <a:lnTo>
                  <a:pt x="238125" y="95250"/>
                </a:lnTo>
                <a:lnTo>
                  <a:pt x="304800" y="190500"/>
                </a:lnTo>
                <a:lnTo>
                  <a:pt x="304800" y="2857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0213D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986715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2026-09-20T23:21:35.0480000Z</dcterms:created>
  <dcterms:modified xsi:type="dcterms:W3CDTF">2026-09-20T23:21:35.0480000Z</dcterms:modified>
</coreProperties>
</file>