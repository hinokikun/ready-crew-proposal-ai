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1c00b30ef0294fd3" /><Relationship Type="http://schemas.openxmlformats.org/officeDocument/2006/relationships/extended-properties" Target="/docProps/app.xml" Id="R1aac1acb02c44940" /><Relationship Type="http://schemas.openxmlformats.org/officeDocument/2006/relationships/officeDocument" Target="/ppt/presentation.xml" Id="R9aa62f86f2d04253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6a3d4cdcaafa4be7"/>
  </p:sldMasterIdLst>
  <p:notesMasterIdLst>
    <p:notesMasterId xmlns:r="http://schemas.openxmlformats.org/officeDocument/2006/relationships" r:id="Rd22a5f7dba3b460b"/>
  </p:notesMasterIdLst>
  <p:sldIdLst>
    <p:sldId xmlns:r="http://schemas.openxmlformats.org/officeDocument/2006/relationships" id="256" r:id="Rd2f63e3a72374458"/>
  </p:sldIdLst>
  <p:sldSz cx="15925800" cy="8963025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30f68740c7964a5b" /><Relationship Type="http://schemas.openxmlformats.org/officeDocument/2006/relationships/slideMaster" Target="/ppt/slideMasters/slideMaster1.xml" Id="R6a3d4cdcaafa4be7" /><Relationship Type="http://schemas.openxmlformats.org/officeDocument/2006/relationships/notesMaster" Target="/ppt/notesMasters/notesMaster1.xml" Id="Rd22a5f7dba3b460b" /><Relationship Type="http://schemas.openxmlformats.org/officeDocument/2006/relationships/presProps" Target="/ppt/presProps.xml" Id="Rbcf631fbbad54ba6" /><Relationship Type="http://schemas.openxmlformats.org/officeDocument/2006/relationships/tableStyles" Target="/ppt/tableStyles.xml" Id="R22eca758b18442a6" /><Relationship Type="http://schemas.openxmlformats.org/officeDocument/2006/relationships/slide" Target="/ppt/slides/slide1.xml" Id="Rd2f63e3a72374458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43832a0019cf418c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7820a217f3a04d4b" /><Relationship Type="http://schemas.openxmlformats.org/officeDocument/2006/relationships/notesMaster" Target="/ppt/notesMasters/notesMaster1.xml" Id="Rd0397eec577b403b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D05 market-analysis replacement native trace. Canonical image is the sole visual authority; all content is editable native text, shapes, chart bars, connectors, and icons. The right-side photo is a limited crop only.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2fd2ccd9f9d41d6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f465543838154ab2" /><Relationship Type="http://schemas.openxmlformats.org/officeDocument/2006/relationships/slideLayout" Target="/ppt/slideLayouts/slideLayout1.xml" Id="R102fdb89e5e34877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102fdb89e5e34877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a6e658b44eb4005" /><Relationship Type="http://schemas.openxmlformats.org/officeDocument/2006/relationships/image" Target="/ppt/media/image.png" Id="Ra157df214ce74242" /><Relationship Type="http://schemas.openxmlformats.org/officeDocument/2006/relationships/notesSlide" Target="/ppt/notesSlides/notesSlide1.xml" Id="R59f7387c567c4ef2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8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157df214ce74242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2192000" y="0"/>
            <a:ext cx="3733800" cy="6286500"/>
          </a:xfrm>
          <a:prstGeom xmlns:a="http://schemas.openxmlformats.org/drawingml/2006/main" prst="rect">
            <a:avLst/>
          </a:prstGeom>
        </p:spPr>
      </p:pic>
      <p:sp>
        <p:nvSpPr>
          <p:cNvPr id="2" name="d05-top-red-diagonal">
            <a:extLst xmlns:a="http://schemas.openxmlformats.org/drawingml/2006/main">
              <a:ext uri="{FF2B5EF4-FFF2-40B4-BE49-F238E27FC236}">
                <a16:creationId xmlns:a16="http://schemas.microsoft.com/office/drawing/2014/main" id="{FF01EA2D-D5FE-4F3C-95B2-D330395B73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34625" y="0"/>
            <a:ext cx="2905125" cy="4953000"/>
          </a:xfrm>
          <a:custGeom xmlns:a="http://schemas.openxmlformats.org/drawingml/2006/main">
            <a:pathLst>
              <a:path w="2905125" h="4953000">
                <a:moveTo>
                  <a:pt x="1857375" y="0"/>
                </a:moveTo>
                <a:lnTo>
                  <a:pt x="2905125" y="0"/>
                </a:lnTo>
                <a:lnTo>
                  <a:pt x="1047750" y="4953000"/>
                </a:lnTo>
                <a:lnTo>
                  <a:pt x="0" y="4953000"/>
                </a:lnTo>
                <a:close/>
              </a:path>
            </a:pathLst>
          </a:custGeom>
          <a:solidFill xmlns:a="http://schemas.openxmlformats.org/drawingml/2006/main">
            <a:srgbClr val="E719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d05-top-white-diagonal">
            <a:extLst xmlns:a="http://schemas.openxmlformats.org/drawingml/2006/main">
              <a:ext uri="{FF2B5EF4-FFF2-40B4-BE49-F238E27FC236}">
                <a16:creationId xmlns:a16="http://schemas.microsoft.com/office/drawing/2014/main" id="{4753300F-19B9-4682-AAD0-3B0E6F4058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82375" y="0"/>
            <a:ext cx="2143125" cy="5000625"/>
          </a:xfrm>
          <a:custGeom xmlns:a="http://schemas.openxmlformats.org/drawingml/2006/main">
            <a:pathLst>
              <a:path w="2143125" h="5000625">
                <a:moveTo>
                  <a:pt x="1857375" y="0"/>
                </a:moveTo>
                <a:lnTo>
                  <a:pt x="2143125" y="0"/>
                </a:lnTo>
                <a:lnTo>
                  <a:pt x="285750" y="5000625"/>
                </a:lnTo>
                <a:lnTo>
                  <a:pt x="0" y="495300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d05-top-pale-diagonal">
            <a:extLst xmlns:a="http://schemas.openxmlformats.org/drawingml/2006/main">
              <a:ext uri="{FF2B5EF4-FFF2-40B4-BE49-F238E27FC236}">
                <a16:creationId xmlns:a16="http://schemas.microsoft.com/office/drawing/2014/main" id="{B599CB13-BF61-4810-9173-19BF36CD91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68125" y="0"/>
            <a:ext cx="2095500" cy="5048250"/>
          </a:xfrm>
          <a:custGeom xmlns:a="http://schemas.openxmlformats.org/drawingml/2006/main">
            <a:pathLst>
              <a:path w="2095500" h="5048250">
                <a:moveTo>
                  <a:pt x="1857375" y="0"/>
                </a:moveTo>
                <a:lnTo>
                  <a:pt x="2095500" y="0"/>
                </a:lnTo>
                <a:lnTo>
                  <a:pt x="238125" y="5048250"/>
                </a:lnTo>
                <a:lnTo>
                  <a:pt x="0" y="5000625"/>
                </a:lnTo>
                <a:close/>
              </a:path>
            </a:pathLst>
          </a:custGeom>
          <a:solidFill xmlns:a="http://schemas.openxmlformats.org/drawingml/2006/main">
            <a:srgbClr val="F2F4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d05-bottom-red-band">
            <a:extLst xmlns:a="http://schemas.openxmlformats.org/drawingml/2006/main">
              <a:ext uri="{FF2B5EF4-FFF2-40B4-BE49-F238E27FC236}">
                <a16:creationId xmlns:a16="http://schemas.microsoft.com/office/drawing/2014/main" id="{339B68B0-F15C-41E3-ACC2-4368405C1D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92050" y="7029450"/>
            <a:ext cx="3333750" cy="1933575"/>
          </a:xfrm>
          <a:custGeom xmlns:a="http://schemas.openxmlformats.org/drawingml/2006/main">
            <a:pathLst>
              <a:path w="3333750" h="1933575">
                <a:moveTo>
                  <a:pt x="0" y="1933575"/>
                </a:moveTo>
                <a:lnTo>
                  <a:pt x="3333750" y="0"/>
                </a:lnTo>
                <a:lnTo>
                  <a:pt x="3333750" y="1933575"/>
                </a:lnTo>
                <a:close/>
              </a:path>
            </a:pathLst>
          </a:custGeom>
          <a:solidFill xmlns:a="http://schemas.openxmlformats.org/drawingml/2006/main">
            <a:srgbClr val="E719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d05-bottom-dark-band">
            <a:extLst xmlns:a="http://schemas.openxmlformats.org/drawingml/2006/main">
              <a:ext uri="{FF2B5EF4-FFF2-40B4-BE49-F238E27FC236}">
                <a16:creationId xmlns:a16="http://schemas.microsoft.com/office/drawing/2014/main" id="{82068B9E-5703-4589-8AFE-471D6176EE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82625" y="7620000"/>
            <a:ext cx="2543175" cy="1343025"/>
          </a:xfrm>
          <a:custGeom xmlns:a="http://schemas.openxmlformats.org/drawingml/2006/main">
            <a:pathLst>
              <a:path w="2543175" h="1343025">
                <a:moveTo>
                  <a:pt x="0" y="1343025"/>
                </a:moveTo>
                <a:lnTo>
                  <a:pt x="2543175" y="0"/>
                </a:lnTo>
                <a:lnTo>
                  <a:pt x="2543175" y="1343025"/>
                </a:lnTo>
                <a:close/>
              </a:path>
            </a:pathLst>
          </a:custGeom>
          <a:solidFill xmlns:a="http://schemas.openxmlformats.org/drawingml/2006/main">
            <a:srgbClr val="C9081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d05-header-white-mask">
            <a:extLst xmlns:a="http://schemas.openxmlformats.org/drawingml/2006/main">
              <a:ext uri="{FF2B5EF4-FFF2-40B4-BE49-F238E27FC236}">
                <a16:creationId xmlns:a16="http://schemas.microsoft.com/office/drawing/2014/main" id="{3937BB47-61FE-4DB6-A6D3-34F8F83479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39750" y="0"/>
            <a:ext cx="2686050" cy="1047750"/>
          </a:xfrm>
          <a:prstGeom xmlns:a="http://schemas.openxmlformats.org/drawingml/2006/main" prst="roundRect">
            <a:avLst>
              <a:gd name="adj" fmla="val 1090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d05-header-number">
            <a:extLst xmlns:a="http://schemas.openxmlformats.org/drawingml/2006/main">
              <a:ext uri="{FF2B5EF4-FFF2-40B4-BE49-F238E27FC236}">
                <a16:creationId xmlns:a16="http://schemas.microsoft.com/office/drawing/2014/main" id="{70A4F7C1-BBCB-462D-B3FE-8619F13A1E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28575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01D28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01D28"/>
                </a:solidFill>
                <a:latin typeface="Arial"/>
                <a:ea typeface="Arial"/>
                <a:cs typeface="Arial"/>
              </a:rPr>
              <a:t>D05</a:t>
            </a:r>
          </a:p>
        </p:txBody>
      </p:sp>
      <p:sp>
        <p:nvSpPr>
          <p:cNvPr id="9" name="d05-header-section">
            <a:extLst xmlns:a="http://schemas.openxmlformats.org/drawingml/2006/main">
              <a:ext uri="{FF2B5EF4-FFF2-40B4-BE49-F238E27FC236}">
                <a16:creationId xmlns:a16="http://schemas.microsoft.com/office/drawing/2014/main" id="{B695E8C7-A3A3-42A7-9A78-4A77508B38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85750"/>
            <a:ext cx="209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01D28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01D28"/>
                </a:solidFill>
                <a:latin typeface="Arial"/>
                <a:ea typeface="Arial"/>
                <a:cs typeface="Arial"/>
              </a:rPr>
              <a:t>市場分析</a:t>
            </a:r>
          </a:p>
        </p:txBody>
      </p:sp>
      <p:sp>
        <p:nvSpPr>
          <p:cNvPr id="10" name="d05-header-brand-red">
            <a:extLst xmlns:a="http://schemas.openxmlformats.org/drawingml/2006/main">
              <a:ext uri="{FF2B5EF4-FFF2-40B4-BE49-F238E27FC236}">
                <a16:creationId xmlns:a16="http://schemas.microsoft.com/office/drawing/2014/main" id="{2BE63181-7D1F-4954-B01B-302747F1B6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25050" y="285750"/>
            <a:ext cx="8763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E71926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E71926"/>
                </a:solidFill>
                <a:latin typeface="Arial"/>
                <a:ea typeface="Arial"/>
                <a:cs typeface="Arial"/>
              </a:rPr>
              <a:t>提案</a:t>
            </a:r>
          </a:p>
        </p:txBody>
      </p:sp>
      <p:sp>
        <p:nvSpPr>
          <p:cNvPr id="11" name="d05-header-brand-black">
            <a:extLst xmlns:a="http://schemas.openxmlformats.org/drawingml/2006/main">
              <a:ext uri="{FF2B5EF4-FFF2-40B4-BE49-F238E27FC236}">
                <a16:creationId xmlns:a16="http://schemas.microsoft.com/office/drawing/2014/main" id="{4CAAB4FC-5297-4842-8EB5-C5A4F6586A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20375" y="285750"/>
            <a:ext cx="13906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01D28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01D28"/>
                </a:solidFill>
                <a:latin typeface="Arial"/>
                <a:ea typeface="Arial"/>
                <a:cs typeface="Arial"/>
              </a:rPr>
              <a:t>クエスト</a:t>
            </a:r>
          </a:p>
        </p:txBody>
      </p:sp>
      <p:sp>
        <p:nvSpPr>
          <p:cNvPr id="12" name="d05-header-tagline">
            <a:extLst xmlns:a="http://schemas.openxmlformats.org/drawingml/2006/main">
              <a:ext uri="{FF2B5EF4-FFF2-40B4-BE49-F238E27FC236}">
                <a16:creationId xmlns:a16="http://schemas.microsoft.com/office/drawing/2014/main" id="{4E2B66A0-DAA5-458E-95E3-2A936FEB7C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86950" y="628650"/>
            <a:ext cx="2476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E71926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E71926"/>
                </a:solidFill>
                <a:latin typeface="Arial"/>
                <a:ea typeface="Arial"/>
                <a:cs typeface="Arial"/>
              </a:rPr>
              <a:t>AIで、提案をもっと速く、もっと強く。</a:t>
            </a:r>
          </a:p>
        </p:txBody>
      </p:sp>
      <p:sp>
        <p:nvSpPr>
          <p:cNvPr id="13" name="d05-header-english">
            <a:extLst xmlns:a="http://schemas.openxmlformats.org/drawingml/2006/main">
              <a:ext uri="{FF2B5EF4-FFF2-40B4-BE49-F238E27FC236}">
                <a16:creationId xmlns:a16="http://schemas.microsoft.com/office/drawing/2014/main" id="{7CF7F1B2-B586-4AE4-8722-7917B84A7E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01750" y="400050"/>
            <a:ext cx="1619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01D28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101D28"/>
                </a:solidFill>
                <a:latin typeface="Arial"/>
                <a:ea typeface="Arial"/>
                <a:cs typeface="Arial"/>
              </a:rPr>
              <a:t>THINK TOGETHER,</a:t>
            </a:r>
          </a:p>
          <a:p xmlns:a="http://schemas.openxmlformats.org/drawingml/2006/main">
            <a:pPr algn="l">
              <a:defRPr sz="1125" b="1">
                <a:solidFill>
                  <a:srgbClr val="101D28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101D28"/>
                </a:solidFill>
                <a:latin typeface="Arial"/>
                <a:ea typeface="Arial"/>
                <a:cs typeface="Arial"/>
              </a:rPr>
              <a:t>CREATE THE NEXT.</a:t>
            </a:r>
          </a:p>
        </p:txBody>
      </p:sp>
      <p:sp>
        <p:nvSpPr>
          <p:cNvPr id="14" name="d05-header-rule">
            <a:extLst xmlns:a="http://schemas.openxmlformats.org/drawingml/2006/main">
              <a:ext uri="{FF2B5EF4-FFF2-40B4-BE49-F238E27FC236}">
                <a16:creationId xmlns:a16="http://schemas.microsoft.com/office/drawing/2014/main" id="{FE7234CE-E646-4A8E-8580-366CE20F6D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01750" y="904875"/>
            <a:ext cx="1571625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01D28"/>
            </a:solidFill>
            <a:prstDash val="solid"/>
          </a:ln>
        </p:spPr>
      </p:sp>
      <p:sp>
        <p:nvSpPr>
          <p:cNvPr id="15" name="d05-header-red-rule">
            <a:extLst xmlns:a="http://schemas.openxmlformats.org/drawingml/2006/main">
              <a:ext uri="{FF2B5EF4-FFF2-40B4-BE49-F238E27FC236}">
                <a16:creationId xmlns:a16="http://schemas.microsoft.com/office/drawing/2014/main" id="{8DBE39B5-1FCF-4DFB-B518-32FCD30D2E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01750" y="904875"/>
            <a:ext cx="32385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E71926"/>
            </a:solidFill>
            <a:prstDash val="solid"/>
          </a:ln>
        </p:spPr>
      </p:sp>
      <p:sp>
        <p:nvSpPr>
          <p:cNvPr id="16" name="d05-title-red">
            <a:extLst xmlns:a="http://schemas.openxmlformats.org/drawingml/2006/main">
              <a:ext uri="{FF2B5EF4-FFF2-40B4-BE49-F238E27FC236}">
                <a16:creationId xmlns:a16="http://schemas.microsoft.com/office/drawing/2014/main" id="{73E0DB71-2F36-401A-A54F-E9E308D80E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781050"/>
            <a:ext cx="31432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4575" b="1">
                <a:solidFill>
                  <a:srgbClr val="E71926"/>
                </a:solidFill>
                <a:latin typeface="Arial"/>
                <a:ea typeface="Arial"/>
                <a:cs typeface="Arial"/>
              </a:defRPr>
            </a:pPr>
            <a:r>
              <a:rPr sz="4575" b="1">
                <a:solidFill>
                  <a:srgbClr val="E71926"/>
                </a:solidFill>
                <a:latin typeface="Arial"/>
                <a:ea typeface="Arial"/>
                <a:cs typeface="Arial"/>
              </a:rPr>
              <a:t>市場環境</a:t>
            </a:r>
          </a:p>
        </p:txBody>
      </p:sp>
      <p:sp>
        <p:nvSpPr>
          <p:cNvPr id="17" name="d05-title-black">
            <a:extLst xmlns:a="http://schemas.openxmlformats.org/drawingml/2006/main">
              <a:ext uri="{FF2B5EF4-FFF2-40B4-BE49-F238E27FC236}">
                <a16:creationId xmlns:a16="http://schemas.microsoft.com/office/drawing/2014/main" id="{F22FF819-62E4-4F93-B2A8-A76AE39E46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781050"/>
            <a:ext cx="46291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4575" b="1">
                <a:solidFill>
                  <a:srgbClr val="101D28"/>
                </a:solidFill>
                <a:latin typeface="Arial"/>
                <a:ea typeface="Arial"/>
                <a:cs typeface="Arial"/>
              </a:defRPr>
            </a:pPr>
            <a:r>
              <a:rPr sz="4575" b="1">
                <a:solidFill>
                  <a:srgbClr val="101D28"/>
                </a:solidFill>
                <a:latin typeface="Arial"/>
                <a:ea typeface="Arial"/>
                <a:cs typeface="Arial"/>
              </a:rPr>
              <a:t>と成長機会</a:t>
            </a:r>
          </a:p>
        </p:txBody>
      </p:sp>
      <p:sp>
        <p:nvSpPr>
          <p:cNvPr id="18" name="d05-lead-black">
            <a:extLst xmlns:a="http://schemas.openxmlformats.org/drawingml/2006/main">
              <a:ext uri="{FF2B5EF4-FFF2-40B4-BE49-F238E27FC236}">
                <a16:creationId xmlns:a16="http://schemas.microsoft.com/office/drawing/2014/main" id="{C2A193DE-20A1-4897-A962-B62D66E325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" y="1657350"/>
            <a:ext cx="104775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36071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536071"/>
                </a:solidFill>
                <a:latin typeface="Arial"/>
                <a:ea typeface="Arial"/>
                <a:cs typeface="Arial"/>
              </a:rPr>
              <a:t>提案クエストは、企業の提案業務の効率化ニーズが高まるBtoB市場において、</a:t>
            </a:r>
          </a:p>
        </p:txBody>
      </p:sp>
      <p:sp>
        <p:nvSpPr>
          <p:cNvPr id="19" name="d05-lead-red">
            <a:extLst xmlns:a="http://schemas.openxmlformats.org/drawingml/2006/main">
              <a:ext uri="{FF2B5EF4-FFF2-40B4-BE49-F238E27FC236}">
                <a16:creationId xmlns:a16="http://schemas.microsoft.com/office/drawing/2014/main" id="{AE25DCC0-B0D2-4F74-BA8B-27C5DE6190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" y="1971675"/>
            <a:ext cx="99060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E71926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E71926"/>
                </a:solidFill>
                <a:latin typeface="Arial"/>
                <a:ea typeface="Arial"/>
                <a:cs typeface="Arial"/>
              </a:rPr>
              <a:t>AI活用による提案支援という新しい市場機会を捉え、今後の高い成長が期待できます。</a:t>
            </a:r>
          </a:p>
        </p:txBody>
      </p:sp>
      <p:sp>
        <p:nvSpPr>
          <p:cNvPr id="20" name="d05-section-rule-市場規模の推移">
            <a:extLst xmlns:a="http://schemas.openxmlformats.org/drawingml/2006/main">
              <a:ext uri="{FF2B5EF4-FFF2-40B4-BE49-F238E27FC236}">
                <a16:creationId xmlns:a16="http://schemas.microsoft.com/office/drawing/2014/main" id="{8B436872-7E37-4969-B684-BA5E234F0F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2590800"/>
            <a:ext cx="381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E71926"/>
            </a:solidFill>
            <a:prstDash val="solid"/>
          </a:ln>
        </p:spPr>
      </p:sp>
      <p:sp>
        <p:nvSpPr>
          <p:cNvPr id="21" name="d05-section-heading-市場規模の推移">
            <a:extLst xmlns:a="http://schemas.openxmlformats.org/drawingml/2006/main">
              <a:ext uri="{FF2B5EF4-FFF2-40B4-BE49-F238E27FC236}">
                <a16:creationId xmlns:a16="http://schemas.microsoft.com/office/drawing/2014/main" id="{A1ACD0A5-C1E9-495A-9E9E-E94CE711BF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505075"/>
            <a:ext cx="209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01D28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01D28"/>
                </a:solidFill>
                <a:latin typeface="Arial"/>
                <a:ea typeface="Arial"/>
                <a:cs typeface="Arial"/>
              </a:rPr>
              <a:t>市場規模の推移</a:t>
            </a:r>
          </a:p>
        </p:txBody>
      </p:sp>
      <p:sp>
        <p:nvSpPr>
          <p:cNvPr id="22" name="d05-section-rule-市場を取り巻く主なトレンド">
            <a:extLst xmlns:a="http://schemas.openxmlformats.org/drawingml/2006/main">
              <a:ext uri="{FF2B5EF4-FFF2-40B4-BE49-F238E27FC236}">
                <a16:creationId xmlns:a16="http://schemas.microsoft.com/office/drawing/2014/main" id="{311BF130-D415-477E-AA9A-D483DE9A2B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2590800"/>
            <a:ext cx="381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E71926"/>
            </a:solidFill>
            <a:prstDash val="solid"/>
          </a:ln>
        </p:spPr>
      </p:sp>
      <p:sp>
        <p:nvSpPr>
          <p:cNvPr id="23" name="d05-section-heading-市場を取り巻く主なトレンド">
            <a:extLst xmlns:a="http://schemas.openxmlformats.org/drawingml/2006/main">
              <a:ext uri="{FF2B5EF4-FFF2-40B4-BE49-F238E27FC236}">
                <a16:creationId xmlns:a16="http://schemas.microsoft.com/office/drawing/2014/main" id="{1AE1D29A-F11E-4D00-9C70-A2D711759D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2505075"/>
            <a:ext cx="3429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01D28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01D28"/>
                </a:solidFill>
                <a:latin typeface="Arial"/>
                <a:ea typeface="Arial"/>
                <a:cs typeface="Arial"/>
              </a:rPr>
              <a:t>市場を取り巻く主なトレンド</a:t>
            </a:r>
          </a:p>
        </p:txBody>
      </p:sp>
      <p:sp>
        <p:nvSpPr>
          <p:cNvPr id="24" name="d05-section-rule-ターゲット市場とセグメント">
            <a:extLst xmlns:a="http://schemas.openxmlformats.org/drawingml/2006/main">
              <a:ext uri="{FF2B5EF4-FFF2-40B4-BE49-F238E27FC236}">
                <a16:creationId xmlns:a16="http://schemas.microsoft.com/office/drawing/2014/main" id="{D3793F29-42F6-4686-805C-CE7D5A64FE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1525" y="2590800"/>
            <a:ext cx="381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E71926"/>
            </a:solidFill>
            <a:prstDash val="solid"/>
          </a:ln>
        </p:spPr>
      </p:sp>
      <p:sp>
        <p:nvSpPr>
          <p:cNvPr id="25" name="d05-section-heading-ターゲット市場とセグメント">
            <a:extLst xmlns:a="http://schemas.openxmlformats.org/drawingml/2006/main">
              <a:ext uri="{FF2B5EF4-FFF2-40B4-BE49-F238E27FC236}">
                <a16:creationId xmlns:a16="http://schemas.microsoft.com/office/drawing/2014/main" id="{5689F046-8CE1-433F-BFAF-F42460B128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3925" y="2505075"/>
            <a:ext cx="3429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01D28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01D28"/>
                </a:solidFill>
                <a:latin typeface="Arial"/>
                <a:ea typeface="Arial"/>
                <a:cs typeface="Arial"/>
              </a:rPr>
              <a:t>ターゲット市場とセグメント</a:t>
            </a:r>
          </a:p>
        </p:txBody>
      </p:sp>
      <p:sp>
        <p:nvSpPr>
          <p:cNvPr id="26" name="d05-opportunity-heading-mask">
            <a:extLst xmlns:a="http://schemas.openxmlformats.org/drawingml/2006/main">
              <a:ext uri="{FF2B5EF4-FFF2-40B4-BE49-F238E27FC236}">
                <a16:creationId xmlns:a16="http://schemas.microsoft.com/office/drawing/2014/main" id="{9A42954E-D8AC-4E24-B550-35D9908663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58650" y="2381250"/>
            <a:ext cx="3562350" cy="495300"/>
          </a:xfrm>
          <a:prstGeom xmlns:a="http://schemas.openxmlformats.org/drawingml/2006/main" prst="roundRect">
            <a:avLst>
              <a:gd name="adj" fmla="val 2307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d05-section-rule-市場機会">
            <a:extLst xmlns:a="http://schemas.openxmlformats.org/drawingml/2006/main">
              <a:ext uri="{FF2B5EF4-FFF2-40B4-BE49-F238E27FC236}">
                <a16:creationId xmlns:a16="http://schemas.microsoft.com/office/drawing/2014/main" id="{E58DBD07-2078-4A58-9DAD-16F816FBE5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58650" y="2590800"/>
            <a:ext cx="381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E71926"/>
            </a:solidFill>
            <a:prstDash val="solid"/>
          </a:ln>
        </p:spPr>
      </p:sp>
      <p:sp>
        <p:nvSpPr>
          <p:cNvPr id="28" name="d05-section-heading-市場機会">
            <a:extLst xmlns:a="http://schemas.openxmlformats.org/drawingml/2006/main">
              <a:ext uri="{FF2B5EF4-FFF2-40B4-BE49-F238E27FC236}">
                <a16:creationId xmlns:a16="http://schemas.microsoft.com/office/drawing/2014/main" id="{120BED3E-1A48-41DA-A102-6105F7FF0A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11050" y="2505075"/>
            <a:ext cx="209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01D28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01D28"/>
                </a:solidFill>
                <a:latin typeface="Arial"/>
                <a:ea typeface="Arial"/>
                <a:cs typeface="Arial"/>
              </a:rPr>
              <a:t>市場機会</a:t>
            </a:r>
          </a:p>
        </p:txBody>
      </p:sp>
      <p:sp>
        <p:nvSpPr>
          <p:cNvPr id="29" name="d05-market-card">
            <a:extLst xmlns:a="http://schemas.openxmlformats.org/drawingml/2006/main">
              <a:ext uri="{FF2B5EF4-FFF2-40B4-BE49-F238E27FC236}">
                <a16:creationId xmlns:a16="http://schemas.microsoft.com/office/drawing/2014/main" id="{8135915D-A287-4702-B33D-CD505F1A34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2876550"/>
            <a:ext cx="4267200" cy="3676650"/>
          </a:xfrm>
          <a:prstGeom xmlns:a="http://schemas.openxmlformats.org/drawingml/2006/main" prst="roundRect">
            <a:avLst>
              <a:gd name="adj" fmla="val 3109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d05-market-inner">
            <a:extLst xmlns:a="http://schemas.openxmlformats.org/drawingml/2006/main">
              <a:ext uri="{FF2B5EF4-FFF2-40B4-BE49-F238E27FC236}">
                <a16:creationId xmlns:a16="http://schemas.microsoft.com/office/drawing/2014/main" id="{75136C0F-5903-492F-A43E-D9FC3E55EC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038475"/>
            <a:ext cx="3905250" cy="3352800"/>
          </a:xfrm>
          <a:prstGeom xmlns:a="http://schemas.openxmlformats.org/drawingml/2006/main" prst="roundRect">
            <a:avLst>
              <a:gd name="adj" fmla="val 340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d05-chart-title">
            <a:extLst xmlns:a="http://schemas.openxmlformats.org/drawingml/2006/main">
              <a:ext uri="{FF2B5EF4-FFF2-40B4-BE49-F238E27FC236}">
                <a16:creationId xmlns:a16="http://schemas.microsoft.com/office/drawing/2014/main" id="{F051530E-C873-474D-A6D0-49241E4444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143250"/>
            <a:ext cx="3714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01D28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01D28"/>
                </a:solidFill>
                <a:latin typeface="Arial"/>
                <a:ea typeface="Arial"/>
                <a:cs typeface="Arial"/>
              </a:rPr>
              <a:t>国内の提案支援・営業支援関連市場（推定）</a:t>
            </a:r>
          </a:p>
        </p:txBody>
      </p:sp>
      <p:sp>
        <p:nvSpPr>
          <p:cNvPr id="32" name="d05-chart-unit">
            <a:extLst xmlns:a="http://schemas.openxmlformats.org/drawingml/2006/main">
              <a:ext uri="{FF2B5EF4-FFF2-40B4-BE49-F238E27FC236}">
                <a16:creationId xmlns:a16="http://schemas.microsoft.com/office/drawing/2014/main" id="{34E05891-06CF-4D0A-9A69-4FF966BF9F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619500"/>
            <a:ext cx="762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36071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36071"/>
                </a:solidFill>
                <a:latin typeface="Arial"/>
                <a:ea typeface="Arial"/>
                <a:cs typeface="Arial"/>
              </a:rPr>
              <a:t>(億円)</a:t>
            </a:r>
          </a:p>
        </p:txBody>
      </p:sp>
      <p:sp>
        <p:nvSpPr>
          <p:cNvPr id="33" name="d05-chart-grid-0">
            <a:extLst xmlns:a="http://schemas.openxmlformats.org/drawingml/2006/main">
              <a:ext uri="{FF2B5EF4-FFF2-40B4-BE49-F238E27FC236}">
                <a16:creationId xmlns:a16="http://schemas.microsoft.com/office/drawing/2014/main" id="{34E5A523-B172-4433-B2B4-078A40F2BA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886200"/>
            <a:ext cx="33909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4E8EC"/>
            </a:solidFill>
            <a:prstDash val="solid"/>
          </a:ln>
        </p:spPr>
      </p:sp>
      <p:sp>
        <p:nvSpPr>
          <p:cNvPr id="34" name="d05-chart-axis-0">
            <a:extLst xmlns:a="http://schemas.openxmlformats.org/drawingml/2006/main">
              <a:ext uri="{FF2B5EF4-FFF2-40B4-BE49-F238E27FC236}">
                <a16:creationId xmlns:a16="http://schemas.microsoft.com/office/drawing/2014/main" id="{29C22C43-4575-499C-B34F-A5BF615A4A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800475"/>
            <a:ext cx="4000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36071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36071"/>
                </a:solidFill>
                <a:latin typeface="Arial"/>
                <a:ea typeface="Arial"/>
                <a:cs typeface="Arial"/>
              </a:rPr>
              <a:t>5000</a:t>
            </a:r>
          </a:p>
        </p:txBody>
      </p:sp>
      <p:sp>
        <p:nvSpPr>
          <p:cNvPr id="35" name="d05-chart-grid-1">
            <a:extLst xmlns:a="http://schemas.openxmlformats.org/drawingml/2006/main">
              <a:ext uri="{FF2B5EF4-FFF2-40B4-BE49-F238E27FC236}">
                <a16:creationId xmlns:a16="http://schemas.microsoft.com/office/drawing/2014/main" id="{D912E4A0-0ED5-4FF4-AA39-4D4C8E4816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276725"/>
            <a:ext cx="33909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4E8EC"/>
            </a:solidFill>
            <a:prstDash val="solid"/>
          </a:ln>
        </p:spPr>
      </p:sp>
      <p:sp>
        <p:nvSpPr>
          <p:cNvPr id="36" name="d05-chart-axis-1">
            <a:extLst xmlns:a="http://schemas.openxmlformats.org/drawingml/2006/main">
              <a:ext uri="{FF2B5EF4-FFF2-40B4-BE49-F238E27FC236}">
                <a16:creationId xmlns:a16="http://schemas.microsoft.com/office/drawing/2014/main" id="{9336D4FA-D89C-46E6-AF87-B79ADAD4D0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191000"/>
            <a:ext cx="4000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36071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36071"/>
                </a:solidFill>
                <a:latin typeface="Arial"/>
                <a:ea typeface="Arial"/>
                <a:cs typeface="Arial"/>
              </a:rPr>
              <a:t>4000</a:t>
            </a:r>
          </a:p>
        </p:txBody>
      </p:sp>
      <p:sp>
        <p:nvSpPr>
          <p:cNvPr id="37" name="d05-chart-grid-2">
            <a:extLst xmlns:a="http://schemas.openxmlformats.org/drawingml/2006/main">
              <a:ext uri="{FF2B5EF4-FFF2-40B4-BE49-F238E27FC236}">
                <a16:creationId xmlns:a16="http://schemas.microsoft.com/office/drawing/2014/main" id="{E9FE7283-ABED-433B-B71F-92F3F4CF29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667250"/>
            <a:ext cx="33909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4E8EC"/>
            </a:solidFill>
            <a:prstDash val="solid"/>
          </a:ln>
        </p:spPr>
      </p:sp>
      <p:sp>
        <p:nvSpPr>
          <p:cNvPr id="38" name="d05-chart-axis-2">
            <a:extLst xmlns:a="http://schemas.openxmlformats.org/drawingml/2006/main">
              <a:ext uri="{FF2B5EF4-FFF2-40B4-BE49-F238E27FC236}">
                <a16:creationId xmlns:a16="http://schemas.microsoft.com/office/drawing/2014/main" id="{2DC0E020-358F-46AC-84E1-46202A0C5B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581525"/>
            <a:ext cx="4000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36071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36071"/>
                </a:solidFill>
                <a:latin typeface="Arial"/>
                <a:ea typeface="Arial"/>
                <a:cs typeface="Arial"/>
              </a:rPr>
              <a:t>3000</a:t>
            </a:r>
          </a:p>
        </p:txBody>
      </p:sp>
      <p:sp>
        <p:nvSpPr>
          <p:cNvPr id="39" name="d05-chart-grid-3">
            <a:extLst xmlns:a="http://schemas.openxmlformats.org/drawingml/2006/main">
              <a:ext uri="{FF2B5EF4-FFF2-40B4-BE49-F238E27FC236}">
                <a16:creationId xmlns:a16="http://schemas.microsoft.com/office/drawing/2014/main" id="{B0220DF2-39E9-4E51-8850-4D1A7BBEB0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5057775"/>
            <a:ext cx="33909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4E8EC"/>
            </a:solidFill>
            <a:prstDash val="solid"/>
          </a:ln>
        </p:spPr>
      </p:sp>
      <p:sp>
        <p:nvSpPr>
          <p:cNvPr id="40" name="d05-chart-axis-3">
            <a:extLst xmlns:a="http://schemas.openxmlformats.org/drawingml/2006/main">
              <a:ext uri="{FF2B5EF4-FFF2-40B4-BE49-F238E27FC236}">
                <a16:creationId xmlns:a16="http://schemas.microsoft.com/office/drawing/2014/main" id="{43F00A21-6BDF-4787-AEDD-F06B7A395B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972050"/>
            <a:ext cx="4000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36071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36071"/>
                </a:solidFill>
                <a:latin typeface="Arial"/>
                <a:ea typeface="Arial"/>
                <a:cs typeface="Arial"/>
              </a:rPr>
              <a:t>2000</a:t>
            </a:r>
          </a:p>
        </p:txBody>
      </p:sp>
      <p:sp>
        <p:nvSpPr>
          <p:cNvPr id="41" name="d05-chart-grid-4">
            <a:extLst xmlns:a="http://schemas.openxmlformats.org/drawingml/2006/main">
              <a:ext uri="{FF2B5EF4-FFF2-40B4-BE49-F238E27FC236}">
                <a16:creationId xmlns:a16="http://schemas.microsoft.com/office/drawing/2014/main" id="{D8745210-EB20-4924-96B5-40E746BF59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5448300"/>
            <a:ext cx="33909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4E8EC"/>
            </a:solidFill>
            <a:prstDash val="solid"/>
          </a:ln>
        </p:spPr>
      </p:sp>
      <p:sp>
        <p:nvSpPr>
          <p:cNvPr id="42" name="d05-chart-axis-4">
            <a:extLst xmlns:a="http://schemas.openxmlformats.org/drawingml/2006/main">
              <a:ext uri="{FF2B5EF4-FFF2-40B4-BE49-F238E27FC236}">
                <a16:creationId xmlns:a16="http://schemas.microsoft.com/office/drawing/2014/main" id="{ACDFAC4E-822D-4321-950B-068D3E2F41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362575"/>
            <a:ext cx="4000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36071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36071"/>
                </a:solidFill>
                <a:latin typeface="Arial"/>
                <a:ea typeface="Arial"/>
                <a:cs typeface="Arial"/>
              </a:rPr>
              <a:t>1000</a:t>
            </a:r>
          </a:p>
        </p:txBody>
      </p:sp>
      <p:sp>
        <p:nvSpPr>
          <p:cNvPr id="43" name="d05-chart-grid-5">
            <a:extLst xmlns:a="http://schemas.openxmlformats.org/drawingml/2006/main">
              <a:ext uri="{FF2B5EF4-FFF2-40B4-BE49-F238E27FC236}">
                <a16:creationId xmlns:a16="http://schemas.microsoft.com/office/drawing/2014/main" id="{DE70FA7D-B39F-4920-8A5C-FB79D4ED85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5838825"/>
            <a:ext cx="33909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4E8EC"/>
            </a:solidFill>
            <a:prstDash val="solid"/>
          </a:ln>
        </p:spPr>
      </p:sp>
      <p:sp>
        <p:nvSpPr>
          <p:cNvPr id="44" name="d05-chart-axis-5">
            <a:extLst xmlns:a="http://schemas.openxmlformats.org/drawingml/2006/main">
              <a:ext uri="{FF2B5EF4-FFF2-40B4-BE49-F238E27FC236}">
                <a16:creationId xmlns:a16="http://schemas.microsoft.com/office/drawing/2014/main" id="{D454C170-4D54-4DD2-9BD0-9D73838862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753100"/>
            <a:ext cx="4000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36071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36071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45" name="d05-chart-y">
            <a:extLst xmlns:a="http://schemas.openxmlformats.org/drawingml/2006/main">
              <a:ext uri="{FF2B5EF4-FFF2-40B4-BE49-F238E27FC236}">
                <a16:creationId xmlns:a16="http://schemas.microsoft.com/office/drawing/2014/main" id="{E577D6E4-1E3D-4F31-8460-4489541F95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886200"/>
            <a:ext cx="9525" cy="19526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536071"/>
            </a:solidFill>
            <a:prstDash val="solid"/>
          </a:ln>
        </p:spPr>
      </p:sp>
      <p:sp>
        <p:nvSpPr>
          <p:cNvPr id="46" name="d05-chart-x">
            <a:extLst xmlns:a="http://schemas.openxmlformats.org/drawingml/2006/main">
              <a:ext uri="{FF2B5EF4-FFF2-40B4-BE49-F238E27FC236}">
                <a16:creationId xmlns:a16="http://schemas.microsoft.com/office/drawing/2014/main" id="{6B968D3E-086B-4CD5-A108-202999A9E9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5838825"/>
            <a:ext cx="33909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536071"/>
            </a:solidFill>
            <a:prstDash val="solid"/>
          </a:ln>
        </p:spPr>
      </p:sp>
      <p:sp>
        <p:nvSpPr>
          <p:cNvPr id="47" name="d05-bar-0">
            <a:extLst xmlns:a="http://schemas.openxmlformats.org/drawingml/2006/main">
              <a:ext uri="{FF2B5EF4-FFF2-40B4-BE49-F238E27FC236}">
                <a16:creationId xmlns:a16="http://schemas.microsoft.com/office/drawing/2014/main" id="{9A74BB1C-7B06-4E7E-83A4-52AE158515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725829"/>
            <a:ext cx="428625" cy="111299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1C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8" name="d05-bar-value-0">
            <a:extLst xmlns:a="http://schemas.openxmlformats.org/drawingml/2006/main">
              <a:ext uri="{FF2B5EF4-FFF2-40B4-BE49-F238E27FC236}">
                <a16:creationId xmlns:a16="http://schemas.microsoft.com/office/drawing/2014/main" id="{98F0ADA2-D9A8-4899-B65A-BD88AABA2D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" y="4497229"/>
            <a:ext cx="57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01D28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101D28"/>
                </a:solidFill>
                <a:latin typeface="Arial"/>
                <a:ea typeface="Arial"/>
                <a:cs typeface="Arial"/>
              </a:rPr>
              <a:t>2,850</a:t>
            </a:r>
          </a:p>
        </p:txBody>
      </p:sp>
      <p:sp>
        <p:nvSpPr>
          <p:cNvPr id="49" name="d05-bar-year-0">
            <a:extLst xmlns:a="http://schemas.openxmlformats.org/drawingml/2006/main">
              <a:ext uri="{FF2B5EF4-FFF2-40B4-BE49-F238E27FC236}">
                <a16:creationId xmlns:a16="http://schemas.microsoft.com/office/drawing/2014/main" id="{F9F38522-A300-45FE-B6A5-FC62D2BDDE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" y="5953125"/>
            <a:ext cx="685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536071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36071"/>
                </a:solidFill>
                <a:latin typeface="Arial"/>
                <a:ea typeface="Arial"/>
                <a:cs typeface="Arial"/>
              </a:rPr>
              <a:t>2024年</a:t>
            </a:r>
          </a:p>
        </p:txBody>
      </p:sp>
      <p:sp>
        <p:nvSpPr>
          <p:cNvPr id="50" name="d05-bar-1">
            <a:extLst xmlns:a="http://schemas.openxmlformats.org/drawingml/2006/main">
              <a:ext uri="{FF2B5EF4-FFF2-40B4-BE49-F238E27FC236}">
                <a16:creationId xmlns:a16="http://schemas.microsoft.com/office/drawing/2014/main" id="{D1C247FB-D93A-411C-9BD4-9CF2A8FB21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7850" y="4573524"/>
            <a:ext cx="428625" cy="126530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1C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1" name="d05-bar-value-1">
            <a:extLst xmlns:a="http://schemas.openxmlformats.org/drawingml/2006/main">
              <a:ext uri="{FF2B5EF4-FFF2-40B4-BE49-F238E27FC236}">
                <a16:creationId xmlns:a16="http://schemas.microsoft.com/office/drawing/2014/main" id="{715A9DD6-FBE3-4EF9-95A1-341E26297A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1175" y="4344924"/>
            <a:ext cx="57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01D28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101D28"/>
                </a:solidFill>
                <a:latin typeface="Arial"/>
                <a:ea typeface="Arial"/>
                <a:cs typeface="Arial"/>
              </a:rPr>
              <a:t>3,240</a:t>
            </a:r>
          </a:p>
        </p:txBody>
      </p:sp>
      <p:sp>
        <p:nvSpPr>
          <p:cNvPr id="52" name="d05-bar-year-1">
            <a:extLst xmlns:a="http://schemas.openxmlformats.org/drawingml/2006/main">
              <a:ext uri="{FF2B5EF4-FFF2-40B4-BE49-F238E27FC236}">
                <a16:creationId xmlns:a16="http://schemas.microsoft.com/office/drawing/2014/main" id="{494E8700-45BC-4CEB-BA0B-BAFA45B4B9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24025" y="5953125"/>
            <a:ext cx="685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536071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36071"/>
                </a:solidFill>
                <a:latin typeface="Arial"/>
                <a:ea typeface="Arial"/>
                <a:cs typeface="Arial"/>
              </a:rPr>
              <a:t>2025年</a:t>
            </a:r>
          </a:p>
        </p:txBody>
      </p:sp>
      <p:sp>
        <p:nvSpPr>
          <p:cNvPr id="53" name="d05-bar-2">
            <a:extLst xmlns:a="http://schemas.openxmlformats.org/drawingml/2006/main">
              <a:ext uri="{FF2B5EF4-FFF2-40B4-BE49-F238E27FC236}">
                <a16:creationId xmlns:a16="http://schemas.microsoft.com/office/drawing/2014/main" id="{A42E9A53-5469-473F-AA51-9910344E40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5550" y="4362641"/>
            <a:ext cx="428625" cy="147618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1C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4" name="d05-bar-value-2">
            <a:extLst xmlns:a="http://schemas.openxmlformats.org/drawingml/2006/main">
              <a:ext uri="{FF2B5EF4-FFF2-40B4-BE49-F238E27FC236}">
                <a16:creationId xmlns:a16="http://schemas.microsoft.com/office/drawing/2014/main" id="{01199A41-A952-421F-A7D5-949B1776B7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28875" y="4134041"/>
            <a:ext cx="57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01D28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101D28"/>
                </a:solidFill>
                <a:latin typeface="Arial"/>
                <a:ea typeface="Arial"/>
                <a:cs typeface="Arial"/>
              </a:rPr>
              <a:t>3,780</a:t>
            </a:r>
          </a:p>
        </p:txBody>
      </p:sp>
      <p:sp>
        <p:nvSpPr>
          <p:cNvPr id="55" name="d05-bar-year-2">
            <a:extLst xmlns:a="http://schemas.openxmlformats.org/drawingml/2006/main">
              <a:ext uri="{FF2B5EF4-FFF2-40B4-BE49-F238E27FC236}">
                <a16:creationId xmlns:a16="http://schemas.microsoft.com/office/drawing/2014/main" id="{95AFAFFB-B776-4451-A7E8-99BBC8BD5A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71725" y="5953125"/>
            <a:ext cx="685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536071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36071"/>
                </a:solidFill>
                <a:latin typeface="Arial"/>
                <a:ea typeface="Arial"/>
                <a:cs typeface="Arial"/>
              </a:rPr>
              <a:t>2026年</a:t>
            </a:r>
          </a:p>
        </p:txBody>
      </p:sp>
      <p:sp>
        <p:nvSpPr>
          <p:cNvPr id="56" name="d05-bar-3">
            <a:extLst xmlns:a="http://schemas.openxmlformats.org/drawingml/2006/main">
              <a:ext uri="{FF2B5EF4-FFF2-40B4-BE49-F238E27FC236}">
                <a16:creationId xmlns:a16="http://schemas.microsoft.com/office/drawing/2014/main" id="{B7CE17B1-5233-4F5A-8B86-58DF7E6F0D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4128325"/>
            <a:ext cx="428625" cy="171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1C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7" name="d05-bar-value-3">
            <a:extLst xmlns:a="http://schemas.openxmlformats.org/drawingml/2006/main">
              <a:ext uri="{FF2B5EF4-FFF2-40B4-BE49-F238E27FC236}">
                <a16:creationId xmlns:a16="http://schemas.microsoft.com/office/drawing/2014/main" id="{401046F0-4E5F-46BC-85D2-A0CD351BAA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76575" y="3899725"/>
            <a:ext cx="57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01D28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101D28"/>
                </a:solidFill>
                <a:latin typeface="Arial"/>
                <a:ea typeface="Arial"/>
                <a:cs typeface="Arial"/>
              </a:rPr>
              <a:t>4,380</a:t>
            </a:r>
          </a:p>
        </p:txBody>
      </p:sp>
      <p:sp>
        <p:nvSpPr>
          <p:cNvPr id="58" name="d05-bar-year-3">
            <a:extLst xmlns:a="http://schemas.openxmlformats.org/drawingml/2006/main">
              <a:ext uri="{FF2B5EF4-FFF2-40B4-BE49-F238E27FC236}">
                <a16:creationId xmlns:a16="http://schemas.microsoft.com/office/drawing/2014/main" id="{39C0B248-642E-4979-90AD-5255EF9358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19425" y="5953125"/>
            <a:ext cx="685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536071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36071"/>
                </a:solidFill>
                <a:latin typeface="Arial"/>
                <a:ea typeface="Arial"/>
                <a:cs typeface="Arial"/>
              </a:rPr>
              <a:t>2027年</a:t>
            </a:r>
          </a:p>
        </p:txBody>
      </p:sp>
      <p:sp>
        <p:nvSpPr>
          <p:cNvPr id="59" name="d05-bar-4">
            <a:extLst xmlns:a="http://schemas.openxmlformats.org/drawingml/2006/main">
              <a:ext uri="{FF2B5EF4-FFF2-40B4-BE49-F238E27FC236}">
                <a16:creationId xmlns:a16="http://schemas.microsoft.com/office/drawing/2014/main" id="{5277E959-91FB-42E3-AB79-0B8BFADA6F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3839337"/>
            <a:ext cx="428625" cy="19994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19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0" name="d05-bar-value-4">
            <a:extLst xmlns:a="http://schemas.openxmlformats.org/drawingml/2006/main">
              <a:ext uri="{FF2B5EF4-FFF2-40B4-BE49-F238E27FC236}">
                <a16:creationId xmlns:a16="http://schemas.microsoft.com/office/drawing/2014/main" id="{9A6AEDAB-AF94-4A97-8ADB-AE6E632618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24275" y="3610737"/>
            <a:ext cx="57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01D28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101D28"/>
                </a:solidFill>
                <a:latin typeface="Arial"/>
                <a:ea typeface="Arial"/>
                <a:cs typeface="Arial"/>
              </a:rPr>
              <a:t>5,120</a:t>
            </a:r>
          </a:p>
        </p:txBody>
      </p:sp>
      <p:sp>
        <p:nvSpPr>
          <p:cNvPr id="61" name="d05-bar-year-4">
            <a:extLst xmlns:a="http://schemas.openxmlformats.org/drawingml/2006/main">
              <a:ext uri="{FF2B5EF4-FFF2-40B4-BE49-F238E27FC236}">
                <a16:creationId xmlns:a16="http://schemas.microsoft.com/office/drawing/2014/main" id="{FC1EAA4A-7368-4849-AA97-0F3D1CA176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7125" y="5953125"/>
            <a:ext cx="685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536071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36071"/>
                </a:solidFill>
                <a:latin typeface="Arial"/>
                <a:ea typeface="Arial"/>
                <a:cs typeface="Arial"/>
              </a:rPr>
              <a:t>2028年</a:t>
            </a:r>
          </a:p>
        </p:txBody>
      </p:sp>
      <p:sp>
        <p:nvSpPr>
          <p:cNvPr id="62" name="d05-growth-callout">
            <a:extLst xmlns:a="http://schemas.openxmlformats.org/drawingml/2006/main">
              <a:ext uri="{FF2B5EF4-FFF2-40B4-BE49-F238E27FC236}">
                <a16:creationId xmlns:a16="http://schemas.microsoft.com/office/drawing/2014/main" id="{E02BF980-BAB3-4514-8B75-D2A2D6E6D0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3295650"/>
            <a:ext cx="1219200" cy="590550"/>
          </a:xfrm>
          <a:prstGeom xmlns:a="http://schemas.openxmlformats.org/drawingml/2006/main" prst="roundRect">
            <a:avLst>
              <a:gd name="adj" fmla="val 19355"/>
            </a:avLst>
          </a:prstGeom>
          <a:solidFill xmlns:a="http://schemas.openxmlformats.org/drawingml/2006/main">
            <a:srgbClr val="E719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3" name="d05-growth-text">
            <a:extLst xmlns:a="http://schemas.openxmlformats.org/drawingml/2006/main">
              <a:ext uri="{FF2B5EF4-FFF2-40B4-BE49-F238E27FC236}">
                <a16:creationId xmlns:a16="http://schemas.microsoft.com/office/drawing/2014/main" id="{29282256-1A12-4DD2-883E-FF5152B833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3371850"/>
            <a:ext cx="12192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年平均成長率</a:t>
            </a:r>
          </a:p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約15%</a:t>
            </a:r>
          </a:p>
        </p:txBody>
      </p:sp>
      <p:sp>
        <p:nvSpPr>
          <p:cNvPr id="64" name="d05-growth-trend">
            <a:extLst xmlns:a="http://schemas.openxmlformats.org/drawingml/2006/main">
              <a:ext uri="{FF2B5EF4-FFF2-40B4-BE49-F238E27FC236}">
                <a16:creationId xmlns:a16="http://schemas.microsoft.com/office/drawing/2014/main" id="{5D865BF9-2FFA-43E4-954D-881A48FEB0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2075" y="3333750"/>
            <a:ext cx="2524125" cy="4953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E71926"/>
            </a:solidFill>
            <a:prstDash val="solid"/>
          </a:ln>
        </p:spPr>
      </p:sp>
      <p:sp>
        <p:nvSpPr>
          <p:cNvPr id="65" name="d05-growth-arrow">
            <a:extLst xmlns:a="http://schemas.openxmlformats.org/drawingml/2006/main">
              <a:ext uri="{FF2B5EF4-FFF2-40B4-BE49-F238E27FC236}">
                <a16:creationId xmlns:a16="http://schemas.microsoft.com/office/drawing/2014/main" id="{0A67E0F0-B86F-481E-BB62-053267A585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1900" y="3333750"/>
            <a:ext cx="114300" cy="114300"/>
          </a:xfrm>
          <a:custGeom xmlns:a="http://schemas.openxmlformats.org/drawingml/2006/main">
            <a:pathLst>
              <a:path w="114300" h="114300">
                <a:moveTo>
                  <a:pt x="114300" y="0"/>
                </a:moveTo>
                <a:lnTo>
                  <a:pt x="0" y="19050"/>
                </a:lnTo>
                <a:lnTo>
                  <a:pt x="57150" y="114300"/>
                </a:lnTo>
                <a:close/>
              </a:path>
            </a:pathLst>
          </a:custGeom>
          <a:solidFill xmlns:a="http://schemas.openxmlformats.org/drawingml/2006/main">
            <a:srgbClr val="E719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6" name="d05-chart-source">
            <a:extLst xmlns:a="http://schemas.openxmlformats.org/drawingml/2006/main">
              <a:ext uri="{FF2B5EF4-FFF2-40B4-BE49-F238E27FC236}">
                <a16:creationId xmlns:a16="http://schemas.microsoft.com/office/drawing/2014/main" id="{5C5DAB67-122D-4DC7-9ECC-908408195A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191250"/>
            <a:ext cx="3714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36071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36071"/>
                </a:solidFill>
                <a:latin typeface="Arial"/>
                <a:ea typeface="Arial"/>
                <a:cs typeface="Arial"/>
              </a:rPr>
              <a:t>出典: 各種市場調査レポートをもとに当社作成（2024年）</a:t>
            </a:r>
          </a:p>
        </p:txBody>
      </p:sp>
      <p:sp>
        <p:nvSpPr>
          <p:cNvPr id="67" name="d05-trend-card">
            <a:extLst xmlns:a="http://schemas.openxmlformats.org/drawingml/2006/main">
              <a:ext uri="{FF2B5EF4-FFF2-40B4-BE49-F238E27FC236}">
                <a16:creationId xmlns:a16="http://schemas.microsoft.com/office/drawing/2014/main" id="{B42AC3EB-A8DE-4C47-BB1A-04719A7049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2876550"/>
            <a:ext cx="3676650" cy="3676650"/>
          </a:xfrm>
          <a:prstGeom xmlns:a="http://schemas.openxmlformats.org/drawingml/2006/main" prst="roundRect">
            <a:avLst>
              <a:gd name="adj" fmla="val 3109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8" name="d05-trend-icon-bg-0">
            <a:extLst xmlns:a="http://schemas.openxmlformats.org/drawingml/2006/main">
              <a:ext uri="{FF2B5EF4-FFF2-40B4-BE49-F238E27FC236}">
                <a16:creationId xmlns:a16="http://schemas.microsoft.com/office/drawing/2014/main" id="{28F1043F-CEAF-4D2E-82FA-B71E46F78F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3057525"/>
            <a:ext cx="590550" cy="590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719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9" name="d05-doc">
            <a:extLst xmlns:a="http://schemas.openxmlformats.org/drawingml/2006/main">
              <a:ext uri="{FF2B5EF4-FFF2-40B4-BE49-F238E27FC236}">
                <a16:creationId xmlns:a16="http://schemas.microsoft.com/office/drawing/2014/main" id="{358C5FF5-A998-47FE-97D2-81A1A1782A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3143250"/>
            <a:ext cx="3048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70" name="d05-doc-l1">
            <a:extLst xmlns:a="http://schemas.openxmlformats.org/drawingml/2006/main">
              <a:ext uri="{FF2B5EF4-FFF2-40B4-BE49-F238E27FC236}">
                <a16:creationId xmlns:a16="http://schemas.microsoft.com/office/drawing/2014/main" id="{7BBEE866-D9CC-4D7F-8034-CA496DEAF5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76825" y="3257550"/>
            <a:ext cx="180975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71" name="d05-doc-l2">
            <a:extLst xmlns:a="http://schemas.openxmlformats.org/drawingml/2006/main">
              <a:ext uri="{FF2B5EF4-FFF2-40B4-BE49-F238E27FC236}">
                <a16:creationId xmlns:a16="http://schemas.microsoft.com/office/drawing/2014/main" id="{B955A301-CC7E-4651-A828-1A21410E11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76825" y="3352800"/>
            <a:ext cx="180975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72" name="d05-doc-l3">
            <a:extLst xmlns:a="http://schemas.openxmlformats.org/drawingml/2006/main">
              <a:ext uri="{FF2B5EF4-FFF2-40B4-BE49-F238E27FC236}">
                <a16:creationId xmlns:a16="http://schemas.microsoft.com/office/drawing/2014/main" id="{C7293D8A-45D9-4CEB-83EA-381D22423B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76825" y="3448050"/>
            <a:ext cx="1524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73" name="d05-trend-title-0">
            <a:extLst xmlns:a="http://schemas.openxmlformats.org/drawingml/2006/main">
              <a:ext uri="{FF2B5EF4-FFF2-40B4-BE49-F238E27FC236}">
                <a16:creationId xmlns:a16="http://schemas.microsoft.com/office/drawing/2014/main" id="{D76ACF88-1A69-4F45-B2C9-BB3ED9FC08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7850" y="3114675"/>
            <a:ext cx="238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01D28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01D28"/>
                </a:solidFill>
                <a:latin typeface="Arial"/>
                <a:ea typeface="Arial"/>
                <a:cs typeface="Arial"/>
              </a:rPr>
              <a:t>企業のDX加速</a:t>
            </a:r>
          </a:p>
        </p:txBody>
      </p:sp>
      <p:sp>
        <p:nvSpPr>
          <p:cNvPr id="74" name="d05-trend-body-0">
            <a:extLst xmlns:a="http://schemas.openxmlformats.org/drawingml/2006/main">
              <a:ext uri="{FF2B5EF4-FFF2-40B4-BE49-F238E27FC236}">
                <a16:creationId xmlns:a16="http://schemas.microsoft.com/office/drawing/2014/main" id="{B0AFD151-2159-4800-B435-1BECED2DD5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7850" y="3362325"/>
            <a:ext cx="24288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36071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36071"/>
                </a:solidFill>
                <a:latin typeface="Arial"/>
                <a:ea typeface="Arial"/>
                <a:cs typeface="Arial"/>
              </a:rPr>
              <a:t>業務効率化・生産性向上を目的とした</a:t>
            </a:r>
          </a:p>
          <a:p xmlns:a="http://schemas.openxmlformats.org/drawingml/2006/main">
            <a:pPr algn="l">
              <a:defRPr sz="1050" b="0">
                <a:solidFill>
                  <a:srgbClr val="536071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36071"/>
                </a:solidFill>
                <a:latin typeface="Arial"/>
                <a:ea typeface="Arial"/>
                <a:cs typeface="Arial"/>
              </a:rPr>
              <a:t>デジタル投資が継続的に拡大。</a:t>
            </a:r>
          </a:p>
        </p:txBody>
      </p:sp>
      <p:sp>
        <p:nvSpPr>
          <p:cNvPr id="75" name="d05-trend-divider-0">
            <a:extLst xmlns:a="http://schemas.openxmlformats.org/drawingml/2006/main">
              <a:ext uri="{FF2B5EF4-FFF2-40B4-BE49-F238E27FC236}">
                <a16:creationId xmlns:a16="http://schemas.microsoft.com/office/drawing/2014/main" id="{AC45808B-116F-495E-8F73-5D5997C339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7850" y="3800475"/>
            <a:ext cx="245745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7EBEF"/>
            </a:solidFill>
            <a:prstDash val="solid"/>
          </a:ln>
        </p:spPr>
      </p:sp>
      <p:sp>
        <p:nvSpPr>
          <p:cNvPr id="76" name="d05-trend-icon-bg-1">
            <a:extLst xmlns:a="http://schemas.openxmlformats.org/drawingml/2006/main">
              <a:ext uri="{FF2B5EF4-FFF2-40B4-BE49-F238E27FC236}">
                <a16:creationId xmlns:a16="http://schemas.microsoft.com/office/drawing/2014/main" id="{21D0DAAE-7B0E-4664-961D-B5244F579D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3876675"/>
            <a:ext cx="590550" cy="590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719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7" name="d05-chip-box">
            <a:extLst xmlns:a="http://schemas.openxmlformats.org/drawingml/2006/main">
              <a:ext uri="{FF2B5EF4-FFF2-40B4-BE49-F238E27FC236}">
                <a16:creationId xmlns:a16="http://schemas.microsoft.com/office/drawing/2014/main" id="{42A99F57-589B-4C11-96FD-53965637E1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9675" y="4029075"/>
            <a:ext cx="285750" cy="285750"/>
          </a:xfrm>
          <a:prstGeom xmlns:a="http://schemas.openxmlformats.org/drawingml/2006/main" prst="roundRect">
            <a:avLst>
              <a:gd name="adj" fmla="val 40000"/>
            </a:avLst>
          </a:prstGeom>
          <a:noFill xmlns:a="http://schemas.openxmlformats.org/drawingml/2006/main"/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78" name="d05-chip-text">
            <a:extLst xmlns:a="http://schemas.openxmlformats.org/drawingml/2006/main">
              <a:ext uri="{FF2B5EF4-FFF2-40B4-BE49-F238E27FC236}">
                <a16:creationId xmlns:a16="http://schemas.microsoft.com/office/drawing/2014/main" id="{6DA6B04E-A264-45D5-9000-BEB8910C96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4095750"/>
            <a:ext cx="2286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AI</a:t>
            </a:r>
          </a:p>
        </p:txBody>
      </p:sp>
      <p:sp>
        <p:nvSpPr>
          <p:cNvPr id="79" name="d05-chip-top-0">
            <a:extLst xmlns:a="http://schemas.openxmlformats.org/drawingml/2006/main">
              <a:ext uri="{FF2B5EF4-FFF2-40B4-BE49-F238E27FC236}">
                <a16:creationId xmlns:a16="http://schemas.microsoft.com/office/drawing/2014/main" id="{4ABF26A5-C9F8-4D34-A668-17D2569215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3981450"/>
            <a:ext cx="9525" cy="476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80" name="d05-chip-bottom-0">
            <a:extLst xmlns:a="http://schemas.openxmlformats.org/drawingml/2006/main">
              <a:ext uri="{FF2B5EF4-FFF2-40B4-BE49-F238E27FC236}">
                <a16:creationId xmlns:a16="http://schemas.microsoft.com/office/drawing/2014/main" id="{0B905C72-C9AB-47F7-B44A-6B5C3D7D9F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4314825"/>
            <a:ext cx="9525" cy="476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81" name="d05-chip-top-1">
            <a:extLst xmlns:a="http://schemas.openxmlformats.org/drawingml/2006/main">
              <a:ext uri="{FF2B5EF4-FFF2-40B4-BE49-F238E27FC236}">
                <a16:creationId xmlns:a16="http://schemas.microsoft.com/office/drawing/2014/main" id="{E742E6A1-9818-4681-BF5C-A2820B7ACC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3981450"/>
            <a:ext cx="9525" cy="476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82" name="d05-chip-bottom-1">
            <a:extLst xmlns:a="http://schemas.openxmlformats.org/drawingml/2006/main">
              <a:ext uri="{FF2B5EF4-FFF2-40B4-BE49-F238E27FC236}">
                <a16:creationId xmlns:a16="http://schemas.microsoft.com/office/drawing/2014/main" id="{CF7EE504-3795-4767-B050-50454338EF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4314825"/>
            <a:ext cx="9525" cy="476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83" name="d05-chip-top-2">
            <a:extLst xmlns:a="http://schemas.openxmlformats.org/drawingml/2006/main">
              <a:ext uri="{FF2B5EF4-FFF2-40B4-BE49-F238E27FC236}">
                <a16:creationId xmlns:a16="http://schemas.microsoft.com/office/drawing/2014/main" id="{3C69F343-1C3C-457E-9068-678E5BE5B0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2550" y="3981450"/>
            <a:ext cx="9525" cy="476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84" name="d05-chip-bottom-2">
            <a:extLst xmlns:a="http://schemas.openxmlformats.org/drawingml/2006/main">
              <a:ext uri="{FF2B5EF4-FFF2-40B4-BE49-F238E27FC236}">
                <a16:creationId xmlns:a16="http://schemas.microsoft.com/office/drawing/2014/main" id="{51E23795-3AAE-4C45-9A0E-4FFA5C79AF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2550" y="4314825"/>
            <a:ext cx="9525" cy="476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85" name="d05-chip-top-3">
            <a:extLst xmlns:a="http://schemas.openxmlformats.org/drawingml/2006/main">
              <a:ext uri="{FF2B5EF4-FFF2-40B4-BE49-F238E27FC236}">
                <a16:creationId xmlns:a16="http://schemas.microsoft.com/office/drawing/2014/main" id="{7D76DA43-355E-4DB1-AF19-855BF9F10B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3981450"/>
            <a:ext cx="9525" cy="476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86" name="d05-chip-bottom-3">
            <a:extLst xmlns:a="http://schemas.openxmlformats.org/drawingml/2006/main">
              <a:ext uri="{FF2B5EF4-FFF2-40B4-BE49-F238E27FC236}">
                <a16:creationId xmlns:a16="http://schemas.microsoft.com/office/drawing/2014/main" id="{6E3DC9C6-2683-4A0F-9071-53AC6B12A3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4314825"/>
            <a:ext cx="9525" cy="476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87" name="d05-trend-title-1">
            <a:extLst xmlns:a="http://schemas.openxmlformats.org/drawingml/2006/main">
              <a:ext uri="{FF2B5EF4-FFF2-40B4-BE49-F238E27FC236}">
                <a16:creationId xmlns:a16="http://schemas.microsoft.com/office/drawing/2014/main" id="{DA337D81-03C8-476C-B6A8-CED77808EF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7850" y="3933825"/>
            <a:ext cx="238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01D28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01D28"/>
                </a:solidFill>
                <a:latin typeface="Arial"/>
                <a:ea typeface="Arial"/>
                <a:cs typeface="Arial"/>
              </a:rPr>
              <a:t>生成AIの業務活用拡大</a:t>
            </a:r>
          </a:p>
        </p:txBody>
      </p:sp>
      <p:sp>
        <p:nvSpPr>
          <p:cNvPr id="88" name="d05-trend-body-1">
            <a:extLst xmlns:a="http://schemas.openxmlformats.org/drawingml/2006/main">
              <a:ext uri="{FF2B5EF4-FFF2-40B4-BE49-F238E27FC236}">
                <a16:creationId xmlns:a16="http://schemas.microsoft.com/office/drawing/2014/main" id="{31B61BB8-92D1-416D-AD56-FD887E6EDF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7850" y="4181475"/>
            <a:ext cx="24288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36071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36071"/>
                </a:solidFill>
                <a:latin typeface="Arial"/>
                <a:ea typeface="Arial"/>
                <a:cs typeface="Arial"/>
              </a:rPr>
              <a:t>ChatGPTをはじめとした生成AIの</a:t>
            </a:r>
          </a:p>
          <a:p xmlns:a="http://schemas.openxmlformats.org/drawingml/2006/main">
            <a:pPr algn="l">
              <a:defRPr sz="1050" b="0">
                <a:solidFill>
                  <a:srgbClr val="536071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36071"/>
                </a:solidFill>
                <a:latin typeface="Arial"/>
                <a:ea typeface="Arial"/>
                <a:cs typeface="Arial"/>
              </a:rPr>
              <a:t>ビジネス利用が急速に普及。</a:t>
            </a:r>
          </a:p>
        </p:txBody>
      </p:sp>
      <p:sp>
        <p:nvSpPr>
          <p:cNvPr id="89" name="d05-trend-divider-1">
            <a:extLst xmlns:a="http://schemas.openxmlformats.org/drawingml/2006/main">
              <a:ext uri="{FF2B5EF4-FFF2-40B4-BE49-F238E27FC236}">
                <a16:creationId xmlns:a16="http://schemas.microsoft.com/office/drawing/2014/main" id="{79AB1124-6C98-41F2-83E1-3A121C3E68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7850" y="4619625"/>
            <a:ext cx="245745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7EBEF"/>
            </a:solidFill>
            <a:prstDash val="solid"/>
          </a:ln>
        </p:spPr>
      </p:sp>
      <p:sp>
        <p:nvSpPr>
          <p:cNvPr id="90" name="d05-trend-icon-bg-2">
            <a:extLst xmlns:a="http://schemas.openxmlformats.org/drawingml/2006/main">
              <a:ext uri="{FF2B5EF4-FFF2-40B4-BE49-F238E27FC236}">
                <a16:creationId xmlns:a16="http://schemas.microsoft.com/office/drawing/2014/main" id="{03F5BCBF-ECA6-4F7F-B15E-9EE249DB5B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4695825"/>
            <a:ext cx="590550" cy="590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719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1" name="d05-team-h1">
            <a:extLst xmlns:a="http://schemas.openxmlformats.org/drawingml/2006/main">
              <a:ext uri="{FF2B5EF4-FFF2-40B4-BE49-F238E27FC236}">
                <a16:creationId xmlns:a16="http://schemas.microsoft.com/office/drawing/2014/main" id="{1E5BB597-620B-469C-81F3-EC311D0A6C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1575" y="4800600"/>
            <a:ext cx="171450" cy="17145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92" name="d05-team-h2">
            <a:extLst xmlns:a="http://schemas.openxmlformats.org/drawingml/2006/main">
              <a:ext uri="{FF2B5EF4-FFF2-40B4-BE49-F238E27FC236}">
                <a16:creationId xmlns:a16="http://schemas.microsoft.com/office/drawing/2014/main" id="{9EE5A6E5-1A2A-4F53-9F3C-E053902C72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4800600"/>
            <a:ext cx="171450" cy="17145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93" name="d05-team-h3">
            <a:extLst xmlns:a="http://schemas.openxmlformats.org/drawingml/2006/main">
              <a:ext uri="{FF2B5EF4-FFF2-40B4-BE49-F238E27FC236}">
                <a16:creationId xmlns:a16="http://schemas.microsoft.com/office/drawing/2014/main" id="{F04A441A-F3C2-4F3D-AA0C-FC3A7B6FF5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5875" y="4953000"/>
            <a:ext cx="180975" cy="180975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94" name="d05-team-l">
            <a:extLst xmlns:a="http://schemas.openxmlformats.org/drawingml/2006/main">
              <a:ext uri="{FF2B5EF4-FFF2-40B4-BE49-F238E27FC236}">
                <a16:creationId xmlns:a16="http://schemas.microsoft.com/office/drawing/2014/main" id="{08B22601-F0CA-464D-BE66-33282FC1E4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5086350"/>
            <a:ext cx="9525" cy="1047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95" name="d05-team-r">
            <a:extLst xmlns:a="http://schemas.openxmlformats.org/drawingml/2006/main">
              <a:ext uri="{FF2B5EF4-FFF2-40B4-BE49-F238E27FC236}">
                <a16:creationId xmlns:a16="http://schemas.microsoft.com/office/drawing/2014/main" id="{440DCC19-4BDA-409D-A945-54CD1F0C62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5086350"/>
            <a:ext cx="428625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96" name="d05-team-r2">
            <a:extLst xmlns:a="http://schemas.openxmlformats.org/drawingml/2006/main">
              <a:ext uri="{FF2B5EF4-FFF2-40B4-BE49-F238E27FC236}">
                <a16:creationId xmlns:a16="http://schemas.microsoft.com/office/drawing/2014/main" id="{208C61A6-3278-428D-A7DB-0FE7448BE3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00675" y="5086350"/>
            <a:ext cx="9525" cy="1047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97" name="d05-trend-title-2">
            <a:extLst xmlns:a="http://schemas.openxmlformats.org/drawingml/2006/main">
              <a:ext uri="{FF2B5EF4-FFF2-40B4-BE49-F238E27FC236}">
                <a16:creationId xmlns:a16="http://schemas.microsoft.com/office/drawing/2014/main" id="{5E7B7D64-DAFD-47D3-9EFF-EF8B1F07FC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7850" y="4752975"/>
            <a:ext cx="238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01D28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01D28"/>
                </a:solidFill>
                <a:latin typeface="Arial"/>
                <a:ea typeface="Arial"/>
                <a:cs typeface="Arial"/>
              </a:rPr>
              <a:t>提案競争の激化</a:t>
            </a:r>
          </a:p>
        </p:txBody>
      </p:sp>
      <p:sp>
        <p:nvSpPr>
          <p:cNvPr id="98" name="d05-trend-body-2">
            <a:extLst xmlns:a="http://schemas.openxmlformats.org/drawingml/2006/main">
              <a:ext uri="{FF2B5EF4-FFF2-40B4-BE49-F238E27FC236}">
                <a16:creationId xmlns:a16="http://schemas.microsoft.com/office/drawing/2014/main" id="{836FE8AE-DB92-48FA-A810-C894A185EF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7850" y="5000625"/>
            <a:ext cx="24288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36071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36071"/>
                </a:solidFill>
                <a:latin typeface="Arial"/>
                <a:ea typeface="Arial"/>
                <a:cs typeface="Arial"/>
              </a:rPr>
              <a:t>同業他社との差別化のため、提案の質・</a:t>
            </a:r>
          </a:p>
          <a:p xmlns:a="http://schemas.openxmlformats.org/drawingml/2006/main">
            <a:pPr algn="l">
              <a:defRPr sz="1050" b="0">
                <a:solidFill>
                  <a:srgbClr val="536071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36071"/>
                </a:solidFill>
                <a:latin typeface="Arial"/>
                <a:ea typeface="Arial"/>
                <a:cs typeface="Arial"/>
              </a:rPr>
              <a:t>スピード向上が企業の重要課題に。</a:t>
            </a:r>
          </a:p>
        </p:txBody>
      </p:sp>
      <p:sp>
        <p:nvSpPr>
          <p:cNvPr id="99" name="d05-trend-divider-2">
            <a:extLst xmlns:a="http://schemas.openxmlformats.org/drawingml/2006/main">
              <a:ext uri="{FF2B5EF4-FFF2-40B4-BE49-F238E27FC236}">
                <a16:creationId xmlns:a16="http://schemas.microsoft.com/office/drawing/2014/main" id="{495E64C7-3912-4290-8CAF-A227DCBC0A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7850" y="5438775"/>
            <a:ext cx="245745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7EBEF"/>
            </a:solidFill>
            <a:prstDash val="solid"/>
          </a:ln>
        </p:spPr>
      </p:sp>
      <p:sp>
        <p:nvSpPr>
          <p:cNvPr id="100" name="d05-trend-icon-bg-3">
            <a:extLst xmlns:a="http://schemas.openxmlformats.org/drawingml/2006/main">
              <a:ext uri="{FF2B5EF4-FFF2-40B4-BE49-F238E27FC236}">
                <a16:creationId xmlns:a16="http://schemas.microsoft.com/office/drawing/2014/main" id="{D04B8FE9-7DC7-4B98-ACBE-9D3B0788D6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5514975"/>
            <a:ext cx="590550" cy="590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719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1" name="d05-person-head">
            <a:extLst xmlns:a="http://schemas.openxmlformats.org/drawingml/2006/main">
              <a:ext uri="{FF2B5EF4-FFF2-40B4-BE49-F238E27FC236}">
                <a16:creationId xmlns:a16="http://schemas.microsoft.com/office/drawing/2014/main" id="{BE047725-0911-435F-A154-3EC7505CDE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5619750"/>
            <a:ext cx="152400" cy="15240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102" name="d05-person-body">
            <a:extLst xmlns:a="http://schemas.openxmlformats.org/drawingml/2006/main">
              <a:ext uri="{FF2B5EF4-FFF2-40B4-BE49-F238E27FC236}">
                <a16:creationId xmlns:a16="http://schemas.microsoft.com/office/drawing/2014/main" id="{CEA5DF33-EF15-4DE8-AA7B-7A01919A9A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9675" y="5800725"/>
            <a:ext cx="323850" cy="200025"/>
          </a:xfrm>
          <a:prstGeom xmlns:a="http://schemas.openxmlformats.org/drawingml/2006/main" prst="arc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103" name="d05-person-base">
            <a:extLst xmlns:a="http://schemas.openxmlformats.org/drawingml/2006/main">
              <a:ext uri="{FF2B5EF4-FFF2-40B4-BE49-F238E27FC236}">
                <a16:creationId xmlns:a16="http://schemas.microsoft.com/office/drawing/2014/main" id="{ED695748-891B-4144-A342-94F56B0828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6000750"/>
            <a:ext cx="3429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104" name="d05-trend-title-3">
            <a:extLst xmlns:a="http://schemas.openxmlformats.org/drawingml/2006/main">
              <a:ext uri="{FF2B5EF4-FFF2-40B4-BE49-F238E27FC236}">
                <a16:creationId xmlns:a16="http://schemas.microsoft.com/office/drawing/2014/main" id="{D663667D-7765-4EF5-A0FE-B246598116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7850" y="5572125"/>
            <a:ext cx="238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01D28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01D28"/>
                </a:solidFill>
                <a:latin typeface="Arial"/>
                <a:ea typeface="Arial"/>
                <a:cs typeface="Arial"/>
              </a:rPr>
              <a:t>働き方改革・人手不足</a:t>
            </a:r>
          </a:p>
        </p:txBody>
      </p:sp>
      <p:sp>
        <p:nvSpPr>
          <p:cNvPr id="105" name="d05-trend-body-3">
            <a:extLst xmlns:a="http://schemas.openxmlformats.org/drawingml/2006/main">
              <a:ext uri="{FF2B5EF4-FFF2-40B4-BE49-F238E27FC236}">
                <a16:creationId xmlns:a16="http://schemas.microsoft.com/office/drawing/2014/main" id="{4238871D-6FDE-4066-94DF-4408E3F8F6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7850" y="5819775"/>
            <a:ext cx="24288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36071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36071"/>
                </a:solidFill>
                <a:latin typeface="Arial"/>
                <a:ea typeface="Arial"/>
                <a:cs typeface="Arial"/>
              </a:rPr>
              <a:t>限られた人員で成果を出すため、</a:t>
            </a:r>
          </a:p>
          <a:p xmlns:a="http://schemas.openxmlformats.org/drawingml/2006/main">
            <a:pPr algn="l">
              <a:defRPr sz="1050" b="0">
                <a:solidFill>
                  <a:srgbClr val="536071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36071"/>
                </a:solidFill>
                <a:latin typeface="Arial"/>
                <a:ea typeface="Arial"/>
                <a:cs typeface="Arial"/>
              </a:rPr>
              <a:t>業務の自動化・効率化ニーズが高まっている。</a:t>
            </a:r>
          </a:p>
        </p:txBody>
      </p:sp>
      <p:sp>
        <p:nvSpPr>
          <p:cNvPr id="106" name="d05-target-card">
            <a:extLst xmlns:a="http://schemas.openxmlformats.org/drawingml/2006/main">
              <a:ext uri="{FF2B5EF4-FFF2-40B4-BE49-F238E27FC236}">
                <a16:creationId xmlns:a16="http://schemas.microsoft.com/office/drawing/2014/main" id="{E4CB1EE8-04A4-4A07-A16E-0E2A3203A0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1525" y="2876550"/>
            <a:ext cx="3600450" cy="3676650"/>
          </a:xfrm>
          <a:prstGeom xmlns:a="http://schemas.openxmlformats.org/drawingml/2006/main" prst="roundRect">
            <a:avLst>
              <a:gd name="adj" fmla="val 3175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7" name="d05-pyramid-top">
            <a:extLst xmlns:a="http://schemas.openxmlformats.org/drawingml/2006/main">
              <a:ext uri="{FF2B5EF4-FFF2-40B4-BE49-F238E27FC236}">
                <a16:creationId xmlns:a16="http://schemas.microsoft.com/office/drawing/2014/main" id="{A9CC4CFF-9732-4A13-8ED3-EFCCB7450D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1125" y="3076575"/>
            <a:ext cx="2400300" cy="990600"/>
          </a:xfrm>
          <a:custGeom xmlns:a="http://schemas.openxmlformats.org/drawingml/2006/main">
            <a:pathLst>
              <a:path w="2400300" h="990600">
                <a:moveTo>
                  <a:pt x="828675" y="0"/>
                </a:moveTo>
                <a:lnTo>
                  <a:pt x="1571625" y="0"/>
                </a:lnTo>
                <a:lnTo>
                  <a:pt x="2400300" y="990600"/>
                </a:lnTo>
                <a:lnTo>
                  <a:pt x="0" y="990600"/>
                </a:lnTo>
                <a:close/>
              </a:path>
            </a:pathLst>
          </a:custGeom>
          <a:solidFill xmlns:a="http://schemas.openxmlformats.org/drawingml/2006/main">
            <a:srgbClr val="EFF3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8" name="d05-pyramid-mid">
            <a:extLst xmlns:a="http://schemas.openxmlformats.org/drawingml/2006/main">
              <a:ext uri="{FF2B5EF4-FFF2-40B4-BE49-F238E27FC236}">
                <a16:creationId xmlns:a16="http://schemas.microsoft.com/office/drawing/2014/main" id="{40E6DF01-FA8D-4011-8773-5B35EA708A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4067175"/>
            <a:ext cx="3114675" cy="1028700"/>
          </a:xfrm>
          <a:custGeom xmlns:a="http://schemas.openxmlformats.org/drawingml/2006/main">
            <a:pathLst>
              <a:path w="3114675" h="1028700">
                <a:moveTo>
                  <a:pt x="352425" y="0"/>
                </a:moveTo>
                <a:lnTo>
                  <a:pt x="2752725" y="0"/>
                </a:lnTo>
                <a:lnTo>
                  <a:pt x="3114675" y="1028700"/>
                </a:lnTo>
                <a:lnTo>
                  <a:pt x="0" y="1028700"/>
                </a:lnTo>
                <a:close/>
              </a:path>
            </a:pathLst>
          </a:custGeom>
          <a:solidFill xmlns:a="http://schemas.openxmlformats.org/drawingml/2006/main">
            <a:srgbClr val="F7B9B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9" name="d05-pyramid-bottom">
            <a:extLst xmlns:a="http://schemas.openxmlformats.org/drawingml/2006/main">
              <a:ext uri="{FF2B5EF4-FFF2-40B4-BE49-F238E27FC236}">
                <a16:creationId xmlns:a16="http://schemas.microsoft.com/office/drawing/2014/main" id="{56785294-2A48-427A-95DA-35D19AB2AF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5095875"/>
            <a:ext cx="3438525" cy="1038225"/>
          </a:xfrm>
          <a:custGeom xmlns:a="http://schemas.openxmlformats.org/drawingml/2006/main">
            <a:pathLst>
              <a:path w="3438525" h="1038225">
                <a:moveTo>
                  <a:pt x="133350" y="0"/>
                </a:moveTo>
                <a:lnTo>
                  <a:pt x="3248025" y="0"/>
                </a:lnTo>
                <a:lnTo>
                  <a:pt x="3438525" y="1038225"/>
                </a:lnTo>
                <a:lnTo>
                  <a:pt x="0" y="1038225"/>
                </a:lnTo>
                <a:close/>
              </a:path>
            </a:pathLst>
          </a:custGeom>
          <a:solidFill xmlns:a="http://schemas.openxmlformats.org/drawingml/2006/main">
            <a:srgbClr val="E7EDF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0" name="d05-pyramid-large">
            <a:extLst xmlns:a="http://schemas.openxmlformats.org/drawingml/2006/main">
              <a:ext uri="{FF2B5EF4-FFF2-40B4-BE49-F238E27FC236}">
                <a16:creationId xmlns:a16="http://schemas.microsoft.com/office/drawing/2014/main" id="{CB431C2F-5E3E-4780-B925-309E006F22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100" y="3276600"/>
            <a:ext cx="209550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1D28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01D28"/>
                </a:solidFill>
                <a:latin typeface="Arial"/>
                <a:ea typeface="Arial"/>
                <a:cs typeface="Arial"/>
              </a:rPr>
              <a:t>大企業</a:t>
            </a:r>
          </a:p>
          <a:p xmlns:a="http://schemas.openxmlformats.org/drawingml/2006/main">
            <a:pPr algn="ctr">
              <a:defRPr sz="1350" b="1">
                <a:solidFill>
                  <a:srgbClr val="101D28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01D28"/>
                </a:solidFill>
                <a:latin typeface="Arial"/>
                <a:ea typeface="Arial"/>
                <a:cs typeface="Arial"/>
              </a:rPr>
              <a:t>約1,200社</a:t>
            </a:r>
          </a:p>
          <a:p xmlns:a="http://schemas.openxmlformats.org/drawingml/2006/main">
            <a:pPr algn="ctr">
              <a:defRPr sz="1350" b="1">
                <a:solidFill>
                  <a:srgbClr val="101D28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01D28"/>
                </a:solidFill>
                <a:latin typeface="Arial"/>
                <a:ea typeface="Arial"/>
                <a:cs typeface="Arial"/>
              </a:rPr>
              <a:t>(約1,500億円)</a:t>
            </a:r>
          </a:p>
        </p:txBody>
      </p:sp>
      <p:sp>
        <p:nvSpPr>
          <p:cNvPr id="111" name="d05-pyramid-mid-label">
            <a:extLst xmlns:a="http://schemas.openxmlformats.org/drawingml/2006/main">
              <a:ext uri="{FF2B5EF4-FFF2-40B4-BE49-F238E27FC236}">
                <a16:creationId xmlns:a16="http://schemas.microsoft.com/office/drawing/2014/main" id="{A7A8919F-FD4C-4F8B-9175-8ABFBB2805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4257675"/>
            <a:ext cx="219075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E71926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E71926"/>
                </a:solidFill>
                <a:latin typeface="Arial"/>
                <a:ea typeface="Arial"/>
                <a:cs typeface="Arial"/>
              </a:rPr>
              <a:t>中堅企業</a:t>
            </a:r>
          </a:p>
          <a:p xmlns:a="http://schemas.openxmlformats.org/drawingml/2006/main">
            <a:pPr algn="ctr">
              <a:defRPr sz="1650" b="1">
                <a:solidFill>
                  <a:srgbClr val="E71926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E71926"/>
                </a:solidFill>
                <a:latin typeface="Arial"/>
                <a:ea typeface="Arial"/>
                <a:cs typeface="Arial"/>
              </a:rPr>
              <a:t>約8,000社</a:t>
            </a:r>
          </a:p>
          <a:p xmlns:a="http://schemas.openxmlformats.org/drawingml/2006/main">
            <a:pPr algn="ctr">
              <a:defRPr sz="1650" b="1">
                <a:solidFill>
                  <a:srgbClr val="E71926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E71926"/>
                </a:solidFill>
                <a:latin typeface="Arial"/>
                <a:ea typeface="Arial"/>
                <a:cs typeface="Arial"/>
              </a:rPr>
              <a:t>(約2,800億円)</a:t>
            </a:r>
          </a:p>
        </p:txBody>
      </p:sp>
      <p:sp>
        <p:nvSpPr>
          <p:cNvPr id="112" name="d05-pyramid-small">
            <a:extLst xmlns:a="http://schemas.openxmlformats.org/drawingml/2006/main">
              <a:ext uri="{FF2B5EF4-FFF2-40B4-BE49-F238E27FC236}">
                <a16:creationId xmlns:a16="http://schemas.microsoft.com/office/drawing/2014/main" id="{900B57D6-2B72-4E60-8436-83F973FDE8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5276850"/>
            <a:ext cx="209550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1D28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01D28"/>
                </a:solidFill>
                <a:latin typeface="Arial"/>
                <a:ea typeface="Arial"/>
                <a:cs typeface="Arial"/>
              </a:rPr>
              <a:t>中小企業</a:t>
            </a:r>
          </a:p>
          <a:p xmlns:a="http://schemas.openxmlformats.org/drawingml/2006/main">
            <a:pPr algn="ctr">
              <a:defRPr sz="1350" b="1">
                <a:solidFill>
                  <a:srgbClr val="101D28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01D28"/>
                </a:solidFill>
                <a:latin typeface="Arial"/>
                <a:ea typeface="Arial"/>
                <a:cs typeface="Arial"/>
              </a:rPr>
              <a:t>約50万社</a:t>
            </a:r>
          </a:p>
          <a:p xmlns:a="http://schemas.openxmlformats.org/drawingml/2006/main">
            <a:pPr algn="ctr">
              <a:defRPr sz="1350" b="1">
                <a:solidFill>
                  <a:srgbClr val="101D28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01D28"/>
                </a:solidFill>
                <a:latin typeface="Arial"/>
                <a:ea typeface="Arial"/>
                <a:cs typeface="Arial"/>
              </a:rPr>
              <a:t>(約800億円)</a:t>
            </a:r>
          </a:p>
        </p:txBody>
      </p:sp>
      <p:sp>
        <p:nvSpPr>
          <p:cNvPr id="113" name="d05-target-callout">
            <a:extLst xmlns:a="http://schemas.openxmlformats.org/drawingml/2006/main">
              <a:ext uri="{FF2B5EF4-FFF2-40B4-BE49-F238E27FC236}">
                <a16:creationId xmlns:a16="http://schemas.microsoft.com/office/drawing/2014/main" id="{805B9960-35C8-4C85-8F63-DA69383CB1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96600" y="3981450"/>
            <a:ext cx="1000125" cy="533400"/>
          </a:xfrm>
          <a:prstGeom xmlns:a="http://schemas.openxmlformats.org/drawingml/2006/main" prst="roundRect">
            <a:avLst>
              <a:gd name="adj" fmla="val 21429"/>
            </a:avLst>
          </a:prstGeom>
          <a:solidFill xmlns:a="http://schemas.openxmlformats.org/drawingml/2006/main">
            <a:srgbClr val="E719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4" name="d05-target-callout-text">
            <a:extLst xmlns:a="http://schemas.openxmlformats.org/drawingml/2006/main">
              <a:ext uri="{FF2B5EF4-FFF2-40B4-BE49-F238E27FC236}">
                <a16:creationId xmlns:a16="http://schemas.microsoft.com/office/drawing/2014/main" id="{3BF20CC5-CB6D-47C9-A5A6-4554411DC7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96600" y="4076700"/>
            <a:ext cx="10001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主なターゲット</a:t>
            </a:r>
          </a:p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(高い成長余地)</a:t>
            </a:r>
          </a:p>
        </p:txBody>
      </p:sp>
      <p:sp>
        <p:nvSpPr>
          <p:cNvPr id="115" name="d05-target-callout-line">
            <a:extLst xmlns:a="http://schemas.openxmlformats.org/drawingml/2006/main">
              <a:ext uri="{FF2B5EF4-FFF2-40B4-BE49-F238E27FC236}">
                <a16:creationId xmlns:a16="http://schemas.microsoft.com/office/drawing/2014/main" id="{AF9BC83E-5056-4E98-BB36-8461262958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06100" y="4514850"/>
            <a:ext cx="190500" cy="1809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E71926"/>
            </a:solidFill>
            <a:prstDash val="solid"/>
          </a:ln>
        </p:spPr>
      </p:sp>
      <p:sp>
        <p:nvSpPr>
          <p:cNvPr id="116" name="d05-target-callout-dot">
            <a:extLst xmlns:a="http://schemas.openxmlformats.org/drawingml/2006/main">
              <a:ext uri="{FF2B5EF4-FFF2-40B4-BE49-F238E27FC236}">
                <a16:creationId xmlns:a16="http://schemas.microsoft.com/office/drawing/2014/main" id="{939E0AE2-7001-4A66-BC99-5AAE04ACC5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48950" y="46482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719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7" name="d05-target-note">
            <a:extLst xmlns:a="http://schemas.openxmlformats.org/drawingml/2006/main">
              <a:ext uri="{FF2B5EF4-FFF2-40B4-BE49-F238E27FC236}">
                <a16:creationId xmlns:a16="http://schemas.microsoft.com/office/drawing/2014/main" id="{FD27658C-D5C0-43FA-B9DC-7DD44C3802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6200775"/>
            <a:ext cx="228600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36071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36071"/>
                </a:solidFill>
                <a:latin typeface="Arial"/>
                <a:ea typeface="Arial"/>
                <a:cs typeface="Arial"/>
              </a:rPr>
              <a:t>※ 企業数・市場規模は推定値</a:t>
            </a:r>
          </a:p>
        </p:txBody>
      </p:sp>
      <p:sp>
        <p:nvSpPr>
          <p:cNvPr id="118" name="d05-opportunity-card">
            <a:extLst xmlns:a="http://schemas.openxmlformats.org/drawingml/2006/main">
              <a:ext uri="{FF2B5EF4-FFF2-40B4-BE49-F238E27FC236}">
                <a16:creationId xmlns:a16="http://schemas.microsoft.com/office/drawing/2014/main" id="{9F210C12-C2DF-43AB-8A3F-953E3585EB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58650" y="2876550"/>
            <a:ext cx="3562350" cy="3676650"/>
          </a:xfrm>
          <a:prstGeom xmlns:a="http://schemas.openxmlformats.org/drawingml/2006/main" prst="roundRect">
            <a:avLst>
              <a:gd name="adj" fmla="val 3209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9" name="d05-opportunity-row-0">
            <a:extLst xmlns:a="http://schemas.openxmlformats.org/drawingml/2006/main">
              <a:ext uri="{FF2B5EF4-FFF2-40B4-BE49-F238E27FC236}">
                <a16:creationId xmlns:a16="http://schemas.microsoft.com/office/drawing/2014/main" id="{FD4F6337-80C4-4B36-9A50-59E7BF9AEB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11050" y="3057525"/>
            <a:ext cx="3219450" cy="723900"/>
          </a:xfrm>
          <a:prstGeom xmlns:a="http://schemas.openxmlformats.org/drawingml/2006/main" prst="roundRect">
            <a:avLst>
              <a:gd name="adj" fmla="val 1578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0" name="d05-opportunity-num-0">
            <a:extLst xmlns:a="http://schemas.openxmlformats.org/drawingml/2006/main">
              <a:ext uri="{FF2B5EF4-FFF2-40B4-BE49-F238E27FC236}">
                <a16:creationId xmlns:a16="http://schemas.microsoft.com/office/drawing/2014/main" id="{DEEAE94C-E46A-4930-8DEA-D6770D2036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15825" y="3181350"/>
            <a:ext cx="561975" cy="495300"/>
          </a:xfrm>
          <a:prstGeom xmlns:a="http://schemas.openxmlformats.org/drawingml/2006/main" prst="roundRect">
            <a:avLst>
              <a:gd name="adj" fmla="val 23077"/>
            </a:avLst>
          </a:prstGeom>
          <a:solidFill xmlns:a="http://schemas.openxmlformats.org/drawingml/2006/main">
            <a:srgbClr val="E719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1" name="d05-opportunity-num-text-0">
            <a:extLst xmlns:a="http://schemas.openxmlformats.org/drawingml/2006/main">
              <a:ext uri="{FF2B5EF4-FFF2-40B4-BE49-F238E27FC236}">
                <a16:creationId xmlns:a16="http://schemas.microsoft.com/office/drawing/2014/main" id="{D26A6BDE-A202-4DBA-9B7F-760E65AB9A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15825" y="3314700"/>
            <a:ext cx="5619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122" name="d05-opportunity-title-0">
            <a:extLst xmlns:a="http://schemas.openxmlformats.org/drawingml/2006/main">
              <a:ext uri="{FF2B5EF4-FFF2-40B4-BE49-F238E27FC236}">
                <a16:creationId xmlns:a16="http://schemas.microsoft.com/office/drawing/2014/main" id="{E29B1B4A-1EC8-4F4C-BE05-47533013E7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49250" y="3171825"/>
            <a:ext cx="22383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01D28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01D28"/>
                </a:solidFill>
                <a:latin typeface="Arial"/>
                <a:ea typeface="Arial"/>
                <a:cs typeface="Arial"/>
              </a:rPr>
              <a:t>提案業務の効率化ニーズ</a:t>
            </a:r>
          </a:p>
        </p:txBody>
      </p:sp>
      <p:sp>
        <p:nvSpPr>
          <p:cNvPr id="123" name="d05-opportunity-body-0">
            <a:extLst xmlns:a="http://schemas.openxmlformats.org/drawingml/2006/main">
              <a:ext uri="{FF2B5EF4-FFF2-40B4-BE49-F238E27FC236}">
                <a16:creationId xmlns:a16="http://schemas.microsoft.com/office/drawing/2014/main" id="{EF8B9118-7662-4ED1-AC02-3D9692E0A8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49250" y="3429000"/>
            <a:ext cx="22669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36071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36071"/>
                </a:solidFill>
                <a:latin typeface="Arial"/>
                <a:ea typeface="Arial"/>
                <a:cs typeface="Arial"/>
              </a:rPr>
              <a:t>提案資料作成にかかる時間・工数</a:t>
            </a:r>
          </a:p>
          <a:p xmlns:a="http://schemas.openxmlformats.org/drawingml/2006/main">
            <a:pPr algn="l">
              <a:defRPr sz="975" b="0">
                <a:solidFill>
                  <a:srgbClr val="536071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36071"/>
                </a:solidFill>
                <a:latin typeface="Arial"/>
                <a:ea typeface="Arial"/>
                <a:cs typeface="Arial"/>
              </a:rPr>
              <a:t>の削減ニーズが顕在化。</a:t>
            </a:r>
          </a:p>
        </p:txBody>
      </p:sp>
      <p:sp>
        <p:nvSpPr>
          <p:cNvPr id="124" name="d05-opportunity-row-1">
            <a:extLst xmlns:a="http://schemas.openxmlformats.org/drawingml/2006/main">
              <a:ext uri="{FF2B5EF4-FFF2-40B4-BE49-F238E27FC236}">
                <a16:creationId xmlns:a16="http://schemas.microsoft.com/office/drawing/2014/main" id="{90031900-D1E0-4FEC-9C10-2435F27A2A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11050" y="3867150"/>
            <a:ext cx="3219450" cy="723900"/>
          </a:xfrm>
          <a:prstGeom xmlns:a="http://schemas.openxmlformats.org/drawingml/2006/main" prst="roundRect">
            <a:avLst>
              <a:gd name="adj" fmla="val 1578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5" name="d05-opportunity-num-1">
            <a:extLst xmlns:a="http://schemas.openxmlformats.org/drawingml/2006/main">
              <a:ext uri="{FF2B5EF4-FFF2-40B4-BE49-F238E27FC236}">
                <a16:creationId xmlns:a16="http://schemas.microsoft.com/office/drawing/2014/main" id="{EBACAC82-E8EE-40E0-9F96-A3CDAB22B6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15825" y="3990975"/>
            <a:ext cx="561975" cy="495300"/>
          </a:xfrm>
          <a:prstGeom xmlns:a="http://schemas.openxmlformats.org/drawingml/2006/main" prst="roundRect">
            <a:avLst>
              <a:gd name="adj" fmla="val 23077"/>
            </a:avLst>
          </a:prstGeom>
          <a:solidFill xmlns:a="http://schemas.openxmlformats.org/drawingml/2006/main">
            <a:srgbClr val="E719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6" name="d05-opportunity-num-text-1">
            <a:extLst xmlns:a="http://schemas.openxmlformats.org/drawingml/2006/main">
              <a:ext uri="{FF2B5EF4-FFF2-40B4-BE49-F238E27FC236}">
                <a16:creationId xmlns:a16="http://schemas.microsoft.com/office/drawing/2014/main" id="{2129F230-657F-447F-A927-CA1DC74CAD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15825" y="4124325"/>
            <a:ext cx="5619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27" name="d05-opportunity-title-1">
            <a:extLst xmlns:a="http://schemas.openxmlformats.org/drawingml/2006/main">
              <a:ext uri="{FF2B5EF4-FFF2-40B4-BE49-F238E27FC236}">
                <a16:creationId xmlns:a16="http://schemas.microsoft.com/office/drawing/2014/main" id="{CADCAD26-D3E2-41CC-9C1B-5998E101BB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49250" y="3981450"/>
            <a:ext cx="22383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01D28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01D28"/>
                </a:solidFill>
                <a:latin typeface="Arial"/>
                <a:ea typeface="Arial"/>
                <a:cs typeface="Arial"/>
              </a:rPr>
              <a:t>AI活用による提案品質の向上</a:t>
            </a:r>
          </a:p>
        </p:txBody>
      </p:sp>
      <p:sp>
        <p:nvSpPr>
          <p:cNvPr id="128" name="d05-opportunity-body-1">
            <a:extLst xmlns:a="http://schemas.openxmlformats.org/drawingml/2006/main">
              <a:ext uri="{FF2B5EF4-FFF2-40B4-BE49-F238E27FC236}">
                <a16:creationId xmlns:a16="http://schemas.microsoft.com/office/drawing/2014/main" id="{0965247D-B677-464F-B6DE-D518BE209A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49250" y="4238625"/>
            <a:ext cx="22669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36071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36071"/>
                </a:solidFill>
                <a:latin typeface="Arial"/>
                <a:ea typeface="Arial"/>
                <a:cs typeface="Arial"/>
              </a:rPr>
              <a:t>データに基づく提案で、</a:t>
            </a:r>
          </a:p>
          <a:p xmlns:a="http://schemas.openxmlformats.org/drawingml/2006/main">
            <a:pPr algn="l">
              <a:defRPr sz="975" b="0">
                <a:solidFill>
                  <a:srgbClr val="536071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36071"/>
                </a:solidFill>
                <a:latin typeface="Arial"/>
                <a:ea typeface="Arial"/>
                <a:cs typeface="Arial"/>
              </a:rPr>
              <a:t>受注率向上の可能性が高まる。</a:t>
            </a:r>
          </a:p>
        </p:txBody>
      </p:sp>
      <p:sp>
        <p:nvSpPr>
          <p:cNvPr id="129" name="d05-opportunity-row-2">
            <a:extLst xmlns:a="http://schemas.openxmlformats.org/drawingml/2006/main">
              <a:ext uri="{FF2B5EF4-FFF2-40B4-BE49-F238E27FC236}">
                <a16:creationId xmlns:a16="http://schemas.microsoft.com/office/drawing/2014/main" id="{45502A11-C46D-421F-B569-C6D6531865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11050" y="4676775"/>
            <a:ext cx="3219450" cy="723900"/>
          </a:xfrm>
          <a:prstGeom xmlns:a="http://schemas.openxmlformats.org/drawingml/2006/main" prst="roundRect">
            <a:avLst>
              <a:gd name="adj" fmla="val 1578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0" name="d05-opportunity-num-2">
            <a:extLst xmlns:a="http://schemas.openxmlformats.org/drawingml/2006/main">
              <a:ext uri="{FF2B5EF4-FFF2-40B4-BE49-F238E27FC236}">
                <a16:creationId xmlns:a16="http://schemas.microsoft.com/office/drawing/2014/main" id="{83456F4B-3061-4BD5-A297-2878666801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15825" y="4800600"/>
            <a:ext cx="561975" cy="495300"/>
          </a:xfrm>
          <a:prstGeom xmlns:a="http://schemas.openxmlformats.org/drawingml/2006/main" prst="roundRect">
            <a:avLst>
              <a:gd name="adj" fmla="val 23077"/>
            </a:avLst>
          </a:prstGeom>
          <a:solidFill xmlns:a="http://schemas.openxmlformats.org/drawingml/2006/main">
            <a:srgbClr val="E719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1" name="d05-opportunity-num-text-2">
            <a:extLst xmlns:a="http://schemas.openxmlformats.org/drawingml/2006/main">
              <a:ext uri="{FF2B5EF4-FFF2-40B4-BE49-F238E27FC236}">
                <a16:creationId xmlns:a16="http://schemas.microsoft.com/office/drawing/2014/main" id="{084C7CE1-E25F-4B96-885C-8826F2C742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15825" y="4933950"/>
            <a:ext cx="5619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32" name="d05-opportunity-title-2">
            <a:extLst xmlns:a="http://schemas.openxmlformats.org/drawingml/2006/main">
              <a:ext uri="{FF2B5EF4-FFF2-40B4-BE49-F238E27FC236}">
                <a16:creationId xmlns:a16="http://schemas.microsoft.com/office/drawing/2014/main" id="{5D35A2A3-08CE-405F-ABA4-4F37C68D67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49250" y="4791075"/>
            <a:ext cx="22383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01D28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01D28"/>
                </a:solidFill>
                <a:latin typeface="Arial"/>
                <a:ea typeface="Arial"/>
                <a:cs typeface="Arial"/>
              </a:rPr>
              <a:t>業界・業種への横展開</a:t>
            </a:r>
          </a:p>
        </p:txBody>
      </p:sp>
      <p:sp>
        <p:nvSpPr>
          <p:cNvPr id="133" name="d05-opportunity-body-2">
            <a:extLst xmlns:a="http://schemas.openxmlformats.org/drawingml/2006/main">
              <a:ext uri="{FF2B5EF4-FFF2-40B4-BE49-F238E27FC236}">
                <a16:creationId xmlns:a16="http://schemas.microsoft.com/office/drawing/2014/main" id="{7DF2EE35-C682-4E92-9D2D-BF0FB54D2C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49250" y="5048250"/>
            <a:ext cx="22669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36071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36071"/>
                </a:solidFill>
                <a:latin typeface="Arial"/>
                <a:ea typeface="Arial"/>
                <a:cs typeface="Arial"/>
              </a:rPr>
              <a:t>特定業界から他業界への展開に</a:t>
            </a:r>
          </a:p>
          <a:p xmlns:a="http://schemas.openxmlformats.org/drawingml/2006/main">
            <a:pPr algn="l">
              <a:defRPr sz="975" b="0">
                <a:solidFill>
                  <a:srgbClr val="536071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36071"/>
                </a:solidFill>
                <a:latin typeface="Arial"/>
                <a:ea typeface="Arial"/>
                <a:cs typeface="Arial"/>
              </a:rPr>
              <a:t>より、市場拡大が見込める。</a:t>
            </a:r>
          </a:p>
        </p:txBody>
      </p:sp>
      <p:sp>
        <p:nvSpPr>
          <p:cNvPr id="134" name="d05-opportunity-row-3">
            <a:extLst xmlns:a="http://schemas.openxmlformats.org/drawingml/2006/main">
              <a:ext uri="{FF2B5EF4-FFF2-40B4-BE49-F238E27FC236}">
                <a16:creationId xmlns:a16="http://schemas.microsoft.com/office/drawing/2014/main" id="{5905CDC2-E2FC-4B31-B936-B638257CDD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11050" y="5486400"/>
            <a:ext cx="3219450" cy="723900"/>
          </a:xfrm>
          <a:prstGeom xmlns:a="http://schemas.openxmlformats.org/drawingml/2006/main" prst="roundRect">
            <a:avLst>
              <a:gd name="adj" fmla="val 1578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5" name="d05-opportunity-num-3">
            <a:extLst xmlns:a="http://schemas.openxmlformats.org/drawingml/2006/main">
              <a:ext uri="{FF2B5EF4-FFF2-40B4-BE49-F238E27FC236}">
                <a16:creationId xmlns:a16="http://schemas.microsoft.com/office/drawing/2014/main" id="{F25D8F07-D94E-4D5A-AD4F-A05572CFA8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15825" y="5610225"/>
            <a:ext cx="561975" cy="495300"/>
          </a:xfrm>
          <a:prstGeom xmlns:a="http://schemas.openxmlformats.org/drawingml/2006/main" prst="roundRect">
            <a:avLst>
              <a:gd name="adj" fmla="val 23077"/>
            </a:avLst>
          </a:prstGeom>
          <a:solidFill xmlns:a="http://schemas.openxmlformats.org/drawingml/2006/main">
            <a:srgbClr val="E719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6" name="d05-opportunity-num-text-3">
            <a:extLst xmlns:a="http://schemas.openxmlformats.org/drawingml/2006/main">
              <a:ext uri="{FF2B5EF4-FFF2-40B4-BE49-F238E27FC236}">
                <a16:creationId xmlns:a16="http://schemas.microsoft.com/office/drawing/2014/main" id="{A6107E06-C19D-4172-AF80-FC0DC64D89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15825" y="5743575"/>
            <a:ext cx="5619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137" name="d05-opportunity-title-3">
            <a:extLst xmlns:a="http://schemas.openxmlformats.org/drawingml/2006/main">
              <a:ext uri="{FF2B5EF4-FFF2-40B4-BE49-F238E27FC236}">
                <a16:creationId xmlns:a16="http://schemas.microsoft.com/office/drawing/2014/main" id="{DD53560C-E816-466F-B2E9-DB6074978A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49250" y="5600700"/>
            <a:ext cx="22383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01D28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01D28"/>
                </a:solidFill>
                <a:latin typeface="Arial"/>
                <a:ea typeface="Arial"/>
                <a:cs typeface="Arial"/>
              </a:rPr>
              <a:t>海外市場への展開</a:t>
            </a:r>
          </a:p>
        </p:txBody>
      </p:sp>
      <p:sp>
        <p:nvSpPr>
          <p:cNvPr id="138" name="d05-opportunity-body-3">
            <a:extLst xmlns:a="http://schemas.openxmlformats.org/drawingml/2006/main">
              <a:ext uri="{FF2B5EF4-FFF2-40B4-BE49-F238E27FC236}">
                <a16:creationId xmlns:a16="http://schemas.microsoft.com/office/drawing/2014/main" id="{01F16076-FC91-48FB-86DE-6224AEBF76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49250" y="5857875"/>
            <a:ext cx="22669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36071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36071"/>
                </a:solidFill>
                <a:latin typeface="Arial"/>
                <a:ea typeface="Arial"/>
                <a:cs typeface="Arial"/>
              </a:rPr>
              <a:t>日本での成功モデルをもとに、</a:t>
            </a:r>
          </a:p>
          <a:p xmlns:a="http://schemas.openxmlformats.org/drawingml/2006/main">
            <a:pPr algn="l">
              <a:defRPr sz="975" b="0">
                <a:solidFill>
                  <a:srgbClr val="536071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36071"/>
                </a:solidFill>
                <a:latin typeface="Arial"/>
                <a:ea typeface="Arial"/>
                <a:cs typeface="Arial"/>
              </a:rPr>
              <a:t>アジア市場への展開も視野に。</a:t>
            </a:r>
          </a:p>
        </p:txBody>
      </p:sp>
      <p:sp>
        <p:nvSpPr>
          <p:cNvPr id="139" name="d05-insight-rule">
            <a:extLst xmlns:a="http://schemas.openxmlformats.org/drawingml/2006/main">
              <a:ext uri="{FF2B5EF4-FFF2-40B4-BE49-F238E27FC236}">
                <a16:creationId xmlns:a16="http://schemas.microsoft.com/office/drawing/2014/main" id="{215A6C3C-6B5B-40FB-A58B-DA9255B3CA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772275"/>
            <a:ext cx="381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E71926"/>
            </a:solidFill>
            <a:prstDash val="solid"/>
          </a:ln>
        </p:spPr>
      </p:sp>
      <p:sp>
        <p:nvSpPr>
          <p:cNvPr id="140" name="d05-insight-heading">
            <a:extLst xmlns:a="http://schemas.openxmlformats.org/drawingml/2006/main">
              <a:ext uri="{FF2B5EF4-FFF2-40B4-BE49-F238E27FC236}">
                <a16:creationId xmlns:a16="http://schemas.microsoft.com/office/drawing/2014/main" id="{9DE86DF4-AEE5-4E7E-B9A9-BCF32A294B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686550"/>
            <a:ext cx="238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01D28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01D28"/>
                </a:solidFill>
                <a:latin typeface="Arial"/>
                <a:ea typeface="Arial"/>
                <a:cs typeface="Arial"/>
              </a:rPr>
              <a:t>市場分析からの示唆</a:t>
            </a:r>
          </a:p>
        </p:txBody>
      </p:sp>
      <p:sp>
        <p:nvSpPr>
          <p:cNvPr id="141" name="d05-insight-band-01">
            <a:extLst xmlns:a="http://schemas.openxmlformats.org/drawingml/2006/main">
              <a:ext uri="{FF2B5EF4-FFF2-40B4-BE49-F238E27FC236}">
                <a16:creationId xmlns:a16="http://schemas.microsoft.com/office/drawing/2014/main" id="{FCD086DF-8A55-4356-9C55-3220859FCF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" y="7086600"/>
            <a:ext cx="3810000" cy="1009650"/>
          </a:xfrm>
          <a:custGeom xmlns:a="http://schemas.openxmlformats.org/drawingml/2006/main">
            <a:pathLst>
              <a:path w="3810000" h="1009650">
                <a:moveTo>
                  <a:pt x="0" y="0"/>
                </a:moveTo>
                <a:lnTo>
                  <a:pt x="3562350" y="0"/>
                </a:lnTo>
                <a:lnTo>
                  <a:pt x="3810000" y="514350"/>
                </a:lnTo>
                <a:lnTo>
                  <a:pt x="3562350" y="1009650"/>
                </a:lnTo>
                <a:lnTo>
                  <a:pt x="0" y="1009650"/>
                </a:lnTo>
                <a:lnTo>
                  <a:pt x="238125" y="514350"/>
                </a:lnTo>
                <a:close/>
              </a:path>
            </a:pathLst>
          </a:custGeom>
          <a:solidFill xmlns:a="http://schemas.openxmlformats.org/drawingml/2006/main">
            <a:srgbClr val="FFF1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2" name="d05-insight-num-01">
            <a:extLst xmlns:a="http://schemas.openxmlformats.org/drawingml/2006/main">
              <a:ext uri="{FF2B5EF4-FFF2-40B4-BE49-F238E27FC236}">
                <a16:creationId xmlns:a16="http://schemas.microsoft.com/office/drawing/2014/main" id="{516D3CC4-1516-4571-911F-6988276B25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" y="7229475"/>
            <a:ext cx="42862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E71926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E71926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143" name="d05-growth-y">
            <a:extLst xmlns:a="http://schemas.openxmlformats.org/drawingml/2006/main">
              <a:ext uri="{FF2B5EF4-FFF2-40B4-BE49-F238E27FC236}">
                <a16:creationId xmlns:a16="http://schemas.microsoft.com/office/drawing/2014/main" id="{94ACDEBD-A718-4A08-8D41-C74B5FAFA0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" y="7362825"/>
            <a:ext cx="9525" cy="3524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E71926"/>
            </a:solidFill>
            <a:prstDash val="solid"/>
          </a:ln>
        </p:spPr>
      </p:sp>
      <p:sp>
        <p:nvSpPr>
          <p:cNvPr id="144" name="d05-growth-x">
            <a:extLst xmlns:a="http://schemas.openxmlformats.org/drawingml/2006/main">
              <a:ext uri="{FF2B5EF4-FFF2-40B4-BE49-F238E27FC236}">
                <a16:creationId xmlns:a16="http://schemas.microsoft.com/office/drawing/2014/main" id="{F7BC0746-698F-466B-9C08-CC85B245F7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" y="7715250"/>
            <a:ext cx="428625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E71926"/>
            </a:solidFill>
            <a:prstDash val="solid"/>
          </a:ln>
        </p:spPr>
      </p:sp>
      <p:sp>
        <p:nvSpPr>
          <p:cNvPr id="145" name="d05-growth-b1">
            <a:extLst xmlns:a="http://schemas.openxmlformats.org/drawingml/2006/main">
              <a:ext uri="{FF2B5EF4-FFF2-40B4-BE49-F238E27FC236}">
                <a16:creationId xmlns:a16="http://schemas.microsoft.com/office/drawing/2014/main" id="{922D4207-6F11-4BCE-85F1-B979284FD2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7572375"/>
            <a:ext cx="762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E71926"/>
            </a:solidFill>
            <a:prstDash val="solid"/>
          </a:ln>
        </p:spPr>
      </p:sp>
      <p:sp>
        <p:nvSpPr>
          <p:cNvPr id="146" name="d05-growth-b2">
            <a:extLst xmlns:a="http://schemas.openxmlformats.org/drawingml/2006/main">
              <a:ext uri="{FF2B5EF4-FFF2-40B4-BE49-F238E27FC236}">
                <a16:creationId xmlns:a16="http://schemas.microsoft.com/office/drawing/2014/main" id="{8FF31045-7A93-403C-BAB7-62A64440C3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7486650"/>
            <a:ext cx="76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E71926"/>
            </a:solidFill>
            <a:prstDash val="solid"/>
          </a:ln>
        </p:spPr>
      </p:sp>
      <p:sp>
        <p:nvSpPr>
          <p:cNvPr id="147" name="d05-growth-b3">
            <a:extLst xmlns:a="http://schemas.openxmlformats.org/drawingml/2006/main">
              <a:ext uri="{FF2B5EF4-FFF2-40B4-BE49-F238E27FC236}">
                <a16:creationId xmlns:a16="http://schemas.microsoft.com/office/drawing/2014/main" id="{604DA258-1F92-46CA-91B5-1B57C8663F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7381875"/>
            <a:ext cx="762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E71926"/>
            </a:solidFill>
            <a:prstDash val="solid"/>
          </a:ln>
        </p:spPr>
      </p:sp>
      <p:sp>
        <p:nvSpPr>
          <p:cNvPr id="148" name="d05-growth-trend">
            <a:extLst xmlns:a="http://schemas.openxmlformats.org/drawingml/2006/main">
              <a:ext uri="{FF2B5EF4-FFF2-40B4-BE49-F238E27FC236}">
                <a16:creationId xmlns:a16="http://schemas.microsoft.com/office/drawing/2014/main" id="{EBCE58B9-2286-4E69-B9A2-EFFC434A74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7429500"/>
            <a:ext cx="266700" cy="1524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E71926"/>
            </a:solidFill>
            <a:prstDash val="solid"/>
          </a:ln>
        </p:spPr>
      </p:sp>
      <p:sp>
        <p:nvSpPr>
          <p:cNvPr id="149" name="d05-growth-arrow">
            <a:extLst xmlns:a="http://schemas.openxmlformats.org/drawingml/2006/main">
              <a:ext uri="{FF2B5EF4-FFF2-40B4-BE49-F238E27FC236}">
                <a16:creationId xmlns:a16="http://schemas.microsoft.com/office/drawing/2014/main" id="{EACC0A2A-F3A3-48A3-A493-297FB10C0E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4925" y="7429500"/>
            <a:ext cx="66675" cy="66675"/>
          </a:xfrm>
          <a:custGeom xmlns:a="http://schemas.openxmlformats.org/drawingml/2006/main">
            <a:pathLst>
              <a:path w="66675" h="66675">
                <a:moveTo>
                  <a:pt x="0" y="0"/>
                </a:moveTo>
                <a:lnTo>
                  <a:pt x="66675" y="0"/>
                </a:lnTo>
                <a:lnTo>
                  <a:pt x="57150" y="66675"/>
                </a:lnTo>
                <a:close/>
              </a:path>
            </a:pathLst>
          </a:custGeom>
          <a:solidFill xmlns:a="http://schemas.openxmlformats.org/drawingml/2006/main">
            <a:srgbClr val="E719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0" name="d05-insight-title-01">
            <a:extLst xmlns:a="http://schemas.openxmlformats.org/drawingml/2006/main">
              <a:ext uri="{FF2B5EF4-FFF2-40B4-BE49-F238E27FC236}">
                <a16:creationId xmlns:a16="http://schemas.microsoft.com/office/drawing/2014/main" id="{F96FF471-DC33-4DB7-8338-1CD1346C22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6875" y="7229475"/>
            <a:ext cx="223837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01D28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01D28"/>
                </a:solidFill>
                <a:latin typeface="Arial"/>
                <a:ea typeface="Arial"/>
                <a:cs typeface="Arial"/>
              </a:rPr>
              <a:t>市場は今後も継続的に成長</a:t>
            </a:r>
          </a:p>
        </p:txBody>
      </p:sp>
      <p:sp>
        <p:nvSpPr>
          <p:cNvPr id="151" name="d05-insight-body-01">
            <a:extLst xmlns:a="http://schemas.openxmlformats.org/drawingml/2006/main">
              <a:ext uri="{FF2B5EF4-FFF2-40B4-BE49-F238E27FC236}">
                <a16:creationId xmlns:a16="http://schemas.microsoft.com/office/drawing/2014/main" id="{51FB1C6A-AC3A-4DFC-AC44-FF9EE79530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6875" y="7553325"/>
            <a:ext cx="22383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36071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36071"/>
                </a:solidFill>
                <a:latin typeface="Arial"/>
                <a:ea typeface="Arial"/>
                <a:cs typeface="Arial"/>
              </a:rPr>
              <a:t>年平均15%の成長が見込まれ、</a:t>
            </a:r>
          </a:p>
          <a:p xmlns:a="http://schemas.openxmlformats.org/drawingml/2006/main">
            <a:pPr algn="l">
              <a:defRPr sz="1050" b="0">
                <a:solidFill>
                  <a:srgbClr val="536071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36071"/>
                </a:solidFill>
                <a:latin typeface="Arial"/>
                <a:ea typeface="Arial"/>
                <a:cs typeface="Arial"/>
              </a:rPr>
              <a:t>中長期的な事業拡大のチャンスが大きい。</a:t>
            </a:r>
          </a:p>
        </p:txBody>
      </p:sp>
      <p:sp>
        <p:nvSpPr>
          <p:cNvPr id="152" name="d05-insight-band-02">
            <a:extLst xmlns:a="http://schemas.openxmlformats.org/drawingml/2006/main">
              <a:ext uri="{FF2B5EF4-FFF2-40B4-BE49-F238E27FC236}">
                <a16:creationId xmlns:a16="http://schemas.microsoft.com/office/drawing/2014/main" id="{F9BCFAB8-C497-4169-8FE6-2B27F77BAE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7086600"/>
            <a:ext cx="3810000" cy="1009650"/>
          </a:xfrm>
          <a:custGeom xmlns:a="http://schemas.openxmlformats.org/drawingml/2006/main">
            <a:pathLst>
              <a:path w="3810000" h="1009650">
                <a:moveTo>
                  <a:pt x="0" y="0"/>
                </a:moveTo>
                <a:lnTo>
                  <a:pt x="3562350" y="0"/>
                </a:lnTo>
                <a:lnTo>
                  <a:pt x="3810000" y="514350"/>
                </a:lnTo>
                <a:lnTo>
                  <a:pt x="3562350" y="1009650"/>
                </a:lnTo>
                <a:lnTo>
                  <a:pt x="0" y="1009650"/>
                </a:lnTo>
                <a:lnTo>
                  <a:pt x="238125" y="514350"/>
                </a:lnTo>
                <a:close/>
              </a:path>
            </a:pathLst>
          </a:custGeom>
          <a:solidFill xmlns:a="http://schemas.openxmlformats.org/drawingml/2006/main">
            <a:srgbClr val="F0F5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3" name="d05-insight-num-02">
            <a:extLst xmlns:a="http://schemas.openxmlformats.org/drawingml/2006/main">
              <a:ext uri="{FF2B5EF4-FFF2-40B4-BE49-F238E27FC236}">
                <a16:creationId xmlns:a16="http://schemas.microsoft.com/office/drawing/2014/main" id="{E840F034-4571-4686-A9F0-A1F888BBE6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7229475"/>
            <a:ext cx="42862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E3A64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E3A64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54" name="d05-target-outer">
            <a:extLst xmlns:a="http://schemas.openxmlformats.org/drawingml/2006/main">
              <a:ext uri="{FF2B5EF4-FFF2-40B4-BE49-F238E27FC236}">
                <a16:creationId xmlns:a16="http://schemas.microsoft.com/office/drawing/2014/main" id="{CC972459-EDA8-4EFF-A81E-2A5CFD66FC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7343775"/>
            <a:ext cx="381000" cy="38100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1E3A64"/>
            </a:solidFill>
            <a:prstDash val="solid"/>
          </a:ln>
        </p:spPr>
      </p:sp>
      <p:sp>
        <p:nvSpPr>
          <p:cNvPr id="155" name="d05-target-inner">
            <a:extLst xmlns:a="http://schemas.openxmlformats.org/drawingml/2006/main">
              <a:ext uri="{FF2B5EF4-FFF2-40B4-BE49-F238E27FC236}">
                <a16:creationId xmlns:a16="http://schemas.microsoft.com/office/drawing/2014/main" id="{C466395F-8994-4EFD-9ED0-ECC02E3668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3950" y="7439025"/>
            <a:ext cx="190500" cy="19050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1E3A64"/>
            </a:solidFill>
            <a:prstDash val="solid"/>
          </a:ln>
        </p:spPr>
      </p:sp>
      <p:sp>
        <p:nvSpPr>
          <p:cNvPr id="156" name="d05-target-dot">
            <a:extLst xmlns:a="http://schemas.openxmlformats.org/drawingml/2006/main">
              <a:ext uri="{FF2B5EF4-FFF2-40B4-BE49-F238E27FC236}">
                <a16:creationId xmlns:a16="http://schemas.microsoft.com/office/drawing/2014/main" id="{1FC58073-A040-4F18-996C-09CED0DAFA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7515225"/>
            <a:ext cx="47625" cy="47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E3A6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7" name="d05-target-arrow-line">
            <a:extLst xmlns:a="http://schemas.openxmlformats.org/drawingml/2006/main">
              <a:ext uri="{FF2B5EF4-FFF2-40B4-BE49-F238E27FC236}">
                <a16:creationId xmlns:a16="http://schemas.microsoft.com/office/drawing/2014/main" id="{BEB9F268-C41D-4CD3-AD3B-0A18EBFEEB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91075" y="7505700"/>
            <a:ext cx="209550" cy="2095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1E3A64"/>
            </a:solidFill>
            <a:prstDash val="solid"/>
          </a:ln>
        </p:spPr>
      </p:sp>
      <p:sp>
        <p:nvSpPr>
          <p:cNvPr id="158" name="d05-target-arrow-head">
            <a:extLst xmlns:a="http://schemas.openxmlformats.org/drawingml/2006/main">
              <a:ext uri="{FF2B5EF4-FFF2-40B4-BE49-F238E27FC236}">
                <a16:creationId xmlns:a16="http://schemas.microsoft.com/office/drawing/2014/main" id="{972A4FBD-1474-4A0D-B714-FF8BBF056B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43475" y="7505700"/>
            <a:ext cx="76200" cy="76200"/>
          </a:xfrm>
          <a:custGeom xmlns:a="http://schemas.openxmlformats.org/drawingml/2006/main">
            <a:pathLst>
              <a:path w="76200" h="76200">
                <a:moveTo>
                  <a:pt x="0" y="0"/>
                </a:moveTo>
                <a:lnTo>
                  <a:pt x="76200" y="0"/>
                </a:lnTo>
                <a:lnTo>
                  <a:pt x="76200" y="76200"/>
                </a:lnTo>
                <a:close/>
              </a:path>
            </a:pathLst>
          </a:custGeom>
          <a:solidFill xmlns:a="http://schemas.openxmlformats.org/drawingml/2006/main">
            <a:srgbClr val="1E3A6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9" name="d05-insight-title-02">
            <a:extLst xmlns:a="http://schemas.openxmlformats.org/drawingml/2006/main">
              <a:ext uri="{FF2B5EF4-FFF2-40B4-BE49-F238E27FC236}">
                <a16:creationId xmlns:a16="http://schemas.microsoft.com/office/drawing/2014/main" id="{90861579-1D32-4AB7-8BD0-74B5C344BA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8300" y="7229475"/>
            <a:ext cx="223837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01D28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01D28"/>
                </a:solidFill>
                <a:latin typeface="Arial"/>
                <a:ea typeface="Arial"/>
                <a:cs typeface="Arial"/>
              </a:rPr>
              <a:t>中堅企業が最重要ターゲット</a:t>
            </a:r>
          </a:p>
        </p:txBody>
      </p:sp>
      <p:sp>
        <p:nvSpPr>
          <p:cNvPr id="160" name="d05-insight-body-02">
            <a:extLst xmlns:a="http://schemas.openxmlformats.org/drawingml/2006/main">
              <a:ext uri="{FF2B5EF4-FFF2-40B4-BE49-F238E27FC236}">
                <a16:creationId xmlns:a16="http://schemas.microsoft.com/office/drawing/2014/main" id="{44E11E89-0969-4E33-A2B6-D21B641F46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8300" y="7553325"/>
            <a:ext cx="22383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36071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36071"/>
                </a:solidFill>
                <a:latin typeface="Arial"/>
                <a:ea typeface="Arial"/>
                <a:cs typeface="Arial"/>
              </a:rPr>
              <a:t>提案業務の効率化ニーズが高く、</a:t>
            </a:r>
          </a:p>
          <a:p xmlns:a="http://schemas.openxmlformats.org/drawingml/2006/main">
            <a:pPr algn="l">
              <a:defRPr sz="1050" b="0">
                <a:solidFill>
                  <a:srgbClr val="536071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36071"/>
                </a:solidFill>
                <a:latin typeface="Arial"/>
                <a:ea typeface="Arial"/>
                <a:cs typeface="Arial"/>
              </a:rPr>
              <a:t>導入効果が見えやすい。</a:t>
            </a:r>
          </a:p>
        </p:txBody>
      </p:sp>
      <p:sp>
        <p:nvSpPr>
          <p:cNvPr id="161" name="d05-insight-band-03">
            <a:extLst xmlns:a="http://schemas.openxmlformats.org/drawingml/2006/main">
              <a:ext uri="{FF2B5EF4-FFF2-40B4-BE49-F238E27FC236}">
                <a16:creationId xmlns:a16="http://schemas.microsoft.com/office/drawing/2014/main" id="{7E75E430-8CE0-49BD-8615-BDA3B9B97B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7086600"/>
            <a:ext cx="3810000" cy="1009650"/>
          </a:xfrm>
          <a:custGeom xmlns:a="http://schemas.openxmlformats.org/drawingml/2006/main">
            <a:pathLst>
              <a:path w="3810000" h="1009650">
                <a:moveTo>
                  <a:pt x="0" y="0"/>
                </a:moveTo>
                <a:lnTo>
                  <a:pt x="3562350" y="0"/>
                </a:lnTo>
                <a:lnTo>
                  <a:pt x="3810000" y="514350"/>
                </a:lnTo>
                <a:lnTo>
                  <a:pt x="3562350" y="1009650"/>
                </a:lnTo>
                <a:lnTo>
                  <a:pt x="0" y="1009650"/>
                </a:lnTo>
                <a:lnTo>
                  <a:pt x="238125" y="514350"/>
                </a:lnTo>
                <a:close/>
              </a:path>
            </a:pathLst>
          </a:custGeom>
          <a:solidFill xmlns:a="http://schemas.openxmlformats.org/drawingml/2006/main">
            <a:srgbClr val="FFF1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2" name="d05-insight-num-03">
            <a:extLst xmlns:a="http://schemas.openxmlformats.org/drawingml/2006/main">
              <a:ext uri="{FF2B5EF4-FFF2-40B4-BE49-F238E27FC236}">
                <a16:creationId xmlns:a16="http://schemas.microsoft.com/office/drawing/2014/main" id="{38F3DABF-80BD-42BA-ACD6-115D1AD21E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7229475"/>
            <a:ext cx="42862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E71926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E71926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63" name="d05-bulb-glass">
            <a:extLst xmlns:a="http://schemas.openxmlformats.org/drawingml/2006/main">
              <a:ext uri="{FF2B5EF4-FFF2-40B4-BE49-F238E27FC236}">
                <a16:creationId xmlns:a16="http://schemas.microsoft.com/office/drawing/2014/main" id="{431480FC-6EC6-4A36-A03F-ED92ADB287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39175" y="7315200"/>
            <a:ext cx="209550" cy="257175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E71926"/>
            </a:solidFill>
            <a:prstDash val="solid"/>
          </a:ln>
        </p:spPr>
      </p:sp>
      <p:sp>
        <p:nvSpPr>
          <p:cNvPr id="164" name="d05-bulb-base1">
            <a:extLst xmlns:a="http://schemas.openxmlformats.org/drawingml/2006/main">
              <a:ext uri="{FF2B5EF4-FFF2-40B4-BE49-F238E27FC236}">
                <a16:creationId xmlns:a16="http://schemas.microsoft.com/office/drawing/2014/main" id="{1212B0C8-C952-420A-BEA4-AB3D3850F8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77275" y="7572375"/>
            <a:ext cx="13335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E71926"/>
            </a:solidFill>
            <a:prstDash val="solid"/>
          </a:ln>
        </p:spPr>
      </p:sp>
      <p:sp>
        <p:nvSpPr>
          <p:cNvPr id="165" name="d05-bulb-base2">
            <a:extLst xmlns:a="http://schemas.openxmlformats.org/drawingml/2006/main">
              <a:ext uri="{FF2B5EF4-FFF2-40B4-BE49-F238E27FC236}">
                <a16:creationId xmlns:a16="http://schemas.microsoft.com/office/drawing/2014/main" id="{0B70AB1D-649C-4043-B205-225B143BDF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7629525"/>
            <a:ext cx="1143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E71926"/>
            </a:solidFill>
            <a:prstDash val="solid"/>
          </a:ln>
        </p:spPr>
      </p:sp>
      <p:sp>
        <p:nvSpPr>
          <p:cNvPr id="166" name="d05-bulb-ray">
            <a:extLst xmlns:a="http://schemas.openxmlformats.org/drawingml/2006/main">
              <a:ext uri="{FF2B5EF4-FFF2-40B4-BE49-F238E27FC236}">
                <a16:creationId xmlns:a16="http://schemas.microsoft.com/office/drawing/2014/main" id="{5A72F120-1030-4BFA-AA1F-132BB8D0C3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7219950"/>
            <a:ext cx="9525" cy="666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E71926"/>
            </a:solidFill>
            <a:prstDash val="solid"/>
          </a:ln>
        </p:spPr>
      </p:sp>
      <p:sp>
        <p:nvSpPr>
          <p:cNvPr id="167" name="d05-bulb-ray">
            <a:extLst xmlns:a="http://schemas.openxmlformats.org/drawingml/2006/main">
              <a:ext uri="{FF2B5EF4-FFF2-40B4-BE49-F238E27FC236}">
                <a16:creationId xmlns:a16="http://schemas.microsoft.com/office/drawing/2014/main" id="{87374FAA-3BB0-44FE-80B8-78FBD3D030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7324725"/>
            <a:ext cx="57150" cy="476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E71926"/>
            </a:solidFill>
            <a:prstDash val="solid"/>
          </a:ln>
        </p:spPr>
      </p:sp>
      <p:sp>
        <p:nvSpPr>
          <p:cNvPr id="168" name="d05-bulb-ray">
            <a:extLst xmlns:a="http://schemas.openxmlformats.org/drawingml/2006/main">
              <a:ext uri="{FF2B5EF4-FFF2-40B4-BE49-F238E27FC236}">
                <a16:creationId xmlns:a16="http://schemas.microsoft.com/office/drawing/2014/main" id="{B48E3547-C0BE-4608-973C-E4460AF776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7324725"/>
            <a:ext cx="57150" cy="476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E71926"/>
            </a:solidFill>
            <a:prstDash val="solid"/>
          </a:ln>
        </p:spPr>
      </p:sp>
      <p:sp>
        <p:nvSpPr>
          <p:cNvPr id="169" name="d05-insight-title-03">
            <a:extLst xmlns:a="http://schemas.openxmlformats.org/drawingml/2006/main">
              <a:ext uri="{FF2B5EF4-FFF2-40B4-BE49-F238E27FC236}">
                <a16:creationId xmlns:a16="http://schemas.microsoft.com/office/drawing/2014/main" id="{9543401A-4681-440D-BC66-D8EAD913CB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7229475"/>
            <a:ext cx="223837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01D28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01D28"/>
                </a:solidFill>
                <a:latin typeface="Arial"/>
                <a:ea typeface="Arial"/>
                <a:cs typeface="Arial"/>
              </a:rPr>
              <a:t>AI活用による差別化が可能</a:t>
            </a:r>
          </a:p>
        </p:txBody>
      </p:sp>
      <p:sp>
        <p:nvSpPr>
          <p:cNvPr id="170" name="d05-insight-body-03">
            <a:extLst xmlns:a="http://schemas.openxmlformats.org/drawingml/2006/main">
              <a:ext uri="{FF2B5EF4-FFF2-40B4-BE49-F238E27FC236}">
                <a16:creationId xmlns:a16="http://schemas.microsoft.com/office/drawing/2014/main" id="{3A38FFAD-47D0-438A-AFBA-AB064A105E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7553325"/>
            <a:ext cx="22383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36071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36071"/>
                </a:solidFill>
                <a:latin typeface="Arial"/>
                <a:ea typeface="Arial"/>
                <a:cs typeface="Arial"/>
              </a:rPr>
              <a:t>生成AIを活用した提案支援は、</a:t>
            </a:r>
          </a:p>
          <a:p xmlns:a="http://schemas.openxmlformats.org/drawingml/2006/main">
            <a:pPr algn="l">
              <a:defRPr sz="1050" b="0">
                <a:solidFill>
                  <a:srgbClr val="536071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36071"/>
                </a:solidFill>
                <a:latin typeface="Arial"/>
                <a:ea typeface="Arial"/>
                <a:cs typeface="Arial"/>
              </a:rPr>
              <a:t>競合に対する優位性を確立できる。</a:t>
            </a:r>
          </a:p>
        </p:txBody>
      </p:sp>
      <p:sp>
        <p:nvSpPr>
          <p:cNvPr id="171" name="d05-insight-band-04">
            <a:extLst xmlns:a="http://schemas.openxmlformats.org/drawingml/2006/main">
              <a:ext uri="{FF2B5EF4-FFF2-40B4-BE49-F238E27FC236}">
                <a16:creationId xmlns:a16="http://schemas.microsoft.com/office/drawing/2014/main" id="{10F35561-DD4B-4051-8E35-73C8C114A7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25250" y="7086600"/>
            <a:ext cx="3905250" cy="1009650"/>
          </a:xfrm>
          <a:custGeom xmlns:a="http://schemas.openxmlformats.org/drawingml/2006/main">
            <a:pathLst>
              <a:path w="3905250" h="1009650">
                <a:moveTo>
                  <a:pt x="0" y="0"/>
                </a:moveTo>
                <a:lnTo>
                  <a:pt x="3657600" y="0"/>
                </a:lnTo>
                <a:lnTo>
                  <a:pt x="3905250" y="514350"/>
                </a:lnTo>
                <a:lnTo>
                  <a:pt x="3657600" y="1009650"/>
                </a:lnTo>
                <a:lnTo>
                  <a:pt x="0" y="1009650"/>
                </a:lnTo>
                <a:lnTo>
                  <a:pt x="238125" y="514350"/>
                </a:lnTo>
                <a:close/>
              </a:path>
            </a:pathLst>
          </a:custGeom>
          <a:solidFill xmlns:a="http://schemas.openxmlformats.org/drawingml/2006/main">
            <a:srgbClr val="F0F5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2" name="d05-insight-num-04">
            <a:extLst xmlns:a="http://schemas.openxmlformats.org/drawingml/2006/main">
              <a:ext uri="{FF2B5EF4-FFF2-40B4-BE49-F238E27FC236}">
                <a16:creationId xmlns:a16="http://schemas.microsoft.com/office/drawing/2014/main" id="{738326C7-7280-42D4-AF27-EC0E0504B2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0" y="7229475"/>
            <a:ext cx="42862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E3A64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E3A64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173" name="d05-globe-ring">
            <a:extLst xmlns:a="http://schemas.openxmlformats.org/drawingml/2006/main">
              <a:ext uri="{FF2B5EF4-FFF2-40B4-BE49-F238E27FC236}">
                <a16:creationId xmlns:a16="http://schemas.microsoft.com/office/drawing/2014/main" id="{BC22DDF2-9850-4560-ABE9-EC859D1659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49150" y="7324725"/>
            <a:ext cx="400050" cy="40005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1E3A64"/>
            </a:solidFill>
            <a:prstDash val="solid"/>
          </a:ln>
        </p:spPr>
      </p:sp>
      <p:sp>
        <p:nvSpPr>
          <p:cNvPr id="174" name="d05-globe-v">
            <a:extLst xmlns:a="http://schemas.openxmlformats.org/drawingml/2006/main">
              <a:ext uri="{FF2B5EF4-FFF2-40B4-BE49-F238E27FC236}">
                <a16:creationId xmlns:a16="http://schemas.microsoft.com/office/drawing/2014/main" id="{6BA7FF9C-1824-41C5-8BFE-1EF2A44428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49175" y="7334250"/>
            <a:ext cx="9525" cy="381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1E3A64"/>
            </a:solidFill>
            <a:prstDash val="solid"/>
          </a:ln>
        </p:spPr>
      </p:sp>
      <p:sp>
        <p:nvSpPr>
          <p:cNvPr id="175" name="d05-globe-h">
            <a:extLst xmlns:a="http://schemas.openxmlformats.org/drawingml/2006/main">
              <a:ext uri="{FF2B5EF4-FFF2-40B4-BE49-F238E27FC236}">
                <a16:creationId xmlns:a16="http://schemas.microsoft.com/office/drawing/2014/main" id="{BBA5E6A3-5BDE-4BFA-8B5A-183C6EA221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68200" y="7524750"/>
            <a:ext cx="36195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1E3A64"/>
            </a:solidFill>
            <a:prstDash val="solid"/>
          </a:ln>
        </p:spPr>
      </p:sp>
      <p:sp>
        <p:nvSpPr>
          <p:cNvPr id="176" name="d05-globe-meridian">
            <a:extLst xmlns:a="http://schemas.openxmlformats.org/drawingml/2006/main">
              <a:ext uri="{FF2B5EF4-FFF2-40B4-BE49-F238E27FC236}">
                <a16:creationId xmlns:a16="http://schemas.microsoft.com/office/drawing/2014/main" id="{A25646BA-A321-443A-A1C5-159D60F8A4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44400" y="7343775"/>
            <a:ext cx="209550" cy="36195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E3A64"/>
            </a:solidFill>
            <a:prstDash val="solid"/>
          </a:ln>
        </p:spPr>
      </p:sp>
      <p:sp>
        <p:nvSpPr>
          <p:cNvPr id="177" name="d05-insight-title-04">
            <a:extLst xmlns:a="http://schemas.openxmlformats.org/drawingml/2006/main">
              <a:ext uri="{FF2B5EF4-FFF2-40B4-BE49-F238E27FC236}">
                <a16:creationId xmlns:a16="http://schemas.microsoft.com/office/drawing/2014/main" id="{B9FD6353-C0C4-4AEC-8799-BBCA60F5CE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77800" y="7229475"/>
            <a:ext cx="233362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01D28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01D28"/>
                </a:solidFill>
                <a:latin typeface="Arial"/>
                <a:ea typeface="Arial"/>
                <a:cs typeface="Arial"/>
              </a:rPr>
              <a:t>将来的な海外展開の可能性</a:t>
            </a:r>
          </a:p>
        </p:txBody>
      </p:sp>
      <p:sp>
        <p:nvSpPr>
          <p:cNvPr id="178" name="d05-insight-body-04">
            <a:extLst xmlns:a="http://schemas.openxmlformats.org/drawingml/2006/main">
              <a:ext uri="{FF2B5EF4-FFF2-40B4-BE49-F238E27FC236}">
                <a16:creationId xmlns:a16="http://schemas.microsoft.com/office/drawing/2014/main" id="{3832F809-1558-4945-82FC-ADB7FC2EC4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77800" y="7553325"/>
            <a:ext cx="23336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36071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36071"/>
                </a:solidFill>
                <a:latin typeface="Arial"/>
                <a:ea typeface="Arial"/>
                <a:cs typeface="Arial"/>
              </a:rPr>
              <a:t>国内市場での実績を基に、</a:t>
            </a:r>
          </a:p>
          <a:p xmlns:a="http://schemas.openxmlformats.org/drawingml/2006/main">
            <a:pPr algn="l">
              <a:defRPr sz="1050" b="0">
                <a:solidFill>
                  <a:srgbClr val="536071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36071"/>
                </a:solidFill>
                <a:latin typeface="Arial"/>
                <a:ea typeface="Arial"/>
                <a:cs typeface="Arial"/>
              </a:rPr>
              <a:t>アジア市場への展開も視野に入れる。</a:t>
            </a:r>
          </a:p>
        </p:txBody>
      </p:sp>
      <p:sp>
        <p:nvSpPr>
          <p:cNvPr id="179" name="d05-footer-logo-red-top">
            <a:extLst xmlns:a="http://schemas.openxmlformats.org/drawingml/2006/main">
              <a:ext uri="{FF2B5EF4-FFF2-40B4-BE49-F238E27FC236}">
                <a16:creationId xmlns:a16="http://schemas.microsoft.com/office/drawing/2014/main" id="{8C8727E3-2B04-4A70-B638-F215879A80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8277225"/>
            <a:ext cx="266700" cy="142875"/>
          </a:xfrm>
          <a:custGeom xmlns:a="http://schemas.openxmlformats.org/drawingml/2006/main">
            <a:pathLst>
              <a:path w="266700" h="142875">
                <a:moveTo>
                  <a:pt x="0" y="66675"/>
                </a:moveTo>
                <a:lnTo>
                  <a:pt x="123825" y="0"/>
                </a:lnTo>
                <a:lnTo>
                  <a:pt x="266700" y="66675"/>
                </a:lnTo>
                <a:lnTo>
                  <a:pt x="133350" y="142875"/>
                </a:lnTo>
                <a:close/>
              </a:path>
            </a:pathLst>
          </a:custGeom>
          <a:solidFill xmlns:a="http://schemas.openxmlformats.org/drawingml/2006/main">
            <a:srgbClr val="E719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0" name="d05-footer-logo-red-front">
            <a:extLst xmlns:a="http://schemas.openxmlformats.org/drawingml/2006/main">
              <a:ext uri="{FF2B5EF4-FFF2-40B4-BE49-F238E27FC236}">
                <a16:creationId xmlns:a16="http://schemas.microsoft.com/office/drawing/2014/main" id="{267BF30B-CB0C-45F4-B066-A597F42B9F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8343900"/>
            <a:ext cx="133350" cy="228600"/>
          </a:xfrm>
          <a:custGeom xmlns:a="http://schemas.openxmlformats.org/drawingml/2006/main">
            <a:pathLst>
              <a:path w="133350" h="228600">
                <a:moveTo>
                  <a:pt x="0" y="0"/>
                </a:moveTo>
                <a:lnTo>
                  <a:pt x="133350" y="76200"/>
                </a:lnTo>
                <a:lnTo>
                  <a:pt x="133350" y="228600"/>
                </a:lnTo>
                <a:lnTo>
                  <a:pt x="0" y="152400"/>
                </a:lnTo>
                <a:close/>
              </a:path>
            </a:pathLst>
          </a:custGeom>
          <a:solidFill xmlns:a="http://schemas.openxmlformats.org/drawingml/2006/main">
            <a:srgbClr val="C9081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1" name="d05-footer-logo-black-side">
            <a:extLst xmlns:a="http://schemas.openxmlformats.org/drawingml/2006/main">
              <a:ext uri="{FF2B5EF4-FFF2-40B4-BE49-F238E27FC236}">
                <a16:creationId xmlns:a16="http://schemas.microsoft.com/office/drawing/2014/main" id="{FDF90767-C41A-4A70-88E4-2DAE89CBBF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" y="8343900"/>
            <a:ext cx="133350" cy="228600"/>
          </a:xfrm>
          <a:custGeom xmlns:a="http://schemas.openxmlformats.org/drawingml/2006/main">
            <a:pathLst>
              <a:path w="133350" h="228600">
                <a:moveTo>
                  <a:pt x="0" y="76200"/>
                </a:moveTo>
                <a:lnTo>
                  <a:pt x="133350" y="0"/>
                </a:lnTo>
                <a:lnTo>
                  <a:pt x="133350" y="152400"/>
                </a:lnTo>
                <a:lnTo>
                  <a:pt x="0" y="228600"/>
                </a:lnTo>
                <a:close/>
              </a:path>
            </a:pathLst>
          </a:custGeom>
          <a:solidFill xmlns:a="http://schemas.openxmlformats.org/drawingml/2006/main">
            <a:srgbClr val="101D2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2" name="d05-footer-brand">
            <a:extLst xmlns:a="http://schemas.openxmlformats.org/drawingml/2006/main">
              <a:ext uri="{FF2B5EF4-FFF2-40B4-BE49-F238E27FC236}">
                <a16:creationId xmlns:a16="http://schemas.microsoft.com/office/drawing/2014/main" id="{2608F220-141A-4634-BB1F-D9FE9625D9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8334375"/>
            <a:ext cx="1657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01D28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01D28"/>
                </a:solidFill>
                <a:latin typeface="Arial"/>
                <a:ea typeface="Arial"/>
                <a:cs typeface="Arial"/>
              </a:rPr>
              <a:t>提案クエスト</a:t>
            </a:r>
          </a:p>
        </p:txBody>
      </p:sp>
      <p:sp>
        <p:nvSpPr>
          <p:cNvPr id="183" name="d05-footer-divider">
            <a:extLst xmlns:a="http://schemas.openxmlformats.org/drawingml/2006/main">
              <a:ext uri="{FF2B5EF4-FFF2-40B4-BE49-F238E27FC236}">
                <a16:creationId xmlns:a16="http://schemas.microsoft.com/office/drawing/2014/main" id="{5FF0BE67-C82B-476B-A4F6-ED63D0C6CC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19375" y="8267700"/>
            <a:ext cx="9525" cy="4381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DE3"/>
            </a:solidFill>
            <a:prstDash val="solid"/>
          </a:ln>
        </p:spPr>
      </p:sp>
      <p:sp>
        <p:nvSpPr>
          <p:cNvPr id="184" name="d05-footer-tagline-jp">
            <a:extLst xmlns:a="http://schemas.openxmlformats.org/drawingml/2006/main">
              <a:ext uri="{FF2B5EF4-FFF2-40B4-BE49-F238E27FC236}">
                <a16:creationId xmlns:a16="http://schemas.microsoft.com/office/drawing/2014/main" id="{6002AC62-2FDC-4F4F-9076-EEB4B18229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8258175"/>
            <a:ext cx="3238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36071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36071"/>
                </a:solidFill>
                <a:latin typeface="Arial"/>
                <a:ea typeface="Arial"/>
                <a:cs typeface="Arial"/>
              </a:rPr>
              <a:t>人とテクノロジーで、より良い社会をつくる</a:t>
            </a:r>
          </a:p>
        </p:txBody>
      </p:sp>
      <p:sp>
        <p:nvSpPr>
          <p:cNvPr id="185" name="d05-footer-tagline-en">
            <a:extLst xmlns:a="http://schemas.openxmlformats.org/drawingml/2006/main">
              <a:ext uri="{FF2B5EF4-FFF2-40B4-BE49-F238E27FC236}">
                <a16:creationId xmlns:a16="http://schemas.microsoft.com/office/drawing/2014/main" id="{9A30373C-CDFC-4705-9E27-EAA06E8E94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8477250"/>
            <a:ext cx="3238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36071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36071"/>
                </a:solidFill>
                <a:latin typeface="Arial"/>
                <a:ea typeface="Arial"/>
                <a:cs typeface="Arial"/>
              </a:rPr>
              <a:t>Think Together, Create the Next.</a:t>
            </a:r>
          </a:p>
        </p:txBody>
      </p:sp>
      <p:sp>
        <p:nvSpPr>
          <p:cNvPr id="186" name="d05-footer-date">
            <a:extLst xmlns:a="http://schemas.openxmlformats.org/drawingml/2006/main">
              <a:ext uri="{FF2B5EF4-FFF2-40B4-BE49-F238E27FC236}">
                <a16:creationId xmlns:a16="http://schemas.microsoft.com/office/drawing/2014/main" id="{9463312A-E222-4932-8502-FF31FE3908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68450" y="8334375"/>
            <a:ext cx="1143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2026.08.26</a:t>
            </a:r>
          </a:p>
        </p:txBody>
      </p:sp>
      <p:sp>
        <p:nvSpPr>
          <p:cNvPr id="187" name="d05-footer-date-rule">
            <a:extLst xmlns:a="http://schemas.openxmlformats.org/drawingml/2006/main">
              <a:ext uri="{FF2B5EF4-FFF2-40B4-BE49-F238E27FC236}">
                <a16:creationId xmlns:a16="http://schemas.microsoft.com/office/drawing/2014/main" id="{2DB296AC-B56D-4C99-ACB5-7332EF08CD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97175" y="8410575"/>
            <a:ext cx="333375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FFFFFF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11652341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2026-09-20T09:57:42.4300000Z</dcterms:created>
  <dcterms:modified xsi:type="dcterms:W3CDTF">2026-09-20T09:57:42.4300000Z</dcterms:modified>
</coreProperties>
</file>