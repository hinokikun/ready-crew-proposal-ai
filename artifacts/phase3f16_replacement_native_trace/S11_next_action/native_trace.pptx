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c50d60d80d4783" /><Relationship Type="http://schemas.openxmlformats.org/officeDocument/2006/relationships/extended-properties" Target="/docProps/app.xml" Id="Re827a960adc5455b" /><Relationship Type="http://schemas.openxmlformats.org/officeDocument/2006/relationships/officeDocument" Target="/ppt/presentation.xml" Id="Rd6214bdd9dc94f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2e585ded3c4cb7"/>
  </p:sldMasterIdLst>
  <p:notesMasterIdLst>
    <p:notesMasterId xmlns:r="http://schemas.openxmlformats.org/officeDocument/2006/relationships" r:id="Ra513fe46c08b4843"/>
  </p:notesMasterIdLst>
  <p:sldIdLst>
    <p:sldId xmlns:r="http://schemas.openxmlformats.org/officeDocument/2006/relationships" id="256" r:id="Rffe16cfd561d4dac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fcb90ee8494cf3" /><Relationship Type="http://schemas.openxmlformats.org/officeDocument/2006/relationships/slideMaster" Target="/ppt/slideMasters/slideMaster1.xml" Id="R972e585ded3c4cb7" /><Relationship Type="http://schemas.openxmlformats.org/officeDocument/2006/relationships/notesMaster" Target="/ppt/notesMasters/notesMaster1.xml" Id="Ra513fe46c08b4843" /><Relationship Type="http://schemas.openxmlformats.org/officeDocument/2006/relationships/presProps" Target="/ppt/presProps.xml" Id="R1fc5d7db6b3648f9" /><Relationship Type="http://schemas.openxmlformats.org/officeDocument/2006/relationships/tableStyles" Target="/ppt/tableStyles.xml" Id="R67ab8e538e7544b3" /><Relationship Type="http://schemas.openxmlformats.org/officeDocument/2006/relationships/slide" Target="/ppt/slides/slide1.xml" Id="Rffe16cfd561d4d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ec2211a32c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c983e682ff4690" /><Relationship Type="http://schemas.openxmlformats.org/officeDocument/2006/relationships/notesMaster" Target="/ppt/notesMasters/notesMaster1.xml" Id="R939aceccc681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197093b48447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f0148c2a684ae6" /><Relationship Type="http://schemas.openxmlformats.org/officeDocument/2006/relationships/slideLayout" Target="/ppt/slideLayouts/slideLayout1.xml" Id="R09b1436bfbca45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b1436bfbca45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92c34a2e04706" /><Relationship Type="http://schemas.openxmlformats.org/officeDocument/2006/relationships/image" Target="/ppt/media/image.png" Id="Rb61e0509b56542e1" /><Relationship Type="http://schemas.openxmlformats.org/officeDocument/2006/relationships/notesSlide" Target="/ppt/notesSlides/notesSlide1.xml" Id="Rca2a87d4507141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4225194-BEED-45CE-B4C1-5456B42D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667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S11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1BA34-B4CE-483F-9ABE-7A9B0187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今後の進め方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5C339-6F81-4769-9176-7D74214B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9600"/>
            <a:ext cx="276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60" b="0">
                <a:solidFill>
                  <a:srgbClr val="E51B23"/>
                </a:solidFill>
                <a:latin typeface="Yu Gothic"/>
                <a:ea typeface="Yu Gothic"/>
                <a:cs typeface="Yu Gothic"/>
              </a:defRPr>
            </a:pPr>
            <a:r>
              <a:rPr sz="660" b="0">
                <a:solidFill>
                  <a:srgbClr val="E51B23"/>
                </a:solidFill>
                <a:latin typeface="Yu Gothic"/>
                <a:ea typeface="Yu Gothic"/>
                <a:cs typeface="Yu Gothic"/>
              </a:rPr>
              <a:t>AIで、提案をもっと速く、もっと強く。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13036-3033-46A1-BA13-BCE2C073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0" y="342900"/>
            <a:ext cx="1752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788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THINK TOGETHER,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788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788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CREATE THE NEXT.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4E51C-344E-4711-99DA-F1300DBE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47725"/>
            <a:ext cx="16573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1AB4D-062D-4065-97B6-52855F3C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847725"/>
            <a:ext cx="4000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14D15-215A-42DA-A4A1-FDFF71E9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4524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E51B23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E51B23"/>
                </a:solidFill>
                <a:latin typeface="Yu Gothic"/>
                <a:ea typeface="Yu Gothic"/>
                <a:cs typeface="Yu Gothic"/>
              </a:rPr>
              <a:t>今後の進め方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5EAF4D-E889-4683-90F8-3CB16EE1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7239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0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40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とご判断事項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A9D12-B81B-4419-BF41-CC05DD59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43075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明確な意思決定のプロセスと次のアクションにより、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ご合意から実行までをスムーズに進めることができます。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2946D-FFD3-44CD-9ACD-B509A6F9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1775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51B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BAA7E-08D8-44C7-95E1-364CD0A7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47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今後の進め方（想定スケジュール）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3E6F1-7C06-4B2C-A326-4F86DDDD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3048000" cy="2009775"/>
          </a:xfrm>
          <a:custGeom xmlns:a="http://schemas.openxmlformats.org/drawingml/2006/main">
            <a:pathLst>
              <a:path w="3048000" h="2009775">
                <a:moveTo>
                  <a:pt x="0" y="0"/>
                </a:moveTo>
                <a:lnTo>
                  <a:pt x="2590800" y="0"/>
                </a:lnTo>
                <a:lnTo>
                  <a:pt x="3048000" y="1004888"/>
                </a:lnTo>
                <a:lnTo>
                  <a:pt x="2590800" y="2009775"/>
                </a:lnTo>
                <a:lnTo>
                  <a:pt x="0" y="2009775"/>
                </a:lnTo>
                <a:lnTo>
                  <a:pt x="438150" y="1004888"/>
                </a:lnTo>
                <a:close/>
              </a:path>
            </a:pathLst>
          </a:custGeom>
          <a:solidFill xmlns:a="http://schemas.openxmlformats.org/drawingml/2006/main">
            <a:srgbClr val="F1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7B8E6-21E3-44A7-A7E5-8401CB13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19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A99FAF-5A63-44DA-882A-04536D53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76600"/>
            <a:ext cx="356235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329D2-233D-48E6-B92F-4AA91DA3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" y="3412808"/>
            <a:ext cx="18859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07CBA-BF97-4B83-858C-B2ABC890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" y="3507105"/>
            <a:ext cx="18859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97A16-342E-4DD2-AFCF-3A0104E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420" y="3601403"/>
            <a:ext cx="136208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4E3586-F132-4ECD-A595-52D4F7D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583" y="3569970"/>
            <a:ext cx="188595" cy="1885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DCCBD-495B-4FD7-8205-EE83FF6D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8" y="3716655"/>
            <a:ext cx="94298" cy="94298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8F9D37-511D-483B-8A9C-9A7946FF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147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現状共有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7FC956-2609-41E2-9A2D-1E97D5B5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57675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改めて現状の課題や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目的を共有し、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認識をすり合わせます。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3293DF-7597-4C6B-8EF5-E6F97805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3048000" cy="2009775"/>
          </a:xfrm>
          <a:custGeom xmlns:a="http://schemas.openxmlformats.org/drawingml/2006/main">
            <a:pathLst>
              <a:path w="3048000" h="2009775">
                <a:moveTo>
                  <a:pt x="0" y="0"/>
                </a:moveTo>
                <a:lnTo>
                  <a:pt x="2590800" y="0"/>
                </a:lnTo>
                <a:lnTo>
                  <a:pt x="3048000" y="1004888"/>
                </a:lnTo>
                <a:lnTo>
                  <a:pt x="2590800" y="2009775"/>
                </a:lnTo>
                <a:lnTo>
                  <a:pt x="0" y="2009775"/>
                </a:lnTo>
                <a:lnTo>
                  <a:pt x="438150" y="1004888"/>
                </a:lnTo>
                <a:close/>
              </a:path>
            </a:pathLst>
          </a:custGeom>
          <a:solidFill xmlns:a="http://schemas.openxmlformats.org/drawingml/2006/main">
            <a:srgbClr val="E8F0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30870-086A-4932-BA8A-FB39250C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19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99A01-D25D-4884-86DB-669D440F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333750"/>
            <a:ext cx="361950" cy="3619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42D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C573C-3279-4077-B92B-9058252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670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03433-0D2C-49B3-8F06-8AF9714F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48075"/>
            <a:ext cx="76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510022-FC80-46EC-83A4-275EEF1B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57575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7797E-09B0-4B22-887D-174AFD0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57575"/>
            <a:ext cx="114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3397FA-A0D8-4EBD-A11A-B7E123C7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14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81149-86FD-4324-B6B5-E814AFE0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147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8B09BA-10E5-40EB-A4C9-57EBC1A2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DBC8BF-1397-4C68-8E96-10EC8955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290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D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B3ED41-C539-4469-943B-FF5C7761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C5A5F2-77AB-4676-BE7A-2D7F1083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147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要件確認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DBECB-009F-4955-80F9-3C9BEAD8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57675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具体的な要件や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優先順位を整理し、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提案内容に反映します。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382FFB-3221-4A59-805B-E9674FD4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48000"/>
            <a:ext cx="3048000" cy="2009775"/>
          </a:xfrm>
          <a:custGeom xmlns:a="http://schemas.openxmlformats.org/drawingml/2006/main">
            <a:pathLst>
              <a:path w="3048000" h="2009775">
                <a:moveTo>
                  <a:pt x="0" y="0"/>
                </a:moveTo>
                <a:lnTo>
                  <a:pt x="2590800" y="0"/>
                </a:lnTo>
                <a:lnTo>
                  <a:pt x="3048000" y="1004888"/>
                </a:lnTo>
                <a:lnTo>
                  <a:pt x="2590800" y="2009775"/>
                </a:lnTo>
                <a:lnTo>
                  <a:pt x="0" y="2009775"/>
                </a:lnTo>
                <a:lnTo>
                  <a:pt x="438150" y="1004888"/>
                </a:lnTo>
                <a:close/>
              </a:path>
            </a:pathLst>
          </a:custGeom>
          <a:solidFill xmlns:a="http://schemas.openxmlformats.org/drawingml/2006/main">
            <a:srgbClr val="FBEA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D306ED-A89F-42FD-82DE-CBC6DE64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19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58DBED-8912-47B2-83DF-F85F48F0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267075"/>
            <a:ext cx="350044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4377767-7A59-4618-BE64-8DF0134E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435" y="3407093"/>
            <a:ext cx="19002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D1E51D-9712-48E5-85F9-CD4161E5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435" y="3497104"/>
            <a:ext cx="19002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211408-6AF3-4543-9CEE-05B37342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9435" y="3587115"/>
            <a:ext cx="11001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42D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3637A4-DAF5-41AA-8D70-CBB4D9D9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461" y="3447098"/>
            <a:ext cx="170021" cy="170021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42D4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717629-5EF1-413F-89F5-1E3AD7E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9459" y="3607118"/>
            <a:ext cx="40005" cy="4000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42D4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0D07EA-DADF-43FF-B051-C7380089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147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ご提案調整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727315-286B-422F-AF31-0FE96085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57675"/>
            <a:ext cx="2143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検討結果を踏まえ、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最終的な提案内容・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条件を調整します。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8DE0C6-8648-4BD2-9DF1-9B6FAEDC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3048000" cy="2009775"/>
          </a:xfrm>
          <a:custGeom xmlns:a="http://schemas.openxmlformats.org/drawingml/2006/main">
            <a:pathLst>
              <a:path w="3048000" h="2009775">
                <a:moveTo>
                  <a:pt x="0" y="0"/>
                </a:moveTo>
                <a:lnTo>
                  <a:pt x="2590800" y="0"/>
                </a:lnTo>
                <a:lnTo>
                  <a:pt x="3048000" y="1004888"/>
                </a:lnTo>
                <a:lnTo>
                  <a:pt x="2590800" y="2009775"/>
                </a:lnTo>
                <a:lnTo>
                  <a:pt x="0" y="2009775"/>
                </a:lnTo>
                <a:lnTo>
                  <a:pt x="438150" y="1004888"/>
                </a:lnTo>
                <a:close/>
              </a:path>
            </a:pathLst>
          </a:cu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3B967F-D06D-4058-8B39-9BDE6ADC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194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B575EE-105B-4000-A9D8-BE9B21FA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14775"/>
            <a:ext cx="1952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開始判断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A3D5DE2-BD56-414A-87CD-E2F0FA9E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29100"/>
            <a:ext cx="242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4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4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ご導入のご判断を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4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4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いただき、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14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4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実行フェーズへ移行します。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D56C861-A995-474E-8E9F-BB796CDE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476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51B2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DC2BAC-D57F-4C26-A052-914D4856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43525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ご判断いただきたい事項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4377482-225E-48F4-A886-ECEDDD9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2476500" cy="1438275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EEF1F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015C216-0484-4E99-8C20-A1B6C2F2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FF4712-5282-48D1-8024-DABE03F2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010275"/>
            <a:ext cx="381000" cy="38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201241-2BBB-42DA-9CD5-0B64A3225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096000"/>
            <a:ext cx="209550" cy="209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93DAEA-4A6C-446F-A02D-DDFB59A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91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016CF0-E960-49AF-B3F0-60B675BB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00750"/>
            <a:ext cx="142875" cy="1428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BFDC99D-3D68-4D2A-A866-BADEED9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000750"/>
            <a:ext cx="76200" cy="76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BAF9135-9154-4ACD-82CE-BA859280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8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適用範囲の確認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657EAB-719A-4F68-8FAB-613F0A4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8650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対象業務・部門・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スコープの最終確認を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お願いいたします。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EC1E27-EDC5-4B25-8027-A9AE8C28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5715000"/>
            <a:ext cx="2476500" cy="1438275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EEF1F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B1AD43-345B-4CA1-9EE3-4BEAF7E9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88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616E900-5C77-483B-A0EC-081F6AB3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67425"/>
            <a:ext cx="409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B8A7C1-DE29-4C6E-8F40-474014E2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162675"/>
            <a:ext cx="40957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5D34FD-AF1B-4436-A2F7-D4ED645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91225"/>
            <a:ext cx="0" cy="1238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88720D4-C7B8-4707-8869-CE42F0D1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991225"/>
            <a:ext cx="0" cy="1238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F70CDB-9ED1-4E18-B828-2FDB4CEB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248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2F9A70A-EF95-4F50-9B05-C9F9B2DB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248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069AFA-0DBC-4DA9-8151-60F70C94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531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1BF6C7-2DEB-4C52-8C90-096EDC82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3531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A0CE1E6-9F87-46EF-B1A6-40D97591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8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スケジュールの合意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698B05A-6270-4F7C-8373-C55864BD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28650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導入時期・マイルストーン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について、貴社のご希望を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踏まえ合意します。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474D5F3-549F-4FDC-B8F0-9B5BA45C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0"/>
            <a:ext cx="2476500" cy="1438275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EEF1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8BF687-5EF6-4CEE-95D3-52E074E2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88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67B57CC-BD82-42B2-A3C7-9F8E2C47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00750"/>
            <a:ext cx="4000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6AA2124-F200-4004-B25B-90C177A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0674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2BD45FA-1580-437E-BE4F-71B7FB5D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67425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5B6349-7E16-4350-B181-8A4A62A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6267450"/>
            <a:ext cx="4000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36020A-3C24-4876-8822-4319607B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219825"/>
            <a:ext cx="342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F3EAF72-BC95-4604-ABC1-65B12110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88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予算のご確認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C39619A-DD85-4706-976B-4CCEEBCE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28650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ご提案内容に基づく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費用・契約条件について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ご確認をお願いいたします。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F366E2D-A777-46C6-A4B6-21C8A487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715000"/>
            <a:ext cx="2476500" cy="1438275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3F5F6"/>
          </a:solidFill>
          <a:ln xmlns:a="http://schemas.openxmlformats.org/drawingml/2006/main" w="9525">
            <a:solidFill>
              <a:srgbClr val="EEF1F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DFA0521-C01D-4DE7-9811-C03A541E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8864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A295C4B-2FF9-494D-81DA-2B739DA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0007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0AD3677-3B85-42B3-B04D-8946F0C9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0007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00B03DF-25A0-4FD5-A755-DB3F2B5C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007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08A3B07-EDF6-42AA-9B47-010E3F6A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62675"/>
            <a:ext cx="438150" cy="276225"/>
          </a:xfrm>
          <a:custGeom xmlns:a="http://schemas.openxmlformats.org/drawingml/2006/main">
            <a:pathLst>
              <a:path w="438150" h="276225">
                <a:moveTo>
                  <a:pt x="19050" y="257175"/>
                </a:moveTo>
                <a:lnTo>
                  <a:pt x="57150" y="161925"/>
                </a:lnTo>
                <a:lnTo>
                  <a:pt x="142875" y="161925"/>
                </a:lnTo>
                <a:lnTo>
                  <a:pt x="190500" y="257175"/>
                </a:lnTo>
                <a:moveTo>
                  <a:pt x="142875" y="257175"/>
                </a:moveTo>
                <a:lnTo>
                  <a:pt x="180975" y="123825"/>
                </a:lnTo>
                <a:lnTo>
                  <a:pt x="285750" y="123825"/>
                </a:lnTo>
                <a:lnTo>
                  <a:pt x="333375" y="257175"/>
                </a:lnTo>
                <a:moveTo>
                  <a:pt x="285750" y="257175"/>
                </a:moveTo>
                <a:lnTo>
                  <a:pt x="323850" y="161925"/>
                </a:lnTo>
                <a:lnTo>
                  <a:pt x="409575" y="161925"/>
                </a:lnTo>
                <a:lnTo>
                  <a:pt x="45720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390474B-1DC4-4D0F-8611-09C0BADD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886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30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実施体制の確定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47C9490-2CDE-445F-9CC4-AADC0AA4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6286500"/>
            <a:ext cx="1638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貴社・当社の担当体制や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役割分担について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60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ご承認をお願いいたします。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0F683DD-112E-4F31-B726-D07235AAF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58050"/>
            <a:ext cx="10810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DE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2B966DC-FF5C-4BEB-B075-1A0CECEF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81875"/>
            <a:ext cx="685800" cy="381000"/>
          </a:xfrm>
          <a:custGeom xmlns:a="http://schemas.openxmlformats.org/drawingml/2006/main">
            <a:pathLst>
              <a:path w="685800" h="381000">
                <a:moveTo>
                  <a:pt x="209550" y="0"/>
                </a:moveTo>
                <a:lnTo>
                  <a:pt x="476250" y="0"/>
                </a:lnTo>
                <a:lnTo>
                  <a:pt x="476250" y="171450"/>
                </a:lnTo>
                <a:lnTo>
                  <a:pt x="685800" y="171450"/>
                </a:lnTo>
                <a:lnTo>
                  <a:pt x="342900" y="381000"/>
                </a:lnTo>
                <a:lnTo>
                  <a:pt x="0" y="171450"/>
                </a:lnTo>
                <a:lnTo>
                  <a:pt x="209550" y="171450"/>
                </a:lnTo>
                <a:close/>
              </a:path>
            </a:pathLst>
          </a:custGeom>
          <a:solidFill xmlns:a="http://schemas.openxmlformats.org/drawingml/2006/main">
            <a:srgbClr val="F2A6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40E2AAC-8239-4D7E-A536-81106FBD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7419975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E51B23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E51B23"/>
                </a:solidFill>
                <a:latin typeface="Yu Gothic"/>
                <a:ea typeface="Yu Gothic"/>
                <a:cs typeface="Yu Gothic"/>
              </a:rPr>
              <a:t>必要事項の確認後、速やかに正式提案と導入準備へ進行します。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ABD344A-3BFC-40B1-B5A9-548996A1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86750"/>
            <a:ext cx="295275" cy="104775"/>
          </a:xfrm>
          <a:custGeom xmlns:a="http://schemas.openxmlformats.org/drawingml/2006/main">
            <a:pathLst>
              <a:path w="295275" h="104775">
                <a:moveTo>
                  <a:pt x="0" y="38100"/>
                </a:moveTo>
                <a:lnTo>
                  <a:pt x="161925" y="0"/>
                </a:lnTo>
                <a:lnTo>
                  <a:pt x="295275" y="47625"/>
                </a:lnTo>
                <a:lnTo>
                  <a:pt x="133350" y="95250"/>
                </a:lnTo>
                <a:close/>
              </a:path>
            </a:pathLst>
          </a:cu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2039204-F090-4202-AEC6-FF480302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382000"/>
            <a:ext cx="180975" cy="85725"/>
          </a:xfrm>
          <a:custGeom xmlns:a="http://schemas.openxmlformats.org/drawingml/2006/main">
            <a:pathLst>
              <a:path w="180975" h="85725">
                <a:moveTo>
                  <a:pt x="0" y="0"/>
                </a:moveTo>
                <a:lnTo>
                  <a:pt x="180975" y="38100"/>
                </a:lnTo>
                <a:lnTo>
                  <a:pt x="180975" y="85725"/>
                </a:lnTo>
                <a:lnTo>
                  <a:pt x="0" y="47625"/>
                </a:lnTo>
                <a:close/>
              </a:path>
            </a:pathLst>
          </a:custGeom>
          <a:solidFill xmlns:a="http://schemas.openxmlformats.org/drawingml/2006/main">
            <a:srgbClr val="555D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3DAD85D-B832-4946-980E-358C678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91525"/>
            <a:ext cx="285750" cy="104775"/>
          </a:xfrm>
          <a:custGeom xmlns:a="http://schemas.openxmlformats.org/drawingml/2006/main">
            <a:pathLst>
              <a:path w="285750" h="104775">
                <a:moveTo>
                  <a:pt x="0" y="38100"/>
                </a:moveTo>
                <a:lnTo>
                  <a:pt x="161925" y="0"/>
                </a:lnTo>
                <a:lnTo>
                  <a:pt x="285750" y="47625"/>
                </a:lnTo>
                <a:lnTo>
                  <a:pt x="123825" y="95250"/>
                </a:lnTo>
                <a:close/>
              </a:path>
            </a:pathLst>
          </a:custGeom>
          <a:solidFill xmlns:a="http://schemas.openxmlformats.org/drawingml/2006/main">
            <a:srgbClr val="2B31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23D84FF-C89B-4ADD-8FC7-EB46E80C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832485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CBCB14-53A5-4D7F-8E83-6BC7533B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8296275"/>
            <a:ext cx="0" cy="33337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D6A7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012A0F-8130-4F81-A2AA-261EC392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82296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人とテクノロジーで、より良い社会をつくる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Think Together, Create the Next.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FD9587-35BC-4756-9B5C-B83378D9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0"/>
            <a:ext cx="4514850" cy="896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943CF68-8DCA-4CB1-BB96-9C45AAD2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0"/>
            <a:ext cx="1762125" cy="3905250"/>
          </a:xfrm>
          <a:custGeom xmlns:a="http://schemas.openxmlformats.org/drawingml/2006/main">
            <a:pathLst>
              <a:path w="1762125" h="3905250">
                <a:moveTo>
                  <a:pt x="1123950" y="0"/>
                </a:moveTo>
                <a:lnTo>
                  <a:pt x="1762125" y="0"/>
                </a:lnTo>
                <a:lnTo>
                  <a:pt x="781050" y="3905250"/>
                </a:lnTo>
                <a:lnTo>
                  <a:pt x="0" y="3905250"/>
                </a:lnTo>
                <a:close/>
              </a:path>
            </a:pathLst>
          </a:cu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6F92B8E-2347-4BB5-9993-699B85E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0"/>
            <a:ext cx="952500" cy="6667500"/>
          </a:xfrm>
          <a:custGeom xmlns:a="http://schemas.openxmlformats.org/drawingml/2006/main">
            <a:pathLst>
              <a:path w="952500" h="6667500">
                <a:moveTo>
                  <a:pt x="495300" y="0"/>
                </a:moveTo>
                <a:lnTo>
                  <a:pt x="952500" y="0"/>
                </a:lnTo>
                <a:lnTo>
                  <a:pt x="361950" y="6667500"/>
                </a:lnTo>
                <a:lnTo>
                  <a:pt x="0" y="6667500"/>
                </a:lnTo>
                <a:close/>
              </a:path>
            </a:pathLst>
          </a:custGeom>
          <a:solidFill xmlns:a="http://schemas.openxmlformats.org/drawingml/2006/main">
            <a:srgbClr val="C6DD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9336189-97EB-4B1B-B10B-05C2D4FE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6581775"/>
            <a:ext cx="3352800" cy="2381250"/>
          </a:xfrm>
          <a:custGeom xmlns:a="http://schemas.openxmlformats.org/drawingml/2006/main">
            <a:pathLst>
              <a:path w="3352800" h="2381250">
                <a:moveTo>
                  <a:pt x="2000250" y="0"/>
                </a:moveTo>
                <a:lnTo>
                  <a:pt x="3352800" y="0"/>
                </a:lnTo>
                <a:lnTo>
                  <a:pt x="1066800" y="2381250"/>
                </a:lnTo>
                <a:lnTo>
                  <a:pt x="0" y="2381250"/>
                </a:lnTo>
                <a:close/>
              </a:path>
            </a:pathLst>
          </a:cu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B18F430-A8AE-4062-974C-D974FDF4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34200"/>
            <a:ext cx="2590800" cy="2028825"/>
          </a:xfrm>
          <a:custGeom xmlns:a="http://schemas.openxmlformats.org/drawingml/2006/main">
            <a:pathLst>
              <a:path w="2590800" h="2028825">
                <a:moveTo>
                  <a:pt x="1390650" y="0"/>
                </a:moveTo>
                <a:lnTo>
                  <a:pt x="2381250" y="0"/>
                </a:lnTo>
                <a:lnTo>
                  <a:pt x="876300" y="2028825"/>
                </a:lnTo>
                <a:lnTo>
                  <a:pt x="0" y="2028825"/>
                </a:lnTo>
                <a:close/>
              </a:path>
            </a:pathLst>
          </a:custGeom>
          <a:solidFill xmlns:a="http://schemas.openxmlformats.org/drawingml/2006/main">
            <a:srgbClr val="B90F1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e0509b56542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82500" y="0"/>
            <a:ext cx="3543300" cy="3943350"/>
          </a:xfrm>
          <a:prstGeom xmlns:a="http://schemas.openxmlformats.org/drawingml/2006/main" prst="rect">
            <a:avLst/>
          </a:prstGeom>
        </p:spPr>
      </p:pic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54B89F-9A7E-4A1C-8B7D-1531749F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3895725"/>
            <a:ext cx="3829050" cy="39052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35ABF6D-C6DE-4009-8983-9F8BA3D1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171950"/>
            <a:ext cx="45720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E51B2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47A1B0A-99AB-4CB8-B75D-CBD93C67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3910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次のアクション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D75B383-900E-4FF5-AAB4-C90F1057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857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3009964-0C10-4FB1-97A3-00A48F3F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99110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054B169-F24D-4EFC-993E-1472D35F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8863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追加ヒアリング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0551723-AC21-4853-8983-B39DE74A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21017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本資料の内容をもとに、必要な追加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ヒアリングを実施します。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0479922-27AF-40AC-97C8-7990BCE4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7816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66D34FF-CA52-417A-B27D-59FFCC31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59150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C4CBCCA-A0A4-470B-8F82-93D18062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810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条件の最終化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732EB34-48FD-488A-9625-362188C9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1341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ご判断事項を踏まえ、提案内容・条件を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最終化します。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A1D133C3-BE1B-42B4-8ADF-EC9F3813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705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A105169-DF12-46D0-A0B9-81619803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8389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705AF35-7CBD-4FAF-ABCF-9B317FEF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7341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正式提案・開始判断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63B4032-9182-4863-AC3A-2ADC10B8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70580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最終提案をご提示し、ご導入のご判断を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5D6A76"/>
                </a:solidFill>
                <a:latin typeface="Yu Gothic"/>
                <a:ea typeface="Yu Gothic"/>
                <a:cs typeface="Yu Gothic"/>
              </a:rPr>
              <a:t>いただきます。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F9BBE0E-2135-4323-BD2E-40DCFC66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571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提案クエスト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FCD0D25C-211A-471D-8EA2-7675B92E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24225"/>
            <a:ext cx="495300" cy="352425"/>
          </a:xfrm>
          <a:custGeom xmlns:a="http://schemas.openxmlformats.org/drawingml/2006/main">
            <a:pathLst>
              <a:path w="495300" h="352425">
                <a:moveTo>
                  <a:pt x="0" y="123825"/>
                </a:moveTo>
                <a:lnTo>
                  <a:pt x="95250" y="28575"/>
                </a:lnTo>
                <a:lnTo>
                  <a:pt x="219075" y="104775"/>
                </a:lnTo>
                <a:lnTo>
                  <a:pt x="276225" y="57150"/>
                </a:lnTo>
                <a:lnTo>
                  <a:pt x="371475" y="28575"/>
                </a:lnTo>
                <a:lnTo>
                  <a:pt x="495300" y="123825"/>
                </a:lnTo>
                <a:lnTo>
                  <a:pt x="409575" y="219075"/>
                </a:lnTo>
                <a:lnTo>
                  <a:pt x="314325" y="142875"/>
                </a:lnTo>
                <a:lnTo>
                  <a:pt x="257175" y="200025"/>
                </a:lnTo>
                <a:lnTo>
                  <a:pt x="190500" y="152400"/>
                </a:lnTo>
                <a:lnTo>
                  <a:pt x="104775" y="23812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0ACC6527-AB90-4194-92F3-6EC4D24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43275"/>
            <a:ext cx="66675" cy="190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5BB8D91B-D24C-4C83-A8E8-14CEEB4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43275"/>
            <a:ext cx="66675" cy="1905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CD45A058-C229-46EE-A142-8489DDA8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33775"/>
            <a:ext cx="104775" cy="10477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113A2B2-0EE9-484A-A3E8-1A5482FF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52825"/>
            <a:ext cx="85725" cy="857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5007258F-127F-4651-9319-A21FC00B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52825"/>
            <a:ext cx="76200" cy="762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AC160DFE-5659-4C18-84B5-5C65D1A7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43300"/>
            <a:ext cx="85725" cy="857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6165D22-5F16-47C8-8D90-C610B16B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315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11182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111820"/>
                </a:solidFill>
                <a:latin typeface="Yu Gothic"/>
                <a:ea typeface="Yu Gothic"/>
                <a:cs typeface="Yu Gothic"/>
              </a:rPr>
              <a:t>2026.08.26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13A3754-FE30-4390-9EB8-7F391996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8420100"/>
            <a:ext cx="3238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D6A76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B53EA515-213F-499B-ACFF-E31CAC79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220075"/>
            <a:ext cx="47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6C6637F-CF85-40FE-87D0-65211ECF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267700"/>
            <a:ext cx="323850" cy="123825"/>
          </a:xfrm>
          <a:custGeom xmlns:a="http://schemas.openxmlformats.org/drawingml/2006/main">
            <a:pathLst>
              <a:path w="323850" h="123825">
                <a:moveTo>
                  <a:pt x="0" y="47625"/>
                </a:moveTo>
                <a:lnTo>
                  <a:pt x="171450" y="0"/>
                </a:lnTo>
                <a:lnTo>
                  <a:pt x="323850" y="47625"/>
                </a:lnTo>
                <a:lnTo>
                  <a:pt x="152400" y="104775"/>
                </a:lnTo>
                <a:close/>
              </a:path>
            </a:pathLst>
          </a:custGeom>
          <a:solidFill xmlns:a="http://schemas.openxmlformats.org/drawingml/2006/main">
            <a:srgbClr val="E51B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D0E68C5-0152-47E0-9FD8-4D35AE0D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372475"/>
            <a:ext cx="200025" cy="95250"/>
          </a:xfrm>
          <a:custGeom xmlns:a="http://schemas.openxmlformats.org/drawingml/2006/main">
            <a:pathLst>
              <a:path w="200025" h="95250">
                <a:moveTo>
                  <a:pt x="0" y="0"/>
                </a:moveTo>
                <a:lnTo>
                  <a:pt x="200025" y="38100"/>
                </a:lnTo>
                <a:lnTo>
                  <a:pt x="200025" y="95250"/>
                </a:lnTo>
                <a:lnTo>
                  <a:pt x="0" y="57150"/>
                </a:lnTo>
                <a:close/>
              </a:path>
            </a:pathLst>
          </a:custGeom>
          <a:solidFill xmlns:a="http://schemas.openxmlformats.org/drawingml/2006/main">
            <a:srgbClr val="3F47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9DD5DC4-A812-4A07-B749-C08AD72C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0"/>
            <a:ext cx="314325" cy="114300"/>
          </a:xfrm>
          <a:custGeom xmlns:a="http://schemas.openxmlformats.org/drawingml/2006/main">
            <a:pathLst>
              <a:path w="314325" h="114300">
                <a:moveTo>
                  <a:pt x="0" y="38100"/>
                </a:moveTo>
                <a:lnTo>
                  <a:pt x="171450" y="0"/>
                </a:lnTo>
                <a:lnTo>
                  <a:pt x="314325" y="47625"/>
                </a:lnTo>
                <a:lnTo>
                  <a:pt x="142875" y="114300"/>
                </a:lnTo>
                <a:close/>
              </a:path>
            </a:pathLst>
          </a:custGeom>
          <a:solidFill xmlns:a="http://schemas.openxmlformats.org/drawingml/2006/main">
            <a:srgbClr val="20262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6052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2026-09-19T21:07:10.2220000Z</dcterms:created>
  <dcterms:modified xsi:type="dcterms:W3CDTF">2026-09-19T21:07:10.2220000Z</dcterms:modified>
</coreProperties>
</file>