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621f3b2a884287" /><Relationship Type="http://schemas.openxmlformats.org/officeDocument/2006/relationships/extended-properties" Target="/docProps/app.xml" Id="R24481453f1854369" /><Relationship Type="http://schemas.openxmlformats.org/officeDocument/2006/relationships/officeDocument" Target="/ppt/presentation.xml" Id="Rdde4701f52d243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d70c7aad3a4dd3"/>
  </p:sldMasterIdLst>
  <p:notesMasterIdLst>
    <p:notesMasterId xmlns:r="http://schemas.openxmlformats.org/officeDocument/2006/relationships" r:id="R896cf969d81e4be4"/>
  </p:notesMasterIdLst>
  <p:sldIdLst>
    <p:sldId xmlns:r="http://schemas.openxmlformats.org/officeDocument/2006/relationships" id="256" r:id="R712116bea5a844f1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242437d61d4123" /><Relationship Type="http://schemas.openxmlformats.org/officeDocument/2006/relationships/slideMaster" Target="/ppt/slideMasters/slideMaster1.xml" Id="R05d70c7aad3a4dd3" /><Relationship Type="http://schemas.openxmlformats.org/officeDocument/2006/relationships/notesMaster" Target="/ppt/notesMasters/notesMaster1.xml" Id="R896cf969d81e4be4" /><Relationship Type="http://schemas.openxmlformats.org/officeDocument/2006/relationships/presProps" Target="/ppt/presProps.xml" Id="R1c54d903cd534585" /><Relationship Type="http://schemas.openxmlformats.org/officeDocument/2006/relationships/tableStyles" Target="/ppt/tableStyles.xml" Id="Ra223a74c1cad48d6" /><Relationship Type="http://schemas.openxmlformats.org/officeDocument/2006/relationships/slide" Target="/ppt/slides/slide1.xml" Id="R712116bea5a844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8675f20a204d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c8c1971fa34f6c" /><Relationship Type="http://schemas.openxmlformats.org/officeDocument/2006/relationships/notesMaster" Target="/ppt/notesMasters/notesMaster1.xml" Id="Ra052b931844d4c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D09 system-architecture detail replacement native trace. Canonical image is the sole visual authority. All panels, connectors, labels, and icons are editable native objects. No full-slide raster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49c504e244c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f42ad540424728" /><Relationship Type="http://schemas.openxmlformats.org/officeDocument/2006/relationships/slideLayout" Target="/ppt/slideLayouts/slideLayout1.xml" Id="R66d6e9a1821945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d6e9a1821945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b052fd55c4fb3" /><Relationship Type="http://schemas.openxmlformats.org/officeDocument/2006/relationships/notesSlide" Target="/ppt/notesSlides/notesSlide1.xml" Id="R4a3f2dc6852341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d09-top-red-diagonal">
            <a:extLst xmlns:a="http://schemas.openxmlformats.org/drawingml/2006/main">
              <a:ext uri="{FF2B5EF4-FFF2-40B4-BE49-F238E27FC236}">
                <a16:creationId xmlns:a16="http://schemas.microsoft.com/office/drawing/2014/main" id="{43F813B1-236D-4DD9-A250-92558C00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0"/>
            <a:ext cx="2857500" cy="4762500"/>
          </a:xfrm>
          <a:custGeom xmlns:a="http://schemas.openxmlformats.org/drawingml/2006/main">
            <a:pathLst>
              <a:path w="2857500" h="4762500">
                <a:moveTo>
                  <a:pt x="1543050" y="0"/>
                </a:moveTo>
                <a:lnTo>
                  <a:pt x="2857500" y="0"/>
                </a:lnTo>
                <a:lnTo>
                  <a:pt x="1238250" y="4762500"/>
                </a:lnTo>
                <a:lnTo>
                  <a:pt x="0" y="476250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09-top-pale-diagonal">
            <a:extLst xmlns:a="http://schemas.openxmlformats.org/drawingml/2006/main">
              <a:ext uri="{FF2B5EF4-FFF2-40B4-BE49-F238E27FC236}">
                <a16:creationId xmlns:a16="http://schemas.microsoft.com/office/drawing/2014/main" id="{91F98DFA-C0D5-443E-BEE2-4140E045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0"/>
            <a:ext cx="1847850" cy="4762500"/>
          </a:xfrm>
          <a:custGeom xmlns:a="http://schemas.openxmlformats.org/drawingml/2006/main">
            <a:pathLst>
              <a:path w="1847850" h="4762500">
                <a:moveTo>
                  <a:pt x="1543050" y="0"/>
                </a:moveTo>
                <a:lnTo>
                  <a:pt x="1847850" y="0"/>
                </a:lnTo>
                <a:lnTo>
                  <a:pt x="304800" y="4762500"/>
                </a:lnTo>
                <a:lnTo>
                  <a:pt x="0" y="4762500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09-top-gray-diagonal">
            <a:extLst xmlns:a="http://schemas.openxmlformats.org/drawingml/2006/main">
              <a:ext uri="{FF2B5EF4-FFF2-40B4-BE49-F238E27FC236}">
                <a16:creationId xmlns:a16="http://schemas.microsoft.com/office/drawing/2014/main" id="{A37AAAD9-86EB-48CD-BEA5-2E63955B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0"/>
            <a:ext cx="1895475" cy="4953000"/>
          </a:xfrm>
          <a:custGeom xmlns:a="http://schemas.openxmlformats.org/drawingml/2006/main">
            <a:pathLst>
              <a:path w="1895475" h="4953000">
                <a:moveTo>
                  <a:pt x="1600200" y="0"/>
                </a:moveTo>
                <a:lnTo>
                  <a:pt x="1895475" y="0"/>
                </a:lnTo>
                <a:lnTo>
                  <a:pt x="304800" y="4953000"/>
                </a:lnTo>
                <a:lnTo>
                  <a:pt x="0" y="4953000"/>
                </a:lnTo>
                <a:close/>
              </a:path>
            </a:pathLst>
          </a:custGeom>
          <a:solidFill xmlns:a="http://schemas.openxmlformats.org/drawingml/2006/main">
            <a:srgbClr val="E9E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09-bottom-red-band">
            <a:extLst xmlns:a="http://schemas.openxmlformats.org/drawingml/2006/main">
              <a:ext uri="{FF2B5EF4-FFF2-40B4-BE49-F238E27FC236}">
                <a16:creationId xmlns:a16="http://schemas.microsoft.com/office/drawing/2014/main" id="{C40778A0-59A8-4DC3-A3E3-3F65FB04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000875"/>
            <a:ext cx="3352800" cy="1962150"/>
          </a:xfrm>
          <a:custGeom xmlns:a="http://schemas.openxmlformats.org/drawingml/2006/main">
            <a:pathLst>
              <a:path w="3352800" h="1962150">
                <a:moveTo>
                  <a:pt x="0" y="1962150"/>
                </a:moveTo>
                <a:lnTo>
                  <a:pt x="3352800" y="0"/>
                </a:lnTo>
                <a:lnTo>
                  <a:pt x="3352800" y="19621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09-bottom-dark-band">
            <a:extLst xmlns:a="http://schemas.openxmlformats.org/drawingml/2006/main">
              <a:ext uri="{FF2B5EF4-FFF2-40B4-BE49-F238E27FC236}">
                <a16:creationId xmlns:a16="http://schemas.microsoft.com/office/drawing/2014/main" id="{1557B472-8E22-4C4C-8EF5-422AC60F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743825"/>
            <a:ext cx="2305050" cy="1219200"/>
          </a:xfrm>
          <a:custGeom xmlns:a="http://schemas.openxmlformats.org/drawingml/2006/main">
            <a:pathLst>
              <a:path w="2305050" h="1219200">
                <a:moveTo>
                  <a:pt x="0" y="1219200"/>
                </a:moveTo>
                <a:lnTo>
                  <a:pt x="2305050" y="0"/>
                </a:lnTo>
                <a:lnTo>
                  <a:pt x="2305050" y="1219200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09-header-number">
            <a:extLst xmlns:a="http://schemas.openxmlformats.org/drawingml/2006/main">
              <a:ext uri="{FF2B5EF4-FFF2-40B4-BE49-F238E27FC236}">
                <a16:creationId xmlns:a16="http://schemas.microsoft.com/office/drawing/2014/main" id="{DE6B78CE-6ECE-413A-B5D5-49516A22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D09</a:t>
            </a:r>
          </a:p>
        </p:txBody>
      </p:sp>
      <p:sp>
        <p:nvSpPr>
          <p:cNvPr id="7" name="d09-header-section">
            <a:extLst xmlns:a="http://schemas.openxmlformats.org/drawingml/2006/main">
              <a:ext uri="{FF2B5EF4-FFF2-40B4-BE49-F238E27FC236}">
                <a16:creationId xmlns:a16="http://schemas.microsoft.com/office/drawing/2014/main" id="{0C804E12-65E5-44E9-BABD-580475FE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85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システム構成と情報連携</a:t>
            </a:r>
          </a:p>
        </p:txBody>
      </p:sp>
      <p:sp>
        <p:nvSpPr>
          <p:cNvPr id="8" name="d09-header-brand">
            <a:extLst xmlns:a="http://schemas.openxmlformats.org/drawingml/2006/main">
              <a:ext uri="{FF2B5EF4-FFF2-40B4-BE49-F238E27FC236}">
                <a16:creationId xmlns:a16="http://schemas.microsoft.com/office/drawing/2014/main" id="{48A4F6D8-644B-411C-BE10-C82AF53C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t>提案クエスト</a:t>
            </a:r>
          </a:p>
        </p:txBody>
      </p:sp>
      <p:sp>
        <p:nvSpPr>
          <p:cNvPr id="9" name="d09-header-tagline">
            <a:extLst xmlns:a="http://schemas.openxmlformats.org/drawingml/2006/main">
              <a:ext uri="{FF2B5EF4-FFF2-40B4-BE49-F238E27FC236}">
                <a16:creationId xmlns:a16="http://schemas.microsoft.com/office/drawing/2014/main" id="{FB928F43-72D2-4976-9AB8-818C8E3A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38175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10" name="d09-header-english">
            <a:extLst xmlns:a="http://schemas.openxmlformats.org/drawingml/2006/main">
              <a:ext uri="{FF2B5EF4-FFF2-40B4-BE49-F238E27FC236}">
                <a16:creationId xmlns:a16="http://schemas.microsoft.com/office/drawing/2014/main" id="{BF30131A-7379-4D8A-82B1-EDFFB416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00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THINK TOGETHER,</a:t>
            </a:r>
          </a:p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CREATE THE NEXT.</a:t>
            </a:r>
          </a:p>
        </p:txBody>
      </p:sp>
      <p:sp>
        <p:nvSpPr>
          <p:cNvPr id="11" name="d09-header-rule">
            <a:extLst xmlns:a="http://schemas.openxmlformats.org/drawingml/2006/main">
              <a:ext uri="{FF2B5EF4-FFF2-40B4-BE49-F238E27FC236}">
                <a16:creationId xmlns:a16="http://schemas.microsoft.com/office/drawing/2014/main" id="{BC2C73CB-D846-4514-B5A5-9A6A45C9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904875"/>
            <a:ext cx="1581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1D28"/>
            </a:solidFill>
            <a:prstDash val="solid"/>
          </a:ln>
        </p:spPr>
      </p:sp>
      <p:sp>
        <p:nvSpPr>
          <p:cNvPr id="12" name="d09-header-red-rule">
            <a:extLst xmlns:a="http://schemas.openxmlformats.org/drawingml/2006/main">
              <a:ext uri="{FF2B5EF4-FFF2-40B4-BE49-F238E27FC236}">
                <a16:creationId xmlns:a16="http://schemas.microsoft.com/office/drawing/2014/main" id="{20ED63AB-D635-45A6-93B5-10F8282C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904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3" name="d09-title">
            <a:extLst xmlns:a="http://schemas.openxmlformats.org/drawingml/2006/main">
              <a:ext uri="{FF2B5EF4-FFF2-40B4-BE49-F238E27FC236}">
                <a16:creationId xmlns:a16="http://schemas.microsoft.com/office/drawing/2014/main" id="{CC9B001C-0971-4D22-A146-51C50B56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096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システム構成と情報連携</a:t>
            </a:r>
          </a:p>
        </p:txBody>
      </p:sp>
      <p:sp>
        <p:nvSpPr>
          <p:cNvPr id="14" name="d09-subtitle">
            <a:extLst xmlns:a="http://schemas.openxmlformats.org/drawingml/2006/main">
              <a:ext uri="{FF2B5EF4-FFF2-40B4-BE49-F238E27FC236}">
                <a16:creationId xmlns:a16="http://schemas.microsoft.com/office/drawing/2014/main" id="{02DDE19C-377C-40FD-9B10-F9AFE9CB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71625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社内外の情報を安全に連携し、AIが整理・分析。人の確認を経て、提案・見積・営業判断へ活用します。</a:t>
            </a:r>
          </a:p>
        </p:txBody>
      </p:sp>
      <p:sp>
        <p:nvSpPr>
          <p:cNvPr id="15" name="d09-source-panel">
            <a:extLst xmlns:a="http://schemas.openxmlformats.org/drawingml/2006/main">
              <a:ext uri="{FF2B5EF4-FFF2-40B4-BE49-F238E27FC236}">
                <a16:creationId xmlns:a16="http://schemas.microsoft.com/office/drawing/2014/main" id="{4E236711-D696-48E9-BA2B-830245D7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09825"/>
            <a:ext cx="3257550" cy="43243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6" name="d09-source-heading">
            <a:extLst xmlns:a="http://schemas.openxmlformats.org/drawingml/2006/main">
              <a:ext uri="{FF2B5EF4-FFF2-40B4-BE49-F238E27FC236}">
                <a16:creationId xmlns:a16="http://schemas.microsoft.com/office/drawing/2014/main" id="{DB7E6FA9-A3E2-471D-8CE1-E3BE3569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データソース</a:t>
            </a:r>
          </a:p>
        </p:txBody>
      </p:sp>
      <p:sp>
        <p:nvSpPr>
          <p:cNvPr id="17" name="d09-source-row-0">
            <a:extLst xmlns:a="http://schemas.openxmlformats.org/drawingml/2006/main">
              <a:ext uri="{FF2B5EF4-FFF2-40B4-BE49-F238E27FC236}">
                <a16:creationId xmlns:a16="http://schemas.microsoft.com/office/drawing/2014/main" id="{8B41CF20-1434-4368-BA33-E10579C6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2914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8" name="d09-source-dot-0">
            <a:extLst xmlns:a="http://schemas.openxmlformats.org/drawingml/2006/main">
              <a:ext uri="{FF2B5EF4-FFF2-40B4-BE49-F238E27FC236}">
                <a16:creationId xmlns:a16="http://schemas.microsoft.com/office/drawing/2014/main" id="{39313ED8-1E08-445E-AB2B-421D2E23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09-source-title-0">
            <a:extLst xmlns:a="http://schemas.openxmlformats.org/drawingml/2006/main">
              <a:ext uri="{FF2B5EF4-FFF2-40B4-BE49-F238E27FC236}">
                <a16:creationId xmlns:a16="http://schemas.microsoft.com/office/drawing/2014/main" id="{7AB1AEB7-6195-4BDE-AE59-034C6AE3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146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顧客・案件情報</a:t>
            </a:r>
          </a:p>
        </p:txBody>
      </p:sp>
      <p:sp>
        <p:nvSpPr>
          <p:cNvPr id="20" name="d09-source-body-0">
            <a:extLst xmlns:a="http://schemas.openxmlformats.org/drawingml/2006/main">
              <a:ext uri="{FF2B5EF4-FFF2-40B4-BE49-F238E27FC236}">
                <a16:creationId xmlns:a16="http://schemas.microsoft.com/office/drawing/2014/main" id="{D8F9FF1F-68CF-4E9E-8EB6-48C047F2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623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CRM / 案件概要 / ヒアリング</a:t>
            </a:r>
          </a:p>
        </p:txBody>
      </p:sp>
      <p:sp>
        <p:nvSpPr>
          <p:cNvPr id="21" name="d09-source-row-1">
            <a:extLst xmlns:a="http://schemas.openxmlformats.org/drawingml/2006/main">
              <a:ext uri="{FF2B5EF4-FFF2-40B4-BE49-F238E27FC236}">
                <a16:creationId xmlns:a16="http://schemas.microsoft.com/office/drawing/2014/main" id="{16D9DAAE-8679-42A0-9DDC-08AA38D9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9525"/>
            <a:ext cx="2914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2" name="d09-source-dot-1">
            <a:extLst xmlns:a="http://schemas.openxmlformats.org/drawingml/2006/main">
              <a:ext uri="{FF2B5EF4-FFF2-40B4-BE49-F238E27FC236}">
                <a16:creationId xmlns:a16="http://schemas.microsoft.com/office/drawing/2014/main" id="{37F095E7-7C13-4BAB-84AD-00C7409A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09-source-title-1">
            <a:extLst xmlns:a="http://schemas.openxmlformats.org/drawingml/2006/main">
              <a:ext uri="{FF2B5EF4-FFF2-40B4-BE49-F238E27FC236}">
                <a16:creationId xmlns:a16="http://schemas.microsoft.com/office/drawing/2014/main" id="{DD30360C-5A83-4FA0-830C-EBA977E9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52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過去提案・実績</a:t>
            </a:r>
          </a:p>
        </p:txBody>
      </p:sp>
      <p:sp>
        <p:nvSpPr>
          <p:cNvPr id="24" name="d09-source-body-1">
            <a:extLst xmlns:a="http://schemas.openxmlformats.org/drawingml/2006/main">
              <a:ext uri="{FF2B5EF4-FFF2-40B4-BE49-F238E27FC236}">
                <a16:creationId xmlns:a16="http://schemas.microsoft.com/office/drawing/2014/main" id="{8BADEC63-CA9B-4115-903B-D74045E9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2005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提案書 / 見積 / 受注・失注履歴</a:t>
            </a:r>
          </a:p>
        </p:txBody>
      </p:sp>
      <p:sp>
        <p:nvSpPr>
          <p:cNvPr id="25" name="d09-source-row-2">
            <a:extLst xmlns:a="http://schemas.openxmlformats.org/drawingml/2006/main">
              <a:ext uri="{FF2B5EF4-FFF2-40B4-BE49-F238E27FC236}">
                <a16:creationId xmlns:a16="http://schemas.microsoft.com/office/drawing/2014/main" id="{52B0E008-001C-4370-B741-A11C0354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57725"/>
            <a:ext cx="2914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6" name="d09-source-dot-2">
            <a:extLst xmlns:a="http://schemas.openxmlformats.org/drawingml/2006/main">
              <a:ext uri="{FF2B5EF4-FFF2-40B4-BE49-F238E27FC236}">
                <a16:creationId xmlns:a16="http://schemas.microsoft.com/office/drawing/2014/main" id="{0EAA671F-2878-4FB7-A3D1-0E9CC116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09-source-title-2">
            <a:extLst xmlns:a="http://schemas.openxmlformats.org/drawingml/2006/main">
              <a:ext uri="{FF2B5EF4-FFF2-40B4-BE49-F238E27FC236}">
                <a16:creationId xmlns:a16="http://schemas.microsoft.com/office/drawing/2014/main" id="{0D2B7419-9C9E-47A4-9AE4-8488EA65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7910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社内ナレッジ</a:t>
            </a:r>
          </a:p>
        </p:txBody>
      </p:sp>
      <p:sp>
        <p:nvSpPr>
          <p:cNvPr id="28" name="d09-source-body-2">
            <a:extLst xmlns:a="http://schemas.openxmlformats.org/drawingml/2006/main">
              <a:ext uri="{FF2B5EF4-FFF2-40B4-BE49-F238E27FC236}">
                <a16:creationId xmlns:a16="http://schemas.microsoft.com/office/drawing/2014/main" id="{4873ABDC-5C6A-4EA3-88B1-A700F129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038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テンプレート / FAQ / ノウハウ</a:t>
            </a:r>
          </a:p>
        </p:txBody>
      </p:sp>
      <p:sp>
        <p:nvSpPr>
          <p:cNvPr id="29" name="d09-source-row-3">
            <a:extLst xmlns:a="http://schemas.openxmlformats.org/drawingml/2006/main">
              <a:ext uri="{FF2B5EF4-FFF2-40B4-BE49-F238E27FC236}">
                <a16:creationId xmlns:a16="http://schemas.microsoft.com/office/drawing/2014/main" id="{9E3DBA6D-441D-4163-99C6-058E9374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95925"/>
            <a:ext cx="2914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0" name="d09-source-dot-3">
            <a:extLst xmlns:a="http://schemas.openxmlformats.org/drawingml/2006/main">
              <a:ext uri="{FF2B5EF4-FFF2-40B4-BE49-F238E27FC236}">
                <a16:creationId xmlns:a16="http://schemas.microsoft.com/office/drawing/2014/main" id="{C54B8755-125C-4F80-9784-D07672BD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09-source-title-3">
            <a:extLst xmlns:a="http://schemas.openxmlformats.org/drawingml/2006/main">
              <a:ext uri="{FF2B5EF4-FFF2-40B4-BE49-F238E27FC236}">
                <a16:creationId xmlns:a16="http://schemas.microsoft.com/office/drawing/2014/main" id="{834DBEA9-C91B-4180-9127-19092AC6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629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外部情報</a:t>
            </a:r>
          </a:p>
        </p:txBody>
      </p:sp>
      <p:sp>
        <p:nvSpPr>
          <p:cNvPr id="32" name="d09-source-body-3">
            <a:extLst xmlns:a="http://schemas.openxmlformats.org/drawingml/2006/main">
              <a:ext uri="{FF2B5EF4-FFF2-40B4-BE49-F238E27FC236}">
                <a16:creationId xmlns:a16="http://schemas.microsoft.com/office/drawing/2014/main" id="{3CCE894D-8088-49BA-9526-A277BE63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8769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市場 / 競合 / 公開情報</a:t>
            </a:r>
          </a:p>
        </p:txBody>
      </p:sp>
      <p:sp>
        <p:nvSpPr>
          <p:cNvPr id="33" name="d09-platform-panel">
            <a:extLst xmlns:a="http://schemas.openxmlformats.org/drawingml/2006/main">
              <a:ext uri="{FF2B5EF4-FFF2-40B4-BE49-F238E27FC236}">
                <a16:creationId xmlns:a16="http://schemas.microsoft.com/office/drawing/2014/main" id="{236B9D00-1953-46E7-B9E8-D43EB475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9825"/>
            <a:ext cx="6534150" cy="43243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F1B7BC"/>
            </a:solidFill>
            <a:prstDash val="solid"/>
          </a:ln>
        </p:spPr>
      </p:sp>
      <p:sp>
        <p:nvSpPr>
          <p:cNvPr id="34" name="d09-platform-header">
            <a:extLst xmlns:a="http://schemas.openxmlformats.org/drawingml/2006/main">
              <a:ext uri="{FF2B5EF4-FFF2-40B4-BE49-F238E27FC236}">
                <a16:creationId xmlns:a16="http://schemas.microsoft.com/office/drawing/2014/main" id="{15DD70A2-7744-4DC6-8267-DB62C23A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571750"/>
            <a:ext cx="6191250" cy="48577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09-platform-heading">
            <a:extLst xmlns:a="http://schemas.openxmlformats.org/drawingml/2006/main">
              <a:ext uri="{FF2B5EF4-FFF2-40B4-BE49-F238E27FC236}">
                <a16:creationId xmlns:a16="http://schemas.microsoft.com/office/drawing/2014/main" id="{9EE7C0BB-3DD1-4A23-82FF-72D2CF5F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9557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提案クエスト基盤</a:t>
            </a:r>
          </a:p>
        </p:txBody>
      </p:sp>
      <p:sp>
        <p:nvSpPr>
          <p:cNvPr id="36" name="d09-module-0">
            <a:extLst xmlns:a="http://schemas.openxmlformats.org/drawingml/2006/main">
              <a:ext uri="{FF2B5EF4-FFF2-40B4-BE49-F238E27FC236}">
                <a16:creationId xmlns:a16="http://schemas.microsoft.com/office/drawing/2014/main" id="{D18F24D8-3017-42CE-8640-80DF6C67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57550"/>
            <a:ext cx="1866900" cy="25622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7" name="d09-module-head-0">
            <a:extLst xmlns:a="http://schemas.openxmlformats.org/drawingml/2006/main">
              <a:ext uri="{FF2B5EF4-FFF2-40B4-BE49-F238E27FC236}">
                <a16:creationId xmlns:a16="http://schemas.microsoft.com/office/drawing/2014/main" id="{418374FF-F283-4882-B14F-F8DC7B25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257550"/>
            <a:ext cx="1866900" cy="4667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09-module-title-0">
            <a:extLst xmlns:a="http://schemas.openxmlformats.org/drawingml/2006/main">
              <a:ext uri="{FF2B5EF4-FFF2-40B4-BE49-F238E27FC236}">
                <a16:creationId xmlns:a16="http://schemas.microsoft.com/office/drawing/2014/main" id="{AC02D490-052C-4302-ABF1-63B915AD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71850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データ統合</a:t>
            </a:r>
          </a:p>
        </p:txBody>
      </p:sp>
      <p:sp>
        <p:nvSpPr>
          <p:cNvPr id="39" name="d09-module-sub-0">
            <a:extLst xmlns:a="http://schemas.openxmlformats.org/drawingml/2006/main">
              <a:ext uri="{FF2B5EF4-FFF2-40B4-BE49-F238E27FC236}">
                <a16:creationId xmlns:a16="http://schemas.microsoft.com/office/drawing/2014/main" id="{07B6FCA8-7454-4A57-9414-35FF6759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8290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情報整理・蓄積</a:t>
            </a:r>
          </a:p>
        </p:txBody>
      </p:sp>
      <p:sp>
        <p:nvSpPr>
          <p:cNvPr id="40" name="d09-module-circle-0">
            <a:extLst xmlns:a="http://schemas.openxmlformats.org/drawingml/2006/main">
              <a:ext uri="{FF2B5EF4-FFF2-40B4-BE49-F238E27FC236}">
                <a16:creationId xmlns:a16="http://schemas.microsoft.com/office/drawing/2014/main" id="{2F1B135B-A8B2-4A54-BC56-AE403DBF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038600"/>
            <a:ext cx="60960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09-module-circle-text-0">
            <a:extLst xmlns:a="http://schemas.openxmlformats.org/drawingml/2006/main">
              <a:ext uri="{FF2B5EF4-FFF2-40B4-BE49-F238E27FC236}">
                <a16:creationId xmlns:a16="http://schemas.microsoft.com/office/drawing/2014/main" id="{7CEA3B3F-8CF8-458C-8890-45186C3C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814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42" name="d09-module-body-0">
            <a:extLst xmlns:a="http://schemas.openxmlformats.org/drawingml/2006/main">
              <a:ext uri="{FF2B5EF4-FFF2-40B4-BE49-F238E27FC236}">
                <a16:creationId xmlns:a16="http://schemas.microsoft.com/office/drawing/2014/main" id="{20B69433-758A-4C7F-840A-28E0AC66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10125"/>
            <a:ext cx="1571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・データレイク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・ベクトルDB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・権限付き検索</a:t>
            </a:r>
          </a:p>
        </p:txBody>
      </p:sp>
      <p:sp>
        <p:nvSpPr>
          <p:cNvPr id="43" name="d09-module-1">
            <a:extLst xmlns:a="http://schemas.openxmlformats.org/drawingml/2006/main">
              <a:ext uri="{FF2B5EF4-FFF2-40B4-BE49-F238E27FC236}">
                <a16:creationId xmlns:a16="http://schemas.microsoft.com/office/drawing/2014/main" id="{F0AA0B8F-A372-416C-9A6D-3A9A5F91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1866900" cy="25622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4" name="d09-module-head-1">
            <a:extLst xmlns:a="http://schemas.openxmlformats.org/drawingml/2006/main">
              <a:ext uri="{FF2B5EF4-FFF2-40B4-BE49-F238E27FC236}">
                <a16:creationId xmlns:a16="http://schemas.microsoft.com/office/drawing/2014/main" id="{3D881F7C-D7C9-43FC-909A-FC2F73CE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57550"/>
            <a:ext cx="1866900" cy="4667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09-module-title-1">
            <a:extLst xmlns:a="http://schemas.openxmlformats.org/drawingml/2006/main">
              <a:ext uri="{FF2B5EF4-FFF2-40B4-BE49-F238E27FC236}">
                <a16:creationId xmlns:a16="http://schemas.microsoft.com/office/drawing/2014/main" id="{1E535991-7F10-428E-8764-97A5A060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371850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AIエンジン</a:t>
            </a:r>
          </a:p>
        </p:txBody>
      </p:sp>
      <p:sp>
        <p:nvSpPr>
          <p:cNvPr id="46" name="d09-module-sub-1">
            <a:extLst xmlns:a="http://schemas.openxmlformats.org/drawingml/2006/main">
              <a:ext uri="{FF2B5EF4-FFF2-40B4-BE49-F238E27FC236}">
                <a16:creationId xmlns:a16="http://schemas.microsoft.com/office/drawing/2014/main" id="{EEBF4FD1-BBCD-4678-8AF4-C3826DBC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290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分析・生成</a:t>
            </a:r>
          </a:p>
        </p:txBody>
      </p:sp>
      <p:sp>
        <p:nvSpPr>
          <p:cNvPr id="47" name="d09-module-circle-1">
            <a:extLst xmlns:a="http://schemas.openxmlformats.org/drawingml/2006/main">
              <a:ext uri="{FF2B5EF4-FFF2-40B4-BE49-F238E27FC236}">
                <a16:creationId xmlns:a16="http://schemas.microsoft.com/office/drawing/2014/main" id="{80B31D78-084F-490F-B718-C6149256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038600"/>
            <a:ext cx="60960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09-module-circle-text-1">
            <a:extLst xmlns:a="http://schemas.openxmlformats.org/drawingml/2006/main">
              <a:ext uri="{FF2B5EF4-FFF2-40B4-BE49-F238E27FC236}">
                <a16:creationId xmlns:a16="http://schemas.microsoft.com/office/drawing/2014/main" id="{D6BE9BB3-A0D4-4700-B30B-09EC2615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1814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49" name="d09-module-body-1">
            <a:extLst xmlns:a="http://schemas.openxmlformats.org/drawingml/2006/main">
              <a:ext uri="{FF2B5EF4-FFF2-40B4-BE49-F238E27FC236}">
                <a16:creationId xmlns:a16="http://schemas.microsoft.com/office/drawing/2014/main" id="{D4A95B08-4638-4D7F-B370-3D3E1512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10125"/>
            <a:ext cx="1571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・課題分析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・RAG / ナレッジ参照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・提案ストーリー生成</a:t>
            </a:r>
          </a:p>
        </p:txBody>
      </p:sp>
      <p:sp>
        <p:nvSpPr>
          <p:cNvPr id="50" name="d09-module-2">
            <a:extLst xmlns:a="http://schemas.openxmlformats.org/drawingml/2006/main">
              <a:ext uri="{FF2B5EF4-FFF2-40B4-BE49-F238E27FC236}">
                <a16:creationId xmlns:a16="http://schemas.microsoft.com/office/drawing/2014/main" id="{EA65BD0E-E000-47CE-B0B9-C49545FD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57550"/>
            <a:ext cx="1866900" cy="2562225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1" name="d09-module-head-2">
            <a:extLst xmlns:a="http://schemas.openxmlformats.org/drawingml/2006/main">
              <a:ext uri="{FF2B5EF4-FFF2-40B4-BE49-F238E27FC236}">
                <a16:creationId xmlns:a16="http://schemas.microsoft.com/office/drawing/2014/main" id="{1F5BE8E0-A13A-4AA1-962D-9BF56975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57550"/>
            <a:ext cx="1866900" cy="466725"/>
          </a:xfrm>
          <a:prstGeom xmlns:a="http://schemas.openxmlformats.org/drawingml/2006/main" prst="roundRect">
            <a:avLst>
              <a:gd name="adj" fmla="val 24490"/>
            </a:avLst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09-module-title-2">
            <a:extLst xmlns:a="http://schemas.openxmlformats.org/drawingml/2006/main">
              <a:ext uri="{FF2B5EF4-FFF2-40B4-BE49-F238E27FC236}">
                <a16:creationId xmlns:a16="http://schemas.microsoft.com/office/drawing/2014/main" id="{7891AFC6-5F2A-4616-8EDC-50E28A2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71850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アプリケーション</a:t>
            </a:r>
          </a:p>
        </p:txBody>
      </p:sp>
      <p:sp>
        <p:nvSpPr>
          <p:cNvPr id="53" name="d09-module-sub-2">
            <a:extLst xmlns:a="http://schemas.openxmlformats.org/drawingml/2006/main">
              <a:ext uri="{FF2B5EF4-FFF2-40B4-BE49-F238E27FC236}">
                <a16:creationId xmlns:a16="http://schemas.microsoft.com/office/drawing/2014/main" id="{8DC6F472-4B02-4C99-A3EF-4C2BC5BA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29050"/>
            <a:ext cx="157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業務活用</a:t>
            </a:r>
          </a:p>
        </p:txBody>
      </p:sp>
      <p:sp>
        <p:nvSpPr>
          <p:cNvPr id="54" name="d09-module-circle-2">
            <a:extLst xmlns:a="http://schemas.openxmlformats.org/drawingml/2006/main">
              <a:ext uri="{FF2B5EF4-FFF2-40B4-BE49-F238E27FC236}">
                <a16:creationId xmlns:a16="http://schemas.microsoft.com/office/drawing/2014/main" id="{8458413F-C0B2-420C-96AE-BCCB0544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38600"/>
            <a:ext cx="60960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09-module-circle-text-2">
            <a:extLst xmlns:a="http://schemas.openxmlformats.org/drawingml/2006/main">
              <a:ext uri="{FF2B5EF4-FFF2-40B4-BE49-F238E27FC236}">
                <a16:creationId xmlns:a16="http://schemas.microsoft.com/office/drawing/2014/main" id="{59AB2035-4A5E-4398-96FF-1E884799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814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0324B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56" name="d09-module-body-2">
            <a:extLst xmlns:a="http://schemas.openxmlformats.org/drawingml/2006/main">
              <a:ext uri="{FF2B5EF4-FFF2-40B4-BE49-F238E27FC236}">
                <a16:creationId xmlns:a16="http://schemas.microsoft.com/office/drawing/2014/main" id="{2BDE58E6-AE3F-4C20-AAB3-9705BCA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10125"/>
            <a:ext cx="1571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・提案書生成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・見積生成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・レビュー・調整</a:t>
            </a:r>
          </a:p>
        </p:txBody>
      </p:sp>
      <p:sp>
        <p:nvSpPr>
          <p:cNvPr id="57" name="d09-module-connector-01">
            <a:extLst xmlns:a="http://schemas.openxmlformats.org/drawingml/2006/main">
              <a:ext uri="{FF2B5EF4-FFF2-40B4-BE49-F238E27FC236}">
                <a16:creationId xmlns:a16="http://schemas.microsoft.com/office/drawing/2014/main" id="{59217D9F-A1C1-47ED-B5E7-70D09FCF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86275"/>
            <a:ext cx="142875" cy="190500"/>
          </a:xfrm>
          <a:custGeom xmlns:a="http://schemas.openxmlformats.org/drawingml/2006/main">
            <a:pathLst>
              <a:path w="142875" h="190500">
                <a:moveTo>
                  <a:pt x="0" y="0"/>
                </a:moveTo>
                <a:lnTo>
                  <a:pt x="142875" y="0"/>
                </a:lnTo>
                <a:lnTo>
                  <a:pt x="142875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AEB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09-module-connector-02">
            <a:extLst xmlns:a="http://schemas.openxmlformats.org/drawingml/2006/main">
              <a:ext uri="{FF2B5EF4-FFF2-40B4-BE49-F238E27FC236}">
                <a16:creationId xmlns:a16="http://schemas.microsoft.com/office/drawing/2014/main" id="{0B1C576E-FA1E-49A5-AA77-B7D8C0DB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86275"/>
            <a:ext cx="142875" cy="190500"/>
          </a:xfrm>
          <a:custGeom xmlns:a="http://schemas.openxmlformats.org/drawingml/2006/main">
            <a:pathLst>
              <a:path w="142875" h="190500">
                <a:moveTo>
                  <a:pt x="0" y="0"/>
                </a:moveTo>
                <a:lnTo>
                  <a:pt x="142875" y="0"/>
                </a:lnTo>
                <a:lnTo>
                  <a:pt x="142875" y="190500"/>
                </a:lnTo>
                <a:lnTo>
                  <a:pt x="0" y="190500"/>
                </a:lnTo>
                <a:close/>
              </a:path>
            </a:pathLst>
          </a:custGeom>
          <a:solidFill xmlns:a="http://schemas.openxmlformats.org/drawingml/2006/main">
            <a:srgbClr val="AEB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09-security-band">
            <a:extLst xmlns:a="http://schemas.openxmlformats.org/drawingml/2006/main">
              <a:ext uri="{FF2B5EF4-FFF2-40B4-BE49-F238E27FC236}">
                <a16:creationId xmlns:a16="http://schemas.microsoft.com/office/drawing/2014/main" id="{9FE2347E-6537-4C7C-8D2C-DA998ACA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981700"/>
            <a:ext cx="6000750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09-security-title">
            <a:extLst xmlns:a="http://schemas.openxmlformats.org/drawingml/2006/main">
              <a:ext uri="{FF2B5EF4-FFF2-40B4-BE49-F238E27FC236}">
                <a16:creationId xmlns:a16="http://schemas.microsoft.com/office/drawing/2014/main" id="{670C03F4-9D4E-4A6E-BD1D-E62F7418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61245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セキュリティ・ガバナンス</a:t>
            </a:r>
          </a:p>
        </p:txBody>
      </p:sp>
      <p:sp>
        <p:nvSpPr>
          <p:cNvPr id="61" name="d09-security-body">
            <a:extLst xmlns:a="http://schemas.openxmlformats.org/drawingml/2006/main">
              <a:ext uri="{FF2B5EF4-FFF2-40B4-BE49-F238E27FC236}">
                <a16:creationId xmlns:a16="http://schemas.microsoft.com/office/drawing/2014/main" id="{22148361-CA02-4199-BB55-158BC3D6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143625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アクセス制御 ｜ ログ管理 ｜ データ保護 ｜ Human-in-the-loop</a:t>
            </a:r>
          </a:p>
        </p:txBody>
      </p:sp>
      <p:sp>
        <p:nvSpPr>
          <p:cNvPr id="62" name="d09-arrow-in">
            <a:extLst xmlns:a="http://schemas.openxmlformats.org/drawingml/2006/main">
              <a:ext uri="{FF2B5EF4-FFF2-40B4-BE49-F238E27FC236}">
                <a16:creationId xmlns:a16="http://schemas.microsoft.com/office/drawing/2014/main" id="{EA52D821-FF37-4419-8A7F-7672DD7B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295775"/>
            <a:ext cx="704850" cy="552450"/>
          </a:xfrm>
          <a:custGeom xmlns:a="http://schemas.openxmlformats.org/drawingml/2006/main">
            <a:pathLst>
              <a:path w="704850" h="552450">
                <a:moveTo>
                  <a:pt x="0" y="142875"/>
                </a:moveTo>
                <a:lnTo>
                  <a:pt x="371475" y="142875"/>
                </a:lnTo>
                <a:lnTo>
                  <a:pt x="371475" y="0"/>
                </a:lnTo>
                <a:lnTo>
                  <a:pt x="704850" y="276225"/>
                </a:lnTo>
                <a:lnTo>
                  <a:pt x="371475" y="552450"/>
                </a:lnTo>
                <a:lnTo>
                  <a:pt x="371475" y="409575"/>
                </a:lnTo>
                <a:lnTo>
                  <a:pt x="0" y="4095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09-arrow-out">
            <a:extLst xmlns:a="http://schemas.openxmlformats.org/drawingml/2006/main">
              <a:ext uri="{FF2B5EF4-FFF2-40B4-BE49-F238E27FC236}">
                <a16:creationId xmlns:a16="http://schemas.microsoft.com/office/drawing/2014/main" id="{5E858504-2E58-416C-8FEF-DC5E6767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95775"/>
            <a:ext cx="685800" cy="552450"/>
          </a:xfrm>
          <a:custGeom xmlns:a="http://schemas.openxmlformats.org/drawingml/2006/main">
            <a:pathLst>
              <a:path w="685800" h="552450">
                <a:moveTo>
                  <a:pt x="0" y="142875"/>
                </a:moveTo>
                <a:lnTo>
                  <a:pt x="361950" y="142875"/>
                </a:lnTo>
                <a:lnTo>
                  <a:pt x="361950" y="0"/>
                </a:lnTo>
                <a:lnTo>
                  <a:pt x="685800" y="276225"/>
                </a:lnTo>
                <a:lnTo>
                  <a:pt x="361950" y="552450"/>
                </a:lnTo>
                <a:lnTo>
                  <a:pt x="361950" y="409575"/>
                </a:lnTo>
                <a:lnTo>
                  <a:pt x="0" y="4095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09-output-panel">
            <a:extLst xmlns:a="http://schemas.openxmlformats.org/drawingml/2006/main">
              <a:ext uri="{FF2B5EF4-FFF2-40B4-BE49-F238E27FC236}">
                <a16:creationId xmlns:a16="http://schemas.microsoft.com/office/drawing/2014/main" id="{8E9AE6DD-C8CB-478F-9B51-07B5C095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2409825"/>
            <a:ext cx="3467100" cy="4324350"/>
          </a:xfrm>
          <a:prstGeom xmlns:a="http://schemas.openxmlformats.org/drawingml/2006/main" prst="roundRect">
            <a:avLst>
              <a:gd name="adj" fmla="val 32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5" name="d09-output-heading">
            <a:extLst xmlns:a="http://schemas.openxmlformats.org/drawingml/2006/main">
              <a:ext uri="{FF2B5EF4-FFF2-40B4-BE49-F238E27FC236}">
                <a16:creationId xmlns:a16="http://schemas.microsoft.com/office/drawing/2014/main" id="{C5A762E1-1F40-4F15-B417-4FF32DAD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628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出力・活用</a:t>
            </a:r>
          </a:p>
        </p:txBody>
      </p:sp>
      <p:sp>
        <p:nvSpPr>
          <p:cNvPr id="66" name="d09-output-row-0">
            <a:extLst xmlns:a="http://schemas.openxmlformats.org/drawingml/2006/main">
              <a:ext uri="{FF2B5EF4-FFF2-40B4-BE49-F238E27FC236}">
                <a16:creationId xmlns:a16="http://schemas.microsoft.com/office/drawing/2014/main" id="{5205AE91-87A3-4431-9D9F-D4C5187E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2981325"/>
            <a:ext cx="312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7" name="d09-output-dot-0">
            <a:extLst xmlns:a="http://schemas.openxmlformats.org/drawingml/2006/main">
              <a:ext uri="{FF2B5EF4-FFF2-40B4-BE49-F238E27FC236}">
                <a16:creationId xmlns:a16="http://schemas.microsoft.com/office/drawing/2014/main" id="{47DE5CE1-5FF2-4B53-A03C-C4F833B9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1337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09-output-title-0">
            <a:extLst xmlns:a="http://schemas.openxmlformats.org/drawingml/2006/main">
              <a:ext uri="{FF2B5EF4-FFF2-40B4-BE49-F238E27FC236}">
                <a16:creationId xmlns:a16="http://schemas.microsoft.com/office/drawing/2014/main" id="{C467FEEC-163F-4F68-A065-9D07ED26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11467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提案書</a:t>
            </a:r>
          </a:p>
        </p:txBody>
      </p:sp>
      <p:sp>
        <p:nvSpPr>
          <p:cNvPr id="69" name="d09-output-body-0">
            <a:extLst xmlns:a="http://schemas.openxmlformats.org/drawingml/2006/main">
              <a:ext uri="{FF2B5EF4-FFF2-40B4-BE49-F238E27FC236}">
                <a16:creationId xmlns:a16="http://schemas.microsoft.com/office/drawing/2014/main" id="{B8EA0025-57E0-4AB0-B538-25E1F726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3623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PPTX / 要約版</a:t>
            </a:r>
          </a:p>
        </p:txBody>
      </p:sp>
      <p:sp>
        <p:nvSpPr>
          <p:cNvPr id="70" name="d09-output-row-1">
            <a:extLst xmlns:a="http://schemas.openxmlformats.org/drawingml/2006/main">
              <a:ext uri="{FF2B5EF4-FFF2-40B4-BE49-F238E27FC236}">
                <a16:creationId xmlns:a16="http://schemas.microsoft.com/office/drawing/2014/main" id="{CA799445-C67F-4910-A3F7-CFAC0456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819525"/>
            <a:ext cx="312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71" name="d09-output-dot-1">
            <a:extLst xmlns:a="http://schemas.openxmlformats.org/drawingml/2006/main">
              <a:ext uri="{FF2B5EF4-FFF2-40B4-BE49-F238E27FC236}">
                <a16:creationId xmlns:a16="http://schemas.microsoft.com/office/drawing/2014/main" id="{1B71EC60-A46E-43B0-B15D-8FE4D828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971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09-output-title-1">
            <a:extLst xmlns:a="http://schemas.openxmlformats.org/drawingml/2006/main">
              <a:ext uri="{FF2B5EF4-FFF2-40B4-BE49-F238E27FC236}">
                <a16:creationId xmlns:a16="http://schemas.microsoft.com/office/drawing/2014/main" id="{8980D336-BAEF-4BC7-BFC7-6D6639CE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395287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見積書</a:t>
            </a:r>
          </a:p>
        </p:txBody>
      </p:sp>
      <p:sp>
        <p:nvSpPr>
          <p:cNvPr id="73" name="d09-output-body-1">
            <a:extLst xmlns:a="http://schemas.openxmlformats.org/drawingml/2006/main">
              <a:ext uri="{FF2B5EF4-FFF2-40B4-BE49-F238E27FC236}">
                <a16:creationId xmlns:a16="http://schemas.microsoft.com/office/drawing/2014/main" id="{5E82A304-E5A9-43FF-88F8-D4FF1016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2005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PDF / 明細・前提条件</a:t>
            </a:r>
          </a:p>
        </p:txBody>
      </p:sp>
      <p:sp>
        <p:nvSpPr>
          <p:cNvPr id="74" name="d09-output-row-2">
            <a:extLst xmlns:a="http://schemas.openxmlformats.org/drawingml/2006/main">
              <a:ext uri="{FF2B5EF4-FFF2-40B4-BE49-F238E27FC236}">
                <a16:creationId xmlns:a16="http://schemas.microsoft.com/office/drawing/2014/main" id="{FC2BBDAE-C2C3-4493-9E38-DEFAE7DC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657725"/>
            <a:ext cx="312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75" name="d09-output-dot-2">
            <a:extLst xmlns:a="http://schemas.openxmlformats.org/drawingml/2006/main">
              <a:ext uri="{FF2B5EF4-FFF2-40B4-BE49-F238E27FC236}">
                <a16:creationId xmlns:a16="http://schemas.microsoft.com/office/drawing/2014/main" id="{6148B9EE-E01C-4074-8CEB-89F6853C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810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09-output-title-2">
            <a:extLst xmlns:a="http://schemas.openxmlformats.org/drawingml/2006/main">
              <a:ext uri="{FF2B5EF4-FFF2-40B4-BE49-F238E27FC236}">
                <a16:creationId xmlns:a16="http://schemas.microsoft.com/office/drawing/2014/main" id="{25E71C40-C6C4-4C79-9AD7-CEF2EFD5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79107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営業支援</a:t>
            </a:r>
          </a:p>
        </p:txBody>
      </p:sp>
      <p:sp>
        <p:nvSpPr>
          <p:cNvPr id="77" name="d09-output-body-2">
            <a:extLst xmlns:a="http://schemas.openxmlformats.org/drawingml/2006/main">
              <a:ext uri="{FF2B5EF4-FFF2-40B4-BE49-F238E27FC236}">
                <a16:creationId xmlns:a16="http://schemas.microsoft.com/office/drawing/2014/main" id="{D64C64E9-D1E6-4972-B18D-1B1E0096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0387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カンペ / Q&amp;A / 次アクション</a:t>
            </a:r>
          </a:p>
        </p:txBody>
      </p:sp>
      <p:sp>
        <p:nvSpPr>
          <p:cNvPr id="78" name="d09-output-row-3">
            <a:extLst xmlns:a="http://schemas.openxmlformats.org/drawingml/2006/main">
              <a:ext uri="{FF2B5EF4-FFF2-40B4-BE49-F238E27FC236}">
                <a16:creationId xmlns:a16="http://schemas.microsoft.com/office/drawing/2014/main" id="{142C2865-D216-431D-8F66-CDE932BC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5495925"/>
            <a:ext cx="312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79" name="d09-output-dot-3">
            <a:extLst xmlns:a="http://schemas.openxmlformats.org/drawingml/2006/main">
              <a:ext uri="{FF2B5EF4-FFF2-40B4-BE49-F238E27FC236}">
                <a16:creationId xmlns:a16="http://schemas.microsoft.com/office/drawing/2014/main" id="{4BED5378-5829-4546-9A0B-EFA1FEED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56483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09-output-title-3">
            <a:extLst xmlns:a="http://schemas.openxmlformats.org/drawingml/2006/main">
              <a:ext uri="{FF2B5EF4-FFF2-40B4-BE49-F238E27FC236}">
                <a16:creationId xmlns:a16="http://schemas.microsoft.com/office/drawing/2014/main" id="{9EF87A63-CCA3-4B5F-AE0B-5BB86B21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62927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KPI・判断</a:t>
            </a:r>
          </a:p>
        </p:txBody>
      </p:sp>
      <p:sp>
        <p:nvSpPr>
          <p:cNvPr id="81" name="d09-output-body-3">
            <a:extLst xmlns:a="http://schemas.openxmlformats.org/drawingml/2006/main">
              <a:ext uri="{FF2B5EF4-FFF2-40B4-BE49-F238E27FC236}">
                <a16:creationId xmlns:a16="http://schemas.microsoft.com/office/drawing/2014/main" id="{4BBA74C0-FA6D-4217-9D7F-C266DFC1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8769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効果測定 / 受注確度 / リスク</a:t>
            </a:r>
          </a:p>
        </p:txBody>
      </p:sp>
      <p:sp>
        <p:nvSpPr>
          <p:cNvPr id="82" name="d09-points-rule">
            <a:extLst xmlns:a="http://schemas.openxmlformats.org/drawingml/2006/main">
              <a:ext uri="{FF2B5EF4-FFF2-40B4-BE49-F238E27FC236}">
                <a16:creationId xmlns:a16="http://schemas.microsoft.com/office/drawing/2014/main" id="{D6162942-C2F3-4D42-BFFC-CB587BFE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124700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83" name="d09-points-heading">
            <a:extLst xmlns:a="http://schemas.openxmlformats.org/drawingml/2006/main">
              <a:ext uri="{FF2B5EF4-FFF2-40B4-BE49-F238E27FC236}">
                <a16:creationId xmlns:a16="http://schemas.microsoft.com/office/drawing/2014/main" id="{366B18C8-008A-45D7-89A2-A81013E2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199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この構成のポイント</a:t>
            </a:r>
          </a:p>
        </p:txBody>
      </p:sp>
      <p:sp>
        <p:nvSpPr>
          <p:cNvPr id="84" name="d09-point-card-0">
            <a:extLst xmlns:a="http://schemas.openxmlformats.org/drawingml/2006/main">
              <a:ext uri="{FF2B5EF4-FFF2-40B4-BE49-F238E27FC236}">
                <a16:creationId xmlns:a16="http://schemas.microsoft.com/office/drawing/2014/main" id="{8F879501-31B6-4D39-A55A-3164FEBB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429500"/>
            <a:ext cx="4743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09-point-num-bg-0">
            <a:extLst xmlns:a="http://schemas.openxmlformats.org/drawingml/2006/main">
              <a:ext uri="{FF2B5EF4-FFF2-40B4-BE49-F238E27FC236}">
                <a16:creationId xmlns:a16="http://schemas.microsoft.com/office/drawing/2014/main" id="{418C5852-5EB0-417B-8840-577DF094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533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09-point-num-0">
            <a:extLst xmlns:a="http://schemas.openxmlformats.org/drawingml/2006/main">
              <a:ext uri="{FF2B5EF4-FFF2-40B4-BE49-F238E27FC236}">
                <a16:creationId xmlns:a16="http://schemas.microsoft.com/office/drawing/2014/main" id="{3A0751D5-A68B-48CB-BE70-FDB23EBC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676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7" name="d09-point-title-0">
            <a:extLst xmlns:a="http://schemas.openxmlformats.org/drawingml/2006/main">
              <a:ext uri="{FF2B5EF4-FFF2-40B4-BE49-F238E27FC236}">
                <a16:creationId xmlns:a16="http://schemas.microsoft.com/office/drawing/2014/main" id="{6A1F5AF9-C802-4BF4-A164-69E98BBF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75533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今ある情報資産を活かす</a:t>
            </a:r>
          </a:p>
        </p:txBody>
      </p:sp>
      <p:sp>
        <p:nvSpPr>
          <p:cNvPr id="88" name="d09-point-body-0">
            <a:extLst xmlns:a="http://schemas.openxmlformats.org/drawingml/2006/main">
              <a:ext uri="{FF2B5EF4-FFF2-40B4-BE49-F238E27FC236}">
                <a16:creationId xmlns:a16="http://schemas.microsoft.com/office/drawing/2014/main" id="{13C2E227-CC24-45DC-80A9-3E07AA0A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78105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既存システム・資料・営業データを連携</a:t>
            </a:r>
          </a:p>
        </p:txBody>
      </p:sp>
      <p:sp>
        <p:nvSpPr>
          <p:cNvPr id="89" name="d09-point-card-1">
            <a:extLst xmlns:a="http://schemas.openxmlformats.org/drawingml/2006/main">
              <a:ext uri="{FF2B5EF4-FFF2-40B4-BE49-F238E27FC236}">
                <a16:creationId xmlns:a16="http://schemas.microsoft.com/office/drawing/2014/main" id="{FF5BE00E-2E3C-4CC4-9883-CA6E3440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429500"/>
            <a:ext cx="4743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09-point-num-bg-1">
            <a:extLst xmlns:a="http://schemas.openxmlformats.org/drawingml/2006/main">
              <a:ext uri="{FF2B5EF4-FFF2-40B4-BE49-F238E27FC236}">
                <a16:creationId xmlns:a16="http://schemas.microsoft.com/office/drawing/2014/main" id="{47921E90-08BF-4385-91C6-90D266FA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75533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09-point-num-1">
            <a:extLst xmlns:a="http://schemas.openxmlformats.org/drawingml/2006/main">
              <a:ext uri="{FF2B5EF4-FFF2-40B4-BE49-F238E27FC236}">
                <a16:creationId xmlns:a16="http://schemas.microsoft.com/office/drawing/2014/main" id="{577ACB86-DC5F-4FCB-BE45-82F32E35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76676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2" name="d09-point-title-1">
            <a:extLst xmlns:a="http://schemas.openxmlformats.org/drawingml/2006/main">
              <a:ext uri="{FF2B5EF4-FFF2-40B4-BE49-F238E27FC236}">
                <a16:creationId xmlns:a16="http://schemas.microsoft.com/office/drawing/2014/main" id="{E7452BF7-FDBF-4648-B2D4-B5682E6E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5533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AIと人の役割を分ける</a:t>
            </a:r>
          </a:p>
        </p:txBody>
      </p:sp>
      <p:sp>
        <p:nvSpPr>
          <p:cNvPr id="93" name="d09-point-body-1">
            <a:extLst xmlns:a="http://schemas.openxmlformats.org/drawingml/2006/main">
              <a:ext uri="{FF2B5EF4-FFF2-40B4-BE49-F238E27FC236}">
                <a16:creationId xmlns:a16="http://schemas.microsoft.com/office/drawing/2014/main" id="{2DE6A3BA-B260-4685-91B4-76EB635E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78105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AIが整理・生成し、人が判断・最終調整</a:t>
            </a:r>
          </a:p>
        </p:txBody>
      </p:sp>
      <p:sp>
        <p:nvSpPr>
          <p:cNvPr id="94" name="d09-point-card-2">
            <a:extLst xmlns:a="http://schemas.openxmlformats.org/drawingml/2006/main">
              <a:ext uri="{FF2B5EF4-FFF2-40B4-BE49-F238E27FC236}">
                <a16:creationId xmlns:a16="http://schemas.microsoft.com/office/drawing/2014/main" id="{E585AB79-1E60-4606-B11D-BB8FC297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7429500"/>
            <a:ext cx="47434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09-point-num-bg-2">
            <a:extLst xmlns:a="http://schemas.openxmlformats.org/drawingml/2006/main">
              <a:ext uri="{FF2B5EF4-FFF2-40B4-BE49-F238E27FC236}">
                <a16:creationId xmlns:a16="http://schemas.microsoft.com/office/drawing/2014/main" id="{EE51909A-EE66-4F11-8975-DFCE7FD5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7553325"/>
            <a:ext cx="428625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09-point-num-2">
            <a:extLst xmlns:a="http://schemas.openxmlformats.org/drawingml/2006/main">
              <a:ext uri="{FF2B5EF4-FFF2-40B4-BE49-F238E27FC236}">
                <a16:creationId xmlns:a16="http://schemas.microsoft.com/office/drawing/2014/main" id="{A882FAD7-E839-452B-8D1A-215234D8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76676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7" name="d09-point-title-2">
            <a:extLst xmlns:a="http://schemas.openxmlformats.org/drawingml/2006/main">
              <a:ext uri="{FF2B5EF4-FFF2-40B4-BE49-F238E27FC236}">
                <a16:creationId xmlns:a16="http://schemas.microsoft.com/office/drawing/2014/main" id="{B2A441BC-35AD-44AE-860B-BA58C8B8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75533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段階的に拡張できる</a:t>
            </a:r>
          </a:p>
        </p:txBody>
      </p:sp>
      <p:sp>
        <p:nvSpPr>
          <p:cNvPr id="98" name="d09-point-body-2">
            <a:extLst xmlns:a="http://schemas.openxmlformats.org/drawingml/2006/main">
              <a:ext uri="{FF2B5EF4-FFF2-40B4-BE49-F238E27FC236}">
                <a16:creationId xmlns:a16="http://schemas.microsoft.com/office/drawing/2014/main" id="{F8756F6D-1474-4565-B11C-7263C0AC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78105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PoCから始め、他部門・他業務へ展開</a:t>
            </a:r>
          </a:p>
        </p:txBody>
      </p:sp>
      <p:sp>
        <p:nvSpPr>
          <p:cNvPr id="99" name="d09-footer-logo-top">
            <a:extLst xmlns:a="http://schemas.openxmlformats.org/drawingml/2006/main">
              <a:ext uri="{FF2B5EF4-FFF2-40B4-BE49-F238E27FC236}">
                <a16:creationId xmlns:a16="http://schemas.microsoft.com/office/drawing/2014/main" id="{CA437CA9-70F8-4B10-9459-7D2D5D14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391525"/>
            <a:ext cx="248602" cy="128588"/>
          </a:xfrm>
          <a:custGeom xmlns:a="http://schemas.openxmlformats.org/drawingml/2006/main">
            <a:pathLst>
              <a:path w="248602" h="128588">
                <a:moveTo>
                  <a:pt x="0" y="60007"/>
                </a:moveTo>
                <a:lnTo>
                  <a:pt x="120015" y="0"/>
                </a:lnTo>
                <a:lnTo>
                  <a:pt x="248602" y="68580"/>
                </a:lnTo>
                <a:lnTo>
                  <a:pt x="128588" y="128588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09-footer-logo-gray">
            <a:extLst xmlns:a="http://schemas.openxmlformats.org/drawingml/2006/main">
              <a:ext uri="{FF2B5EF4-FFF2-40B4-BE49-F238E27FC236}">
                <a16:creationId xmlns:a16="http://schemas.microsoft.com/office/drawing/2014/main" id="{4269B959-41F2-4AD2-AB08-FAB13DF7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451533"/>
            <a:ext cx="128588" cy="145733"/>
          </a:xfrm>
          <a:custGeom xmlns:a="http://schemas.openxmlformats.org/drawingml/2006/main">
            <a:pathLst>
              <a:path w="128588" h="145733">
                <a:moveTo>
                  <a:pt x="0" y="0"/>
                </a:moveTo>
                <a:lnTo>
                  <a:pt x="128588" y="68580"/>
                </a:lnTo>
                <a:lnTo>
                  <a:pt x="128588" y="145733"/>
                </a:lnTo>
                <a:lnTo>
                  <a:pt x="0" y="77153"/>
                </a:lnTo>
                <a:close/>
              </a:path>
            </a:pathLst>
          </a:custGeom>
          <a:solidFill xmlns:a="http://schemas.openxmlformats.org/drawingml/2006/main">
            <a:srgbClr val="7B81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09-footer-logo-side">
            <a:extLst xmlns:a="http://schemas.openxmlformats.org/drawingml/2006/main">
              <a:ext uri="{FF2B5EF4-FFF2-40B4-BE49-F238E27FC236}">
                <a16:creationId xmlns:a16="http://schemas.microsoft.com/office/drawing/2014/main" id="{F77E1E68-6072-458A-9C32-E7B05BE6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8" y="8460105"/>
            <a:ext cx="120015" cy="137160"/>
          </a:xfrm>
          <a:custGeom xmlns:a="http://schemas.openxmlformats.org/drawingml/2006/main">
            <a:pathLst>
              <a:path w="120015" h="137160">
                <a:moveTo>
                  <a:pt x="0" y="60007"/>
                </a:moveTo>
                <a:lnTo>
                  <a:pt x="120015" y="0"/>
                </a:lnTo>
                <a:lnTo>
                  <a:pt x="120015" y="68580"/>
                </a:lnTo>
                <a:lnTo>
                  <a:pt x="0" y="137160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09-footer-logo-front">
            <a:extLst xmlns:a="http://schemas.openxmlformats.org/drawingml/2006/main">
              <a:ext uri="{FF2B5EF4-FFF2-40B4-BE49-F238E27FC236}">
                <a16:creationId xmlns:a16="http://schemas.microsoft.com/office/drawing/2014/main" id="{5C230487-FB65-4776-BD8C-083F2B89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528685"/>
            <a:ext cx="128588" cy="154305"/>
          </a:xfrm>
          <a:custGeom xmlns:a="http://schemas.openxmlformats.org/drawingml/2006/main">
            <a:pathLst>
              <a:path w="128588" h="154305">
                <a:moveTo>
                  <a:pt x="0" y="0"/>
                </a:moveTo>
                <a:lnTo>
                  <a:pt x="128588" y="68580"/>
                </a:lnTo>
                <a:lnTo>
                  <a:pt x="128588" y="154305"/>
                </a:lnTo>
                <a:lnTo>
                  <a:pt x="0" y="85725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09-footer-logo-bottom-side">
            <a:extLst xmlns:a="http://schemas.openxmlformats.org/drawingml/2006/main">
              <a:ext uri="{FF2B5EF4-FFF2-40B4-BE49-F238E27FC236}">
                <a16:creationId xmlns:a16="http://schemas.microsoft.com/office/drawing/2014/main" id="{42C89657-85DD-4727-B95E-97F65E2E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8" y="8528685"/>
            <a:ext cx="120015" cy="154305"/>
          </a:xfrm>
          <a:custGeom xmlns:a="http://schemas.openxmlformats.org/drawingml/2006/main">
            <a:pathLst>
              <a:path w="120015" h="154305">
                <a:moveTo>
                  <a:pt x="0" y="68580"/>
                </a:moveTo>
                <a:lnTo>
                  <a:pt x="120015" y="0"/>
                </a:lnTo>
                <a:lnTo>
                  <a:pt x="120015" y="85725"/>
                </a:lnTo>
                <a:lnTo>
                  <a:pt x="0" y="154305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09-footer-brand">
            <a:extLst xmlns:a="http://schemas.openxmlformats.org/drawingml/2006/main">
              <a:ext uri="{FF2B5EF4-FFF2-40B4-BE49-F238E27FC236}">
                <a16:creationId xmlns:a16="http://schemas.microsoft.com/office/drawing/2014/main" id="{27AF4773-BECA-4AE2-BE28-2BD74B98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915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105" name="d09-footer-divider">
            <a:extLst xmlns:a="http://schemas.openxmlformats.org/drawingml/2006/main">
              <a:ext uri="{FF2B5EF4-FFF2-40B4-BE49-F238E27FC236}">
                <a16:creationId xmlns:a16="http://schemas.microsoft.com/office/drawing/2014/main" id="{5BC2B3AC-DA3E-436C-9A23-A0FB8457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324850"/>
            <a:ext cx="952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06" name="d09-footer-tagline-jp">
            <a:extLst xmlns:a="http://schemas.openxmlformats.org/drawingml/2006/main">
              <a:ext uri="{FF2B5EF4-FFF2-40B4-BE49-F238E27FC236}">
                <a16:creationId xmlns:a16="http://schemas.microsoft.com/office/drawing/2014/main" id="{23812B92-43E4-4C68-A747-97714707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3153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107" name="d09-footer-tagline-en">
            <a:extLst xmlns:a="http://schemas.openxmlformats.org/drawingml/2006/main">
              <a:ext uri="{FF2B5EF4-FFF2-40B4-BE49-F238E27FC236}">
                <a16:creationId xmlns:a16="http://schemas.microsoft.com/office/drawing/2014/main" id="{E807D3CC-799C-43EC-8F34-51BBDF6C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5344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108" name="d09-footer-date">
            <a:extLst xmlns:a="http://schemas.openxmlformats.org/drawingml/2006/main">
              <a:ext uri="{FF2B5EF4-FFF2-40B4-BE49-F238E27FC236}">
                <a16:creationId xmlns:a16="http://schemas.microsoft.com/office/drawing/2014/main" id="{13E91A62-EA13-4598-A76C-6577C9AA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83915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09" name="d09-footer-date-rule">
            <a:extLst xmlns:a="http://schemas.openxmlformats.org/drawingml/2006/main">
              <a:ext uri="{FF2B5EF4-FFF2-40B4-BE49-F238E27FC236}">
                <a16:creationId xmlns:a16="http://schemas.microsoft.com/office/drawing/2014/main" id="{DB2F80C3-E934-4B86-A543-7E5D6AAD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46772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57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2026-09-20T12:21:43.4950000Z</dcterms:created>
  <dcterms:modified xsi:type="dcterms:W3CDTF">2026-09-20T12:21:43.4950000Z</dcterms:modified>
</coreProperties>
</file>