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35cb371c4246cf" /><Relationship Type="http://schemas.openxmlformats.org/officeDocument/2006/relationships/extended-properties" Target="/docProps/app.xml" Id="Rc985606831e4469b" /><Relationship Type="http://schemas.openxmlformats.org/officeDocument/2006/relationships/officeDocument" Target="/ppt/presentation.xml" Id="R628d3bcc6d3b47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00c9109ab44ac7"/>
  </p:sldMasterIdLst>
  <p:notesMasterIdLst>
    <p:notesMasterId xmlns:r="http://schemas.openxmlformats.org/officeDocument/2006/relationships" r:id="Rea6d0afbc0c54cad"/>
  </p:notesMasterIdLst>
  <p:sldIdLst>
    <p:sldId xmlns:r="http://schemas.openxmlformats.org/officeDocument/2006/relationships" id="256" r:id="R2e32f935bf994a0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d188a7f81e4134" /><Relationship Type="http://schemas.openxmlformats.org/officeDocument/2006/relationships/slideMaster" Target="/ppt/slideMasters/slideMaster1.xml" Id="Rb800c9109ab44ac7" /><Relationship Type="http://schemas.openxmlformats.org/officeDocument/2006/relationships/notesMaster" Target="/ppt/notesMasters/notesMaster1.xml" Id="Rea6d0afbc0c54cad" /><Relationship Type="http://schemas.openxmlformats.org/officeDocument/2006/relationships/presProps" Target="/ppt/presProps.xml" Id="R2cf292efcbab46e4" /><Relationship Type="http://schemas.openxmlformats.org/officeDocument/2006/relationships/tableStyles" Target="/ppt/tableStyles.xml" Id="R89e9c9f76b864444" /><Relationship Type="http://schemas.openxmlformats.org/officeDocument/2006/relationships/slide" Target="/ppt/slides/slide1.xml" Id="R2e32f935bf994a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a81d60c9843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2fb557296d47fd" /><Relationship Type="http://schemas.openxmlformats.org/officeDocument/2006/relationships/notesMaster" Target="/ppt/notesMasters/notesMaster1.xml" Id="Rafdc0ce74e064f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D04 problem-analysis detail replacement native trace. Canonical image is the sole visual authority; visible content uses editable native text, shapes, connectors, and icons.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02efa81fb40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6efea6ad344919" /><Relationship Type="http://schemas.openxmlformats.org/officeDocument/2006/relationships/slideLayout" Target="/ppt/slideLayouts/slideLayout1.xml" Id="R27f57b51f5c4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f57b51f5c4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dca6d8d734ba5" /><Relationship Type="http://schemas.openxmlformats.org/officeDocument/2006/relationships/notesSlide" Target="/ppt/notesSlides/notesSlide1.xml" Id="R2d28f0c8c5e44b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d04-top-red-diagonal">
            <a:extLst xmlns:a="http://schemas.openxmlformats.org/drawingml/2006/main">
              <a:ext uri="{FF2B5EF4-FFF2-40B4-BE49-F238E27FC236}">
                <a16:creationId xmlns:a16="http://schemas.microsoft.com/office/drawing/2014/main" id="{76C13137-38BE-414E-854E-A2CB7939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0"/>
            <a:ext cx="2857500" cy="4476750"/>
          </a:xfrm>
          <a:custGeom xmlns:a="http://schemas.openxmlformats.org/drawingml/2006/main">
            <a:pathLst>
              <a:path w="2857500" h="4476750">
                <a:moveTo>
                  <a:pt x="1666875" y="0"/>
                </a:moveTo>
                <a:lnTo>
                  <a:pt x="2857500" y="0"/>
                </a:lnTo>
                <a:lnTo>
                  <a:pt x="1190625" y="4476750"/>
                </a:lnTo>
                <a:lnTo>
                  <a:pt x="0" y="44767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04-top-pale-diagonal">
            <a:extLst xmlns:a="http://schemas.openxmlformats.org/drawingml/2006/main">
              <a:ext uri="{FF2B5EF4-FFF2-40B4-BE49-F238E27FC236}">
                <a16:creationId xmlns:a16="http://schemas.microsoft.com/office/drawing/2014/main" id="{CD979128-71B6-4356-BDEF-C4ED6F6C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0"/>
            <a:ext cx="2105025" cy="4476750"/>
          </a:xfrm>
          <a:custGeom xmlns:a="http://schemas.openxmlformats.org/drawingml/2006/main">
            <a:pathLst>
              <a:path w="2105025" h="4476750">
                <a:moveTo>
                  <a:pt x="1666875" y="0"/>
                </a:moveTo>
                <a:lnTo>
                  <a:pt x="2105025" y="0"/>
                </a:lnTo>
                <a:lnTo>
                  <a:pt x="438150" y="4476750"/>
                </a:lnTo>
                <a:lnTo>
                  <a:pt x="0" y="4476750"/>
                </a:lnTo>
                <a:close/>
              </a:path>
            </a:pathLst>
          </a:custGeom>
          <a:solidFill xmlns:a="http://schemas.openxmlformats.org/drawingml/2006/main">
            <a:srgbClr val="F8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04-bottom-red-band">
            <a:extLst xmlns:a="http://schemas.openxmlformats.org/drawingml/2006/main">
              <a:ext uri="{FF2B5EF4-FFF2-40B4-BE49-F238E27FC236}">
                <a16:creationId xmlns:a16="http://schemas.microsoft.com/office/drawing/2014/main" id="{B33988AB-F0C2-4A2B-8A81-5784B295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067550"/>
            <a:ext cx="3733800" cy="1895475"/>
          </a:xfrm>
          <a:custGeom xmlns:a="http://schemas.openxmlformats.org/drawingml/2006/main">
            <a:pathLst>
              <a:path w="3733800" h="1895475">
                <a:moveTo>
                  <a:pt x="0" y="1895475"/>
                </a:moveTo>
                <a:lnTo>
                  <a:pt x="3733800" y="0"/>
                </a:lnTo>
                <a:lnTo>
                  <a:pt x="3733800" y="18954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04-bottom-dark-band">
            <a:extLst xmlns:a="http://schemas.openxmlformats.org/drawingml/2006/main">
              <a:ext uri="{FF2B5EF4-FFF2-40B4-BE49-F238E27FC236}">
                <a16:creationId xmlns:a16="http://schemas.microsoft.com/office/drawing/2014/main" id="{40E34440-40A2-4D77-82E9-FFD198DB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772400"/>
            <a:ext cx="2495550" cy="1190625"/>
          </a:xfrm>
          <a:custGeom xmlns:a="http://schemas.openxmlformats.org/drawingml/2006/main">
            <a:pathLst>
              <a:path w="2495550" h="1190625">
                <a:moveTo>
                  <a:pt x="0" y="1190625"/>
                </a:moveTo>
                <a:lnTo>
                  <a:pt x="2495550" y="0"/>
                </a:lnTo>
                <a:lnTo>
                  <a:pt x="2495550" y="1190625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04-header-number">
            <a:extLst xmlns:a="http://schemas.openxmlformats.org/drawingml/2006/main">
              <a:ext uri="{FF2B5EF4-FFF2-40B4-BE49-F238E27FC236}">
                <a16:creationId xmlns:a16="http://schemas.microsoft.com/office/drawing/2014/main" id="{E8360254-95FC-4715-ACE7-5E8503CD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952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D04</a:t>
            </a:r>
          </a:p>
        </p:txBody>
      </p:sp>
      <p:sp>
        <p:nvSpPr>
          <p:cNvPr id="6" name="d04-header-section">
            <a:extLst xmlns:a="http://schemas.openxmlformats.org/drawingml/2006/main">
              <a:ext uri="{FF2B5EF4-FFF2-40B4-BE49-F238E27FC236}">
                <a16:creationId xmlns:a16="http://schemas.microsoft.com/office/drawing/2014/main" id="{8447F932-BE43-487C-9661-62410367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52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主要課題（詳細版）</a:t>
            </a:r>
          </a:p>
        </p:txBody>
      </p:sp>
      <p:sp>
        <p:nvSpPr>
          <p:cNvPr id="7" name="d04-header-brand">
            <a:extLst xmlns:a="http://schemas.openxmlformats.org/drawingml/2006/main">
              <a:ext uri="{FF2B5EF4-FFF2-40B4-BE49-F238E27FC236}">
                <a16:creationId xmlns:a16="http://schemas.microsoft.com/office/drawing/2014/main" id="{E70DB5E1-7712-4D37-8827-894A449A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52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8" name="d04-header-tagline">
            <a:extLst xmlns:a="http://schemas.openxmlformats.org/drawingml/2006/main">
              <a:ext uri="{FF2B5EF4-FFF2-40B4-BE49-F238E27FC236}">
                <a16:creationId xmlns:a16="http://schemas.microsoft.com/office/drawing/2014/main" id="{AD48FD78-EADE-44A5-85B1-AAFE59B8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8175"/>
            <a:ext cx="2857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9" name="d04-header-english">
            <a:extLst xmlns:a="http://schemas.openxmlformats.org/drawingml/2006/main">
              <a:ext uri="{FF2B5EF4-FFF2-40B4-BE49-F238E27FC236}">
                <a16:creationId xmlns:a16="http://schemas.microsoft.com/office/drawing/2014/main" id="{5334FBB8-18F3-489D-BCEA-FEDE7F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0957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defRPr sz="1200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10" name="d04-header-rule">
            <a:extLst xmlns:a="http://schemas.openxmlformats.org/drawingml/2006/main">
              <a:ext uri="{FF2B5EF4-FFF2-40B4-BE49-F238E27FC236}">
                <a16:creationId xmlns:a16="http://schemas.microsoft.com/office/drawing/2014/main" id="{F41DF74F-BC9C-4FE8-A85D-0FDB52F8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04875"/>
            <a:ext cx="147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22A"/>
            </a:solidFill>
            <a:prstDash val="solid"/>
          </a:ln>
        </p:spPr>
      </p:sp>
      <p:sp>
        <p:nvSpPr>
          <p:cNvPr id="11" name="d04-header-red-rule">
            <a:extLst xmlns:a="http://schemas.openxmlformats.org/drawingml/2006/main">
              <a:ext uri="{FF2B5EF4-FFF2-40B4-BE49-F238E27FC236}">
                <a16:creationId xmlns:a16="http://schemas.microsoft.com/office/drawing/2014/main" id="{D33C32C4-66E5-4ED3-B813-5DBF64A6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04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2" name="d04-title-red">
            <a:extLst xmlns:a="http://schemas.openxmlformats.org/drawingml/2006/main">
              <a:ext uri="{FF2B5EF4-FFF2-40B4-BE49-F238E27FC236}">
                <a16:creationId xmlns:a16="http://schemas.microsoft.com/office/drawing/2014/main" id="{704698CC-675B-4602-9546-BCE9830E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00125"/>
            <a:ext cx="2428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主要課題</a:t>
            </a:r>
          </a:p>
        </p:txBody>
      </p:sp>
      <p:sp>
        <p:nvSpPr>
          <p:cNvPr id="13" name="d04-title-black">
            <a:extLst xmlns:a="http://schemas.openxmlformats.org/drawingml/2006/main">
              <a:ext uri="{FF2B5EF4-FFF2-40B4-BE49-F238E27FC236}">
                <a16:creationId xmlns:a16="http://schemas.microsoft.com/office/drawing/2014/main" id="{5CD1B473-0686-4426-BEBD-A7001BF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000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の詳細分析</a:t>
            </a:r>
          </a:p>
        </p:txBody>
      </p:sp>
      <p:sp>
        <p:nvSpPr>
          <p:cNvPr id="14" name="d04-lead">
            <a:extLst xmlns:a="http://schemas.openxmlformats.org/drawingml/2006/main">
              <a:ext uri="{FF2B5EF4-FFF2-40B4-BE49-F238E27FC236}">
                <a16:creationId xmlns:a16="http://schemas.microsoft.com/office/drawing/2014/main" id="{7B11E31C-A9B5-43EF-A94C-F34A9D95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6859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提案業務の生産性・品質・再利用性を阻害している要因を整理し、優先テーマを明確化します。</a:t>
            </a:r>
          </a:p>
        </p:txBody>
      </p:sp>
      <p:sp>
        <p:nvSpPr>
          <p:cNvPr id="15" name="d04-left-rule">
            <a:extLst xmlns:a="http://schemas.openxmlformats.org/drawingml/2006/main">
              <a:ext uri="{FF2B5EF4-FFF2-40B4-BE49-F238E27FC236}">
                <a16:creationId xmlns:a16="http://schemas.microsoft.com/office/drawing/2014/main" id="{6F05A12E-9C5D-4221-BD19-0EB2E1AA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42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6" name="d04-left-heading">
            <a:extLst xmlns:a="http://schemas.openxmlformats.org/drawingml/2006/main">
              <a:ext uri="{FF2B5EF4-FFF2-40B4-BE49-F238E27FC236}">
                <a16:creationId xmlns:a16="http://schemas.microsoft.com/office/drawing/2014/main" id="{F595D6B6-88B3-4F2A-AD26-DF2FD5CF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主要課題一覧</a:t>
            </a:r>
          </a:p>
        </p:txBody>
      </p:sp>
      <p:sp>
        <p:nvSpPr>
          <p:cNvPr id="17" name="d04-center-rule">
            <a:extLst xmlns:a="http://schemas.openxmlformats.org/drawingml/2006/main">
              <a:ext uri="{FF2B5EF4-FFF2-40B4-BE49-F238E27FC236}">
                <a16:creationId xmlns:a16="http://schemas.microsoft.com/office/drawing/2014/main" id="{364BECD6-7DBC-4F14-8C49-F1A3E835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438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8" name="d04-center-heading">
            <a:extLst xmlns:a="http://schemas.openxmlformats.org/drawingml/2006/main">
              <a:ext uri="{FF2B5EF4-FFF2-40B4-BE49-F238E27FC236}">
                <a16:creationId xmlns:a16="http://schemas.microsoft.com/office/drawing/2014/main" id="{32E0F315-1F2D-4938-AD8F-CA5B8F9C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383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原因と影響のつながり</a:t>
            </a:r>
          </a:p>
        </p:txBody>
      </p:sp>
      <p:sp>
        <p:nvSpPr>
          <p:cNvPr id="19" name="d04-right-rule">
            <a:extLst xmlns:a="http://schemas.openxmlformats.org/drawingml/2006/main">
              <a:ext uri="{FF2B5EF4-FFF2-40B4-BE49-F238E27FC236}">
                <a16:creationId xmlns:a16="http://schemas.microsoft.com/office/drawing/2014/main" id="{2296C71E-56E1-4440-BF0C-693FBD25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343150"/>
            <a:ext cx="438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20" name="d04-right-heading">
            <a:extLst xmlns:a="http://schemas.openxmlformats.org/drawingml/2006/main">
              <a:ext uri="{FF2B5EF4-FFF2-40B4-BE49-F238E27FC236}">
                <a16:creationId xmlns:a16="http://schemas.microsoft.com/office/drawing/2014/main" id="{7E38C764-7A13-49E8-A6CE-9A045A98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238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改善優先テーマ</a:t>
            </a:r>
          </a:p>
        </p:txBody>
      </p:sp>
      <p:sp>
        <p:nvSpPr>
          <p:cNvPr id="21" name="d04-left-card-情報収集の分散">
            <a:extLst xmlns:a="http://schemas.openxmlformats.org/drawingml/2006/main">
              <a:ext uri="{FF2B5EF4-FFF2-40B4-BE49-F238E27FC236}">
                <a16:creationId xmlns:a16="http://schemas.microsoft.com/office/drawing/2014/main" id="{73190996-7E27-4987-99F0-F951A1F0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00325"/>
            <a:ext cx="41719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22" name="d04-left-icon-bg">
            <a:extLst xmlns:a="http://schemas.openxmlformats.org/drawingml/2006/main">
              <a:ext uri="{FF2B5EF4-FFF2-40B4-BE49-F238E27FC236}">
                <a16:creationId xmlns:a16="http://schemas.microsoft.com/office/drawing/2014/main" id="{600D2367-BBE0-4BAB-ADF1-DE192A0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43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04-team-h1">
            <a:extLst xmlns:a="http://schemas.openxmlformats.org/drawingml/2006/main">
              <a:ext uri="{FF2B5EF4-FFF2-40B4-BE49-F238E27FC236}">
                <a16:creationId xmlns:a16="http://schemas.microsoft.com/office/drawing/2014/main" id="{5D3E29AB-6590-4841-BE6D-699A86E0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3370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d04-team-h2">
            <a:extLst xmlns:a="http://schemas.openxmlformats.org/drawingml/2006/main">
              <a:ext uri="{FF2B5EF4-FFF2-40B4-BE49-F238E27FC236}">
                <a16:creationId xmlns:a16="http://schemas.microsoft.com/office/drawing/2014/main" id="{95AB5A8C-0F8A-4F89-9D0E-BA5E79AD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3370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d04-team-h3">
            <a:extLst xmlns:a="http://schemas.openxmlformats.org/drawingml/2006/main">
              <a:ext uri="{FF2B5EF4-FFF2-40B4-BE49-F238E27FC236}">
                <a16:creationId xmlns:a16="http://schemas.microsoft.com/office/drawing/2014/main" id="{29315D98-7EA9-4C7D-BDE7-A7953AAD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d04-team-b1">
            <a:extLst xmlns:a="http://schemas.openxmlformats.org/drawingml/2006/main">
              <a:ext uri="{FF2B5EF4-FFF2-40B4-BE49-F238E27FC236}">
                <a16:creationId xmlns:a16="http://schemas.microsoft.com/office/drawing/2014/main" id="{FD9543DA-9A45-4972-A16C-68A4BB9C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48025"/>
            <a:ext cx="952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d04-team-b2">
            <a:extLst xmlns:a="http://schemas.openxmlformats.org/drawingml/2006/main">
              <a:ext uri="{FF2B5EF4-FFF2-40B4-BE49-F238E27FC236}">
                <a16:creationId xmlns:a16="http://schemas.microsoft.com/office/drawing/2014/main" id="{4552DDA2-04B1-4443-8368-EB80FD69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48025"/>
            <a:ext cx="504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d04-team-b3">
            <a:extLst xmlns:a="http://schemas.openxmlformats.org/drawingml/2006/main">
              <a:ext uri="{FF2B5EF4-FFF2-40B4-BE49-F238E27FC236}">
                <a16:creationId xmlns:a16="http://schemas.microsoft.com/office/drawing/2014/main" id="{279E88DF-1EA2-44BD-8D1F-593D338E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952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d04-team-base">
            <a:extLst xmlns:a="http://schemas.openxmlformats.org/drawingml/2006/main">
              <a:ext uri="{FF2B5EF4-FFF2-40B4-BE49-F238E27FC236}">
                <a16:creationId xmlns:a16="http://schemas.microsoft.com/office/drawing/2014/main" id="{C6BFEE84-A10E-4D46-9D03-25A46DD8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194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d04-left-title">
            <a:extLst xmlns:a="http://schemas.openxmlformats.org/drawingml/2006/main">
              <a:ext uri="{FF2B5EF4-FFF2-40B4-BE49-F238E27FC236}">
                <a16:creationId xmlns:a16="http://schemas.microsoft.com/office/drawing/2014/main" id="{CE767407-9819-4720-B68F-2C67846E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情報収集の分散</a:t>
            </a:r>
          </a:p>
        </p:txBody>
      </p:sp>
      <p:sp>
        <p:nvSpPr>
          <p:cNvPr id="31" name="d04-left-body">
            <a:extLst xmlns:a="http://schemas.openxmlformats.org/drawingml/2006/main">
              <a:ext uri="{FF2B5EF4-FFF2-40B4-BE49-F238E27FC236}">
                <a16:creationId xmlns:a16="http://schemas.microsoft.com/office/drawing/2014/main" id="{C83D024F-6314-45E4-83A3-8CA2AA18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3725"/>
            <a:ext cx="295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顧客情報・過去提案・参考資料が点在し、</a:t>
            </a:r>
          </a:p>
          <a:p xmlns:a="http://schemas.openxmlformats.org/drawingml/2006/main">
            <a:pPr algn="l">
              <a:defRPr sz="120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必要情報の探索に時間がかかる。</a:t>
            </a:r>
          </a:p>
        </p:txBody>
      </p:sp>
      <p:sp>
        <p:nvSpPr>
          <p:cNvPr id="32" name="d04-left-card-資料作成工数の増大">
            <a:extLst xmlns:a="http://schemas.openxmlformats.org/drawingml/2006/main">
              <a:ext uri="{FF2B5EF4-FFF2-40B4-BE49-F238E27FC236}">
                <a16:creationId xmlns:a16="http://schemas.microsoft.com/office/drawing/2014/main" id="{667539B5-99EE-46A0-BC2E-4027B7F9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10000"/>
            <a:ext cx="41719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33" name="d04-left-icon-bg">
            <a:extLst xmlns:a="http://schemas.openxmlformats.org/drawingml/2006/main">
              <a:ext uri="{FF2B5EF4-FFF2-40B4-BE49-F238E27FC236}">
                <a16:creationId xmlns:a16="http://schemas.microsoft.com/office/drawing/2014/main" id="{D81C8E51-C0B9-4F87-B82A-483A7E02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04-clock-ring">
            <a:extLst xmlns:a="http://schemas.openxmlformats.org/drawingml/2006/main">
              <a:ext uri="{FF2B5EF4-FFF2-40B4-BE49-F238E27FC236}">
                <a16:creationId xmlns:a16="http://schemas.microsoft.com/office/drawing/2014/main" id="{9D932137-1ED9-4062-A8CC-37D65362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43375"/>
            <a:ext cx="428625" cy="428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d04-clock-v">
            <a:extLst xmlns:a="http://schemas.openxmlformats.org/drawingml/2006/main">
              <a:ext uri="{FF2B5EF4-FFF2-40B4-BE49-F238E27FC236}">
                <a16:creationId xmlns:a16="http://schemas.microsoft.com/office/drawing/2014/main" id="{B4D79E9A-6BC0-4761-8A08-DFAFF8C7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10050"/>
            <a:ext cx="952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d04-clock-h">
            <a:extLst xmlns:a="http://schemas.openxmlformats.org/drawingml/2006/main">
              <a:ext uri="{FF2B5EF4-FFF2-40B4-BE49-F238E27FC236}">
                <a16:creationId xmlns:a16="http://schemas.microsoft.com/office/drawing/2014/main" id="{60CCB262-6AFF-43F4-889C-80E092B0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71975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d04-left-title">
            <a:extLst xmlns:a="http://schemas.openxmlformats.org/drawingml/2006/main">
              <a:ext uri="{FF2B5EF4-FFF2-40B4-BE49-F238E27FC236}">
                <a16:creationId xmlns:a16="http://schemas.microsoft.com/office/drawing/2014/main" id="{C4CF578E-F9F7-4EC5-8ADF-D313337B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90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資料作成工数の増大</a:t>
            </a:r>
          </a:p>
        </p:txBody>
      </p:sp>
      <p:sp>
        <p:nvSpPr>
          <p:cNvPr id="38" name="d04-left-body">
            <a:extLst xmlns:a="http://schemas.openxmlformats.org/drawingml/2006/main">
              <a:ext uri="{FF2B5EF4-FFF2-40B4-BE49-F238E27FC236}">
                <a16:creationId xmlns:a16="http://schemas.microsoft.com/office/drawing/2014/main" id="{C8D180B0-7C87-47CC-A53C-9B4E0694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295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構成検討、文章作成、見積整理を個別に</a:t>
            </a:r>
          </a:p>
          <a:p xmlns:a="http://schemas.openxmlformats.org/drawingml/2006/main">
            <a:pPr algn="l">
              <a:defRPr sz="120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進めるため、作成負荷が高い。</a:t>
            </a:r>
          </a:p>
        </p:txBody>
      </p:sp>
      <p:sp>
        <p:nvSpPr>
          <p:cNvPr id="39" name="d04-left-card-提案品質のばらつき">
            <a:extLst xmlns:a="http://schemas.openxmlformats.org/drawingml/2006/main">
              <a:ext uri="{FF2B5EF4-FFF2-40B4-BE49-F238E27FC236}">
                <a16:creationId xmlns:a16="http://schemas.microsoft.com/office/drawing/2014/main" id="{7B18569A-A6A8-4E1F-A147-CF3960A3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10150"/>
            <a:ext cx="41719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40" name="d04-left-icon-bg">
            <a:extLst xmlns:a="http://schemas.openxmlformats.org/drawingml/2006/main">
              <a:ext uri="{FF2B5EF4-FFF2-40B4-BE49-F238E27FC236}">
                <a16:creationId xmlns:a16="http://schemas.microsoft.com/office/drawing/2014/main" id="{77DD6137-7A8A-46A2-9B88-BF50649B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530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04-doc">
            <a:extLst xmlns:a="http://schemas.openxmlformats.org/drawingml/2006/main">
              <a:ext uri="{FF2B5EF4-FFF2-40B4-BE49-F238E27FC236}">
                <a16:creationId xmlns:a16="http://schemas.microsoft.com/office/drawing/2014/main" id="{80A350FA-1D52-4BD3-B2E9-FB61E195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43525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d04-doc-l1">
            <a:extLst xmlns:a="http://schemas.openxmlformats.org/drawingml/2006/main">
              <a:ext uri="{FF2B5EF4-FFF2-40B4-BE49-F238E27FC236}">
                <a16:creationId xmlns:a16="http://schemas.microsoft.com/office/drawing/2014/main" id="{96373965-EDFD-4137-B7DC-8E8CEB26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57825"/>
            <a:ext cx="1809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3" name="d04-doc-l2">
            <a:extLst xmlns:a="http://schemas.openxmlformats.org/drawingml/2006/main">
              <a:ext uri="{FF2B5EF4-FFF2-40B4-BE49-F238E27FC236}">
                <a16:creationId xmlns:a16="http://schemas.microsoft.com/office/drawing/2014/main" id="{65C373AC-C9D8-4880-BC3D-B69A70B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53075"/>
            <a:ext cx="1809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d04-doc-l3">
            <a:extLst xmlns:a="http://schemas.openxmlformats.org/drawingml/2006/main">
              <a:ext uri="{FF2B5EF4-FFF2-40B4-BE49-F238E27FC236}">
                <a16:creationId xmlns:a16="http://schemas.microsoft.com/office/drawing/2014/main" id="{0E5E8987-B901-4893-ADC5-F2A94E04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48325"/>
            <a:ext cx="161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5" name="d04-left-title">
            <a:extLst xmlns:a="http://schemas.openxmlformats.org/drawingml/2006/main">
              <a:ext uri="{FF2B5EF4-FFF2-40B4-BE49-F238E27FC236}">
                <a16:creationId xmlns:a16="http://schemas.microsoft.com/office/drawing/2014/main" id="{045D6179-C79D-4526-A4C3-A7DCE724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提案品質のばらつき</a:t>
            </a:r>
          </a:p>
        </p:txBody>
      </p:sp>
      <p:sp>
        <p:nvSpPr>
          <p:cNvPr id="46" name="d04-left-body">
            <a:extLst xmlns:a="http://schemas.openxmlformats.org/drawingml/2006/main">
              <a:ext uri="{FF2B5EF4-FFF2-40B4-BE49-F238E27FC236}">
                <a16:creationId xmlns:a16="http://schemas.microsoft.com/office/drawing/2014/main" id="{1CFAE855-3DA1-438E-A21D-65A60233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295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担当者ごとの差が大きく、訴求軸や根拠の</a:t>
            </a:r>
          </a:p>
          <a:p xmlns:a="http://schemas.openxmlformats.org/drawingml/2006/main">
            <a:pPr algn="l">
              <a:defRPr sz="120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粒度にムラが出やすい。</a:t>
            </a:r>
          </a:p>
        </p:txBody>
      </p:sp>
      <p:sp>
        <p:nvSpPr>
          <p:cNvPr id="47" name="d04-left-card-ナレッジ再利用不足">
            <a:extLst xmlns:a="http://schemas.openxmlformats.org/drawingml/2006/main">
              <a:ext uri="{FF2B5EF4-FFF2-40B4-BE49-F238E27FC236}">
                <a16:creationId xmlns:a16="http://schemas.microsoft.com/office/drawing/2014/main" id="{A4A86E80-EE90-42AD-8971-7462CFCA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200775"/>
            <a:ext cx="41719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48" name="d04-left-icon-bg">
            <a:extLst xmlns:a="http://schemas.openxmlformats.org/drawingml/2006/main">
              <a:ext uri="{FF2B5EF4-FFF2-40B4-BE49-F238E27FC236}">
                <a16:creationId xmlns:a16="http://schemas.microsoft.com/office/drawing/2014/main" id="{87F309CE-F5C9-4D48-9F71-8468B232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436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04-bars-y">
            <a:extLst xmlns:a="http://schemas.openxmlformats.org/drawingml/2006/main">
              <a:ext uri="{FF2B5EF4-FFF2-40B4-BE49-F238E27FC236}">
                <a16:creationId xmlns:a16="http://schemas.microsoft.com/office/drawing/2014/main" id="{4DD518B9-59A9-4E15-ADE4-E6D3E691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619875"/>
            <a:ext cx="952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0" name="d04-bars-x">
            <a:extLst xmlns:a="http://schemas.openxmlformats.org/drawingml/2006/main">
              <a:ext uri="{FF2B5EF4-FFF2-40B4-BE49-F238E27FC236}">
                <a16:creationId xmlns:a16="http://schemas.microsoft.com/office/drawing/2014/main" id="{A7A15F5D-3166-46DA-B9B1-0FF4F0DF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972300"/>
            <a:ext cx="419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1" name="d04-bar-1">
            <a:extLst xmlns:a="http://schemas.openxmlformats.org/drawingml/2006/main">
              <a:ext uri="{FF2B5EF4-FFF2-40B4-BE49-F238E27FC236}">
                <a16:creationId xmlns:a16="http://schemas.microsoft.com/office/drawing/2014/main" id="{854590CC-6D74-4E12-8663-78281BD8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29425"/>
            <a:ext cx="7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2" name="d04-bar-2">
            <a:extLst xmlns:a="http://schemas.openxmlformats.org/drawingml/2006/main">
              <a:ext uri="{FF2B5EF4-FFF2-40B4-BE49-F238E27FC236}">
                <a16:creationId xmlns:a16="http://schemas.microsoft.com/office/drawing/2014/main" id="{8AF8078F-DC4F-48B6-94C5-C6AAA036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34175"/>
            <a:ext cx="7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3" name="d04-bar-3">
            <a:extLst xmlns:a="http://schemas.openxmlformats.org/drawingml/2006/main">
              <a:ext uri="{FF2B5EF4-FFF2-40B4-BE49-F238E27FC236}">
                <a16:creationId xmlns:a16="http://schemas.microsoft.com/office/drawing/2014/main" id="{CAC9ADF7-12A3-4FF6-99B1-00CE71CF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638925"/>
            <a:ext cx="7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d04-left-title">
            <a:extLst xmlns:a="http://schemas.openxmlformats.org/drawingml/2006/main">
              <a:ext uri="{FF2B5EF4-FFF2-40B4-BE49-F238E27FC236}">
                <a16:creationId xmlns:a16="http://schemas.microsoft.com/office/drawing/2014/main" id="{F4B6FE9D-B942-4FCB-8039-B5011CAC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8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ナレッジ再利用不足</a:t>
            </a:r>
          </a:p>
        </p:txBody>
      </p:sp>
      <p:sp>
        <p:nvSpPr>
          <p:cNvPr id="55" name="d04-left-body">
            <a:extLst xmlns:a="http://schemas.openxmlformats.org/drawingml/2006/main">
              <a:ext uri="{FF2B5EF4-FFF2-40B4-BE49-F238E27FC236}">
                <a16:creationId xmlns:a16="http://schemas.microsoft.com/office/drawing/2014/main" id="{4393FBA1-1845-49E7-9D69-B49C514F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734175"/>
            <a:ext cx="295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成功事例や失注要因が十分に蓄積されず、</a:t>
            </a:r>
          </a:p>
          <a:p xmlns:a="http://schemas.openxmlformats.org/drawingml/2006/main">
            <a:pPr algn="l">
              <a:defRPr sz="120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次回提案へ活かしにくい。</a:t>
            </a:r>
          </a:p>
        </p:txBody>
      </p:sp>
      <p:sp>
        <p:nvSpPr>
          <p:cNvPr id="56" name="d04-cause-label">
            <a:extLst xmlns:a="http://schemas.openxmlformats.org/drawingml/2006/main">
              <a:ext uri="{FF2B5EF4-FFF2-40B4-BE49-F238E27FC236}">
                <a16:creationId xmlns:a16="http://schemas.microsoft.com/office/drawing/2014/main" id="{888CFAF8-AFB2-4C79-91E0-9493EB9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00325"/>
            <a:ext cx="438150" cy="26479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5A68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04-cause-text">
            <a:extLst xmlns:a="http://schemas.openxmlformats.org/drawingml/2006/main">
              <a:ext uri="{FF2B5EF4-FFF2-40B4-BE49-F238E27FC236}">
                <a16:creationId xmlns:a16="http://schemas.microsoft.com/office/drawing/2014/main" id="{9317F62F-2341-4B42-83AE-4FA7616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原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因</a:t>
            </a:r>
          </a:p>
        </p:txBody>
      </p:sp>
      <p:sp>
        <p:nvSpPr>
          <p:cNvPr id="58" name="d04-impact-label">
            <a:extLst xmlns:a="http://schemas.openxmlformats.org/drawingml/2006/main">
              <a:ext uri="{FF2B5EF4-FFF2-40B4-BE49-F238E27FC236}">
                <a16:creationId xmlns:a16="http://schemas.microsoft.com/office/drawing/2014/main" id="{9989918D-7025-4FBE-B1D4-F8CAA056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67350"/>
            <a:ext cx="438150" cy="157162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79A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04-impact-text">
            <a:extLst xmlns:a="http://schemas.openxmlformats.org/drawingml/2006/main">
              <a:ext uri="{FF2B5EF4-FFF2-40B4-BE49-F238E27FC236}">
                <a16:creationId xmlns:a16="http://schemas.microsoft.com/office/drawing/2014/main" id="{2769BDBB-B0CA-4756-B0FC-0C6FDE6E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0198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影</a:t>
            </a:r>
          </a:p>
          <a:p xmlns:a="http://schemas.openxmlformats.org/drawingml/2006/main">
            <a:pPr algn="ctr">
              <a:defRPr sz="142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響</a:t>
            </a:r>
          </a:p>
        </p:txBody>
      </p:sp>
      <p:sp>
        <p:nvSpPr>
          <p:cNvPr id="60" name="d04-cause-card-01">
            <a:extLst xmlns:a="http://schemas.openxmlformats.org/drawingml/2006/main">
              <a:ext uri="{FF2B5EF4-FFF2-40B4-BE49-F238E27FC236}">
                <a16:creationId xmlns:a16="http://schemas.microsoft.com/office/drawing/2014/main" id="{ECB1F901-BF7E-4406-A0DF-43045C4B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00325"/>
            <a:ext cx="1219200" cy="26479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61" name="d04-cause-num-bg">
            <a:extLst xmlns:a="http://schemas.openxmlformats.org/drawingml/2006/main">
              <a:ext uri="{FF2B5EF4-FFF2-40B4-BE49-F238E27FC236}">
                <a16:creationId xmlns:a16="http://schemas.microsoft.com/office/drawing/2014/main" id="{9FEDF76A-4341-458B-BB90-040B4A8C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04-cause-num">
            <a:extLst xmlns:a="http://schemas.openxmlformats.org/drawingml/2006/main">
              <a:ext uri="{FF2B5EF4-FFF2-40B4-BE49-F238E27FC236}">
                <a16:creationId xmlns:a16="http://schemas.microsoft.com/office/drawing/2014/main" id="{3F20CA12-0DBF-4319-833F-094EA3E2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90825"/>
            <a:ext cx="371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3" name="d04-db-top">
            <a:extLst xmlns:a="http://schemas.openxmlformats.org/drawingml/2006/main">
              <a:ext uri="{FF2B5EF4-FFF2-40B4-BE49-F238E27FC236}">
                <a16:creationId xmlns:a16="http://schemas.microsoft.com/office/drawing/2014/main" id="{AC8B1AE3-0EDB-4DB1-A7C7-31AC49D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48000"/>
            <a:ext cx="2857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64" name="d04-db-l">
            <a:extLst xmlns:a="http://schemas.openxmlformats.org/drawingml/2006/main">
              <a:ext uri="{FF2B5EF4-FFF2-40B4-BE49-F238E27FC236}">
                <a16:creationId xmlns:a16="http://schemas.microsoft.com/office/drawing/2014/main" id="{9F19F3CB-B9A1-4EFA-BC43-F789ED3E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95625"/>
            <a:ext cx="952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65" name="d04-db-r">
            <a:extLst xmlns:a="http://schemas.openxmlformats.org/drawingml/2006/main">
              <a:ext uri="{FF2B5EF4-FFF2-40B4-BE49-F238E27FC236}">
                <a16:creationId xmlns:a16="http://schemas.microsoft.com/office/drawing/2014/main" id="{EA027816-74E3-41D1-9845-7D60F3BB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95625"/>
            <a:ext cx="952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66" name="d04-db-bottom">
            <a:extLst xmlns:a="http://schemas.openxmlformats.org/drawingml/2006/main">
              <a:ext uri="{FF2B5EF4-FFF2-40B4-BE49-F238E27FC236}">
                <a16:creationId xmlns:a16="http://schemas.microsoft.com/office/drawing/2014/main" id="{D943CE95-7AAF-4942-B113-FE9853FA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95650"/>
            <a:ext cx="2857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67" name="d04-cause-title">
            <a:extLst xmlns:a="http://schemas.openxmlformats.org/drawingml/2006/main">
              <a:ext uri="{FF2B5EF4-FFF2-40B4-BE49-F238E27FC236}">
                <a16:creationId xmlns:a16="http://schemas.microsoft.com/office/drawing/2014/main" id="{04322606-B4D1-4029-9476-79E59E03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67125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情報が分散</a:t>
            </a:r>
          </a:p>
        </p:txBody>
      </p:sp>
      <p:sp>
        <p:nvSpPr>
          <p:cNvPr id="68" name="d04-cause-body">
            <a:extLst xmlns:a="http://schemas.openxmlformats.org/drawingml/2006/main">
              <a:ext uri="{FF2B5EF4-FFF2-40B4-BE49-F238E27FC236}">
                <a16:creationId xmlns:a16="http://schemas.microsoft.com/office/drawing/2014/main" id="{0A5ED29E-FC01-4B31-8840-32938912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102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必要な情報が</a:t>
            </a:r>
          </a:p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各所に点在し、</a:t>
            </a:r>
          </a:p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一元管理されて</a:t>
            </a:r>
          </a:p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いない。</a:t>
            </a:r>
          </a:p>
        </p:txBody>
      </p:sp>
      <p:sp>
        <p:nvSpPr>
          <p:cNvPr id="69" name="d04-cause-down-arrow">
            <a:extLst xmlns:a="http://schemas.openxmlformats.org/drawingml/2006/main">
              <a:ext uri="{FF2B5EF4-FFF2-40B4-BE49-F238E27FC236}">
                <a16:creationId xmlns:a16="http://schemas.microsoft.com/office/drawing/2014/main" id="{DB24E79D-4CFD-4A4D-8DA5-770A9499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219700"/>
            <a:ext cx="314325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04-cause-card-02">
            <a:extLst xmlns:a="http://schemas.openxmlformats.org/drawingml/2006/main">
              <a:ext uri="{FF2B5EF4-FFF2-40B4-BE49-F238E27FC236}">
                <a16:creationId xmlns:a16="http://schemas.microsoft.com/office/drawing/2014/main" id="{5D49F53D-9E7E-48E1-9F67-D3273569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00325"/>
            <a:ext cx="1219200" cy="26479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71" name="d04-cause-num-bg">
            <a:extLst xmlns:a="http://schemas.openxmlformats.org/drawingml/2006/main">
              <a:ext uri="{FF2B5EF4-FFF2-40B4-BE49-F238E27FC236}">
                <a16:creationId xmlns:a16="http://schemas.microsoft.com/office/drawing/2014/main" id="{06B8590B-6E1C-4252-A1AD-BE7CB7E0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0510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04-cause-num">
            <a:extLst xmlns:a="http://schemas.openxmlformats.org/drawingml/2006/main">
              <a:ext uri="{FF2B5EF4-FFF2-40B4-BE49-F238E27FC236}">
                <a16:creationId xmlns:a16="http://schemas.microsoft.com/office/drawing/2014/main" id="{26D4410C-A2A4-4C8D-B730-F3BA8B27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90825"/>
            <a:ext cx="371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3" name="d04-gear-outline">
            <a:extLst xmlns:a="http://schemas.openxmlformats.org/drawingml/2006/main">
              <a:ext uri="{FF2B5EF4-FFF2-40B4-BE49-F238E27FC236}">
                <a16:creationId xmlns:a16="http://schemas.microsoft.com/office/drawing/2014/main" id="{B20A4F78-72E6-4309-8821-7938DDEA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4800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200025" y="0"/>
                </a:moveTo>
                <a:lnTo>
                  <a:pt x="258346" y="59226"/>
                </a:lnTo>
                <a:lnTo>
                  <a:pt x="341464" y="58586"/>
                </a:lnTo>
                <a:lnTo>
                  <a:pt x="340824" y="141704"/>
                </a:lnTo>
                <a:lnTo>
                  <a:pt x="400050" y="200025"/>
                </a:lnTo>
                <a:lnTo>
                  <a:pt x="340824" y="258346"/>
                </a:lnTo>
                <a:lnTo>
                  <a:pt x="341464" y="341464"/>
                </a:lnTo>
                <a:lnTo>
                  <a:pt x="258346" y="340824"/>
                </a:lnTo>
                <a:lnTo>
                  <a:pt x="200025" y="400050"/>
                </a:lnTo>
                <a:lnTo>
                  <a:pt x="141704" y="340824"/>
                </a:lnTo>
                <a:lnTo>
                  <a:pt x="58586" y="341464"/>
                </a:lnTo>
                <a:lnTo>
                  <a:pt x="59226" y="258346"/>
                </a:lnTo>
                <a:lnTo>
                  <a:pt x="0" y="200025"/>
                </a:lnTo>
                <a:lnTo>
                  <a:pt x="59226" y="141704"/>
                </a:lnTo>
                <a:lnTo>
                  <a:pt x="58586" y="58586"/>
                </a:lnTo>
                <a:lnTo>
                  <a:pt x="141704" y="592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74" name="d04-gear-hole">
            <a:extLst xmlns:a="http://schemas.openxmlformats.org/drawingml/2006/main">
              <a:ext uri="{FF2B5EF4-FFF2-40B4-BE49-F238E27FC236}">
                <a16:creationId xmlns:a16="http://schemas.microsoft.com/office/drawing/2014/main" id="{4045C0D1-DDEE-4E4F-88FC-888C2C98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813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75" name="d04-cause-title">
            <a:extLst xmlns:a="http://schemas.openxmlformats.org/drawingml/2006/main">
              <a:ext uri="{FF2B5EF4-FFF2-40B4-BE49-F238E27FC236}">
                <a16:creationId xmlns:a16="http://schemas.microsoft.com/office/drawing/2014/main" id="{772789C6-14C5-4B43-BD9D-FC6BDB97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67125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標準化不足</a:t>
            </a:r>
          </a:p>
        </p:txBody>
      </p:sp>
      <p:sp>
        <p:nvSpPr>
          <p:cNvPr id="76" name="d04-cause-body">
            <a:extLst xmlns:a="http://schemas.openxmlformats.org/drawingml/2006/main">
              <a:ext uri="{FF2B5EF4-FFF2-40B4-BE49-F238E27FC236}">
                <a16:creationId xmlns:a16="http://schemas.microsoft.com/office/drawing/2014/main" id="{109BE134-D717-4FD1-9284-93EE38A7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71950"/>
            <a:ext cx="102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提案の進め方や</a:t>
            </a:r>
          </a:p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テンプレートが</a:t>
            </a:r>
          </a:p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統一されていない。</a:t>
            </a:r>
          </a:p>
        </p:txBody>
      </p:sp>
      <p:sp>
        <p:nvSpPr>
          <p:cNvPr id="77" name="d04-cause-down-arrow">
            <a:extLst xmlns:a="http://schemas.openxmlformats.org/drawingml/2006/main">
              <a:ext uri="{FF2B5EF4-FFF2-40B4-BE49-F238E27FC236}">
                <a16:creationId xmlns:a16="http://schemas.microsoft.com/office/drawing/2014/main" id="{4104E297-7BD7-4D59-91BB-D3F5A758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19700"/>
            <a:ext cx="314325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04-cause-card-03">
            <a:extLst xmlns:a="http://schemas.openxmlformats.org/drawingml/2006/main">
              <a:ext uri="{FF2B5EF4-FFF2-40B4-BE49-F238E27FC236}">
                <a16:creationId xmlns:a16="http://schemas.microsoft.com/office/drawing/2014/main" id="{57AB011B-0BEA-495E-BF50-4461FFF5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0325"/>
            <a:ext cx="1219200" cy="26479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79" name="d04-cause-num-bg">
            <a:extLst xmlns:a="http://schemas.openxmlformats.org/drawingml/2006/main">
              <a:ext uri="{FF2B5EF4-FFF2-40B4-BE49-F238E27FC236}">
                <a16:creationId xmlns:a16="http://schemas.microsoft.com/office/drawing/2014/main" id="{8C3174B6-3137-4023-A895-0CA9BDED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04-cause-num">
            <a:extLst xmlns:a="http://schemas.openxmlformats.org/drawingml/2006/main">
              <a:ext uri="{FF2B5EF4-FFF2-40B4-BE49-F238E27FC236}">
                <a16:creationId xmlns:a16="http://schemas.microsoft.com/office/drawing/2014/main" id="{E6986748-C36A-4A41-9A94-96D22F93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90825"/>
            <a:ext cx="371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1" name="d04-team-h1">
            <a:extLst xmlns:a="http://schemas.openxmlformats.org/drawingml/2006/main">
              <a:ext uri="{FF2B5EF4-FFF2-40B4-BE49-F238E27FC236}">
                <a16:creationId xmlns:a16="http://schemas.microsoft.com/office/drawing/2014/main" id="{082BA1AF-0C27-42EC-9130-47B982F6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82" name="d04-team-h2">
            <a:extLst xmlns:a="http://schemas.openxmlformats.org/drawingml/2006/main">
              <a:ext uri="{FF2B5EF4-FFF2-40B4-BE49-F238E27FC236}">
                <a16:creationId xmlns:a16="http://schemas.microsoft.com/office/drawing/2014/main" id="{34B3F50E-105F-4BEA-8E3A-F1E34835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83" name="d04-team-h3">
            <a:extLst xmlns:a="http://schemas.openxmlformats.org/drawingml/2006/main">
              <a:ext uri="{FF2B5EF4-FFF2-40B4-BE49-F238E27FC236}">
                <a16:creationId xmlns:a16="http://schemas.microsoft.com/office/drawing/2014/main" id="{180D0C24-AB71-42AC-9256-2B881AD5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1945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84" name="d04-team-b1">
            <a:extLst xmlns:a="http://schemas.openxmlformats.org/drawingml/2006/main">
              <a:ext uri="{FF2B5EF4-FFF2-40B4-BE49-F238E27FC236}">
                <a16:creationId xmlns:a16="http://schemas.microsoft.com/office/drawing/2014/main" id="{CBE90D8D-7C9D-4041-B783-490CE073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62325"/>
            <a:ext cx="952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85" name="d04-team-b2">
            <a:extLst xmlns:a="http://schemas.openxmlformats.org/drawingml/2006/main">
              <a:ext uri="{FF2B5EF4-FFF2-40B4-BE49-F238E27FC236}">
                <a16:creationId xmlns:a16="http://schemas.microsoft.com/office/drawing/2014/main" id="{B1850CC8-9EFB-4807-8C74-B30D7B12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62325"/>
            <a:ext cx="504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86" name="d04-team-b3">
            <a:extLst xmlns:a="http://schemas.openxmlformats.org/drawingml/2006/main">
              <a:ext uri="{FF2B5EF4-FFF2-40B4-BE49-F238E27FC236}">
                <a16:creationId xmlns:a16="http://schemas.microsoft.com/office/drawing/2014/main" id="{0DC2FFB0-69F4-4577-BACD-E86E403E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62325"/>
            <a:ext cx="952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87" name="d04-team-base">
            <a:extLst xmlns:a="http://schemas.openxmlformats.org/drawingml/2006/main">
              <a:ext uri="{FF2B5EF4-FFF2-40B4-BE49-F238E27FC236}">
                <a16:creationId xmlns:a16="http://schemas.microsoft.com/office/drawing/2014/main" id="{3FC74C88-B45A-4185-8170-930926CF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337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88" name="d04-cause-title">
            <a:extLst xmlns:a="http://schemas.openxmlformats.org/drawingml/2006/main">
              <a:ext uri="{FF2B5EF4-FFF2-40B4-BE49-F238E27FC236}">
                <a16:creationId xmlns:a16="http://schemas.microsoft.com/office/drawing/2014/main" id="{4D5CD420-16E1-40FB-BB8D-922B3F4E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判断基準が不統一</a:t>
            </a:r>
          </a:p>
        </p:txBody>
      </p:sp>
      <p:sp>
        <p:nvSpPr>
          <p:cNvPr id="89" name="d04-cause-body">
            <a:extLst xmlns:a="http://schemas.openxmlformats.org/drawingml/2006/main">
              <a:ext uri="{FF2B5EF4-FFF2-40B4-BE49-F238E27FC236}">
                <a16:creationId xmlns:a16="http://schemas.microsoft.com/office/drawing/2014/main" id="{32E01D20-43A6-4D77-9130-8D0DADC3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102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担当者ごとに</a:t>
            </a:r>
          </a:p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評価軸や判断基準</a:t>
            </a:r>
          </a:p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が異なっている。</a:t>
            </a:r>
          </a:p>
        </p:txBody>
      </p:sp>
      <p:sp>
        <p:nvSpPr>
          <p:cNvPr id="90" name="d04-cause-down-arrow">
            <a:extLst xmlns:a="http://schemas.openxmlformats.org/drawingml/2006/main">
              <a:ext uri="{FF2B5EF4-FFF2-40B4-BE49-F238E27FC236}">
                <a16:creationId xmlns:a16="http://schemas.microsoft.com/office/drawing/2014/main" id="{D2D27BCD-CA18-4726-A1C3-B2CA9535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19700"/>
            <a:ext cx="314325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04-cause-card-04">
            <a:extLst xmlns:a="http://schemas.openxmlformats.org/drawingml/2006/main">
              <a:ext uri="{FF2B5EF4-FFF2-40B4-BE49-F238E27FC236}">
                <a16:creationId xmlns:a16="http://schemas.microsoft.com/office/drawing/2014/main" id="{666E0275-D5A7-4CC0-8D60-02B6598C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00325"/>
            <a:ext cx="1219200" cy="26479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92" name="d04-cause-num-bg">
            <a:extLst xmlns:a="http://schemas.openxmlformats.org/drawingml/2006/main">
              <a:ext uri="{FF2B5EF4-FFF2-40B4-BE49-F238E27FC236}">
                <a16:creationId xmlns:a16="http://schemas.microsoft.com/office/drawing/2014/main" id="{D1C77727-E7BE-4E3A-950A-A41EAFB3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0510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04-cause-num">
            <a:extLst xmlns:a="http://schemas.openxmlformats.org/drawingml/2006/main">
              <a:ext uri="{FF2B5EF4-FFF2-40B4-BE49-F238E27FC236}">
                <a16:creationId xmlns:a16="http://schemas.microsoft.com/office/drawing/2014/main" id="{B0F52CCE-18DC-486C-A981-2092E71C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90825"/>
            <a:ext cx="371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4" name="d04-bars-y">
            <a:extLst xmlns:a="http://schemas.openxmlformats.org/drawingml/2006/main">
              <a:ext uri="{FF2B5EF4-FFF2-40B4-BE49-F238E27FC236}">
                <a16:creationId xmlns:a16="http://schemas.microsoft.com/office/drawing/2014/main" id="{9254C50A-6CD0-4F4B-AAA5-A7346E84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133725"/>
            <a:ext cx="952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95" name="d04-bars-x">
            <a:extLst xmlns:a="http://schemas.openxmlformats.org/drawingml/2006/main">
              <a:ext uri="{FF2B5EF4-FFF2-40B4-BE49-F238E27FC236}">
                <a16:creationId xmlns:a16="http://schemas.microsoft.com/office/drawing/2014/main" id="{0F499250-6EDB-45FF-8FF1-8840A5F5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86150"/>
            <a:ext cx="419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96" name="d04-bar-1">
            <a:extLst xmlns:a="http://schemas.openxmlformats.org/drawingml/2006/main">
              <a:ext uri="{FF2B5EF4-FFF2-40B4-BE49-F238E27FC236}">
                <a16:creationId xmlns:a16="http://schemas.microsoft.com/office/drawing/2014/main" id="{FA8EC10C-28C7-4287-BC15-BFF039DE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43275"/>
            <a:ext cx="7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97" name="d04-bar-2">
            <a:extLst xmlns:a="http://schemas.openxmlformats.org/drawingml/2006/main">
              <a:ext uri="{FF2B5EF4-FFF2-40B4-BE49-F238E27FC236}">
                <a16:creationId xmlns:a16="http://schemas.microsoft.com/office/drawing/2014/main" id="{7A3A3F90-196B-46E8-84EC-031DCE76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248025"/>
            <a:ext cx="7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98" name="d04-bar-3">
            <a:extLst xmlns:a="http://schemas.openxmlformats.org/drawingml/2006/main">
              <a:ext uri="{FF2B5EF4-FFF2-40B4-BE49-F238E27FC236}">
                <a16:creationId xmlns:a16="http://schemas.microsoft.com/office/drawing/2014/main" id="{A343247E-3E54-46C0-B2CD-29BAD373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52775"/>
            <a:ext cx="7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22A"/>
            </a:solidFill>
            <a:prstDash val="solid"/>
          </a:ln>
        </p:spPr>
      </p:sp>
      <p:sp>
        <p:nvSpPr>
          <p:cNvPr id="99" name="d04-cause-title">
            <a:extLst xmlns:a="http://schemas.openxmlformats.org/drawingml/2006/main">
              <a:ext uri="{FF2B5EF4-FFF2-40B4-BE49-F238E27FC236}">
                <a16:creationId xmlns:a16="http://schemas.microsoft.com/office/drawing/2014/main" id="{4F237F79-D245-4602-A08D-7B3EB196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67125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振り返り未蓄積</a:t>
            </a:r>
          </a:p>
        </p:txBody>
      </p:sp>
      <p:sp>
        <p:nvSpPr>
          <p:cNvPr id="100" name="d04-cause-body">
            <a:extLst xmlns:a="http://schemas.openxmlformats.org/drawingml/2006/main">
              <a:ext uri="{FF2B5EF4-FFF2-40B4-BE49-F238E27FC236}">
                <a16:creationId xmlns:a16="http://schemas.microsoft.com/office/drawing/2014/main" id="{2ADC4F3F-DF1F-4262-BFAE-5F9CB7D4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71950"/>
            <a:ext cx="102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提案の結果や</a:t>
            </a:r>
          </a:p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学びが蓄積されず、</a:t>
            </a:r>
          </a:p>
          <a:p xmlns:a="http://schemas.openxmlformats.org/drawingml/2006/main">
            <a:pPr algn="ctr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次回に活かせない。</a:t>
            </a:r>
          </a:p>
        </p:txBody>
      </p:sp>
      <p:sp>
        <p:nvSpPr>
          <p:cNvPr id="101" name="d04-cause-down-arrow">
            <a:extLst xmlns:a="http://schemas.openxmlformats.org/drawingml/2006/main">
              <a:ext uri="{FF2B5EF4-FFF2-40B4-BE49-F238E27FC236}">
                <a16:creationId xmlns:a16="http://schemas.microsoft.com/office/drawing/2014/main" id="{1266A746-0A59-43B3-A7C4-65E38D1F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19700"/>
            <a:ext cx="314325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04-impact-card-0">
            <a:extLst xmlns:a="http://schemas.openxmlformats.org/drawingml/2006/main">
              <a:ext uri="{FF2B5EF4-FFF2-40B4-BE49-F238E27FC236}">
                <a16:creationId xmlns:a16="http://schemas.microsoft.com/office/drawing/2014/main" id="{EB2D9EA4-86BE-406F-8A55-BDA089D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67350"/>
            <a:ext cx="1219200" cy="1571625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2B3B6"/>
            </a:solidFill>
            <a:prstDash val="solid"/>
          </a:ln>
        </p:spPr>
      </p:sp>
      <p:sp>
        <p:nvSpPr>
          <p:cNvPr id="103" name="d04-clock-ring">
            <a:extLst xmlns:a="http://schemas.openxmlformats.org/drawingml/2006/main">
              <a:ext uri="{FF2B5EF4-FFF2-40B4-BE49-F238E27FC236}">
                <a16:creationId xmlns:a16="http://schemas.microsoft.com/office/drawing/2014/main" id="{ABDF260A-451D-42E5-A1F2-7FD7DBFA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38800"/>
            <a:ext cx="428625" cy="428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04" name="d04-clock-v">
            <a:extLst xmlns:a="http://schemas.openxmlformats.org/drawingml/2006/main">
              <a:ext uri="{FF2B5EF4-FFF2-40B4-BE49-F238E27FC236}">
                <a16:creationId xmlns:a16="http://schemas.microsoft.com/office/drawing/2014/main" id="{892AB27A-E144-4A99-B76C-066F8216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705475"/>
            <a:ext cx="952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05" name="d04-clock-h">
            <a:extLst xmlns:a="http://schemas.openxmlformats.org/drawingml/2006/main">
              <a:ext uri="{FF2B5EF4-FFF2-40B4-BE49-F238E27FC236}">
                <a16:creationId xmlns:a16="http://schemas.microsoft.com/office/drawing/2014/main" id="{980FCB4A-9246-43E1-B72B-42FFC0BF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867400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06" name="d04-impact-title">
            <a:extLst xmlns:a="http://schemas.openxmlformats.org/drawingml/2006/main">
              <a:ext uri="{FF2B5EF4-FFF2-40B4-BE49-F238E27FC236}">
                <a16:creationId xmlns:a16="http://schemas.microsoft.com/office/drawing/2014/main" id="{7F29AFE1-49FC-47A1-99D1-89FACCCF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286500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作成時間の</a:t>
            </a:r>
          </a:p>
          <a:p xmlns:a="http://schemas.openxmlformats.org/drawingml/2006/main">
            <a:pPr algn="ctr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長期化</a:t>
            </a:r>
          </a:p>
        </p:txBody>
      </p:sp>
      <p:sp>
        <p:nvSpPr>
          <p:cNvPr id="107" name="d04-impact-arrow">
            <a:extLst xmlns:a="http://schemas.openxmlformats.org/drawingml/2006/main">
              <a:ext uri="{FF2B5EF4-FFF2-40B4-BE49-F238E27FC236}">
                <a16:creationId xmlns:a16="http://schemas.microsoft.com/office/drawing/2014/main" id="{14D9FF6C-78F0-4208-802E-9A40E156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048375"/>
            <a:ext cx="2000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04-impact-card-1">
            <a:extLst xmlns:a="http://schemas.openxmlformats.org/drawingml/2006/main">
              <a:ext uri="{FF2B5EF4-FFF2-40B4-BE49-F238E27FC236}">
                <a16:creationId xmlns:a16="http://schemas.microsoft.com/office/drawing/2014/main" id="{4984D74D-EA7A-4963-BDB4-F6C02BFD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67350"/>
            <a:ext cx="1219200" cy="1571625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2B3B6"/>
            </a:solidFill>
            <a:prstDash val="solid"/>
          </a:ln>
        </p:spPr>
      </p:sp>
      <p:sp>
        <p:nvSpPr>
          <p:cNvPr id="109" name="d04-bars-y">
            <a:extLst xmlns:a="http://schemas.openxmlformats.org/drawingml/2006/main">
              <a:ext uri="{FF2B5EF4-FFF2-40B4-BE49-F238E27FC236}">
                <a16:creationId xmlns:a16="http://schemas.microsoft.com/office/drawing/2014/main" id="{3AC2B551-5CB0-4424-8948-D2662B57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24525"/>
            <a:ext cx="952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10" name="d04-bars-x">
            <a:extLst xmlns:a="http://schemas.openxmlformats.org/drawingml/2006/main">
              <a:ext uri="{FF2B5EF4-FFF2-40B4-BE49-F238E27FC236}">
                <a16:creationId xmlns:a16="http://schemas.microsoft.com/office/drawing/2014/main" id="{6524F924-EA1A-46C2-AED5-D746988E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076950"/>
            <a:ext cx="419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11" name="d04-bar-1">
            <a:extLst xmlns:a="http://schemas.openxmlformats.org/drawingml/2006/main">
              <a:ext uri="{FF2B5EF4-FFF2-40B4-BE49-F238E27FC236}">
                <a16:creationId xmlns:a16="http://schemas.microsoft.com/office/drawing/2014/main" id="{05BCA6F5-66B4-4763-818A-2AEB9FF7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934075"/>
            <a:ext cx="7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12" name="d04-bar-2">
            <a:extLst xmlns:a="http://schemas.openxmlformats.org/drawingml/2006/main">
              <a:ext uri="{FF2B5EF4-FFF2-40B4-BE49-F238E27FC236}">
                <a16:creationId xmlns:a16="http://schemas.microsoft.com/office/drawing/2014/main" id="{D1E6C214-CAD1-463A-A9F2-D93C9072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838825"/>
            <a:ext cx="7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13" name="d04-bar-3">
            <a:extLst xmlns:a="http://schemas.openxmlformats.org/drawingml/2006/main">
              <a:ext uri="{FF2B5EF4-FFF2-40B4-BE49-F238E27FC236}">
                <a16:creationId xmlns:a16="http://schemas.microsoft.com/office/drawing/2014/main" id="{7B3288E5-7B6A-472B-8D75-D72E48C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743575"/>
            <a:ext cx="7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14" name="d04-impact-title">
            <a:extLst xmlns:a="http://schemas.openxmlformats.org/drawingml/2006/main">
              <a:ext uri="{FF2B5EF4-FFF2-40B4-BE49-F238E27FC236}">
                <a16:creationId xmlns:a16="http://schemas.microsoft.com/office/drawing/2014/main" id="{5A2897D1-F7B3-4BF0-B892-F25BB094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6286500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提案数の</a:t>
            </a:r>
          </a:p>
          <a:p xmlns:a="http://schemas.openxmlformats.org/drawingml/2006/main">
            <a:pPr algn="ctr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伸び悩み</a:t>
            </a:r>
          </a:p>
        </p:txBody>
      </p:sp>
      <p:sp>
        <p:nvSpPr>
          <p:cNvPr id="115" name="d04-impact-arrow">
            <a:extLst xmlns:a="http://schemas.openxmlformats.org/drawingml/2006/main">
              <a:ext uri="{FF2B5EF4-FFF2-40B4-BE49-F238E27FC236}">
                <a16:creationId xmlns:a16="http://schemas.microsoft.com/office/drawing/2014/main" id="{418F5526-8609-4D5F-86A9-1F26458F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6048375"/>
            <a:ext cx="2000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04-impact-card-2">
            <a:extLst xmlns:a="http://schemas.openxmlformats.org/drawingml/2006/main">
              <a:ext uri="{FF2B5EF4-FFF2-40B4-BE49-F238E27FC236}">
                <a16:creationId xmlns:a16="http://schemas.microsoft.com/office/drawing/2014/main" id="{2F5C6FFB-AC0A-4963-B3FE-AECEBCB9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67350"/>
            <a:ext cx="1219200" cy="1571625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2B3B6"/>
            </a:solidFill>
            <a:prstDash val="solid"/>
          </a:ln>
        </p:spPr>
      </p:sp>
      <p:sp>
        <p:nvSpPr>
          <p:cNvPr id="117" name="d04-target-outer">
            <a:extLst xmlns:a="http://schemas.openxmlformats.org/drawingml/2006/main">
              <a:ext uri="{FF2B5EF4-FFF2-40B4-BE49-F238E27FC236}">
                <a16:creationId xmlns:a16="http://schemas.microsoft.com/office/drawing/2014/main" id="{E2EDEDD6-F9E8-453C-AA84-3D768F34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7150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18" name="d04-target-inner">
            <a:extLst xmlns:a="http://schemas.openxmlformats.org/drawingml/2006/main">
              <a:ext uri="{FF2B5EF4-FFF2-40B4-BE49-F238E27FC236}">
                <a16:creationId xmlns:a16="http://schemas.microsoft.com/office/drawing/2014/main" id="{19C53B47-0866-45B5-B614-7F558A9A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8167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19" name="d04-target-center">
            <a:extLst xmlns:a="http://schemas.openxmlformats.org/drawingml/2006/main">
              <a:ext uri="{FF2B5EF4-FFF2-40B4-BE49-F238E27FC236}">
                <a16:creationId xmlns:a16="http://schemas.microsoft.com/office/drawing/2014/main" id="{AF1DC02E-A501-4CA4-B1DF-9EA16173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829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04-target-arrow-line">
            <a:extLst xmlns:a="http://schemas.openxmlformats.org/drawingml/2006/main">
              <a:ext uri="{FF2B5EF4-FFF2-40B4-BE49-F238E27FC236}">
                <a16:creationId xmlns:a16="http://schemas.microsoft.com/office/drawing/2014/main" id="{ECB32EFC-37C3-45B3-81ED-742746E0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857875"/>
            <a:ext cx="18097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21" name="d04-target-arrow-head">
            <a:extLst xmlns:a="http://schemas.openxmlformats.org/drawingml/2006/main">
              <a:ext uri="{FF2B5EF4-FFF2-40B4-BE49-F238E27FC236}">
                <a16:creationId xmlns:a16="http://schemas.microsoft.com/office/drawing/2014/main" id="{8430E6B3-0EB1-4B85-A70B-2B1E7B64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57875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0"/>
                </a:moveTo>
                <a:lnTo>
                  <a:pt x="66675" y="0"/>
                </a:lnTo>
                <a:lnTo>
                  <a:pt x="66675" y="666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04-impact-title">
            <a:extLst xmlns:a="http://schemas.openxmlformats.org/drawingml/2006/main">
              <a:ext uri="{FF2B5EF4-FFF2-40B4-BE49-F238E27FC236}">
                <a16:creationId xmlns:a16="http://schemas.microsoft.com/office/drawing/2014/main" id="{0F6AED96-35F2-49F7-97BD-0F93C383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286500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受注率の</a:t>
            </a:r>
          </a:p>
          <a:p xmlns:a="http://schemas.openxmlformats.org/drawingml/2006/main">
            <a:pPr algn="ctr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不安定化</a:t>
            </a:r>
          </a:p>
        </p:txBody>
      </p:sp>
      <p:sp>
        <p:nvSpPr>
          <p:cNvPr id="123" name="d04-impact-arrow">
            <a:extLst xmlns:a="http://schemas.openxmlformats.org/drawingml/2006/main">
              <a:ext uri="{FF2B5EF4-FFF2-40B4-BE49-F238E27FC236}">
                <a16:creationId xmlns:a16="http://schemas.microsoft.com/office/drawing/2014/main" id="{77B6188D-AB32-4C70-8359-ED858755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048375"/>
            <a:ext cx="2000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04-impact-card-3">
            <a:extLst xmlns:a="http://schemas.openxmlformats.org/drawingml/2006/main">
              <a:ext uri="{FF2B5EF4-FFF2-40B4-BE49-F238E27FC236}">
                <a16:creationId xmlns:a16="http://schemas.microsoft.com/office/drawing/2014/main" id="{140F1281-E41E-4775-8934-1116486F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467350"/>
            <a:ext cx="1219200" cy="1571625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2B3B6"/>
            </a:solidFill>
            <a:prstDash val="solid"/>
          </a:ln>
        </p:spPr>
      </p:sp>
      <p:sp>
        <p:nvSpPr>
          <p:cNvPr id="125" name="d04-refresh-top">
            <a:extLst xmlns:a="http://schemas.openxmlformats.org/drawingml/2006/main">
              <a:ext uri="{FF2B5EF4-FFF2-40B4-BE49-F238E27FC236}">
                <a16:creationId xmlns:a16="http://schemas.microsoft.com/office/drawing/2014/main" id="{F5744E2E-D333-45E3-84AA-2EE3296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734050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26" name="d04-refresh-top-diag">
            <a:extLst xmlns:a="http://schemas.openxmlformats.org/drawingml/2006/main">
              <a:ext uri="{FF2B5EF4-FFF2-40B4-BE49-F238E27FC236}">
                <a16:creationId xmlns:a16="http://schemas.microsoft.com/office/drawing/2014/main" id="{C8D290F1-BB8F-43D0-BD2A-488391DD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734050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27" name="d04-refresh-right">
            <a:extLst xmlns:a="http://schemas.openxmlformats.org/drawingml/2006/main">
              <a:ext uri="{FF2B5EF4-FFF2-40B4-BE49-F238E27FC236}">
                <a16:creationId xmlns:a16="http://schemas.microsoft.com/office/drawing/2014/main" id="{2453FF42-EECD-4E7D-BA7D-47A54E74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829300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28" name="d04-refresh-top-head">
            <a:extLst xmlns:a="http://schemas.openxmlformats.org/drawingml/2006/main">
              <a:ext uri="{FF2B5EF4-FFF2-40B4-BE49-F238E27FC236}">
                <a16:creationId xmlns:a16="http://schemas.microsoft.com/office/drawing/2014/main" id="{60730800-7BA4-41A1-8624-146F76CD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895975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0"/>
                </a:moveTo>
                <a:lnTo>
                  <a:pt x="66675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04-refresh-bottom">
            <a:extLst xmlns:a="http://schemas.openxmlformats.org/drawingml/2006/main">
              <a:ext uri="{FF2B5EF4-FFF2-40B4-BE49-F238E27FC236}">
                <a16:creationId xmlns:a16="http://schemas.microsoft.com/office/drawing/2014/main" id="{5F06351F-7A63-4F5F-9150-31FE6EB4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000750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30" name="d04-refresh-bottom-diag">
            <a:extLst xmlns:a="http://schemas.openxmlformats.org/drawingml/2006/main">
              <a:ext uri="{FF2B5EF4-FFF2-40B4-BE49-F238E27FC236}">
                <a16:creationId xmlns:a16="http://schemas.microsoft.com/office/drawing/2014/main" id="{A81016C3-FE43-4A2F-AD80-2A0F1713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05500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31" name="d04-refresh-left">
            <a:extLst xmlns:a="http://schemas.openxmlformats.org/drawingml/2006/main">
              <a:ext uri="{FF2B5EF4-FFF2-40B4-BE49-F238E27FC236}">
                <a16:creationId xmlns:a16="http://schemas.microsoft.com/office/drawing/2014/main" id="{43DF22FA-2E35-4C48-86BD-B5B4BCB4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10250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32" name="d04-refresh-bottom-head">
            <a:extLst xmlns:a="http://schemas.openxmlformats.org/drawingml/2006/main">
              <a:ext uri="{FF2B5EF4-FFF2-40B4-BE49-F238E27FC236}">
                <a16:creationId xmlns:a16="http://schemas.microsoft.com/office/drawing/2014/main" id="{545524C8-5749-448E-AF0E-2D2B23A1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72150"/>
            <a:ext cx="66675" cy="66675"/>
          </a:xfrm>
          <a:custGeom xmlns:a="http://schemas.openxmlformats.org/drawingml/2006/main">
            <a:pathLst>
              <a:path w="66675" h="66675">
                <a:moveTo>
                  <a:pt x="66675" y="66675"/>
                </a:moveTo>
                <a:lnTo>
                  <a:pt x="0" y="0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04-impact-title">
            <a:extLst xmlns:a="http://schemas.openxmlformats.org/drawingml/2006/main">
              <a:ext uri="{FF2B5EF4-FFF2-40B4-BE49-F238E27FC236}">
                <a16:creationId xmlns:a16="http://schemas.microsoft.com/office/drawing/2014/main" id="{BF77BCF8-BCD5-4AA3-A9F8-9CB2F83C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286500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再現性の</a:t>
            </a:r>
          </a:p>
          <a:p xmlns:a="http://schemas.openxmlformats.org/drawingml/2006/main">
            <a:pPr algn="ctr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不足</a:t>
            </a:r>
          </a:p>
        </p:txBody>
      </p:sp>
      <p:sp>
        <p:nvSpPr>
          <p:cNvPr id="134" name="d04-priority-card">
            <a:extLst xmlns:a="http://schemas.openxmlformats.org/drawingml/2006/main">
              <a:ext uri="{FF2B5EF4-FFF2-40B4-BE49-F238E27FC236}">
                <a16:creationId xmlns:a16="http://schemas.microsoft.com/office/drawing/2014/main" id="{FE60CB49-E456-4EEE-8EBC-DACEBB4E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600325"/>
            <a:ext cx="45148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135" name="d04-priority-pill">
            <a:extLst xmlns:a="http://schemas.openxmlformats.org/drawingml/2006/main">
              <a:ext uri="{FF2B5EF4-FFF2-40B4-BE49-F238E27FC236}">
                <a16:creationId xmlns:a16="http://schemas.microsoft.com/office/drawing/2014/main" id="{9938112B-B653-4CB1-B62A-CE2543FB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695575"/>
            <a:ext cx="990600" cy="390525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04-priority-pill-text">
            <a:extLst xmlns:a="http://schemas.openxmlformats.org/drawingml/2006/main">
              <a:ext uri="{FF2B5EF4-FFF2-40B4-BE49-F238E27FC236}">
                <a16:creationId xmlns:a16="http://schemas.microsoft.com/office/drawing/2014/main" id="{DBD25B13-CFD6-4509-BE9F-B32523E2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908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優先度 A</a:t>
            </a:r>
          </a:p>
        </p:txBody>
      </p:sp>
      <p:sp>
        <p:nvSpPr>
          <p:cNvPr id="137" name="d04-priority-title">
            <a:extLst xmlns:a="http://schemas.openxmlformats.org/drawingml/2006/main">
              <a:ext uri="{FF2B5EF4-FFF2-40B4-BE49-F238E27FC236}">
                <a16:creationId xmlns:a16="http://schemas.microsoft.com/office/drawing/2014/main" id="{91F49503-859B-45A5-8217-C19FABEF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686050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情報集約基盤の整備</a:t>
            </a:r>
          </a:p>
        </p:txBody>
      </p:sp>
      <p:sp>
        <p:nvSpPr>
          <p:cNvPr id="138" name="d04-priority-body">
            <a:extLst xmlns:a="http://schemas.openxmlformats.org/drawingml/2006/main">
              <a:ext uri="{FF2B5EF4-FFF2-40B4-BE49-F238E27FC236}">
                <a16:creationId xmlns:a16="http://schemas.microsoft.com/office/drawing/2014/main" id="{E035BE92-3759-4126-B082-83CB26CA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943225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顧客情報・提案資料を一元管理し、検索性を向上。</a:t>
            </a:r>
          </a:p>
        </p:txBody>
      </p:sp>
      <p:sp>
        <p:nvSpPr>
          <p:cNvPr id="139" name="d04-priority-card">
            <a:extLst xmlns:a="http://schemas.openxmlformats.org/drawingml/2006/main">
              <a:ext uri="{FF2B5EF4-FFF2-40B4-BE49-F238E27FC236}">
                <a16:creationId xmlns:a16="http://schemas.microsoft.com/office/drawing/2014/main" id="{6F321A20-4A09-4ED7-9839-807D4F13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14700"/>
            <a:ext cx="45148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140" name="d04-priority-pill">
            <a:extLst xmlns:a="http://schemas.openxmlformats.org/drawingml/2006/main">
              <a:ext uri="{FF2B5EF4-FFF2-40B4-BE49-F238E27FC236}">
                <a16:creationId xmlns:a16="http://schemas.microsoft.com/office/drawing/2014/main" id="{22E96CDE-F034-4808-9AD5-5B6E047A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409950"/>
            <a:ext cx="990600" cy="390525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04-priority-pill-text">
            <a:extLst xmlns:a="http://schemas.openxmlformats.org/drawingml/2006/main">
              <a:ext uri="{FF2B5EF4-FFF2-40B4-BE49-F238E27FC236}">
                <a16:creationId xmlns:a16="http://schemas.microsoft.com/office/drawing/2014/main" id="{5ED760FC-9B02-45E7-8B82-0FBC9750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052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優先度 A</a:t>
            </a:r>
          </a:p>
        </p:txBody>
      </p:sp>
      <p:sp>
        <p:nvSpPr>
          <p:cNvPr id="142" name="d04-priority-title">
            <a:extLst xmlns:a="http://schemas.openxmlformats.org/drawingml/2006/main">
              <a:ext uri="{FF2B5EF4-FFF2-40B4-BE49-F238E27FC236}">
                <a16:creationId xmlns:a16="http://schemas.microsoft.com/office/drawing/2014/main" id="{57E9A071-CE15-4215-8FBC-03078E7A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400425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提案テンプレート標準化</a:t>
            </a:r>
          </a:p>
        </p:txBody>
      </p:sp>
      <p:sp>
        <p:nvSpPr>
          <p:cNvPr id="143" name="d04-priority-body">
            <a:extLst xmlns:a="http://schemas.openxmlformats.org/drawingml/2006/main">
              <a:ext uri="{FF2B5EF4-FFF2-40B4-BE49-F238E27FC236}">
                <a16:creationId xmlns:a16="http://schemas.microsoft.com/office/drawing/2014/main" id="{70779DBE-C1E7-480C-8D5A-DE8BF9ED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65760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構成・表現・見積フォーマットを標準化。</a:t>
            </a:r>
          </a:p>
        </p:txBody>
      </p:sp>
      <p:sp>
        <p:nvSpPr>
          <p:cNvPr id="144" name="d04-priority-card">
            <a:extLst xmlns:a="http://schemas.openxmlformats.org/drawingml/2006/main">
              <a:ext uri="{FF2B5EF4-FFF2-40B4-BE49-F238E27FC236}">
                <a16:creationId xmlns:a16="http://schemas.microsoft.com/office/drawing/2014/main" id="{029598F5-9508-49C8-BFED-BD25BEAA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029075"/>
            <a:ext cx="45148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145" name="d04-priority-pill">
            <a:extLst xmlns:a="http://schemas.openxmlformats.org/drawingml/2006/main">
              <a:ext uri="{FF2B5EF4-FFF2-40B4-BE49-F238E27FC236}">
                <a16:creationId xmlns:a16="http://schemas.microsoft.com/office/drawing/2014/main" id="{06515B1F-B154-4051-818F-2E76BF8C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24325"/>
            <a:ext cx="990600" cy="390525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6C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04-priority-pill-text">
            <a:extLst xmlns:a="http://schemas.openxmlformats.org/drawingml/2006/main">
              <a:ext uri="{FF2B5EF4-FFF2-40B4-BE49-F238E27FC236}">
                <a16:creationId xmlns:a16="http://schemas.microsoft.com/office/drawing/2014/main" id="{5EDC3EB1-33A8-4A91-A6D8-8DE86D90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2195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優先度 B</a:t>
            </a:r>
          </a:p>
        </p:txBody>
      </p:sp>
      <p:sp>
        <p:nvSpPr>
          <p:cNvPr id="147" name="d04-priority-title">
            <a:extLst xmlns:a="http://schemas.openxmlformats.org/drawingml/2006/main">
              <a:ext uri="{FF2B5EF4-FFF2-40B4-BE49-F238E27FC236}">
                <a16:creationId xmlns:a16="http://schemas.microsoft.com/office/drawing/2014/main" id="{1C2EE40A-FDAD-48F1-8CF1-913FF2D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114800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ナレッジ検索・再利用強化</a:t>
            </a:r>
          </a:p>
        </p:txBody>
      </p:sp>
      <p:sp>
        <p:nvSpPr>
          <p:cNvPr id="148" name="d04-priority-body">
            <a:extLst xmlns:a="http://schemas.openxmlformats.org/drawingml/2006/main">
              <a:ext uri="{FF2B5EF4-FFF2-40B4-BE49-F238E27FC236}">
                <a16:creationId xmlns:a16="http://schemas.microsoft.com/office/drawing/2014/main" id="{0F450048-DACF-476A-A04F-6893F99C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371975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過去事例の検索性を高め、再利用を促進。</a:t>
            </a:r>
          </a:p>
        </p:txBody>
      </p:sp>
      <p:sp>
        <p:nvSpPr>
          <p:cNvPr id="149" name="d04-priority-card">
            <a:extLst xmlns:a="http://schemas.openxmlformats.org/drawingml/2006/main">
              <a:ext uri="{FF2B5EF4-FFF2-40B4-BE49-F238E27FC236}">
                <a16:creationId xmlns:a16="http://schemas.microsoft.com/office/drawing/2014/main" id="{7E0ABB05-F0B7-47B6-922C-27F08A73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743450"/>
            <a:ext cx="45148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150" name="d04-priority-pill">
            <a:extLst xmlns:a="http://schemas.openxmlformats.org/drawingml/2006/main">
              <a:ext uri="{FF2B5EF4-FFF2-40B4-BE49-F238E27FC236}">
                <a16:creationId xmlns:a16="http://schemas.microsoft.com/office/drawing/2014/main" id="{5B5543E5-91DC-4FB8-8BA0-3F57B36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838700"/>
            <a:ext cx="990600" cy="390525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6C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04-priority-pill-text">
            <a:extLst xmlns:a="http://schemas.openxmlformats.org/drawingml/2006/main">
              <a:ext uri="{FF2B5EF4-FFF2-40B4-BE49-F238E27FC236}">
                <a16:creationId xmlns:a16="http://schemas.microsoft.com/office/drawing/2014/main" id="{46ADFD20-B4DF-45CC-9316-74036EF6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339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優先度 B</a:t>
            </a:r>
          </a:p>
        </p:txBody>
      </p:sp>
      <p:sp>
        <p:nvSpPr>
          <p:cNvPr id="152" name="d04-priority-title">
            <a:extLst xmlns:a="http://schemas.openxmlformats.org/drawingml/2006/main">
              <a:ext uri="{FF2B5EF4-FFF2-40B4-BE49-F238E27FC236}">
                <a16:creationId xmlns:a16="http://schemas.microsoft.com/office/drawing/2014/main" id="{A59D9ABE-BC78-48CB-BF0C-DB6F0451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829175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レビュー観点の共通化</a:t>
            </a:r>
          </a:p>
        </p:txBody>
      </p:sp>
      <p:sp>
        <p:nvSpPr>
          <p:cNvPr id="153" name="d04-priority-body">
            <a:extLst xmlns:a="http://schemas.openxmlformats.org/drawingml/2006/main">
              <a:ext uri="{FF2B5EF4-FFF2-40B4-BE49-F238E27FC236}">
                <a16:creationId xmlns:a16="http://schemas.microsoft.com/office/drawing/2014/main" id="{5AB78CA3-825E-4335-8B90-D6030747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0863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品質チェックの観点を標準化し、属人化を抑制。</a:t>
            </a:r>
          </a:p>
        </p:txBody>
      </p:sp>
      <p:sp>
        <p:nvSpPr>
          <p:cNvPr id="154" name="d04-improvement-panel">
            <a:extLst xmlns:a="http://schemas.openxmlformats.org/drawingml/2006/main">
              <a:ext uri="{FF2B5EF4-FFF2-40B4-BE49-F238E27FC236}">
                <a16:creationId xmlns:a16="http://schemas.microsoft.com/office/drawing/2014/main" id="{6F5CC610-5944-4BD5-8BDD-53F49343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524500"/>
            <a:ext cx="4514850" cy="1781175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155" name="d04-improve-rule">
            <a:extLst xmlns:a="http://schemas.openxmlformats.org/drawingml/2006/main">
              <a:ext uri="{FF2B5EF4-FFF2-40B4-BE49-F238E27FC236}">
                <a16:creationId xmlns:a16="http://schemas.microsoft.com/office/drawing/2014/main" id="{160B950E-149D-41E9-B48C-2E48E5D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705475"/>
            <a:ext cx="438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56" name="d04-improve-heading">
            <a:extLst xmlns:a="http://schemas.openxmlformats.org/drawingml/2006/main">
              <a:ext uri="{FF2B5EF4-FFF2-40B4-BE49-F238E27FC236}">
                <a16:creationId xmlns:a16="http://schemas.microsoft.com/office/drawing/2014/main" id="{81A57593-2F58-43E5-BCD3-282F9E51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5600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期待される改善</a:t>
            </a:r>
          </a:p>
        </p:txBody>
      </p:sp>
      <p:sp>
        <p:nvSpPr>
          <p:cNvPr id="157" name="d04-improve-check-ring">
            <a:extLst xmlns:a="http://schemas.openxmlformats.org/drawingml/2006/main">
              <a:ext uri="{FF2B5EF4-FFF2-40B4-BE49-F238E27FC236}">
                <a16:creationId xmlns:a16="http://schemas.microsoft.com/office/drawing/2014/main" id="{396381AD-C1C0-4E6B-A71C-8002A234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010275"/>
            <a:ext cx="219075" cy="219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58" name="d04-improve-check">
            <a:extLst xmlns:a="http://schemas.openxmlformats.org/drawingml/2006/main">
              <a:ext uri="{FF2B5EF4-FFF2-40B4-BE49-F238E27FC236}">
                <a16:creationId xmlns:a16="http://schemas.microsoft.com/office/drawing/2014/main" id="{E30E449C-A1D5-47EE-A994-A9BF9C3E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67425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47625"/>
                </a:moveTo>
                <a:lnTo>
                  <a:pt x="38100" y="95250"/>
                </a:lnTo>
                <a:lnTo>
                  <a:pt x="123825" y="0"/>
                </a:lnTo>
                <a:lnTo>
                  <a:pt x="152400" y="28575"/>
                </a:lnTo>
                <a:lnTo>
                  <a:pt x="38100" y="1428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04-improve-text">
            <a:extLst xmlns:a="http://schemas.openxmlformats.org/drawingml/2006/main">
              <a:ext uri="{FF2B5EF4-FFF2-40B4-BE49-F238E27FC236}">
                <a16:creationId xmlns:a16="http://schemas.microsoft.com/office/drawing/2014/main" id="{D0D95631-99B4-478A-AA07-9AE3107C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9912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作成時間の短縮</a:t>
            </a:r>
          </a:p>
        </p:txBody>
      </p:sp>
      <p:sp>
        <p:nvSpPr>
          <p:cNvPr id="160" name="d04-improve-check-ring">
            <a:extLst xmlns:a="http://schemas.openxmlformats.org/drawingml/2006/main">
              <a:ext uri="{FF2B5EF4-FFF2-40B4-BE49-F238E27FC236}">
                <a16:creationId xmlns:a16="http://schemas.microsoft.com/office/drawing/2014/main" id="{E96B7075-51F8-4567-B6AB-6CC04450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219075" cy="219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1" name="d04-improve-check">
            <a:extLst xmlns:a="http://schemas.openxmlformats.org/drawingml/2006/main">
              <a:ext uri="{FF2B5EF4-FFF2-40B4-BE49-F238E27FC236}">
                <a16:creationId xmlns:a16="http://schemas.microsoft.com/office/drawing/2014/main" id="{BC1B4100-1E05-4905-A690-7861BB3F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47625"/>
                </a:moveTo>
                <a:lnTo>
                  <a:pt x="38100" y="95250"/>
                </a:lnTo>
                <a:lnTo>
                  <a:pt x="123825" y="0"/>
                </a:lnTo>
                <a:lnTo>
                  <a:pt x="152400" y="28575"/>
                </a:lnTo>
                <a:lnTo>
                  <a:pt x="38100" y="1428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04-improve-text">
            <a:extLst xmlns:a="http://schemas.openxmlformats.org/drawingml/2006/main">
              <a:ext uri="{FF2B5EF4-FFF2-40B4-BE49-F238E27FC236}">
                <a16:creationId xmlns:a16="http://schemas.microsoft.com/office/drawing/2014/main" id="{438AC449-C7AD-4980-A7BB-9CC87E7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提案品質の安定化</a:t>
            </a:r>
          </a:p>
        </p:txBody>
      </p:sp>
      <p:sp>
        <p:nvSpPr>
          <p:cNvPr id="163" name="d04-improve-check-ring">
            <a:extLst xmlns:a="http://schemas.openxmlformats.org/drawingml/2006/main">
              <a:ext uri="{FF2B5EF4-FFF2-40B4-BE49-F238E27FC236}">
                <a16:creationId xmlns:a16="http://schemas.microsoft.com/office/drawing/2014/main" id="{B3BF858E-DEBD-4148-BAB5-30AE33BC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00825"/>
            <a:ext cx="219075" cy="219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4" name="d04-improve-check">
            <a:extLst xmlns:a="http://schemas.openxmlformats.org/drawingml/2006/main">
              <a:ext uri="{FF2B5EF4-FFF2-40B4-BE49-F238E27FC236}">
                <a16:creationId xmlns:a16="http://schemas.microsoft.com/office/drawing/2014/main" id="{0D6D2BE7-4C54-4B0C-AACC-4973482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657975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47625"/>
                </a:moveTo>
                <a:lnTo>
                  <a:pt x="38100" y="95250"/>
                </a:lnTo>
                <a:lnTo>
                  <a:pt x="123825" y="0"/>
                </a:lnTo>
                <a:lnTo>
                  <a:pt x="152400" y="28575"/>
                </a:lnTo>
                <a:lnTo>
                  <a:pt x="38100" y="1428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04-improve-text">
            <a:extLst xmlns:a="http://schemas.openxmlformats.org/drawingml/2006/main">
              <a:ext uri="{FF2B5EF4-FFF2-40B4-BE49-F238E27FC236}">
                <a16:creationId xmlns:a16="http://schemas.microsoft.com/office/drawing/2014/main" id="{72F7C7A1-013F-45A4-AF25-4BE8A989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8177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案件対応数の拡大</a:t>
            </a:r>
          </a:p>
        </p:txBody>
      </p:sp>
      <p:sp>
        <p:nvSpPr>
          <p:cNvPr id="166" name="d04-improve-check-ring">
            <a:extLst xmlns:a="http://schemas.openxmlformats.org/drawingml/2006/main">
              <a:ext uri="{FF2B5EF4-FFF2-40B4-BE49-F238E27FC236}">
                <a16:creationId xmlns:a16="http://schemas.microsoft.com/office/drawing/2014/main" id="{0C260D66-1E6A-4604-A528-16C89EDA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896100"/>
            <a:ext cx="219075" cy="219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67" name="d04-improve-check">
            <a:extLst xmlns:a="http://schemas.openxmlformats.org/drawingml/2006/main">
              <a:ext uri="{FF2B5EF4-FFF2-40B4-BE49-F238E27FC236}">
                <a16:creationId xmlns:a16="http://schemas.microsoft.com/office/drawing/2014/main" id="{6A51E652-139B-4960-A4CF-0DA37E07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953250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47625"/>
                </a:moveTo>
                <a:lnTo>
                  <a:pt x="38100" y="95250"/>
                </a:lnTo>
                <a:lnTo>
                  <a:pt x="123825" y="0"/>
                </a:lnTo>
                <a:lnTo>
                  <a:pt x="152400" y="28575"/>
                </a:lnTo>
                <a:lnTo>
                  <a:pt x="38100" y="1428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04-improve-text">
            <a:extLst xmlns:a="http://schemas.openxmlformats.org/drawingml/2006/main">
              <a:ext uri="{FF2B5EF4-FFF2-40B4-BE49-F238E27FC236}">
                <a16:creationId xmlns:a16="http://schemas.microsoft.com/office/drawing/2014/main" id="{1A38619B-3253-4865-B6B4-52A6C49E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87705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継続的な改善サイクルの確立</a:t>
            </a:r>
          </a:p>
        </p:txBody>
      </p:sp>
      <p:sp>
        <p:nvSpPr>
          <p:cNvPr id="169" name="d04-bottom-band">
            <a:extLst xmlns:a="http://schemas.openxmlformats.org/drawingml/2006/main">
              <a:ext uri="{FF2B5EF4-FFF2-40B4-BE49-F238E27FC236}">
                <a16:creationId xmlns:a16="http://schemas.microsoft.com/office/drawing/2014/main" id="{0923E343-1293-4E64-A019-F6D8D83B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467600"/>
            <a:ext cx="150114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04-recommendation-red">
            <a:extLst xmlns:a="http://schemas.openxmlformats.org/drawingml/2006/main">
              <a:ext uri="{FF2B5EF4-FFF2-40B4-BE49-F238E27FC236}">
                <a16:creationId xmlns:a16="http://schemas.microsoft.com/office/drawing/2014/main" id="{BB0D3817-D547-495A-A6A0-9AAC2A2B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86650"/>
            <a:ext cx="3943350" cy="552450"/>
          </a:xfrm>
          <a:custGeom xmlns:a="http://schemas.openxmlformats.org/drawingml/2006/main">
            <a:pathLst>
              <a:path w="3943350" h="552450">
                <a:moveTo>
                  <a:pt x="0" y="0"/>
                </a:moveTo>
                <a:lnTo>
                  <a:pt x="3781425" y="0"/>
                </a:lnTo>
                <a:lnTo>
                  <a:pt x="3943350" y="276225"/>
                </a:lnTo>
                <a:lnTo>
                  <a:pt x="3781425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04-recommendation-flag-pole">
            <a:extLst xmlns:a="http://schemas.openxmlformats.org/drawingml/2006/main">
              <a:ext uri="{FF2B5EF4-FFF2-40B4-BE49-F238E27FC236}">
                <a16:creationId xmlns:a16="http://schemas.microsoft.com/office/drawing/2014/main" id="{3CD161D6-283B-482D-B2EB-262A5CED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620000"/>
            <a:ext cx="9525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2" name="d04-recommendation-flag">
            <a:extLst xmlns:a="http://schemas.openxmlformats.org/drawingml/2006/main">
              <a:ext uri="{FF2B5EF4-FFF2-40B4-BE49-F238E27FC236}">
                <a16:creationId xmlns:a16="http://schemas.microsoft.com/office/drawing/2014/main" id="{517B4E40-F8BE-4E7C-90FC-4B2009A2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629525"/>
            <a:ext cx="266700" cy="142875"/>
          </a:xfrm>
          <a:custGeom xmlns:a="http://schemas.openxmlformats.org/drawingml/2006/main">
            <a:pathLst>
              <a:path w="266700" h="142875">
                <a:moveTo>
                  <a:pt x="0" y="0"/>
                </a:moveTo>
                <a:lnTo>
                  <a:pt x="266700" y="66675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04-recommendation-label">
            <a:extLst xmlns:a="http://schemas.openxmlformats.org/drawingml/2006/main">
              <a:ext uri="{FF2B5EF4-FFF2-40B4-BE49-F238E27FC236}">
                <a16:creationId xmlns:a16="http://schemas.microsoft.com/office/drawing/2014/main" id="{5F1294E0-9332-4EFE-AD63-19A7E1B4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648575"/>
            <a:ext cx="3190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本提案で重点的に解決する領域</a:t>
            </a:r>
          </a:p>
        </p:txBody>
      </p:sp>
      <p:sp>
        <p:nvSpPr>
          <p:cNvPr id="174" name="d04-recommendation-text-red">
            <a:extLst xmlns:a="http://schemas.openxmlformats.org/drawingml/2006/main">
              <a:ext uri="{FF2B5EF4-FFF2-40B4-BE49-F238E27FC236}">
                <a16:creationId xmlns:a16="http://schemas.microsoft.com/office/drawing/2014/main" id="{CD715A57-32B3-4807-9B08-AAFF2873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648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情報集約・標準化・再利用の3点を起点に、</a:t>
            </a:r>
          </a:p>
        </p:txBody>
      </p:sp>
      <p:sp>
        <p:nvSpPr>
          <p:cNvPr id="175" name="d04-recommendation-text-black">
            <a:extLst xmlns:a="http://schemas.openxmlformats.org/drawingml/2006/main">
              <a:ext uri="{FF2B5EF4-FFF2-40B4-BE49-F238E27FC236}">
                <a16:creationId xmlns:a16="http://schemas.microsoft.com/office/drawing/2014/main" id="{A408FB45-E227-4833-B8AA-C2A83A05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48575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提案活動全体の生産性を底上げします。</a:t>
            </a:r>
          </a:p>
        </p:txBody>
      </p:sp>
      <p:sp>
        <p:nvSpPr>
          <p:cNvPr id="176" name="d04-footer-logo-red-top">
            <a:extLst xmlns:a="http://schemas.openxmlformats.org/drawingml/2006/main">
              <a:ext uri="{FF2B5EF4-FFF2-40B4-BE49-F238E27FC236}">
                <a16:creationId xmlns:a16="http://schemas.microsoft.com/office/drawing/2014/main" id="{6B331FDC-1E66-45CE-AAEE-685610E0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77225"/>
            <a:ext cx="266700" cy="142875"/>
          </a:xfrm>
          <a:custGeom xmlns:a="http://schemas.openxmlformats.org/drawingml/2006/main">
            <a:pathLst>
              <a:path w="266700" h="142875">
                <a:moveTo>
                  <a:pt x="0" y="66675"/>
                </a:moveTo>
                <a:lnTo>
                  <a:pt x="123825" y="0"/>
                </a:lnTo>
                <a:lnTo>
                  <a:pt x="266700" y="66675"/>
                </a:lnTo>
                <a:lnTo>
                  <a:pt x="133350" y="1428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04-footer-logo-red-front">
            <a:extLst xmlns:a="http://schemas.openxmlformats.org/drawingml/2006/main">
              <a:ext uri="{FF2B5EF4-FFF2-40B4-BE49-F238E27FC236}">
                <a16:creationId xmlns:a16="http://schemas.microsoft.com/office/drawing/2014/main" id="{4F90AB38-84FB-4A35-BD02-0D64CEA1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43900"/>
            <a:ext cx="133350" cy="228600"/>
          </a:xfrm>
          <a:custGeom xmlns:a="http://schemas.openxmlformats.org/drawingml/2006/main">
            <a:pathLst>
              <a:path w="133350" h="228600">
                <a:moveTo>
                  <a:pt x="0" y="0"/>
                </a:moveTo>
                <a:lnTo>
                  <a:pt x="133350" y="76200"/>
                </a:lnTo>
                <a:lnTo>
                  <a:pt x="133350" y="2286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04-footer-logo-black-side">
            <a:extLst xmlns:a="http://schemas.openxmlformats.org/drawingml/2006/main">
              <a:ext uri="{FF2B5EF4-FFF2-40B4-BE49-F238E27FC236}">
                <a16:creationId xmlns:a16="http://schemas.microsoft.com/office/drawing/2014/main" id="{08BD30C0-7326-4BFD-AE59-D1CEA264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343900"/>
            <a:ext cx="133350" cy="228600"/>
          </a:xfrm>
          <a:custGeom xmlns:a="http://schemas.openxmlformats.org/drawingml/2006/main">
            <a:pathLst>
              <a:path w="133350" h="228600">
                <a:moveTo>
                  <a:pt x="0" y="76200"/>
                </a:moveTo>
                <a:lnTo>
                  <a:pt x="133350" y="0"/>
                </a:lnTo>
                <a:lnTo>
                  <a:pt x="133350" y="1524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1B22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04-footer-brand">
            <a:extLst xmlns:a="http://schemas.openxmlformats.org/drawingml/2006/main">
              <a:ext uri="{FF2B5EF4-FFF2-40B4-BE49-F238E27FC236}">
                <a16:creationId xmlns:a16="http://schemas.microsoft.com/office/drawing/2014/main" id="{8947770F-C5D6-44C8-A947-5D9AC605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343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2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222A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180" name="d04-footer-divider">
            <a:extLst xmlns:a="http://schemas.openxmlformats.org/drawingml/2006/main">
              <a:ext uri="{FF2B5EF4-FFF2-40B4-BE49-F238E27FC236}">
                <a16:creationId xmlns:a16="http://schemas.microsoft.com/office/drawing/2014/main" id="{6DFF9F37-36E7-4A13-8D3F-45B9C15C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267700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9DE"/>
            </a:solidFill>
            <a:prstDash val="solid"/>
          </a:ln>
        </p:spPr>
      </p:sp>
      <p:sp>
        <p:nvSpPr>
          <p:cNvPr id="181" name="d04-footer-tagline-jp">
            <a:extLst xmlns:a="http://schemas.openxmlformats.org/drawingml/2006/main">
              <a:ext uri="{FF2B5EF4-FFF2-40B4-BE49-F238E27FC236}">
                <a16:creationId xmlns:a16="http://schemas.microsoft.com/office/drawing/2014/main" id="{716C14C5-8C7C-465F-83F4-02EA0DE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2581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182" name="d04-footer-tagline-en">
            <a:extLst xmlns:a="http://schemas.openxmlformats.org/drawingml/2006/main">
              <a:ext uri="{FF2B5EF4-FFF2-40B4-BE49-F238E27FC236}">
                <a16:creationId xmlns:a16="http://schemas.microsoft.com/office/drawing/2014/main" id="{9E08C01E-8443-47E5-A343-1D02DCAD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4772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7E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83" name="d04-footer-date">
            <a:extLst xmlns:a="http://schemas.openxmlformats.org/drawingml/2006/main">
              <a:ext uri="{FF2B5EF4-FFF2-40B4-BE49-F238E27FC236}">
                <a16:creationId xmlns:a16="http://schemas.microsoft.com/office/drawing/2014/main" id="{A98C3EFC-1239-492E-A80E-FF00C707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334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84" name="d04-footer-date-rule">
            <a:extLst xmlns:a="http://schemas.openxmlformats.org/drawingml/2006/main">
              <a:ext uri="{FF2B5EF4-FFF2-40B4-BE49-F238E27FC236}">
                <a16:creationId xmlns:a16="http://schemas.microsoft.com/office/drawing/2014/main" id="{BD12ACFD-D217-48B3-9CE6-EAAA4871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41057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042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2026-09-20T08:38:37.2400000Z</dcterms:created>
  <dcterms:modified xsi:type="dcterms:W3CDTF">2026-09-20T08:38:37.2400000Z</dcterms:modified>
</coreProperties>
</file>