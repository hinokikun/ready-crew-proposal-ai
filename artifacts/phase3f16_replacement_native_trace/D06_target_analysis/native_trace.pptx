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48090632d6427a" /><Relationship Type="http://schemas.openxmlformats.org/officeDocument/2006/relationships/extended-properties" Target="/docProps/app.xml" Id="R8213ed21ef2644e7" /><Relationship Type="http://schemas.openxmlformats.org/officeDocument/2006/relationships/officeDocument" Target="/ppt/presentation.xml" Id="R4485bca9ed134a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f47b9a4aeb4966"/>
  </p:sldMasterIdLst>
  <p:notesMasterIdLst>
    <p:notesMasterId xmlns:r="http://schemas.openxmlformats.org/officeDocument/2006/relationships" r:id="Rd4893cb1728246f2"/>
  </p:notesMasterIdLst>
  <p:sldIdLst>
    <p:sldId xmlns:r="http://schemas.openxmlformats.org/officeDocument/2006/relationships" id="256" r:id="Rbb3d9a97947d4da3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1e0a17c0184965" /><Relationship Type="http://schemas.openxmlformats.org/officeDocument/2006/relationships/slideMaster" Target="/ppt/slideMasters/slideMaster1.xml" Id="R38f47b9a4aeb4966" /><Relationship Type="http://schemas.openxmlformats.org/officeDocument/2006/relationships/notesMaster" Target="/ppt/notesMasters/notesMaster1.xml" Id="Rd4893cb1728246f2" /><Relationship Type="http://schemas.openxmlformats.org/officeDocument/2006/relationships/presProps" Target="/ppt/presProps.xml" Id="R02f03691420441cd" /><Relationship Type="http://schemas.openxmlformats.org/officeDocument/2006/relationships/tableStyles" Target="/ppt/tableStyles.xml" Id="Rc5be9ba2a15c4b47" /><Relationship Type="http://schemas.openxmlformats.org/officeDocument/2006/relationships/slide" Target="/ppt/slides/slide1.xml" Id="Rbb3d9a97947d4d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0a9fd1971e40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2eda62d8c04a4e" /><Relationship Type="http://schemas.openxmlformats.org/officeDocument/2006/relationships/notesMaster" Target="/ppt/notesMasters/notesMaster1.xml" Id="R6b226196a7534b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D06 target-analysis replacement native trace. Canonical image is the sole visual authority; all visible structure is editable native text and shapes. No full-slide raster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fba31184a47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d8dd76b56d4a05" /><Relationship Type="http://schemas.openxmlformats.org/officeDocument/2006/relationships/slideLayout" Target="/ppt/slideLayouts/slideLayout1.xml" Id="R81351b02405548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351b02405548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049b000f4463d" /><Relationship Type="http://schemas.openxmlformats.org/officeDocument/2006/relationships/notesSlide" Target="/ppt/notesSlides/notesSlide1.xml" Id="R47c7dde04fbe48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d06-top-red-diagonal">
            <a:extLst xmlns:a="http://schemas.openxmlformats.org/drawingml/2006/main">
              <a:ext uri="{FF2B5EF4-FFF2-40B4-BE49-F238E27FC236}">
                <a16:creationId xmlns:a16="http://schemas.microsoft.com/office/drawing/2014/main" id="{046700F4-1523-4F8F-B64E-74919AE1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0"/>
            <a:ext cx="2838450" cy="4410075"/>
          </a:xfrm>
          <a:custGeom xmlns:a="http://schemas.openxmlformats.org/drawingml/2006/main">
            <a:pathLst>
              <a:path w="2838450" h="4410075">
                <a:moveTo>
                  <a:pt x="1638300" y="0"/>
                </a:moveTo>
                <a:lnTo>
                  <a:pt x="2838450" y="0"/>
                </a:lnTo>
                <a:lnTo>
                  <a:pt x="1209675" y="4410075"/>
                </a:lnTo>
                <a:lnTo>
                  <a:pt x="0" y="44100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06-top-pale-diagonal">
            <a:extLst xmlns:a="http://schemas.openxmlformats.org/drawingml/2006/main">
              <a:ext uri="{FF2B5EF4-FFF2-40B4-BE49-F238E27FC236}">
                <a16:creationId xmlns:a16="http://schemas.microsoft.com/office/drawing/2014/main" id="{C0A5C6B3-0223-4D1F-A587-489E4971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0"/>
            <a:ext cx="2057400" cy="4410075"/>
          </a:xfrm>
          <a:custGeom xmlns:a="http://schemas.openxmlformats.org/drawingml/2006/main">
            <a:pathLst>
              <a:path w="2057400" h="4410075">
                <a:moveTo>
                  <a:pt x="1628775" y="0"/>
                </a:moveTo>
                <a:lnTo>
                  <a:pt x="2057400" y="0"/>
                </a:lnTo>
                <a:lnTo>
                  <a:pt x="419100" y="4410075"/>
                </a:lnTo>
                <a:lnTo>
                  <a:pt x="0" y="4410075"/>
                </a:lnTo>
                <a:close/>
              </a:path>
            </a:pathLst>
          </a:custGeom>
          <a:solidFill xmlns:a="http://schemas.openxmlformats.org/drawingml/2006/main">
            <a:srgbClr val="F6E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06-bottom-red-band">
            <a:extLst xmlns:a="http://schemas.openxmlformats.org/drawingml/2006/main">
              <a:ext uri="{FF2B5EF4-FFF2-40B4-BE49-F238E27FC236}">
                <a16:creationId xmlns:a16="http://schemas.microsoft.com/office/drawing/2014/main" id="{06CD1CD7-8E4A-43E1-A7C0-03720B1F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067550"/>
            <a:ext cx="3619500" cy="1895475"/>
          </a:xfrm>
          <a:custGeom xmlns:a="http://schemas.openxmlformats.org/drawingml/2006/main">
            <a:pathLst>
              <a:path w="3619500" h="1895475">
                <a:moveTo>
                  <a:pt x="0" y="1895475"/>
                </a:moveTo>
                <a:lnTo>
                  <a:pt x="3619500" y="0"/>
                </a:lnTo>
                <a:lnTo>
                  <a:pt x="3619500" y="18954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06-bottom-dark-band">
            <a:extLst xmlns:a="http://schemas.openxmlformats.org/drawingml/2006/main">
              <a:ext uri="{FF2B5EF4-FFF2-40B4-BE49-F238E27FC236}">
                <a16:creationId xmlns:a16="http://schemas.microsoft.com/office/drawing/2014/main" id="{7C15167F-A264-40BF-94E2-A46E3F8A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7762875"/>
            <a:ext cx="2638425" cy="1200150"/>
          </a:xfrm>
          <a:custGeom xmlns:a="http://schemas.openxmlformats.org/drawingml/2006/main">
            <a:pathLst>
              <a:path w="2638425" h="1200150">
                <a:moveTo>
                  <a:pt x="0" y="1200150"/>
                </a:moveTo>
                <a:lnTo>
                  <a:pt x="2638425" y="0"/>
                </a:lnTo>
                <a:lnTo>
                  <a:pt x="2638425" y="1200150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06-header-number">
            <a:extLst xmlns:a="http://schemas.openxmlformats.org/drawingml/2006/main">
              <a:ext uri="{FF2B5EF4-FFF2-40B4-BE49-F238E27FC236}">
                <a16:creationId xmlns:a16="http://schemas.microsoft.com/office/drawing/2014/main" id="{F845381C-3D9A-4542-89D5-BC903C97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D06</a:t>
            </a:r>
          </a:p>
        </p:txBody>
      </p:sp>
      <p:sp>
        <p:nvSpPr>
          <p:cNvPr id="6" name="d06-header-section">
            <a:extLst xmlns:a="http://schemas.openxmlformats.org/drawingml/2006/main">
              <a:ext uri="{FF2B5EF4-FFF2-40B4-BE49-F238E27FC236}">
                <a16:creationId xmlns:a16="http://schemas.microsoft.com/office/drawing/2014/main" id="{F1945721-417B-4906-817A-025AA564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5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ターゲット分析</a:t>
            </a:r>
          </a:p>
        </p:txBody>
      </p:sp>
      <p:sp>
        <p:nvSpPr>
          <p:cNvPr id="7" name="d06-header-brand">
            <a:extLst xmlns:a="http://schemas.openxmlformats.org/drawingml/2006/main">
              <a:ext uri="{FF2B5EF4-FFF2-40B4-BE49-F238E27FC236}">
                <a16:creationId xmlns:a16="http://schemas.microsoft.com/office/drawing/2014/main" id="{14619633-0D04-4566-8B1E-582AE32D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52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8" name="d06-header-tagline">
            <a:extLst xmlns:a="http://schemas.openxmlformats.org/drawingml/2006/main">
              <a:ext uri="{FF2B5EF4-FFF2-40B4-BE49-F238E27FC236}">
                <a16:creationId xmlns:a16="http://schemas.microsoft.com/office/drawing/2014/main" id="{A4AD33E8-1684-448F-AEF7-D3D6B6A0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381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9" name="d06-header-english">
            <a:extLst xmlns:a="http://schemas.openxmlformats.org/drawingml/2006/main">
              <a:ext uri="{FF2B5EF4-FFF2-40B4-BE49-F238E27FC236}">
                <a16:creationId xmlns:a16="http://schemas.microsoft.com/office/drawing/2014/main" id="{8E97E76C-4912-49E8-9924-F5C5DCAF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0957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defRPr sz="1200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10" name="d06-header-rule">
            <a:extLst xmlns:a="http://schemas.openxmlformats.org/drawingml/2006/main">
              <a:ext uri="{FF2B5EF4-FFF2-40B4-BE49-F238E27FC236}">
                <a16:creationId xmlns:a16="http://schemas.microsoft.com/office/drawing/2014/main" id="{A82CB626-8474-48E0-A8C5-4D6A5523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04875"/>
            <a:ext cx="1476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1E27"/>
            </a:solidFill>
            <a:prstDash val="solid"/>
          </a:ln>
        </p:spPr>
      </p:sp>
      <p:sp>
        <p:nvSpPr>
          <p:cNvPr id="11" name="d06-header-red-rule">
            <a:extLst xmlns:a="http://schemas.openxmlformats.org/drawingml/2006/main">
              <a:ext uri="{FF2B5EF4-FFF2-40B4-BE49-F238E27FC236}">
                <a16:creationId xmlns:a16="http://schemas.microsoft.com/office/drawing/2014/main" id="{5A8E9B4A-02E1-411E-AE33-81EEEB86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04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2" name="d06-title">
            <a:extLst xmlns:a="http://schemas.openxmlformats.org/drawingml/2006/main">
              <a:ext uri="{FF2B5EF4-FFF2-40B4-BE49-F238E27FC236}">
                <a16:creationId xmlns:a16="http://schemas.microsoft.com/office/drawing/2014/main" id="{30541C45-3783-4241-BEE6-B00E4CF0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981075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ターゲット市場と優先顧客像</a:t>
            </a:r>
          </a:p>
        </p:txBody>
      </p:sp>
      <p:sp>
        <p:nvSpPr>
          <p:cNvPr id="13" name="d06-lead">
            <a:extLst xmlns:a="http://schemas.openxmlformats.org/drawingml/2006/main">
              <a:ext uri="{FF2B5EF4-FFF2-40B4-BE49-F238E27FC236}">
                <a16:creationId xmlns:a16="http://schemas.microsoft.com/office/drawing/2014/main" id="{AF25681D-8393-44F1-A7AF-E28206A2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6002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導入効果が出やすい顧客セグメントと意思決定者を整理し、優先すべき対象を明確化します。</a:t>
            </a:r>
          </a:p>
        </p:txBody>
      </p:sp>
      <p:sp>
        <p:nvSpPr>
          <p:cNvPr id="14" name="d06-segment-rule">
            <a:extLst xmlns:a="http://schemas.openxmlformats.org/drawingml/2006/main">
              <a:ext uri="{FF2B5EF4-FFF2-40B4-BE49-F238E27FC236}">
                <a16:creationId xmlns:a16="http://schemas.microsoft.com/office/drawing/2014/main" id="{A6998FA1-5583-43BF-BE93-868D6C10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0"/>
            <a:ext cx="438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15" name="d06-segment-heading">
            <a:extLst xmlns:a="http://schemas.openxmlformats.org/drawingml/2006/main">
              <a:ext uri="{FF2B5EF4-FFF2-40B4-BE49-F238E27FC236}">
                <a16:creationId xmlns:a16="http://schemas.microsoft.com/office/drawing/2014/main" id="{C3C3FBAC-DF82-409D-9B28-3A6F860C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97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ターゲット市場のセグメント</a:t>
            </a:r>
          </a:p>
        </p:txBody>
      </p:sp>
      <p:sp>
        <p:nvSpPr>
          <p:cNvPr id="16" name="d06-segment-card-01">
            <a:extLst xmlns:a="http://schemas.openxmlformats.org/drawingml/2006/main">
              <a:ext uri="{FF2B5EF4-FFF2-40B4-BE49-F238E27FC236}">
                <a16:creationId xmlns:a16="http://schemas.microsoft.com/office/drawing/2014/main" id="{4AE8D106-2866-4BEA-96FE-7E0D5421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17" name="d06-segment-num-bg-01">
            <a:extLst xmlns:a="http://schemas.openxmlformats.org/drawingml/2006/main">
              <a:ext uri="{FF2B5EF4-FFF2-40B4-BE49-F238E27FC236}">
                <a16:creationId xmlns:a16="http://schemas.microsoft.com/office/drawing/2014/main" id="{C472CCB7-2EB1-4FD6-8543-47E7F459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60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06-segment-num-01">
            <a:extLst xmlns:a="http://schemas.openxmlformats.org/drawingml/2006/main">
              <a:ext uri="{FF2B5EF4-FFF2-40B4-BE49-F238E27FC236}">
                <a16:creationId xmlns:a16="http://schemas.microsoft.com/office/drawing/2014/main" id="{F334E909-C37E-45B3-A23F-81E41632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5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d06-segment-title-01">
            <a:extLst xmlns:a="http://schemas.openxmlformats.org/drawingml/2006/main">
              <a:ext uri="{FF2B5EF4-FFF2-40B4-BE49-F238E27FC236}">
                <a16:creationId xmlns:a16="http://schemas.microsoft.com/office/drawing/2014/main" id="{540501C7-EBD3-4C96-A0B6-E7AABD48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大企業</a:t>
            </a:r>
          </a:p>
        </p:txBody>
      </p:sp>
      <p:sp>
        <p:nvSpPr>
          <p:cNvPr id="20" name="d06-segment-body-01">
            <a:extLst xmlns:a="http://schemas.openxmlformats.org/drawingml/2006/main">
              <a:ext uri="{FF2B5EF4-FFF2-40B4-BE49-F238E27FC236}">
                <a16:creationId xmlns:a16="http://schemas.microsoft.com/office/drawing/2014/main" id="{0B6BB8A9-C2C6-43D3-9363-0AA51FCB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62275"/>
            <a:ext cx="2266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提案量が多く、複数部門で</a:t>
            </a:r>
          </a:p>
          <a:p xmlns:a="http://schemas.openxmlformats.org/drawingml/2006/main">
            <a:pPr algn="l">
              <a:defRPr sz="120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提案品質の標準化が課題</a:t>
            </a:r>
          </a:p>
        </p:txBody>
      </p:sp>
      <p:sp>
        <p:nvSpPr>
          <p:cNvPr id="21" name="d06-segment-pill-01">
            <a:extLst xmlns:a="http://schemas.openxmlformats.org/drawingml/2006/main">
              <a:ext uri="{FF2B5EF4-FFF2-40B4-BE49-F238E27FC236}">
                <a16:creationId xmlns:a16="http://schemas.microsoft.com/office/drawing/2014/main" id="{8C0BBF1D-BD26-483F-824C-1FA081FC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15621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CE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06-segment-pill-text-01">
            <a:extLst xmlns:a="http://schemas.openxmlformats.org/drawingml/2006/main">
              <a:ext uri="{FF2B5EF4-FFF2-40B4-BE49-F238E27FC236}">
                <a16:creationId xmlns:a16="http://schemas.microsoft.com/office/drawing/2014/main" id="{79C652BA-8F8F-420D-952C-C2E77EC2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1562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高い導入効果</a:t>
            </a:r>
          </a:p>
        </p:txBody>
      </p:sp>
      <p:sp>
        <p:nvSpPr>
          <p:cNvPr id="23" name="d06-segment-card-02">
            <a:extLst xmlns:a="http://schemas.openxmlformats.org/drawingml/2006/main">
              <a:ext uri="{FF2B5EF4-FFF2-40B4-BE49-F238E27FC236}">
                <a16:creationId xmlns:a16="http://schemas.microsoft.com/office/drawing/2014/main" id="{CCC2D15A-74C5-41E3-BC36-00AFA93C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9525">
            <a:solidFill>
              <a:srgbClr val="ED8C92"/>
            </a:solidFill>
            <a:prstDash val="solid"/>
          </a:ln>
        </p:spPr>
      </p:sp>
      <p:sp>
        <p:nvSpPr>
          <p:cNvPr id="24" name="d06-segment-num-bg-02">
            <a:extLst xmlns:a="http://schemas.openxmlformats.org/drawingml/2006/main">
              <a:ext uri="{FF2B5EF4-FFF2-40B4-BE49-F238E27FC236}">
                <a16:creationId xmlns:a16="http://schemas.microsoft.com/office/drawing/2014/main" id="{BF46CF4D-5B91-4DCE-A5C1-2149CC1E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06-segment-num-02">
            <a:extLst xmlns:a="http://schemas.openxmlformats.org/drawingml/2006/main">
              <a:ext uri="{FF2B5EF4-FFF2-40B4-BE49-F238E27FC236}">
                <a16:creationId xmlns:a16="http://schemas.microsoft.com/office/drawing/2014/main" id="{68EF7F9B-7B51-42FD-AEEB-7D1B4A0F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9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d06-segment-title-02">
            <a:extLst xmlns:a="http://schemas.openxmlformats.org/drawingml/2006/main">
              <a:ext uri="{FF2B5EF4-FFF2-40B4-BE49-F238E27FC236}">
                <a16:creationId xmlns:a16="http://schemas.microsoft.com/office/drawing/2014/main" id="{6972AB30-15D3-4C4D-8C85-78ACDD3A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中堅企業</a:t>
            </a:r>
          </a:p>
        </p:txBody>
      </p:sp>
      <p:sp>
        <p:nvSpPr>
          <p:cNvPr id="27" name="d06-segment-body-02">
            <a:extLst xmlns:a="http://schemas.openxmlformats.org/drawingml/2006/main">
              <a:ext uri="{FF2B5EF4-FFF2-40B4-BE49-F238E27FC236}">
                <a16:creationId xmlns:a16="http://schemas.microsoft.com/office/drawing/2014/main" id="{B16202EC-DCCB-4AED-B9DA-FA21B4F2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86275"/>
            <a:ext cx="2266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営業組織の成長に対して</a:t>
            </a:r>
          </a:p>
          <a:p xmlns:a="http://schemas.openxmlformats.org/drawingml/2006/main">
            <a:pPr algn="l">
              <a:defRPr sz="120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資料作成負荷が増大</a:t>
            </a:r>
          </a:p>
        </p:txBody>
      </p:sp>
      <p:sp>
        <p:nvSpPr>
          <p:cNvPr id="28" name="d06-segment-pill-02">
            <a:extLst xmlns:a="http://schemas.openxmlformats.org/drawingml/2006/main">
              <a:ext uri="{FF2B5EF4-FFF2-40B4-BE49-F238E27FC236}">
                <a16:creationId xmlns:a16="http://schemas.microsoft.com/office/drawing/2014/main" id="{016D5A40-3182-4EBB-8F00-03CC897D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1571625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06-segment-pill-text-02">
            <a:extLst xmlns:a="http://schemas.openxmlformats.org/drawingml/2006/main">
              <a:ext uri="{FF2B5EF4-FFF2-40B4-BE49-F238E27FC236}">
                <a16:creationId xmlns:a16="http://schemas.microsoft.com/office/drawing/2014/main" id="{01445D5A-1E49-4540-9349-DC23A6D5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1571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最優先ターゲット</a:t>
            </a:r>
          </a:p>
        </p:txBody>
      </p:sp>
      <p:sp>
        <p:nvSpPr>
          <p:cNvPr id="30" name="d06-segment-card-03">
            <a:extLst xmlns:a="http://schemas.openxmlformats.org/drawingml/2006/main">
              <a:ext uri="{FF2B5EF4-FFF2-40B4-BE49-F238E27FC236}">
                <a16:creationId xmlns:a16="http://schemas.microsoft.com/office/drawing/2014/main" id="{17F5192F-0EDB-4CFD-91E2-602386D5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3333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31" name="d06-segment-num-bg-03">
            <a:extLst xmlns:a="http://schemas.openxmlformats.org/drawingml/2006/main">
              <a:ext uri="{FF2B5EF4-FFF2-40B4-BE49-F238E27FC236}">
                <a16:creationId xmlns:a16="http://schemas.microsoft.com/office/drawing/2014/main" id="{930F9137-7AAE-4457-BA96-ECFD7A39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60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06-segment-num-03">
            <a:extLst xmlns:a="http://schemas.openxmlformats.org/drawingml/2006/main">
              <a:ext uri="{FF2B5EF4-FFF2-40B4-BE49-F238E27FC236}">
                <a16:creationId xmlns:a16="http://schemas.microsoft.com/office/drawing/2014/main" id="{8B4FDF9F-0C6B-4F2B-98CE-6A8E9C04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3" name="d06-segment-title-03">
            <a:extLst xmlns:a="http://schemas.openxmlformats.org/drawingml/2006/main">
              <a:ext uri="{FF2B5EF4-FFF2-40B4-BE49-F238E27FC236}">
                <a16:creationId xmlns:a16="http://schemas.microsoft.com/office/drawing/2014/main" id="{3D5CF0F8-75B0-4308-94F2-FBF597A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中小企業</a:t>
            </a:r>
          </a:p>
        </p:txBody>
      </p:sp>
      <p:sp>
        <p:nvSpPr>
          <p:cNvPr id="34" name="d06-segment-body-03">
            <a:extLst xmlns:a="http://schemas.openxmlformats.org/drawingml/2006/main">
              <a:ext uri="{FF2B5EF4-FFF2-40B4-BE49-F238E27FC236}">
                <a16:creationId xmlns:a16="http://schemas.microsoft.com/office/drawing/2014/main" id="{4AEDBB97-F023-445E-BC7D-C28EADB9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10275"/>
            <a:ext cx="2266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少人数で営業を担い、</a:t>
            </a:r>
          </a:p>
          <a:p xmlns:a="http://schemas.openxmlformats.org/drawingml/2006/main">
            <a:pPr algn="l">
              <a:defRPr sz="120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提案作成の効率化ニーズが高い</a:t>
            </a:r>
          </a:p>
        </p:txBody>
      </p:sp>
      <p:sp>
        <p:nvSpPr>
          <p:cNvPr id="35" name="d06-segment-pill-03">
            <a:extLst xmlns:a="http://schemas.openxmlformats.org/drawingml/2006/main">
              <a:ext uri="{FF2B5EF4-FFF2-40B4-BE49-F238E27FC236}">
                <a16:creationId xmlns:a16="http://schemas.microsoft.com/office/drawing/2014/main" id="{F9BBC59A-1382-43DF-A4DC-A98C8587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77000"/>
            <a:ext cx="15621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CE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06-segment-pill-text-03">
            <a:extLst xmlns:a="http://schemas.openxmlformats.org/drawingml/2006/main">
              <a:ext uri="{FF2B5EF4-FFF2-40B4-BE49-F238E27FC236}">
                <a16:creationId xmlns:a16="http://schemas.microsoft.com/office/drawing/2014/main" id="{9650871D-8617-4B80-8692-C90AF6BC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34150"/>
            <a:ext cx="1562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導入容易性が高い</a:t>
            </a:r>
          </a:p>
        </p:txBody>
      </p:sp>
      <p:sp>
        <p:nvSpPr>
          <p:cNvPr id="37" name="d06-profile-panel">
            <a:extLst xmlns:a="http://schemas.openxmlformats.org/drawingml/2006/main">
              <a:ext uri="{FF2B5EF4-FFF2-40B4-BE49-F238E27FC236}">
                <a16:creationId xmlns:a16="http://schemas.microsoft.com/office/drawing/2014/main" id="{96E47D92-D565-48B7-B6A1-C725BDA6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6477000" cy="4438650"/>
          </a:xfrm>
          <a:prstGeom xmlns:a="http://schemas.openxmlformats.org/drawingml/2006/main" prst="roundRect">
            <a:avLst>
              <a:gd name="adj" fmla="val 2575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9525">
            <a:solidFill>
              <a:srgbClr val="ED9DA1"/>
            </a:solidFill>
            <a:prstDash val="solid"/>
          </a:ln>
        </p:spPr>
      </p:sp>
      <p:sp>
        <p:nvSpPr>
          <p:cNvPr id="38" name="d06-profile-heading">
            <a:extLst xmlns:a="http://schemas.openxmlformats.org/drawingml/2006/main">
              <a:ext uri="{FF2B5EF4-FFF2-40B4-BE49-F238E27FC236}">
                <a16:creationId xmlns:a16="http://schemas.microsoft.com/office/drawing/2014/main" id="{BBDCDD62-D87B-45ED-9EB1-5C601EF6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最優先ターゲット像</a:t>
            </a:r>
          </a:p>
        </p:txBody>
      </p:sp>
      <p:sp>
        <p:nvSpPr>
          <p:cNvPr id="39" name="d06-profile-red-band">
            <a:extLst xmlns:a="http://schemas.openxmlformats.org/drawingml/2006/main">
              <a:ext uri="{FF2B5EF4-FFF2-40B4-BE49-F238E27FC236}">
                <a16:creationId xmlns:a16="http://schemas.microsoft.com/office/drawing/2014/main" id="{933A1035-2131-4349-BAED-B42572CD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609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06-profile-band-title">
            <a:extLst xmlns:a="http://schemas.openxmlformats.org/drawingml/2006/main">
              <a:ext uri="{FF2B5EF4-FFF2-40B4-BE49-F238E27FC236}">
                <a16:creationId xmlns:a16="http://schemas.microsoft.com/office/drawing/2014/main" id="{463FA6B2-7CF5-491F-8612-7E08DF62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527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中堅〜大企業の営業・提案部門</a:t>
            </a:r>
          </a:p>
        </p:txBody>
      </p:sp>
      <p:sp>
        <p:nvSpPr>
          <p:cNvPr id="41" name="d06-profile-band-note">
            <a:extLst xmlns:a="http://schemas.openxmlformats.org/drawingml/2006/main">
              <a:ext uri="{FF2B5EF4-FFF2-40B4-BE49-F238E27FC236}">
                <a16:creationId xmlns:a16="http://schemas.microsoft.com/office/drawing/2014/main" id="{A4C5D0D9-CA27-49B4-BEB4-DCA5A828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190875"/>
            <a:ext cx="2219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提案件数が多く、標準化・再利用ニーズが高い</a:t>
            </a:r>
          </a:p>
        </p:txBody>
      </p:sp>
      <p:sp>
        <p:nvSpPr>
          <p:cNvPr id="42" name="d06-profile-card-0">
            <a:extLst xmlns:a="http://schemas.openxmlformats.org/drawingml/2006/main">
              <a:ext uri="{FF2B5EF4-FFF2-40B4-BE49-F238E27FC236}">
                <a16:creationId xmlns:a16="http://schemas.microsoft.com/office/drawing/2014/main" id="{229D31BF-3F6F-4456-B096-DD449F75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38575"/>
            <a:ext cx="28575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43" name="d06-profile-card-title-0">
            <a:extLst xmlns:a="http://schemas.openxmlformats.org/drawingml/2006/main">
              <a:ext uri="{FF2B5EF4-FFF2-40B4-BE49-F238E27FC236}">
                <a16:creationId xmlns:a16="http://schemas.microsoft.com/office/drawing/2014/main" id="{8DF6CAAB-0140-4116-8867-5D443CDB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00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企業規模</a:t>
            </a:r>
          </a:p>
        </p:txBody>
      </p:sp>
      <p:sp>
        <p:nvSpPr>
          <p:cNvPr id="44" name="d06-profile-card-body-0">
            <a:extLst xmlns:a="http://schemas.openxmlformats.org/drawingml/2006/main">
              <a:ext uri="{FF2B5EF4-FFF2-40B4-BE49-F238E27FC236}">
                <a16:creationId xmlns:a16="http://schemas.microsoft.com/office/drawing/2014/main" id="{B568DA12-F2F7-4770-B43F-078FF873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338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従業員100〜1,000名規模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複数の営業担当・提案案件を保有</a:t>
            </a:r>
          </a:p>
        </p:txBody>
      </p:sp>
      <p:sp>
        <p:nvSpPr>
          <p:cNvPr id="45" name="d06-profile-card-1">
            <a:extLst xmlns:a="http://schemas.openxmlformats.org/drawingml/2006/main">
              <a:ext uri="{FF2B5EF4-FFF2-40B4-BE49-F238E27FC236}">
                <a16:creationId xmlns:a16="http://schemas.microsoft.com/office/drawing/2014/main" id="{930C3204-0DFC-451D-A8AC-B89C7D5B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28575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46" name="d06-profile-card-title-1">
            <a:extLst xmlns:a="http://schemas.openxmlformats.org/drawingml/2006/main">
              <a:ext uri="{FF2B5EF4-FFF2-40B4-BE49-F238E27FC236}">
                <a16:creationId xmlns:a16="http://schemas.microsoft.com/office/drawing/2014/main" id="{31AEF532-2F2E-4BCA-86F7-3BFA6CEB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00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業務特性</a:t>
            </a:r>
          </a:p>
        </p:txBody>
      </p:sp>
      <p:sp>
        <p:nvSpPr>
          <p:cNvPr id="47" name="d06-profile-card-body-1">
            <a:extLst xmlns:a="http://schemas.openxmlformats.org/drawingml/2006/main">
              <a:ext uri="{FF2B5EF4-FFF2-40B4-BE49-F238E27FC236}">
                <a16:creationId xmlns:a16="http://schemas.microsoft.com/office/drawing/2014/main" id="{8F727B92-47A8-4C99-9D5C-58E4C028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338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提案書・見積・競合比較を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繰り返し作成する業務が多い</a:t>
            </a:r>
          </a:p>
        </p:txBody>
      </p:sp>
      <p:sp>
        <p:nvSpPr>
          <p:cNvPr id="48" name="d06-profile-card-2">
            <a:extLst xmlns:a="http://schemas.openxmlformats.org/drawingml/2006/main">
              <a:ext uri="{FF2B5EF4-FFF2-40B4-BE49-F238E27FC236}">
                <a16:creationId xmlns:a16="http://schemas.microsoft.com/office/drawing/2014/main" id="{B1E59D9B-7854-4CD9-B067-1F575FE0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28575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49" name="d06-profile-card-title-2">
            <a:extLst xmlns:a="http://schemas.openxmlformats.org/drawingml/2006/main">
              <a:ext uri="{FF2B5EF4-FFF2-40B4-BE49-F238E27FC236}">
                <a16:creationId xmlns:a16="http://schemas.microsoft.com/office/drawing/2014/main" id="{A4FC1702-B1DC-46F7-81C6-29DF316A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24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主な課題</a:t>
            </a:r>
          </a:p>
        </p:txBody>
      </p:sp>
      <p:sp>
        <p:nvSpPr>
          <p:cNvPr id="50" name="d06-profile-card-body-2">
            <a:extLst xmlns:a="http://schemas.openxmlformats.org/drawingml/2006/main">
              <a:ext uri="{FF2B5EF4-FFF2-40B4-BE49-F238E27FC236}">
                <a16:creationId xmlns:a16="http://schemas.microsoft.com/office/drawing/2014/main" id="{01D83A5E-69BF-4F74-8C7E-C8581318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57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資料作成負荷／品質ばらつき／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ナレッジ分散／レビュー工数</a:t>
            </a:r>
          </a:p>
        </p:txBody>
      </p:sp>
      <p:sp>
        <p:nvSpPr>
          <p:cNvPr id="51" name="d06-profile-card-3">
            <a:extLst xmlns:a="http://schemas.openxmlformats.org/drawingml/2006/main">
              <a:ext uri="{FF2B5EF4-FFF2-40B4-BE49-F238E27FC236}">
                <a16:creationId xmlns:a16="http://schemas.microsoft.com/office/drawing/2014/main" id="{55D48426-2EFA-4F69-8C59-0D6EEA69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62550"/>
            <a:ext cx="28575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52" name="d06-profile-card-title-3">
            <a:extLst xmlns:a="http://schemas.openxmlformats.org/drawingml/2006/main">
              <a:ext uri="{FF2B5EF4-FFF2-40B4-BE49-F238E27FC236}">
                <a16:creationId xmlns:a16="http://schemas.microsoft.com/office/drawing/2014/main" id="{2D725B31-F5B5-4EC9-A6D8-ABF7DA4D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244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導入期待</a:t>
            </a:r>
          </a:p>
        </p:txBody>
      </p:sp>
      <p:sp>
        <p:nvSpPr>
          <p:cNvPr id="53" name="d06-profile-card-body-3">
            <a:extLst xmlns:a="http://schemas.openxmlformats.org/drawingml/2006/main">
              <a:ext uri="{FF2B5EF4-FFF2-40B4-BE49-F238E27FC236}">
                <a16:creationId xmlns:a16="http://schemas.microsoft.com/office/drawing/2014/main" id="{88AC67C2-6851-44CA-AFCB-C5F42F40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57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作成時間短縮／受注率向上／</a:t>
            </a:r>
          </a:p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提案品質の標準化</a:t>
            </a:r>
          </a:p>
        </p:txBody>
      </p:sp>
      <p:sp>
        <p:nvSpPr>
          <p:cNvPr id="54" name="d06-decision-label">
            <a:extLst xmlns:a="http://schemas.openxmlformats.org/drawingml/2006/main">
              <a:ext uri="{FF2B5EF4-FFF2-40B4-BE49-F238E27FC236}">
                <a16:creationId xmlns:a16="http://schemas.microsoft.com/office/drawing/2014/main" id="{17F62E3C-CF5B-4056-901E-C82F0EA4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477000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主な意思決定者：</a:t>
            </a:r>
          </a:p>
        </p:txBody>
      </p:sp>
      <p:sp>
        <p:nvSpPr>
          <p:cNvPr id="55" name="d06-decision-roles">
            <a:extLst xmlns:a="http://schemas.openxmlformats.org/drawingml/2006/main">
              <a:ext uri="{FF2B5EF4-FFF2-40B4-BE49-F238E27FC236}">
                <a16:creationId xmlns:a16="http://schemas.microsoft.com/office/drawing/2014/main" id="{55DB8CA1-15CF-4538-83DD-405BC7E5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477000"/>
            <a:ext cx="500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営業責任者　／　事業部長　／　DX・企画責任者　／　経営層</a:t>
            </a:r>
          </a:p>
        </p:txBody>
      </p:sp>
      <p:sp>
        <p:nvSpPr>
          <p:cNvPr id="56" name="d06-decision-panel">
            <a:extLst xmlns:a="http://schemas.openxmlformats.org/drawingml/2006/main">
              <a:ext uri="{FF2B5EF4-FFF2-40B4-BE49-F238E27FC236}">
                <a16:creationId xmlns:a16="http://schemas.microsoft.com/office/drawing/2014/main" id="{364DB584-4D1B-4966-8A89-7BF39BCE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00300"/>
            <a:ext cx="4572000" cy="4438650"/>
          </a:xfrm>
          <a:prstGeom xmlns:a="http://schemas.openxmlformats.org/drawingml/2006/main" prst="roundRect">
            <a:avLst>
              <a:gd name="adj" fmla="val 25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57" name="d06-decision-rule">
            <a:extLst xmlns:a="http://schemas.openxmlformats.org/drawingml/2006/main">
              <a:ext uri="{FF2B5EF4-FFF2-40B4-BE49-F238E27FC236}">
                <a16:creationId xmlns:a16="http://schemas.microsoft.com/office/drawing/2014/main" id="{C483321E-764F-4F2B-89AA-F175741C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47950"/>
            <a:ext cx="400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58" name="d06-decision-heading">
            <a:extLst xmlns:a="http://schemas.openxmlformats.org/drawingml/2006/main">
              <a:ext uri="{FF2B5EF4-FFF2-40B4-BE49-F238E27FC236}">
                <a16:creationId xmlns:a16="http://schemas.microsoft.com/office/drawing/2014/main" id="{FE0E48A3-DB1A-4977-898F-97637692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5527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意思決定者が重視するポイント</a:t>
            </a:r>
          </a:p>
        </p:txBody>
      </p:sp>
      <p:sp>
        <p:nvSpPr>
          <p:cNvPr id="59" name="d06-decision-row-0">
            <a:extLst xmlns:a="http://schemas.openxmlformats.org/drawingml/2006/main">
              <a:ext uri="{FF2B5EF4-FFF2-40B4-BE49-F238E27FC236}">
                <a16:creationId xmlns:a16="http://schemas.microsoft.com/office/drawing/2014/main" id="{6BCABF5E-F479-4D4F-BDA0-85077A2E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914650"/>
            <a:ext cx="42291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9"/>
            </a:solidFill>
            <a:prstDash val="solid"/>
          </a:ln>
        </p:spPr>
      </p:sp>
      <p:sp>
        <p:nvSpPr>
          <p:cNvPr id="60" name="d06-decision-num-bg-0">
            <a:extLst xmlns:a="http://schemas.openxmlformats.org/drawingml/2006/main">
              <a:ext uri="{FF2B5EF4-FFF2-40B4-BE49-F238E27FC236}">
                <a16:creationId xmlns:a16="http://schemas.microsoft.com/office/drawing/2014/main" id="{074860AF-21FD-4F2F-8476-6C365E69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076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06-decision-num-0">
            <a:extLst xmlns:a="http://schemas.openxmlformats.org/drawingml/2006/main">
              <a:ext uri="{FF2B5EF4-FFF2-40B4-BE49-F238E27FC236}">
                <a16:creationId xmlns:a16="http://schemas.microsoft.com/office/drawing/2014/main" id="{B0D1AB9B-C60B-4A28-A3FA-C8D62B62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099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2" name="d06-decision-title-0">
            <a:extLst xmlns:a="http://schemas.openxmlformats.org/drawingml/2006/main">
              <a:ext uri="{FF2B5EF4-FFF2-40B4-BE49-F238E27FC236}">
                <a16:creationId xmlns:a16="http://schemas.microsoft.com/office/drawing/2014/main" id="{0D36EF17-1ABF-4621-A7A5-F78CA18F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048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短期間で効果が見える</a:t>
            </a:r>
          </a:p>
        </p:txBody>
      </p:sp>
      <p:sp>
        <p:nvSpPr>
          <p:cNvPr id="63" name="d06-decision-body-0">
            <a:extLst xmlns:a="http://schemas.openxmlformats.org/drawingml/2006/main">
              <a:ext uri="{FF2B5EF4-FFF2-40B4-BE49-F238E27FC236}">
                <a16:creationId xmlns:a16="http://schemas.microsoft.com/office/drawing/2014/main" id="{3405AA87-990E-4EF8-A23E-3248C22A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333750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PoCから始め、効果を確認しながら導入したい</a:t>
            </a:r>
          </a:p>
        </p:txBody>
      </p:sp>
      <p:sp>
        <p:nvSpPr>
          <p:cNvPr id="64" name="d06-decision-row-1">
            <a:extLst xmlns:a="http://schemas.openxmlformats.org/drawingml/2006/main">
              <a:ext uri="{FF2B5EF4-FFF2-40B4-BE49-F238E27FC236}">
                <a16:creationId xmlns:a16="http://schemas.microsoft.com/office/drawing/2014/main" id="{80CF8EF5-C867-41AC-8FDC-09A19A82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790950"/>
            <a:ext cx="42291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9"/>
            </a:solidFill>
            <a:prstDash val="solid"/>
          </a:ln>
        </p:spPr>
      </p:sp>
      <p:sp>
        <p:nvSpPr>
          <p:cNvPr id="65" name="d06-decision-num-bg-1">
            <a:extLst xmlns:a="http://schemas.openxmlformats.org/drawingml/2006/main">
              <a:ext uri="{FF2B5EF4-FFF2-40B4-BE49-F238E27FC236}">
                <a16:creationId xmlns:a16="http://schemas.microsoft.com/office/drawing/2014/main" id="{EDC2A6C0-30A5-43D3-BD6A-7BB870FE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952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06-decision-num-1">
            <a:extLst xmlns:a="http://schemas.openxmlformats.org/drawingml/2006/main">
              <a:ext uri="{FF2B5EF4-FFF2-40B4-BE49-F238E27FC236}">
                <a16:creationId xmlns:a16="http://schemas.microsoft.com/office/drawing/2014/main" id="{69D353A0-04DA-4C6C-BB66-FD4DE028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0862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7" name="d06-decision-title-1">
            <a:extLst xmlns:a="http://schemas.openxmlformats.org/drawingml/2006/main">
              <a:ext uri="{FF2B5EF4-FFF2-40B4-BE49-F238E27FC236}">
                <a16:creationId xmlns:a16="http://schemas.microsoft.com/office/drawing/2014/main" id="{194059CB-793B-41B2-BBDD-B02AD8A6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9243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現場負担が少ない</a:t>
            </a:r>
          </a:p>
        </p:txBody>
      </p:sp>
      <p:sp>
        <p:nvSpPr>
          <p:cNvPr id="68" name="d06-decision-body-1">
            <a:extLst xmlns:a="http://schemas.openxmlformats.org/drawingml/2006/main">
              <a:ext uri="{FF2B5EF4-FFF2-40B4-BE49-F238E27FC236}">
                <a16:creationId xmlns:a16="http://schemas.microsoft.com/office/drawing/2014/main" id="{C6E99096-9EB2-42BB-85B4-5BCAE60A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210050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既存業務を大きく変えずに使い始めたい</a:t>
            </a:r>
          </a:p>
        </p:txBody>
      </p:sp>
      <p:sp>
        <p:nvSpPr>
          <p:cNvPr id="69" name="d06-decision-row-2">
            <a:extLst xmlns:a="http://schemas.openxmlformats.org/drawingml/2006/main">
              <a:ext uri="{FF2B5EF4-FFF2-40B4-BE49-F238E27FC236}">
                <a16:creationId xmlns:a16="http://schemas.microsoft.com/office/drawing/2014/main" id="{4EB9D811-C7E7-43C7-B4F1-CDC13D37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667250"/>
            <a:ext cx="42291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9"/>
            </a:solidFill>
            <a:prstDash val="solid"/>
          </a:ln>
        </p:spPr>
      </p:sp>
      <p:sp>
        <p:nvSpPr>
          <p:cNvPr id="70" name="d06-decision-num-bg-2">
            <a:extLst xmlns:a="http://schemas.openxmlformats.org/drawingml/2006/main">
              <a:ext uri="{FF2B5EF4-FFF2-40B4-BE49-F238E27FC236}">
                <a16:creationId xmlns:a16="http://schemas.microsoft.com/office/drawing/2014/main" id="{7FFF952A-54BA-4C2F-9925-2AE82601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829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06-decision-num-2">
            <a:extLst xmlns:a="http://schemas.openxmlformats.org/drawingml/2006/main">
              <a:ext uri="{FF2B5EF4-FFF2-40B4-BE49-F238E27FC236}">
                <a16:creationId xmlns:a16="http://schemas.microsoft.com/office/drawing/2014/main" id="{04190904-59CC-4C83-B451-CE6767E0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962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2" name="d06-decision-title-2">
            <a:extLst xmlns:a="http://schemas.openxmlformats.org/drawingml/2006/main">
              <a:ext uri="{FF2B5EF4-FFF2-40B4-BE49-F238E27FC236}">
                <a16:creationId xmlns:a16="http://schemas.microsoft.com/office/drawing/2014/main" id="{E9DEA1AC-8C8A-44AC-9A3E-F8E768A8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4800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品質を標準化できる</a:t>
            </a:r>
          </a:p>
        </p:txBody>
      </p:sp>
      <p:sp>
        <p:nvSpPr>
          <p:cNvPr id="73" name="d06-decision-body-2">
            <a:extLst xmlns:a="http://schemas.openxmlformats.org/drawingml/2006/main">
              <a:ext uri="{FF2B5EF4-FFF2-40B4-BE49-F238E27FC236}">
                <a16:creationId xmlns:a16="http://schemas.microsoft.com/office/drawing/2014/main" id="{2C1B2D3A-FD29-4D79-88AC-60F4849B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086350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担当者によらず一定品質の提案を実現したい</a:t>
            </a:r>
          </a:p>
        </p:txBody>
      </p:sp>
      <p:sp>
        <p:nvSpPr>
          <p:cNvPr id="74" name="d06-decision-row-3">
            <a:extLst xmlns:a="http://schemas.openxmlformats.org/drawingml/2006/main">
              <a:ext uri="{FF2B5EF4-FFF2-40B4-BE49-F238E27FC236}">
                <a16:creationId xmlns:a16="http://schemas.microsoft.com/office/drawing/2014/main" id="{33850D10-68F0-46AC-A30C-0AB0AB37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543550"/>
            <a:ext cx="42291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9"/>
            </a:solidFill>
            <a:prstDash val="solid"/>
          </a:ln>
        </p:spPr>
      </p:sp>
      <p:sp>
        <p:nvSpPr>
          <p:cNvPr id="75" name="d06-decision-num-bg-3">
            <a:extLst xmlns:a="http://schemas.openxmlformats.org/drawingml/2006/main">
              <a:ext uri="{FF2B5EF4-FFF2-40B4-BE49-F238E27FC236}">
                <a16:creationId xmlns:a16="http://schemas.microsoft.com/office/drawing/2014/main" id="{C4F50B0F-2A3D-465D-A07A-A4D5E777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7054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06-decision-num-3">
            <a:extLst xmlns:a="http://schemas.openxmlformats.org/drawingml/2006/main">
              <a:ext uri="{FF2B5EF4-FFF2-40B4-BE49-F238E27FC236}">
                <a16:creationId xmlns:a16="http://schemas.microsoft.com/office/drawing/2014/main" id="{8185A38A-9546-4D22-9846-8D2D0FAC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8388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7" name="d06-decision-title-3">
            <a:extLst xmlns:a="http://schemas.openxmlformats.org/drawingml/2006/main">
              <a:ext uri="{FF2B5EF4-FFF2-40B4-BE49-F238E27FC236}">
                <a16:creationId xmlns:a16="http://schemas.microsoft.com/office/drawing/2014/main" id="{2262B87E-E58C-4A0B-AB4D-FDD39C22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6769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費用対効果が明確</a:t>
            </a:r>
          </a:p>
        </p:txBody>
      </p:sp>
      <p:sp>
        <p:nvSpPr>
          <p:cNvPr id="78" name="d06-decision-body-3">
            <a:extLst xmlns:a="http://schemas.openxmlformats.org/drawingml/2006/main">
              <a:ext uri="{FF2B5EF4-FFF2-40B4-BE49-F238E27FC236}">
                <a16:creationId xmlns:a16="http://schemas.microsoft.com/office/drawing/2014/main" id="{AA47C297-49B5-4262-A157-688A27B3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5962650"/>
            <a:ext cx="328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投資に対する業務削減・売上効果を判断したい</a:t>
            </a:r>
          </a:p>
        </p:txBody>
      </p:sp>
      <p:sp>
        <p:nvSpPr>
          <p:cNvPr id="79" name="d06-insight-rule">
            <a:extLst xmlns:a="http://schemas.openxmlformats.org/drawingml/2006/main">
              <a:ext uri="{FF2B5EF4-FFF2-40B4-BE49-F238E27FC236}">
                <a16:creationId xmlns:a16="http://schemas.microsoft.com/office/drawing/2014/main" id="{347E3088-F6F3-48F7-A144-E8F374EF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153275"/>
            <a:ext cx="438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1926"/>
            </a:solidFill>
            <a:prstDash val="solid"/>
          </a:ln>
        </p:spPr>
      </p:sp>
      <p:sp>
        <p:nvSpPr>
          <p:cNvPr id="80" name="d06-insight-heading">
            <a:extLst xmlns:a="http://schemas.openxmlformats.org/drawingml/2006/main">
              <a:ext uri="{FF2B5EF4-FFF2-40B4-BE49-F238E27FC236}">
                <a16:creationId xmlns:a16="http://schemas.microsoft.com/office/drawing/2014/main" id="{729E6504-C66C-4365-9C77-17A583A4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7067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ターゲット分析からの示唆</a:t>
            </a:r>
          </a:p>
        </p:txBody>
      </p:sp>
      <p:sp>
        <p:nvSpPr>
          <p:cNvPr id="81" name="d06-insight-card-0">
            <a:extLst xmlns:a="http://schemas.openxmlformats.org/drawingml/2006/main">
              <a:ext uri="{FF2B5EF4-FFF2-40B4-BE49-F238E27FC236}">
                <a16:creationId xmlns:a16="http://schemas.microsoft.com/office/drawing/2014/main" id="{79F40492-FC43-4730-9273-D1BF5057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0"/>
            <a:ext cx="472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06-insight-num-bg-0">
            <a:extLst xmlns:a="http://schemas.openxmlformats.org/drawingml/2006/main">
              <a:ext uri="{FF2B5EF4-FFF2-40B4-BE49-F238E27FC236}">
                <a16:creationId xmlns:a16="http://schemas.microsoft.com/office/drawing/2014/main" id="{E0DDE228-EDC5-45C3-85BE-369CE7AF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06-insight-num-0">
            <a:extLst xmlns:a="http://schemas.openxmlformats.org/drawingml/2006/main">
              <a:ext uri="{FF2B5EF4-FFF2-40B4-BE49-F238E27FC236}">
                <a16:creationId xmlns:a16="http://schemas.microsoft.com/office/drawing/2014/main" id="{9BDAA0B4-5EB3-44DD-8A08-C681A7BA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057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4" name="d06-insight-title-0">
            <a:extLst xmlns:a="http://schemas.openxmlformats.org/drawingml/2006/main">
              <a:ext uri="{FF2B5EF4-FFF2-40B4-BE49-F238E27FC236}">
                <a16:creationId xmlns:a16="http://schemas.microsoft.com/office/drawing/2014/main" id="{5A124C99-1A24-4300-8017-0FE6069B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72375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中堅〜大企業を優先</a:t>
            </a:r>
          </a:p>
        </p:txBody>
      </p:sp>
      <p:sp>
        <p:nvSpPr>
          <p:cNvPr id="85" name="d06-insight-body-0">
            <a:extLst xmlns:a="http://schemas.openxmlformats.org/drawingml/2006/main">
              <a:ext uri="{FF2B5EF4-FFF2-40B4-BE49-F238E27FC236}">
                <a16:creationId xmlns:a16="http://schemas.microsoft.com/office/drawing/2014/main" id="{1E1D4DF1-F9E9-4290-BBB2-DDE20BC7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8486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提案件数が多く、効率化・標準化の効果が出やすい。</a:t>
            </a:r>
          </a:p>
        </p:txBody>
      </p:sp>
      <p:sp>
        <p:nvSpPr>
          <p:cNvPr id="86" name="d06-insight-card-1">
            <a:extLst xmlns:a="http://schemas.openxmlformats.org/drawingml/2006/main">
              <a:ext uri="{FF2B5EF4-FFF2-40B4-BE49-F238E27FC236}">
                <a16:creationId xmlns:a16="http://schemas.microsoft.com/office/drawing/2014/main" id="{9159BDA7-EAE5-4FBB-A49A-B42FD6E9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429500"/>
            <a:ext cx="472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06-insight-num-bg-1">
            <a:extLst xmlns:a="http://schemas.openxmlformats.org/drawingml/2006/main">
              <a:ext uri="{FF2B5EF4-FFF2-40B4-BE49-F238E27FC236}">
                <a16:creationId xmlns:a16="http://schemas.microsoft.com/office/drawing/2014/main" id="{A40E9B73-4B0C-4AC5-BE5B-4B5B14ED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572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06-insight-num-1">
            <a:extLst xmlns:a="http://schemas.openxmlformats.org/drawingml/2006/main">
              <a:ext uri="{FF2B5EF4-FFF2-40B4-BE49-F238E27FC236}">
                <a16:creationId xmlns:a16="http://schemas.microsoft.com/office/drawing/2014/main" id="{27A9115C-9C79-492A-9917-6F58E3F0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7057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9" name="d06-insight-title-1">
            <a:extLst xmlns:a="http://schemas.openxmlformats.org/drawingml/2006/main">
              <a:ext uri="{FF2B5EF4-FFF2-40B4-BE49-F238E27FC236}">
                <a16:creationId xmlns:a16="http://schemas.microsoft.com/office/drawing/2014/main" id="{67929BAF-5C0F-42F0-ADA7-B806F8E6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7572375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営業責任者への訴求が重要</a:t>
            </a:r>
          </a:p>
        </p:txBody>
      </p:sp>
      <p:sp>
        <p:nvSpPr>
          <p:cNvPr id="90" name="d06-insight-body-1">
            <a:extLst xmlns:a="http://schemas.openxmlformats.org/drawingml/2006/main">
              <a:ext uri="{FF2B5EF4-FFF2-40B4-BE49-F238E27FC236}">
                <a16:creationId xmlns:a16="http://schemas.microsoft.com/office/drawing/2014/main" id="{F4470E74-AD3B-41CF-907D-9BC91C8F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78486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時間削減だけでなく、提案品質・受注率への寄与を示す。</a:t>
            </a:r>
          </a:p>
        </p:txBody>
      </p:sp>
      <p:sp>
        <p:nvSpPr>
          <p:cNvPr id="91" name="d06-insight-card-2">
            <a:extLst xmlns:a="http://schemas.openxmlformats.org/drawingml/2006/main">
              <a:ext uri="{FF2B5EF4-FFF2-40B4-BE49-F238E27FC236}">
                <a16:creationId xmlns:a16="http://schemas.microsoft.com/office/drawing/2014/main" id="{EFAAB5ED-80B6-497E-9BD5-11E8FD0D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7429500"/>
            <a:ext cx="47244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06-insight-num-bg-2">
            <a:extLst xmlns:a="http://schemas.openxmlformats.org/drawingml/2006/main">
              <a:ext uri="{FF2B5EF4-FFF2-40B4-BE49-F238E27FC236}">
                <a16:creationId xmlns:a16="http://schemas.microsoft.com/office/drawing/2014/main" id="{C87F1165-C57A-4F24-B10A-E1922BB4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5723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06-insight-num-2">
            <a:extLst xmlns:a="http://schemas.openxmlformats.org/drawingml/2006/main">
              <a:ext uri="{FF2B5EF4-FFF2-40B4-BE49-F238E27FC236}">
                <a16:creationId xmlns:a16="http://schemas.microsoft.com/office/drawing/2014/main" id="{3D9DA755-58AD-4D4A-8B97-C65E0E96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7057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4" name="d06-insight-title-2">
            <a:extLst xmlns:a="http://schemas.openxmlformats.org/drawingml/2006/main">
              <a:ext uri="{FF2B5EF4-FFF2-40B4-BE49-F238E27FC236}">
                <a16:creationId xmlns:a16="http://schemas.microsoft.com/office/drawing/2014/main" id="{CE3BD385-FCF5-4A1A-A1A2-863E3FB9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7572375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PoCから始める</a:t>
            </a:r>
          </a:p>
        </p:txBody>
      </p:sp>
      <p:sp>
        <p:nvSpPr>
          <p:cNvPr id="95" name="d06-insight-body-2">
            <a:extLst xmlns:a="http://schemas.openxmlformats.org/drawingml/2006/main">
              <a:ext uri="{FF2B5EF4-FFF2-40B4-BE49-F238E27FC236}">
                <a16:creationId xmlns:a16="http://schemas.microsoft.com/office/drawing/2014/main" id="{C3627E23-1170-456D-9A39-2F32EFDB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78486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小さく始めて効果を可視化し、全社展開につなげる。</a:t>
            </a:r>
          </a:p>
        </p:txBody>
      </p:sp>
      <p:sp>
        <p:nvSpPr>
          <p:cNvPr id="96" name="d06-footer-brand">
            <a:extLst xmlns:a="http://schemas.openxmlformats.org/drawingml/2006/main">
              <a:ext uri="{FF2B5EF4-FFF2-40B4-BE49-F238E27FC236}">
                <a16:creationId xmlns:a16="http://schemas.microsoft.com/office/drawing/2014/main" id="{5EBCDD95-1518-4375-9FCE-71CC52AF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33437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E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1E27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97" name="d06-footer-divider">
            <a:extLst xmlns:a="http://schemas.openxmlformats.org/drawingml/2006/main">
              <a:ext uri="{FF2B5EF4-FFF2-40B4-BE49-F238E27FC236}">
                <a16:creationId xmlns:a16="http://schemas.microsoft.com/office/drawing/2014/main" id="{3F89C00A-58D3-42F0-A9FD-E63B47DF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267700"/>
            <a:ext cx="952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0"/>
            </a:solidFill>
            <a:prstDash val="solid"/>
          </a:ln>
        </p:spPr>
      </p:sp>
      <p:sp>
        <p:nvSpPr>
          <p:cNvPr id="98" name="d06-footer-tagline-jp">
            <a:extLst xmlns:a="http://schemas.openxmlformats.org/drawingml/2006/main">
              <a:ext uri="{FF2B5EF4-FFF2-40B4-BE49-F238E27FC236}">
                <a16:creationId xmlns:a16="http://schemas.microsoft.com/office/drawing/2014/main" id="{5296F5F9-B385-49F5-B338-510A0954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2581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99" name="d06-footer-tagline-en">
            <a:extLst xmlns:a="http://schemas.openxmlformats.org/drawingml/2006/main">
              <a:ext uri="{FF2B5EF4-FFF2-40B4-BE49-F238E27FC236}">
                <a16:creationId xmlns:a16="http://schemas.microsoft.com/office/drawing/2014/main" id="{2071B63B-F1C3-4EEF-85A4-345B47A1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4772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07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071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00" name="d06-footer-date">
            <a:extLst xmlns:a="http://schemas.openxmlformats.org/drawingml/2006/main">
              <a:ext uri="{FF2B5EF4-FFF2-40B4-BE49-F238E27FC236}">
                <a16:creationId xmlns:a16="http://schemas.microsoft.com/office/drawing/2014/main" id="{E56273AB-8BA0-44C5-A494-B6EB0338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3343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01" name="d06-footer-date-rule">
            <a:extLst xmlns:a="http://schemas.openxmlformats.org/drawingml/2006/main">
              <a:ext uri="{FF2B5EF4-FFF2-40B4-BE49-F238E27FC236}">
                <a16:creationId xmlns:a16="http://schemas.microsoft.com/office/drawing/2014/main" id="{83A13301-2BB5-4895-8BD4-1904F236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41057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1146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2026-09-20T10:27:54.0250000Z</dcterms:created>
  <dcterms:modified xsi:type="dcterms:W3CDTF">2026-09-20T10:27:54.0250000Z</dcterms:modified>
</coreProperties>
</file>