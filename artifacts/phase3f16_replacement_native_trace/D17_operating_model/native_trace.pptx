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ce2dbcd3cf4203" /><Relationship Type="http://schemas.openxmlformats.org/officeDocument/2006/relationships/extended-properties" Target="/docProps/app.xml" Id="Rf872893cdcf54789" /><Relationship Type="http://schemas.openxmlformats.org/officeDocument/2006/relationships/officeDocument" Target="/ppt/presentation.xml" Id="Rcb58ef2d067244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51f2990604b28"/>
  </p:sldMasterIdLst>
  <p:notesMasterIdLst>
    <p:notesMasterId xmlns:r="http://schemas.openxmlformats.org/officeDocument/2006/relationships" r:id="R3cbdfe09fdf64c3b"/>
  </p:notesMasterIdLst>
  <p:sldIdLst>
    <p:sldId xmlns:r="http://schemas.openxmlformats.org/officeDocument/2006/relationships" id="256" r:id="Rd3be4def12a54d9d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597ae21fb4702" /><Relationship Type="http://schemas.openxmlformats.org/officeDocument/2006/relationships/slideMaster" Target="/ppt/slideMasters/slideMaster1.xml" Id="Rae151f2990604b28" /><Relationship Type="http://schemas.openxmlformats.org/officeDocument/2006/relationships/notesMaster" Target="/ppt/notesMasters/notesMaster1.xml" Id="R3cbdfe09fdf64c3b" /><Relationship Type="http://schemas.openxmlformats.org/officeDocument/2006/relationships/presProps" Target="/ppt/presProps.xml" Id="R8048a0d560af4146" /><Relationship Type="http://schemas.openxmlformats.org/officeDocument/2006/relationships/tableStyles" Target="/ppt/tableStyles.xml" Id="R9bc6555eba7f47ee" /><Relationship Type="http://schemas.openxmlformats.org/officeDocument/2006/relationships/slide" Target="/ppt/slides/slide1.xml" Id="Rd3be4def12a54d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018f478814c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068d012ab44c5" /><Relationship Type="http://schemas.openxmlformats.org/officeDocument/2006/relationships/notesMaster" Target="/ppt/notesMasters/notesMaster1.xml" Id="Re6379b39dc0948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D17 operating-model replacement native trace. Canonical image is the sole visual authority. Role cards, daily operating flow, review cycle, icons, diagonal geometry, and footer are editable native objects. No full-slide raster and no photo crop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2e3b0827246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cc262cf7324db7" /><Relationship Type="http://schemas.openxmlformats.org/officeDocument/2006/relationships/slideLayout" Target="/ppt/slideLayouts/slideLayout1.xml" Id="R6bfb657fc18a4d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fb657fc18a4d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88b5a3047446d" /><Relationship Type="http://schemas.openxmlformats.org/officeDocument/2006/relationships/notesSlide" Target="/ppt/notesSlides/notesSlide1.xml" Id="Ra93c0b21bb8f4c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d17-top-gray-diagonal">
            <a:extLst xmlns:a="http://schemas.openxmlformats.org/drawingml/2006/main">
              <a:ext uri="{FF2B5EF4-FFF2-40B4-BE49-F238E27FC236}">
                <a16:creationId xmlns:a16="http://schemas.microsoft.com/office/drawing/2014/main" id="{4FD8823A-1551-4B5D-9F09-90B9CB39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0"/>
            <a:ext cx="2619375" cy="4486275"/>
          </a:xfrm>
          <a:custGeom xmlns:a="http://schemas.openxmlformats.org/drawingml/2006/main">
            <a:pathLst>
              <a:path w="2619375" h="4486275">
                <a:moveTo>
                  <a:pt x="1343025" y="0"/>
                </a:moveTo>
                <a:lnTo>
                  <a:pt x="2619375" y="0"/>
                </a:lnTo>
                <a:lnTo>
                  <a:pt x="1304925" y="4486275"/>
                </a:lnTo>
                <a:lnTo>
                  <a:pt x="0" y="44862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17-top-pale-diagonal">
            <a:extLst xmlns:a="http://schemas.openxmlformats.org/drawingml/2006/main">
              <a:ext uri="{FF2B5EF4-FFF2-40B4-BE49-F238E27FC236}">
                <a16:creationId xmlns:a16="http://schemas.microsoft.com/office/drawing/2014/main" id="{BF2845F0-2B55-4F6F-A0B8-DFF6A5E3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0"/>
            <a:ext cx="2371725" cy="4486275"/>
          </a:xfrm>
          <a:custGeom xmlns:a="http://schemas.openxmlformats.org/drawingml/2006/main">
            <a:pathLst>
              <a:path w="2371725" h="4486275">
                <a:moveTo>
                  <a:pt x="1352550" y="0"/>
                </a:moveTo>
                <a:lnTo>
                  <a:pt x="2371725" y="0"/>
                </a:lnTo>
                <a:lnTo>
                  <a:pt x="1038225" y="4486275"/>
                </a:lnTo>
                <a:lnTo>
                  <a:pt x="0" y="4486275"/>
                </a:lnTo>
                <a:close/>
              </a:path>
            </a:pathLst>
          </a:cu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17-top-red-diagonal">
            <a:extLst xmlns:a="http://schemas.openxmlformats.org/drawingml/2006/main">
              <a:ext uri="{FF2B5EF4-FFF2-40B4-BE49-F238E27FC236}">
                <a16:creationId xmlns:a16="http://schemas.microsoft.com/office/drawing/2014/main" id="{7A7CA013-9FFC-4EC1-9260-F3B0A2BF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0"/>
            <a:ext cx="2181225" cy="4486275"/>
          </a:xfrm>
          <a:custGeom xmlns:a="http://schemas.openxmlformats.org/drawingml/2006/main">
            <a:pathLst>
              <a:path w="2181225" h="4486275">
                <a:moveTo>
                  <a:pt x="1419225" y="0"/>
                </a:moveTo>
                <a:lnTo>
                  <a:pt x="2181225" y="0"/>
                </a:lnTo>
                <a:lnTo>
                  <a:pt x="762000" y="4486275"/>
                </a:lnTo>
                <a:lnTo>
                  <a:pt x="0" y="4486275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17-bottom-red-band">
            <a:extLst xmlns:a="http://schemas.openxmlformats.org/drawingml/2006/main">
              <a:ext uri="{FF2B5EF4-FFF2-40B4-BE49-F238E27FC236}">
                <a16:creationId xmlns:a16="http://schemas.microsoft.com/office/drawing/2014/main" id="{FE60C747-966F-4D78-BCF4-6CE3470A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038975"/>
            <a:ext cx="3352800" cy="1924050"/>
          </a:xfrm>
          <a:custGeom xmlns:a="http://schemas.openxmlformats.org/drawingml/2006/main">
            <a:pathLst>
              <a:path w="3352800" h="1924050">
                <a:moveTo>
                  <a:pt x="0" y="1924050"/>
                </a:moveTo>
                <a:lnTo>
                  <a:pt x="3352800" y="0"/>
                </a:lnTo>
                <a:lnTo>
                  <a:pt x="3352800" y="19240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17-bottom-dark-band">
            <a:extLst xmlns:a="http://schemas.openxmlformats.org/drawingml/2006/main">
              <a:ext uri="{FF2B5EF4-FFF2-40B4-BE49-F238E27FC236}">
                <a16:creationId xmlns:a16="http://schemas.microsoft.com/office/drawing/2014/main" id="{02A76EC6-6112-48AE-BD96-152D5A6B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7781925"/>
            <a:ext cx="2305050" cy="1181100"/>
          </a:xfrm>
          <a:custGeom xmlns:a="http://schemas.openxmlformats.org/drawingml/2006/main">
            <a:pathLst>
              <a:path w="2305050" h="1181100">
                <a:moveTo>
                  <a:pt x="0" y="1181100"/>
                </a:moveTo>
                <a:lnTo>
                  <a:pt x="2305050" y="0"/>
                </a:lnTo>
                <a:lnTo>
                  <a:pt x="2305050" y="1181100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17-header-number">
            <a:extLst xmlns:a="http://schemas.openxmlformats.org/drawingml/2006/main">
              <a:ext uri="{FF2B5EF4-FFF2-40B4-BE49-F238E27FC236}">
                <a16:creationId xmlns:a16="http://schemas.microsoft.com/office/drawing/2014/main" id="{53E8B233-63F4-4395-AA3A-3BEDAAE5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5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D17</a:t>
            </a:r>
          </a:p>
        </p:txBody>
      </p:sp>
      <p:sp>
        <p:nvSpPr>
          <p:cNvPr id="7" name="d17-header-section">
            <a:extLst xmlns:a="http://schemas.openxmlformats.org/drawingml/2006/main">
              <a:ext uri="{FF2B5EF4-FFF2-40B4-BE49-F238E27FC236}">
                <a16:creationId xmlns:a16="http://schemas.microsoft.com/office/drawing/2014/main" id="{A28D049A-7FB7-4FDE-8BD2-8B52381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5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運用体制 / Operating Model</a:t>
            </a:r>
          </a:p>
        </p:txBody>
      </p:sp>
      <p:sp>
        <p:nvSpPr>
          <p:cNvPr id="8" name="d17-header-brand">
            <a:extLst xmlns:a="http://schemas.openxmlformats.org/drawingml/2006/main">
              <a:ext uri="{FF2B5EF4-FFF2-40B4-BE49-F238E27FC236}">
                <a16:creationId xmlns:a16="http://schemas.microsoft.com/office/drawing/2014/main" id="{DF19986B-9B8A-45E8-B42F-2947F9C3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5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t>提案クエスト</a:t>
            </a:r>
          </a:p>
        </p:txBody>
      </p:sp>
      <p:sp>
        <p:nvSpPr>
          <p:cNvPr id="9" name="d17-header-tagline">
            <a:extLst xmlns:a="http://schemas.openxmlformats.org/drawingml/2006/main">
              <a:ext uri="{FF2B5EF4-FFF2-40B4-BE49-F238E27FC236}">
                <a16:creationId xmlns:a16="http://schemas.microsoft.com/office/drawing/2014/main" id="{1CCCF59C-5DC1-4740-9776-BEB19CFE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81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AIで、提案をもっと速く、もっと強く。</a:t>
            </a:r>
          </a:p>
        </p:txBody>
      </p:sp>
      <p:sp>
        <p:nvSpPr>
          <p:cNvPr id="10" name="d17-header-english">
            <a:extLst xmlns:a="http://schemas.openxmlformats.org/drawingml/2006/main">
              <a:ext uri="{FF2B5EF4-FFF2-40B4-BE49-F238E27FC236}">
                <a16:creationId xmlns:a16="http://schemas.microsoft.com/office/drawing/2014/main" id="{71278418-E0A5-4129-89C1-4FDAE488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000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THINK TOGETHER,</a:t>
            </a:r>
          </a:p>
          <a:p xmlns:a="http://schemas.openxmlformats.org/drawingml/2006/main">
            <a:pPr algn="l">
              <a:defRPr sz="11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CREATE THE NEXT.</a:t>
            </a:r>
          </a:p>
        </p:txBody>
      </p:sp>
      <p:sp>
        <p:nvSpPr>
          <p:cNvPr id="11" name="d17-header-rule">
            <a:extLst xmlns:a="http://schemas.openxmlformats.org/drawingml/2006/main">
              <a:ext uri="{FF2B5EF4-FFF2-40B4-BE49-F238E27FC236}">
                <a16:creationId xmlns:a16="http://schemas.microsoft.com/office/drawing/2014/main" id="{8BAC2ABC-C5EA-4FA9-BB54-224E5E9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904875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1D28"/>
            </a:solidFill>
            <a:prstDash val="solid"/>
          </a:ln>
        </p:spPr>
      </p:sp>
      <p:sp>
        <p:nvSpPr>
          <p:cNvPr id="12" name="d17-header-red-rule">
            <a:extLst xmlns:a="http://schemas.openxmlformats.org/drawingml/2006/main">
              <a:ext uri="{FF2B5EF4-FFF2-40B4-BE49-F238E27FC236}">
                <a16:creationId xmlns:a16="http://schemas.microsoft.com/office/drawing/2014/main" id="{FCFF6068-3E05-4BF6-9100-FF4A20C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904875"/>
            <a:ext cx="323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1926"/>
            </a:solidFill>
            <a:prstDash val="solid"/>
          </a:ln>
        </p:spPr>
      </p:sp>
      <p:sp>
        <p:nvSpPr>
          <p:cNvPr id="13" name="d17-title">
            <a:extLst xmlns:a="http://schemas.openxmlformats.org/drawingml/2006/main">
              <a:ext uri="{FF2B5EF4-FFF2-40B4-BE49-F238E27FC236}">
                <a16:creationId xmlns:a16="http://schemas.microsoft.com/office/drawing/2014/main" id="{C5D0395F-D571-40F9-8F34-32F931F1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28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成果を継続させる運用体制</a:t>
            </a:r>
          </a:p>
        </p:txBody>
      </p:sp>
      <p:sp>
        <p:nvSpPr>
          <p:cNvPr id="14" name="d17-subtitle">
            <a:extLst xmlns:a="http://schemas.openxmlformats.org/drawingml/2006/main">
              <a:ext uri="{FF2B5EF4-FFF2-40B4-BE49-F238E27FC236}">
                <a16:creationId xmlns:a16="http://schemas.microsoft.com/office/drawing/2014/main" id="{206C9C42-EC03-41F2-BB30-550D969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81150"/>
            <a:ext cx="8858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AIと人の役割を明確にし、定例レビューと改善サイクルで、提案品質を継続的に高めます。</a:t>
            </a:r>
          </a:p>
        </p:txBody>
      </p:sp>
      <p:sp>
        <p:nvSpPr>
          <p:cNvPr id="15" name="d17-role-rule">
            <a:extLst xmlns:a="http://schemas.openxmlformats.org/drawingml/2006/main">
              <a:ext uri="{FF2B5EF4-FFF2-40B4-BE49-F238E27FC236}">
                <a16:creationId xmlns:a16="http://schemas.microsoft.com/office/drawing/2014/main" id="{440A9472-626D-400E-84A5-E51A510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9550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16" name="d17-role-heading">
            <a:extLst xmlns:a="http://schemas.openxmlformats.org/drawingml/2006/main">
              <a:ext uri="{FF2B5EF4-FFF2-40B4-BE49-F238E27FC236}">
                <a16:creationId xmlns:a16="http://schemas.microsoft.com/office/drawing/2014/main" id="{3009EAF0-ADBF-4E9F-B03C-62FB10B0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役割分担と責任範囲</a:t>
            </a:r>
          </a:p>
        </p:txBody>
      </p:sp>
      <p:sp>
        <p:nvSpPr>
          <p:cNvPr id="17" name="d17-role-card-0">
            <a:extLst xmlns:a="http://schemas.openxmlformats.org/drawingml/2006/main">
              <a:ext uri="{FF2B5EF4-FFF2-40B4-BE49-F238E27FC236}">
                <a16:creationId xmlns:a16="http://schemas.microsoft.com/office/drawing/2014/main" id="{D4111FCE-175C-48E0-A66D-7D4E7968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28875"/>
            <a:ext cx="27146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8" name="d17-role-icon-bg-0">
            <a:extLst xmlns:a="http://schemas.openxmlformats.org/drawingml/2006/main">
              <a:ext uri="{FF2B5EF4-FFF2-40B4-BE49-F238E27FC236}">
                <a16:creationId xmlns:a16="http://schemas.microsoft.com/office/drawing/2014/main" id="{9A04A0E6-BE2E-40FD-ACEA-5963410B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17-icon-role-0-head">
            <a:extLst xmlns:a="http://schemas.openxmlformats.org/drawingml/2006/main">
              <a:ext uri="{FF2B5EF4-FFF2-40B4-BE49-F238E27FC236}">
                <a16:creationId xmlns:a16="http://schemas.microsoft.com/office/drawing/2014/main" id="{3BC863E1-A6F0-4609-B72D-08269FAC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911" y="2655189"/>
            <a:ext cx="134303" cy="11191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d17-icon-role-0-shoulders">
            <a:extLst xmlns:a="http://schemas.openxmlformats.org/drawingml/2006/main">
              <a:ext uri="{FF2B5EF4-FFF2-40B4-BE49-F238E27FC236}">
                <a16:creationId xmlns:a16="http://schemas.microsoft.com/office/drawing/2014/main" id="{D6B0A6EE-6F2A-4904-AEB2-82093C3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330" y="2825306"/>
            <a:ext cx="295465" cy="170117"/>
          </a:xfrm>
          <a:custGeom xmlns:a="http://schemas.openxmlformats.org/drawingml/2006/main">
            <a:pathLst>
              <a:path w="295465" h="170117">
                <a:moveTo>
                  <a:pt x="0" y="170117"/>
                </a:moveTo>
                <a:lnTo>
                  <a:pt x="31337" y="49244"/>
                </a:lnTo>
                <a:lnTo>
                  <a:pt x="89535" y="0"/>
                </a:lnTo>
                <a:lnTo>
                  <a:pt x="205931" y="0"/>
                </a:lnTo>
                <a:lnTo>
                  <a:pt x="264128" y="49244"/>
                </a:lnTo>
                <a:lnTo>
                  <a:pt x="295465" y="1701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d17-icon-role-0-center">
            <a:extLst xmlns:a="http://schemas.openxmlformats.org/drawingml/2006/main">
              <a:ext uri="{FF2B5EF4-FFF2-40B4-BE49-F238E27FC236}">
                <a16:creationId xmlns:a16="http://schemas.microsoft.com/office/drawing/2014/main" id="{AEBCFC1E-D810-4C77-AE17-2F40FF6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3" y="2838736"/>
            <a:ext cx="9525" cy="129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d17-role-title-0">
            <a:extLst xmlns:a="http://schemas.openxmlformats.org/drawingml/2006/main">
              <a:ext uri="{FF2B5EF4-FFF2-40B4-BE49-F238E27FC236}">
                <a16:creationId xmlns:a16="http://schemas.microsoft.com/office/drawing/2014/main" id="{D5E63414-203E-44D1-8415-8EE98E12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574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経営・事業責任者</a:t>
            </a:r>
          </a:p>
        </p:txBody>
      </p:sp>
      <p:sp>
        <p:nvSpPr>
          <p:cNvPr id="23" name="d17-role-accent-0">
            <a:extLst xmlns:a="http://schemas.openxmlformats.org/drawingml/2006/main">
              <a:ext uri="{FF2B5EF4-FFF2-40B4-BE49-F238E27FC236}">
                <a16:creationId xmlns:a16="http://schemas.microsoft.com/office/drawing/2014/main" id="{B9A53BC2-EE41-4A1D-BE41-1E3434AE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933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方針・KPI・投資判断</a:t>
            </a:r>
          </a:p>
        </p:txBody>
      </p:sp>
      <p:sp>
        <p:nvSpPr>
          <p:cNvPr id="24" name="d17-role-body-0">
            <a:extLst xmlns:a="http://schemas.openxmlformats.org/drawingml/2006/main">
              <a:ext uri="{FF2B5EF4-FFF2-40B4-BE49-F238E27FC236}">
                <a16:creationId xmlns:a16="http://schemas.microsoft.com/office/drawing/2014/main" id="{44357CF6-26FF-4D6D-B6E9-AB288E4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226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成果指標の確認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優先テーマの決定</a:t>
            </a:r>
          </a:p>
        </p:txBody>
      </p:sp>
      <p:sp>
        <p:nvSpPr>
          <p:cNvPr id="25" name="d17-role-tag-bg-0">
            <a:extLst xmlns:a="http://schemas.openxmlformats.org/drawingml/2006/main">
              <a:ext uri="{FF2B5EF4-FFF2-40B4-BE49-F238E27FC236}">
                <a16:creationId xmlns:a16="http://schemas.microsoft.com/office/drawing/2014/main" id="{7F87D156-3CFC-4FC6-AF60-16D5159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52875"/>
            <a:ext cx="2333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17-role-tag-0">
            <a:extLst xmlns:a="http://schemas.openxmlformats.org/drawingml/2006/main">
              <a:ext uri="{FF2B5EF4-FFF2-40B4-BE49-F238E27FC236}">
                <a16:creationId xmlns:a16="http://schemas.microsoft.com/office/drawing/2014/main" id="{11B3F4C7-79F1-4C2D-9C6A-866947BD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4"/>
                </a:solidFill>
                <a:latin typeface="Arial"/>
                <a:ea typeface="Arial"/>
                <a:cs typeface="Arial"/>
              </a:rPr>
              <a:t>最終判断</a:t>
            </a:r>
          </a:p>
        </p:txBody>
      </p:sp>
      <p:sp>
        <p:nvSpPr>
          <p:cNvPr id="27" name="d17-role-card-1">
            <a:extLst xmlns:a="http://schemas.openxmlformats.org/drawingml/2006/main">
              <a:ext uri="{FF2B5EF4-FFF2-40B4-BE49-F238E27FC236}">
                <a16:creationId xmlns:a16="http://schemas.microsoft.com/office/drawing/2014/main" id="{824F92BB-7CE0-4A22-BB88-12972D4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28875"/>
            <a:ext cx="27146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8" name="d17-role-icon-bg-1">
            <a:extLst xmlns:a="http://schemas.openxmlformats.org/drawingml/2006/main">
              <a:ext uri="{FF2B5EF4-FFF2-40B4-BE49-F238E27FC236}">
                <a16:creationId xmlns:a16="http://schemas.microsoft.com/office/drawing/2014/main" id="{7E0E9169-3BCF-4972-8833-B9737731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17-icon-role-1-head">
            <a:extLst xmlns:a="http://schemas.openxmlformats.org/drawingml/2006/main">
              <a:ext uri="{FF2B5EF4-FFF2-40B4-BE49-F238E27FC236}">
                <a16:creationId xmlns:a16="http://schemas.microsoft.com/office/drawing/2014/main" id="{A20788DA-E6AA-4152-B6AC-78A9A1F0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936" y="2655189"/>
            <a:ext cx="134303" cy="11191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d17-icon-role-1-shoulders">
            <a:extLst xmlns:a="http://schemas.openxmlformats.org/drawingml/2006/main">
              <a:ext uri="{FF2B5EF4-FFF2-40B4-BE49-F238E27FC236}">
                <a16:creationId xmlns:a16="http://schemas.microsoft.com/office/drawing/2014/main" id="{B82CC596-366C-4211-ABF5-907001E0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355" y="2825306"/>
            <a:ext cx="295465" cy="170117"/>
          </a:xfrm>
          <a:custGeom xmlns:a="http://schemas.openxmlformats.org/drawingml/2006/main">
            <a:pathLst>
              <a:path w="295465" h="170117">
                <a:moveTo>
                  <a:pt x="0" y="170117"/>
                </a:moveTo>
                <a:lnTo>
                  <a:pt x="31337" y="49244"/>
                </a:lnTo>
                <a:lnTo>
                  <a:pt x="89535" y="0"/>
                </a:lnTo>
                <a:lnTo>
                  <a:pt x="205931" y="0"/>
                </a:lnTo>
                <a:lnTo>
                  <a:pt x="264128" y="49244"/>
                </a:lnTo>
                <a:lnTo>
                  <a:pt x="295465" y="1701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d17-icon-role-1-center">
            <a:extLst xmlns:a="http://schemas.openxmlformats.org/drawingml/2006/main">
              <a:ext uri="{FF2B5EF4-FFF2-40B4-BE49-F238E27FC236}">
                <a16:creationId xmlns:a16="http://schemas.microsoft.com/office/drawing/2014/main" id="{9407C855-A13D-403E-891D-34FB9A51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088" y="2838736"/>
            <a:ext cx="9525" cy="129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d17-role-title-1">
            <a:extLst xmlns:a="http://schemas.openxmlformats.org/drawingml/2006/main">
              <a:ext uri="{FF2B5EF4-FFF2-40B4-BE49-F238E27FC236}">
                <a16:creationId xmlns:a16="http://schemas.microsoft.com/office/drawing/2014/main" id="{6CF9F3F2-D4B2-4F36-81A4-9B834DD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574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営業責任者</a:t>
            </a:r>
          </a:p>
        </p:txBody>
      </p:sp>
      <p:sp>
        <p:nvSpPr>
          <p:cNvPr id="33" name="d17-role-accent-1">
            <a:extLst xmlns:a="http://schemas.openxmlformats.org/drawingml/2006/main">
              <a:ext uri="{FF2B5EF4-FFF2-40B4-BE49-F238E27FC236}">
                <a16:creationId xmlns:a16="http://schemas.microsoft.com/office/drawing/2014/main" id="{B3E03102-43DB-4FAC-9702-5305987A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33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運用責任・品質管理</a:t>
            </a:r>
          </a:p>
        </p:txBody>
      </p:sp>
      <p:sp>
        <p:nvSpPr>
          <p:cNvPr id="34" name="d17-role-body-1">
            <a:extLst xmlns:a="http://schemas.openxmlformats.org/drawingml/2006/main">
              <a:ext uri="{FF2B5EF4-FFF2-40B4-BE49-F238E27FC236}">
                <a16:creationId xmlns:a16="http://schemas.microsoft.com/office/drawing/2014/main" id="{80F03969-0F3A-468A-A921-9B5DA70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90900"/>
            <a:ext cx="226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提案品質の統一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レビュー基準の管理</a:t>
            </a:r>
          </a:p>
        </p:txBody>
      </p:sp>
      <p:sp>
        <p:nvSpPr>
          <p:cNvPr id="35" name="d17-role-tag-bg-1">
            <a:extLst xmlns:a="http://schemas.openxmlformats.org/drawingml/2006/main">
              <a:ext uri="{FF2B5EF4-FFF2-40B4-BE49-F238E27FC236}">
                <a16:creationId xmlns:a16="http://schemas.microsoft.com/office/drawing/2014/main" id="{8DEC1FE0-8AC8-47EC-A71F-AD0589EB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52875"/>
            <a:ext cx="2333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17-role-tag-1">
            <a:extLst xmlns:a="http://schemas.openxmlformats.org/drawingml/2006/main">
              <a:ext uri="{FF2B5EF4-FFF2-40B4-BE49-F238E27FC236}">
                <a16:creationId xmlns:a16="http://schemas.microsoft.com/office/drawing/2014/main" id="{DEC7D594-2769-450D-98C9-CB16E09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10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4"/>
                </a:solidFill>
                <a:latin typeface="Arial"/>
                <a:ea typeface="Arial"/>
                <a:cs typeface="Arial"/>
              </a:rPr>
              <a:t>運用管理</a:t>
            </a:r>
          </a:p>
        </p:txBody>
      </p:sp>
      <p:sp>
        <p:nvSpPr>
          <p:cNvPr id="37" name="d17-role-card-2">
            <a:extLst xmlns:a="http://schemas.openxmlformats.org/drawingml/2006/main">
              <a:ext uri="{FF2B5EF4-FFF2-40B4-BE49-F238E27FC236}">
                <a16:creationId xmlns:a16="http://schemas.microsoft.com/office/drawing/2014/main" id="{FECA4423-AF47-4794-8CE1-21CE921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28875"/>
            <a:ext cx="27146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38" name="d17-role-icon-bg-2">
            <a:extLst xmlns:a="http://schemas.openxmlformats.org/drawingml/2006/main">
              <a:ext uri="{FF2B5EF4-FFF2-40B4-BE49-F238E27FC236}">
                <a16:creationId xmlns:a16="http://schemas.microsoft.com/office/drawing/2014/main" id="{32C1650F-CAA9-42C4-90D8-8E3B1FC2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193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53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17-icon-role-2-head">
            <a:extLst xmlns:a="http://schemas.openxmlformats.org/drawingml/2006/main">
              <a:ext uri="{FF2B5EF4-FFF2-40B4-BE49-F238E27FC236}">
                <a16:creationId xmlns:a16="http://schemas.microsoft.com/office/drawing/2014/main" id="{42F86402-C803-4C16-9D5F-3B8E2E50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961" y="2655189"/>
            <a:ext cx="134303" cy="11191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d17-icon-role-2-shoulders">
            <a:extLst xmlns:a="http://schemas.openxmlformats.org/drawingml/2006/main">
              <a:ext uri="{FF2B5EF4-FFF2-40B4-BE49-F238E27FC236}">
                <a16:creationId xmlns:a16="http://schemas.microsoft.com/office/drawing/2014/main" id="{CB88F0E7-5151-405B-86FA-66CFAA14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380" y="2825306"/>
            <a:ext cx="295465" cy="170117"/>
          </a:xfrm>
          <a:custGeom xmlns:a="http://schemas.openxmlformats.org/drawingml/2006/main">
            <a:pathLst>
              <a:path w="295465" h="170117">
                <a:moveTo>
                  <a:pt x="0" y="170117"/>
                </a:moveTo>
                <a:lnTo>
                  <a:pt x="31337" y="49244"/>
                </a:lnTo>
                <a:lnTo>
                  <a:pt x="89535" y="0"/>
                </a:lnTo>
                <a:lnTo>
                  <a:pt x="205931" y="0"/>
                </a:lnTo>
                <a:lnTo>
                  <a:pt x="264128" y="49244"/>
                </a:lnTo>
                <a:lnTo>
                  <a:pt x="295465" y="1701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1" name="d17-icon-role-2-center">
            <a:extLst xmlns:a="http://schemas.openxmlformats.org/drawingml/2006/main">
              <a:ext uri="{FF2B5EF4-FFF2-40B4-BE49-F238E27FC236}">
                <a16:creationId xmlns:a16="http://schemas.microsoft.com/office/drawing/2014/main" id="{86930C54-1C32-4F47-A9B9-B3EE6372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2838736"/>
            <a:ext cx="9525" cy="12982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d17-role-title-2">
            <a:extLst xmlns:a="http://schemas.openxmlformats.org/drawingml/2006/main">
              <a:ext uri="{FF2B5EF4-FFF2-40B4-BE49-F238E27FC236}">
                <a16:creationId xmlns:a16="http://schemas.microsoft.com/office/drawing/2014/main" id="{38EEA11D-3D69-4B06-BC28-E9232FD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6574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利用担当者</a:t>
            </a:r>
          </a:p>
        </p:txBody>
      </p:sp>
      <p:sp>
        <p:nvSpPr>
          <p:cNvPr id="43" name="d17-role-accent-2">
            <a:extLst xmlns:a="http://schemas.openxmlformats.org/drawingml/2006/main">
              <a:ext uri="{FF2B5EF4-FFF2-40B4-BE49-F238E27FC236}">
                <a16:creationId xmlns:a16="http://schemas.microsoft.com/office/drawing/2014/main" id="{32E4E5E2-86C0-4247-A585-01D25D09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33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案件入力・確認・活用</a:t>
            </a:r>
          </a:p>
        </p:txBody>
      </p:sp>
      <p:sp>
        <p:nvSpPr>
          <p:cNvPr id="44" name="d17-role-body-2">
            <a:extLst xmlns:a="http://schemas.openxmlformats.org/drawingml/2006/main">
              <a:ext uri="{FF2B5EF4-FFF2-40B4-BE49-F238E27FC236}">
                <a16:creationId xmlns:a16="http://schemas.microsoft.com/office/drawing/2014/main" id="{A0680F28-4632-4C9C-9CF5-5FB02524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90900"/>
            <a:ext cx="226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AI生成内容の確認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顧客向け最終調整</a:t>
            </a:r>
          </a:p>
        </p:txBody>
      </p:sp>
      <p:sp>
        <p:nvSpPr>
          <p:cNvPr id="45" name="d17-role-tag-bg-2">
            <a:extLst xmlns:a="http://schemas.openxmlformats.org/drawingml/2006/main">
              <a:ext uri="{FF2B5EF4-FFF2-40B4-BE49-F238E27FC236}">
                <a16:creationId xmlns:a16="http://schemas.microsoft.com/office/drawing/2014/main" id="{836F0C23-83D5-4E4A-8F28-DA36050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52875"/>
            <a:ext cx="2333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17-role-tag-2">
            <a:extLst xmlns:a="http://schemas.openxmlformats.org/drawingml/2006/main">
              <a:ext uri="{FF2B5EF4-FFF2-40B4-BE49-F238E27FC236}">
                <a16:creationId xmlns:a16="http://schemas.microsoft.com/office/drawing/2014/main" id="{1962425C-E517-4D7F-AB79-A86C4747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4"/>
                </a:solidFill>
                <a:latin typeface="Arial"/>
                <a:ea typeface="Arial"/>
                <a:cs typeface="Arial"/>
              </a:rPr>
              <a:t>実行・確認</a:t>
            </a:r>
          </a:p>
        </p:txBody>
      </p:sp>
      <p:sp>
        <p:nvSpPr>
          <p:cNvPr id="47" name="d17-role-card-3">
            <a:extLst xmlns:a="http://schemas.openxmlformats.org/drawingml/2006/main">
              <a:ext uri="{FF2B5EF4-FFF2-40B4-BE49-F238E27FC236}">
                <a16:creationId xmlns:a16="http://schemas.microsoft.com/office/drawing/2014/main" id="{18DCFD06-4716-4653-B523-26F9736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28875"/>
            <a:ext cx="27146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8" name="d17-role-icon-bg-3">
            <a:extLst xmlns:a="http://schemas.openxmlformats.org/drawingml/2006/main">
              <a:ext uri="{FF2B5EF4-FFF2-40B4-BE49-F238E27FC236}">
                <a16:creationId xmlns:a16="http://schemas.microsoft.com/office/drawing/2014/main" id="{4EDD2A32-D7CF-4A83-8CED-576E6018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19375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17-icon-role-3-label">
            <a:extLst xmlns:a="http://schemas.openxmlformats.org/drawingml/2006/main">
              <a:ext uri="{FF2B5EF4-FFF2-40B4-BE49-F238E27FC236}">
                <a16:creationId xmlns:a16="http://schemas.microsoft.com/office/drawing/2014/main" id="{477C7AD2-03B1-487C-BC5B-2C3796DD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6817"/>
            <a:ext cx="447675" cy="156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0" name="d17-role-title-3">
            <a:extLst xmlns:a="http://schemas.openxmlformats.org/drawingml/2006/main">
              <a:ext uri="{FF2B5EF4-FFF2-40B4-BE49-F238E27FC236}">
                <a16:creationId xmlns:a16="http://schemas.microsoft.com/office/drawing/2014/main" id="{E31001AF-7B72-41E2-B0A3-89F06D1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574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AI / システム</a:t>
            </a:r>
          </a:p>
        </p:txBody>
      </p:sp>
      <p:sp>
        <p:nvSpPr>
          <p:cNvPr id="51" name="d17-role-accent-3">
            <a:extLst xmlns:a="http://schemas.openxmlformats.org/drawingml/2006/main">
              <a:ext uri="{FF2B5EF4-FFF2-40B4-BE49-F238E27FC236}">
                <a16:creationId xmlns:a16="http://schemas.microsoft.com/office/drawing/2014/main" id="{0E48851F-2F0C-4A66-B404-82F526D2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分析・生成・記録</a:t>
            </a:r>
          </a:p>
        </p:txBody>
      </p:sp>
      <p:sp>
        <p:nvSpPr>
          <p:cNvPr id="52" name="d17-role-body-3">
            <a:extLst xmlns:a="http://schemas.openxmlformats.org/drawingml/2006/main">
              <a:ext uri="{FF2B5EF4-FFF2-40B4-BE49-F238E27FC236}">
                <a16:creationId xmlns:a16="http://schemas.microsoft.com/office/drawing/2014/main" id="{22A35E21-7DDA-4494-9A37-A48A2074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226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情報整理・資料生成</a:t>
            </a:r>
          </a:p>
          <a:p xmlns:a="http://schemas.openxmlformats.org/drawingml/2006/main">
            <a:pPr algn="l">
              <a:defRPr sz="120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ナレッジ蓄積</a:t>
            </a:r>
          </a:p>
        </p:txBody>
      </p:sp>
      <p:sp>
        <p:nvSpPr>
          <p:cNvPr id="53" name="d17-role-tag-bg-3">
            <a:extLst xmlns:a="http://schemas.openxmlformats.org/drawingml/2006/main">
              <a:ext uri="{FF2B5EF4-FFF2-40B4-BE49-F238E27FC236}">
                <a16:creationId xmlns:a16="http://schemas.microsoft.com/office/drawing/2014/main" id="{7B48BEF6-8273-4CA0-96EC-28FDE0AC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52875"/>
            <a:ext cx="23336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17-role-tag-3">
            <a:extLst xmlns:a="http://schemas.openxmlformats.org/drawingml/2006/main">
              <a:ext uri="{FF2B5EF4-FFF2-40B4-BE49-F238E27FC236}">
                <a16:creationId xmlns:a16="http://schemas.microsoft.com/office/drawing/2014/main" id="{10722C1B-91CA-4724-9ADE-4B59FCB5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0100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26174"/>
                </a:solidFill>
                <a:latin typeface="Arial"/>
                <a:ea typeface="Arial"/>
                <a:cs typeface="Arial"/>
              </a:rPr>
              <a:t>支援・自動化</a:t>
            </a:r>
          </a:p>
        </p:txBody>
      </p:sp>
      <p:sp>
        <p:nvSpPr>
          <p:cNvPr id="55" name="d17-flow-rule">
            <a:extLst xmlns:a="http://schemas.openxmlformats.org/drawingml/2006/main">
              <a:ext uri="{FF2B5EF4-FFF2-40B4-BE49-F238E27FC236}">
                <a16:creationId xmlns:a16="http://schemas.microsoft.com/office/drawing/2014/main" id="{78730BF4-B4A6-4491-8443-D8D2E0AB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762500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56" name="d17-flow-heading">
            <a:extLst xmlns:a="http://schemas.openxmlformats.org/drawingml/2006/main">
              <a:ext uri="{FF2B5EF4-FFF2-40B4-BE49-F238E27FC236}">
                <a16:creationId xmlns:a16="http://schemas.microsoft.com/office/drawing/2014/main" id="{BCE35EBF-63CD-4168-B0F9-FB9F96A7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日常運用フロー</a:t>
            </a:r>
          </a:p>
        </p:txBody>
      </p:sp>
      <p:sp>
        <p:nvSpPr>
          <p:cNvPr id="57" name="d17-flow-card-0">
            <a:extLst xmlns:a="http://schemas.openxmlformats.org/drawingml/2006/main">
              <a:ext uri="{FF2B5EF4-FFF2-40B4-BE49-F238E27FC236}">
                <a16:creationId xmlns:a16="http://schemas.microsoft.com/office/drawing/2014/main" id="{21F63AB6-6561-4CF6-BFC1-B188BB5B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958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8" name="d17-flow-num-bg-0">
            <a:extLst xmlns:a="http://schemas.openxmlformats.org/drawingml/2006/main">
              <a:ext uri="{FF2B5EF4-FFF2-40B4-BE49-F238E27FC236}">
                <a16:creationId xmlns:a16="http://schemas.microsoft.com/office/drawing/2014/main" id="{56187E86-05D1-4959-B9BD-A81F4989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482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17-flow-num-0">
            <a:extLst xmlns:a="http://schemas.openxmlformats.org/drawingml/2006/main">
              <a:ext uri="{FF2B5EF4-FFF2-40B4-BE49-F238E27FC236}">
                <a16:creationId xmlns:a16="http://schemas.microsoft.com/office/drawing/2014/main" id="{CD49CA2B-6585-44C5-8CD1-3EC1C851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0" name="d17-flow-title-0">
            <a:extLst xmlns:a="http://schemas.openxmlformats.org/drawingml/2006/main">
              <a:ext uri="{FF2B5EF4-FFF2-40B4-BE49-F238E27FC236}">
                <a16:creationId xmlns:a16="http://schemas.microsoft.com/office/drawing/2014/main" id="{BA9C6BC8-211E-4BD7-B31D-D5EAF77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案件情報を入力</a:t>
            </a:r>
          </a:p>
        </p:txBody>
      </p:sp>
      <p:sp>
        <p:nvSpPr>
          <p:cNvPr id="61" name="d17-flow-body-0">
            <a:extLst xmlns:a="http://schemas.openxmlformats.org/drawingml/2006/main">
              <a:ext uri="{FF2B5EF4-FFF2-40B4-BE49-F238E27FC236}">
                <a16:creationId xmlns:a16="http://schemas.microsoft.com/office/drawing/2014/main" id="{CFA4E026-3388-42E2-AA72-3705ECA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顧客・案件条件を登録</a:t>
            </a:r>
          </a:p>
        </p:txBody>
      </p:sp>
      <p:sp>
        <p:nvSpPr>
          <p:cNvPr id="62" name="d17-flow-arrow-0">
            <a:extLst xmlns:a="http://schemas.openxmlformats.org/drawingml/2006/main">
              <a:ext uri="{FF2B5EF4-FFF2-40B4-BE49-F238E27FC236}">
                <a16:creationId xmlns:a16="http://schemas.microsoft.com/office/drawing/2014/main" id="{6D37A338-740B-4ECE-8B59-0710EBA5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562600"/>
            <a:ext cx="247650" cy="304800"/>
          </a:xfrm>
          <a:custGeom xmlns:a="http://schemas.openxmlformats.org/drawingml/2006/main">
            <a:pathLst>
              <a:path w="247650" h="3048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47650" y="152400"/>
                </a:lnTo>
                <a:lnTo>
                  <a:pt x="123825" y="304800"/>
                </a:lnTo>
                <a:lnTo>
                  <a:pt x="12382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17-flow-card-1">
            <a:extLst xmlns:a="http://schemas.openxmlformats.org/drawingml/2006/main">
              <a:ext uri="{FF2B5EF4-FFF2-40B4-BE49-F238E27FC236}">
                <a16:creationId xmlns:a16="http://schemas.microsoft.com/office/drawing/2014/main" id="{A7CC3239-78F9-4B68-AC9F-3A77674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958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64" name="d17-flow-num-bg-1">
            <a:extLst xmlns:a="http://schemas.openxmlformats.org/drawingml/2006/main">
              <a:ext uri="{FF2B5EF4-FFF2-40B4-BE49-F238E27FC236}">
                <a16:creationId xmlns:a16="http://schemas.microsoft.com/office/drawing/2014/main" id="{7A10F298-8525-4B2A-8256-DEB265A3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482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17-flow-num-1">
            <a:extLst xmlns:a="http://schemas.openxmlformats.org/drawingml/2006/main">
              <a:ext uri="{FF2B5EF4-FFF2-40B4-BE49-F238E27FC236}">
                <a16:creationId xmlns:a16="http://schemas.microsoft.com/office/drawing/2014/main" id="{A7EDC4AB-01B1-4E12-8289-0077A455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6" name="d17-flow-title-1">
            <a:extLst xmlns:a="http://schemas.openxmlformats.org/drawingml/2006/main">
              <a:ext uri="{FF2B5EF4-FFF2-40B4-BE49-F238E27FC236}">
                <a16:creationId xmlns:a16="http://schemas.microsoft.com/office/drawing/2014/main" id="{FBFA177E-7A85-4672-A696-920A92F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AIが分析・生成</a:t>
            </a:r>
          </a:p>
        </p:txBody>
      </p:sp>
      <p:sp>
        <p:nvSpPr>
          <p:cNvPr id="67" name="d17-flow-body-1">
            <a:extLst xmlns:a="http://schemas.openxmlformats.org/drawingml/2006/main">
              <a:ext uri="{FF2B5EF4-FFF2-40B4-BE49-F238E27FC236}">
                <a16:creationId xmlns:a16="http://schemas.microsoft.com/office/drawing/2014/main" id="{ECD74BF8-6B75-497B-994D-71A705AB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772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提案書・見積・カンペを作成</a:t>
            </a:r>
          </a:p>
        </p:txBody>
      </p:sp>
      <p:sp>
        <p:nvSpPr>
          <p:cNvPr id="68" name="d17-flow-arrow-1">
            <a:extLst xmlns:a="http://schemas.openxmlformats.org/drawingml/2006/main">
              <a:ext uri="{FF2B5EF4-FFF2-40B4-BE49-F238E27FC236}">
                <a16:creationId xmlns:a16="http://schemas.microsoft.com/office/drawing/2014/main" id="{330FCB53-D76C-44D3-A68C-5FEBD24E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62600"/>
            <a:ext cx="247650" cy="304800"/>
          </a:xfrm>
          <a:custGeom xmlns:a="http://schemas.openxmlformats.org/drawingml/2006/main">
            <a:pathLst>
              <a:path w="247650" h="3048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47650" y="152400"/>
                </a:lnTo>
                <a:lnTo>
                  <a:pt x="123825" y="304800"/>
                </a:lnTo>
                <a:lnTo>
                  <a:pt x="12382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17-flow-card-2">
            <a:extLst xmlns:a="http://schemas.openxmlformats.org/drawingml/2006/main">
              <a:ext uri="{FF2B5EF4-FFF2-40B4-BE49-F238E27FC236}">
                <a16:creationId xmlns:a16="http://schemas.microsoft.com/office/drawing/2014/main" id="{C44D7577-0DD8-4166-B55F-5C6C6AB6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958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0" name="d17-flow-num-bg-2">
            <a:extLst xmlns:a="http://schemas.openxmlformats.org/drawingml/2006/main">
              <a:ext uri="{FF2B5EF4-FFF2-40B4-BE49-F238E27FC236}">
                <a16:creationId xmlns:a16="http://schemas.microsoft.com/office/drawing/2014/main" id="{0C2F1B2E-A883-45EF-AA61-F2AB4DB6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482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17-flow-num-2">
            <a:extLst xmlns:a="http://schemas.openxmlformats.org/drawingml/2006/main">
              <a:ext uri="{FF2B5EF4-FFF2-40B4-BE49-F238E27FC236}">
                <a16:creationId xmlns:a16="http://schemas.microsoft.com/office/drawing/2014/main" id="{797D9A1E-EE81-479E-BF2B-68900A85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3340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2" name="d17-flow-title-2">
            <a:extLst xmlns:a="http://schemas.openxmlformats.org/drawingml/2006/main">
              <a:ext uri="{FF2B5EF4-FFF2-40B4-BE49-F238E27FC236}">
                <a16:creationId xmlns:a16="http://schemas.microsoft.com/office/drawing/2014/main" id="{5A9AD08E-FAB0-4DAF-9F8F-008AA5C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担当者が確認</a:t>
            </a:r>
          </a:p>
        </p:txBody>
      </p:sp>
      <p:sp>
        <p:nvSpPr>
          <p:cNvPr id="73" name="d17-flow-body-2">
            <a:extLst xmlns:a="http://schemas.openxmlformats.org/drawingml/2006/main">
              <a:ext uri="{FF2B5EF4-FFF2-40B4-BE49-F238E27FC236}">
                <a16:creationId xmlns:a16="http://schemas.microsoft.com/office/drawing/2014/main" id="{C7EA8F03-A0FB-4013-A678-2E90AA2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72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根拠・表現・条件を調整</a:t>
            </a:r>
          </a:p>
        </p:txBody>
      </p:sp>
      <p:sp>
        <p:nvSpPr>
          <p:cNvPr id="74" name="d17-flow-arrow-2">
            <a:extLst xmlns:a="http://schemas.openxmlformats.org/drawingml/2006/main">
              <a:ext uri="{FF2B5EF4-FFF2-40B4-BE49-F238E27FC236}">
                <a16:creationId xmlns:a16="http://schemas.microsoft.com/office/drawing/2014/main" id="{02CBF982-2A57-4C3A-96D4-A7EC87EB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562600"/>
            <a:ext cx="247650" cy="304800"/>
          </a:xfrm>
          <a:custGeom xmlns:a="http://schemas.openxmlformats.org/drawingml/2006/main">
            <a:pathLst>
              <a:path w="247650" h="3048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47650" y="152400"/>
                </a:lnTo>
                <a:lnTo>
                  <a:pt x="123825" y="304800"/>
                </a:lnTo>
                <a:lnTo>
                  <a:pt x="12382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17-flow-card-3">
            <a:extLst xmlns:a="http://schemas.openxmlformats.org/drawingml/2006/main">
              <a:ext uri="{FF2B5EF4-FFF2-40B4-BE49-F238E27FC236}">
                <a16:creationId xmlns:a16="http://schemas.microsoft.com/office/drawing/2014/main" id="{C943BFEC-A57C-4BE4-A45E-3FBA414D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0958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76" name="d17-flow-num-bg-3">
            <a:extLst xmlns:a="http://schemas.openxmlformats.org/drawingml/2006/main">
              <a:ext uri="{FF2B5EF4-FFF2-40B4-BE49-F238E27FC236}">
                <a16:creationId xmlns:a16="http://schemas.microsoft.com/office/drawing/2014/main" id="{92D460CE-9743-4FC5-B24E-9F4439EE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482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17-flow-num-3">
            <a:extLst xmlns:a="http://schemas.openxmlformats.org/drawingml/2006/main">
              <a:ext uri="{FF2B5EF4-FFF2-40B4-BE49-F238E27FC236}">
                <a16:creationId xmlns:a16="http://schemas.microsoft.com/office/drawing/2014/main" id="{51EAB79C-DD36-488B-814C-5E518DF4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3340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8" name="d17-flow-title-3">
            <a:extLst xmlns:a="http://schemas.openxmlformats.org/drawingml/2006/main">
              <a:ext uri="{FF2B5EF4-FFF2-40B4-BE49-F238E27FC236}">
                <a16:creationId xmlns:a16="http://schemas.microsoft.com/office/drawing/2014/main" id="{45E6B2FB-41FC-48DC-81D1-4D62F85A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責任者レビュー</a:t>
            </a:r>
          </a:p>
        </p:txBody>
      </p:sp>
      <p:sp>
        <p:nvSpPr>
          <p:cNvPr id="79" name="d17-flow-body-3">
            <a:extLst xmlns:a="http://schemas.openxmlformats.org/drawingml/2006/main">
              <a:ext uri="{FF2B5EF4-FFF2-40B4-BE49-F238E27FC236}">
                <a16:creationId xmlns:a16="http://schemas.microsoft.com/office/drawing/2014/main" id="{4BA866B5-0AFE-4155-8EA0-DA01686D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72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品質・リスク・判断条件を確認</a:t>
            </a:r>
          </a:p>
        </p:txBody>
      </p:sp>
      <p:sp>
        <p:nvSpPr>
          <p:cNvPr id="80" name="d17-flow-arrow-3">
            <a:extLst xmlns:a="http://schemas.openxmlformats.org/drawingml/2006/main">
              <a:ext uri="{FF2B5EF4-FFF2-40B4-BE49-F238E27FC236}">
                <a16:creationId xmlns:a16="http://schemas.microsoft.com/office/drawing/2014/main" id="{0119EEB4-01F3-4364-9D69-65435D8F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562600"/>
            <a:ext cx="247650" cy="304800"/>
          </a:xfrm>
          <a:custGeom xmlns:a="http://schemas.openxmlformats.org/drawingml/2006/main">
            <a:pathLst>
              <a:path w="247650" h="304800">
                <a:moveTo>
                  <a:pt x="0" y="57150"/>
                </a:moveTo>
                <a:lnTo>
                  <a:pt x="123825" y="57150"/>
                </a:lnTo>
                <a:lnTo>
                  <a:pt x="123825" y="0"/>
                </a:lnTo>
                <a:lnTo>
                  <a:pt x="247650" y="152400"/>
                </a:lnTo>
                <a:lnTo>
                  <a:pt x="123825" y="304800"/>
                </a:lnTo>
                <a:lnTo>
                  <a:pt x="123825" y="247650"/>
                </a:lnTo>
                <a:lnTo>
                  <a:pt x="0" y="24765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17-flow-card-4">
            <a:extLst xmlns:a="http://schemas.openxmlformats.org/drawingml/2006/main">
              <a:ext uri="{FF2B5EF4-FFF2-40B4-BE49-F238E27FC236}">
                <a16:creationId xmlns:a16="http://schemas.microsoft.com/office/drawing/2014/main" id="{4BE20261-9DDB-45F3-BF1B-3B0B263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095875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82" name="d17-flow-num-bg-4">
            <a:extLst xmlns:a="http://schemas.openxmlformats.org/drawingml/2006/main">
              <a:ext uri="{FF2B5EF4-FFF2-40B4-BE49-F238E27FC236}">
                <a16:creationId xmlns:a16="http://schemas.microsoft.com/office/drawing/2014/main" id="{F416AC76-FB78-4517-B963-91CFC4B2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48275"/>
            <a:ext cx="371475" cy="371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17-flow-num-4">
            <a:extLst xmlns:a="http://schemas.openxmlformats.org/drawingml/2006/main">
              <a:ext uri="{FF2B5EF4-FFF2-40B4-BE49-F238E27FC236}">
                <a16:creationId xmlns:a16="http://schemas.microsoft.com/office/drawing/2014/main" id="{1E0EE16A-39FE-4EE7-B3FA-8E775D5E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4" name="d17-flow-title-4">
            <a:extLst xmlns:a="http://schemas.openxmlformats.org/drawingml/2006/main">
              <a:ext uri="{FF2B5EF4-FFF2-40B4-BE49-F238E27FC236}">
                <a16:creationId xmlns:a16="http://schemas.microsoft.com/office/drawing/2014/main" id="{AF1BC3FC-4B66-4ACC-B8EB-4E837613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257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提案・記録</a:t>
            </a:r>
          </a:p>
        </p:txBody>
      </p:sp>
      <p:sp>
        <p:nvSpPr>
          <p:cNvPr id="85" name="d17-flow-body-4">
            <a:extLst xmlns:a="http://schemas.openxmlformats.org/drawingml/2006/main">
              <a:ext uri="{FF2B5EF4-FFF2-40B4-BE49-F238E27FC236}">
                <a16:creationId xmlns:a16="http://schemas.microsoft.com/office/drawing/2014/main" id="{30653FBF-A30D-4C88-9C5E-5CC28D41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7721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顧客提案後、結果を蓄積</a:t>
            </a:r>
          </a:p>
        </p:txBody>
      </p:sp>
      <p:sp>
        <p:nvSpPr>
          <p:cNvPr id="86" name="d17-cycle-rule">
            <a:extLst xmlns:a="http://schemas.openxmlformats.org/drawingml/2006/main">
              <a:ext uri="{FF2B5EF4-FFF2-40B4-BE49-F238E27FC236}">
                <a16:creationId xmlns:a16="http://schemas.microsoft.com/office/drawing/2014/main" id="{B40A6EFF-6898-472F-9A9C-B31F641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677025"/>
            <a:ext cx="2000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1926"/>
            </a:solidFill>
            <a:prstDash val="solid"/>
          </a:ln>
        </p:spPr>
      </p:sp>
      <p:sp>
        <p:nvSpPr>
          <p:cNvPr id="87" name="d17-cycle-heading">
            <a:extLst xmlns:a="http://schemas.openxmlformats.org/drawingml/2006/main">
              <a:ext uri="{FF2B5EF4-FFF2-40B4-BE49-F238E27FC236}">
                <a16:creationId xmlns:a16="http://schemas.microsoft.com/office/drawing/2014/main" id="{CFBE0CF9-2035-4AFD-BFE1-C17D8493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定例レビューと改善サイクル</a:t>
            </a:r>
          </a:p>
        </p:txBody>
      </p:sp>
      <p:sp>
        <p:nvSpPr>
          <p:cNvPr id="88" name="d17-cycle-0">
            <a:extLst xmlns:a="http://schemas.openxmlformats.org/drawingml/2006/main">
              <a:ext uri="{FF2B5EF4-FFF2-40B4-BE49-F238E27FC236}">
                <a16:creationId xmlns:a16="http://schemas.microsoft.com/office/drawing/2014/main" id="{E0EC8856-C075-4AED-8558-AA3BE23C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953250"/>
            <a:ext cx="37147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17-cycle-period-0">
            <a:extLst xmlns:a="http://schemas.openxmlformats.org/drawingml/2006/main">
              <a:ext uri="{FF2B5EF4-FFF2-40B4-BE49-F238E27FC236}">
                <a16:creationId xmlns:a16="http://schemas.microsoft.com/office/drawing/2014/main" id="{CA71FD6E-5174-4931-B478-1F5AF5FB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115175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毎週</a:t>
            </a:r>
          </a:p>
        </p:txBody>
      </p:sp>
      <p:sp>
        <p:nvSpPr>
          <p:cNvPr id="90" name="d17-cycle-title-0">
            <a:extLst xmlns:a="http://schemas.openxmlformats.org/drawingml/2006/main">
              <a:ext uri="{FF2B5EF4-FFF2-40B4-BE49-F238E27FC236}">
                <a16:creationId xmlns:a16="http://schemas.microsoft.com/office/drawing/2014/main" id="{FC9D146B-67DE-4B20-9ED6-B97BFAEE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105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案件レビュー</a:t>
            </a:r>
          </a:p>
        </p:txBody>
      </p:sp>
      <p:sp>
        <p:nvSpPr>
          <p:cNvPr id="91" name="d17-cycle-body-0">
            <a:extLst xmlns:a="http://schemas.openxmlformats.org/drawingml/2006/main">
              <a:ext uri="{FF2B5EF4-FFF2-40B4-BE49-F238E27FC236}">
                <a16:creationId xmlns:a16="http://schemas.microsoft.com/office/drawing/2014/main" id="{F4152A28-B395-4C1E-97C9-1A5EF910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4485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生成品質・修正内容・案件進捗を確認</a:t>
            </a:r>
          </a:p>
        </p:txBody>
      </p:sp>
      <p:sp>
        <p:nvSpPr>
          <p:cNvPr id="92" name="d17-cycle-1">
            <a:extLst xmlns:a="http://schemas.openxmlformats.org/drawingml/2006/main">
              <a:ext uri="{FF2B5EF4-FFF2-40B4-BE49-F238E27FC236}">
                <a16:creationId xmlns:a16="http://schemas.microsoft.com/office/drawing/2014/main" id="{EDBF3FE5-8DDD-4605-BAFF-62E5CB0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953250"/>
            <a:ext cx="37147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17-cycle-period-1">
            <a:extLst xmlns:a="http://schemas.openxmlformats.org/drawingml/2006/main">
              <a:ext uri="{FF2B5EF4-FFF2-40B4-BE49-F238E27FC236}">
                <a16:creationId xmlns:a16="http://schemas.microsoft.com/office/drawing/2014/main" id="{41A6BAA7-16BB-4BA2-8F87-E62E4DF7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115175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毎月</a:t>
            </a:r>
          </a:p>
        </p:txBody>
      </p:sp>
      <p:sp>
        <p:nvSpPr>
          <p:cNvPr id="94" name="d17-cycle-title-1">
            <a:extLst xmlns:a="http://schemas.openxmlformats.org/drawingml/2006/main">
              <a:ext uri="{FF2B5EF4-FFF2-40B4-BE49-F238E27FC236}">
                <a16:creationId xmlns:a16="http://schemas.microsoft.com/office/drawing/2014/main" id="{5A9F5C76-CE7C-4771-9308-A1A8674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7105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KPIレビュー</a:t>
            </a:r>
          </a:p>
        </p:txBody>
      </p:sp>
      <p:sp>
        <p:nvSpPr>
          <p:cNvPr id="95" name="d17-cycle-body-1">
            <a:extLst xmlns:a="http://schemas.openxmlformats.org/drawingml/2006/main">
              <a:ext uri="{FF2B5EF4-FFF2-40B4-BE49-F238E27FC236}">
                <a16:creationId xmlns:a16="http://schemas.microsoft.com/office/drawing/2014/main" id="{30FE6DAB-A7C0-4835-A1A6-18A1F0B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74485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作成時間・提案件数・受注率などを確認</a:t>
            </a:r>
          </a:p>
        </p:txBody>
      </p:sp>
      <p:sp>
        <p:nvSpPr>
          <p:cNvPr id="96" name="d17-cycle-2">
            <a:extLst xmlns:a="http://schemas.openxmlformats.org/drawingml/2006/main">
              <a:ext uri="{FF2B5EF4-FFF2-40B4-BE49-F238E27FC236}">
                <a16:creationId xmlns:a16="http://schemas.microsoft.com/office/drawing/2014/main" id="{1625EA93-F788-4216-8F25-581C7164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953250"/>
            <a:ext cx="371475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17-cycle-period-2">
            <a:extLst xmlns:a="http://schemas.openxmlformats.org/drawingml/2006/main">
              <a:ext uri="{FF2B5EF4-FFF2-40B4-BE49-F238E27FC236}">
                <a16:creationId xmlns:a16="http://schemas.microsoft.com/office/drawing/2014/main" id="{69C164FA-64F7-41D9-9057-7712CBA8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115175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四半期</a:t>
            </a:r>
          </a:p>
        </p:txBody>
      </p:sp>
      <p:sp>
        <p:nvSpPr>
          <p:cNvPr id="98" name="d17-cycle-title-2">
            <a:extLst xmlns:a="http://schemas.openxmlformats.org/drawingml/2006/main">
              <a:ext uri="{FF2B5EF4-FFF2-40B4-BE49-F238E27FC236}">
                <a16:creationId xmlns:a16="http://schemas.microsoft.com/office/drawing/2014/main" id="{DC5C2D77-92E0-4065-84A8-6EC4CFC9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105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運用改善</a:t>
            </a:r>
          </a:p>
        </p:txBody>
      </p:sp>
      <p:sp>
        <p:nvSpPr>
          <p:cNvPr id="99" name="d17-cycle-body-2">
            <a:extLst xmlns:a="http://schemas.openxmlformats.org/drawingml/2006/main">
              <a:ext uri="{FF2B5EF4-FFF2-40B4-BE49-F238E27FC236}">
                <a16:creationId xmlns:a16="http://schemas.microsoft.com/office/drawing/2014/main" id="{C5B92963-6B1C-4087-8355-EE2DFAB7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44855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324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0324B"/>
                </a:solidFill>
                <a:latin typeface="Arial"/>
                <a:ea typeface="Arial"/>
                <a:cs typeface="Arial"/>
              </a:rPr>
              <a:t>テンプレート・ルール・活用範囲を更新</a:t>
            </a:r>
          </a:p>
        </p:txBody>
      </p:sp>
      <p:sp>
        <p:nvSpPr>
          <p:cNvPr id="100" name="d17-improvement-card">
            <a:extLst xmlns:a="http://schemas.openxmlformats.org/drawingml/2006/main">
              <a:ext uri="{FF2B5EF4-FFF2-40B4-BE49-F238E27FC236}">
                <a16:creationId xmlns:a16="http://schemas.microsoft.com/office/drawing/2014/main" id="{E15FB6BC-2E86-416A-9B85-8D1700AB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953250"/>
            <a:ext cx="34766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01" name="d17-improvement-title">
            <a:extLst xmlns:a="http://schemas.openxmlformats.org/drawingml/2006/main">
              <a:ext uri="{FF2B5EF4-FFF2-40B4-BE49-F238E27FC236}">
                <a16:creationId xmlns:a16="http://schemas.microsoft.com/office/drawing/2014/main" id="{AAF06B7B-B5AC-46B5-98C3-660D9360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105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改善サイクル</a:t>
            </a:r>
          </a:p>
        </p:txBody>
      </p:sp>
      <p:sp>
        <p:nvSpPr>
          <p:cNvPr id="102" name="d17-improvement-flow">
            <a:extLst xmlns:a="http://schemas.openxmlformats.org/drawingml/2006/main">
              <a:ext uri="{FF2B5EF4-FFF2-40B4-BE49-F238E27FC236}">
                <a16:creationId xmlns:a16="http://schemas.microsoft.com/office/drawing/2014/main" id="{EE5D5A75-AC8F-454B-AA4B-9925966B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419975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192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71926"/>
                </a:solidFill>
                <a:latin typeface="Arial"/>
                <a:ea typeface="Arial"/>
                <a:cs typeface="Arial"/>
              </a:rPr>
              <a:t>記録 → 分析 → 改善 → 再利用</a:t>
            </a:r>
          </a:p>
        </p:txBody>
      </p:sp>
      <p:sp>
        <p:nvSpPr>
          <p:cNvPr id="103" name="d17-improvement-body">
            <a:extLst xmlns:a="http://schemas.openxmlformats.org/drawingml/2006/main">
              <a:ext uri="{FF2B5EF4-FFF2-40B4-BE49-F238E27FC236}">
                <a16:creationId xmlns:a16="http://schemas.microsoft.com/office/drawing/2014/main" id="{83A3B712-D162-4664-851E-F89A5CB2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76581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学習結果を次の提案へ反映</a:t>
            </a:r>
          </a:p>
        </p:txBody>
      </p:sp>
      <p:sp>
        <p:nvSpPr>
          <p:cNvPr id="104" name="d17-footer-logo-top">
            <a:extLst xmlns:a="http://schemas.openxmlformats.org/drawingml/2006/main">
              <a:ext uri="{FF2B5EF4-FFF2-40B4-BE49-F238E27FC236}">
                <a16:creationId xmlns:a16="http://schemas.microsoft.com/office/drawing/2014/main" id="{314640DB-8C69-43C8-A9AD-B0FFF3DD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401050"/>
            <a:ext cx="257175" cy="102870"/>
          </a:xfrm>
          <a:custGeom xmlns:a="http://schemas.openxmlformats.org/drawingml/2006/main">
            <a:pathLst>
              <a:path w="257175" h="102870">
                <a:moveTo>
                  <a:pt x="0" y="42863"/>
                </a:moveTo>
                <a:lnTo>
                  <a:pt x="128588" y="0"/>
                </a:lnTo>
                <a:lnTo>
                  <a:pt x="257175" y="51435"/>
                </a:lnTo>
                <a:lnTo>
                  <a:pt x="128588" y="102870"/>
                </a:lnTo>
                <a:close/>
              </a:path>
            </a:pathLst>
          </a:custGeom>
          <a:solidFill xmlns:a="http://schemas.openxmlformats.org/drawingml/2006/main">
            <a:srgbClr val="E719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17-footer-logo-mid-gray">
            <a:extLst xmlns:a="http://schemas.openxmlformats.org/drawingml/2006/main">
              <a:ext uri="{FF2B5EF4-FFF2-40B4-BE49-F238E27FC236}">
                <a16:creationId xmlns:a16="http://schemas.microsoft.com/office/drawing/2014/main" id="{4977D746-6B44-4B81-B03B-5049C0CB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452485"/>
            <a:ext cx="128588" cy="111443"/>
          </a:xfrm>
          <a:custGeom xmlns:a="http://schemas.openxmlformats.org/drawingml/2006/main">
            <a:pathLst>
              <a:path w="128588" h="111443">
                <a:moveTo>
                  <a:pt x="0" y="51435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111443"/>
                </a:lnTo>
                <a:close/>
              </a:path>
            </a:pathLst>
          </a:custGeom>
          <a:solidFill xmlns:a="http://schemas.openxmlformats.org/drawingml/2006/main">
            <a:srgbClr val="6F7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17-footer-logo-mid-black">
            <a:extLst xmlns:a="http://schemas.openxmlformats.org/drawingml/2006/main">
              <a:ext uri="{FF2B5EF4-FFF2-40B4-BE49-F238E27FC236}">
                <a16:creationId xmlns:a16="http://schemas.microsoft.com/office/drawing/2014/main" id="{73006583-0BB6-4C27-B2F9-CAA2A33C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8" y="8452485"/>
            <a:ext cx="128588" cy="60008"/>
          </a:xfrm>
          <a:custGeom xmlns:a="http://schemas.openxmlformats.org/drawingml/2006/main">
            <a:pathLst>
              <a:path w="128588" h="60008">
                <a:moveTo>
                  <a:pt x="0" y="0"/>
                </a:moveTo>
                <a:lnTo>
                  <a:pt x="128588" y="0"/>
                </a:lnTo>
                <a:lnTo>
                  <a:pt x="128588" y="60008"/>
                </a:lnTo>
                <a:lnTo>
                  <a:pt x="0" y="60008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17-footer-logo-lower-black">
            <a:extLst xmlns:a="http://schemas.openxmlformats.org/drawingml/2006/main">
              <a:ext uri="{FF2B5EF4-FFF2-40B4-BE49-F238E27FC236}">
                <a16:creationId xmlns:a16="http://schemas.microsoft.com/office/drawing/2014/main" id="{216182A7-5AA0-4B9C-816B-C7FBB85E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5124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51435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101D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17-footer-logo-lower-red">
            <a:extLst xmlns:a="http://schemas.openxmlformats.org/drawingml/2006/main">
              <a:ext uri="{FF2B5EF4-FFF2-40B4-BE49-F238E27FC236}">
                <a16:creationId xmlns:a16="http://schemas.microsoft.com/office/drawing/2014/main" id="{35D3A6D5-7C6F-4A30-A56F-B0531530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8" y="8512493"/>
            <a:ext cx="128588" cy="111442"/>
          </a:xfrm>
          <a:custGeom xmlns:a="http://schemas.openxmlformats.org/drawingml/2006/main">
            <a:pathLst>
              <a:path w="128588" h="111442">
                <a:moveTo>
                  <a:pt x="0" y="0"/>
                </a:moveTo>
                <a:lnTo>
                  <a:pt x="128588" y="0"/>
                </a:lnTo>
                <a:lnTo>
                  <a:pt x="128588" y="60007"/>
                </a:lnTo>
                <a:lnTo>
                  <a:pt x="0" y="111442"/>
                </a:lnTo>
                <a:close/>
              </a:path>
            </a:pathLst>
          </a:custGeom>
          <a:solidFill xmlns:a="http://schemas.openxmlformats.org/drawingml/2006/main">
            <a:srgbClr val="C90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17-footer-brand">
            <a:extLst xmlns:a="http://schemas.openxmlformats.org/drawingml/2006/main">
              <a:ext uri="{FF2B5EF4-FFF2-40B4-BE49-F238E27FC236}">
                <a16:creationId xmlns:a16="http://schemas.microsoft.com/office/drawing/2014/main" id="{0A41CBF4-A28D-4231-9799-677F734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105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28"/>
                </a:solidFill>
                <a:latin typeface="Arial"/>
                <a:ea typeface="Arial"/>
                <a:cs typeface="Arial"/>
              </a:rPr>
              <a:t>提案クエスト</a:t>
            </a:r>
          </a:p>
        </p:txBody>
      </p:sp>
      <p:sp>
        <p:nvSpPr>
          <p:cNvPr id="110" name="d17-footer-divider">
            <a:extLst xmlns:a="http://schemas.openxmlformats.org/drawingml/2006/main">
              <a:ext uri="{FF2B5EF4-FFF2-40B4-BE49-F238E27FC236}">
                <a16:creationId xmlns:a16="http://schemas.microsoft.com/office/drawing/2014/main" id="{DAFD11A0-2709-4099-8E0A-11A358E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334375"/>
            <a:ext cx="952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111" name="d17-footer-tagline-jp">
            <a:extLst xmlns:a="http://schemas.openxmlformats.org/drawingml/2006/main">
              <a:ext uri="{FF2B5EF4-FFF2-40B4-BE49-F238E27FC236}">
                <a16:creationId xmlns:a16="http://schemas.microsoft.com/office/drawing/2014/main" id="{6803E5CE-48F6-4592-9BED-16C58F60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334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人とテクノロジーで、より良い社会をつくる</a:t>
            </a:r>
          </a:p>
        </p:txBody>
      </p:sp>
      <p:sp>
        <p:nvSpPr>
          <p:cNvPr id="112" name="d17-footer-tagline-en">
            <a:extLst xmlns:a="http://schemas.openxmlformats.org/drawingml/2006/main">
              <a:ext uri="{FF2B5EF4-FFF2-40B4-BE49-F238E27FC236}">
                <a16:creationId xmlns:a16="http://schemas.microsoft.com/office/drawing/2014/main" id="{B033C5D2-0812-4A00-98E6-54FE21AE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8553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4"/>
                </a:solidFill>
                <a:latin typeface="Arial"/>
                <a:ea typeface="Arial"/>
                <a:cs typeface="Arial"/>
              </a:rPr>
              <a:t>Think Together, Create the Next.</a:t>
            </a:r>
          </a:p>
        </p:txBody>
      </p:sp>
      <p:sp>
        <p:nvSpPr>
          <p:cNvPr id="113" name="d17-footer-date">
            <a:extLst xmlns:a="http://schemas.openxmlformats.org/drawingml/2006/main">
              <a:ext uri="{FF2B5EF4-FFF2-40B4-BE49-F238E27FC236}">
                <a16:creationId xmlns:a16="http://schemas.microsoft.com/office/drawing/2014/main" id="{FD915CD9-F777-422F-853F-92ECA02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84105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2026.08.26</a:t>
            </a:r>
          </a:p>
        </p:txBody>
      </p:sp>
      <p:sp>
        <p:nvSpPr>
          <p:cNvPr id="114" name="d17-footer-date-rule">
            <a:extLst xmlns:a="http://schemas.openxmlformats.org/drawingml/2006/main">
              <a:ext uri="{FF2B5EF4-FFF2-40B4-BE49-F238E27FC236}">
                <a16:creationId xmlns:a16="http://schemas.microsoft.com/office/drawing/2014/main" id="{CE010C5E-B8CA-429B-B6D8-18A402CA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486775"/>
            <a:ext cx="333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7486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2026-09-20T12:57:05.4180000Z</dcterms:created>
  <dcterms:modified xsi:type="dcterms:W3CDTF">2026-09-20T12:57:05.4180000Z</dcterms:modified>
</coreProperties>
</file>