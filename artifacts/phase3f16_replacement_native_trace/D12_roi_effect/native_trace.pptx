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a72fbbfd748cc" /><Relationship Type="http://schemas.openxmlformats.org/officeDocument/2006/relationships/extended-properties" Target="/docProps/app.xml" Id="R502d82d3241c4205" /><Relationship Type="http://schemas.openxmlformats.org/officeDocument/2006/relationships/officeDocument" Target="/ppt/presentation.xml" Id="Rf4335ac5f6ba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602b3c76924264"/>
  </p:sldMasterIdLst>
  <p:notesMasterIdLst>
    <p:notesMasterId xmlns:r="http://schemas.openxmlformats.org/officeDocument/2006/relationships" r:id="Racbee9ae63d84be9"/>
  </p:notesMasterIdLst>
  <p:sldIdLst>
    <p:sldId xmlns:r="http://schemas.openxmlformats.org/officeDocument/2006/relationships" id="256" r:id="R9e8cbd718cf84e2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0f2e9f44c4799" /><Relationship Type="http://schemas.openxmlformats.org/officeDocument/2006/relationships/slideMaster" Target="/ppt/slideMasters/slideMaster1.xml" Id="R7a602b3c76924264" /><Relationship Type="http://schemas.openxmlformats.org/officeDocument/2006/relationships/notesMaster" Target="/ppt/notesMasters/notesMaster1.xml" Id="Racbee9ae63d84be9" /><Relationship Type="http://schemas.openxmlformats.org/officeDocument/2006/relationships/presProps" Target="/ppt/presProps.xml" Id="Rc801c9fbaa26486d" /><Relationship Type="http://schemas.openxmlformats.org/officeDocument/2006/relationships/tableStyles" Target="/ppt/tableStyles.xml" Id="R87882024e23f4a29" /><Relationship Type="http://schemas.openxmlformats.org/officeDocument/2006/relationships/slide" Target="/ppt/slides/slide1.xml" Id="R9e8cbd718cf84e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5b2d1e23de4b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6cdf4656cc43a1" /><Relationship Type="http://schemas.openxmlformats.org/officeDocument/2006/relationships/notesMaster" Target="/ppt/notesMasters/notesMaster1.xml" Id="Reb3f59992244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D12 ROI /導入効果 replacement native trace. Canonical image is the sole visual authority. Charts, cards, chevrons, icons, typography, and connectors are native/editable; only the right-side photo is a limited crop. Canonical numbers are trace-only sample content,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454ba22fd40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a1465b07014b57" /><Relationship Type="http://schemas.openxmlformats.org/officeDocument/2006/relationships/slideLayout" Target="/ppt/slideLayouts/slideLayout1.xml" Id="Rf51d0c8583a84f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d0c8583a84f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950ebafc04ce5" /><Relationship Type="http://schemas.openxmlformats.org/officeDocument/2006/relationships/image" Target="/ppt/media/image.png" Id="Rf0a4c8b653b549ae" /><Relationship Type="http://schemas.openxmlformats.org/officeDocument/2006/relationships/notesSlide" Target="/ppt/notesSlides/notesSlide1.xml" Id="Reb93a702715443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4c8b653b549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20750" y="0"/>
            <a:ext cx="2305050" cy="6791325"/>
          </a:xfrm>
          <a:prstGeom xmlns:a="http://schemas.openxmlformats.org/drawingml/2006/main" prst="rect">
            <a:avLst/>
          </a:prstGeom>
        </p:spPr>
      </p:pic>
      <p:sp>
        <p:nvSpPr>
          <p:cNvPr id="2" name="d12-photo-header-mask">
            <a:extLst xmlns:a="http://schemas.openxmlformats.org/drawingml/2006/main">
              <a:ext uri="{FF2B5EF4-FFF2-40B4-BE49-F238E27FC236}">
                <a16:creationId xmlns:a16="http://schemas.microsoft.com/office/drawing/2014/main" id="{AA9AAA97-8038-4D1C-9DCF-6C2CDAA5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12-top-red-diagonal">
            <a:extLst xmlns:a="http://schemas.openxmlformats.org/drawingml/2006/main">
              <a:ext uri="{FF2B5EF4-FFF2-40B4-BE49-F238E27FC236}">
                <a16:creationId xmlns:a16="http://schemas.microsoft.com/office/drawing/2014/main" id="{9B45D650-005C-4B61-BCA5-72CE894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2781300" cy="4953000"/>
          </a:xfrm>
          <a:custGeom xmlns:a="http://schemas.openxmlformats.org/drawingml/2006/main">
            <a:pathLst>
              <a:path w="2781300" h="4953000">
                <a:moveTo>
                  <a:pt x="1543050" y="0"/>
                </a:moveTo>
                <a:lnTo>
                  <a:pt x="2781300" y="0"/>
                </a:lnTo>
                <a:lnTo>
                  <a:pt x="123825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12-top-white-diagonal">
            <a:extLst xmlns:a="http://schemas.openxmlformats.org/drawingml/2006/main">
              <a:ext uri="{FF2B5EF4-FFF2-40B4-BE49-F238E27FC236}">
                <a16:creationId xmlns:a16="http://schemas.microsoft.com/office/drawing/2014/main" id="{18D1C8B3-42C3-435C-A7AC-9EDD652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1866900" cy="4953000"/>
          </a:xfrm>
          <a:custGeom xmlns:a="http://schemas.openxmlformats.org/drawingml/2006/main">
            <a:pathLst>
              <a:path w="1866900" h="4953000">
                <a:moveTo>
                  <a:pt x="1619250" y="0"/>
                </a:moveTo>
                <a:lnTo>
                  <a:pt x="1866900" y="0"/>
                </a:lnTo>
                <a:lnTo>
                  <a:pt x="26670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12-top-gray-diagonal">
            <a:extLst xmlns:a="http://schemas.openxmlformats.org/drawingml/2006/main">
              <a:ext uri="{FF2B5EF4-FFF2-40B4-BE49-F238E27FC236}">
                <a16:creationId xmlns:a16="http://schemas.microsoft.com/office/drawing/2014/main" id="{0711FAE0-85C4-4757-B867-C95139D8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809750" cy="4953000"/>
          </a:xfrm>
          <a:custGeom xmlns:a="http://schemas.openxmlformats.org/drawingml/2006/main">
            <a:pathLst>
              <a:path w="1809750" h="4953000">
                <a:moveTo>
                  <a:pt x="1600200" y="0"/>
                </a:moveTo>
                <a:lnTo>
                  <a:pt x="1809750" y="0"/>
                </a:lnTo>
                <a:lnTo>
                  <a:pt x="20955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12-bottom-red-band">
            <a:extLst xmlns:a="http://schemas.openxmlformats.org/drawingml/2006/main">
              <a:ext uri="{FF2B5EF4-FFF2-40B4-BE49-F238E27FC236}">
                <a16:creationId xmlns:a16="http://schemas.microsoft.com/office/drawing/2014/main" id="{33D8B5BC-B49B-4FC2-81B0-C8499DAD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000875"/>
            <a:ext cx="3352800" cy="1962150"/>
          </a:xfrm>
          <a:custGeom xmlns:a="http://schemas.openxmlformats.org/drawingml/2006/main">
            <a:pathLst>
              <a:path w="3352800" h="1962150">
                <a:moveTo>
                  <a:pt x="0" y="1962150"/>
                </a:moveTo>
                <a:lnTo>
                  <a:pt x="3352800" y="0"/>
                </a:lnTo>
                <a:lnTo>
                  <a:pt x="3352800" y="19621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12-bottom-dark-band">
            <a:extLst xmlns:a="http://schemas.openxmlformats.org/drawingml/2006/main">
              <a:ext uri="{FF2B5EF4-FFF2-40B4-BE49-F238E27FC236}">
                <a16:creationId xmlns:a16="http://schemas.microsoft.com/office/drawing/2014/main" id="{D97B04C9-8145-4C69-A5B0-B39C3332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743825"/>
            <a:ext cx="2305050" cy="1219200"/>
          </a:xfrm>
          <a:custGeom xmlns:a="http://schemas.openxmlformats.org/drawingml/2006/main">
            <a:pathLst>
              <a:path w="2305050" h="1219200">
                <a:moveTo>
                  <a:pt x="0" y="1219200"/>
                </a:moveTo>
                <a:lnTo>
                  <a:pt x="2305050" y="0"/>
                </a:lnTo>
                <a:lnTo>
                  <a:pt x="2305050" y="121920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12-header-number">
            <a:extLst xmlns:a="http://schemas.openxmlformats.org/drawingml/2006/main">
              <a:ext uri="{FF2B5EF4-FFF2-40B4-BE49-F238E27FC236}">
                <a16:creationId xmlns:a16="http://schemas.microsoft.com/office/drawing/2014/main" id="{6A82F08A-167C-46F2-AC90-B6F9D323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D12</a:t>
            </a:r>
          </a:p>
        </p:txBody>
      </p:sp>
      <p:sp>
        <p:nvSpPr>
          <p:cNvPr id="9" name="d12-header-section">
            <a:extLst xmlns:a="http://schemas.openxmlformats.org/drawingml/2006/main">
              <a:ext uri="{FF2B5EF4-FFF2-40B4-BE49-F238E27FC236}">
                <a16:creationId xmlns:a16="http://schemas.microsoft.com/office/drawing/2014/main" id="{E0417D0B-2321-4A4C-B2DD-5B324CB3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5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ROI / 導入効果</a:t>
            </a:r>
          </a:p>
        </p:txBody>
      </p:sp>
      <p:sp>
        <p:nvSpPr>
          <p:cNvPr id="10" name="d12-header-brand">
            <a:extLst xmlns:a="http://schemas.openxmlformats.org/drawingml/2006/main">
              <a:ext uri="{FF2B5EF4-FFF2-40B4-BE49-F238E27FC236}">
                <a16:creationId xmlns:a16="http://schemas.microsoft.com/office/drawing/2014/main" id="{0BEF6EF4-04C8-4B21-B421-14B7071E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E71926"/>
                </a:solidFill>
              </a:rPr>
              <a:t>提案</a:t>
            </a:r>
            <a:r>
              <a:t>クエスト</a:t>
            </a:r>
          </a:p>
        </p:txBody>
      </p:sp>
      <p:sp>
        <p:nvSpPr>
          <p:cNvPr id="11" name="d12-header-tagline">
            <a:extLst xmlns:a="http://schemas.openxmlformats.org/drawingml/2006/main">
              <a:ext uri="{FF2B5EF4-FFF2-40B4-BE49-F238E27FC236}">
                <a16:creationId xmlns:a16="http://schemas.microsoft.com/office/drawing/2014/main" id="{2599B21E-A4E2-42B7-BF2D-0A08F885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12" name="d12-header-english">
            <a:extLst xmlns:a="http://schemas.openxmlformats.org/drawingml/2006/main">
              <a:ext uri="{FF2B5EF4-FFF2-40B4-BE49-F238E27FC236}">
                <a16:creationId xmlns:a16="http://schemas.microsoft.com/office/drawing/2014/main" id="{E4430302-7869-4D60-98DD-088A616B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000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3" name="d12-header-rule">
            <a:extLst xmlns:a="http://schemas.openxmlformats.org/drawingml/2006/main">
              <a:ext uri="{FF2B5EF4-FFF2-40B4-BE49-F238E27FC236}">
                <a16:creationId xmlns:a16="http://schemas.microsoft.com/office/drawing/2014/main" id="{253B1648-180E-491F-89F6-CB890B14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904875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D28"/>
            </a:solidFill>
            <a:prstDash val="solid"/>
          </a:ln>
        </p:spPr>
      </p:sp>
      <p:sp>
        <p:nvSpPr>
          <p:cNvPr id="14" name="d12-header-red-rule">
            <a:extLst xmlns:a="http://schemas.openxmlformats.org/drawingml/2006/main">
              <a:ext uri="{FF2B5EF4-FFF2-40B4-BE49-F238E27FC236}">
                <a16:creationId xmlns:a16="http://schemas.microsoft.com/office/drawing/2014/main" id="{21442943-934B-4D26-AA02-58ABDE79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904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5" name="d12-title">
            <a:extLst xmlns:a="http://schemas.openxmlformats.org/drawingml/2006/main">
              <a:ext uri="{FF2B5EF4-FFF2-40B4-BE49-F238E27FC236}">
                <a16:creationId xmlns:a16="http://schemas.microsoft.com/office/drawing/2014/main" id="{441221B2-A9D6-41BE-8942-A380D24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01D28"/>
                </a:solidFill>
              </a:rPr>
              <a:t>投資以上の</a:t>
            </a:r>
            <a:r>
              <a:rPr>
                <a:solidFill>
                  <a:srgbClr val="E71926"/>
                </a:solidFill>
              </a:rPr>
              <a:t>成果</a:t>
            </a:r>
            <a:r>
              <a:rPr>
                <a:solidFill>
                  <a:srgbClr val="101D28"/>
                </a:solidFill>
              </a:rPr>
              <a:t>を、</a:t>
            </a:r>
            <a:r>
              <a:rPr>
                <a:solidFill>
                  <a:srgbClr val="E71926"/>
                </a:solidFill>
              </a:rPr>
              <a:t>短期間</a:t>
            </a:r>
            <a:r>
              <a:rPr>
                <a:solidFill>
                  <a:srgbClr val="101D28"/>
                </a:solidFill>
              </a:rPr>
              <a:t>で</a:t>
            </a:r>
            <a:r>
              <a:rPr>
                <a:solidFill>
                  <a:srgbClr val="E71926"/>
                </a:solidFill>
              </a:rPr>
              <a:t>実現</a:t>
            </a:r>
          </a:p>
        </p:txBody>
      </p:sp>
      <p:sp>
        <p:nvSpPr>
          <p:cNvPr id="16" name="d12-lead-1">
            <a:extLst xmlns:a="http://schemas.openxmlformats.org/drawingml/2006/main">
              <a:ext uri="{FF2B5EF4-FFF2-40B4-BE49-F238E27FC236}">
                <a16:creationId xmlns:a16="http://schemas.microsoft.com/office/drawing/2014/main" id="{A4EC627D-D242-4623-A331-0C3F2B81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提案クエストの導入により、提案業務の効率化・品質向上・受注増加を同時に実現し、</a:t>
            </a:r>
          </a:p>
        </p:txBody>
      </p:sp>
      <p:sp>
        <p:nvSpPr>
          <p:cNvPr id="17" name="d12-lead-2">
            <a:extLst xmlns:a="http://schemas.openxmlformats.org/drawingml/2006/main">
              <a:ext uri="{FF2B5EF4-FFF2-40B4-BE49-F238E27FC236}">
                <a16:creationId xmlns:a16="http://schemas.microsoft.com/office/drawing/2014/main" id="{804CDA65-FC00-48C2-8373-7A7B9A98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E71926"/>
                </a:solidFill>
              </a:rPr>
              <a:t>投資対効果の高いソリューション</a:t>
            </a:r>
            <a:r>
              <a:rPr>
                <a:solidFill>
                  <a:srgbClr val="20324B"/>
                </a:solidFill>
              </a:rPr>
              <a:t>として、</a:t>
            </a:r>
            <a:r>
              <a:rPr>
                <a:solidFill>
                  <a:srgbClr val="E71926"/>
                </a:solidFill>
              </a:rPr>
              <a:t>早期に成果を創出</a:t>
            </a:r>
            <a:r>
              <a:rPr>
                <a:solidFill>
                  <a:srgbClr val="20324B"/>
                </a:solidFill>
              </a:rPr>
              <a:t>します。</a:t>
            </a:r>
          </a:p>
        </p:txBody>
      </p:sp>
      <p:sp>
        <p:nvSpPr>
          <p:cNvPr id="18" name="d12-card-01">
            <a:extLst xmlns:a="http://schemas.openxmlformats.org/drawingml/2006/main">
              <a:ext uri="{FF2B5EF4-FFF2-40B4-BE49-F238E27FC236}">
                <a16:creationId xmlns:a16="http://schemas.microsoft.com/office/drawing/2014/main" id="{3778C0B1-8669-4A0E-9ED2-51DB15D0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447925"/>
            <a:ext cx="49530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12-card-01-num-band">
            <a:extLst xmlns:a="http://schemas.openxmlformats.org/drawingml/2006/main">
              <a:ext uri="{FF2B5EF4-FFF2-40B4-BE49-F238E27FC236}">
                <a16:creationId xmlns:a16="http://schemas.microsoft.com/office/drawing/2014/main" id="{0503F530-B42D-4FE5-9599-28596266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52700"/>
            <a:ext cx="885825" cy="714375"/>
          </a:xfrm>
          <a:custGeom xmlns:a="http://schemas.openxmlformats.org/drawingml/2006/main">
            <a:pathLst>
              <a:path w="885825" h="714375">
                <a:moveTo>
                  <a:pt x="0" y="0"/>
                </a:moveTo>
                <a:lnTo>
                  <a:pt x="771525" y="0"/>
                </a:lnTo>
                <a:lnTo>
                  <a:pt x="885825" y="361950"/>
                </a:lnTo>
                <a:lnTo>
                  <a:pt x="771525" y="714375"/>
                </a:lnTo>
                <a:lnTo>
                  <a:pt x="0" y="7143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12-card-01-number">
            <a:extLst xmlns:a="http://schemas.openxmlformats.org/drawingml/2006/main">
              <a:ext uri="{FF2B5EF4-FFF2-40B4-BE49-F238E27FC236}">
                <a16:creationId xmlns:a16="http://schemas.microsoft.com/office/drawing/2014/main" id="{767189F5-F147-4263-B581-D1A1B41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051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d12-card-01-title">
            <a:extLst xmlns:a="http://schemas.openxmlformats.org/drawingml/2006/main">
              <a:ext uri="{FF2B5EF4-FFF2-40B4-BE49-F238E27FC236}">
                <a16:creationId xmlns:a16="http://schemas.microsoft.com/office/drawing/2014/main" id="{F923FCA6-6E1B-4AC7-8437-CCC30853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47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業務効率化</a:t>
            </a:r>
          </a:p>
        </p:txBody>
      </p:sp>
      <p:sp>
        <p:nvSpPr>
          <p:cNvPr id="22" name="d12-card-01-desc">
            <a:extLst xmlns:a="http://schemas.openxmlformats.org/drawingml/2006/main">
              <a:ext uri="{FF2B5EF4-FFF2-40B4-BE49-F238E27FC236}">
                <a16:creationId xmlns:a16="http://schemas.microsoft.com/office/drawing/2014/main" id="{10F74ED6-8148-4BB6-A9A7-48EEBD3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提案資料作成にかかる時間を大幅に削減し、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より多くの案件に対応できます。</a:t>
            </a:r>
          </a:p>
        </p:txBody>
      </p:sp>
      <p:sp>
        <p:nvSpPr>
          <p:cNvPr id="23" name="d12-card-02">
            <a:extLst xmlns:a="http://schemas.openxmlformats.org/drawingml/2006/main">
              <a:ext uri="{FF2B5EF4-FFF2-40B4-BE49-F238E27FC236}">
                <a16:creationId xmlns:a16="http://schemas.microsoft.com/office/drawing/2014/main" id="{D5B80EDB-A3D2-4AB9-AF05-F197FAC6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47925"/>
            <a:ext cx="49530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12-card-02-num-band">
            <a:extLst xmlns:a="http://schemas.openxmlformats.org/drawingml/2006/main">
              <a:ext uri="{FF2B5EF4-FFF2-40B4-BE49-F238E27FC236}">
                <a16:creationId xmlns:a16="http://schemas.microsoft.com/office/drawing/2014/main" id="{31F7E2D5-3601-4652-9A0F-714EC3A9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52700"/>
            <a:ext cx="885825" cy="714375"/>
          </a:xfrm>
          <a:custGeom xmlns:a="http://schemas.openxmlformats.org/drawingml/2006/main">
            <a:pathLst>
              <a:path w="885825" h="714375">
                <a:moveTo>
                  <a:pt x="0" y="0"/>
                </a:moveTo>
                <a:lnTo>
                  <a:pt x="771525" y="0"/>
                </a:lnTo>
                <a:lnTo>
                  <a:pt x="885825" y="361950"/>
                </a:lnTo>
                <a:lnTo>
                  <a:pt x="771525" y="714375"/>
                </a:lnTo>
                <a:lnTo>
                  <a:pt x="0" y="7143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12-card-02-number">
            <a:extLst xmlns:a="http://schemas.openxmlformats.org/drawingml/2006/main">
              <a:ext uri="{FF2B5EF4-FFF2-40B4-BE49-F238E27FC236}">
                <a16:creationId xmlns:a16="http://schemas.microsoft.com/office/drawing/2014/main" id="{9CC37661-1CB9-4A36-B9B4-78BD76E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051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d12-card-02-title">
            <a:extLst xmlns:a="http://schemas.openxmlformats.org/drawingml/2006/main">
              <a:ext uri="{FF2B5EF4-FFF2-40B4-BE49-F238E27FC236}">
                <a16:creationId xmlns:a16="http://schemas.microsoft.com/office/drawing/2014/main" id="{29F83C49-B6E4-45A9-8DF1-DA27C155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コスト削減</a:t>
            </a:r>
          </a:p>
        </p:txBody>
      </p:sp>
      <p:sp>
        <p:nvSpPr>
          <p:cNvPr id="27" name="d12-card-02-desc">
            <a:extLst xmlns:a="http://schemas.openxmlformats.org/drawingml/2006/main">
              <a:ext uri="{FF2B5EF4-FFF2-40B4-BE49-F238E27FC236}">
                <a16:creationId xmlns:a16="http://schemas.microsoft.com/office/drawing/2014/main" id="{DB2D44EA-B547-4B16-B0E7-657F02E4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28950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提案業務の効率化により、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人件費・外注費などのコストを削減できます。</a:t>
            </a:r>
          </a:p>
        </p:txBody>
      </p:sp>
      <p:sp>
        <p:nvSpPr>
          <p:cNvPr id="28" name="d12-card-03">
            <a:extLst xmlns:a="http://schemas.openxmlformats.org/drawingml/2006/main">
              <a:ext uri="{FF2B5EF4-FFF2-40B4-BE49-F238E27FC236}">
                <a16:creationId xmlns:a16="http://schemas.microsoft.com/office/drawing/2014/main" id="{8BA77D76-44BF-4B7C-BB79-3554E252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447925"/>
            <a:ext cx="52197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12-card-03-num-band">
            <a:extLst xmlns:a="http://schemas.openxmlformats.org/drawingml/2006/main">
              <a:ext uri="{FF2B5EF4-FFF2-40B4-BE49-F238E27FC236}">
                <a16:creationId xmlns:a16="http://schemas.microsoft.com/office/drawing/2014/main" id="{35250F7A-E100-4C51-B3F3-7FDC66E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552700"/>
            <a:ext cx="885825" cy="714375"/>
          </a:xfrm>
          <a:custGeom xmlns:a="http://schemas.openxmlformats.org/drawingml/2006/main">
            <a:pathLst>
              <a:path w="885825" h="714375">
                <a:moveTo>
                  <a:pt x="0" y="0"/>
                </a:moveTo>
                <a:lnTo>
                  <a:pt x="771525" y="0"/>
                </a:lnTo>
                <a:lnTo>
                  <a:pt x="885825" y="361950"/>
                </a:lnTo>
                <a:lnTo>
                  <a:pt x="771525" y="714375"/>
                </a:lnTo>
                <a:lnTo>
                  <a:pt x="0" y="7143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12-card-03-number">
            <a:extLst xmlns:a="http://schemas.openxmlformats.org/drawingml/2006/main">
              <a:ext uri="{FF2B5EF4-FFF2-40B4-BE49-F238E27FC236}">
                <a16:creationId xmlns:a16="http://schemas.microsoft.com/office/drawing/2014/main" id="{4F02BBBE-B579-42C2-A0E4-4FCBB4BD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7051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d12-card-03-title">
            <a:extLst xmlns:a="http://schemas.openxmlformats.org/drawingml/2006/main">
              <a:ext uri="{FF2B5EF4-FFF2-40B4-BE49-F238E27FC236}">
                <a16:creationId xmlns:a16="http://schemas.microsoft.com/office/drawing/2014/main" id="{142C2A6B-48C1-45CB-A17D-6BB289D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26479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売上・受注の向上</a:t>
            </a:r>
          </a:p>
        </p:txBody>
      </p:sp>
      <p:sp>
        <p:nvSpPr>
          <p:cNvPr id="32" name="d12-card-03-desc">
            <a:extLst xmlns:a="http://schemas.openxmlformats.org/drawingml/2006/main">
              <a:ext uri="{FF2B5EF4-FFF2-40B4-BE49-F238E27FC236}">
                <a16:creationId xmlns:a16="http://schemas.microsoft.com/office/drawing/2014/main" id="{264B22D9-ABD4-467D-866F-54809DA1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3028950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提案数の増加と提案品質の向上により、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受注率が向上し、売上拡大につながります。</a:t>
            </a:r>
          </a:p>
        </p:txBody>
      </p:sp>
      <p:sp>
        <p:nvSpPr>
          <p:cNvPr id="33" name="d12-card-01-chart-label">
            <a:extLst xmlns:a="http://schemas.openxmlformats.org/drawingml/2006/main">
              <a:ext uri="{FF2B5EF4-FFF2-40B4-BE49-F238E27FC236}">
                <a16:creationId xmlns:a16="http://schemas.microsoft.com/office/drawing/2014/main" id="{3A6097D4-394B-44AC-BF5E-533DAAE7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提案資料作成時間（1件あたり）</a:t>
            </a:r>
          </a:p>
        </p:txBody>
      </p:sp>
      <p:sp>
        <p:nvSpPr>
          <p:cNvPr id="34" name="d12-card-01-chart-rule">
            <a:extLst xmlns:a="http://schemas.openxmlformats.org/drawingml/2006/main">
              <a:ext uri="{FF2B5EF4-FFF2-40B4-BE49-F238E27FC236}">
                <a16:creationId xmlns:a16="http://schemas.microsoft.com/office/drawing/2014/main" id="{EF94C2F1-9E84-4DAD-9286-49A91EA0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57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35" name="d12-card-01-grid-0">
            <a:extLst xmlns:a="http://schemas.openxmlformats.org/drawingml/2006/main">
              <a:ext uri="{FF2B5EF4-FFF2-40B4-BE49-F238E27FC236}">
                <a16:creationId xmlns:a16="http://schemas.microsoft.com/office/drawing/2014/main" id="{FD5A54DD-C583-4C82-B17E-6D536F13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57675"/>
            <a:ext cx="3571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36" name="d12-card-01-y-0">
            <a:extLst xmlns:a="http://schemas.openxmlformats.org/drawingml/2006/main">
              <a:ext uri="{FF2B5EF4-FFF2-40B4-BE49-F238E27FC236}">
                <a16:creationId xmlns:a16="http://schemas.microsoft.com/office/drawing/2014/main" id="{7C674A5A-1D14-4F59-B8F1-CBBF9E70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624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10時間</a:t>
            </a:r>
          </a:p>
        </p:txBody>
      </p:sp>
      <p:sp>
        <p:nvSpPr>
          <p:cNvPr id="37" name="d12-card-01-grid-1">
            <a:extLst xmlns:a="http://schemas.openxmlformats.org/drawingml/2006/main">
              <a:ext uri="{FF2B5EF4-FFF2-40B4-BE49-F238E27FC236}">
                <a16:creationId xmlns:a16="http://schemas.microsoft.com/office/drawing/2014/main" id="{0C8AE4C8-4598-46AE-B90E-4B61A337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95800"/>
            <a:ext cx="3571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38" name="d12-card-01-y-1">
            <a:extLst xmlns:a="http://schemas.openxmlformats.org/drawingml/2006/main">
              <a:ext uri="{FF2B5EF4-FFF2-40B4-BE49-F238E27FC236}">
                <a16:creationId xmlns:a16="http://schemas.microsoft.com/office/drawing/2014/main" id="{FF63ABB5-A983-46E3-A251-799B8E7E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005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8時間</a:t>
            </a:r>
          </a:p>
        </p:txBody>
      </p:sp>
      <p:sp>
        <p:nvSpPr>
          <p:cNvPr id="39" name="d12-card-01-grid-2">
            <a:extLst xmlns:a="http://schemas.openxmlformats.org/drawingml/2006/main">
              <a:ext uri="{FF2B5EF4-FFF2-40B4-BE49-F238E27FC236}">
                <a16:creationId xmlns:a16="http://schemas.microsoft.com/office/drawing/2014/main" id="{6D1B282B-55C2-454F-8747-A97D4CB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33925"/>
            <a:ext cx="3571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40" name="d12-card-01-y-2">
            <a:extLst xmlns:a="http://schemas.openxmlformats.org/drawingml/2006/main">
              <a:ext uri="{FF2B5EF4-FFF2-40B4-BE49-F238E27FC236}">
                <a16:creationId xmlns:a16="http://schemas.microsoft.com/office/drawing/2014/main" id="{27751B41-1924-4F1D-9606-EA25A477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6時間</a:t>
            </a:r>
          </a:p>
        </p:txBody>
      </p:sp>
      <p:sp>
        <p:nvSpPr>
          <p:cNvPr id="41" name="d12-card-01-grid-3">
            <a:extLst xmlns:a="http://schemas.openxmlformats.org/drawingml/2006/main">
              <a:ext uri="{FF2B5EF4-FFF2-40B4-BE49-F238E27FC236}">
                <a16:creationId xmlns:a16="http://schemas.microsoft.com/office/drawing/2014/main" id="{E7D9C7A9-8ABF-42E8-A6E6-81A4DFD3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3571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42" name="d12-card-01-y-3">
            <a:extLst xmlns:a="http://schemas.openxmlformats.org/drawingml/2006/main">
              <a:ext uri="{FF2B5EF4-FFF2-40B4-BE49-F238E27FC236}">
                <a16:creationId xmlns:a16="http://schemas.microsoft.com/office/drawing/2014/main" id="{667A38EB-A7A3-427B-9AB0-7553B41D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4時間</a:t>
            </a:r>
          </a:p>
        </p:txBody>
      </p:sp>
      <p:sp>
        <p:nvSpPr>
          <p:cNvPr id="43" name="d12-card-01-grid-4">
            <a:extLst xmlns:a="http://schemas.openxmlformats.org/drawingml/2006/main">
              <a:ext uri="{FF2B5EF4-FFF2-40B4-BE49-F238E27FC236}">
                <a16:creationId xmlns:a16="http://schemas.microsoft.com/office/drawing/2014/main" id="{16E3F0C6-24BA-43F9-B6CF-2BFCC182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10175"/>
            <a:ext cx="3571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44" name="d12-card-01-y-4">
            <a:extLst xmlns:a="http://schemas.openxmlformats.org/drawingml/2006/main">
              <a:ext uri="{FF2B5EF4-FFF2-40B4-BE49-F238E27FC236}">
                <a16:creationId xmlns:a16="http://schemas.microsoft.com/office/drawing/2014/main" id="{08AFBE26-AE71-49CF-9BC5-11F5D02C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14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2時間</a:t>
            </a:r>
          </a:p>
        </p:txBody>
      </p:sp>
      <p:sp>
        <p:nvSpPr>
          <p:cNvPr id="45" name="d12-card-01-axis-y">
            <a:extLst xmlns:a="http://schemas.openxmlformats.org/drawingml/2006/main">
              <a:ext uri="{FF2B5EF4-FFF2-40B4-BE49-F238E27FC236}">
                <a16:creationId xmlns:a16="http://schemas.microsoft.com/office/drawing/2014/main" id="{58384583-5705-4B33-BE0A-CDE6B15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57675"/>
            <a:ext cx="95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5"/>
            </a:solidFill>
            <a:prstDash val="solid"/>
          </a:ln>
        </p:spPr>
      </p:sp>
      <p:sp>
        <p:nvSpPr>
          <p:cNvPr id="46" name="d12-card-01-axis-x">
            <a:extLst xmlns:a="http://schemas.openxmlformats.org/drawingml/2006/main">
              <a:ext uri="{FF2B5EF4-FFF2-40B4-BE49-F238E27FC236}">
                <a16:creationId xmlns:a16="http://schemas.microsoft.com/office/drawing/2014/main" id="{974D6EAA-2801-46EB-8A2D-124FAFE0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48300"/>
            <a:ext cx="3571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5"/>
            </a:solidFill>
            <a:prstDash val="solid"/>
          </a:ln>
        </p:spPr>
      </p:sp>
      <p:sp>
        <p:nvSpPr>
          <p:cNvPr id="47" name="d12-card-01-before-bar">
            <a:extLst xmlns:a="http://schemas.openxmlformats.org/drawingml/2006/main">
              <a:ext uri="{FF2B5EF4-FFF2-40B4-BE49-F238E27FC236}">
                <a16:creationId xmlns:a16="http://schemas.microsoft.com/office/drawing/2014/main" id="{B37B9BEA-12AC-458A-A565-768F7520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4375"/>
            <a:ext cx="7620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12-card-01-after-bar">
            <a:extLst xmlns:a="http://schemas.openxmlformats.org/drawingml/2006/main">
              <a:ext uri="{FF2B5EF4-FFF2-40B4-BE49-F238E27FC236}">
                <a16:creationId xmlns:a16="http://schemas.microsoft.com/office/drawing/2014/main" id="{DBDB836D-FA57-43B0-AB76-25C6646F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53025"/>
            <a:ext cx="876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4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12-card-01-before-value">
            <a:extLst xmlns:a="http://schemas.openxmlformats.org/drawingml/2006/main">
              <a:ext uri="{FF2B5EF4-FFF2-40B4-BE49-F238E27FC236}">
                <a16:creationId xmlns:a16="http://schemas.microsoft.com/office/drawing/2014/main" id="{567942EF-0DCF-428E-8ADE-53CB7A0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86250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8時間</a:t>
            </a:r>
          </a:p>
        </p:txBody>
      </p:sp>
      <p:sp>
        <p:nvSpPr>
          <p:cNvPr id="50" name="d12-card-01-after-value">
            <a:extLst xmlns:a="http://schemas.openxmlformats.org/drawingml/2006/main">
              <a:ext uri="{FF2B5EF4-FFF2-40B4-BE49-F238E27FC236}">
                <a16:creationId xmlns:a16="http://schemas.microsoft.com/office/drawing/2014/main" id="{741B24F0-A12F-4F41-8D7A-E3750FAD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768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2時間</a:t>
            </a:r>
          </a:p>
        </p:txBody>
      </p:sp>
      <p:sp>
        <p:nvSpPr>
          <p:cNvPr id="51" name="d12-card-01-before-label">
            <a:extLst xmlns:a="http://schemas.openxmlformats.org/drawingml/2006/main">
              <a:ext uri="{FF2B5EF4-FFF2-40B4-BE49-F238E27FC236}">
                <a16:creationId xmlns:a16="http://schemas.microsoft.com/office/drawing/2014/main" id="{38C26D4D-0F03-413D-B6D8-A8AC46C7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5149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導入前</a:t>
            </a:r>
          </a:p>
          <a:p xmlns:a="http://schemas.openxmlformats.org/drawingml/2006/main">
            <a:pPr algn="ctr">
              <a:defRPr sz="12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（手作業）</a:t>
            </a:r>
          </a:p>
        </p:txBody>
      </p:sp>
      <p:sp>
        <p:nvSpPr>
          <p:cNvPr id="52" name="d12-card-01-after-label">
            <a:extLst xmlns:a="http://schemas.openxmlformats.org/drawingml/2006/main">
              <a:ext uri="{FF2B5EF4-FFF2-40B4-BE49-F238E27FC236}">
                <a16:creationId xmlns:a16="http://schemas.microsoft.com/office/drawing/2014/main" id="{1412B0D5-6C42-49C2-9031-8E119B2D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514975"/>
            <a:ext cx="109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導入後</a:t>
            </a:r>
          </a:p>
          <a:p xmlns:a="http://schemas.openxmlformats.org/drawingml/2006/main">
            <a:pPr algn="ctr">
              <a:defRPr sz="12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（AI活用）</a:t>
            </a:r>
          </a:p>
        </p:txBody>
      </p:sp>
      <p:sp>
        <p:nvSpPr>
          <p:cNvPr id="53" name="d12-card-01-badge">
            <a:extLst xmlns:a="http://schemas.openxmlformats.org/drawingml/2006/main">
              <a:ext uri="{FF2B5EF4-FFF2-40B4-BE49-F238E27FC236}">
                <a16:creationId xmlns:a16="http://schemas.microsoft.com/office/drawing/2014/main" id="{BC8B4C99-81D1-43E0-8535-506DB841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05275"/>
            <a:ext cx="1200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12-card-01-badge-text">
            <a:extLst xmlns:a="http://schemas.openxmlformats.org/drawingml/2006/main">
              <a:ext uri="{FF2B5EF4-FFF2-40B4-BE49-F238E27FC236}">
                <a16:creationId xmlns:a16="http://schemas.microsoft.com/office/drawing/2014/main" id="{B6AF279F-1678-4C3B-825E-95F1D3FC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38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約70%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削減</a:t>
            </a:r>
          </a:p>
        </p:txBody>
      </p:sp>
      <p:sp>
        <p:nvSpPr>
          <p:cNvPr id="55" name="d12-card-01-arrow">
            <a:extLst xmlns:a="http://schemas.openxmlformats.org/drawingml/2006/main">
              <a:ext uri="{FF2B5EF4-FFF2-40B4-BE49-F238E27FC236}">
                <a16:creationId xmlns:a16="http://schemas.microsoft.com/office/drawing/2014/main" id="{C35893ED-AC9E-404C-AB45-3C6C09F0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05325"/>
            <a:ext cx="914400" cy="628650"/>
          </a:xfrm>
          <a:custGeom xmlns:a="http://schemas.openxmlformats.org/drawingml/2006/main">
            <a:pathLst>
              <a:path w="914400" h="628650">
                <a:moveTo>
                  <a:pt x="104775" y="0"/>
                </a:moveTo>
                <a:lnTo>
                  <a:pt x="638175" y="238125"/>
                </a:lnTo>
                <a:lnTo>
                  <a:pt x="914400" y="571500"/>
                </a:lnTo>
                <a:lnTo>
                  <a:pt x="752475" y="628650"/>
                </a:lnTo>
                <a:lnTo>
                  <a:pt x="533400" y="409575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24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12-card-01-note">
            <a:extLst xmlns:a="http://schemas.openxmlformats.org/drawingml/2006/main">
              <a:ext uri="{FF2B5EF4-FFF2-40B4-BE49-F238E27FC236}">
                <a16:creationId xmlns:a16="http://schemas.microsoft.com/office/drawing/2014/main" id="{EE0D7035-2C4E-42FD-9386-15BD08B0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447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12-icon-card-01-note-face">
            <a:extLst xmlns:a="http://schemas.openxmlformats.org/drawingml/2006/main">
              <a:ext uri="{FF2B5EF4-FFF2-40B4-BE49-F238E27FC236}">
                <a16:creationId xmlns:a16="http://schemas.microsoft.com/office/drawing/2014/main" id="{6F65C3C9-B7B1-466F-AD44-010C5B2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" y="6173724"/>
            <a:ext cx="386334" cy="386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58" name="d12-icon-card-01-note-hand1">
            <a:extLst xmlns:a="http://schemas.openxmlformats.org/drawingml/2006/main">
              <a:ext uri="{FF2B5EF4-FFF2-40B4-BE49-F238E27FC236}">
                <a16:creationId xmlns:a16="http://schemas.microsoft.com/office/drawing/2014/main" id="{9D316877-83E5-4670-B247-7F8B4E2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" y="6248019"/>
            <a:ext cx="952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59" name="d12-icon-card-01-note-hand2">
            <a:extLst xmlns:a="http://schemas.openxmlformats.org/drawingml/2006/main">
              <a:ext uri="{FF2B5EF4-FFF2-40B4-BE49-F238E27FC236}">
                <a16:creationId xmlns:a16="http://schemas.microsoft.com/office/drawing/2014/main" id="{F5A4EB77-A5D1-4F21-A9FA-E5447CD0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" y="6366891"/>
            <a:ext cx="104013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60" name="d12-card-01-note-text">
            <a:extLst xmlns:a="http://schemas.openxmlformats.org/drawingml/2006/main">
              <a:ext uri="{FF2B5EF4-FFF2-40B4-BE49-F238E27FC236}">
                <a16:creationId xmlns:a16="http://schemas.microsoft.com/office/drawing/2014/main" id="{EE4F0662-5361-4B4A-93A8-F0245EF4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34100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浮いた時間で、</a:t>
            </a:r>
          </a:p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より多くの顧客対応が可能に</a:t>
            </a:r>
          </a:p>
        </p:txBody>
      </p:sp>
      <p:sp>
        <p:nvSpPr>
          <p:cNvPr id="61" name="d12-card-02-chart-label">
            <a:extLst xmlns:a="http://schemas.openxmlformats.org/drawingml/2006/main">
              <a:ext uri="{FF2B5EF4-FFF2-40B4-BE49-F238E27FC236}">
                <a16:creationId xmlns:a16="http://schemas.microsoft.com/office/drawing/2014/main" id="{E558AAE1-F0EE-4CD6-A54C-56AFAECD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528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年間コスト（提案業務関連）</a:t>
            </a:r>
          </a:p>
        </p:txBody>
      </p:sp>
      <p:sp>
        <p:nvSpPr>
          <p:cNvPr id="62" name="d12-card-02-chart-rule">
            <a:extLst xmlns:a="http://schemas.openxmlformats.org/drawingml/2006/main">
              <a:ext uri="{FF2B5EF4-FFF2-40B4-BE49-F238E27FC236}">
                <a16:creationId xmlns:a16="http://schemas.microsoft.com/office/drawing/2014/main" id="{6D59E3EA-60F2-42A3-8D29-6987AAA0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52850"/>
            <a:ext cx="57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63" name="d12-card-02-grid-0">
            <a:extLst xmlns:a="http://schemas.openxmlformats.org/drawingml/2006/main">
              <a:ext uri="{FF2B5EF4-FFF2-40B4-BE49-F238E27FC236}">
                <a16:creationId xmlns:a16="http://schemas.microsoft.com/office/drawing/2014/main" id="{152D0DA1-7F25-4D25-A522-79B2CF59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5767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4" name="d12-card-02-y-0">
            <a:extLst xmlns:a="http://schemas.openxmlformats.org/drawingml/2006/main">
              <a:ext uri="{FF2B5EF4-FFF2-40B4-BE49-F238E27FC236}">
                <a16:creationId xmlns:a16="http://schemas.microsoft.com/office/drawing/2014/main" id="{4FB3EA73-9B40-4294-8004-374AC13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624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1600</a:t>
            </a:r>
          </a:p>
        </p:txBody>
      </p:sp>
      <p:sp>
        <p:nvSpPr>
          <p:cNvPr id="65" name="d12-card-02-grid-1">
            <a:extLst xmlns:a="http://schemas.openxmlformats.org/drawingml/2006/main">
              <a:ext uri="{FF2B5EF4-FFF2-40B4-BE49-F238E27FC236}">
                <a16:creationId xmlns:a16="http://schemas.microsoft.com/office/drawing/2014/main" id="{CED4103B-4509-436F-9D77-9F049BA5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6247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6" name="d12-card-02-y-1">
            <a:extLst xmlns:a="http://schemas.openxmlformats.org/drawingml/2006/main">
              <a:ext uri="{FF2B5EF4-FFF2-40B4-BE49-F238E27FC236}">
                <a16:creationId xmlns:a16="http://schemas.microsoft.com/office/drawing/2014/main" id="{6BBCBD54-74D7-4439-A929-1C99CF29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4672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1200</a:t>
            </a:r>
          </a:p>
        </p:txBody>
      </p:sp>
      <p:sp>
        <p:nvSpPr>
          <p:cNvPr id="67" name="d12-card-02-grid-2">
            <a:extLst xmlns:a="http://schemas.openxmlformats.org/drawingml/2006/main">
              <a:ext uri="{FF2B5EF4-FFF2-40B4-BE49-F238E27FC236}">
                <a16:creationId xmlns:a16="http://schemas.microsoft.com/office/drawing/2014/main" id="{7EA050C0-75D2-402E-9EDF-56DC2A7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6727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8" name="d12-card-02-y-2">
            <a:extLst xmlns:a="http://schemas.openxmlformats.org/drawingml/2006/main">
              <a:ext uri="{FF2B5EF4-FFF2-40B4-BE49-F238E27FC236}">
                <a16:creationId xmlns:a16="http://schemas.microsoft.com/office/drawing/2014/main" id="{0D13FB04-C258-44A3-8402-1513FEB1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7720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69" name="d12-card-02-grid-3">
            <a:extLst xmlns:a="http://schemas.openxmlformats.org/drawingml/2006/main">
              <a:ext uri="{FF2B5EF4-FFF2-40B4-BE49-F238E27FC236}">
                <a16:creationId xmlns:a16="http://schemas.microsoft.com/office/drawing/2014/main" id="{CD90A612-EC9E-4E84-ACFF-00ED6A5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7207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70" name="d12-card-02-y-3">
            <a:extLst xmlns:a="http://schemas.openxmlformats.org/drawingml/2006/main">
              <a:ext uri="{FF2B5EF4-FFF2-40B4-BE49-F238E27FC236}">
                <a16:creationId xmlns:a16="http://schemas.microsoft.com/office/drawing/2014/main" id="{02B53ECC-3CEE-40C6-B6E8-45EBB376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768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1" name="d12-card-02-grid-4">
            <a:extLst xmlns:a="http://schemas.openxmlformats.org/drawingml/2006/main">
              <a:ext uri="{FF2B5EF4-FFF2-40B4-BE49-F238E27FC236}">
                <a16:creationId xmlns:a16="http://schemas.microsoft.com/office/drawing/2014/main" id="{CD539D52-5556-43B8-947E-5D82CA93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7687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72" name="d12-card-02-y-4">
            <a:extLst xmlns:a="http://schemas.openxmlformats.org/drawingml/2006/main">
              <a:ext uri="{FF2B5EF4-FFF2-40B4-BE49-F238E27FC236}">
                <a16:creationId xmlns:a16="http://schemas.microsoft.com/office/drawing/2014/main" id="{F7B07EB2-A39A-4430-9792-84FCD545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381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3" name="d12-card-02-axis-y">
            <a:extLst xmlns:a="http://schemas.openxmlformats.org/drawingml/2006/main">
              <a:ext uri="{FF2B5EF4-FFF2-40B4-BE49-F238E27FC236}">
                <a16:creationId xmlns:a16="http://schemas.microsoft.com/office/drawing/2014/main" id="{0FB4FC47-4EF3-4FE4-8302-D828F626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57675"/>
            <a:ext cx="952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5"/>
            </a:solidFill>
            <a:prstDash val="solid"/>
          </a:ln>
        </p:spPr>
      </p:sp>
      <p:sp>
        <p:nvSpPr>
          <p:cNvPr id="74" name="d12-card-02-axis-x">
            <a:extLst xmlns:a="http://schemas.openxmlformats.org/drawingml/2006/main">
              <a:ext uri="{FF2B5EF4-FFF2-40B4-BE49-F238E27FC236}">
                <a16:creationId xmlns:a16="http://schemas.microsoft.com/office/drawing/2014/main" id="{FD52F71A-8912-4501-AD59-5C888F94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7687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5"/>
            </a:solidFill>
            <a:prstDash val="solid"/>
          </a:ln>
        </p:spPr>
      </p:sp>
      <p:sp>
        <p:nvSpPr>
          <p:cNvPr id="75" name="d12-card-02-before-bar">
            <a:extLst xmlns:a="http://schemas.openxmlformats.org/drawingml/2006/main">
              <a:ext uri="{FF2B5EF4-FFF2-40B4-BE49-F238E27FC236}">
                <a16:creationId xmlns:a16="http://schemas.microsoft.com/office/drawing/2014/main" id="{D6153707-A4C9-427D-B3DF-C813DDB5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809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12-card-02-after-bar">
            <a:extLst xmlns:a="http://schemas.openxmlformats.org/drawingml/2006/main">
              <a:ext uri="{FF2B5EF4-FFF2-40B4-BE49-F238E27FC236}">
                <a16:creationId xmlns:a16="http://schemas.microsoft.com/office/drawing/2014/main" id="{6ADEF3AB-4438-421E-A8D5-09980C79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43475"/>
            <a:ext cx="8667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4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12-card-02-before-value">
            <a:extLst xmlns:a="http://schemas.openxmlformats.org/drawingml/2006/main">
              <a:ext uri="{FF2B5EF4-FFF2-40B4-BE49-F238E27FC236}">
                <a16:creationId xmlns:a16="http://schemas.microsoft.com/office/drawing/2014/main" id="{78E830C3-E9D9-4D4F-B080-CB1EE3D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95775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1,200万円</a:t>
            </a:r>
          </a:p>
        </p:txBody>
      </p:sp>
      <p:sp>
        <p:nvSpPr>
          <p:cNvPr id="78" name="d12-card-02-after-value">
            <a:extLst xmlns:a="http://schemas.openxmlformats.org/drawingml/2006/main">
              <a:ext uri="{FF2B5EF4-FFF2-40B4-BE49-F238E27FC236}">
                <a16:creationId xmlns:a16="http://schemas.microsoft.com/office/drawing/2014/main" id="{78F7CE31-35C3-4796-AE34-45443D4D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482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720万円</a:t>
            </a:r>
          </a:p>
        </p:txBody>
      </p:sp>
      <p:sp>
        <p:nvSpPr>
          <p:cNvPr id="79" name="d12-card-02-before-label">
            <a:extLst xmlns:a="http://schemas.openxmlformats.org/drawingml/2006/main">
              <a:ext uri="{FF2B5EF4-FFF2-40B4-BE49-F238E27FC236}">
                <a16:creationId xmlns:a16="http://schemas.microsoft.com/office/drawing/2014/main" id="{26A689C3-CB0B-486E-88B6-F81911E2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24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導入前</a:t>
            </a:r>
          </a:p>
        </p:txBody>
      </p:sp>
      <p:sp>
        <p:nvSpPr>
          <p:cNvPr id="80" name="d12-card-02-after-label">
            <a:extLst xmlns:a="http://schemas.openxmlformats.org/drawingml/2006/main">
              <a:ext uri="{FF2B5EF4-FFF2-40B4-BE49-F238E27FC236}">
                <a16:creationId xmlns:a16="http://schemas.microsoft.com/office/drawing/2014/main" id="{81D0A5E7-B18A-4DE9-BA68-07EA2CCC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24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導入後</a:t>
            </a:r>
          </a:p>
        </p:txBody>
      </p:sp>
      <p:sp>
        <p:nvSpPr>
          <p:cNvPr id="81" name="d12-card-02-badge">
            <a:extLst xmlns:a="http://schemas.openxmlformats.org/drawingml/2006/main">
              <a:ext uri="{FF2B5EF4-FFF2-40B4-BE49-F238E27FC236}">
                <a16:creationId xmlns:a16="http://schemas.microsoft.com/office/drawing/2014/main" id="{69A52B49-1A3A-485C-948B-0B6EA99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00500"/>
            <a:ext cx="1200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12-card-02-badge-text">
            <a:extLst xmlns:a="http://schemas.openxmlformats.org/drawingml/2006/main">
              <a:ext uri="{FF2B5EF4-FFF2-40B4-BE49-F238E27FC236}">
                <a16:creationId xmlns:a16="http://schemas.microsoft.com/office/drawing/2014/main" id="{BBB8845E-223F-40B2-87F8-4AAC7E73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1338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約40%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削減</a:t>
            </a:r>
          </a:p>
        </p:txBody>
      </p:sp>
      <p:sp>
        <p:nvSpPr>
          <p:cNvPr id="83" name="d12-card-02-arrow">
            <a:extLst xmlns:a="http://schemas.openxmlformats.org/drawingml/2006/main">
              <a:ext uri="{FF2B5EF4-FFF2-40B4-BE49-F238E27FC236}">
                <a16:creationId xmlns:a16="http://schemas.microsoft.com/office/drawing/2014/main" id="{6B8198BE-4F9B-4003-A631-27F3BFA3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48175"/>
            <a:ext cx="914400" cy="571500"/>
          </a:xfrm>
          <a:custGeom xmlns:a="http://schemas.openxmlformats.org/drawingml/2006/main">
            <a:pathLst>
              <a:path w="914400" h="571500">
                <a:moveTo>
                  <a:pt x="47625" y="0"/>
                </a:moveTo>
                <a:lnTo>
                  <a:pt x="619125" y="257175"/>
                </a:lnTo>
                <a:lnTo>
                  <a:pt x="914400" y="504825"/>
                </a:lnTo>
                <a:lnTo>
                  <a:pt x="771525" y="571500"/>
                </a:lnTo>
                <a:lnTo>
                  <a:pt x="533400" y="381000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F24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12-card-02-note">
            <a:extLst xmlns:a="http://schemas.openxmlformats.org/drawingml/2006/main">
              <a:ext uri="{FF2B5EF4-FFF2-40B4-BE49-F238E27FC236}">
                <a16:creationId xmlns:a16="http://schemas.microsoft.com/office/drawing/2014/main" id="{8F84493B-3B13-4682-B766-644EDD07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6019800"/>
            <a:ext cx="447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12-icon-card-02-note-top">
            <a:extLst xmlns:a="http://schemas.openxmlformats.org/drawingml/2006/main">
              <a:ext uri="{FF2B5EF4-FFF2-40B4-BE49-F238E27FC236}">
                <a16:creationId xmlns:a16="http://schemas.microsoft.com/office/drawing/2014/main" id="{0FE0FA03-F1FA-4C4D-8606-8C7A9EFF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533" y="6167247"/>
            <a:ext cx="405384" cy="9601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6" name="d12-icon-card-02-note-left">
            <a:extLst xmlns:a="http://schemas.openxmlformats.org/drawingml/2006/main">
              <a:ext uri="{FF2B5EF4-FFF2-40B4-BE49-F238E27FC236}">
                <a16:creationId xmlns:a16="http://schemas.microsoft.com/office/drawing/2014/main" id="{B859AB5B-0F27-4B1C-A214-1A23E19B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533" y="6215253"/>
            <a:ext cx="9525" cy="2933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7" name="d12-icon-card-02-note-right">
            <a:extLst xmlns:a="http://schemas.openxmlformats.org/drawingml/2006/main">
              <a:ext uri="{FF2B5EF4-FFF2-40B4-BE49-F238E27FC236}">
                <a16:creationId xmlns:a16="http://schemas.microsoft.com/office/drawing/2014/main" id="{AB0DCF96-3044-4E3D-8D4A-AFC6732D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917" y="6215253"/>
            <a:ext cx="9525" cy="2933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8" name="d12-icon-card-02-note-bottom">
            <a:extLst xmlns:a="http://schemas.openxmlformats.org/drawingml/2006/main">
              <a:ext uri="{FF2B5EF4-FFF2-40B4-BE49-F238E27FC236}">
                <a16:creationId xmlns:a16="http://schemas.microsoft.com/office/drawing/2014/main" id="{4DC840B8-2DEC-4639-BAF9-EE1D6CB7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533" y="6455283"/>
            <a:ext cx="405384" cy="9601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9" name="d12-card-02-note-text">
            <a:extLst xmlns:a="http://schemas.openxmlformats.org/drawingml/2006/main">
              <a:ext uri="{FF2B5EF4-FFF2-40B4-BE49-F238E27FC236}">
                <a16:creationId xmlns:a16="http://schemas.microsoft.com/office/drawing/2014/main" id="{D7D52E5D-FFD8-4243-8B39-4D8E5BA8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13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年間 約480万円のコスト削減</a:t>
            </a:r>
          </a:p>
        </p:txBody>
      </p:sp>
      <p:sp>
        <p:nvSpPr>
          <p:cNvPr id="90" name="d12-card-02-note-sub">
            <a:extLst xmlns:a="http://schemas.openxmlformats.org/drawingml/2006/main">
              <a:ext uri="{FF2B5EF4-FFF2-40B4-BE49-F238E27FC236}">
                <a16:creationId xmlns:a16="http://schemas.microsoft.com/office/drawing/2014/main" id="{D7078D7E-3539-40BA-90D0-D2426D71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38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（1チーム5名の場合の試算）</a:t>
            </a:r>
          </a:p>
        </p:txBody>
      </p:sp>
      <p:sp>
        <p:nvSpPr>
          <p:cNvPr id="91" name="d12-card-03-chart-label-1">
            <a:extLst xmlns:a="http://schemas.openxmlformats.org/drawingml/2006/main">
              <a:ext uri="{FF2B5EF4-FFF2-40B4-BE49-F238E27FC236}">
                <a16:creationId xmlns:a16="http://schemas.microsoft.com/office/drawing/2014/main" id="{4EB169BC-2558-41FD-8A3D-CC3752D3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752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年間提案件数</a:t>
            </a:r>
          </a:p>
        </p:txBody>
      </p:sp>
      <p:sp>
        <p:nvSpPr>
          <p:cNvPr id="92" name="d12-card-03-chart-label-2">
            <a:extLst xmlns:a="http://schemas.openxmlformats.org/drawingml/2006/main">
              <a:ext uri="{FF2B5EF4-FFF2-40B4-BE49-F238E27FC236}">
                <a16:creationId xmlns:a16="http://schemas.microsoft.com/office/drawing/2014/main" id="{4601F051-7E58-429B-B3CA-D638C41E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3752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受注率</a:t>
            </a:r>
          </a:p>
        </p:txBody>
      </p:sp>
      <p:sp>
        <p:nvSpPr>
          <p:cNvPr id="93" name="d12-card-03-chart-rule-1">
            <a:extLst xmlns:a="http://schemas.openxmlformats.org/drawingml/2006/main">
              <a:ext uri="{FF2B5EF4-FFF2-40B4-BE49-F238E27FC236}">
                <a16:creationId xmlns:a16="http://schemas.microsoft.com/office/drawing/2014/main" id="{661E47D2-A7BC-45D7-92D8-C0A67985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752850"/>
            <a:ext cx="57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94" name="d12-card-03-chart-rule-2">
            <a:extLst xmlns:a="http://schemas.openxmlformats.org/drawingml/2006/main">
              <a:ext uri="{FF2B5EF4-FFF2-40B4-BE49-F238E27FC236}">
                <a16:creationId xmlns:a16="http://schemas.microsoft.com/office/drawing/2014/main" id="{3C096C63-9ADF-49F2-8C5C-7509FF7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3752850"/>
            <a:ext cx="57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95" name="d12-card-03-grid-1-0">
            <a:extLst xmlns:a="http://schemas.openxmlformats.org/drawingml/2006/main">
              <a:ext uri="{FF2B5EF4-FFF2-40B4-BE49-F238E27FC236}">
                <a16:creationId xmlns:a16="http://schemas.microsoft.com/office/drawing/2014/main" id="{75B4D520-C0F3-4FE2-9F6E-926885D7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6720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96" name="d12-card-03-y1-0">
            <a:extLst xmlns:a="http://schemas.openxmlformats.org/drawingml/2006/main">
              <a:ext uri="{FF2B5EF4-FFF2-40B4-BE49-F238E27FC236}">
                <a16:creationId xmlns:a16="http://schemas.microsoft.com/office/drawing/2014/main" id="{E4A67B3E-FB24-4614-8425-0CB44431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171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97" name="d12-card-03-grid-1-1">
            <a:extLst xmlns:a="http://schemas.openxmlformats.org/drawingml/2006/main">
              <a:ext uri="{FF2B5EF4-FFF2-40B4-BE49-F238E27FC236}">
                <a16:creationId xmlns:a16="http://schemas.microsoft.com/office/drawing/2014/main" id="{6D5D58A7-2A9B-4096-BB1B-FE085E5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505325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98" name="d12-card-03-y1-1">
            <a:extLst xmlns:a="http://schemas.openxmlformats.org/drawingml/2006/main">
              <a:ext uri="{FF2B5EF4-FFF2-40B4-BE49-F238E27FC236}">
                <a16:creationId xmlns:a16="http://schemas.microsoft.com/office/drawing/2014/main" id="{8316B1FA-1D10-4414-A36B-ED616107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4100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99" name="d12-card-03-grid-1-2">
            <a:extLst xmlns:a="http://schemas.openxmlformats.org/drawingml/2006/main">
              <a:ext uri="{FF2B5EF4-FFF2-40B4-BE49-F238E27FC236}">
                <a16:creationId xmlns:a16="http://schemas.microsoft.com/office/drawing/2014/main" id="{6F0F1C6D-433A-4EB3-A356-9CC21132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74345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00" name="d12-card-03-y1-2">
            <a:extLst xmlns:a="http://schemas.openxmlformats.org/drawingml/2006/main">
              <a:ext uri="{FF2B5EF4-FFF2-40B4-BE49-F238E27FC236}">
                <a16:creationId xmlns:a16="http://schemas.microsoft.com/office/drawing/2014/main" id="{3C1DB017-FD49-4EA7-92DA-D397E46A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648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1" name="d12-card-03-grid-1-3">
            <a:extLst xmlns:a="http://schemas.openxmlformats.org/drawingml/2006/main">
              <a:ext uri="{FF2B5EF4-FFF2-40B4-BE49-F238E27FC236}">
                <a16:creationId xmlns:a16="http://schemas.microsoft.com/office/drawing/2014/main" id="{A64D205F-13D4-4331-BEE5-0CC22801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981575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02" name="d12-card-03-y1-3">
            <a:extLst xmlns:a="http://schemas.openxmlformats.org/drawingml/2006/main">
              <a:ext uri="{FF2B5EF4-FFF2-40B4-BE49-F238E27FC236}">
                <a16:creationId xmlns:a16="http://schemas.microsoft.com/office/drawing/2014/main" id="{39FA2EAA-098B-4DBF-9264-589D0227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88632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3" name="d12-card-03-grid-1-4">
            <a:extLst xmlns:a="http://schemas.openxmlformats.org/drawingml/2006/main">
              <a:ext uri="{FF2B5EF4-FFF2-40B4-BE49-F238E27FC236}">
                <a16:creationId xmlns:a16="http://schemas.microsoft.com/office/drawing/2014/main" id="{C3544B35-0FE3-4EC7-9648-28E7E549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21970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04" name="d12-card-03-y1-4">
            <a:extLst xmlns:a="http://schemas.openxmlformats.org/drawingml/2006/main">
              <a:ext uri="{FF2B5EF4-FFF2-40B4-BE49-F238E27FC236}">
                <a16:creationId xmlns:a16="http://schemas.microsoft.com/office/drawing/2014/main" id="{BEE02D9F-3688-416E-93C8-977D8341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1244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05" name="d12-card-03-grid-2-0">
            <a:extLst xmlns:a="http://schemas.openxmlformats.org/drawingml/2006/main">
              <a:ext uri="{FF2B5EF4-FFF2-40B4-BE49-F238E27FC236}">
                <a16:creationId xmlns:a16="http://schemas.microsoft.com/office/drawing/2014/main" id="{DEF5CAF6-C3AC-4E97-A026-8794D7FE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26720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06" name="d12-card-03-y2-0">
            <a:extLst xmlns:a="http://schemas.openxmlformats.org/drawingml/2006/main">
              <a:ext uri="{FF2B5EF4-FFF2-40B4-BE49-F238E27FC236}">
                <a16:creationId xmlns:a16="http://schemas.microsoft.com/office/drawing/2014/main" id="{2AC4E6BF-B8A7-4B42-AA46-8DCDA1F5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171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107" name="d12-card-03-grid-2-1">
            <a:extLst xmlns:a="http://schemas.openxmlformats.org/drawingml/2006/main">
              <a:ext uri="{FF2B5EF4-FFF2-40B4-BE49-F238E27FC236}">
                <a16:creationId xmlns:a16="http://schemas.microsoft.com/office/drawing/2014/main" id="{412BE3AA-8235-40EA-8FE9-9A6D8F4B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505325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08" name="d12-card-03-y2-1">
            <a:extLst xmlns:a="http://schemas.openxmlformats.org/drawingml/2006/main">
              <a:ext uri="{FF2B5EF4-FFF2-40B4-BE49-F238E27FC236}">
                <a16:creationId xmlns:a16="http://schemas.microsoft.com/office/drawing/2014/main" id="{F45D4A4E-5F78-4BB4-923C-E84643A3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100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09" name="d12-card-03-grid-2-2">
            <a:extLst xmlns:a="http://schemas.openxmlformats.org/drawingml/2006/main">
              <a:ext uri="{FF2B5EF4-FFF2-40B4-BE49-F238E27FC236}">
                <a16:creationId xmlns:a16="http://schemas.microsoft.com/office/drawing/2014/main" id="{BD1073A5-D0D2-47C8-A94A-16E7B61D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74345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10" name="d12-card-03-y2-2">
            <a:extLst xmlns:a="http://schemas.openxmlformats.org/drawingml/2006/main">
              <a:ext uri="{FF2B5EF4-FFF2-40B4-BE49-F238E27FC236}">
                <a16:creationId xmlns:a16="http://schemas.microsoft.com/office/drawing/2014/main" id="{FFC67D20-6CA2-4D34-82EC-8787C76E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648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11" name="d12-card-03-grid-2-3">
            <a:extLst xmlns:a="http://schemas.openxmlformats.org/drawingml/2006/main">
              <a:ext uri="{FF2B5EF4-FFF2-40B4-BE49-F238E27FC236}">
                <a16:creationId xmlns:a16="http://schemas.microsoft.com/office/drawing/2014/main" id="{804234A7-87FF-432D-9542-4EBA6FE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981575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12" name="d12-card-03-y2-3">
            <a:extLst xmlns:a="http://schemas.openxmlformats.org/drawingml/2006/main">
              <a:ext uri="{FF2B5EF4-FFF2-40B4-BE49-F238E27FC236}">
                <a16:creationId xmlns:a16="http://schemas.microsoft.com/office/drawing/2014/main" id="{17B3D076-DFBD-418F-A84E-AD03BB48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88632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113" name="d12-card-03-grid-2-4">
            <a:extLst xmlns:a="http://schemas.openxmlformats.org/drawingml/2006/main">
              <a:ext uri="{FF2B5EF4-FFF2-40B4-BE49-F238E27FC236}">
                <a16:creationId xmlns:a16="http://schemas.microsoft.com/office/drawing/2014/main" id="{B01F883E-260A-4892-A8AE-944034F6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21970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14" name="d12-card-03-y2-4">
            <a:extLst xmlns:a="http://schemas.openxmlformats.org/drawingml/2006/main">
              <a:ext uri="{FF2B5EF4-FFF2-40B4-BE49-F238E27FC236}">
                <a16:creationId xmlns:a16="http://schemas.microsoft.com/office/drawing/2014/main" id="{52A2EDD9-473F-4153-B1FD-44053D77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1244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115" name="d12-card-03-axis-y1">
            <a:extLst xmlns:a="http://schemas.openxmlformats.org/drawingml/2006/main">
              <a:ext uri="{FF2B5EF4-FFF2-40B4-BE49-F238E27FC236}">
                <a16:creationId xmlns:a16="http://schemas.microsoft.com/office/drawing/2014/main" id="{E0B1A2D4-4249-4AFD-9635-62D9451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67200"/>
            <a:ext cx="95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5"/>
            </a:solidFill>
            <a:prstDash val="solid"/>
          </a:ln>
        </p:spPr>
      </p:sp>
      <p:sp>
        <p:nvSpPr>
          <p:cNvPr id="116" name="d12-card-03-axis-x1">
            <a:extLst xmlns:a="http://schemas.openxmlformats.org/drawingml/2006/main">
              <a:ext uri="{FF2B5EF4-FFF2-40B4-BE49-F238E27FC236}">
                <a16:creationId xmlns:a16="http://schemas.microsoft.com/office/drawing/2014/main" id="{1AF18EE9-5C57-4284-BD59-2EDABC76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21970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5"/>
            </a:solidFill>
            <a:prstDash val="solid"/>
          </a:ln>
        </p:spPr>
      </p:sp>
      <p:sp>
        <p:nvSpPr>
          <p:cNvPr id="117" name="d12-card-03-axis-y2">
            <a:extLst xmlns:a="http://schemas.openxmlformats.org/drawingml/2006/main">
              <a:ext uri="{FF2B5EF4-FFF2-40B4-BE49-F238E27FC236}">
                <a16:creationId xmlns:a16="http://schemas.microsoft.com/office/drawing/2014/main" id="{5990D5BD-72D1-4214-B81F-3982134C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267200"/>
            <a:ext cx="95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5"/>
            </a:solidFill>
            <a:prstDash val="solid"/>
          </a:ln>
        </p:spPr>
      </p:sp>
      <p:sp>
        <p:nvSpPr>
          <p:cNvPr id="118" name="d12-card-03-axis-x2">
            <a:extLst xmlns:a="http://schemas.openxmlformats.org/drawingml/2006/main">
              <a:ext uri="{FF2B5EF4-FFF2-40B4-BE49-F238E27FC236}">
                <a16:creationId xmlns:a16="http://schemas.microsoft.com/office/drawing/2014/main" id="{CDA36AE8-A2A5-40C9-BBC7-BB14D1A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21970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7C5"/>
            </a:solidFill>
            <a:prstDash val="solid"/>
          </a:ln>
        </p:spPr>
      </p:sp>
      <p:sp>
        <p:nvSpPr>
          <p:cNvPr id="119" name="d12-card-03-before-bar-1">
            <a:extLst xmlns:a="http://schemas.openxmlformats.org/drawingml/2006/main">
              <a:ext uri="{FF2B5EF4-FFF2-40B4-BE49-F238E27FC236}">
                <a16:creationId xmlns:a16="http://schemas.microsoft.com/office/drawing/2014/main" id="{51E612BC-6FAC-4BC3-859E-48C6BEBD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943475"/>
            <a:ext cx="523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12-card-03-after-bar-1">
            <a:extLst xmlns:a="http://schemas.openxmlformats.org/drawingml/2006/main">
              <a:ext uri="{FF2B5EF4-FFF2-40B4-BE49-F238E27FC236}">
                <a16:creationId xmlns:a16="http://schemas.microsoft.com/office/drawing/2014/main" id="{7C0BEE7D-467D-4A84-AD3F-BE8BE51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543425"/>
            <a:ext cx="52387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4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12-card-03-before-bar-2">
            <a:extLst xmlns:a="http://schemas.openxmlformats.org/drawingml/2006/main">
              <a:ext uri="{FF2B5EF4-FFF2-40B4-BE49-F238E27FC236}">
                <a16:creationId xmlns:a16="http://schemas.microsoft.com/office/drawing/2014/main" id="{7C61F13D-7D33-41E5-9E27-F1B689C2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4914900"/>
            <a:ext cx="523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12-card-03-after-bar-2">
            <a:extLst xmlns:a="http://schemas.openxmlformats.org/drawingml/2006/main">
              <a:ext uri="{FF2B5EF4-FFF2-40B4-BE49-F238E27FC236}">
                <a16:creationId xmlns:a16="http://schemas.microsoft.com/office/drawing/2014/main" id="{841DD089-7761-4F86-9699-A00DCAC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4676775"/>
            <a:ext cx="523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4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12-card-03-before-value-1">
            <a:extLst xmlns:a="http://schemas.openxmlformats.org/drawingml/2006/main">
              <a:ext uri="{FF2B5EF4-FFF2-40B4-BE49-F238E27FC236}">
                <a16:creationId xmlns:a16="http://schemas.microsoft.com/office/drawing/2014/main" id="{81F395B0-1059-44F5-8609-E9D8D7C7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610100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100件</a:t>
            </a:r>
          </a:p>
        </p:txBody>
      </p:sp>
      <p:sp>
        <p:nvSpPr>
          <p:cNvPr id="124" name="d12-card-03-after-value-1">
            <a:extLst xmlns:a="http://schemas.openxmlformats.org/drawingml/2006/main">
              <a:ext uri="{FF2B5EF4-FFF2-40B4-BE49-F238E27FC236}">
                <a16:creationId xmlns:a16="http://schemas.microsoft.com/office/drawing/2014/main" id="{D6EB2FFB-3677-466B-AEFC-0DAA94E4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610100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200件</a:t>
            </a:r>
          </a:p>
        </p:txBody>
      </p:sp>
      <p:sp>
        <p:nvSpPr>
          <p:cNvPr id="125" name="d12-card-03-before-value-2">
            <a:extLst xmlns:a="http://schemas.openxmlformats.org/drawingml/2006/main">
              <a:ext uri="{FF2B5EF4-FFF2-40B4-BE49-F238E27FC236}">
                <a16:creationId xmlns:a16="http://schemas.microsoft.com/office/drawing/2014/main" id="{032631DE-C931-418A-ACBF-5E9EB7BD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4581525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26" name="d12-card-03-after-value-2">
            <a:extLst xmlns:a="http://schemas.openxmlformats.org/drawingml/2006/main">
              <a:ext uri="{FF2B5EF4-FFF2-40B4-BE49-F238E27FC236}">
                <a16:creationId xmlns:a16="http://schemas.microsoft.com/office/drawing/2014/main" id="{BF3A7015-96DB-4D7F-A8B0-B284DD23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4610100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27" name="d12-card-03-before-label-1">
            <a:extLst xmlns:a="http://schemas.openxmlformats.org/drawingml/2006/main">
              <a:ext uri="{FF2B5EF4-FFF2-40B4-BE49-F238E27FC236}">
                <a16:creationId xmlns:a16="http://schemas.microsoft.com/office/drawing/2014/main" id="{A00DADE3-CF67-4602-B49F-C8AEC8EE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2863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導入前</a:t>
            </a:r>
          </a:p>
        </p:txBody>
      </p:sp>
      <p:sp>
        <p:nvSpPr>
          <p:cNvPr id="128" name="d12-card-03-after-label-1">
            <a:extLst xmlns:a="http://schemas.openxmlformats.org/drawingml/2006/main">
              <a:ext uri="{FF2B5EF4-FFF2-40B4-BE49-F238E27FC236}">
                <a16:creationId xmlns:a16="http://schemas.microsoft.com/office/drawing/2014/main" id="{8522001A-8E84-4E68-9C24-A174D053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863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導入後</a:t>
            </a:r>
          </a:p>
        </p:txBody>
      </p:sp>
      <p:sp>
        <p:nvSpPr>
          <p:cNvPr id="129" name="d12-card-03-before-label-2">
            <a:extLst xmlns:a="http://schemas.openxmlformats.org/drawingml/2006/main">
              <a:ext uri="{FF2B5EF4-FFF2-40B4-BE49-F238E27FC236}">
                <a16:creationId xmlns:a16="http://schemas.microsoft.com/office/drawing/2014/main" id="{0DBC3898-54D2-488C-A929-DFE761C9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2863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導入前</a:t>
            </a:r>
          </a:p>
        </p:txBody>
      </p:sp>
      <p:sp>
        <p:nvSpPr>
          <p:cNvPr id="130" name="d12-card-03-after-label-2">
            <a:extLst xmlns:a="http://schemas.openxmlformats.org/drawingml/2006/main">
              <a:ext uri="{FF2B5EF4-FFF2-40B4-BE49-F238E27FC236}">
                <a16:creationId xmlns:a16="http://schemas.microsoft.com/office/drawing/2014/main" id="{BAA8EF2A-D3A7-4461-90EA-91D7C3FE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2863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導入後</a:t>
            </a:r>
          </a:p>
        </p:txBody>
      </p:sp>
      <p:sp>
        <p:nvSpPr>
          <p:cNvPr id="131" name="d12-card-03-badge-1">
            <a:extLst xmlns:a="http://schemas.openxmlformats.org/drawingml/2006/main">
              <a:ext uri="{FF2B5EF4-FFF2-40B4-BE49-F238E27FC236}">
                <a16:creationId xmlns:a16="http://schemas.microsoft.com/office/drawing/2014/main" id="{66F425CC-76BE-4742-B187-F9CB14ED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010025"/>
            <a:ext cx="1066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12-card-03-badge-text-1">
            <a:extLst xmlns:a="http://schemas.openxmlformats.org/drawingml/2006/main">
              <a:ext uri="{FF2B5EF4-FFF2-40B4-BE49-F238E27FC236}">
                <a16:creationId xmlns:a16="http://schemas.microsoft.com/office/drawing/2014/main" id="{5524B786-D8F7-4811-8D8F-4C1116B2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1719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約2倍</a:t>
            </a:r>
          </a:p>
        </p:txBody>
      </p:sp>
      <p:sp>
        <p:nvSpPr>
          <p:cNvPr id="133" name="d12-card-03-badge-2">
            <a:extLst xmlns:a="http://schemas.openxmlformats.org/drawingml/2006/main">
              <a:ext uri="{FF2B5EF4-FFF2-40B4-BE49-F238E27FC236}">
                <a16:creationId xmlns:a16="http://schemas.microsoft.com/office/drawing/2014/main" id="{8F5B13CF-9F56-4135-BE98-1E2BB71B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4010025"/>
            <a:ext cx="1066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12-card-03-badge-text-2">
            <a:extLst xmlns:a="http://schemas.openxmlformats.org/drawingml/2006/main">
              <a:ext uri="{FF2B5EF4-FFF2-40B4-BE49-F238E27FC236}">
                <a16:creationId xmlns:a16="http://schemas.microsoft.com/office/drawing/2014/main" id="{C271AF16-ABDB-4ABD-9F1D-EE9CED05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41719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約2倍</a:t>
            </a:r>
          </a:p>
        </p:txBody>
      </p:sp>
      <p:sp>
        <p:nvSpPr>
          <p:cNvPr id="135" name="d12-card-03-arrow-1">
            <a:extLst xmlns:a="http://schemas.openxmlformats.org/drawingml/2006/main">
              <a:ext uri="{FF2B5EF4-FFF2-40B4-BE49-F238E27FC236}">
                <a16:creationId xmlns:a16="http://schemas.microsoft.com/office/drawing/2014/main" id="{2412DD10-2287-43A5-BE92-A4D91F3E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552950"/>
            <a:ext cx="466725" cy="257175"/>
          </a:xfrm>
          <a:custGeom xmlns:a="http://schemas.openxmlformats.org/drawingml/2006/main">
            <a:pathLst>
              <a:path w="466725" h="257175">
                <a:moveTo>
                  <a:pt x="0" y="209550"/>
                </a:moveTo>
                <a:lnTo>
                  <a:pt x="314325" y="0"/>
                </a:lnTo>
                <a:lnTo>
                  <a:pt x="466725" y="19050"/>
                </a:lnTo>
                <a:lnTo>
                  <a:pt x="247650" y="257175"/>
                </a:lnTo>
                <a:close/>
              </a:path>
            </a:pathLst>
          </a:custGeom>
          <a:solidFill xmlns:a="http://schemas.openxmlformats.org/drawingml/2006/main">
            <a:srgbClr val="F24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12-card-03-arrow-2">
            <a:extLst xmlns:a="http://schemas.openxmlformats.org/drawingml/2006/main">
              <a:ext uri="{FF2B5EF4-FFF2-40B4-BE49-F238E27FC236}">
                <a16:creationId xmlns:a16="http://schemas.microsoft.com/office/drawing/2014/main" id="{4EB5AEBE-DFB4-4908-9C0F-A8E9EFEE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619625"/>
            <a:ext cx="466725" cy="323850"/>
          </a:xfrm>
          <a:custGeom xmlns:a="http://schemas.openxmlformats.org/drawingml/2006/main">
            <a:pathLst>
              <a:path w="466725" h="323850">
                <a:moveTo>
                  <a:pt x="0" y="238125"/>
                </a:moveTo>
                <a:lnTo>
                  <a:pt x="323850" y="0"/>
                </a:lnTo>
                <a:lnTo>
                  <a:pt x="466725" y="47625"/>
                </a:lnTo>
                <a:lnTo>
                  <a:pt x="238125" y="323850"/>
                </a:lnTo>
                <a:close/>
              </a:path>
            </a:pathLst>
          </a:custGeom>
          <a:solidFill xmlns:a="http://schemas.openxmlformats.org/drawingml/2006/main">
            <a:srgbClr val="F24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12-card-03-note">
            <a:extLst xmlns:a="http://schemas.openxmlformats.org/drawingml/2006/main">
              <a:ext uri="{FF2B5EF4-FFF2-40B4-BE49-F238E27FC236}">
                <a16:creationId xmlns:a16="http://schemas.microsoft.com/office/drawing/2014/main" id="{40A4257A-A078-4A30-8EBB-FCC39CE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019800"/>
            <a:ext cx="47434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12-icon-card-03-note-base">
            <a:extLst xmlns:a="http://schemas.openxmlformats.org/drawingml/2006/main">
              <a:ext uri="{FF2B5EF4-FFF2-40B4-BE49-F238E27FC236}">
                <a16:creationId xmlns:a16="http://schemas.microsoft.com/office/drawing/2014/main" id="{66379315-9623-4DC4-8747-76797D37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968" y="6571107"/>
            <a:ext cx="43434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39" name="d12-icon-card-03-note-axis">
            <a:extLst xmlns:a="http://schemas.openxmlformats.org/drawingml/2006/main">
              <a:ext uri="{FF2B5EF4-FFF2-40B4-BE49-F238E27FC236}">
                <a16:creationId xmlns:a16="http://schemas.microsoft.com/office/drawing/2014/main" id="{6D39B6BC-CF47-42D0-BB15-D254C07B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1543" y="6191060"/>
            <a:ext cx="9525" cy="3800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0" name="d12-icon-card-03-note-bar1">
            <a:extLst xmlns:a="http://schemas.openxmlformats.org/drawingml/2006/main">
              <a:ext uri="{FF2B5EF4-FFF2-40B4-BE49-F238E27FC236}">
                <a16:creationId xmlns:a16="http://schemas.microsoft.com/office/drawing/2014/main" id="{3E60116C-FF39-4BDD-9EB5-038FD42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6694" y="6413659"/>
            <a:ext cx="65151" cy="157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12-icon-card-03-note-bar2">
            <a:extLst xmlns:a="http://schemas.openxmlformats.org/drawingml/2006/main">
              <a:ext uri="{FF2B5EF4-FFF2-40B4-BE49-F238E27FC236}">
                <a16:creationId xmlns:a16="http://schemas.microsoft.com/office/drawing/2014/main" id="{8189A5EE-D26D-48AE-8079-2FA1A8CE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421" y="6326791"/>
            <a:ext cx="65151" cy="244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12-icon-card-03-note-bar3">
            <a:extLst xmlns:a="http://schemas.openxmlformats.org/drawingml/2006/main">
              <a:ext uri="{FF2B5EF4-FFF2-40B4-BE49-F238E27FC236}">
                <a16:creationId xmlns:a16="http://schemas.microsoft.com/office/drawing/2014/main" id="{4332BDE4-F218-4262-B8AB-42B06AAA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147" y="6234494"/>
            <a:ext cx="65151" cy="336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12-icon-card-03-note-trend">
            <a:extLst xmlns:a="http://schemas.openxmlformats.org/drawingml/2006/main">
              <a:ext uri="{FF2B5EF4-FFF2-40B4-BE49-F238E27FC236}">
                <a16:creationId xmlns:a16="http://schemas.microsoft.com/office/drawing/2014/main" id="{F9F8A8EE-C250-443C-8FFB-AB939119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6694" y="6147626"/>
            <a:ext cx="304038" cy="157448"/>
          </a:xfrm>
          <a:custGeom xmlns:a="http://schemas.openxmlformats.org/drawingml/2006/main">
            <a:pathLst>
              <a:path w="304038" h="157448">
                <a:moveTo>
                  <a:pt x="0" y="157448"/>
                </a:moveTo>
                <a:lnTo>
                  <a:pt x="92297" y="103156"/>
                </a:lnTo>
                <a:lnTo>
                  <a:pt x="173736" y="59722"/>
                </a:lnTo>
                <a:lnTo>
                  <a:pt x="3040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4" name="d12-card-03-note-text">
            <a:extLst xmlns:a="http://schemas.openxmlformats.org/drawingml/2006/main">
              <a:ext uri="{FF2B5EF4-FFF2-40B4-BE49-F238E27FC236}">
                <a16:creationId xmlns:a16="http://schemas.microsoft.com/office/drawing/2014/main" id="{8A764E83-804E-43CB-8A70-F3599B8C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6124575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提案数の増加 × 受注率の向上で</a:t>
            </a:r>
          </a:p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事業の持続的な成長を実現</a:t>
            </a:r>
          </a:p>
        </p:txBody>
      </p:sp>
      <p:sp>
        <p:nvSpPr>
          <p:cNvPr id="145" name="d12-payback-rule">
            <a:extLst xmlns:a="http://schemas.openxmlformats.org/drawingml/2006/main">
              <a:ext uri="{FF2B5EF4-FFF2-40B4-BE49-F238E27FC236}">
                <a16:creationId xmlns:a16="http://schemas.microsoft.com/office/drawing/2014/main" id="{BA18E038-76DB-4478-8B70-1720D20E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067550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146" name="d12-payback-heading">
            <a:extLst xmlns:a="http://schemas.openxmlformats.org/drawingml/2006/main">
              <a:ext uri="{FF2B5EF4-FFF2-40B4-BE49-F238E27FC236}">
                <a16:creationId xmlns:a16="http://schemas.microsoft.com/office/drawing/2014/main" id="{9F12634B-0DE8-405B-875E-82E2F4D0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627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投資回収期間（目安）</a:t>
            </a:r>
          </a:p>
        </p:txBody>
      </p:sp>
      <p:sp>
        <p:nvSpPr>
          <p:cNvPr id="147" name="d12-chev-0">
            <a:extLst xmlns:a="http://schemas.openxmlformats.org/drawingml/2006/main">
              <a:ext uri="{FF2B5EF4-FFF2-40B4-BE49-F238E27FC236}">
                <a16:creationId xmlns:a16="http://schemas.microsoft.com/office/drawing/2014/main" id="{2248845B-5630-4052-903B-F2B7EB3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229475"/>
            <a:ext cx="4762500" cy="952500"/>
          </a:xfrm>
          <a:custGeom xmlns:a="http://schemas.openxmlformats.org/drawingml/2006/main">
            <a:pathLst>
              <a:path w="4762500" h="952500">
                <a:moveTo>
                  <a:pt x="0" y="0"/>
                </a:moveTo>
                <a:lnTo>
                  <a:pt x="4495800" y="0"/>
                </a:lnTo>
                <a:lnTo>
                  <a:pt x="4762500" y="476250"/>
                </a:lnTo>
                <a:lnTo>
                  <a:pt x="4495800" y="952500"/>
                </a:lnTo>
                <a:lnTo>
                  <a:pt x="0" y="952500"/>
                </a:lnTo>
                <a:lnTo>
                  <a:pt x="266700" y="47625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12-icon-payback-0-body">
            <a:extLst xmlns:a="http://schemas.openxmlformats.org/drawingml/2006/main">
              <a:ext uri="{FF2B5EF4-FFF2-40B4-BE49-F238E27FC236}">
                <a16:creationId xmlns:a16="http://schemas.microsoft.com/office/drawing/2014/main" id="{351AFCAD-70D9-4949-B7E6-9E08579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" y="7552944"/>
            <a:ext cx="414528" cy="388620"/>
          </a:xfrm>
          <a:custGeom xmlns:a="http://schemas.openxmlformats.org/drawingml/2006/main">
            <a:pathLst>
              <a:path w="414528" h="388620">
                <a:moveTo>
                  <a:pt x="90678" y="0"/>
                </a:moveTo>
                <a:lnTo>
                  <a:pt x="323850" y="0"/>
                </a:lnTo>
                <a:lnTo>
                  <a:pt x="414528" y="388620"/>
                </a:lnTo>
                <a:lnTo>
                  <a:pt x="0" y="3886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9" name="d12-icon-payback-0-handle">
            <a:extLst xmlns:a="http://schemas.openxmlformats.org/drawingml/2006/main">
              <a:ext uri="{FF2B5EF4-FFF2-40B4-BE49-F238E27FC236}">
                <a16:creationId xmlns:a16="http://schemas.microsoft.com/office/drawing/2014/main" id="{E5E26CB4-2260-48E6-90B6-DA74F9C6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49" y="7462266"/>
            <a:ext cx="168402" cy="90678"/>
          </a:xfrm>
          <a:custGeom xmlns:a="http://schemas.openxmlformats.org/drawingml/2006/main">
            <a:pathLst>
              <a:path w="168402" h="90678">
                <a:moveTo>
                  <a:pt x="0" y="90678"/>
                </a:moveTo>
                <a:lnTo>
                  <a:pt x="32385" y="0"/>
                </a:lnTo>
                <a:lnTo>
                  <a:pt x="136017" y="0"/>
                </a:lnTo>
                <a:lnTo>
                  <a:pt x="168402" y="906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0" name="d12-icon-payback-0-yen">
            <a:extLst xmlns:a="http://schemas.openxmlformats.org/drawingml/2006/main">
              <a:ext uri="{FF2B5EF4-FFF2-40B4-BE49-F238E27FC236}">
                <a16:creationId xmlns:a16="http://schemas.microsoft.com/office/drawing/2014/main" id="{3CB50291-C6CE-4440-AA3B-65C0582E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41" y="7643622"/>
            <a:ext cx="220218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¥</a:t>
            </a:r>
          </a:p>
        </p:txBody>
      </p:sp>
      <p:sp>
        <p:nvSpPr>
          <p:cNvPr id="151" name="d12-chev-0-title">
            <a:extLst xmlns:a="http://schemas.openxmlformats.org/drawingml/2006/main">
              <a:ext uri="{FF2B5EF4-FFF2-40B4-BE49-F238E27FC236}">
                <a16:creationId xmlns:a16="http://schemas.microsoft.com/office/drawing/2014/main" id="{EA53C5FD-4EF1-48E1-AF84-3F6A7A9B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73914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初期費用 + 年間運用費</a:t>
            </a:r>
          </a:p>
        </p:txBody>
      </p:sp>
      <p:sp>
        <p:nvSpPr>
          <p:cNvPr id="152" name="d12-chev-0-value">
            <a:extLst xmlns:a="http://schemas.openxmlformats.org/drawingml/2006/main">
              <a:ext uri="{FF2B5EF4-FFF2-40B4-BE49-F238E27FC236}">
                <a16:creationId xmlns:a16="http://schemas.microsoft.com/office/drawing/2014/main" id="{21AD582D-AADD-4978-B0CB-977E30D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7667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約300万円</a:t>
            </a:r>
          </a:p>
        </p:txBody>
      </p:sp>
      <p:sp>
        <p:nvSpPr>
          <p:cNvPr id="153" name="d12-chev-1">
            <a:extLst xmlns:a="http://schemas.openxmlformats.org/drawingml/2006/main">
              <a:ext uri="{FF2B5EF4-FFF2-40B4-BE49-F238E27FC236}">
                <a16:creationId xmlns:a16="http://schemas.microsoft.com/office/drawing/2014/main" id="{7CD2829C-2115-4FFD-A108-A19D591A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229475"/>
            <a:ext cx="4762500" cy="952500"/>
          </a:xfrm>
          <a:custGeom xmlns:a="http://schemas.openxmlformats.org/drawingml/2006/main">
            <a:pathLst>
              <a:path w="4762500" h="952500">
                <a:moveTo>
                  <a:pt x="0" y="0"/>
                </a:moveTo>
                <a:lnTo>
                  <a:pt x="4495800" y="0"/>
                </a:lnTo>
                <a:lnTo>
                  <a:pt x="4762500" y="476250"/>
                </a:lnTo>
                <a:lnTo>
                  <a:pt x="4495800" y="952500"/>
                </a:lnTo>
                <a:lnTo>
                  <a:pt x="0" y="952500"/>
                </a:lnTo>
                <a:lnTo>
                  <a:pt x="266700" y="47625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12-icon-payback-1-body">
            <a:extLst xmlns:a="http://schemas.openxmlformats.org/drawingml/2006/main">
              <a:ext uri="{FF2B5EF4-FFF2-40B4-BE49-F238E27FC236}">
                <a16:creationId xmlns:a16="http://schemas.microsoft.com/office/drawing/2014/main" id="{B767F641-C6CA-470B-B2F5-1C64831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05" y="7562469"/>
            <a:ext cx="45339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5" name="d12-icon-payback-1-divider">
            <a:extLst xmlns:a="http://schemas.openxmlformats.org/drawingml/2006/main">
              <a:ext uri="{FF2B5EF4-FFF2-40B4-BE49-F238E27FC236}">
                <a16:creationId xmlns:a16="http://schemas.microsoft.com/office/drawing/2014/main" id="{C8176D54-979B-49E9-8BC2-F6DAF54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05" y="7672578"/>
            <a:ext cx="45339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6" name="d12-icon-payback-1-pin1">
            <a:extLst xmlns:a="http://schemas.openxmlformats.org/drawingml/2006/main">
              <a:ext uri="{FF2B5EF4-FFF2-40B4-BE49-F238E27FC236}">
                <a16:creationId xmlns:a16="http://schemas.microsoft.com/office/drawing/2014/main" id="{2A72F4B8-AA05-4900-9541-2234184E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514" y="7484745"/>
            <a:ext cx="9525" cy="136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7" name="d12-icon-payback-1-pin2">
            <a:extLst xmlns:a="http://schemas.openxmlformats.org/drawingml/2006/main">
              <a:ext uri="{FF2B5EF4-FFF2-40B4-BE49-F238E27FC236}">
                <a16:creationId xmlns:a16="http://schemas.microsoft.com/office/drawing/2014/main" id="{BCC4BEE7-DB13-4097-ADFB-BE5F7B0F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686" y="7484745"/>
            <a:ext cx="9525" cy="136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8" name="d12-chev-1-title">
            <a:extLst xmlns:a="http://schemas.openxmlformats.org/drawingml/2006/main">
              <a:ext uri="{FF2B5EF4-FFF2-40B4-BE49-F238E27FC236}">
                <a16:creationId xmlns:a16="http://schemas.microsoft.com/office/drawing/2014/main" id="{A74F4B49-E94B-4FC1-ADDC-16C3FF6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3914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投資回収期間</a:t>
            </a:r>
          </a:p>
        </p:txBody>
      </p:sp>
      <p:sp>
        <p:nvSpPr>
          <p:cNvPr id="159" name="d12-chev-1-value">
            <a:extLst xmlns:a="http://schemas.openxmlformats.org/drawingml/2006/main">
              <a:ext uri="{FF2B5EF4-FFF2-40B4-BE49-F238E27FC236}">
                <a16:creationId xmlns:a16="http://schemas.microsoft.com/office/drawing/2014/main" id="{4F822FF8-1CE2-434E-B157-35CF051B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667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約8ヶ月</a:t>
            </a:r>
          </a:p>
        </p:txBody>
      </p:sp>
      <p:sp>
        <p:nvSpPr>
          <p:cNvPr id="160" name="d12-chev-1-sub">
            <a:extLst xmlns:a="http://schemas.openxmlformats.org/drawingml/2006/main">
              <a:ext uri="{FF2B5EF4-FFF2-40B4-BE49-F238E27FC236}">
                <a16:creationId xmlns:a16="http://schemas.microsoft.com/office/drawing/2014/main" id="{15BE28BB-55C5-46E7-B02D-F4FED6AB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98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（年間コスト削減 480万円 ÷ 12ヶ月）</a:t>
            </a:r>
          </a:p>
        </p:txBody>
      </p:sp>
      <p:sp>
        <p:nvSpPr>
          <p:cNvPr id="161" name="d12-chev-2">
            <a:extLst xmlns:a="http://schemas.openxmlformats.org/drawingml/2006/main">
              <a:ext uri="{FF2B5EF4-FFF2-40B4-BE49-F238E27FC236}">
                <a16:creationId xmlns:a16="http://schemas.microsoft.com/office/drawing/2014/main" id="{BF68DF37-8634-4D56-98D3-09C9BD68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229475"/>
            <a:ext cx="6286500" cy="952500"/>
          </a:xfrm>
          <a:custGeom xmlns:a="http://schemas.openxmlformats.org/drawingml/2006/main">
            <a:pathLst>
              <a:path w="6286500" h="952500">
                <a:moveTo>
                  <a:pt x="0" y="0"/>
                </a:moveTo>
                <a:lnTo>
                  <a:pt x="6019800" y="0"/>
                </a:lnTo>
                <a:lnTo>
                  <a:pt x="6286500" y="476250"/>
                </a:lnTo>
                <a:lnTo>
                  <a:pt x="6019800" y="952500"/>
                </a:lnTo>
                <a:lnTo>
                  <a:pt x="0" y="952500"/>
                </a:lnTo>
                <a:lnTo>
                  <a:pt x="266700" y="47625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12-icon-payback-2-outer">
            <a:extLst xmlns:a="http://schemas.openxmlformats.org/drawingml/2006/main">
              <a:ext uri="{FF2B5EF4-FFF2-40B4-BE49-F238E27FC236}">
                <a16:creationId xmlns:a16="http://schemas.microsoft.com/office/drawing/2014/main" id="{5B6A28BE-A106-4EFD-A2A7-E5848372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346" y="7473696"/>
            <a:ext cx="521208" cy="5212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63" name="d12-icon-payback-2-inner">
            <a:extLst xmlns:a="http://schemas.openxmlformats.org/drawingml/2006/main">
              <a:ext uri="{FF2B5EF4-FFF2-40B4-BE49-F238E27FC236}">
                <a16:creationId xmlns:a16="http://schemas.microsoft.com/office/drawing/2014/main" id="{2B6BCC64-CDF6-4940-B99B-415F208C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932" y="7590282"/>
            <a:ext cx="288036" cy="28803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64" name="d12-icon-payback-2-bull">
            <a:extLst xmlns:a="http://schemas.openxmlformats.org/drawingml/2006/main">
              <a:ext uri="{FF2B5EF4-FFF2-40B4-BE49-F238E27FC236}">
                <a16:creationId xmlns:a16="http://schemas.microsoft.com/office/drawing/2014/main" id="{E8B4DA18-2DD2-479F-825C-8D7138F2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802" y="769315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12-icon-payback-2-arrowhead">
            <a:extLst xmlns:a="http://schemas.openxmlformats.org/drawingml/2006/main">
              <a:ext uri="{FF2B5EF4-FFF2-40B4-BE49-F238E27FC236}">
                <a16:creationId xmlns:a16="http://schemas.microsoft.com/office/drawing/2014/main" id="{35E14306-A3E7-472F-A44B-70D31EF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962" y="7473696"/>
            <a:ext cx="192024" cy="130302"/>
          </a:xfrm>
          <a:custGeom xmlns:a="http://schemas.openxmlformats.org/drawingml/2006/main">
            <a:pathLst>
              <a:path w="192024" h="130302">
                <a:moveTo>
                  <a:pt x="0" y="0"/>
                </a:moveTo>
                <a:lnTo>
                  <a:pt x="192024" y="0"/>
                </a:lnTo>
                <a:lnTo>
                  <a:pt x="137160" y="130302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12-icon-payback-2-arrow">
            <a:extLst xmlns:a="http://schemas.openxmlformats.org/drawingml/2006/main">
              <a:ext uri="{FF2B5EF4-FFF2-40B4-BE49-F238E27FC236}">
                <a16:creationId xmlns:a16="http://schemas.microsoft.com/office/drawing/2014/main" id="{5FB2054F-82C4-4762-BB84-D1602534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536" y="7473696"/>
            <a:ext cx="17145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67" name="d12-chev-2-title">
            <a:extLst xmlns:a="http://schemas.openxmlformats.org/drawingml/2006/main">
              <a:ext uri="{FF2B5EF4-FFF2-40B4-BE49-F238E27FC236}">
                <a16:creationId xmlns:a16="http://schemas.microsoft.com/office/drawing/2014/main" id="{7893A6FE-88E0-4E75-88A1-78BB628E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3914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3年間の累計効果（試算）</a:t>
            </a:r>
          </a:p>
        </p:txBody>
      </p:sp>
      <p:sp>
        <p:nvSpPr>
          <p:cNvPr id="168" name="d12-chev-2-value">
            <a:extLst xmlns:a="http://schemas.openxmlformats.org/drawingml/2006/main">
              <a:ext uri="{FF2B5EF4-FFF2-40B4-BE49-F238E27FC236}">
                <a16:creationId xmlns:a16="http://schemas.microsoft.com/office/drawing/2014/main" id="{EF9CB11C-2512-4446-BA52-BE6AB56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667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約1,140万円のプラス効果</a:t>
            </a:r>
          </a:p>
        </p:txBody>
      </p:sp>
      <p:sp>
        <p:nvSpPr>
          <p:cNvPr id="169" name="d12-chev-2-sub">
            <a:extLst xmlns:a="http://schemas.openxmlformats.org/drawingml/2006/main">
              <a:ext uri="{FF2B5EF4-FFF2-40B4-BE49-F238E27FC236}">
                <a16:creationId xmlns:a16="http://schemas.microsoft.com/office/drawing/2014/main" id="{D4E7BDC0-34FF-4E82-AA20-E69880D0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981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（コスト削減 + 売上増による利益増）</a:t>
            </a:r>
          </a:p>
        </p:txBody>
      </p:sp>
      <p:sp>
        <p:nvSpPr>
          <p:cNvPr id="170" name="d12-footer-logo-top">
            <a:extLst xmlns:a="http://schemas.openxmlformats.org/drawingml/2006/main">
              <a:ext uri="{FF2B5EF4-FFF2-40B4-BE49-F238E27FC236}">
                <a16:creationId xmlns:a16="http://schemas.microsoft.com/office/drawing/2014/main" id="{59B75FFB-D31F-4397-9840-31263F8C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43900"/>
            <a:ext cx="262414" cy="135731"/>
          </a:xfrm>
          <a:custGeom xmlns:a="http://schemas.openxmlformats.org/drawingml/2006/main">
            <a:pathLst>
              <a:path w="262414" h="135731">
                <a:moveTo>
                  <a:pt x="0" y="63341"/>
                </a:moveTo>
                <a:lnTo>
                  <a:pt x="126682" y="0"/>
                </a:lnTo>
                <a:lnTo>
                  <a:pt x="262414" y="72390"/>
                </a:lnTo>
                <a:lnTo>
                  <a:pt x="135731" y="135731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12-footer-logo-gray">
            <a:extLst xmlns:a="http://schemas.openxmlformats.org/drawingml/2006/main">
              <a:ext uri="{FF2B5EF4-FFF2-40B4-BE49-F238E27FC236}">
                <a16:creationId xmlns:a16="http://schemas.microsoft.com/office/drawing/2014/main" id="{30C4A6C9-D4B0-493D-A74E-2188954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407241"/>
            <a:ext cx="135731" cy="153829"/>
          </a:xfrm>
          <a:custGeom xmlns:a="http://schemas.openxmlformats.org/drawingml/2006/main">
            <a:pathLst>
              <a:path w="135731" h="153829">
                <a:moveTo>
                  <a:pt x="0" y="0"/>
                </a:moveTo>
                <a:lnTo>
                  <a:pt x="135731" y="72390"/>
                </a:lnTo>
                <a:lnTo>
                  <a:pt x="135731" y="153829"/>
                </a:lnTo>
                <a:lnTo>
                  <a:pt x="0" y="81439"/>
                </a:lnTo>
                <a:close/>
              </a:path>
            </a:pathLst>
          </a:custGeom>
          <a:solidFill xmlns:a="http://schemas.openxmlformats.org/drawingml/2006/main">
            <a:srgbClr val="7B8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12-footer-logo-side">
            <a:extLst xmlns:a="http://schemas.openxmlformats.org/drawingml/2006/main">
              <a:ext uri="{FF2B5EF4-FFF2-40B4-BE49-F238E27FC236}">
                <a16:creationId xmlns:a16="http://schemas.microsoft.com/office/drawing/2014/main" id="{F05E54A3-3A27-4B34-BA3C-4E3CF67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" y="8416290"/>
            <a:ext cx="126682" cy="144780"/>
          </a:xfrm>
          <a:custGeom xmlns:a="http://schemas.openxmlformats.org/drawingml/2006/main">
            <a:pathLst>
              <a:path w="126682" h="144780">
                <a:moveTo>
                  <a:pt x="0" y="63341"/>
                </a:moveTo>
                <a:lnTo>
                  <a:pt x="126682" y="0"/>
                </a:lnTo>
                <a:lnTo>
                  <a:pt x="126682" y="72390"/>
                </a:lnTo>
                <a:lnTo>
                  <a:pt x="0" y="144780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12-footer-logo-front">
            <a:extLst xmlns:a="http://schemas.openxmlformats.org/drawingml/2006/main">
              <a:ext uri="{FF2B5EF4-FFF2-40B4-BE49-F238E27FC236}">
                <a16:creationId xmlns:a16="http://schemas.microsoft.com/office/drawing/2014/main" id="{441881E4-32BB-4237-A8CC-3A54841B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488680"/>
            <a:ext cx="135731" cy="162877"/>
          </a:xfrm>
          <a:custGeom xmlns:a="http://schemas.openxmlformats.org/drawingml/2006/main">
            <a:pathLst>
              <a:path w="135731" h="162877">
                <a:moveTo>
                  <a:pt x="0" y="0"/>
                </a:moveTo>
                <a:lnTo>
                  <a:pt x="135731" y="72390"/>
                </a:lnTo>
                <a:lnTo>
                  <a:pt x="135731" y="162877"/>
                </a:lnTo>
                <a:lnTo>
                  <a:pt x="0" y="90488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12-footer-logo-bottom-side">
            <a:extLst xmlns:a="http://schemas.openxmlformats.org/drawingml/2006/main">
              <a:ext uri="{FF2B5EF4-FFF2-40B4-BE49-F238E27FC236}">
                <a16:creationId xmlns:a16="http://schemas.microsoft.com/office/drawing/2014/main" id="{8CDAF84D-2EB9-4816-9E4B-01B7A197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" y="8488680"/>
            <a:ext cx="126682" cy="162877"/>
          </a:xfrm>
          <a:custGeom xmlns:a="http://schemas.openxmlformats.org/drawingml/2006/main">
            <a:pathLst>
              <a:path w="126682" h="162877">
                <a:moveTo>
                  <a:pt x="0" y="72390"/>
                </a:moveTo>
                <a:lnTo>
                  <a:pt x="126682" y="0"/>
                </a:lnTo>
                <a:lnTo>
                  <a:pt x="126682" y="90488"/>
                </a:lnTo>
                <a:lnTo>
                  <a:pt x="0" y="162877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12-footer-brand">
            <a:extLst xmlns:a="http://schemas.openxmlformats.org/drawingml/2006/main">
              <a:ext uri="{FF2B5EF4-FFF2-40B4-BE49-F238E27FC236}">
                <a16:creationId xmlns:a16="http://schemas.microsoft.com/office/drawing/2014/main" id="{048A1CD4-135C-45D7-A99B-06445447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62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76" name="d12-footer-divider">
            <a:extLst xmlns:a="http://schemas.openxmlformats.org/drawingml/2006/main">
              <a:ext uri="{FF2B5EF4-FFF2-40B4-BE49-F238E27FC236}">
                <a16:creationId xmlns:a16="http://schemas.microsoft.com/office/drawing/2014/main" id="{4069D50A-D460-40D9-90ED-7292BB70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8296275"/>
            <a:ext cx="95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77" name="d12-footer-tagline-jp">
            <a:extLst xmlns:a="http://schemas.openxmlformats.org/drawingml/2006/main">
              <a:ext uri="{FF2B5EF4-FFF2-40B4-BE49-F238E27FC236}">
                <a16:creationId xmlns:a16="http://schemas.microsoft.com/office/drawing/2014/main" id="{B07D0671-DA71-46B8-A282-739ABF33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2962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78" name="d12-footer-tagline-en">
            <a:extLst xmlns:a="http://schemas.openxmlformats.org/drawingml/2006/main">
              <a:ext uri="{FF2B5EF4-FFF2-40B4-BE49-F238E27FC236}">
                <a16:creationId xmlns:a16="http://schemas.microsoft.com/office/drawing/2014/main" id="{ED0B15AB-D1B4-45A3-9F03-95C2084A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5153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79" name="d12-footer-date">
            <a:extLst xmlns:a="http://schemas.openxmlformats.org/drawingml/2006/main">
              <a:ext uri="{FF2B5EF4-FFF2-40B4-BE49-F238E27FC236}">
                <a16:creationId xmlns:a16="http://schemas.microsoft.com/office/drawing/2014/main" id="{3E759D67-0C6A-452A-9183-345A5A71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3629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80" name="d12-footer-date-rule">
            <a:extLst xmlns:a="http://schemas.openxmlformats.org/drawingml/2006/main">
              <a:ext uri="{FF2B5EF4-FFF2-40B4-BE49-F238E27FC236}">
                <a16:creationId xmlns:a16="http://schemas.microsoft.com/office/drawing/2014/main" id="{21DD22B2-CB9C-4384-B3B1-3819C3B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39150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8112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2026-09-20T12:39:04.7950000Z</dcterms:created>
  <dcterms:modified xsi:type="dcterms:W3CDTF">2026-09-20T12:39:04.7950000Z</dcterms:modified>
</coreProperties>
</file>