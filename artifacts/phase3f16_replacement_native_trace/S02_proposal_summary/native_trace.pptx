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88c91569774bf2" /><Relationship Type="http://schemas.openxmlformats.org/officeDocument/2006/relationships/extended-properties" Target="/docProps/app.xml" Id="R17a7789c41cb409b" /><Relationship Type="http://schemas.openxmlformats.org/officeDocument/2006/relationships/officeDocument" Target="/ppt/presentation.xml" Id="Rfbed7ae0938746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bf1b9bdd334e52"/>
  </p:sldMasterIdLst>
  <p:notesMasterIdLst>
    <p:notesMasterId xmlns:r="http://schemas.openxmlformats.org/officeDocument/2006/relationships" r:id="Re372dd7ab7b049a9"/>
  </p:notesMasterIdLst>
  <p:sldIdLst>
    <p:sldId xmlns:r="http://schemas.openxmlformats.org/officeDocument/2006/relationships" id="256" r:id="R0e484a18c5184d4e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38d959819641c1" /><Relationship Type="http://schemas.openxmlformats.org/officeDocument/2006/relationships/slideMaster" Target="/ppt/slideMasters/slideMaster1.xml" Id="R96bf1b9bdd334e52" /><Relationship Type="http://schemas.openxmlformats.org/officeDocument/2006/relationships/notesMaster" Target="/ppt/notesMasters/notesMaster1.xml" Id="Re372dd7ab7b049a9" /><Relationship Type="http://schemas.openxmlformats.org/officeDocument/2006/relationships/presProps" Target="/ppt/presProps.xml" Id="R500fabe7ff06401a" /><Relationship Type="http://schemas.openxmlformats.org/officeDocument/2006/relationships/tableStyles" Target="/ppt/tableStyles.xml" Id="R762dfcdfd678479d" /><Relationship Type="http://schemas.openxmlformats.org/officeDocument/2006/relationships/slide" Target="/ppt/slides/slide1.xml" Id="R0e484a18c5184d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262892255e41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12bb695c7c4d50" /><Relationship Type="http://schemas.openxmlformats.org/officeDocument/2006/relationships/notesMaster" Target="/ppt/notesMasters/notesMaster1.xml" Id="R4f41ffab7d9d44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6b279d3e84f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77d943878248c2" /><Relationship Type="http://schemas.openxmlformats.org/officeDocument/2006/relationships/slideLayout" Target="/ppt/slideLayouts/slideLayout1.xml" Id="R2b1560d1d7c04d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1560d1d7c04d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f853cedb14595" /><Relationship Type="http://schemas.openxmlformats.org/officeDocument/2006/relationships/notesSlide" Target="/ppt/notesSlides/notesSlide1.xml" Id="R0534c272a54045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7858164-0CA5-4423-BC39-13B4CA9A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428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31B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31B2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44EB5-BA36-4C56-A65A-8321E8F1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31B2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31B23"/>
                </a:solidFill>
                <a:latin typeface="Arial"/>
                <a:ea typeface="Arial"/>
                <a:cs typeface="Arial"/>
              </a:rPr>
              <a:t>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139DE-C3D4-4A8F-8DAE-331B3238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ご提案サマリー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AD28D-1683-44EE-A771-42A86827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758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4A1C4-1883-4EE6-8CA9-988F0252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4350"/>
            <a:ext cx="758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C4E3B-6FEF-4257-A580-CD0106D8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2190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B3473-AE08-4B61-BF57-3EEBF089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提案サマリー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87A68-76E7-472E-AD14-3B9921F7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9542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提案業務の効率化と提案品質の向上を両立するため、3つの施策を一体で実行します。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CE432-403D-484A-849C-1EFA7DCC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85975"/>
            <a:ext cx="3152775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7F17E-BE5E-4C9A-9016-FF7A2A2B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85975"/>
            <a:ext cx="8620125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142D1-A6FB-4692-A108-8FDD62FE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2085975"/>
            <a:ext cx="3019425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182ED-55E9-4944-8EEF-92852F46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3" y="2230755"/>
            <a:ext cx="371475" cy="365284"/>
          </a:xfrm>
          <a:custGeom xmlns:a="http://schemas.openxmlformats.org/drawingml/2006/main">
            <a:pathLst>
              <a:path w="371475" h="365284">
                <a:moveTo>
                  <a:pt x="185738" y="0"/>
                </a:moveTo>
                <a:lnTo>
                  <a:pt x="371475" y="365284"/>
                </a:lnTo>
                <a:lnTo>
                  <a:pt x="0" y="3652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0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E64EB-4449-4A0F-A483-005733FC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8389"/>
            <a:ext cx="95" cy="130016"/>
          </a:xfrm>
          <a:custGeom xmlns:a="http://schemas.openxmlformats.org/drawingml/2006/main">
            <a:pathLst>
              <a:path w="95" h="130016">
                <a:moveTo>
                  <a:pt x="0" y="0"/>
                </a:moveTo>
                <a:lnTo>
                  <a:pt x="0" y="130016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018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0D112-6DE7-4B69-BB20-B42BA06A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8" y="2521744"/>
            <a:ext cx="24765" cy="247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7C48C-B366-42F3-9042-9B8EEE2E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764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現状の課題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66D9C-FDED-46BD-9FCF-DF18245C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81300"/>
            <a:ext cx="3152775" cy="95"/>
          </a:xfrm>
          <a:custGeom xmlns:a="http://schemas.openxmlformats.org/drawingml/2006/main">
            <a:pathLst>
              <a:path w="3152775" h="95">
                <a:moveTo>
                  <a:pt x="0" y="0"/>
                </a:moveTo>
                <a:lnTo>
                  <a:pt x="3152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AB5FF-4E60-4FEE-92BD-ED9D8576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289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提案業務において、以下のような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課題が発生しています。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C35BC-6B0F-431C-A4F8-B512E21B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5337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ACFC8-CF12-4319-BEB7-18E4F06A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" y="3710940"/>
            <a:ext cx="388620" cy="3886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2385">
            <a:solidFill>
              <a:srgbClr val="1018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F762A-1C9C-4E5F-96AB-56CCC240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9999"/>
            <a:ext cx="95" cy="105251"/>
          </a:xfrm>
          <a:custGeom xmlns:a="http://schemas.openxmlformats.org/drawingml/2006/main">
            <a:pathLst>
              <a:path w="95" h="105251">
                <a:moveTo>
                  <a:pt x="0" y="1052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1018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60056-D8D9-4F40-AC3C-B7EB7EA2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89059" cy="64770"/>
          </a:xfrm>
          <a:custGeom xmlns:a="http://schemas.openxmlformats.org/drawingml/2006/main">
            <a:pathLst>
              <a:path w="89059" h="64770">
                <a:moveTo>
                  <a:pt x="0" y="0"/>
                </a:moveTo>
                <a:lnTo>
                  <a:pt x="89059" y="6477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1018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0C81F-2331-48AD-938B-8D6F959C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385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提案資料作成に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時間がかかる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E574FF-1903-4E58-86D5-2FBC4F32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76800"/>
            <a:ext cx="2790825" cy="95"/>
          </a:xfrm>
          <a:custGeom xmlns:a="http://schemas.openxmlformats.org/drawingml/2006/main">
            <a:pathLst>
              <a:path w="2790825" h="95">
                <a:moveTo>
                  <a:pt x="0" y="0"/>
                </a:moveTo>
                <a:lnTo>
                  <a:pt x="2790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E958E-E8DB-4E54-9DF1-D369FCE8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006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E746ED-442F-4379-ADE2-7115BE6C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8" y="4969669"/>
            <a:ext cx="161925" cy="1619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CCA8B9-4AC1-4F91-B34B-5B6E29DA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81" y="5026343"/>
            <a:ext cx="121444" cy="12144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0A88E-5E79-4B9E-871D-61C3E626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26343"/>
            <a:ext cx="121444" cy="12144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CC4159-D068-4270-9A57-C22C5487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8" y="5212556"/>
            <a:ext cx="95" cy="186214"/>
          </a:xfrm>
          <a:custGeom xmlns:a="http://schemas.openxmlformats.org/drawingml/2006/main">
            <a:pathLst>
              <a:path w="95" h="186214">
                <a:moveTo>
                  <a:pt x="0" y="0"/>
                </a:moveTo>
                <a:lnTo>
                  <a:pt x="0" y="186214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A96AD0-449E-40E9-A1A1-B9B80064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9" y="5236845"/>
            <a:ext cx="153829" cy="137636"/>
          </a:xfrm>
          <a:custGeom xmlns:a="http://schemas.openxmlformats.org/drawingml/2006/main">
            <a:pathLst>
              <a:path w="153829" h="137636">
                <a:moveTo>
                  <a:pt x="153829" y="0"/>
                </a:moveTo>
                <a:lnTo>
                  <a:pt x="0" y="137636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BD41A1-182A-44DD-9F1D-6B837248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8" y="5236845"/>
            <a:ext cx="153829" cy="137636"/>
          </a:xfrm>
          <a:custGeom xmlns:a="http://schemas.openxmlformats.org/drawingml/2006/main">
            <a:pathLst>
              <a:path w="153829" h="137636">
                <a:moveTo>
                  <a:pt x="0" y="0"/>
                </a:moveTo>
                <a:lnTo>
                  <a:pt x="153829" y="137636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00645D-6294-4C92-8269-17ED70CA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81" y="5374481"/>
            <a:ext cx="56674" cy="80963"/>
          </a:xfrm>
          <a:custGeom xmlns:a="http://schemas.openxmlformats.org/drawingml/2006/main">
            <a:pathLst>
              <a:path w="56674" h="80963">
                <a:moveTo>
                  <a:pt x="56674" y="0"/>
                </a:moveTo>
                <a:lnTo>
                  <a:pt x="0" y="80963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8F0DEB-01A3-43C0-8847-B9E290F6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16" y="5374481"/>
            <a:ext cx="64770" cy="80963"/>
          </a:xfrm>
          <a:custGeom xmlns:a="http://schemas.openxmlformats.org/drawingml/2006/main">
            <a:pathLst>
              <a:path w="64770" h="80963">
                <a:moveTo>
                  <a:pt x="0" y="0"/>
                </a:moveTo>
                <a:lnTo>
                  <a:pt x="64770" y="80963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767BA5-282E-4701-A7D5-53679CC9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0537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担当者ごとに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品質差が生じる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05C9AD-4E62-4243-8796-D7A38BCA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143625"/>
            <a:ext cx="2790825" cy="95"/>
          </a:xfrm>
          <a:custGeom xmlns:a="http://schemas.openxmlformats.org/drawingml/2006/main">
            <a:pathLst>
              <a:path w="2790825" h="95">
                <a:moveTo>
                  <a:pt x="0" y="0"/>
                </a:moveTo>
                <a:lnTo>
                  <a:pt x="2790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2D8ED-4C7C-419E-B2C8-ED11E127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674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30DB5F-F4D5-4313-B6B9-912F956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" y="6187916"/>
            <a:ext cx="372428" cy="14573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2FE558-8AA6-4A0B-9A1C-0138772D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" y="6260783"/>
            <a:ext cx="372428" cy="364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22ED19-1955-48A6-84E2-0914301F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" y="6544151"/>
            <a:ext cx="372428" cy="14573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889A5A-DB94-457F-BA9E-60FDAD63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" y="6260783"/>
            <a:ext cx="95" cy="356235"/>
          </a:xfrm>
          <a:custGeom xmlns:a="http://schemas.openxmlformats.org/drawingml/2006/main">
            <a:pathLst>
              <a:path w="95" h="356235">
                <a:moveTo>
                  <a:pt x="0" y="0"/>
                </a:moveTo>
                <a:lnTo>
                  <a:pt x="0" y="356235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119417-E523-4C7A-B10E-5E49E56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4" y="6260783"/>
            <a:ext cx="95" cy="356235"/>
          </a:xfrm>
          <a:custGeom xmlns:a="http://schemas.openxmlformats.org/drawingml/2006/main">
            <a:pathLst>
              <a:path w="95" h="356235">
                <a:moveTo>
                  <a:pt x="0" y="0"/>
                </a:moveTo>
                <a:lnTo>
                  <a:pt x="0" y="356235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10182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57D013-1332-4065-A2D2-2D80CC00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722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過去提案の再利用が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進んでいない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1DA551-DADD-488C-974A-1B6E34CC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2290763"/>
            <a:ext cx="314325" cy="314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944B73-57AB-4341-832F-0FACB34C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944" y="2397919"/>
            <a:ext cx="100013" cy="1000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F230D1-084C-4EBC-89F4-B580C326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26469"/>
            <a:ext cx="95" cy="62008"/>
          </a:xfrm>
          <a:custGeom xmlns:a="http://schemas.openxmlformats.org/drawingml/2006/main">
            <a:pathLst>
              <a:path w="95" h="62008">
                <a:moveTo>
                  <a:pt x="0" y="62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A56E26-4533-4CDB-9732-1261520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07374"/>
            <a:ext cx="95" cy="62008"/>
          </a:xfrm>
          <a:custGeom xmlns:a="http://schemas.openxmlformats.org/drawingml/2006/main">
            <a:pathLst>
              <a:path w="95" h="62008">
                <a:moveTo>
                  <a:pt x="0" y="0"/>
                </a:moveTo>
                <a:lnTo>
                  <a:pt x="0" y="6200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1EDE88-606C-47E8-AF80-B4DCE764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494" y="2447925"/>
            <a:ext cx="62008" cy="95"/>
          </a:xfrm>
          <a:custGeom xmlns:a="http://schemas.openxmlformats.org/drawingml/2006/main">
            <a:pathLst>
              <a:path w="62008" h="95">
                <a:moveTo>
                  <a:pt x="6200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C2037D-7E92-4C24-A130-AE83E855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399" y="2447925"/>
            <a:ext cx="62008" cy="95"/>
          </a:xfrm>
          <a:custGeom xmlns:a="http://schemas.openxmlformats.org/drawingml/2006/main">
            <a:pathLst>
              <a:path w="62008" h="95">
                <a:moveTo>
                  <a:pt x="0" y="0"/>
                </a:moveTo>
                <a:lnTo>
                  <a:pt x="620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588443-A649-4B04-9933-C29688BF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2290763"/>
            <a:ext cx="44006" cy="44006"/>
          </a:xfrm>
          <a:custGeom xmlns:a="http://schemas.openxmlformats.org/drawingml/2006/main">
            <a:pathLst>
              <a:path w="44006" h="44006">
                <a:moveTo>
                  <a:pt x="44006" y="440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D98FFB-4489-4DAD-9157-F65D9A10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107" y="2561082"/>
            <a:ext cx="44006" cy="44006"/>
          </a:xfrm>
          <a:custGeom xmlns:a="http://schemas.openxmlformats.org/drawingml/2006/main">
            <a:pathLst>
              <a:path w="44006" h="44006">
                <a:moveTo>
                  <a:pt x="0" y="0"/>
                </a:moveTo>
                <a:lnTo>
                  <a:pt x="44006" y="4400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530CD2-7F4B-4CEF-9065-7B67C98C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2561082"/>
            <a:ext cx="44006" cy="44006"/>
          </a:xfrm>
          <a:custGeom xmlns:a="http://schemas.openxmlformats.org/drawingml/2006/main">
            <a:pathLst>
              <a:path w="44006" h="44006">
                <a:moveTo>
                  <a:pt x="44006" y="0"/>
                </a:moveTo>
                <a:lnTo>
                  <a:pt x="0" y="4400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F60E50-1E35-4EBF-9959-0C061667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107" y="2290763"/>
            <a:ext cx="44006" cy="44006"/>
          </a:xfrm>
          <a:custGeom xmlns:a="http://schemas.openxmlformats.org/drawingml/2006/main">
            <a:pathLst>
              <a:path w="44006" h="44006">
                <a:moveTo>
                  <a:pt x="0" y="44006"/>
                </a:moveTo>
                <a:lnTo>
                  <a:pt x="44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7B2674-B4E5-4E0A-8B5C-FB3AADE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669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3つの施策で解決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59CADC-D7D8-4380-B14B-0004FCFC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3695700" cy="466725"/>
          </a:xfrm>
          <a:custGeom xmlns:a="http://schemas.openxmlformats.org/drawingml/2006/main">
            <a:pathLst>
              <a:path w="3695700" h="466725">
                <a:moveTo>
                  <a:pt x="0" y="0"/>
                </a:moveTo>
                <a:lnTo>
                  <a:pt x="3552825" y="0"/>
                </a:lnTo>
                <a:lnTo>
                  <a:pt x="3695700" y="238125"/>
                </a:lnTo>
                <a:lnTo>
                  <a:pt x="3552825" y="466725"/>
                </a:lnTo>
                <a:lnTo>
                  <a:pt x="0" y="466725"/>
                </a:lnTo>
                <a:lnTo>
                  <a:pt x="142875" y="238125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5BAEBE-F47F-4514-AD21-DBFC7326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24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効率化・品質向上・継続改善を一体で推進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D86C11-2A91-4247-84C7-8B205663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38450"/>
            <a:ext cx="28670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EE1AFD-3398-416E-90F7-46152E10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09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31B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1B23"/>
                </a:solidFill>
                <a:latin typeface="Arial"/>
                <a:ea typeface="Arial"/>
                <a:cs typeface="Arial"/>
              </a:rPr>
              <a:t>01  ─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7A4E03-658A-4128-B869-0F5435C6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33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提案書自動生成AI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584E1F-75D8-43BE-B967-7B47C363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052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543AE1-2FDD-43C2-855E-277050F3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048250"/>
            <a:ext cx="2447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AIで提案資料の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叩き台を自動生成し、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作成時間を大幅に短縮。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1A3EAAE-72D4-4986-A6A5-6C2ADA6E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91000"/>
            <a:ext cx="142875" cy="342900"/>
          </a:xfrm>
          <a:custGeom xmlns:a="http://schemas.openxmlformats.org/drawingml/2006/main">
            <a:pathLst>
              <a:path w="142875" h="342900">
                <a:moveTo>
                  <a:pt x="0" y="0"/>
                </a:moveTo>
                <a:lnTo>
                  <a:pt x="142875" y="171450"/>
                </a:lnTo>
                <a:lnTo>
                  <a:pt x="0" y="342900"/>
                </a:lnTo>
                <a:close/>
              </a:path>
            </a:pathLst>
          </a:cu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DAD7C8B-C17A-4B33-9C12-0D6D2401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38450"/>
            <a:ext cx="28670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920360-95C9-4FFE-8955-AE0F3782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09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31B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1B23"/>
                </a:solidFill>
                <a:latin typeface="Arial"/>
                <a:ea typeface="Arial"/>
                <a:cs typeface="Arial"/>
              </a:rPr>
              <a:t>02  ─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4230B6-D044-45AF-9E29-2A1CF031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ナレッジ活用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64311F-05CC-4EA1-B03E-F1348FF8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052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B8A7704-1752-48FB-A2C2-DCF92BAE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48250"/>
            <a:ext cx="2447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過去の提案・成功事例を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組織の資産として活用し、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提案精度を高める。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9430FCE-F071-4D91-910E-41AB3D1E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0"/>
            <a:ext cx="142875" cy="342900"/>
          </a:xfrm>
          <a:custGeom xmlns:a="http://schemas.openxmlformats.org/drawingml/2006/main">
            <a:pathLst>
              <a:path w="142875" h="342900">
                <a:moveTo>
                  <a:pt x="0" y="0"/>
                </a:moveTo>
                <a:lnTo>
                  <a:pt x="142875" y="171450"/>
                </a:lnTo>
                <a:lnTo>
                  <a:pt x="0" y="342900"/>
                </a:lnTo>
                <a:close/>
              </a:path>
            </a:pathLst>
          </a:cu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CFF7C9-BAB3-4615-AC4B-D4DC01D3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28670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A61183B-7828-4DF2-9D34-5F0C36E5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009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31B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1B23"/>
                </a:solidFill>
                <a:latin typeface="Arial"/>
                <a:ea typeface="Arial"/>
                <a:cs typeface="Arial"/>
              </a:rPr>
              <a:t>03  ─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0674183-B282-4D24-A1FE-D0019C0A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レビュー運用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F6A426-B663-4F56-AB92-1E8E34B2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7052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EC11E7E-A06E-48A2-A36A-66025DBC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063" y="4145756"/>
            <a:ext cx="142875" cy="142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10182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EF214CD-47AF-41CD-97FB-2C36306E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9469" y="4195763"/>
            <a:ext cx="107156" cy="1071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10182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1E49971-1213-4B8C-BAAE-D3B2EDB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195763"/>
            <a:ext cx="107156" cy="1071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10182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C50818E-A4C6-4996-B04C-DB2A3ED0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063" y="4360069"/>
            <a:ext cx="95" cy="164306"/>
          </a:xfrm>
          <a:custGeom xmlns:a="http://schemas.openxmlformats.org/drawingml/2006/main">
            <a:pathLst>
              <a:path w="95" h="164306">
                <a:moveTo>
                  <a:pt x="0" y="0"/>
                </a:moveTo>
                <a:lnTo>
                  <a:pt x="0" y="164306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0182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27D139C-862B-4E7A-9A24-44467C42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331" y="4381500"/>
            <a:ext cx="135731" cy="121444"/>
          </a:xfrm>
          <a:custGeom xmlns:a="http://schemas.openxmlformats.org/drawingml/2006/main">
            <a:pathLst>
              <a:path w="135731" h="121444">
                <a:moveTo>
                  <a:pt x="135731" y="0"/>
                </a:moveTo>
                <a:lnTo>
                  <a:pt x="0" y="121444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0182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8F8C74C-A378-497A-8BD4-1EB670C9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063" y="4381500"/>
            <a:ext cx="135731" cy="121444"/>
          </a:xfrm>
          <a:custGeom xmlns:a="http://schemas.openxmlformats.org/drawingml/2006/main">
            <a:pathLst>
              <a:path w="135731" h="121444">
                <a:moveTo>
                  <a:pt x="0" y="0"/>
                </a:moveTo>
                <a:lnTo>
                  <a:pt x="135731" y="121444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0182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84B93EF-4018-495B-B311-FEB08164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9469" y="4502944"/>
            <a:ext cx="50006" cy="71438"/>
          </a:xfrm>
          <a:custGeom xmlns:a="http://schemas.openxmlformats.org/drawingml/2006/main">
            <a:pathLst>
              <a:path w="50006" h="71438">
                <a:moveTo>
                  <a:pt x="50006" y="0"/>
                </a:moveTo>
                <a:lnTo>
                  <a:pt x="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0182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3F90AE2-A663-4FAE-B5F8-9F8B4822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794" y="4502944"/>
            <a:ext cx="57150" cy="71438"/>
          </a:xfrm>
          <a:custGeom xmlns:a="http://schemas.openxmlformats.org/drawingml/2006/main">
            <a:pathLst>
              <a:path w="57150" h="71438">
                <a:moveTo>
                  <a:pt x="0" y="0"/>
                </a:moveTo>
                <a:lnTo>
                  <a:pt x="5715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0182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A3FE349-8F2C-4DF1-9D07-AA0FC9B7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3385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31B23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B90BFCA-C718-4EB9-AD8D-7B542DFE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324350"/>
            <a:ext cx="114300" cy="123825"/>
          </a:xfrm>
          <a:custGeom xmlns:a="http://schemas.openxmlformats.org/drawingml/2006/main">
            <a:pathLst>
              <a:path w="114300" h="123825">
                <a:moveTo>
                  <a:pt x="0" y="0"/>
                </a:moveTo>
                <a:lnTo>
                  <a:pt x="11430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E31B2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E178A75-2223-453F-8AEE-FEB9CAE8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48250"/>
            <a:ext cx="2447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提出前のレビューで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品質を担保し、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継続的な改善につなげる。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AA05811-8DAC-41DA-87B7-BB4A0C20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24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AEE88F9-5DA9-424B-BB77-419505D8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72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案件情報から叩き台を自動作成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7D0E39D-8AEC-4F9C-9C19-81397C0D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53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4410C8D-4AD2-4E08-BF4B-D151C892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57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過去提案・勝ちパターンを再利用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FF29DC7-FED5-4AA5-A107-FF47ED74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81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9680275-47DB-4905-885F-C86263A7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7437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提出前チェックで品質を担保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9228C67-6B03-414B-9C77-AD1ADD70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24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7108733-724E-4520-8C11-87082B97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172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業界・目的に応じた構成を提案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3DB5375-A400-4D39-912F-67F6A229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3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4BE5394-049F-4CEF-BF7A-A06D4D89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457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実績・根拠・表現を資産化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B3511E9-7A30-462B-B773-35D68B2B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81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AFB2124-662C-4E8C-B1B6-F322FA58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7437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改善ポイントを可視化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8CC8592-13ED-43ED-B587-0B82A19B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24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35E3D0-0C6B-4062-9074-C6744B7A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6172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短時間で高品質な初稿を生成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A6A3AE8-BF23-4168-826E-9510231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53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890366D-ED6F-421B-9FD8-4E55F692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6457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提案精度を継続的に向上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2E875E9-6298-43A8-8BDE-474ED367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81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07BDC98-D8B1-4827-B5D2-C91485E3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67437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継続的な改善サイクルを回す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69F483C-77DF-49C9-ABE0-4204DB8A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2269331"/>
            <a:ext cx="95" cy="357188"/>
          </a:xfrm>
          <a:custGeom xmlns:a="http://schemas.openxmlformats.org/drawingml/2006/main">
            <a:pathLst>
              <a:path w="95" h="357188">
                <a:moveTo>
                  <a:pt x="0" y="3571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31B2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A27D70A-10EE-4449-88EA-E1146214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2626519"/>
            <a:ext cx="421481" cy="95"/>
          </a:xfrm>
          <a:custGeom xmlns:a="http://schemas.openxmlformats.org/drawingml/2006/main">
            <a:pathLst>
              <a:path w="421481" h="95">
                <a:moveTo>
                  <a:pt x="0" y="0"/>
                </a:moveTo>
                <a:lnTo>
                  <a:pt x="4214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31B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D033C8B-1EAE-40EA-A796-EF4A45F9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69356"/>
            <a:ext cx="64294" cy="157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1B2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08ECA2F-5EBD-4A8A-892E-CE2CF8FA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390775"/>
            <a:ext cx="64294" cy="235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1B2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29297C8-FDB5-4765-B0FE-1EB82BFA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2269331"/>
            <a:ext cx="64294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1B2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B471A67-44FA-46F8-A45C-E9084723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22764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期待される成果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E6B9F64-5C36-4C48-95F7-DFA5BA69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2781300"/>
            <a:ext cx="3019425" cy="95"/>
          </a:xfrm>
          <a:custGeom xmlns:a="http://schemas.openxmlformats.org/drawingml/2006/main">
            <a:pathLst>
              <a:path w="3019425" h="95">
                <a:moveTo>
                  <a:pt x="0" y="0"/>
                </a:moveTo>
                <a:lnTo>
                  <a:pt x="3019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43F20FE-7A25-4D8C-B7EE-4E39CCA0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31908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C8750A0-F0FC-41F9-8615-3DEE852C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120" y="3379470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E31B2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C56CB8E-D34C-4C23-9B4B-56AF4E32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463290"/>
            <a:ext cx="95" cy="99060"/>
          </a:xfrm>
          <a:custGeom xmlns:a="http://schemas.openxmlformats.org/drawingml/2006/main">
            <a:pathLst>
              <a:path w="95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E31B2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79E1D06-5DE6-4904-A169-3FA572A5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562350"/>
            <a:ext cx="83820" cy="60960"/>
          </a:xfrm>
          <a:custGeom xmlns:a="http://schemas.openxmlformats.org/drawingml/2006/main">
            <a:pathLst>
              <a:path w="83820" h="60960">
                <a:moveTo>
                  <a:pt x="0" y="0"/>
                </a:moveTo>
                <a:lnTo>
                  <a:pt x="83820" y="6096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E31B2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07D508E-2835-43BB-8CB8-8F864A6D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3276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作成時間の短縮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4F16F7D-E972-493C-BDF6-CA965969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3648075"/>
            <a:ext cx="19335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D69E75A-4933-4940-B70A-6CB93E78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3829050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約70%削減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7A73A64-B50B-4939-AE5A-DC93CEFD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524375"/>
            <a:ext cx="2667000" cy="95"/>
          </a:xfrm>
          <a:custGeom xmlns:a="http://schemas.openxmlformats.org/drawingml/2006/main">
            <a:pathLst>
              <a:path w="2667000" h="9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216317B-5C37-49AC-8DB2-31A1EE3E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4629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AD585AB-D33F-4F76-BBC5-310FBF98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0640" y="4810125"/>
            <a:ext cx="95" cy="381000"/>
          </a:xfrm>
          <a:custGeom xmlns:a="http://schemas.openxmlformats.org/drawingml/2006/main">
            <a:pathLst>
              <a:path w="95"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820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72656D3-7643-40BE-9BEB-EBAB76DB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0640" y="5191125"/>
            <a:ext cx="449580" cy="95"/>
          </a:xfrm>
          <a:custGeom xmlns:a="http://schemas.openxmlformats.org/drawingml/2006/main">
            <a:pathLst>
              <a:path w="449580" h="95">
                <a:moveTo>
                  <a:pt x="0" y="0"/>
                </a:moveTo>
                <a:lnTo>
                  <a:pt x="449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82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13915C7-86C1-4062-AF9F-9DA08F92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2080" y="5023485"/>
            <a:ext cx="6858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0182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916D23-2143-44E8-A435-88276C66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939665"/>
            <a:ext cx="6858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01820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71E29AB-900C-48FF-88E3-7A0122BC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0" y="4810125"/>
            <a:ext cx="685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01820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C16571E-7663-416B-8CD3-A8B62ABC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7148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提案回数の増加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B67C0BC-DAB4-4814-A04D-15FFE166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086350"/>
            <a:ext cx="19335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584873C-AA04-4BD0-956A-52FFA319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267325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約1.5倍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71C85D4-4271-499D-BD66-B033F2F1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962650"/>
            <a:ext cx="2667000" cy="95"/>
          </a:xfrm>
          <a:custGeom xmlns:a="http://schemas.openxmlformats.org/drawingml/2006/main">
            <a:pathLst>
              <a:path w="2667000" h="9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20B7C3D-79EF-4919-9528-79C777FA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60674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526164B-22C4-4C29-B4B1-873FAF5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0640" y="6225540"/>
            <a:ext cx="426720" cy="4267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E31B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7F20944-8FC7-44A3-A58C-30DD2515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632460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E31B2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26EEF18-E0BA-4E54-8CD5-E959212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1140" y="64160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2AC1094-15AB-4BAE-A595-0FF9B6B7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9240" y="621792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0" y="198120"/>
                </a:moveTo>
                <a:lnTo>
                  <a:pt x="198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E31B23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230D000-7C99-4E97-B19D-E19397F7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0" y="6217920"/>
            <a:ext cx="91440" cy="95"/>
          </a:xfrm>
          <a:custGeom xmlns:a="http://schemas.openxmlformats.org/drawingml/2006/main">
            <a:pathLst>
              <a:path w="91440" h="95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E31B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806EB9B-42A5-4728-9504-395FC5AD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0" y="6217920"/>
            <a:ext cx="95" cy="91440"/>
          </a:xfrm>
          <a:custGeom xmlns:a="http://schemas.openxmlformats.org/drawingml/2006/main">
            <a:pathLst>
              <a:path w="95" h="91440">
                <a:moveTo>
                  <a:pt x="0" y="0"/>
                </a:moveTo>
                <a:lnTo>
                  <a:pt x="0" y="9144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E31B23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2315EDD-A6A7-4EDC-B65C-7D4B0A35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153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受注確度の向上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542080A-4A77-4E4D-AFAC-E6C4FD8A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6524625"/>
            <a:ext cx="19335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BE7F892-E101-4DDB-8D1A-51CA6408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705600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約20%向上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156674E-CC97-44EE-A04B-69EE936E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24750"/>
            <a:ext cx="30384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4F4E1F4-A70F-4AFD-959C-62FF63E7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86675"/>
            <a:ext cx="152400" cy="314325"/>
          </a:xfrm>
          <a:custGeom xmlns:a="http://schemas.openxmlformats.org/drawingml/2006/main">
            <a:pathLst>
              <a:path w="152400" h="314325">
                <a:moveTo>
                  <a:pt x="0" y="0"/>
                </a:moveTo>
                <a:lnTo>
                  <a:pt x="152400" y="0"/>
                </a:lnTo>
                <a:lnTo>
                  <a:pt x="152400" y="314325"/>
                </a:lnTo>
                <a:lnTo>
                  <a:pt x="0" y="314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FBA19C4-6962-4394-A6BA-4E39747F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86675"/>
            <a:ext cx="95" cy="371475"/>
          </a:xfrm>
          <a:custGeom xmlns:a="http://schemas.openxmlformats.org/drawingml/2006/main">
            <a:pathLst>
              <a:path w="95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418D083-C3CF-425C-AA7C-5040347F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76866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ご提案の要点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8DA3A10-8910-4E61-B1C1-1AA3122A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7524750"/>
            <a:ext cx="121253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19050">
            <a:solidFill>
              <a:srgbClr val="E31B23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1BCA72D-EC59-4946-8CD9-9725B9A8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6866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提案業務を効率化し、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C2E474D-BA6D-4592-9A8D-65106781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7686675"/>
            <a:ext cx="2705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提案の質と量を高め、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73916E5-537E-4EC7-8A26-6874D749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686675"/>
            <a:ext cx="3762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継続的に成果を生み出す仕組み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3AB1545-90E9-4A04-AF94-AEEDE0A3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686675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を構築します。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39BA45D-2BEB-4DEF-83F7-BCD742D5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420100"/>
            <a:ext cx="15163800" cy="95"/>
          </a:xfrm>
          <a:custGeom xmlns:a="http://schemas.openxmlformats.org/drawingml/2006/main">
            <a:pathLst>
              <a:path w="15163800" h="95">
                <a:moveTo>
                  <a:pt x="0" y="0"/>
                </a:moveTo>
                <a:lnTo>
                  <a:pt x="15163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1B23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2B1D992-3E9D-4031-A6AF-BB4C80E9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5629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31B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1B2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A4E4236-FB8C-4A26-A516-17A1372B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439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31B2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31B23"/>
                </a:solidFill>
                <a:latin typeface="Arial"/>
                <a:ea typeface="Arial"/>
                <a:cs typeface="Arial"/>
              </a:rPr>
              <a:t>│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BFECC7C-19C9-4D7A-8023-7853135D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629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提案クエスト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73E8019-FDA5-4D3E-8610-3E82C57E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85725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© 2026 提案クエスト All Rights Reserved.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2D0554F-C2F0-4EE1-B2A2-4272605D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043363"/>
            <a:ext cx="400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1820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1B0C7E3-93BB-4EA7-B3B9-6AA25115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43363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0"/>
                </a:moveTo>
                <a:lnTo>
                  <a:pt x="133350" y="133350"/>
                </a:lnTo>
                <a:lnTo>
                  <a:pt x="0" y="13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1820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170ADCC-9BB3-4DE2-935E-A8505BF8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67200"/>
            <a:ext cx="209550" cy="95"/>
          </a:xfrm>
          <a:custGeom xmlns:a="http://schemas.openxmlformats.org/drawingml/2006/main"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70B6CD1-8AF2-41E7-9D38-B9CEF20D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71975"/>
            <a:ext cx="209550" cy="95"/>
          </a:xfrm>
          <a:custGeom xmlns:a="http://schemas.openxmlformats.org/drawingml/2006/main"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C94ABBE-8122-4C4C-9FCD-F91D8F3A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210050"/>
            <a:ext cx="304800" cy="304800"/>
          </a:xfrm>
          <a:custGeom xmlns:a="http://schemas.openxmlformats.org/drawingml/2006/main">
            <a:pathLst>
              <a:path w="304800" h="304800">
                <a:moveTo>
                  <a:pt x="152400" y="0"/>
                </a:moveTo>
                <a:lnTo>
                  <a:pt x="190500" y="114300"/>
                </a:lnTo>
                <a:lnTo>
                  <a:pt x="304800" y="152400"/>
                </a:lnTo>
                <a:lnTo>
                  <a:pt x="190500" y="190500"/>
                </a:lnTo>
                <a:lnTo>
                  <a:pt x="152400" y="304800"/>
                </a:lnTo>
                <a:lnTo>
                  <a:pt x="114300" y="190500"/>
                </a:lnTo>
                <a:lnTo>
                  <a:pt x="0" y="152400"/>
                </a:lnTo>
                <a:lnTo>
                  <a:pt x="114300" y="114300"/>
                </a:lnTo>
                <a:close/>
              </a:path>
            </a:pathLst>
          </a:cu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F67C8C0-B5C6-4F4A-AF6C-1D85AE97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17195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76200" y="0"/>
                </a:moveTo>
                <a:lnTo>
                  <a:pt x="95250" y="57150"/>
                </a:lnTo>
                <a:lnTo>
                  <a:pt x="152400" y="76200"/>
                </a:lnTo>
                <a:lnTo>
                  <a:pt x="95250" y="95250"/>
                </a:lnTo>
                <a:lnTo>
                  <a:pt x="76200" y="152400"/>
                </a:lnTo>
                <a:lnTo>
                  <a:pt x="57150" y="95250"/>
                </a:lnTo>
                <a:lnTo>
                  <a:pt x="0" y="76200"/>
                </a:lnTo>
                <a:lnTo>
                  <a:pt x="57150" y="57150"/>
                </a:lnTo>
                <a:close/>
              </a:path>
            </a:pathLst>
          </a:cu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C18A13E-22DF-4B95-BFBF-8E8735BA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4381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0A60569-A693-408F-A89E-9427542D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43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A081385-3FAE-4EE5-9F91-12E8A77E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0075"/>
            <a:ext cx="4381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F720C59-A4D6-468D-8E65-ADB5CCA8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95" cy="419100"/>
          </a:xfrm>
          <a:custGeom xmlns:a="http://schemas.openxmlformats.org/drawingml/2006/main">
            <a:pathLst>
              <a:path w="9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B71243E-F7B1-4B4D-AB7E-C3A0DD63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76700"/>
            <a:ext cx="95" cy="419100"/>
          </a:xfrm>
          <a:custGeom xmlns:a="http://schemas.openxmlformats.org/drawingml/2006/main">
            <a:pathLst>
              <a:path w="9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820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DAA3410-B811-4914-A89B-424B1C6D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48" y="4294823"/>
            <a:ext cx="230505" cy="2305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1B23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6824646-986B-46BD-84E0-DA37DFCD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9629" y="4373404"/>
            <a:ext cx="73343" cy="733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1B23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ADB2A70-AED3-49BE-8D96-714F7D08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47674"/>
            <a:ext cx="95" cy="45472"/>
          </a:xfrm>
          <a:custGeom xmlns:a="http://schemas.openxmlformats.org/drawingml/2006/main">
            <a:pathLst>
              <a:path w="95" h="45472">
                <a:moveTo>
                  <a:pt x="0" y="454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31B23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04B782F-9480-47F3-861C-DB25607E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27004"/>
            <a:ext cx="95" cy="45472"/>
          </a:xfrm>
          <a:custGeom xmlns:a="http://schemas.openxmlformats.org/drawingml/2006/main">
            <a:pathLst>
              <a:path w="95" h="45472">
                <a:moveTo>
                  <a:pt x="0" y="0"/>
                </a:moveTo>
                <a:lnTo>
                  <a:pt x="0" y="45472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31B23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1F7497A-5625-446F-B1A8-18DAF69D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4410075"/>
            <a:ext cx="45472" cy="95"/>
          </a:xfrm>
          <a:custGeom xmlns:a="http://schemas.openxmlformats.org/drawingml/2006/main">
            <a:pathLst>
              <a:path w="45472" h="95">
                <a:moveTo>
                  <a:pt x="4547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31B23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E5B132C-544F-46C8-BAA5-AC73E540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229" y="4410075"/>
            <a:ext cx="45472" cy="95"/>
          </a:xfrm>
          <a:custGeom xmlns:a="http://schemas.openxmlformats.org/drawingml/2006/main">
            <a:pathLst>
              <a:path w="45472" h="95">
                <a:moveTo>
                  <a:pt x="0" y="0"/>
                </a:moveTo>
                <a:lnTo>
                  <a:pt x="45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31B23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8B7BEFF-A1AA-4BD2-AB03-05F025F6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48" y="4294823"/>
            <a:ext cx="32271" cy="32271"/>
          </a:xfrm>
          <a:custGeom xmlns:a="http://schemas.openxmlformats.org/drawingml/2006/main">
            <a:pathLst>
              <a:path w="32271" h="32271">
                <a:moveTo>
                  <a:pt x="32271" y="322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31B23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342C307-A87F-46FA-85E7-2F490E27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282" y="4493057"/>
            <a:ext cx="32271" cy="32271"/>
          </a:xfrm>
          <a:custGeom xmlns:a="http://schemas.openxmlformats.org/drawingml/2006/main">
            <a:pathLst>
              <a:path w="32271" h="32271">
                <a:moveTo>
                  <a:pt x="0" y="0"/>
                </a:moveTo>
                <a:lnTo>
                  <a:pt x="32271" y="32271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31B23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E9CF33E-0F0F-4558-9812-DC591C88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48" y="4493057"/>
            <a:ext cx="32271" cy="32271"/>
          </a:xfrm>
          <a:custGeom xmlns:a="http://schemas.openxmlformats.org/drawingml/2006/main">
            <a:pathLst>
              <a:path w="32271" h="32271">
                <a:moveTo>
                  <a:pt x="32271" y="0"/>
                </a:moveTo>
                <a:lnTo>
                  <a:pt x="0" y="32271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31B23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C94C8FA-7898-4F63-9A8C-C15D290C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282" y="4294823"/>
            <a:ext cx="32271" cy="32271"/>
          </a:xfrm>
          <a:custGeom xmlns:a="http://schemas.openxmlformats.org/drawingml/2006/main">
            <a:pathLst>
              <a:path w="32271" h="32271">
                <a:moveTo>
                  <a:pt x="0" y="32271"/>
                </a:moveTo>
                <a:lnTo>
                  <a:pt x="32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31B2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4227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2026-09-20T23:21:29.9190000Z</dcterms:created>
  <dcterms:modified xsi:type="dcterms:W3CDTF">2026-09-20T23:21:29.9190000Z</dcterms:modified>
</coreProperties>
</file>