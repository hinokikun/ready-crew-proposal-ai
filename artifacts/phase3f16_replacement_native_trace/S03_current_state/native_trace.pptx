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1fd95a9964fdc" /><Relationship Type="http://schemas.openxmlformats.org/officeDocument/2006/relationships/extended-properties" Target="/docProps/app.xml" Id="Ra9f00f7a4d404df2" /><Relationship Type="http://schemas.openxmlformats.org/officeDocument/2006/relationships/officeDocument" Target="/ppt/presentation.xml" Id="R4a91d09efcd6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87b22c4194085"/>
  </p:sldMasterIdLst>
  <p:notesMasterIdLst>
    <p:notesMasterId xmlns:r="http://schemas.openxmlformats.org/officeDocument/2006/relationships" r:id="R46d3a47809734fc4"/>
  </p:notesMasterIdLst>
  <p:sldIdLst>
    <p:sldId xmlns:r="http://schemas.openxmlformats.org/officeDocument/2006/relationships" id="256" r:id="Rd3595b90c120442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7be645aaf43ed" /><Relationship Type="http://schemas.openxmlformats.org/officeDocument/2006/relationships/slideMaster" Target="/ppt/slideMasters/slideMaster1.xml" Id="Rf3d87b22c4194085" /><Relationship Type="http://schemas.openxmlformats.org/officeDocument/2006/relationships/notesMaster" Target="/ppt/notesMasters/notesMaster1.xml" Id="R46d3a47809734fc4" /><Relationship Type="http://schemas.openxmlformats.org/officeDocument/2006/relationships/presProps" Target="/ppt/presProps.xml" Id="Re2ee38c6287e4508" /><Relationship Type="http://schemas.openxmlformats.org/officeDocument/2006/relationships/tableStyles" Target="/ppt/tableStyles.xml" Id="R041cc7f7ab7548ce" /><Relationship Type="http://schemas.openxmlformats.org/officeDocument/2006/relationships/slide" Target="/ppt/slides/slide1.xml" Id="Rd3595b90c120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057a5a0a7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51bf1f6894f58" /><Relationship Type="http://schemas.openxmlformats.org/officeDocument/2006/relationships/notesMaster" Target="/ppt/notesMasters/notesMaster1.xml" Id="R1e4cfa42344147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8083f8f2d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a592cbc56425a" /><Relationship Type="http://schemas.openxmlformats.org/officeDocument/2006/relationships/slideLayout" Target="/ppt/slideLayouts/slideLayout1.xml" Id="R1b4d67f2508f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d67f2508f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8292241d43fb" /><Relationship Type="http://schemas.openxmlformats.org/officeDocument/2006/relationships/notesSlide" Target="/ppt/notesSlides/notesSlide1.xml" Id="Reb923d5f429346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7BF7847-E088-4808-86D9-4BE88D5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288D7-0B4D-4229-BEB1-6EDD7EF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738AD-43CB-44DF-A934-A1086CB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現状理解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80059-B8F6-4E96-85AC-419462B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"/>
            <a:ext cx="12401550" cy="95"/>
          </a:xfrm>
          <a:custGeom xmlns:a="http://schemas.openxmlformats.org/drawingml/2006/main">
            <a:pathLst>
              <a:path w="12401550" h="95">
                <a:moveTo>
                  <a:pt x="0" y="0"/>
                </a:moveTo>
                <a:lnTo>
                  <a:pt x="1240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4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D5D87-4F64-4E9B-9E9B-90B27C9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667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3340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04A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A3EB8-72C3-4638-8BB5-3B53F0C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0B7E4-0FD5-415D-B637-D1066C74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現在の提案業務フロー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77838-3A7B-4832-9664-5DD80D81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00350"/>
            <a:ext cx="2476500" cy="1428750"/>
          </a:xfrm>
          <a:custGeom xmlns:a="http://schemas.openxmlformats.org/drawingml/2006/main">
            <a:pathLst>
              <a:path w="2476500" h="1428750">
                <a:moveTo>
                  <a:pt x="0" y="0"/>
                </a:moveTo>
                <a:lnTo>
                  <a:pt x="2152650" y="0"/>
                </a:lnTo>
                <a:lnTo>
                  <a:pt x="2476500" y="714375"/>
                </a:lnTo>
                <a:lnTo>
                  <a:pt x="2152650" y="1428750"/>
                </a:lnTo>
                <a:lnTo>
                  <a:pt x="0" y="1428750"/>
                </a:lnTo>
                <a:lnTo>
                  <a:pt x="209550" y="714375"/>
                </a:lnTo>
                <a:close/>
              </a:path>
            </a:pathLst>
          </a:cu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C123F-40AC-4926-8B2E-DB8F2F03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79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795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53586-DA88-4C98-8576-23F6DD4F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40856"/>
            <a:ext cx="34290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88600-0FB6-4812-B3F2-71B132EE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40856"/>
            <a:ext cx="171450" cy="157163"/>
          </a:xfrm>
          <a:custGeom xmlns:a="http://schemas.openxmlformats.org/drawingml/2006/main">
            <a:pathLst>
              <a:path w="171450" h="157163">
                <a:moveTo>
                  <a:pt x="0" y="0"/>
                </a:moveTo>
                <a:lnTo>
                  <a:pt x="171450" y="15716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B122A-AF61-4BBB-B2A1-ADF2598E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040856"/>
            <a:ext cx="171450" cy="157163"/>
          </a:xfrm>
          <a:custGeom xmlns:a="http://schemas.openxmlformats.org/drawingml/2006/main">
            <a:pathLst>
              <a:path w="171450" h="157163">
                <a:moveTo>
                  <a:pt x="171450" y="0"/>
                </a:moveTo>
                <a:lnTo>
                  <a:pt x="0" y="15716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86062-A3E0-4F2F-BA20-A1E425C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00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案件受領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730FB-0FEF-444C-813C-5B7F0C46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100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営業からの依頼を受け、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提案の前提・要件を確認します。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B0650-A563-42B7-AD84-81454A65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2476500" cy="1428750"/>
          </a:xfrm>
          <a:custGeom xmlns:a="http://schemas.openxmlformats.org/drawingml/2006/main">
            <a:pathLst>
              <a:path w="2476500" h="1428750">
                <a:moveTo>
                  <a:pt x="0" y="0"/>
                </a:moveTo>
                <a:lnTo>
                  <a:pt x="2152650" y="0"/>
                </a:lnTo>
                <a:lnTo>
                  <a:pt x="2476500" y="714375"/>
                </a:lnTo>
                <a:lnTo>
                  <a:pt x="2152650" y="1428750"/>
                </a:lnTo>
                <a:lnTo>
                  <a:pt x="0" y="1428750"/>
                </a:lnTo>
                <a:lnTo>
                  <a:pt x="209550" y="714375"/>
                </a:lnTo>
                <a:close/>
              </a:path>
            </a:pathLst>
          </a:cu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1F5ED-E010-4773-9F5D-A6C86F9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79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795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587C3-FA04-4A40-BCF2-5D2F2B2F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2987278"/>
            <a:ext cx="257175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83725-A071-4269-A9A6-C90DF733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87278"/>
            <a:ext cx="100013" cy="85725"/>
          </a:xfrm>
          <a:custGeom xmlns:a="http://schemas.openxmlformats.org/drawingml/2006/main">
            <a:pathLst>
              <a:path w="100013" h="85725">
                <a:moveTo>
                  <a:pt x="0" y="0"/>
                </a:moveTo>
                <a:lnTo>
                  <a:pt x="100013" y="85725"/>
                </a:lnTo>
                <a:lnTo>
                  <a:pt x="0" y="85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E8D4A-8C14-4AA9-8A04-6737D2ED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8013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A588C-5CA0-4BF6-A5B0-2DC860D5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26594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F87AC-98FB-4E0C-AA2B-7546A65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情報整理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1EDB70-8C0A-4908-8D85-85624E1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100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過去提案・顧客情報・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市場情報などを収集し、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必要な情報を整理します。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2F5EF-05D0-4E3B-B9E6-5746C37A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0350"/>
            <a:ext cx="2476500" cy="1428750"/>
          </a:xfrm>
          <a:custGeom xmlns:a="http://schemas.openxmlformats.org/drawingml/2006/main">
            <a:pathLst>
              <a:path w="2476500" h="1428750">
                <a:moveTo>
                  <a:pt x="0" y="0"/>
                </a:moveTo>
                <a:lnTo>
                  <a:pt x="2152650" y="0"/>
                </a:lnTo>
                <a:lnTo>
                  <a:pt x="2476500" y="714375"/>
                </a:lnTo>
                <a:lnTo>
                  <a:pt x="2152650" y="1428750"/>
                </a:lnTo>
                <a:lnTo>
                  <a:pt x="0" y="1428750"/>
                </a:lnTo>
                <a:lnTo>
                  <a:pt x="209550" y="714375"/>
                </a:lnTo>
                <a:close/>
              </a:path>
            </a:pathLst>
          </a:cu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BF8BF-51E3-458A-98A6-D1B393A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79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795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8A037-9034-4336-8D4D-B66F705E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90850"/>
            <a:ext cx="314325" cy="328613"/>
          </a:xfrm>
          <a:custGeom xmlns:a="http://schemas.openxmlformats.org/drawingml/2006/main">
            <a:pathLst>
              <a:path w="314325" h="328613">
                <a:moveTo>
                  <a:pt x="0" y="328613"/>
                </a:moveTo>
                <a:lnTo>
                  <a:pt x="100013" y="0"/>
                </a:lnTo>
                <a:lnTo>
                  <a:pt x="314325" y="164306"/>
                </a:lnTo>
                <a:lnTo>
                  <a:pt x="207169" y="2928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217E9A-A3AB-498C-8829-78F6109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2990850"/>
            <a:ext cx="107156" cy="100013"/>
          </a:xfrm>
          <a:custGeom xmlns:a="http://schemas.openxmlformats.org/drawingml/2006/main">
            <a:pathLst>
              <a:path w="107156" h="100013">
                <a:moveTo>
                  <a:pt x="0" y="0"/>
                </a:moveTo>
                <a:lnTo>
                  <a:pt x="107156" y="10001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9359A-1B98-4EE7-B173-BC52703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5181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6A68D-7D40-4F5E-B85F-854281B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600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提案作成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CB49A-B530-4CE7-A1B9-CEEBD27F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100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構成検討・資料作成・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デザイン調整を行い、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提案書を作成します。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B9E2AA-3D71-4E08-9F40-528F003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2476500" cy="1428750"/>
          </a:xfrm>
          <a:custGeom xmlns:a="http://schemas.openxmlformats.org/drawingml/2006/main">
            <a:pathLst>
              <a:path w="2476500" h="1428750">
                <a:moveTo>
                  <a:pt x="0" y="0"/>
                </a:moveTo>
                <a:lnTo>
                  <a:pt x="2152650" y="0"/>
                </a:lnTo>
                <a:lnTo>
                  <a:pt x="2476500" y="714375"/>
                </a:lnTo>
                <a:lnTo>
                  <a:pt x="2152650" y="1428750"/>
                </a:lnTo>
                <a:lnTo>
                  <a:pt x="0" y="1428750"/>
                </a:lnTo>
                <a:lnTo>
                  <a:pt x="209550" y="714375"/>
                </a:lnTo>
                <a:close/>
              </a:path>
            </a:pathLst>
          </a:custGeom>
          <a:solidFill xmlns:a="http://schemas.openxmlformats.org/drawingml/2006/main">
            <a:srgbClr val="F2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2FDDD-1241-484C-B263-2B51F80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879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795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E588D4-8966-49C5-BDF4-713AAEC0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76563"/>
            <a:ext cx="421481" cy="392906"/>
          </a:xfrm>
          <a:custGeom xmlns:a="http://schemas.openxmlformats.org/drawingml/2006/main">
            <a:pathLst>
              <a:path w="421481" h="392906">
                <a:moveTo>
                  <a:pt x="0" y="157163"/>
                </a:moveTo>
                <a:lnTo>
                  <a:pt x="421481" y="0"/>
                </a:lnTo>
                <a:lnTo>
                  <a:pt x="257175" y="392906"/>
                </a:lnTo>
                <a:lnTo>
                  <a:pt x="192881" y="2357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0233E8-933E-475A-B759-70BD172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306" y="2976563"/>
            <a:ext cx="228600" cy="235744"/>
          </a:xfrm>
          <a:custGeom xmlns:a="http://schemas.openxmlformats.org/drawingml/2006/main">
            <a:pathLst>
              <a:path w="228600" h="235744">
                <a:moveTo>
                  <a:pt x="0" y="235744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3ED5F7-7667-4302-92A7-E884562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提出・振り返り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3AF015-4AE5-487C-85CD-5073DD87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顧客へ提出し、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フィードバックを受けて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次回に向けた改善を行います。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8B660B-3DE9-4610-945D-56B54E6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9715500" cy="952500"/>
          </a:xfrm>
          <a:custGeom xmlns:a="http://schemas.openxmlformats.org/drawingml/2006/main">
            <a:pathLst>
              <a:path w="9715500" h="952500">
                <a:moveTo>
                  <a:pt x="0" y="695325"/>
                </a:moveTo>
                <a:lnTo>
                  <a:pt x="4857750" y="0"/>
                </a:lnTo>
                <a:lnTo>
                  <a:pt x="9715500" y="695325"/>
                </a:lnTo>
                <a:lnTo>
                  <a:pt x="9715500" y="9525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ABE96-2B04-4642-A96D-21A6E127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339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各プロセスにおいて、以下の課題が顕在化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622576-BD48-4F20-A47B-E183BC80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435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EF0F0C-8A5A-4EFC-A9AB-BA408DF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34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66DD62-E3AC-445C-A73B-CF817FA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8170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9006DF-2AF6-49DD-96CB-A2AA12FA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6053138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416E52-65E7-4263-B5AC-288BA1C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8" y="6053138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CE0562-D9DC-4C65-A81E-70DE65C2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6013"/>
            <a:ext cx="95" cy="185738"/>
          </a:xfrm>
          <a:custGeom xmlns:a="http://schemas.openxmlformats.org/drawingml/2006/main">
            <a:pathLst>
              <a:path w="95" h="185738">
                <a:moveTo>
                  <a:pt x="0" y="0"/>
                </a:moveTo>
                <a:lnTo>
                  <a:pt x="0" y="1857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7CA835-78F6-42DB-B2F6-1F635A1D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" y="6224588"/>
            <a:ext cx="150019" cy="142875"/>
          </a:xfrm>
          <a:custGeom xmlns:a="http://schemas.openxmlformats.org/drawingml/2006/main">
            <a:pathLst>
              <a:path w="150019" h="142875">
                <a:moveTo>
                  <a:pt x="150019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7759A1-A879-4631-A6BF-B432DD6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24588"/>
            <a:ext cx="157163" cy="142875"/>
          </a:xfrm>
          <a:custGeom xmlns:a="http://schemas.openxmlformats.org/drawingml/2006/main">
            <a:pathLst>
              <a:path w="157163" h="142875">
                <a:moveTo>
                  <a:pt x="0" y="0"/>
                </a:moveTo>
                <a:lnTo>
                  <a:pt x="157163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013EF0-895F-402D-87AB-A95EE322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7463"/>
            <a:ext cx="57150" cy="64294"/>
          </a:xfrm>
          <a:custGeom xmlns:a="http://schemas.openxmlformats.org/drawingml/2006/main">
            <a:pathLst>
              <a:path w="57150" h="64294">
                <a:moveTo>
                  <a:pt x="57150" y="0"/>
                </a:moveTo>
                <a:lnTo>
                  <a:pt x="0" y="642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00F0D8-F0ED-4462-A7D9-96C5BC0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6367463"/>
            <a:ext cx="71438" cy="64294"/>
          </a:xfrm>
          <a:custGeom xmlns:a="http://schemas.openxmlformats.org/drawingml/2006/main">
            <a:pathLst>
              <a:path w="71438" h="64294">
                <a:moveTo>
                  <a:pt x="0" y="0"/>
                </a:moveTo>
                <a:lnTo>
                  <a:pt x="71438" y="6429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E95C55-8A0A-4390-A538-4B4CADC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8959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属人化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C02EE7-EEC0-4F8F-BD89-647D239D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3436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ノウハウや良い提案が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特定のメンバーに依存し、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組織として蓄積されない。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5A368-4DDA-4259-A491-46DD9CF0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5435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41E51C-FD75-4CF6-AD31-AE93500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34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DD82F1-47F9-4A3C-8C6B-26698C2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67413"/>
            <a:ext cx="342900" cy="1285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56ACBF-640A-4B60-9DF7-E435FA0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31706"/>
            <a:ext cx="3429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3F8730-7559-4689-942A-D7682640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267450"/>
            <a:ext cx="342900" cy="1285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1CFDDD-5428-40ED-A9F5-FB8137CD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31706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05E225-79AB-4C96-B44E-3CB55566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31706"/>
            <a:ext cx="95" cy="300038"/>
          </a:xfrm>
          <a:custGeom xmlns:a="http://schemas.openxmlformats.org/drawingml/2006/main">
            <a:pathLst>
              <a:path w="95" h="300038">
                <a:moveTo>
                  <a:pt x="0" y="0"/>
                </a:moveTo>
                <a:lnTo>
                  <a:pt x="0" y="3000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9244E8-6D19-4D64-BE9E-ED24B9FB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8959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情報分散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131D61-AC88-45D6-A308-BFF8760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3436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提案に必要な情報が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社内の様々な場所に分散し、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探す・集める工数が発生。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4F5640-AD25-4EE9-B536-F6E484C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543550"/>
            <a:ext cx="3009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0F9BDE-F91E-40C5-98FA-D142C4AB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7340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022C94-03CC-4142-8ED4-53863BBB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63" y="6006703"/>
            <a:ext cx="257175" cy="350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CDB892-41E9-44B1-9392-0AA9523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6703"/>
            <a:ext cx="100013" cy="85725"/>
          </a:xfrm>
          <a:custGeom xmlns:a="http://schemas.openxmlformats.org/drawingml/2006/main">
            <a:pathLst>
              <a:path w="100013" h="85725">
                <a:moveTo>
                  <a:pt x="0" y="0"/>
                </a:moveTo>
                <a:lnTo>
                  <a:pt x="100013" y="85725"/>
                </a:lnTo>
                <a:lnTo>
                  <a:pt x="0" y="85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C4A0CF-7E8B-454F-A1E5-808EBA8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167438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467791-EBD8-4B4E-A709-6F5418BE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246019"/>
            <a:ext cx="171450" cy="95"/>
          </a:xfrm>
          <a:custGeom xmlns:a="http://schemas.openxmlformats.org/drawingml/2006/main"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DF2C8C-F726-47D2-9BAB-11E7813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8959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作成負荷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5049F3-D3C8-4A9E-A862-7D9EFB46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63436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ゼロベースでの資料作成が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多く、構成検討・デザイン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調整に多くの時間を要する。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F958E1-9A34-4B0E-A501-01CC9151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904875"/>
            <a:ext cx="1905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13F31F-FF89-4527-80B8-22A4DF9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019175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60806A-5E79-4D96-B480-5DC1145B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942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主なボトルネック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CB7DB4-F567-4065-8260-2D62D9E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295400"/>
            <a:ext cx="4895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500657-998F-43A0-B513-CD0CCB4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4478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0E0869-2B1F-46CC-96D0-0131016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571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897D0D-3D85-4FB9-BC65-5CBBC12C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4192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情報の探索に時間がかかる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06C52C-A4F6-4ACE-9429-1164CD7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7049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過去提案・事例・テンプレートが散在し、目的の情報に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たどり着くまでに時間を要する。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6764092-DDD4-40B1-9AB3-EB99FDBF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62175"/>
            <a:ext cx="4895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CE4042-AFF8-4E2E-81CD-F02C5F0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145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29B4DC-2272-40E0-9F66-3FD6FCE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4384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4EB4F8-8D28-46CC-8CAF-73B6AEE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2860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提案ノウハウの共有が不十分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E60D36-A8C7-4F4C-B3A3-0211785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5717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優れた提案事例やナレッジが個人に留まり、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組織的に活用されていない。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EA65A4B-8479-4CC7-B160-0AAD59C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28950"/>
            <a:ext cx="4895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4B8896-2A14-48D5-BE5F-33615815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1813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8A65F6-0D75-4721-8863-CADAB33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05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A97D55-6603-45E2-BFCD-EF628C0D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1527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資料作成の工数が大きい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4703FF-6888-4125-9D44-DBB04E91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4385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毎回ゼロベースでの作成が多く、構成・デザイン・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推敲に多くの時間がかかる。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C69E85-3287-4EF9-94D5-666BCF7C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95725"/>
            <a:ext cx="4895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C6F4881-003B-44AE-8ACB-64F10BEC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481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D83546-39A7-40BB-A926-9603C68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71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F641FD-ABAC-4592-87A2-B319A5E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0195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フィードバックの活用が限定的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9260F1B-7D17-4946-A724-92A4824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305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提出後のフィードバックが十分に蓄積・分析されず、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次の提案に活かしきれていない。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7029F2-2E93-455E-A13E-2399750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9911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E7BB6E-C710-44B2-A7A0-D1BA6CDA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914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業務への影響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F02275-C843-4945-A1C5-1C026853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57825"/>
            <a:ext cx="4895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DBE5DD-4CA3-4F8E-9F35-B68B4E94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743" y="5635943"/>
            <a:ext cx="272415" cy="27241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4E4EAB-390C-4489-8FB6-FF8ACBCE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97855"/>
            <a:ext cx="95" cy="74295"/>
          </a:xfrm>
          <a:custGeom xmlns:a="http://schemas.openxmlformats.org/drawingml/2006/main">
            <a:pathLst>
              <a:path w="95" h="74295">
                <a:moveTo>
                  <a:pt x="0" y="742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829F5F-3D3B-4B72-916F-641B2AF9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772150"/>
            <a:ext cx="61913" cy="43339"/>
          </a:xfrm>
          <a:custGeom xmlns:a="http://schemas.openxmlformats.org/drawingml/2006/main">
            <a:pathLst>
              <a:path w="61913" h="43339">
                <a:moveTo>
                  <a:pt x="0" y="0"/>
                </a:moveTo>
                <a:lnTo>
                  <a:pt x="61913" y="4333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D0A7309-8F7B-4007-B931-3A8F81F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55307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作成時間が長い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AE60F9-DD23-41F9-9CE8-5F078B73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810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1案件あたりの作成時間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10D410-7C24-4BF5-B61C-B396A934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543550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877773-E110-4F44-887E-50954405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530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約60%増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253E28-C886-4948-BF47-3B313B8D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8388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（理想と比較）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1670CEF-5725-4091-A906-62C715F9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10300"/>
            <a:ext cx="4895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F2D67D9-2D81-47FF-A352-05FDEF4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169" y="6388418"/>
            <a:ext cx="95" cy="278606"/>
          </a:xfrm>
          <a:custGeom xmlns:a="http://schemas.openxmlformats.org/drawingml/2006/main">
            <a:pathLst>
              <a:path w="95" h="278606">
                <a:moveTo>
                  <a:pt x="0" y="278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67A7FC5-7468-489F-820C-C39F564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169" y="6667024"/>
            <a:ext cx="328136" cy="95"/>
          </a:xfrm>
          <a:custGeom xmlns:a="http://schemas.openxmlformats.org/drawingml/2006/main">
            <a:pathLst>
              <a:path w="328136" h="95">
                <a:moveTo>
                  <a:pt x="0" y="0"/>
                </a:moveTo>
                <a:lnTo>
                  <a:pt x="3281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3F98D98-A482-408D-8FCC-C5EFC4B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464" y="6555581"/>
            <a:ext cx="49530" cy="11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09F410-E3F8-4E9E-AF7E-73D0C0B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87478"/>
            <a:ext cx="49530" cy="179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9336F72-3D53-42F8-87C6-BE9A52C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436" y="6394609"/>
            <a:ext cx="4953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F9D9958-63BC-4A64-9CEE-BCA7758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3055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提案品質にばらつき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AF1B1C1-BDEC-46DD-91B1-50E94A4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5627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社内レビューでの指摘件数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86BEBD-53DA-479D-A148-9650FAFD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296025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E22051D-926B-4F54-B31C-4448CC23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30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約1.8倍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F94997E-7EE2-460D-8DC5-8622424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5913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（メンバー間の比較）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6AF0168-BB17-43D5-9BE6-65A7F459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962775"/>
            <a:ext cx="4895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AB0A9A-03A2-4ECF-B475-CD1EDD7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08" y="7125414"/>
            <a:ext cx="222885" cy="30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A64FA9-14B3-4F4D-822F-1E27B6E2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715" y="7125414"/>
            <a:ext cx="86678" cy="74295"/>
          </a:xfrm>
          <a:custGeom xmlns:a="http://schemas.openxmlformats.org/drawingml/2006/main">
            <a:pathLst>
              <a:path w="86678" h="74295">
                <a:moveTo>
                  <a:pt x="0" y="0"/>
                </a:moveTo>
                <a:lnTo>
                  <a:pt x="86678" y="74295"/>
                </a:lnTo>
                <a:lnTo>
                  <a:pt x="0" y="742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92AD475-4219-4CDC-B8C1-5CA12CF8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7264718"/>
            <a:ext cx="148590" cy="95"/>
          </a:xfrm>
          <a:custGeom xmlns:a="http://schemas.openxmlformats.org/drawingml/2006/main">
            <a:pathLst>
              <a:path w="148590" h="95">
                <a:moveTo>
                  <a:pt x="0" y="0"/>
                </a:moveTo>
                <a:lnTo>
                  <a:pt x="14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BF3CFF1-FE68-4E2C-B092-E5ED3AE0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7332821"/>
            <a:ext cx="148590" cy="95"/>
          </a:xfrm>
          <a:custGeom xmlns:a="http://schemas.openxmlformats.org/drawingml/2006/main">
            <a:pathLst>
              <a:path w="148590" h="95">
                <a:moveTo>
                  <a:pt x="0" y="0"/>
                </a:moveTo>
                <a:lnTo>
                  <a:pt x="1485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33D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97C3528-956E-4F9E-88D9-F0010BD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0580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再利用率が低い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7B76C4-88EB-4B93-B0AB-6E5DDEBE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315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過去資料の再利用率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E5E205B-C97E-44B4-8422-0483C8CD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048500"/>
            <a:ext cx="95" cy="466725"/>
          </a:xfrm>
          <a:custGeom xmlns:a="http://schemas.openxmlformats.org/drawingml/2006/main"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3AC9490-6971-43BF-ADB0-1D5F6A7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058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約20%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2AF263C-97FD-4EA3-B9AD-B448BBFE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3437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（全提案資料に占める割合）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E0DFFF3-FEEB-4042-A271-70E09BF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591425"/>
            <a:ext cx="18478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E4FD8DB-2DDE-4F2A-9501-E01C5A95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591425"/>
            <a:ext cx="752475" cy="542925"/>
          </a:xfrm>
          <a:custGeom xmlns:a="http://schemas.openxmlformats.org/drawingml/2006/main">
            <a:pathLst>
              <a:path w="752475" h="542925">
                <a:moveTo>
                  <a:pt x="0" y="0"/>
                </a:moveTo>
                <a:lnTo>
                  <a:pt x="504825" y="0"/>
                </a:lnTo>
                <a:lnTo>
                  <a:pt x="752475" y="266700"/>
                </a:lnTo>
                <a:lnTo>
                  <a:pt x="504825" y="542925"/>
                </a:lnTo>
                <a:lnTo>
                  <a:pt x="0" y="542925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87BBA70-6585-4598-A449-3BA081FF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15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示唆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7890FA1-C633-4BF1-B9E4-8BFCE77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75914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0B040D3-4AA4-482A-8FDF-544D6085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6962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提案業務の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EB56445-2837-4715-BCBC-0457D1CA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69620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45A653-8ECB-4F59-B6E4-1671B13C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696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と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3FA563E-051B-483E-8530-DDF49FE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69620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再利用基盤の整備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2504054-B06A-49DC-A2D0-CB32345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9620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が、品質向上とスピード向上の起点となります。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F5275D9-4EFF-4F87-ACE6-FA25F65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429500"/>
            <a:ext cx="3352800" cy="1533525"/>
          </a:xfrm>
          <a:custGeom xmlns:a="http://schemas.openxmlformats.org/drawingml/2006/main">
            <a:pathLst>
              <a:path w="3352800" h="1533525">
                <a:moveTo>
                  <a:pt x="0" y="1533525"/>
                </a:moveTo>
                <a:lnTo>
                  <a:pt x="3352800" y="0"/>
                </a:lnTo>
                <a:lnTo>
                  <a:pt x="3352800" y="1533525"/>
                </a:lnTo>
                <a:close/>
              </a:path>
            </a:pathLst>
          </a:custGeom>
          <a:solidFill xmlns:a="http://schemas.openxmlformats.org/drawingml/2006/main">
            <a:srgbClr val="E3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42122DD-D0E3-4187-8119-703F137C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24800"/>
            <a:ext cx="2266950" cy="1038225"/>
          </a:xfrm>
          <a:custGeom xmlns:a="http://schemas.openxmlformats.org/drawingml/2006/main">
            <a:pathLst>
              <a:path w="2266950" h="1038225">
                <a:moveTo>
                  <a:pt x="0" y="1038225"/>
                </a:moveTo>
                <a:lnTo>
                  <a:pt x="2266950" y="0"/>
                </a:lnTo>
                <a:lnTo>
                  <a:pt x="2266950" y="1038225"/>
                </a:lnTo>
                <a:close/>
              </a:path>
            </a:pathLst>
          </a:cu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C71DD8A-F225-4B74-82DA-8C8A11E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391525"/>
            <a:ext cx="12249150" cy="95"/>
          </a:xfrm>
          <a:custGeom xmlns:a="http://schemas.openxmlformats.org/drawingml/2006/main">
            <a:pathLst>
              <a:path w="12249150" h="95">
                <a:moveTo>
                  <a:pt x="0" y="0"/>
                </a:moveTo>
                <a:lnTo>
                  <a:pt x="1224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31B2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A9A41A1-A978-4322-A8D7-090D7EA6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058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CEF4288-BC86-4B8B-9D01-1C60654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486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433FD4C-2085-423B-8225-30FE87A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5058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0119316-9189-4DCB-ABD6-E49F7A6E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467725"/>
            <a:ext cx="95" cy="342900"/>
          </a:xfrm>
          <a:custGeom xmlns:a="http://schemas.openxmlformats.org/drawingml/2006/main"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404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75D4A2-82FB-4696-8C19-597243A8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4867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04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33404A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8E08A88-2AAA-4FE1-AD94-0891D2D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6963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0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3404A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55026E7-5965-4A2B-A404-19B14C10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3343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 H I N K   T O G E T H E R .</a:t>
            </a:r>
          </a:p>
          <a:p xmlns:a="http://schemas.openxmlformats.org/drawingml/2006/main">
            <a:pPr algn="ctr"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 R E A T E   T H E   N E X T 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ADD753F-6403-4D21-87BF-83186A64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763000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3A2E056-BB88-45DC-B089-96FBE97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9EA8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EA8B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F941BEA-7734-445F-A522-ABB7B9C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172200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9EA8B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EA8B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82858BF-8318-4806-A8EE-5362DBD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57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現状理解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88AEE6F-971C-42B6-90C1-0F44329B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905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54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と課題整理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9F15422-3442-422C-BA0E-906F7BBE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現行の提案業務フローを整理し、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C1AAFEB-011C-4417-9722-A93F243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95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31B23"/>
                </a:solidFill>
                <a:latin typeface="Yu Gothic"/>
                <a:ea typeface="Yu Gothic"/>
                <a:cs typeface="Yu Gothic"/>
              </a:rPr>
              <a:t>提案品質・速度・再現性を下げている主要因を明確化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779DF04-8B22-4848-972D-0A8F68E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954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705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2026-09-20T23:21:33.8380000Z</dcterms:created>
  <dcterms:modified xsi:type="dcterms:W3CDTF">2026-09-20T23:21:33.8380000Z</dcterms:modified>
</coreProperties>
</file>