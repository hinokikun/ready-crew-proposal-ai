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36855ad5a4edb" /><Relationship Type="http://schemas.openxmlformats.org/officeDocument/2006/relationships/extended-properties" Target="/docProps/app.xml" Id="R39879b9b844b4aca" /><Relationship Type="http://schemas.openxmlformats.org/officeDocument/2006/relationships/officeDocument" Target="/ppt/presentation.xml" Id="Rb519409d1316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b483936184d94"/>
  </p:sldMasterIdLst>
  <p:notesMasterIdLst>
    <p:notesMasterId xmlns:r="http://schemas.openxmlformats.org/officeDocument/2006/relationships" r:id="Rbd4b719b01514e6d"/>
  </p:notesMasterIdLst>
  <p:sldIdLst>
    <p:sldId xmlns:r="http://schemas.openxmlformats.org/officeDocument/2006/relationships" id="256" r:id="R248d5a4055b6405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bedd0bdad4818" /><Relationship Type="http://schemas.openxmlformats.org/officeDocument/2006/relationships/slideMaster" Target="/ppt/slideMasters/slideMaster1.xml" Id="R92eb483936184d94" /><Relationship Type="http://schemas.openxmlformats.org/officeDocument/2006/relationships/notesMaster" Target="/ppt/notesMasters/notesMaster1.xml" Id="Rbd4b719b01514e6d" /><Relationship Type="http://schemas.openxmlformats.org/officeDocument/2006/relationships/presProps" Target="/ppt/presProps.xml" Id="Ra7a493e625eb4cc9" /><Relationship Type="http://schemas.openxmlformats.org/officeDocument/2006/relationships/tableStyles" Target="/ppt/tableStyles.xml" Id="R8d0cb6ceca944ca1" /><Relationship Type="http://schemas.openxmlformats.org/officeDocument/2006/relationships/slide" Target="/ppt/slides/slide1.xml" Id="R248d5a4055b6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c0cf1cc2a3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7a6037c4d64f4d" /><Relationship Type="http://schemas.openxmlformats.org/officeDocument/2006/relationships/notesMaster" Target="/ppt/notesMasters/notesMaster1.xml" Id="R27c056c32cc843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S06 replacement Native Trace built from the approved Canonical source. Sample content is trace-only and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02d8ad7c342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d445cd0cb7436e" /><Relationship Type="http://schemas.openxmlformats.org/officeDocument/2006/relationships/slideLayout" Target="/ppt/slideLayouts/slideLayout1.xml" Id="R85f9fe0e2ea748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9fe0e2ea748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caeb6bfe04087" /><Relationship Type="http://schemas.openxmlformats.org/officeDocument/2006/relationships/notesSlide" Target="/ppt/notesSlides/notesSlide1.xml" Id="R4aa41b8a113045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F8E2B6C-41D5-4130-8D36-E441B2F4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907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6104A-89F7-4940-9D30-AD9597D3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F1F5E-9E84-45A6-9098-A419E32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ご提案内容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76E46-E9FB-4577-8553-D4A72E3F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52450"/>
            <a:ext cx="771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AFDE7-91BD-443F-BD9F-706E82E5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52450"/>
            <a:ext cx="7077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5E2CD-A266-443A-A905-DCE29CB5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2095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2026.08.26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3EFCA-F503-47FA-8CF6-59177610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191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解決アプローチと導入ステップ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2AA54-81FD-47D4-A52B-23895542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1223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現状の課題を段階的に解決し、短期間で効果を出しながら、安定した運用まで伴走します。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EBA11-E14F-4E90-A4AB-24620595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00250"/>
            <a:ext cx="2190750" cy="1457325"/>
          </a:xfrm>
          <a:custGeom xmlns:a="http://schemas.openxmlformats.org/drawingml/2006/main">
            <a:pathLst>
              <a:path w="2190750" h="1457325">
                <a:moveTo>
                  <a:pt x="0" y="0"/>
                </a:moveTo>
                <a:lnTo>
                  <a:pt x="1847850" y="0"/>
                </a:lnTo>
                <a:lnTo>
                  <a:pt x="2190750" y="728663"/>
                </a:lnTo>
                <a:lnTo>
                  <a:pt x="1847850" y="1457325"/>
                </a:lnTo>
                <a:lnTo>
                  <a:pt x="0" y="1457325"/>
                </a:lnTo>
                <a:lnTo>
                  <a:pt x="342900" y="728663"/>
                </a:lnTo>
                <a:close/>
              </a:path>
            </a:pathLst>
          </a:cu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AC121-A80D-4E62-8698-781F471E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2D89B-5F99-44BF-A09F-477C610D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現状分析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49CD0-012B-4736-A8D3-FA36D74C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8607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4327F-17A3-4024-B6CC-57D10073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242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76524-8A7E-4CBE-B7CA-3E7962CB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74438-F251-443E-BA81-6A6812FB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8607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B5CF4-CEF8-4D8C-8C27-C8583C76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242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5283E-2BB4-4CE0-9EB4-EA99B31C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課題・現状の整理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業務フローの可視化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65972-3ACB-4F7A-8419-AC22BE0D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29100"/>
            <a:ext cx="21240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3A2A7-6565-40A4-BCFF-70A24F4F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4340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2 週間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4A4BE-42E7-4351-A378-9E02CE60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000250"/>
            <a:ext cx="2000250" cy="1457325"/>
          </a:xfrm>
          <a:custGeom xmlns:a="http://schemas.openxmlformats.org/drawingml/2006/main">
            <a:pathLst>
              <a:path w="2000250" h="1457325">
                <a:moveTo>
                  <a:pt x="0" y="0"/>
                </a:moveTo>
                <a:lnTo>
                  <a:pt x="1657350" y="0"/>
                </a:lnTo>
                <a:lnTo>
                  <a:pt x="2000250" y="728663"/>
                </a:lnTo>
                <a:lnTo>
                  <a:pt x="1657350" y="1457325"/>
                </a:lnTo>
                <a:lnTo>
                  <a:pt x="0" y="1457325"/>
                </a:lnTo>
                <a:lnTo>
                  <a:pt x="342900" y="728663"/>
                </a:lnTo>
                <a:close/>
              </a:path>
            </a:pathLst>
          </a:cu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B944E-8DFD-4209-A22D-953A3B4E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43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293BD-084C-4D9A-942A-0A046EB4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要件定義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4A723-D42A-4939-826C-92793B96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67025"/>
            <a:ext cx="285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62BF2-9E40-47AC-B4FE-25FEDC8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67025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0"/>
                </a:moveTo>
                <a:lnTo>
                  <a:pt x="133350" y="133350"/>
                </a:lnTo>
                <a:lnTo>
                  <a:pt x="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9285F-7CD8-4951-A165-64EF41F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990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15277-A202-44DD-9D7F-7BC0ED9E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95625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C22BB-277F-4F21-9EEB-DF303851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62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2F40A3-1556-4F16-9AE6-6472DE38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67025"/>
            <a:ext cx="285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C69AB-E3CD-4DDC-9807-A7ED4CC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67025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0"/>
                </a:moveTo>
                <a:lnTo>
                  <a:pt x="133350" y="133350"/>
                </a:lnTo>
                <a:lnTo>
                  <a:pt x="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AD0C76-C4A2-4717-96BB-B23D875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990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F4D197-2F1E-4848-9AB1-5DE26EE8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95625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A2D337-E2DD-422A-ABAE-1857BFF0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90925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要件整理・優先順位付け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実現方針の合意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C8134C-B86E-4814-96D4-F61604BB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229100"/>
            <a:ext cx="19335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7CD0C7-FACA-461C-9D44-B37D67CA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434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2 ～ 3週間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12A7D9-D852-4D9A-9C59-60F729A9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2095500" cy="1457325"/>
          </a:xfrm>
          <a:custGeom xmlns:a="http://schemas.openxmlformats.org/drawingml/2006/main">
            <a:pathLst>
              <a:path w="2095500" h="1457325">
                <a:moveTo>
                  <a:pt x="0" y="0"/>
                </a:moveTo>
                <a:lnTo>
                  <a:pt x="1752600" y="0"/>
                </a:lnTo>
                <a:lnTo>
                  <a:pt x="2095500" y="728663"/>
                </a:lnTo>
                <a:lnTo>
                  <a:pt x="1752600" y="1457325"/>
                </a:lnTo>
                <a:lnTo>
                  <a:pt x="0" y="1457325"/>
                </a:lnTo>
                <a:lnTo>
                  <a:pt x="342900" y="728663"/>
                </a:lnTo>
                <a:close/>
              </a:path>
            </a:pathLst>
          </a:cu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DA5FE7-C917-49C0-B836-F0893350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43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31E30E-F743-41C0-853B-EFE247C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384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設計・開発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3730BE-0886-4753-B44A-8942EE51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83EEB7-29B3-4D56-906F-BDB86E5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808A5E-55CF-4A47-A527-561D28E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479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782783-B220-49D8-A3C8-86E02E20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A7FA9C-44FA-48D8-BBA1-5914E47E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575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3F88C3-BCD7-4426-8737-5BA43AAF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575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4ECF4A-4F8E-42CF-AE4A-22A7648C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F939B7-60BC-48F4-9D52-21DD86D4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1DE4BE-871A-40D8-85FB-85F6860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A4FA01-3A0F-4464-817E-9D68686D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3F8850-551E-441C-A68E-35FBF654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819B01-259E-48EB-BDEE-E4636CD5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03F2E8-BA8A-4752-B726-162AA9B7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C401D0-F2A5-42A6-AC49-5C938331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479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3177E4-27E9-4A97-AD15-F6C8E295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24D7C9-07BE-4795-8647-C60B23E3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575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C3DF73-6B3B-4CDF-829B-37A14642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575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EE0792-4BB0-418A-9E8A-D57DD17D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EB6A76-F927-4EAD-9BC4-A229B190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BB12DC-ACD3-4288-AF61-001CA3F3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3E30E1-3E97-4222-819B-EC433258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928367-C00B-4791-B6B8-70C19F58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9092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画面設計・開発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システム構築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770CE5-DCA1-42DF-B997-F741C95D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29100"/>
            <a:ext cx="20288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0DA077-D88E-4EF7-8A73-DBE5EB14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4 ～ 8週間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1BF27F-0CF9-484D-92B6-88875E50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00250"/>
            <a:ext cx="2095500" cy="1457325"/>
          </a:xfrm>
          <a:custGeom xmlns:a="http://schemas.openxmlformats.org/drawingml/2006/main">
            <a:pathLst>
              <a:path w="2095500" h="1457325">
                <a:moveTo>
                  <a:pt x="0" y="0"/>
                </a:moveTo>
                <a:lnTo>
                  <a:pt x="1752600" y="0"/>
                </a:lnTo>
                <a:lnTo>
                  <a:pt x="2095500" y="728663"/>
                </a:lnTo>
                <a:lnTo>
                  <a:pt x="1752600" y="1457325"/>
                </a:lnTo>
                <a:lnTo>
                  <a:pt x="0" y="1457325"/>
                </a:lnTo>
                <a:lnTo>
                  <a:pt x="342900" y="728663"/>
                </a:lnTo>
                <a:close/>
              </a:path>
            </a:pathLst>
          </a:cu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3242EF-8835-4DA3-B0A0-4790B75B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800920-2752-4F3D-83E8-7F036B6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テスト・導入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2EEB68-46FB-4A57-AF2B-61DF5A52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051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460463-CCCD-4B2A-B8E9-DEE88466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004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32BF71-0EF8-4C98-807E-8D2B5285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480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47721B-CACD-488C-9914-2C2C8C8D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104775" cy="76200"/>
          </a:xfrm>
          <a:custGeom xmlns:a="http://schemas.openxmlformats.org/drawingml/2006/main">
            <a:pathLst>
              <a:path w="104775" h="76200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82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A62B6D-8CFB-4AC5-B115-2AE69D42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215591-6530-474D-8E0F-BC662E1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051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232777-BAC8-49CF-8DD3-B7877136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004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892B235-52F5-4D87-B27C-6852EB9D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480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D1D1817-A860-4FEE-9800-865C82E1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104775" cy="76200"/>
          </a:xfrm>
          <a:custGeom xmlns:a="http://schemas.openxmlformats.org/drawingml/2006/main">
            <a:pathLst>
              <a:path w="104775" h="76200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82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C86EFE-DF86-4315-8D7F-1D8519B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9092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動作検証・ユーザーテスト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本番環境への導入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53AA6E-DB67-4882-814F-161A527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29100"/>
            <a:ext cx="20288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908F81-1A63-4B4F-953D-1D832915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4340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2 ～ 3週間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32026F-445A-47C6-96A4-61DC3A76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238375" cy="1457325"/>
          </a:xfrm>
          <a:custGeom xmlns:a="http://schemas.openxmlformats.org/drawingml/2006/main">
            <a:pathLst>
              <a:path w="2238375" h="1457325">
                <a:moveTo>
                  <a:pt x="0" y="0"/>
                </a:moveTo>
                <a:lnTo>
                  <a:pt x="1895475" y="0"/>
                </a:lnTo>
                <a:lnTo>
                  <a:pt x="2238375" y="728663"/>
                </a:lnTo>
                <a:lnTo>
                  <a:pt x="1895475" y="1457325"/>
                </a:lnTo>
                <a:lnTo>
                  <a:pt x="0" y="1457325"/>
                </a:lnTo>
                <a:lnTo>
                  <a:pt x="342900" y="728663"/>
                </a:lnTo>
                <a:close/>
              </a:path>
            </a:pathLst>
          </a:cu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0DAB87-29C0-4F6D-9548-3F0D40E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43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0B36154-4BBB-447F-8FB0-9B1157D6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38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運用・改善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8E259C-B70E-4A80-961D-51138A77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7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6B3A6B1-2D4B-4A4B-A845-B8FC7791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95600"/>
            <a:ext cx="7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D68C4DC-417E-47D9-BD17-6A21F4E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76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A8FC79-1E99-49BF-93AA-448692A2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480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A588D5A-F266-45F3-AF9C-A524C004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62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71129EE-6662-45B2-84FB-9488E250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7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CFE4B0-BD79-4F8F-A9D4-0E469245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95600"/>
            <a:ext cx="7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3FB3BE-9A34-4948-BC49-8D424B57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76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3030FE-9044-409B-814E-8AEDA3B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480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78F487A-0A09-4AFF-ADDF-7E77F282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90925"/>
            <a:ext cx="2085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運用サポート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継続的な改善提案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75BF48E-AF40-4E2A-A731-24B6A49F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171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27A6D2E-3FA7-403C-B74B-DE4A09F3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434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継続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6AFFEB-7366-42CF-A64F-10947FD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933575"/>
            <a:ext cx="45529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5E4978B-1108-4BBC-8A79-30B63B3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047875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1D2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597AFE-C1B9-4DE8-945A-8DC53FAC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1336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1D2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60384BC-B487-488B-9F74-82444A1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209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5360CF6-0F7F-4063-8E19-A3AF8333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00025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AD7CE0-2DD2-4DE4-A160-F9E24714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2288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B3F55C4-71AC-4970-A2FA-19BD0736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095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期待される効果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8DFD12E-06E9-434D-A9CF-DE4B963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5146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0EEA3B9-7501-4302-97B2-334668A6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9557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FFA368A-C17A-4DBB-96E0-15B1A409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76225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8E5AB8-D37B-4AC9-A177-88E5CA7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905125"/>
            <a:ext cx="142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1E5ED87-5BC2-4FC4-91A3-BE4256F4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27432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業務効率化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DA9D8C0-EF64-4831-B96E-7F873534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6670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6288AD7-841D-4A43-9405-B9AF7E5B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6670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資料作成時間を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BD91CD0-D604-4B79-803B-CE06C5BE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9146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約70%削減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85A9CD-34B3-4884-9F61-1FC080FF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362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68F3CA1-005A-424E-93CA-278DB33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48615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84E755B-2179-40A1-8334-F792D375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528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C323C0D-FEAE-4698-96FB-03ED9C2F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5528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797DF0-0CDD-4091-9C26-7F4D190A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95700"/>
            <a:ext cx="361950" cy="228600"/>
          </a:xfrm>
          <a:custGeom xmlns:a="http://schemas.openxmlformats.org/drawingml/2006/main">
            <a:pathLst>
              <a:path w="361950" h="228600">
                <a:moveTo>
                  <a:pt x="0" y="228600"/>
                </a:moveTo>
                <a:lnTo>
                  <a:pt x="28575" y="66675"/>
                </a:lnTo>
                <a:lnTo>
                  <a:pt x="114300" y="0"/>
                </a:lnTo>
                <a:lnTo>
                  <a:pt x="247650" y="0"/>
                </a:lnTo>
                <a:lnTo>
                  <a:pt x="333375" y="66675"/>
                </a:lnTo>
                <a:lnTo>
                  <a:pt x="361950" y="228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4F7BA3E-EEC4-4DA5-9A5B-DF0A0296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180975"/>
                </a:moveTo>
                <a:lnTo>
                  <a:pt x="28575" y="76200"/>
                </a:lnTo>
                <a:lnTo>
                  <a:pt x="85725" y="28575"/>
                </a:lnTo>
                <a:lnTo>
                  <a:pt x="142875" y="76200"/>
                </a:lnTo>
                <a:lnTo>
                  <a:pt x="171450" y="180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82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36C9874-F7BD-465C-8176-3C480D4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14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180975"/>
                </a:moveTo>
                <a:lnTo>
                  <a:pt x="28575" y="76200"/>
                </a:lnTo>
                <a:lnTo>
                  <a:pt x="85725" y="28575"/>
                </a:lnTo>
                <a:lnTo>
                  <a:pt x="142875" y="76200"/>
                </a:lnTo>
                <a:lnTo>
                  <a:pt x="171450" y="180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82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4EED89F-9FC1-40E3-9212-9A4E7BB3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5433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提案数の増加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266B30B-DAFA-400D-8409-001C530D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34671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8146054-07E6-41F6-95F4-046FBCD0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34671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より多くの案件への提案が可能に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4568A88-0BE4-4A90-A44C-54820B7C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7147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約1.5倍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991F8D-DDF4-4698-B94E-2701BB48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2100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5987AAF-90DA-426B-86BA-71EAE259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14850"/>
            <a:ext cx="7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8987F3-74BD-4B6D-861D-349A5567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400550"/>
            <a:ext cx="7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AC6F209-B6A7-467E-AE5D-CBB82A1F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286250"/>
            <a:ext cx="76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B762698-6C05-4686-9BDE-A3963473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529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318F46E-C5C5-4C7A-8EDE-7A32A91E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71975"/>
            <a:ext cx="1323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受注確度の向上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FC91897-D404-4AF1-AC86-D0422DC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42672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FD71A1D-0C53-418B-8ECA-622AF6A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43148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データに基づく訴求で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E1DBDB2-AAE8-45FB-8005-0FAA192C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56247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約20%向上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9B53705-25E5-4303-8900-0F7369E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33975"/>
            <a:ext cx="10096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517F7A6-B660-4D9F-B644-9484016E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285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D6DBCD0-068C-476D-B5B0-AFCE78C2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0"/>
                </a:moveTo>
                <a:lnTo>
                  <a:pt x="133350" y="133350"/>
                </a:lnTo>
                <a:lnTo>
                  <a:pt x="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8E59231-F398-434C-818B-6219239A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E98C9E4-63B8-4946-A8B0-EF6C1B3B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3A97D97-5B6C-4BA4-B502-30E3EBCE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57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ご提供するソリューション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A233715-83A1-4112-AAE4-5773FBD1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32099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F44A021-B34E-41BD-80E4-FA175F1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3057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8696720-F17E-469C-9737-E0D8DF07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67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2A12B85-5081-47C2-9558-837DA31C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ED99869-C355-4008-978A-85D084E0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102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0FD388F-2DEC-4F9F-BF10-3E5ABD45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9531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AB2BE5C-B9A2-4750-B807-3EFA165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A2CD157-E4B2-4267-B65C-FCE31AC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53125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提案書自動生成AI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A9A6FAC-DC7B-4187-B253-DBAD187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9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BC9925E-BC09-480A-8212-273287CD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5436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案件情報から提案書を自動生成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D1DCA84-B44E-4839-B1F4-8C185B96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8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0844E92-E85A-4C1D-9AA4-57781D2A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389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業界・目的に合わせたテンプレート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320689E-F2B5-4F09-85DA-989B6A97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8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6D76B43-4155-4F47-8F07-3A578D1A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1342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短時間で高品質な資料を作成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42701C-39D7-49BE-AC5E-ED71D237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715000"/>
            <a:ext cx="32099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D2C88ED-AE91-473B-8BE6-1A79F420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791200"/>
            <a:ext cx="3057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13D98E0-3953-4497-93EB-D9DB798D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67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4446F47-DFFA-4DF0-BF2E-A6B70A5B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915025"/>
            <a:ext cx="34290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0701B28-72BC-4979-9ED2-AAB8DC41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981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834F012-E09D-4FD0-AB61-0915AABA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181725"/>
            <a:ext cx="34290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33114BA-BC64-49B6-8CBB-59099EDD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953125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ナレッジ活用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9BA09A7-DAB6-43D9-8898-5FEA97B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659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4B7050D-7F27-4056-9CFA-B786F044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5436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過去の提案事例を学習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7D6A617-4E8C-40D9-8FFE-EBB7C9B7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688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53E50FF-A3A4-4547-971F-F1D74C7C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8389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最適な構成・訴求ポイントを提案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DC81A56-5EB7-43B2-9C99-6FEFA1EC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18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0E0AAA3-D28B-46BC-9531-96B9EF71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71342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社内の知見を資産化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DF3447D-DFD0-4C69-8A3E-16EA5ED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715000"/>
            <a:ext cx="32099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0C35E1D-3BFB-41BB-9FEF-070667A1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791200"/>
            <a:ext cx="3057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E1724FB-2337-4EEB-B52B-CC90F415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3FD7B2D-E9FE-4BA0-8DDF-C880BFB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912EAE8-6B9D-4F20-AE90-0BBF6C54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9531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D6C65FF-E1CC-4348-BE3B-D6EE1F9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9531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95FBB6A-8D30-4225-98EF-CE8CF37D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096000"/>
            <a:ext cx="361950" cy="228600"/>
          </a:xfrm>
          <a:custGeom xmlns:a="http://schemas.openxmlformats.org/drawingml/2006/main">
            <a:pathLst>
              <a:path w="361950" h="228600">
                <a:moveTo>
                  <a:pt x="0" y="228600"/>
                </a:moveTo>
                <a:lnTo>
                  <a:pt x="28575" y="66675"/>
                </a:lnTo>
                <a:lnTo>
                  <a:pt x="114300" y="0"/>
                </a:lnTo>
                <a:lnTo>
                  <a:pt x="247650" y="0"/>
                </a:lnTo>
                <a:lnTo>
                  <a:pt x="333375" y="66675"/>
                </a:lnTo>
                <a:lnTo>
                  <a:pt x="361950" y="228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5DFA14D-0522-4C24-AF2B-4AACBE2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6115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180975"/>
                </a:moveTo>
                <a:lnTo>
                  <a:pt x="28575" y="76200"/>
                </a:lnTo>
                <a:lnTo>
                  <a:pt x="85725" y="28575"/>
                </a:lnTo>
                <a:lnTo>
                  <a:pt x="142875" y="76200"/>
                </a:lnTo>
                <a:lnTo>
                  <a:pt x="171450" y="180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820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268493C-82CF-4878-9ACD-0FFD9377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6115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180975"/>
                </a:moveTo>
                <a:lnTo>
                  <a:pt x="28575" y="76200"/>
                </a:lnTo>
                <a:lnTo>
                  <a:pt x="85725" y="28575"/>
                </a:lnTo>
                <a:lnTo>
                  <a:pt x="142875" y="76200"/>
                </a:lnTo>
                <a:lnTo>
                  <a:pt x="171450" y="180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820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6C708E0-4DEA-4FD9-89C4-C0DA8F11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53125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伴走サポート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265250C-AE02-4BFC-971F-68F5A6F4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59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0088152-2D44-4A14-8905-D19E5642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5436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導入から運用まで専任で支援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99D7DA9-C39C-4DE6-80C1-B7C928FD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88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B8EC7B3-5EED-42D7-829E-6E7B5ADD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8389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効果検証と改善提案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E9E77F4-C138-4D10-AB19-567C6168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718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0049C8B-FD7F-4093-9621-3D04DA2A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71342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社内定着のためのトレーニング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5881B17-DF9B-47E9-8D9F-E0238DA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5133975"/>
            <a:ext cx="45529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C257334-7471-4BC5-B37F-3B60415A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48275"/>
            <a:ext cx="26670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717267A-8668-4371-BF7A-FABBE920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5340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2D2599F-8051-43D4-867C-C593578C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911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13ED7D1-DE64-40F9-B3C6-1E566BA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16255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9AACB17-54AC-4CC6-B364-CA43EAF5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3244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A458B91-CB55-4708-AA8E-4AE9E340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3244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034C0CD-DAB5-4505-8E8E-BD112B41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238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成功のポイント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B9980F5-E8E9-431A-B5BD-BCCC61A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5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0AB7309-D2D7-47F6-8357-3C07DDCF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8483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222003D-34E6-4AD6-BD7A-A40C6F46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7816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目的の明確化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C9832DF-B5D8-40E9-8A8F-36D46038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01980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解決したい課題とゴールを共有する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CE1C774-0769-44DC-A6AC-90D4FCC4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4C9E47F-1B02-4800-88E4-73C5F654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32C92AA-6A08-4819-9025-FA67FA61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531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段階的な導入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7F1BD35-0219-4904-B3CC-7E8EA9E2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9130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スモールスタートで早期に効果を実感する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333E017-0AAE-4BA3-8F62-7390B024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89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5C3B3D2-21B5-439D-A670-1FDE20C9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9913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172D6FC-2A60-4E0D-A7B8-1A0C4D65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9246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継続的な改善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CFEB0D7-B066-432C-AEB7-C9892B9D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6280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運用後もデータを活用し、精度を高める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1EE8610-DFA5-4FBC-BBF9-FC818DE3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81925"/>
            <a:ext cx="14801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E51D27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794BD08-AA32-498F-B700-A1D11EA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81925"/>
            <a:ext cx="3543300" cy="561975"/>
          </a:xfrm>
          <a:custGeom xmlns:a="http://schemas.openxmlformats.org/drawingml/2006/main">
            <a:pathLst>
              <a:path w="3543300" h="561975">
                <a:moveTo>
                  <a:pt x="0" y="0"/>
                </a:moveTo>
                <a:lnTo>
                  <a:pt x="3209925" y="0"/>
                </a:lnTo>
                <a:lnTo>
                  <a:pt x="3543300" y="276225"/>
                </a:lnTo>
                <a:lnTo>
                  <a:pt x="3209925" y="561975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589E0AC-571F-4842-9672-76F771B5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15275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9E606F4-5564-4D96-9FE1-E3136F9C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924800"/>
            <a:ext cx="266700" cy="123825"/>
          </a:xfrm>
          <a:custGeom xmlns:a="http://schemas.openxmlformats.org/drawingml/2006/main">
            <a:pathLst>
              <a:path w="266700" h="123825">
                <a:moveTo>
                  <a:pt x="0" y="0"/>
                </a:moveTo>
                <a:lnTo>
                  <a:pt x="266700" y="47625"/>
                </a:lnTo>
                <a:lnTo>
                  <a:pt x="0" y="114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52E0E2B-842D-4273-B250-63EF2D0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886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プロジェクトのゴール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C00E9EB-D993-4A73-8B12-61A3C91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78962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提案業務を効率化し、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1BFBEF8-8EC7-472E-AA62-DA7D7B53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962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提案の質と量を高め、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813CAEE-FB35-469C-8D34-AB9FE408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89622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継続的に成果を生み出す仕組みを構築します。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4B82BEF-83B5-4CBF-8E10-F2573900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458200"/>
            <a:ext cx="1480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79443BF-C785-4662-A8DA-4C6C710C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53440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51D2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E51D27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8F5AA60-FBCE-4AAA-BE71-8885CAA7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524875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C53D7B1-54A6-44DA-AC9D-CD71E63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515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49D7F60-ECB2-47DC-BC8D-DA1A1955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524875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C6C7B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C6C7B"/>
                </a:solidFill>
                <a:latin typeface="Yu Gothic"/>
                <a:ea typeface="Yu Gothic"/>
                <a:cs typeface="Yu Gothic"/>
              </a:rPr>
              <a:t>© 2026 提案クエスト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5778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2026-09-20T23:21:37.3510000Z</dcterms:created>
  <dcterms:modified xsi:type="dcterms:W3CDTF">2026-09-20T23:21:37.3510000Z</dcterms:modified>
</coreProperties>
</file>