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4c09893e34720" /><Relationship Type="http://schemas.openxmlformats.org/officeDocument/2006/relationships/extended-properties" Target="/docProps/app.xml" Id="Rfe9b6f14a4164027" /><Relationship Type="http://schemas.openxmlformats.org/officeDocument/2006/relationships/officeDocument" Target="/ppt/presentation.xml" Id="Rfdbf2009ebcf46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c06363365540be"/>
  </p:sldMasterIdLst>
  <p:notesMasterIdLst>
    <p:notesMasterId xmlns:r="http://schemas.openxmlformats.org/officeDocument/2006/relationships" r:id="R065e491a94ae4766"/>
  </p:notesMasterIdLst>
  <p:sldIdLst>
    <p:sldId xmlns:r="http://schemas.openxmlformats.org/officeDocument/2006/relationships" id="256" r:id="R3d0887a77c844e35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824135cdb24a01" /><Relationship Type="http://schemas.openxmlformats.org/officeDocument/2006/relationships/slideMaster" Target="/ppt/slideMasters/slideMaster1.xml" Id="R61c06363365540be" /><Relationship Type="http://schemas.openxmlformats.org/officeDocument/2006/relationships/notesMaster" Target="/ppt/notesMasters/notesMaster1.xml" Id="R065e491a94ae4766" /><Relationship Type="http://schemas.openxmlformats.org/officeDocument/2006/relationships/presProps" Target="/ppt/presProps.xml" Id="Rbfb27cc2f5b54cee" /><Relationship Type="http://schemas.openxmlformats.org/officeDocument/2006/relationships/tableStyles" Target="/ppt/tableStyles.xml" Id="R959dac869ac946f1" /><Relationship Type="http://schemas.openxmlformats.org/officeDocument/2006/relationships/slide" Target="/ppt/slides/slide1.xml" Id="R3d0887a77c84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15327683e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bb752d096455b" /><Relationship Type="http://schemas.openxmlformats.org/officeDocument/2006/relationships/notesMaster" Target="/ppt/notesMasters/notesMaster1.xml" Id="Ra58907ae80fb41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D03 current-state detail replacement native trace. Canonical image is the sole visual authority; all visible content is recreated with native text and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ed02ebbf648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2c65982a6c4b0a" /><Relationship Type="http://schemas.openxmlformats.org/officeDocument/2006/relationships/slideLayout" Target="/ppt/slideLayouts/slideLayout1.xml" Id="Rd485f8d8c5fa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5f8d8c5fa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0efba32f443fc" /><Relationship Type="http://schemas.openxmlformats.org/officeDocument/2006/relationships/notesSlide" Target="/ppt/notesSlides/notesSlide1.xml" Id="R46851662ee17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d03-top-red-diagonal">
            <a:extLst xmlns:a="http://schemas.openxmlformats.org/drawingml/2006/main">
              <a:ext uri="{FF2B5EF4-FFF2-40B4-BE49-F238E27FC236}">
                <a16:creationId xmlns:a16="http://schemas.microsoft.com/office/drawing/2014/main" id="{2DEBC5C9-7183-4A35-AD31-1684BDD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2428875" cy="4476750"/>
          </a:xfrm>
          <a:custGeom xmlns:a="http://schemas.openxmlformats.org/drawingml/2006/main">
            <a:pathLst>
              <a:path w="2428875" h="4476750">
                <a:moveTo>
                  <a:pt x="1638300" y="0"/>
                </a:moveTo>
                <a:lnTo>
                  <a:pt x="2428875" y="0"/>
                </a:lnTo>
                <a:lnTo>
                  <a:pt x="762000" y="4476750"/>
                </a:lnTo>
                <a:lnTo>
                  <a:pt x="0" y="44767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03-top-pale-pink-diagonal">
            <a:extLst xmlns:a="http://schemas.openxmlformats.org/drawingml/2006/main">
              <a:ext uri="{FF2B5EF4-FFF2-40B4-BE49-F238E27FC236}">
                <a16:creationId xmlns:a16="http://schemas.microsoft.com/office/drawing/2014/main" id="{3214AA73-9501-4B11-A51A-D27578B6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2152650" cy="4476750"/>
          </a:xfrm>
          <a:custGeom xmlns:a="http://schemas.openxmlformats.org/drawingml/2006/main">
            <a:pathLst>
              <a:path w="2152650" h="4476750">
                <a:moveTo>
                  <a:pt x="1638300" y="0"/>
                </a:moveTo>
                <a:lnTo>
                  <a:pt x="2152650" y="0"/>
                </a:lnTo>
                <a:lnTo>
                  <a:pt x="514350" y="4476750"/>
                </a:lnTo>
                <a:lnTo>
                  <a:pt x="0" y="4476750"/>
                </a:lnTo>
                <a:close/>
              </a:path>
            </a:pathLst>
          </a:custGeom>
          <a:solidFill xmlns:a="http://schemas.openxmlformats.org/drawingml/2006/main">
            <a:srgbClr val="F7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3-bottom-red-band">
            <a:extLst xmlns:a="http://schemas.openxmlformats.org/drawingml/2006/main">
              <a:ext uri="{FF2B5EF4-FFF2-40B4-BE49-F238E27FC236}">
                <a16:creationId xmlns:a16="http://schemas.microsoft.com/office/drawing/2014/main" id="{0426EBB3-AC79-474E-B14E-89DA6AD7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00875"/>
            <a:ext cx="3733800" cy="1962150"/>
          </a:xfrm>
          <a:custGeom xmlns:a="http://schemas.openxmlformats.org/drawingml/2006/main">
            <a:pathLst>
              <a:path w="3733800" h="1962150">
                <a:moveTo>
                  <a:pt x="0" y="1962150"/>
                </a:moveTo>
                <a:lnTo>
                  <a:pt x="3733800" y="0"/>
                </a:lnTo>
                <a:lnTo>
                  <a:pt x="3733800" y="19621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3-bottom-dark-band">
            <a:extLst xmlns:a="http://schemas.openxmlformats.org/drawingml/2006/main">
              <a:ext uri="{FF2B5EF4-FFF2-40B4-BE49-F238E27FC236}">
                <a16:creationId xmlns:a16="http://schemas.microsoft.com/office/drawing/2014/main" id="{36B0A664-93D3-47FB-B35C-B03422E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7696200"/>
            <a:ext cx="2543175" cy="1266825"/>
          </a:xfrm>
          <a:custGeom xmlns:a="http://schemas.openxmlformats.org/drawingml/2006/main">
            <a:pathLst>
              <a:path w="2543175" h="1266825">
                <a:moveTo>
                  <a:pt x="0" y="1266825"/>
                </a:moveTo>
                <a:lnTo>
                  <a:pt x="2543175" y="0"/>
                </a:lnTo>
                <a:lnTo>
                  <a:pt x="2543175" y="126682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3-header-number">
            <a:extLst xmlns:a="http://schemas.openxmlformats.org/drawingml/2006/main">
              <a:ext uri="{FF2B5EF4-FFF2-40B4-BE49-F238E27FC236}">
                <a16:creationId xmlns:a16="http://schemas.microsoft.com/office/drawing/2014/main" id="{CCA1495C-1894-46E4-82AD-DD693204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952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D03</a:t>
            </a:r>
          </a:p>
        </p:txBody>
      </p:sp>
      <p:sp>
        <p:nvSpPr>
          <p:cNvPr id="6" name="d03-header-section">
            <a:extLst xmlns:a="http://schemas.openxmlformats.org/drawingml/2006/main">
              <a:ext uri="{FF2B5EF4-FFF2-40B4-BE49-F238E27FC236}">
                <a16:creationId xmlns:a16="http://schemas.microsoft.com/office/drawing/2014/main" id="{577BA535-474B-455B-89A6-2C6AB4EC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現状理解（詳細版）</a:t>
            </a:r>
          </a:p>
        </p:txBody>
      </p:sp>
      <p:sp>
        <p:nvSpPr>
          <p:cNvPr id="7" name="d03-header-brand">
            <a:extLst xmlns:a="http://schemas.openxmlformats.org/drawingml/2006/main">
              <a:ext uri="{FF2B5EF4-FFF2-40B4-BE49-F238E27FC236}">
                <a16:creationId xmlns:a16="http://schemas.microsoft.com/office/drawing/2014/main" id="{5D4857DB-7378-4BCC-A311-A492D15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48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8" name="d03-header-tagline">
            <a:extLst xmlns:a="http://schemas.openxmlformats.org/drawingml/2006/main">
              <a:ext uri="{FF2B5EF4-FFF2-40B4-BE49-F238E27FC236}">
                <a16:creationId xmlns:a16="http://schemas.microsoft.com/office/drawing/2014/main" id="{E5CB855B-3B76-4559-B542-D44B6EE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7700"/>
            <a:ext cx="285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9" name="d03-header-english">
            <a:extLst xmlns:a="http://schemas.openxmlformats.org/drawingml/2006/main">
              <a:ext uri="{FF2B5EF4-FFF2-40B4-BE49-F238E27FC236}">
                <a16:creationId xmlns:a16="http://schemas.microsoft.com/office/drawing/2014/main" id="{82E02D0F-F032-4083-8B6B-A2B22B35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4000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2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0" name="d03-header-rule">
            <a:extLst xmlns:a="http://schemas.openxmlformats.org/drawingml/2006/main">
              <a:ext uri="{FF2B5EF4-FFF2-40B4-BE49-F238E27FC236}">
                <a16:creationId xmlns:a16="http://schemas.microsoft.com/office/drawing/2014/main" id="{8A010B36-D4C3-45EC-BC63-4C1D76FC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904875"/>
            <a:ext cx="1533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027"/>
            </a:solidFill>
            <a:prstDash val="solid"/>
          </a:ln>
        </p:spPr>
      </p:sp>
      <p:sp>
        <p:nvSpPr>
          <p:cNvPr id="11" name="d03-header-rule-red">
            <a:extLst xmlns:a="http://schemas.openxmlformats.org/drawingml/2006/main">
              <a:ext uri="{FF2B5EF4-FFF2-40B4-BE49-F238E27FC236}">
                <a16:creationId xmlns:a16="http://schemas.microsoft.com/office/drawing/2014/main" id="{B1FCFE72-47F5-4FA3-B098-EFA0063B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9048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2" name="d03-main-title">
            <a:extLst xmlns:a="http://schemas.openxmlformats.org/drawingml/2006/main">
              <a:ext uri="{FF2B5EF4-FFF2-40B4-BE49-F238E27FC236}">
                <a16:creationId xmlns:a16="http://schemas.microsoft.com/office/drawing/2014/main" id="{C6FEAD68-A2F3-4E65-B9BF-C6736389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現状の業務と課題構造</a:t>
            </a:r>
          </a:p>
        </p:txBody>
      </p:sp>
      <p:sp>
        <p:nvSpPr>
          <p:cNvPr id="13" name="d03-lead">
            <a:extLst xmlns:a="http://schemas.openxmlformats.org/drawingml/2006/main">
              <a:ext uri="{FF2B5EF4-FFF2-40B4-BE49-F238E27FC236}">
                <a16:creationId xmlns:a16="http://schemas.microsoft.com/office/drawing/2014/main" id="{0F59DDF4-7D88-4D6A-8A1F-6D871CF4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66875"/>
            <a:ext cx="923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業務・組織・データの観点から現状を整理し、改善すべきボトルネックを明確化します。</a:t>
            </a:r>
          </a:p>
        </p:txBody>
      </p:sp>
      <p:sp>
        <p:nvSpPr>
          <p:cNvPr id="14" name="d03-flow-rule">
            <a:extLst xmlns:a="http://schemas.openxmlformats.org/drawingml/2006/main">
              <a:ext uri="{FF2B5EF4-FFF2-40B4-BE49-F238E27FC236}">
                <a16:creationId xmlns:a16="http://schemas.microsoft.com/office/drawing/2014/main" id="{A9D4FF50-EE61-4580-A43D-BCA1FCC7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5" name="d03-flow-heading">
            <a:extLst xmlns:a="http://schemas.openxmlformats.org/drawingml/2006/main">
              <a:ext uri="{FF2B5EF4-FFF2-40B4-BE49-F238E27FC236}">
                <a16:creationId xmlns:a16="http://schemas.microsoft.com/office/drawing/2014/main" id="{0D3B4844-72FF-4F65-A18E-3A13B628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現在の業務フロー</a:t>
            </a:r>
          </a:p>
        </p:txBody>
      </p:sp>
      <p:sp>
        <p:nvSpPr>
          <p:cNvPr id="16" name="d03-flow-card-01">
            <a:extLst xmlns:a="http://schemas.openxmlformats.org/drawingml/2006/main">
              <a:ext uri="{FF2B5EF4-FFF2-40B4-BE49-F238E27FC236}">
                <a16:creationId xmlns:a16="http://schemas.microsoft.com/office/drawing/2014/main" id="{50E85499-1492-474C-9866-5D4BCEC6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38400"/>
            <a:ext cx="2381250" cy="1533525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17" name="d03-flow-num-01">
            <a:extLst xmlns:a="http://schemas.openxmlformats.org/drawingml/2006/main">
              <a:ext uri="{FF2B5EF4-FFF2-40B4-BE49-F238E27FC236}">
                <a16:creationId xmlns:a16="http://schemas.microsoft.com/office/drawing/2014/main" id="{2B114333-A1EF-49C1-87DD-4C22683C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85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B85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d03-flow-icon-bg-01">
            <a:extLst xmlns:a="http://schemas.openxmlformats.org/drawingml/2006/main">
              <a:ext uri="{FF2B5EF4-FFF2-40B4-BE49-F238E27FC236}">
                <a16:creationId xmlns:a16="http://schemas.microsoft.com/office/drawing/2014/main" id="{EF7B2BDE-8129-4AE3-A103-5309184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03-icon-mail-circle">
            <a:extLst xmlns:a="http://schemas.openxmlformats.org/drawingml/2006/main">
              <a:ext uri="{FF2B5EF4-FFF2-40B4-BE49-F238E27FC236}">
                <a16:creationId xmlns:a16="http://schemas.microsoft.com/office/drawing/2014/main" id="{9F21C3D8-3F0A-422D-AA2B-8FF0E71F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20" name="d03-icon-mail-box">
            <a:extLst xmlns:a="http://schemas.openxmlformats.org/drawingml/2006/main">
              <a:ext uri="{FF2B5EF4-FFF2-40B4-BE49-F238E27FC236}">
                <a16:creationId xmlns:a16="http://schemas.microsoft.com/office/drawing/2014/main" id="{A3A39DB2-30C0-4659-8E50-A80AB89D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21" name="d03-icon-mail-left">
            <a:extLst xmlns:a="http://schemas.openxmlformats.org/drawingml/2006/main">
              <a:ext uri="{FF2B5EF4-FFF2-40B4-BE49-F238E27FC236}">
                <a16:creationId xmlns:a16="http://schemas.microsoft.com/office/drawing/2014/main" id="{AA945B53-FD59-49D9-970B-FC79AA8B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333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22" name="d03-icon-mail-right">
            <a:extLst xmlns:a="http://schemas.openxmlformats.org/drawingml/2006/main">
              <a:ext uri="{FF2B5EF4-FFF2-40B4-BE49-F238E27FC236}">
                <a16:creationId xmlns:a16="http://schemas.microsoft.com/office/drawing/2014/main" id="{6ECD3FB6-A61A-4CD4-A3DB-DB12F770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333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23" name="d03-flow-label-01">
            <a:extLst xmlns:a="http://schemas.openxmlformats.org/drawingml/2006/main">
              <a:ext uri="{FF2B5EF4-FFF2-40B4-BE49-F238E27FC236}">
                <a16:creationId xmlns:a16="http://schemas.microsoft.com/office/drawing/2014/main" id="{D0BF5EE6-6F21-4EEA-9A32-0FE85F63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38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案件受領</a:t>
            </a:r>
          </a:p>
        </p:txBody>
      </p:sp>
      <p:sp>
        <p:nvSpPr>
          <p:cNvPr id="24" name="d03-flow-body-01">
            <a:extLst xmlns:a="http://schemas.openxmlformats.org/drawingml/2006/main">
              <a:ext uri="{FF2B5EF4-FFF2-40B4-BE49-F238E27FC236}">
                <a16:creationId xmlns:a16="http://schemas.microsoft.com/office/drawing/2014/main" id="{C30A1C06-7DD9-4856-9CF4-B135641B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43275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依頼内容・要件を確認し、</a:t>
            </a:r>
          </a:p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情報不足があれば追加確認</a:t>
            </a:r>
          </a:p>
        </p:txBody>
      </p:sp>
      <p:sp>
        <p:nvSpPr>
          <p:cNvPr id="25" name="d03-flow-card-02">
            <a:extLst xmlns:a="http://schemas.openxmlformats.org/drawingml/2006/main">
              <a:ext uri="{FF2B5EF4-FFF2-40B4-BE49-F238E27FC236}">
                <a16:creationId xmlns:a16="http://schemas.microsoft.com/office/drawing/2014/main" id="{0DB65B19-33B0-40A5-873C-C6E7CEB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38400"/>
            <a:ext cx="2381250" cy="1533525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26" name="d03-flow-num-02">
            <a:extLst xmlns:a="http://schemas.openxmlformats.org/drawingml/2006/main">
              <a:ext uri="{FF2B5EF4-FFF2-40B4-BE49-F238E27FC236}">
                <a16:creationId xmlns:a16="http://schemas.microsoft.com/office/drawing/2014/main" id="{CC986214-1E0E-472B-847C-CFC6CC54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85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B85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d03-flow-icon-bg-02">
            <a:extLst xmlns:a="http://schemas.openxmlformats.org/drawingml/2006/main">
              <a:ext uri="{FF2B5EF4-FFF2-40B4-BE49-F238E27FC236}">
                <a16:creationId xmlns:a16="http://schemas.microsoft.com/office/drawing/2014/main" id="{21B7C295-EE87-411E-8F7E-8D69912F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03-icon-search-red-accent">
            <a:extLst xmlns:a="http://schemas.openxmlformats.org/drawingml/2006/main">
              <a:ext uri="{FF2B5EF4-FFF2-40B4-BE49-F238E27FC236}">
                <a16:creationId xmlns:a16="http://schemas.microsoft.com/office/drawing/2014/main" id="{97E702FD-A740-4A34-A51D-BA04B7E0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86075"/>
            <a:ext cx="333375" cy="333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29" name="d03-icon-search-ring">
            <a:extLst xmlns:a="http://schemas.openxmlformats.org/drawingml/2006/main">
              <a:ext uri="{FF2B5EF4-FFF2-40B4-BE49-F238E27FC236}">
                <a16:creationId xmlns:a16="http://schemas.microsoft.com/office/drawing/2014/main" id="{BD05E07E-2B18-4F18-B4CC-C112A99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43225"/>
            <a:ext cx="219075" cy="219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30" name="d03-icon-search-handle">
            <a:extLst xmlns:a="http://schemas.openxmlformats.org/drawingml/2006/main">
              <a:ext uri="{FF2B5EF4-FFF2-40B4-BE49-F238E27FC236}">
                <a16:creationId xmlns:a16="http://schemas.microsoft.com/office/drawing/2014/main" id="{504CEDC8-E9A8-49CC-A600-AB8149A0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142875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A2027"/>
            </a:solidFill>
            <a:prstDash val="solid"/>
          </a:ln>
        </p:spPr>
      </p:sp>
      <p:sp>
        <p:nvSpPr>
          <p:cNvPr id="31" name="d03-flow-label-02">
            <a:extLst xmlns:a="http://schemas.openxmlformats.org/drawingml/2006/main">
              <a:ext uri="{FF2B5EF4-FFF2-40B4-BE49-F238E27FC236}">
                <a16:creationId xmlns:a16="http://schemas.microsoft.com/office/drawing/2014/main" id="{6151D1AE-26BF-44E1-BC0D-B57B30B6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38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情報収集</a:t>
            </a:r>
          </a:p>
        </p:txBody>
      </p:sp>
      <p:sp>
        <p:nvSpPr>
          <p:cNvPr id="32" name="d03-flow-body-02">
            <a:extLst xmlns:a="http://schemas.openxmlformats.org/drawingml/2006/main">
              <a:ext uri="{FF2B5EF4-FFF2-40B4-BE49-F238E27FC236}">
                <a16:creationId xmlns:a16="http://schemas.microsoft.com/office/drawing/2014/main" id="{B7E3A1D5-D581-4FFE-B805-D9EE823C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43275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過去提案・顧客情報・</a:t>
            </a:r>
          </a:p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市場情報を複数箇所から探索</a:t>
            </a:r>
          </a:p>
        </p:txBody>
      </p:sp>
      <p:sp>
        <p:nvSpPr>
          <p:cNvPr id="33" name="d03-flow-card-03">
            <a:extLst xmlns:a="http://schemas.openxmlformats.org/drawingml/2006/main">
              <a:ext uri="{FF2B5EF4-FFF2-40B4-BE49-F238E27FC236}">
                <a16:creationId xmlns:a16="http://schemas.microsoft.com/office/drawing/2014/main" id="{6AAFD79B-70A2-48B4-9BC7-70B5F4DB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38400"/>
            <a:ext cx="2381250" cy="1533525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34" name="d03-flow-num-03">
            <a:extLst xmlns:a="http://schemas.openxmlformats.org/drawingml/2006/main">
              <a:ext uri="{FF2B5EF4-FFF2-40B4-BE49-F238E27FC236}">
                <a16:creationId xmlns:a16="http://schemas.microsoft.com/office/drawing/2014/main" id="{45A38A24-3910-4E8F-BE12-52F70E68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1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85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B85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5" name="d03-flow-icon-bg-03">
            <a:extLst xmlns:a="http://schemas.openxmlformats.org/drawingml/2006/main">
              <a:ext uri="{FF2B5EF4-FFF2-40B4-BE49-F238E27FC236}">
                <a16:creationId xmlns:a16="http://schemas.microsoft.com/office/drawing/2014/main" id="{458F7BB1-5422-4662-AE17-55389226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03-icon-doc">
            <a:extLst xmlns:a="http://schemas.openxmlformats.org/drawingml/2006/main">
              <a:ext uri="{FF2B5EF4-FFF2-40B4-BE49-F238E27FC236}">
                <a16:creationId xmlns:a16="http://schemas.microsoft.com/office/drawing/2014/main" id="{0E66AEFA-1E91-4CA3-9588-6D9F45E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146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37" name="d03-icon-doc-fold">
            <a:extLst xmlns:a="http://schemas.openxmlformats.org/drawingml/2006/main">
              <a:ext uri="{FF2B5EF4-FFF2-40B4-BE49-F238E27FC236}">
                <a16:creationId xmlns:a16="http://schemas.microsoft.com/office/drawing/2014/main" id="{2DF8E19C-9A42-4D90-8F67-D8845D63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10477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38" name="d03-icon-doc-line-1">
            <a:extLst xmlns:a="http://schemas.openxmlformats.org/drawingml/2006/main">
              <a:ext uri="{FF2B5EF4-FFF2-40B4-BE49-F238E27FC236}">
                <a16:creationId xmlns:a16="http://schemas.microsoft.com/office/drawing/2014/main" id="{1C5FAA2A-95A7-4521-B85E-6D1881BA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28950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39" name="d03-icon-doc-line-2">
            <a:extLst xmlns:a="http://schemas.openxmlformats.org/drawingml/2006/main">
              <a:ext uri="{FF2B5EF4-FFF2-40B4-BE49-F238E27FC236}">
                <a16:creationId xmlns:a16="http://schemas.microsoft.com/office/drawing/2014/main" id="{2F210C93-D343-4AD8-87A5-4A932B15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05150"/>
            <a:ext cx="15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40" name="d03-icon-doc-line-3">
            <a:extLst xmlns:a="http://schemas.openxmlformats.org/drawingml/2006/main">
              <a:ext uri="{FF2B5EF4-FFF2-40B4-BE49-F238E27FC236}">
                <a16:creationId xmlns:a16="http://schemas.microsoft.com/office/drawing/2014/main" id="{B25ACC5D-643B-43F2-9D05-C477C686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81350"/>
            <a:ext cx="133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2027"/>
            </a:solidFill>
            <a:prstDash val="solid"/>
          </a:ln>
        </p:spPr>
      </p:sp>
      <p:sp>
        <p:nvSpPr>
          <p:cNvPr id="41" name="d03-flow-label-03">
            <a:extLst xmlns:a="http://schemas.openxmlformats.org/drawingml/2006/main">
              <a:ext uri="{FF2B5EF4-FFF2-40B4-BE49-F238E27FC236}">
                <a16:creationId xmlns:a16="http://schemas.microsoft.com/office/drawing/2014/main" id="{2E404BEE-6D05-4E21-9ED8-6CCB7367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38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構成・資料作成</a:t>
            </a:r>
          </a:p>
        </p:txBody>
      </p:sp>
      <p:sp>
        <p:nvSpPr>
          <p:cNvPr id="42" name="d03-flow-body-03">
            <a:extLst xmlns:a="http://schemas.openxmlformats.org/drawingml/2006/main">
              <a:ext uri="{FF2B5EF4-FFF2-40B4-BE49-F238E27FC236}">
                <a16:creationId xmlns:a16="http://schemas.microsoft.com/office/drawing/2014/main" id="{528EDD2B-A772-429F-8342-620F1146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43275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提案ストーリーを整理し、</a:t>
            </a:r>
          </a:p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資料・見積を個別に作成</a:t>
            </a:r>
          </a:p>
        </p:txBody>
      </p:sp>
      <p:sp>
        <p:nvSpPr>
          <p:cNvPr id="43" name="d03-flow-card-04">
            <a:extLst xmlns:a="http://schemas.openxmlformats.org/drawingml/2006/main">
              <a:ext uri="{FF2B5EF4-FFF2-40B4-BE49-F238E27FC236}">
                <a16:creationId xmlns:a16="http://schemas.microsoft.com/office/drawing/2014/main" id="{3F469224-ADFB-4D44-9A45-65930531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38400"/>
            <a:ext cx="2381250" cy="1533525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4F4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44" name="d03-flow-num-04">
            <a:extLst xmlns:a="http://schemas.openxmlformats.org/drawingml/2006/main">
              <a:ext uri="{FF2B5EF4-FFF2-40B4-BE49-F238E27FC236}">
                <a16:creationId xmlns:a16="http://schemas.microsoft.com/office/drawing/2014/main" id="{E07110BD-AF10-4F12-9624-1031EE06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85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B85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d03-flow-icon-bg-04">
            <a:extLst xmlns:a="http://schemas.openxmlformats.org/drawingml/2006/main">
              <a:ext uri="{FF2B5EF4-FFF2-40B4-BE49-F238E27FC236}">
                <a16:creationId xmlns:a16="http://schemas.microsoft.com/office/drawing/2014/main" id="{23021B91-B663-4705-A8E2-9939322B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03-icon-check-ring">
            <a:extLst xmlns:a="http://schemas.openxmlformats.org/drawingml/2006/main">
              <a:ext uri="{FF2B5EF4-FFF2-40B4-BE49-F238E27FC236}">
                <a16:creationId xmlns:a16="http://schemas.microsoft.com/office/drawing/2014/main" id="{BAA96BEE-F942-4652-847B-C7B3153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956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47" name="d03-icon-check-mark">
            <a:extLst xmlns:a="http://schemas.openxmlformats.org/drawingml/2006/main">
              <a:ext uri="{FF2B5EF4-FFF2-40B4-BE49-F238E27FC236}">
                <a16:creationId xmlns:a16="http://schemas.microsoft.com/office/drawing/2014/main" id="{CF8B41E9-7746-4766-AD03-B382BF66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90850"/>
            <a:ext cx="219075" cy="180975"/>
          </a:xfrm>
          <a:custGeom xmlns:a="http://schemas.openxmlformats.org/drawingml/2006/main">
            <a:pathLst>
              <a:path w="219075" h="180975">
                <a:moveTo>
                  <a:pt x="0" y="85725"/>
                </a:moveTo>
                <a:lnTo>
                  <a:pt x="38100" y="47625"/>
                </a:lnTo>
                <a:lnTo>
                  <a:pt x="85725" y="104775"/>
                </a:lnTo>
                <a:lnTo>
                  <a:pt x="180975" y="0"/>
                </a:lnTo>
                <a:lnTo>
                  <a:pt x="219075" y="28575"/>
                </a:lnTo>
                <a:lnTo>
                  <a:pt x="85725" y="1809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03-flow-label-04">
            <a:extLst xmlns:a="http://schemas.openxmlformats.org/drawingml/2006/main">
              <a:ext uri="{FF2B5EF4-FFF2-40B4-BE49-F238E27FC236}">
                <a16:creationId xmlns:a16="http://schemas.microsoft.com/office/drawing/2014/main" id="{36653A81-5B89-4A02-B601-24470A7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レビュー・提出</a:t>
            </a:r>
          </a:p>
        </p:txBody>
      </p:sp>
      <p:sp>
        <p:nvSpPr>
          <p:cNvPr id="49" name="d03-flow-body-04">
            <a:extLst xmlns:a="http://schemas.openxmlformats.org/drawingml/2006/main">
              <a:ext uri="{FF2B5EF4-FFF2-40B4-BE49-F238E27FC236}">
                <a16:creationId xmlns:a16="http://schemas.microsoft.com/office/drawing/2014/main" id="{97ADC0F0-3D23-4446-8255-C8EEEEB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社内レビュー・修正を経て、</a:t>
            </a:r>
          </a:p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顧客へ提出・振り返り</a:t>
            </a:r>
          </a:p>
        </p:txBody>
      </p:sp>
      <p:sp>
        <p:nvSpPr>
          <p:cNvPr id="50" name="d03-flow-arrow">
            <a:extLst xmlns:a="http://schemas.openxmlformats.org/drawingml/2006/main">
              <a:ext uri="{FF2B5EF4-FFF2-40B4-BE49-F238E27FC236}">
                <a16:creationId xmlns:a16="http://schemas.microsoft.com/office/drawing/2014/main" id="{8EB6FDBC-0F3C-462A-B10E-6EAD068C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26670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03-flow-arrow">
            <a:extLst xmlns:a="http://schemas.openxmlformats.org/drawingml/2006/main">
              <a:ext uri="{FF2B5EF4-FFF2-40B4-BE49-F238E27FC236}">
                <a16:creationId xmlns:a16="http://schemas.microsoft.com/office/drawing/2014/main" id="{0DC5AF12-8EC5-4F37-85C9-0109C9A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86100"/>
            <a:ext cx="26670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03-flow-arrow">
            <a:extLst xmlns:a="http://schemas.openxmlformats.org/drawingml/2006/main">
              <a:ext uri="{FF2B5EF4-FFF2-40B4-BE49-F238E27FC236}">
                <a16:creationId xmlns:a16="http://schemas.microsoft.com/office/drawing/2014/main" id="{304906BA-26EA-4755-ACDE-0CFE0D1E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26670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03-issue-rule">
            <a:extLst xmlns:a="http://schemas.openxmlformats.org/drawingml/2006/main">
              <a:ext uri="{FF2B5EF4-FFF2-40B4-BE49-F238E27FC236}">
                <a16:creationId xmlns:a16="http://schemas.microsoft.com/office/drawing/2014/main" id="{6548CCEC-1B10-47DE-97B9-0D77BFD8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54" name="d03-issue-heading">
            <a:extLst xmlns:a="http://schemas.openxmlformats.org/drawingml/2006/main">
              <a:ext uri="{FF2B5EF4-FFF2-40B4-BE49-F238E27FC236}">
                <a16:creationId xmlns:a16="http://schemas.microsoft.com/office/drawing/2014/main" id="{BEE2FB0C-1E44-4FEB-BA10-52039869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課題構造</a:t>
            </a:r>
          </a:p>
        </p:txBody>
      </p:sp>
      <p:sp>
        <p:nvSpPr>
          <p:cNvPr id="55" name="d03-issue-card-業務">
            <a:extLst xmlns:a="http://schemas.openxmlformats.org/drawingml/2006/main">
              <a:ext uri="{FF2B5EF4-FFF2-40B4-BE49-F238E27FC236}">
                <a16:creationId xmlns:a16="http://schemas.microsoft.com/office/drawing/2014/main" id="{B6294A78-ADFE-470C-A3AF-05E8AA42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38675"/>
            <a:ext cx="466725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56" name="d03-issue-tag-業務">
            <a:extLst xmlns:a="http://schemas.openxmlformats.org/drawingml/2006/main">
              <a:ext uri="{FF2B5EF4-FFF2-40B4-BE49-F238E27FC236}">
                <a16:creationId xmlns:a16="http://schemas.microsoft.com/office/drawing/2014/main" id="{4B9EF18C-7CF6-4647-8ED0-C263FF68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762000" cy="352425"/>
          </a:xfrm>
          <a:prstGeom xmlns:a="http://schemas.openxmlformats.org/drawingml/2006/main" prst="roundRect">
            <a:avLst>
              <a:gd name="adj" fmla="val 32432"/>
            </a:avLst>
          </a:prstGeom>
          <a:solidFill xmlns:a="http://schemas.openxmlformats.org/drawingml/2006/main">
            <a:srgbClr val="374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03-issue-tag-text-業務">
            <a:extLst xmlns:a="http://schemas.openxmlformats.org/drawingml/2006/main">
              <a:ext uri="{FF2B5EF4-FFF2-40B4-BE49-F238E27FC236}">
                <a16:creationId xmlns:a16="http://schemas.microsoft.com/office/drawing/2014/main" id="{AEE07F05-C05B-4B1A-AB14-9E43ED43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業務</a:t>
            </a:r>
          </a:p>
        </p:txBody>
      </p:sp>
      <p:sp>
        <p:nvSpPr>
          <p:cNvPr id="58" name="d03-issue-title-業務">
            <a:extLst xmlns:a="http://schemas.openxmlformats.org/drawingml/2006/main">
              <a:ext uri="{FF2B5EF4-FFF2-40B4-BE49-F238E27FC236}">
                <a16:creationId xmlns:a16="http://schemas.microsoft.com/office/drawing/2014/main" id="{4695BB73-2204-4C94-97F8-EFBD704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手作業・重複作業が多い</a:t>
            </a:r>
          </a:p>
        </p:txBody>
      </p:sp>
      <p:sp>
        <p:nvSpPr>
          <p:cNvPr id="59" name="d03-issue-body-業務">
            <a:extLst xmlns:a="http://schemas.openxmlformats.org/drawingml/2006/main">
              <a:ext uri="{FF2B5EF4-FFF2-40B4-BE49-F238E27FC236}">
                <a16:creationId xmlns:a16="http://schemas.microsoft.com/office/drawing/2014/main" id="{8474B6F5-E8FB-44F1-B129-DBF2637D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53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情報収集や資料作成に時間がかかり、コア業務へ集中しづらい。</a:t>
            </a:r>
          </a:p>
        </p:txBody>
      </p:sp>
      <p:sp>
        <p:nvSpPr>
          <p:cNvPr id="60" name="d03-issue-card-組織">
            <a:extLst xmlns:a="http://schemas.openxmlformats.org/drawingml/2006/main">
              <a:ext uri="{FF2B5EF4-FFF2-40B4-BE49-F238E27FC236}">
                <a16:creationId xmlns:a16="http://schemas.microsoft.com/office/drawing/2014/main" id="{24223F28-A7F9-40E1-9C31-7B17D66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81675"/>
            <a:ext cx="466725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61" name="d03-issue-tag-組織">
            <a:extLst xmlns:a="http://schemas.openxmlformats.org/drawingml/2006/main">
              <a:ext uri="{FF2B5EF4-FFF2-40B4-BE49-F238E27FC236}">
                <a16:creationId xmlns:a16="http://schemas.microsoft.com/office/drawing/2014/main" id="{22DA9AF5-5C17-4D08-91AB-7831AEC3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762000" cy="352425"/>
          </a:xfrm>
          <a:prstGeom xmlns:a="http://schemas.openxmlformats.org/drawingml/2006/main" prst="roundRect">
            <a:avLst>
              <a:gd name="adj" fmla="val 32432"/>
            </a:avLst>
          </a:prstGeom>
          <a:solidFill xmlns:a="http://schemas.openxmlformats.org/drawingml/2006/main">
            <a:srgbClr val="374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03-issue-tag-text-組織">
            <a:extLst xmlns:a="http://schemas.openxmlformats.org/drawingml/2006/main">
              <a:ext uri="{FF2B5EF4-FFF2-40B4-BE49-F238E27FC236}">
                <a16:creationId xmlns:a16="http://schemas.microsoft.com/office/drawing/2014/main" id="{B8CCE170-AE85-4B73-916C-29B44F3C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組織</a:t>
            </a:r>
          </a:p>
        </p:txBody>
      </p:sp>
      <p:sp>
        <p:nvSpPr>
          <p:cNvPr id="63" name="d03-issue-title-組織">
            <a:extLst xmlns:a="http://schemas.openxmlformats.org/drawingml/2006/main">
              <a:ext uri="{FF2B5EF4-FFF2-40B4-BE49-F238E27FC236}">
                <a16:creationId xmlns:a16="http://schemas.microsoft.com/office/drawing/2014/main" id="{379C0CDB-E2E9-4E0E-991D-3301010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属人化・ノウハウ偏在</a:t>
            </a:r>
          </a:p>
        </p:txBody>
      </p:sp>
      <p:sp>
        <p:nvSpPr>
          <p:cNvPr id="64" name="d03-issue-body-組織">
            <a:extLst xmlns:a="http://schemas.openxmlformats.org/drawingml/2006/main">
              <a:ext uri="{FF2B5EF4-FFF2-40B4-BE49-F238E27FC236}">
                <a16:creationId xmlns:a16="http://schemas.microsoft.com/office/drawing/2014/main" id="{F311FB22-0646-4AB7-B1BD-FFBDDF80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96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担当者ごとに進め方が異なり、提案品質や再現性にばらつきがある。</a:t>
            </a:r>
          </a:p>
        </p:txBody>
      </p:sp>
      <p:sp>
        <p:nvSpPr>
          <p:cNvPr id="65" name="d03-issue-card-データ">
            <a:extLst xmlns:a="http://schemas.openxmlformats.org/drawingml/2006/main">
              <a:ext uri="{FF2B5EF4-FFF2-40B4-BE49-F238E27FC236}">
                <a16:creationId xmlns:a16="http://schemas.microsoft.com/office/drawing/2014/main" id="{D2C0F1FB-044B-4F61-B9FD-EE7388B2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924675"/>
            <a:ext cx="466725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66" name="d03-issue-tag-データ">
            <a:extLst xmlns:a="http://schemas.openxmlformats.org/drawingml/2006/main">
              <a:ext uri="{FF2B5EF4-FFF2-40B4-BE49-F238E27FC236}">
                <a16:creationId xmlns:a16="http://schemas.microsoft.com/office/drawing/2014/main" id="{41519BEB-A3F0-412C-83F3-0FB40187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38975"/>
            <a:ext cx="762000" cy="352425"/>
          </a:xfrm>
          <a:prstGeom xmlns:a="http://schemas.openxmlformats.org/drawingml/2006/main" prst="roundRect">
            <a:avLst>
              <a:gd name="adj" fmla="val 32432"/>
            </a:avLst>
          </a:prstGeom>
          <a:solidFill xmlns:a="http://schemas.openxmlformats.org/drawingml/2006/main">
            <a:srgbClr val="3741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03-issue-tag-text-データ">
            <a:extLst xmlns:a="http://schemas.openxmlformats.org/drawingml/2006/main">
              <a:ext uri="{FF2B5EF4-FFF2-40B4-BE49-F238E27FC236}">
                <a16:creationId xmlns:a16="http://schemas.microsoft.com/office/drawing/2014/main" id="{B44688D4-FB19-400E-9346-46FFCB7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961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データ</a:t>
            </a:r>
          </a:p>
        </p:txBody>
      </p:sp>
      <p:sp>
        <p:nvSpPr>
          <p:cNvPr id="68" name="d03-issue-title-データ">
            <a:extLst xmlns:a="http://schemas.openxmlformats.org/drawingml/2006/main">
              <a:ext uri="{FF2B5EF4-FFF2-40B4-BE49-F238E27FC236}">
                <a16:creationId xmlns:a16="http://schemas.microsoft.com/office/drawing/2014/main" id="{11CDCE9C-37F9-4D6E-8178-9DC73E0A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086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情報が分散・再利用困難</a:t>
            </a:r>
          </a:p>
        </p:txBody>
      </p:sp>
      <p:sp>
        <p:nvSpPr>
          <p:cNvPr id="69" name="d03-issue-body-データ">
            <a:extLst xmlns:a="http://schemas.openxmlformats.org/drawingml/2006/main">
              <a:ext uri="{FF2B5EF4-FFF2-40B4-BE49-F238E27FC236}">
                <a16:creationId xmlns:a16="http://schemas.microsoft.com/office/drawing/2014/main" id="{CFD227C9-57EF-4924-97FC-B66FFB5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4390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過去資料・顧客情報・実績が点在し、検索と再利用に工数がかかる。</a:t>
            </a:r>
          </a:p>
        </p:txBody>
      </p:sp>
      <p:sp>
        <p:nvSpPr>
          <p:cNvPr id="70" name="d03-bottleneck-panel">
            <a:extLst xmlns:a="http://schemas.openxmlformats.org/drawingml/2006/main">
              <a:ext uri="{FF2B5EF4-FFF2-40B4-BE49-F238E27FC236}">
                <a16:creationId xmlns:a16="http://schemas.microsoft.com/office/drawing/2014/main" id="{A90B675A-0F5E-4B66-9231-4056E70C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38675"/>
            <a:ext cx="5229225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F3A6AA"/>
            </a:solidFill>
            <a:prstDash val="solid"/>
          </a:ln>
        </p:spPr>
      </p:sp>
      <p:sp>
        <p:nvSpPr>
          <p:cNvPr id="71" name="d03-bottleneck-heading">
            <a:extLst xmlns:a="http://schemas.openxmlformats.org/drawingml/2006/main">
              <a:ext uri="{FF2B5EF4-FFF2-40B4-BE49-F238E27FC236}">
                <a16:creationId xmlns:a16="http://schemas.microsoft.com/office/drawing/2014/main" id="{4696313F-D477-4993-8A98-1AFF1C1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19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主なボトルネック</a:t>
            </a:r>
          </a:p>
        </p:txBody>
      </p:sp>
      <p:sp>
        <p:nvSpPr>
          <p:cNvPr id="72" name="d03-bottleneck-spine">
            <a:extLst xmlns:a="http://schemas.openxmlformats.org/drawingml/2006/main">
              <a:ext uri="{FF2B5EF4-FFF2-40B4-BE49-F238E27FC236}">
                <a16:creationId xmlns:a16="http://schemas.microsoft.com/office/drawing/2014/main" id="{F99F656B-5B65-4A33-89FD-A62AF62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353050"/>
            <a:ext cx="9525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73" name="d03-bottleneck-dot-01">
            <a:extLst xmlns:a="http://schemas.openxmlformats.org/drawingml/2006/main">
              <a:ext uri="{FF2B5EF4-FFF2-40B4-BE49-F238E27FC236}">
                <a16:creationId xmlns:a16="http://schemas.microsoft.com/office/drawing/2014/main" id="{1CBA4C03-2A28-4D71-AB4E-DC9269BE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2197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03-bottleneck-num-01">
            <a:extLst xmlns:a="http://schemas.openxmlformats.org/drawingml/2006/main">
              <a:ext uri="{FF2B5EF4-FFF2-40B4-BE49-F238E27FC236}">
                <a16:creationId xmlns:a16="http://schemas.microsoft.com/office/drawing/2014/main" id="{2E00A79A-C211-4420-87FC-C26D92EE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3054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5" name="d03-bottleneck-title-01">
            <a:extLst xmlns:a="http://schemas.openxmlformats.org/drawingml/2006/main">
              <a:ext uri="{FF2B5EF4-FFF2-40B4-BE49-F238E27FC236}">
                <a16:creationId xmlns:a16="http://schemas.microsoft.com/office/drawing/2014/main" id="{9080C402-D55A-43A9-9375-EE0AA1E1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292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情報探索に時間がかかる</a:t>
            </a:r>
          </a:p>
        </p:txBody>
      </p:sp>
      <p:sp>
        <p:nvSpPr>
          <p:cNvPr id="76" name="d03-bottleneck-body-01">
            <a:extLst xmlns:a="http://schemas.openxmlformats.org/drawingml/2006/main">
              <a:ext uri="{FF2B5EF4-FFF2-40B4-BE49-F238E27FC236}">
                <a16:creationId xmlns:a16="http://schemas.microsoft.com/office/drawing/2014/main" id="{4274E280-C9C6-493F-B9A8-31206EB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864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複数フォルダ・担当者・外部サイトを横断</a:t>
            </a:r>
          </a:p>
        </p:txBody>
      </p:sp>
      <p:sp>
        <p:nvSpPr>
          <p:cNvPr id="77" name="d03-bottleneck-dot-02">
            <a:extLst xmlns:a="http://schemas.openxmlformats.org/drawingml/2006/main">
              <a:ext uri="{FF2B5EF4-FFF2-40B4-BE49-F238E27FC236}">
                <a16:creationId xmlns:a16="http://schemas.microsoft.com/office/drawing/2014/main" id="{514D850D-60A8-4377-9D76-95C9ACA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695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03-bottleneck-num-02">
            <a:extLst xmlns:a="http://schemas.openxmlformats.org/drawingml/2006/main">
              <a:ext uri="{FF2B5EF4-FFF2-40B4-BE49-F238E27FC236}">
                <a16:creationId xmlns:a16="http://schemas.microsoft.com/office/drawing/2014/main" id="{51EC7C1B-458D-4A8F-AB5C-EB574268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7816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9" name="d03-bottleneck-title-02">
            <a:extLst xmlns:a="http://schemas.openxmlformats.org/drawingml/2006/main">
              <a:ext uri="{FF2B5EF4-FFF2-40B4-BE49-F238E27FC236}">
                <a16:creationId xmlns:a16="http://schemas.microsoft.com/office/drawing/2014/main" id="{CDCFDEF4-AA15-452D-8403-A0DDBC0B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054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ゼロベース作成が多い</a:t>
            </a:r>
          </a:p>
        </p:txBody>
      </p:sp>
      <p:sp>
        <p:nvSpPr>
          <p:cNvPr id="80" name="d03-bottleneck-body-02">
            <a:extLst xmlns:a="http://schemas.openxmlformats.org/drawingml/2006/main">
              <a:ext uri="{FF2B5EF4-FFF2-40B4-BE49-F238E27FC236}">
                <a16:creationId xmlns:a16="http://schemas.microsoft.com/office/drawing/2014/main" id="{D1573F1B-34AD-4D41-90DA-84261712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626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毎回、構成・表現・根拠を作り直している</a:t>
            </a:r>
          </a:p>
        </p:txBody>
      </p:sp>
      <p:sp>
        <p:nvSpPr>
          <p:cNvPr id="81" name="d03-bottleneck-dot-03">
            <a:extLst xmlns:a="http://schemas.openxmlformats.org/drawingml/2006/main">
              <a:ext uri="{FF2B5EF4-FFF2-40B4-BE49-F238E27FC236}">
                <a16:creationId xmlns:a16="http://schemas.microsoft.com/office/drawing/2014/main" id="{0F657C5E-C391-4784-8A3C-328B0E43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172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03-bottleneck-num-03">
            <a:extLst xmlns:a="http://schemas.openxmlformats.org/drawingml/2006/main">
              <a:ext uri="{FF2B5EF4-FFF2-40B4-BE49-F238E27FC236}">
                <a16:creationId xmlns:a16="http://schemas.microsoft.com/office/drawing/2014/main" id="{8A0F63B0-7BB0-4B75-90BA-64B09A54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2579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3" name="d03-bottleneck-title-03">
            <a:extLst xmlns:a="http://schemas.openxmlformats.org/drawingml/2006/main">
              <a:ext uri="{FF2B5EF4-FFF2-40B4-BE49-F238E27FC236}">
                <a16:creationId xmlns:a16="http://schemas.microsoft.com/office/drawing/2014/main" id="{823B9332-6F00-4771-ACE4-C5A3090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817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レビュー修正が多い</a:t>
            </a:r>
          </a:p>
        </p:txBody>
      </p:sp>
      <p:sp>
        <p:nvSpPr>
          <p:cNvPr id="84" name="d03-bottleneck-body-03">
            <a:extLst xmlns:a="http://schemas.openxmlformats.org/drawingml/2006/main">
              <a:ext uri="{FF2B5EF4-FFF2-40B4-BE49-F238E27FC236}">
                <a16:creationId xmlns:a16="http://schemas.microsoft.com/office/drawing/2014/main" id="{EAD2A3F2-DDB9-4634-BD06-9294975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判断基準が共有されず手戻りが発生</a:t>
            </a:r>
          </a:p>
        </p:txBody>
      </p:sp>
      <p:sp>
        <p:nvSpPr>
          <p:cNvPr id="85" name="d03-bottleneck-dot-04">
            <a:extLst xmlns:a="http://schemas.openxmlformats.org/drawingml/2006/main">
              <a:ext uri="{FF2B5EF4-FFF2-40B4-BE49-F238E27FC236}">
                <a16:creationId xmlns:a16="http://schemas.microsoft.com/office/drawing/2014/main" id="{B7BA6AC6-F080-4B86-AF79-85BDB72B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648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03-bottleneck-num-04">
            <a:extLst xmlns:a="http://schemas.openxmlformats.org/drawingml/2006/main">
              <a:ext uri="{FF2B5EF4-FFF2-40B4-BE49-F238E27FC236}">
                <a16:creationId xmlns:a16="http://schemas.microsoft.com/office/drawing/2014/main" id="{3B9FE023-11E4-482A-8DEA-895E5155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734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7" name="d03-bottleneck-title-04">
            <a:extLst xmlns:a="http://schemas.openxmlformats.org/drawingml/2006/main">
              <a:ext uri="{FF2B5EF4-FFF2-40B4-BE49-F238E27FC236}">
                <a16:creationId xmlns:a16="http://schemas.microsoft.com/office/drawing/2014/main" id="{5467E393-35DD-4074-93AD-26A6F62B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579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振り返りが資産化されない</a:t>
            </a:r>
          </a:p>
        </p:txBody>
      </p:sp>
      <p:sp>
        <p:nvSpPr>
          <p:cNvPr id="88" name="d03-bottleneck-body-04">
            <a:extLst xmlns:a="http://schemas.openxmlformats.org/drawingml/2006/main">
              <a:ext uri="{FF2B5EF4-FFF2-40B4-BE49-F238E27FC236}">
                <a16:creationId xmlns:a16="http://schemas.microsoft.com/office/drawing/2014/main" id="{5E1575CD-A005-477B-B9BD-C784ED2F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9151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成功・失注要因が次回提案へ十分反映されない</a:t>
            </a:r>
          </a:p>
        </p:txBody>
      </p:sp>
      <p:sp>
        <p:nvSpPr>
          <p:cNvPr id="89" name="d03-impact-panel">
            <a:extLst xmlns:a="http://schemas.openxmlformats.org/drawingml/2006/main">
              <a:ext uri="{FF2B5EF4-FFF2-40B4-BE49-F238E27FC236}">
                <a16:creationId xmlns:a16="http://schemas.microsoft.com/office/drawing/2014/main" id="{3CEC1B91-2490-4E8C-9DAE-748ECF4F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638675"/>
            <a:ext cx="44196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90" name="d03-impact-rule">
            <a:extLst xmlns:a="http://schemas.openxmlformats.org/drawingml/2006/main">
              <a:ext uri="{FF2B5EF4-FFF2-40B4-BE49-F238E27FC236}">
                <a16:creationId xmlns:a16="http://schemas.microsoft.com/office/drawing/2014/main" id="{A2A370A9-3458-4334-B8BE-1270750A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857750"/>
            <a:ext cx="419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91" name="d03-impact-heading">
            <a:extLst xmlns:a="http://schemas.openxmlformats.org/drawingml/2006/main">
              <a:ext uri="{FF2B5EF4-FFF2-40B4-BE49-F238E27FC236}">
                <a16:creationId xmlns:a16="http://schemas.microsoft.com/office/drawing/2014/main" id="{5E548B84-B3C6-45A0-96EA-147C133E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業務への影響</a:t>
            </a:r>
          </a:p>
        </p:txBody>
      </p:sp>
      <p:sp>
        <p:nvSpPr>
          <p:cNvPr id="92" name="d03-impact-label-0">
            <a:extLst xmlns:a="http://schemas.openxmlformats.org/drawingml/2006/main">
              <a:ext uri="{FF2B5EF4-FFF2-40B4-BE49-F238E27FC236}">
                <a16:creationId xmlns:a16="http://schemas.microsoft.com/office/drawing/2014/main" id="{D30B498A-21E4-4A07-811A-086CB53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2197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作成時間</a:t>
            </a:r>
          </a:p>
        </p:txBody>
      </p:sp>
      <p:sp>
        <p:nvSpPr>
          <p:cNvPr id="93" name="d03-impact-value-0">
            <a:extLst xmlns:a="http://schemas.openxmlformats.org/drawingml/2006/main">
              <a:ext uri="{FF2B5EF4-FFF2-40B4-BE49-F238E27FC236}">
                <a16:creationId xmlns:a16="http://schemas.microsoft.com/office/drawing/2014/main" id="{349B939A-7993-4032-BDAC-2CE808CB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5181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長時間化</a:t>
            </a:r>
          </a:p>
        </p:txBody>
      </p:sp>
      <p:sp>
        <p:nvSpPr>
          <p:cNvPr id="94" name="d03-impact-body-0">
            <a:extLst xmlns:a="http://schemas.openxmlformats.org/drawingml/2006/main">
              <a:ext uri="{FF2B5EF4-FFF2-40B4-BE49-F238E27FC236}">
                <a16:creationId xmlns:a16="http://schemas.microsoft.com/office/drawing/2014/main" id="{D7719CCC-280D-4E7A-8A7E-0C37FB58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768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案件対応数が伸びにくい</a:t>
            </a:r>
          </a:p>
        </p:txBody>
      </p:sp>
      <p:sp>
        <p:nvSpPr>
          <p:cNvPr id="95" name="d03-impact-divider-1">
            <a:extLst xmlns:a="http://schemas.openxmlformats.org/drawingml/2006/main">
              <a:ext uri="{FF2B5EF4-FFF2-40B4-BE49-F238E27FC236}">
                <a16:creationId xmlns:a16="http://schemas.microsoft.com/office/drawing/2014/main" id="{66810CA3-5B96-4F61-8F2A-7D6C7D2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705475"/>
            <a:ext cx="3971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96" name="d03-impact-label-1">
            <a:extLst xmlns:a="http://schemas.openxmlformats.org/drawingml/2006/main">
              <a:ext uri="{FF2B5EF4-FFF2-40B4-BE49-F238E27FC236}">
                <a16:creationId xmlns:a16="http://schemas.microsoft.com/office/drawing/2014/main" id="{9E01644D-08FC-4A1B-BCC5-BC94600E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8197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提案品質</a:t>
            </a:r>
          </a:p>
        </p:txBody>
      </p:sp>
      <p:sp>
        <p:nvSpPr>
          <p:cNvPr id="97" name="d03-impact-value-1">
            <a:extLst xmlns:a="http://schemas.openxmlformats.org/drawingml/2006/main">
              <a:ext uri="{FF2B5EF4-FFF2-40B4-BE49-F238E27FC236}">
                <a16:creationId xmlns:a16="http://schemas.microsoft.com/office/drawing/2014/main" id="{FFD93FCE-1AF1-4C0F-88C0-77F3E236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57816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ばらつき</a:t>
            </a:r>
          </a:p>
        </p:txBody>
      </p:sp>
      <p:sp>
        <p:nvSpPr>
          <p:cNvPr id="98" name="d03-impact-body-1">
            <a:extLst xmlns:a="http://schemas.openxmlformats.org/drawingml/2006/main">
              <a:ext uri="{FF2B5EF4-FFF2-40B4-BE49-F238E27FC236}">
                <a16:creationId xmlns:a16="http://schemas.microsoft.com/office/drawing/2014/main" id="{8510B6BE-AE02-4E02-B836-F1132947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076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担当者差が成果へ影響</a:t>
            </a:r>
          </a:p>
        </p:txBody>
      </p:sp>
      <p:sp>
        <p:nvSpPr>
          <p:cNvPr id="99" name="d03-impact-divider-2">
            <a:extLst xmlns:a="http://schemas.openxmlformats.org/drawingml/2006/main">
              <a:ext uri="{FF2B5EF4-FFF2-40B4-BE49-F238E27FC236}">
                <a16:creationId xmlns:a16="http://schemas.microsoft.com/office/drawing/2014/main" id="{94C6EED1-02A8-46D0-B264-7D50EE0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3971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100" name="d03-impact-label-2">
            <a:extLst xmlns:a="http://schemas.openxmlformats.org/drawingml/2006/main">
              <a:ext uri="{FF2B5EF4-FFF2-40B4-BE49-F238E27FC236}">
                <a16:creationId xmlns:a16="http://schemas.microsoft.com/office/drawing/2014/main" id="{B16778B4-4D1B-4D91-AAB7-7920C2E7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再利用率</a:t>
            </a:r>
          </a:p>
        </p:txBody>
      </p:sp>
      <p:sp>
        <p:nvSpPr>
          <p:cNvPr id="101" name="d03-impact-value-2">
            <a:extLst xmlns:a="http://schemas.openxmlformats.org/drawingml/2006/main">
              <a:ext uri="{FF2B5EF4-FFF2-40B4-BE49-F238E27FC236}">
                <a16:creationId xmlns:a16="http://schemas.microsoft.com/office/drawing/2014/main" id="{188798E3-9FEB-47F1-942E-F56F9B2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38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低い</a:t>
            </a:r>
          </a:p>
        </p:txBody>
      </p:sp>
      <p:sp>
        <p:nvSpPr>
          <p:cNvPr id="102" name="d03-impact-body-2">
            <a:extLst xmlns:a="http://schemas.openxmlformats.org/drawingml/2006/main">
              <a:ext uri="{FF2B5EF4-FFF2-40B4-BE49-F238E27FC236}">
                <a16:creationId xmlns:a16="http://schemas.microsoft.com/office/drawing/2014/main" id="{AE5512B1-473A-49B6-ACB7-A550756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770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ナレッジ蓄積が進まない</a:t>
            </a:r>
          </a:p>
        </p:txBody>
      </p:sp>
      <p:sp>
        <p:nvSpPr>
          <p:cNvPr id="103" name="d03-impact-divider-3">
            <a:extLst xmlns:a="http://schemas.openxmlformats.org/drawingml/2006/main">
              <a:ext uri="{FF2B5EF4-FFF2-40B4-BE49-F238E27FC236}">
                <a16:creationId xmlns:a16="http://schemas.microsoft.com/office/drawing/2014/main" id="{A2E84337-603D-48FD-9028-2AF0694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905625"/>
            <a:ext cx="3971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104" name="d03-impact-label-3">
            <a:extLst xmlns:a="http://schemas.openxmlformats.org/drawingml/2006/main">
              <a:ext uri="{FF2B5EF4-FFF2-40B4-BE49-F238E27FC236}">
                <a16:creationId xmlns:a16="http://schemas.microsoft.com/office/drawing/2014/main" id="{885D3572-4359-4FB9-9C62-8EDA0A64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70199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意思決定</a:t>
            </a:r>
          </a:p>
        </p:txBody>
      </p:sp>
      <p:sp>
        <p:nvSpPr>
          <p:cNvPr id="105" name="d03-impact-value-3">
            <a:extLst xmlns:a="http://schemas.openxmlformats.org/drawingml/2006/main">
              <a:ext uri="{FF2B5EF4-FFF2-40B4-BE49-F238E27FC236}">
                <a16:creationId xmlns:a16="http://schemas.microsoft.com/office/drawing/2014/main" id="{964AF702-C954-4F8E-BDC8-9792113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9818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遅い</a:t>
            </a:r>
          </a:p>
        </p:txBody>
      </p:sp>
      <p:sp>
        <p:nvSpPr>
          <p:cNvPr id="106" name="d03-impact-body-3">
            <a:extLst xmlns:a="http://schemas.openxmlformats.org/drawingml/2006/main">
              <a:ext uri="{FF2B5EF4-FFF2-40B4-BE49-F238E27FC236}">
                <a16:creationId xmlns:a16="http://schemas.microsoft.com/office/drawing/2014/main" id="{040D4EC6-39F7-4314-BFE9-938876EC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72771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データ不足で判断に時間</a:t>
            </a:r>
          </a:p>
        </p:txBody>
      </p:sp>
      <p:sp>
        <p:nvSpPr>
          <p:cNvPr id="107" name="d03-implication-band">
            <a:extLst xmlns:a="http://schemas.openxmlformats.org/drawingml/2006/main">
              <a:ext uri="{FF2B5EF4-FFF2-40B4-BE49-F238E27FC236}">
                <a16:creationId xmlns:a16="http://schemas.microsoft.com/office/drawing/2014/main" id="{12C52F32-7DFC-41BD-ACE2-27F396B4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029575"/>
            <a:ext cx="11010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03-implication-badge">
            <a:extLst xmlns:a="http://schemas.openxmlformats.org/drawingml/2006/main">
              <a:ext uri="{FF2B5EF4-FFF2-40B4-BE49-F238E27FC236}">
                <a16:creationId xmlns:a16="http://schemas.microsoft.com/office/drawing/2014/main" id="{E63DB9A5-2FFB-45D7-A30A-C34F8BFE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096250"/>
            <a:ext cx="666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03-implication-badge-text">
            <a:extLst xmlns:a="http://schemas.openxmlformats.org/drawingml/2006/main">
              <a:ext uri="{FF2B5EF4-FFF2-40B4-BE49-F238E27FC236}">
                <a16:creationId xmlns:a16="http://schemas.microsoft.com/office/drawing/2014/main" id="{F9A82AC4-B1D7-49EE-AB3C-9D152BD4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1629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示唆</a:t>
            </a:r>
          </a:p>
        </p:txBody>
      </p:sp>
      <p:sp>
        <p:nvSpPr>
          <p:cNvPr id="110" name="d03-implication-text">
            <a:extLst xmlns:a="http://schemas.openxmlformats.org/drawingml/2006/main">
              <a:ext uri="{FF2B5EF4-FFF2-40B4-BE49-F238E27FC236}">
                <a16:creationId xmlns:a16="http://schemas.microsoft.com/office/drawing/2014/main" id="{ABC84287-ECEA-4C64-8A0A-CFDB7E45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1057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標準化・再利用・データ活用を同時に進めることが、</a:t>
            </a:r>
          </a:p>
          <a:p xmlns:a="http://schemas.openxmlformats.org/drawingml/2006/main">
            <a:pPr algn="l">
              <a:defRPr sz="135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提案品質とスピード向上の起点です。</a:t>
            </a:r>
          </a:p>
        </p:txBody>
      </p:sp>
      <p:sp>
        <p:nvSpPr>
          <p:cNvPr id="111" name="d03-footer-logo-red-top">
            <a:extLst xmlns:a="http://schemas.openxmlformats.org/drawingml/2006/main">
              <a:ext uri="{FF2B5EF4-FFF2-40B4-BE49-F238E27FC236}">
                <a16:creationId xmlns:a16="http://schemas.microsoft.com/office/drawing/2014/main" id="{964E78C9-52D7-41D7-90D8-E170E26D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648700"/>
            <a:ext cx="238125" cy="133350"/>
          </a:xfrm>
          <a:custGeom xmlns:a="http://schemas.openxmlformats.org/drawingml/2006/main">
            <a:pathLst>
              <a:path w="238125" h="133350">
                <a:moveTo>
                  <a:pt x="0" y="66675"/>
                </a:moveTo>
                <a:lnTo>
                  <a:pt x="114300" y="0"/>
                </a:lnTo>
                <a:lnTo>
                  <a:pt x="238125" y="66675"/>
                </a:lnTo>
                <a:lnTo>
                  <a:pt x="114300" y="1333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03-footer-logo-red-front">
            <a:extLst xmlns:a="http://schemas.openxmlformats.org/drawingml/2006/main">
              <a:ext uri="{FF2B5EF4-FFF2-40B4-BE49-F238E27FC236}">
                <a16:creationId xmlns:a16="http://schemas.microsoft.com/office/drawing/2014/main" id="{8104495C-6205-491E-B402-4EEF7116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715375"/>
            <a:ext cx="114300" cy="209550"/>
          </a:xfrm>
          <a:custGeom xmlns:a="http://schemas.openxmlformats.org/drawingml/2006/main">
            <a:pathLst>
              <a:path w="114300" h="209550">
                <a:moveTo>
                  <a:pt x="0" y="0"/>
                </a:moveTo>
                <a:lnTo>
                  <a:pt x="114300" y="66675"/>
                </a:lnTo>
                <a:lnTo>
                  <a:pt x="114300" y="20955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03-footer-logo-black-side">
            <a:extLst xmlns:a="http://schemas.openxmlformats.org/drawingml/2006/main">
              <a:ext uri="{FF2B5EF4-FFF2-40B4-BE49-F238E27FC236}">
                <a16:creationId xmlns:a16="http://schemas.microsoft.com/office/drawing/2014/main" id="{05758A69-1408-4628-84BB-C1644FD0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715375"/>
            <a:ext cx="123825" cy="209550"/>
          </a:xfrm>
          <a:custGeom xmlns:a="http://schemas.openxmlformats.org/drawingml/2006/main">
            <a:pathLst>
              <a:path w="123825" h="209550">
                <a:moveTo>
                  <a:pt x="0" y="66675"/>
                </a:moveTo>
                <a:lnTo>
                  <a:pt x="123825" y="0"/>
                </a:lnTo>
                <a:lnTo>
                  <a:pt x="123825" y="142875"/>
                </a:lnTo>
                <a:lnTo>
                  <a:pt x="0" y="209550"/>
                </a:lnTo>
                <a:close/>
              </a:path>
            </a:pathLst>
          </a:custGeom>
          <a:solidFill xmlns:a="http://schemas.openxmlformats.org/drawingml/2006/main">
            <a:srgbClr val="1A20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03-footer-brand">
            <a:extLst xmlns:a="http://schemas.openxmlformats.org/drawingml/2006/main">
              <a:ext uri="{FF2B5EF4-FFF2-40B4-BE49-F238E27FC236}">
                <a16:creationId xmlns:a16="http://schemas.microsoft.com/office/drawing/2014/main" id="{6609B7DA-1CE5-4F6A-883D-BBCDF760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6487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0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2027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15" name="d03-footer-divider">
            <a:extLst xmlns:a="http://schemas.openxmlformats.org/drawingml/2006/main">
              <a:ext uri="{FF2B5EF4-FFF2-40B4-BE49-F238E27FC236}">
                <a16:creationId xmlns:a16="http://schemas.microsoft.com/office/drawing/2014/main" id="{7F464185-6EE2-45F0-A842-51E1637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572500"/>
            <a:ext cx="952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8DE"/>
            </a:solidFill>
            <a:prstDash val="solid"/>
          </a:ln>
        </p:spPr>
      </p:sp>
      <p:sp>
        <p:nvSpPr>
          <p:cNvPr id="116" name="d03-footer-tagline-jp">
            <a:extLst xmlns:a="http://schemas.openxmlformats.org/drawingml/2006/main">
              <a:ext uri="{FF2B5EF4-FFF2-40B4-BE49-F238E27FC236}">
                <a16:creationId xmlns:a16="http://schemas.microsoft.com/office/drawing/2014/main" id="{7F45A4FC-272F-4D2B-B7FD-B4CDDD3E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562975"/>
            <a:ext cx="3238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17" name="d03-footer-tagline-en">
            <a:extLst xmlns:a="http://schemas.openxmlformats.org/drawingml/2006/main">
              <a:ext uri="{FF2B5EF4-FFF2-40B4-BE49-F238E27FC236}">
                <a16:creationId xmlns:a16="http://schemas.microsoft.com/office/drawing/2014/main" id="{EBF0123A-20B8-46A4-A18F-AB8E724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772525"/>
            <a:ext cx="3238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17E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18" name="d03-footer-date">
            <a:extLst xmlns:a="http://schemas.openxmlformats.org/drawingml/2006/main">
              <a:ext uri="{FF2B5EF4-FFF2-40B4-BE49-F238E27FC236}">
                <a16:creationId xmlns:a16="http://schemas.microsoft.com/office/drawing/2014/main" id="{20B6646D-0896-45FE-983A-9E8AFCA6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639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19" name="d03-footer-date-rule">
            <a:extLst xmlns:a="http://schemas.openxmlformats.org/drawingml/2006/main">
              <a:ext uri="{FF2B5EF4-FFF2-40B4-BE49-F238E27FC236}">
                <a16:creationId xmlns:a16="http://schemas.microsoft.com/office/drawing/2014/main" id="{0331D534-28BF-4B3D-A151-B593176E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7153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4657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2026-09-19T22:08:42.7650000Z</dcterms:created>
  <dcterms:modified xsi:type="dcterms:W3CDTF">2026-09-19T22:08:42.7650000Z</dcterms:modified>
</coreProperties>
</file>