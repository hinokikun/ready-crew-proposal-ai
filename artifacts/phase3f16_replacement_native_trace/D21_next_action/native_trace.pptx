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21c4c616154a13" /><Relationship Type="http://schemas.openxmlformats.org/officeDocument/2006/relationships/extended-properties" Target="/docProps/app.xml" Id="Rf193b90bd8884401" /><Relationship Type="http://schemas.openxmlformats.org/officeDocument/2006/relationships/officeDocument" Target="/ppt/presentation.xml" Id="Ra02ee6c274754a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33cda0d5174ae7"/>
  </p:sldMasterIdLst>
  <p:notesMasterIdLst>
    <p:notesMasterId xmlns:r="http://schemas.openxmlformats.org/officeDocument/2006/relationships" r:id="Re7124fe38b5f419f"/>
  </p:notesMasterIdLst>
  <p:sldIdLst>
    <p:sldId xmlns:r="http://schemas.openxmlformats.org/officeDocument/2006/relationships" id="256" r:id="R8f798d599a2740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d53bfcf3c244b3" /><Relationship Type="http://schemas.openxmlformats.org/officeDocument/2006/relationships/slideMaster" Target="/ppt/slideMasters/slideMaster1.xml" Id="R2433cda0d5174ae7" /><Relationship Type="http://schemas.openxmlformats.org/officeDocument/2006/relationships/notesMaster" Target="/ppt/notesMasters/notesMaster1.xml" Id="Re7124fe38b5f419f" /><Relationship Type="http://schemas.openxmlformats.org/officeDocument/2006/relationships/presProps" Target="/ppt/presProps.xml" Id="Rc590a4a8114f4fc4" /><Relationship Type="http://schemas.openxmlformats.org/officeDocument/2006/relationships/tableStyles" Target="/ppt/tableStyles.xml" Id="Rebdb418bb1e04ead" /><Relationship Type="http://schemas.openxmlformats.org/officeDocument/2006/relationships/slide" Target="/ppt/slides/slide1.xml" Id="R8f798d599a2740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6b4fb7024a47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fe05826f354575" /><Relationship Type="http://schemas.openxmlformats.org/officeDocument/2006/relationships/notesMaster" Target="/ppt/notesMasters/notesMaster1.xml" Id="Rc1e2e9db38b845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D21 Next Action native trace. Canonical image is the sole visual authority. The city-window region is a limited crop because the Canonical contains photography. Content is trace-only sample content, not production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c0b91cc754f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f281ccd0fe4fa1" /><Relationship Type="http://schemas.openxmlformats.org/officeDocument/2006/relationships/slideLayout" Target="/ppt/slideLayouts/slideLayout1.xml" Id="R32ea7630e3d242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ea7630e3d242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857d1009046e7" /><Relationship Type="http://schemas.openxmlformats.org/officeDocument/2006/relationships/image" Target="/ppt/media/image.png" Id="R1b7a3e5d84b34fca" /><Relationship Type="http://schemas.openxmlformats.org/officeDocument/2006/relationships/notesSlide" Target="/ppt/notesSlides/notesSlide1.xml" Id="Rb075af76f1b547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608CC68-80AB-41BB-954F-DBBE9BD0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524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D21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9E6D7-9AA5-481D-BC64-FCAE0ECE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今後の進め方 / Next Action</a:t>
            </a:r>
          </a:p>
        </p:txBody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a3e5d84b34fca"/>
          <a:srcRect xmlns:a="http://schemas.openxmlformats.org/drawingml/2006/main" l="3620" t="0" r="36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0" y="0"/>
            <a:ext cx="1809750" cy="1885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5CA19-51CB-4429-B1E2-308AA20E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9048750" y="76200"/>
            <a:ext cx="514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9773A-A50A-4722-92D4-0F1BC4A7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9353550" y="76200"/>
            <a:ext cx="4286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ACED0-4401-4495-807A-16FC8314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9705975" y="76200"/>
            <a:ext cx="762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29E85-2CA3-4FB9-8518-965DE6AB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9801225" y="76200"/>
            <a:ext cx="1238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2B9A3-779D-49EF-8970-215EABA9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28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提案</a:t>
            </a:r>
            <a:r>
              <a:rPr sz="13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クエスト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FF4BA-D23F-453F-9C7B-5C613510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563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AIで、提案をもっと速く、もっと強く。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5DE4F-D716-4579-B39C-23D0FE09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71450"/>
            <a:ext cx="1162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069C8-865F-46B3-9B2D-446789B7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57175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638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THINK TOGETHER,</a:t>
            </a:r>
          </a:p>
          <a:p xmlns:a="http://schemas.openxmlformats.org/drawingml/2006/main">
            <a:pPr algn="l">
              <a:defRPr sz="638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638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CREATE THE NEXT.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453B3-6FB8-4BD6-A569-D66827A4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66750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02254-4297-4117-AF68-7DD80716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05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小さく始めて、</a:t>
            </a:r>
            <a:r>
              <a:rPr sz="2550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確実に成果を積み上げる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22562-9E7A-42DB-B7E9-8247E5FE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提案クエストは、スモールスタートから始め、効果検証を行いながら段階的に展開することで、</a:t>
            </a:r>
          </a:p>
          <a:p xmlns:a="http://schemas.openxmlformats.org/drawingml/2006/main">
            <a:pPr algn="l">
              <a:defRPr sz="13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リスクを抑えつつ、確実に成果を創出します。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59AE9-6D5C-497D-A92E-365C01C9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857375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893A9-7DCA-4412-8034-8F45B7DA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192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導入ステップ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E1243-0869-4825-AC97-7B51AF80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95500"/>
            <a:ext cx="23050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2D92E-165D-4ACA-8568-0469AA0C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81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0952B-177F-4F24-8318-A07ECE84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B0489-7792-40E0-9858-2CAEE7A3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621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1〜2か月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73919-886A-4A23-B7EA-71E99686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81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トライアル実施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8A29B-D13A-4DD4-92B3-0F1CFF8C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771775"/>
            <a:ext cx="2305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99997-639F-493C-A75A-8D40748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867025"/>
            <a:ext cx="220028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CD4D1-65F9-45B6-9A1D-DE8D9CA1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981" y="2967038"/>
            <a:ext cx="12001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D04C1-E667-4E25-9DA8-7972D94E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981" y="3027045"/>
            <a:ext cx="12001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10238-8690-46DB-B8A4-720DD0CD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981" y="3087053"/>
            <a:ext cx="8001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CEB887-FE26-48BD-8C1D-E68AE97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099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・対象業務・部門を選定</a:t>
            </a:r>
          </a:p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・初期設定・操作トレーニング</a:t>
            </a:r>
          </a:p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・実案件での試行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163EA2-1B5A-4502-9441-7A78FE5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43350"/>
            <a:ext cx="230505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F0DE59-54E8-4047-8466-B7D3188A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814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まずは小さく始めて</a:t>
            </a:r>
          </a:p>
          <a:p xmlns:a="http://schemas.openxmlformats.org/drawingml/2006/main">
            <a:pPr algn="ctr">
              <a:def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使い勝手と効果を実感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D5A0B2-DC98-4AA4-AFA3-0112DBFE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57525"/>
            <a:ext cx="228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3B41B5-352A-4BA0-9DCC-1980221C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95500"/>
            <a:ext cx="23050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D1A288-3413-44EB-A971-50DC8CE1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81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D2F54A-E24D-4B24-BAAB-D0668B2A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383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0861CC-3C8E-45BA-9F25-3C0383CC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621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2〜3か月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5C9170-B5CE-4173-A32A-6758E9F9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効果検証・改善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1378AC-4730-4A12-967E-510ACBD6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71775"/>
            <a:ext cx="2305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7C005D-F2DD-4A23-A2FD-E65CC435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47060"/>
            <a:ext cx="29003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7A9885-6EF7-48F5-95FD-2184F5A5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67025"/>
            <a:ext cx="20003" cy="2800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E62FB7-26DF-4AAB-82B7-AD3851DB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656" y="3017044"/>
            <a:ext cx="50006" cy="130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1E4AF8-5378-4FE3-BC0D-D24B3F4E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666" y="2957036"/>
            <a:ext cx="50006" cy="190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EDE059-4038-4216-9A68-8F60A468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676" y="2897029"/>
            <a:ext cx="50006" cy="250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554BB9-F25B-405A-9EE0-0614A959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681" y="2897029"/>
            <a:ext cx="50006" cy="5000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1C2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455E6A-C3B3-4865-88EA-E7D45831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57500"/>
            <a:ext cx="130302" cy="13030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FFEDAD-3090-42D4-978E-C14B6DA7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065270" y="2960370"/>
            <a:ext cx="68580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13020F-FB5C-48CF-9350-FD96B3A4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099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・定量・定性の効果測定</a:t>
            </a:r>
          </a:p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・現場からのフィードバック収集</a:t>
            </a:r>
          </a:p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・運用ルールの最適化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6628C1-9120-41B6-843E-DD160B94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43350"/>
            <a:ext cx="230505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D02260-6F6F-49BE-9137-40D3D0D6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814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実データで効果を検証し</a:t>
            </a:r>
          </a:p>
          <a:p xmlns:a="http://schemas.openxmlformats.org/drawingml/2006/main">
            <a:pPr algn="ctr">
              <a:def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運用方法を改善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8A9D03-87D5-4604-886F-97CE539A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57525"/>
            <a:ext cx="228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490D7E-A4FB-411A-B712-35D0D192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95500"/>
            <a:ext cx="23050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11C8D5-1140-4B64-9FD5-16243A84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81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DF56B5-1748-4FF6-AADC-DEE70685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383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2FBD4E-144C-4566-A23E-3EA3BB5A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1621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4〜6か月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577F0B-7DC8-497B-92C8-50846ADC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81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本格導入・展開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FB7524-299B-41A6-AD20-B7AC70D3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71775"/>
            <a:ext cx="2305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A6DADA-B492-436C-8E81-40855BC4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336" y="2867025"/>
            <a:ext cx="90011" cy="9001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892E50-9008-4E01-91B4-9D327381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97029"/>
            <a:ext cx="70009" cy="700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BECB9C-3963-44C7-825F-1327AB4A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97029"/>
            <a:ext cx="70009" cy="700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EB582E-50A5-4268-B1E9-3B219EC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331" y="2997041"/>
            <a:ext cx="170021" cy="100013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0F5533-265F-4C9A-81CC-2B908C2D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324" y="3017044"/>
            <a:ext cx="90011" cy="8001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8BDAA4-3828-4C3B-8E8D-AC2ABA28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349" y="3017044"/>
            <a:ext cx="90011" cy="8001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67CF3B-5A31-4877-86A3-8D75753B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099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・対象部門の拡大</a:t>
            </a:r>
          </a:p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・機能の本格利用開始</a:t>
            </a:r>
          </a:p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・社内ナレッジの蓄積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85B6CC-DB12-4C6D-874C-ABAA59B8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943350"/>
            <a:ext cx="230505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7FD07D-EA07-4AB9-BE76-D8EE9F5C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814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全社展開し</a:t>
            </a:r>
          </a:p>
          <a:p xmlns:a="http://schemas.openxmlformats.org/drawingml/2006/main">
            <a:pPr algn="ctr">
              <a:def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提案力を標準化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A9091E-484E-40CB-9686-4E1F81C3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57525"/>
            <a:ext cx="228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11D870F-FF95-4328-979F-B007EA49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23050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4F54F6-54D5-409E-9845-5BC1EE9B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181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B3617F-4606-4D45-974F-EECF2D11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2383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33FAC0-E15E-4425-9410-578D4A28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6か月〜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94A5BAC-6D7F-4A94-AB1D-213532A0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定着・高度化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AF212EB-54CF-4867-941B-9EBDE4A5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71775"/>
            <a:ext cx="2305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6E980C1-3FFC-4B50-8C3A-379D463C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2005" y="2907030"/>
            <a:ext cx="200025" cy="2000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7D0B80-2EDC-4BBE-8FB1-EB569DBF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014" y="2977039"/>
            <a:ext cx="60008" cy="6000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C8AE9FE-2028-4F83-8272-24D87AEA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031" y="2987040"/>
            <a:ext cx="50006" cy="5000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80365B-304E-4B19-86FA-6F5B1A43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950" y="3078975"/>
            <a:ext cx="50006" cy="5000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61EDE91-9185-4FAB-AC8B-8EE30216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015" y="3117056"/>
            <a:ext cx="50006" cy="5000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8BB5A8-B09C-445E-AB8B-FC96BF42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080" y="3078975"/>
            <a:ext cx="50006" cy="5000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66240F-12E2-4FB2-AA00-F8BE22F3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999" y="2987040"/>
            <a:ext cx="50006" cy="5000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A6737B-13FB-41BC-813C-62D8E8D7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080" y="2895105"/>
            <a:ext cx="50006" cy="5000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E21E7A9-FD23-45DC-B1EB-FBE0CD78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015" y="2857024"/>
            <a:ext cx="50006" cy="5000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1F2F3B5-B2DF-49A0-A460-B4A25246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950" y="2895105"/>
            <a:ext cx="50006" cy="5000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539FE20-9871-4FB5-B319-C0B34739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99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・運用の定着支援</a:t>
            </a:r>
          </a:p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・追加機能の活用</a:t>
            </a:r>
          </a:p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・他システムとの連携強化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ED7AFF9-F7C9-4AB3-A205-ABD8A5B1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230505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0F2E7A0-AA68-4564-BBD0-DBCFFA86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814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より高度な活用で</a:t>
            </a:r>
          </a:p>
          <a:p xmlns:a="http://schemas.openxmlformats.org/drawingml/2006/main">
            <a:pPr algn="ctr">
              <a:def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さらなる成果を創出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783DD11-194C-412F-9A70-81C0D9A3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57525"/>
            <a:ext cx="228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0C52383-8016-45A1-AED3-6939D867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095500"/>
            <a:ext cx="2305050" cy="666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960224D-8AE2-46CD-8885-EEF3162A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81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550A85B-29B3-442D-84DA-4A62CE4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38375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AF2E8F0-0382-4846-B025-BE9516E2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1621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継続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160DFE8-1E85-46E8-8EF9-084568A1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81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継続的な改善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F1A5A90-59D0-4F62-B5A8-F76C7675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71775"/>
            <a:ext cx="2305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F1F4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9790865-3356-4989-BF33-C5212994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867025"/>
            <a:ext cx="280035" cy="28003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EF78AB7-6645-47B2-932B-69C49E78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703" y="2877026"/>
            <a:ext cx="90011" cy="30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A359617-1CFD-4DD9-B551-3E47AA5B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705" y="2877026"/>
            <a:ext cx="30004" cy="90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E8EE2F3-6F20-4AED-B48D-D1B16FBA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673" y="3107055"/>
            <a:ext cx="90011" cy="30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15C81D7-2F77-41C7-84F0-1EE956D2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676" y="3047048"/>
            <a:ext cx="30004" cy="90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5653752-821B-416E-A4FF-4541A75F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099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・定期レビューの実施</a:t>
            </a:r>
          </a:p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・新機能の取り込み</a:t>
            </a:r>
          </a:p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・継続的な効果最大化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317AE68-56B8-475D-BBB4-8B34D017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943350"/>
            <a:ext cx="2305050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07B5442-CC1A-41CD-8B9B-EC0E239F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9814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変化に合わせて進化し</a:t>
            </a:r>
          </a:p>
          <a:p xmlns:a="http://schemas.openxmlformats.org/drawingml/2006/main">
            <a:pPr algn="ctr">
              <a:def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長期的な価値を実現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17DBA4B-85D1-4A8B-B80B-6B904B7B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62915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EB65C6E-89B6-4BC8-9BE5-EE52AA9E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91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成功に向けたサポート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BEC5DCC-BFA4-4FA7-B2EB-89EA9AA6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958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60DBDDC-6376-4481-AFB8-D6C1CBFE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39" y="5067300"/>
            <a:ext cx="81439" cy="8143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9E71254-977F-47C7-9FC4-C6FDA231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4446"/>
            <a:ext cx="63341" cy="6334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1FBDA3B-63FD-450D-947D-CA979AE9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4446"/>
            <a:ext cx="63341" cy="6334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A6193C6-309A-4551-A58E-FC84BCAD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4" y="5184934"/>
            <a:ext cx="153829" cy="90488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F3E163F-5584-4CAE-806E-7451CBC8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" y="5203031"/>
            <a:ext cx="81439" cy="7239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33EAD89-D4F9-41A6-8B3D-71C77166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326" y="5203031"/>
            <a:ext cx="81439" cy="7239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B2FEE13-C163-4367-8A65-F9767AFF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専任チームによる伴走支援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838F12A-6D16-445D-A289-A119169F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導入から定着まで</a:t>
            </a:r>
          </a:p>
          <a:p xmlns:a="http://schemas.openxmlformats.org/drawingml/2006/main">
            <a:pPr algn="l">
              <a:def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一貫してサポートします。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6884AB8-CE05-4A7A-9E76-096D4FE9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958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49EDE4C-D5D0-4BD0-8A2B-4826B648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67300"/>
            <a:ext cx="126682" cy="226219"/>
          </a:xfrm>
          <a:prstGeom xmlns:a="http://schemas.openxmlformats.org/drawingml/2006/main" prst="parallelogram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376B0FB-DFD9-426C-9787-7E175564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383" y="5067300"/>
            <a:ext cx="126682" cy="226219"/>
          </a:xfrm>
          <a:prstGeom xmlns:a="http://schemas.openxmlformats.org/drawingml/2006/main" prst="parallelogram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476EBA2-0F79-4144-A0F9-2A9832CB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383" y="5085398"/>
            <a:ext cx="18098" cy="1900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9ED3361-3E4C-4533-BB35-DEC989AA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846" y="5148739"/>
            <a:ext cx="6334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B3B60BD-BD74-48EB-9913-B06E8E88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578" y="5148739"/>
            <a:ext cx="6334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286392-6C1F-4F2E-98E8-151711D4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846" y="5203031"/>
            <a:ext cx="6334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8725711-0696-4901-8C14-94DB5F92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578" y="5203031"/>
            <a:ext cx="6334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16E3E8A-04D8-4855-B17B-C01C35AD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911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実践的なトレーニング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9580212-0DEC-4D2E-904F-95D5EED3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340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現場ですぐ使える</a:t>
            </a:r>
          </a:p>
          <a:p xmlns:a="http://schemas.openxmlformats.org/drawingml/2006/main">
            <a:pPr algn="l">
              <a:def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ハンズオンを提供します。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44784A0-2BF3-4EE7-8B0B-24DD14DE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958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44669D4-7C9E-4B82-99FE-EBAD684D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20665"/>
            <a:ext cx="26241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4247984-5996-420D-B056-65DC006B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67300"/>
            <a:ext cx="18098" cy="253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DB91589-361E-4062-8F64-5248EC2B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244" y="5203031"/>
            <a:ext cx="45244" cy="1176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4E94F08-6390-49E6-BB9B-97D3D872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634" y="5148739"/>
            <a:ext cx="45244" cy="1719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D2BBDE1-5E09-4EF3-BEB9-C6CB3DC4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024" y="5094446"/>
            <a:ext cx="45244" cy="2262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725456C-5341-4E46-A7DC-DC7241DF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219" y="5094446"/>
            <a:ext cx="45244" cy="4524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1C24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849A32A-D731-48BF-B6FE-C0781A03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911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効果測定レポート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320C68D-80CF-465B-8BE2-0584958C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340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定量・定性の両面から</a:t>
            </a:r>
          </a:p>
          <a:p xmlns:a="http://schemas.openxmlformats.org/drawingml/2006/main">
            <a:pPr algn="l">
              <a:def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成果を可視化します。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4C5CE34-AA91-4AA0-88F9-6E7FCD66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958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4907588-3CED-45B7-9FEE-BB2B013F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544" y="5067300"/>
            <a:ext cx="162877" cy="16287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513FF4F-A2F6-406E-9B6F-D2BD37CC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88" y="5230178"/>
            <a:ext cx="72390" cy="54292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ED1C24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E379DD2-4E4B-4953-8362-BAC92C56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690" y="5329714"/>
            <a:ext cx="10858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38E8B0B-B7B8-445D-89C7-FE932482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934" y="5022056"/>
            <a:ext cx="452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9702EB9-F645-4EF9-BC63-7A9E7DCA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934" y="5275421"/>
            <a:ext cx="452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6EE116B-0808-4FD7-98D2-49259AC1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48739"/>
            <a:ext cx="452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1554229-9836-4D96-8183-69AB9177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568" y="5148739"/>
            <a:ext cx="4524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ECCC093-B8DA-4C43-A033-F6A8A69E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911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継続的な改善提案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9F1A4E5-56F7-4455-BDCD-38788226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340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最新のAI技術や</a:t>
            </a:r>
          </a:p>
          <a:p xmlns:a="http://schemas.openxmlformats.org/drawingml/2006/main">
            <a:pPr algn="l">
              <a:def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ベストプラクティスをご提案します。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2ABC068-578B-4901-9805-1795DBDD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38675"/>
            <a:ext cx="3238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3774949-7015-4F13-BDF3-8FED41B2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720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1C2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D1C24"/>
                </a:solidFill>
                <a:latin typeface="Yu Gothic"/>
                <a:ea typeface="Yu Gothic"/>
                <a:cs typeface="Yu Gothic"/>
              </a:rPr>
              <a:t>まずはご相談ください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D68CFBF-3AC1-4269-9C3C-7D49B132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95875"/>
            <a:ext cx="276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貴社の状況に合わせた最適な導入プランを</a:t>
            </a:r>
          </a:p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ご提案いたします。小さな一歩から、</a:t>
            </a:r>
          </a:p>
          <a:p xmlns:a="http://schemas.openxmlformats.org/drawingml/2006/main">
            <a:pPr algn="l">
              <a:def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一緒に未来の成果をつくっていきましょう。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E2290E0-DBE6-439F-9362-21145104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657850"/>
            <a:ext cx="2800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93F7CF0-F919-4A45-BC39-925238E7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724525"/>
            <a:ext cx="242888" cy="164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0A8A52E-3112-4B95-B11C-BBB4AC76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">
            <a:off x="9344025" y="5753100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AD4E2F7-01B6-4C12-9E96-FD4AB2D6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40000">
            <a:off x="9415463" y="5824538"/>
            <a:ext cx="114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3DB9F49-4450-42B6-A034-CBD63BE4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705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お問い合わせ・ご相談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BC7EA35-92DA-40E7-A041-5614C553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0">
            <a:off x="333375" y="6400800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F3B4CEB-E4B5-4DDC-A4F5-CDBDA323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0">
            <a:off x="352425" y="6496050"/>
            <a:ext cx="171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1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9EBBA75-D5EE-4FD9-974D-2817252A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0">
            <a:off x="371475" y="6591300"/>
            <a:ext cx="171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D2E4C2F-2404-47B2-B544-CBB72D56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400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提案クエスト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68417AB-76B5-4938-B660-F1C82F35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400800"/>
            <a:ext cx="9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B85A960-D169-4080-9FD7-93BC025E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3722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人とテクノロジーで、より良い社会をつくる</a:t>
            </a:r>
          </a:p>
          <a:p xmlns:a="http://schemas.openxmlformats.org/drawingml/2006/main">
            <a:pPr algn="l">
              <a:def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Think Together, Create the Next.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F23AA18-D8D9-4BAB-BFB9-91CBE18B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904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defRPr>
            </a:pPr>
            <a:r>
              <a:rPr sz="750" b="1">
                <a:solidFill>
                  <a:srgbClr val="0E1A2D"/>
                </a:solidFill>
                <a:latin typeface="Yu Gothic"/>
                <a:ea typeface="Yu Gothic"/>
                <a:cs typeface="Yu Gothic"/>
              </a:rPr>
              <a:t>2026.08.26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10087B8-0C15-4E0C-8B84-F98E5305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457950"/>
            <a:ext cx="24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4758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2026-09-20T22:29:34.7830000Z</dcterms:created>
  <dcterms:modified xsi:type="dcterms:W3CDTF">2026-09-20T22:29:34.7830000Z</dcterms:modified>
</coreProperties>
</file>