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5fae9fd91c4db2" /><Relationship Type="http://schemas.openxmlformats.org/officeDocument/2006/relationships/extended-properties" Target="/docProps/app.xml" Id="Rd19660aee31e46cf" /><Relationship Type="http://schemas.openxmlformats.org/officeDocument/2006/relationships/officeDocument" Target="/ppt/presentation.xml" Id="R64a5a21ae63f4c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a4a0dc0c194dee"/>
  </p:sldMasterIdLst>
  <p:notesMasterIdLst>
    <p:notesMasterId xmlns:r="http://schemas.openxmlformats.org/officeDocument/2006/relationships" r:id="Rfce1a4171a5444df"/>
  </p:notesMasterIdLst>
  <p:sldIdLst>
    <p:sldId xmlns:r="http://schemas.openxmlformats.org/officeDocument/2006/relationships" id="256" r:id="Ra8c17b6ee8ee4191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0d3edf6acb4c63" /><Relationship Type="http://schemas.openxmlformats.org/officeDocument/2006/relationships/slideMaster" Target="/ppt/slideMasters/slideMaster1.xml" Id="Rfca4a0dc0c194dee" /><Relationship Type="http://schemas.openxmlformats.org/officeDocument/2006/relationships/notesMaster" Target="/ppt/notesMasters/notesMaster1.xml" Id="Rfce1a4171a5444df" /><Relationship Type="http://schemas.openxmlformats.org/officeDocument/2006/relationships/presProps" Target="/ppt/presProps.xml" Id="R6b9bed7181434d94" /><Relationship Type="http://schemas.openxmlformats.org/officeDocument/2006/relationships/tableStyles" Target="/ppt/tableStyles.xml" Id="R575e44f206ec4b08" /><Relationship Type="http://schemas.openxmlformats.org/officeDocument/2006/relationships/slide" Target="/ppt/slides/slide1.xml" Id="Ra8c17b6ee8ee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c4dbdd44bd43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f02d8a10b546d2" /><Relationship Type="http://schemas.openxmlformats.org/officeDocument/2006/relationships/notesMaster" Target="/ppt/notesMasters/notesMaster1.xml" Id="R95ebac61b81949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S07 replacement Native Trace built from the approved Canonical source. Sample labels and values are trace-only; no production evidence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b6c4c993a42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d33ba45991473f" /><Relationship Type="http://schemas.openxmlformats.org/officeDocument/2006/relationships/slideLayout" Target="/ppt/slideLayouts/slideLayout1.xml" Id="Re6312a7e1358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312a7e1358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7e682231142c0" /><Relationship Type="http://schemas.openxmlformats.org/officeDocument/2006/relationships/image" Target="/ppt/media/image.png" Id="Rf739e4e5d6a04564" /><Relationship Type="http://schemas.openxmlformats.org/officeDocument/2006/relationships/notesSlide" Target="/ppt/notesSlides/notesSlide1.xml" Id="R2da2b1b5020d43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0877A400-30A2-4DCE-9DDA-468B4294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S07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1CE37-3D0B-4EAD-AB58-CD31FEDC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システム構成と情報連携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34A0F-177F-4F55-9552-ECC75C34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71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提案</a:t>
            </a:r>
            <a:r>
              <a:rPr sz="21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クエスト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4A7FD-FC7C-4BAA-96A1-8104CBCB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90550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825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AIで、提案をもっと速く、もっと強く。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27491-41C6-4DEE-A02C-6AB8B340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619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THINK TOGETHER,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CREATE THE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77401-604B-404D-BE1F-F5E5CD08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47725"/>
            <a:ext cx="147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F519F-F6C9-452E-B3CB-BB59D75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8477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1051D-C3FA-43D4-BA46-71C2A5A8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既存環境と連携し、段階的に導入できる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9DA79-982B-4167-A106-E6F6499A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シンプルで拡張性の高い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6D556-32D2-47BF-8333-E6432A8E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0967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システム構成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A8A0A-25DE-4A54-9DC5-3B596EE9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75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275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既存の業務システム・データと連携し、セキュアな環境でAIを活用。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75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275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スモールスタートから段階的に拡張できる、柔軟で実現性の高い構成です。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62409-1276-4555-81CA-AA99EC0A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0"/>
            <a:ext cx="3971925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492D9-9DB2-4F5F-887F-A4461C3A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0"/>
            <a:ext cx="1809750" cy="4095750"/>
          </a:xfrm>
          <a:custGeom xmlns:a="http://schemas.openxmlformats.org/drawingml/2006/main">
            <a:pathLst>
              <a:path w="1809750" h="4095750">
                <a:moveTo>
                  <a:pt x="857250" y="0"/>
                </a:moveTo>
                <a:lnTo>
                  <a:pt x="1619250" y="0"/>
                </a:lnTo>
                <a:lnTo>
                  <a:pt x="762000" y="4095750"/>
                </a:lnTo>
                <a:lnTo>
                  <a:pt x="0" y="4095750"/>
                </a:lnTo>
                <a:close/>
              </a:path>
            </a:pathLst>
          </a:cu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CC86A-18E7-4B09-A54B-4E3FFE03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0"/>
            <a:ext cx="1381125" cy="6953250"/>
          </a:xfrm>
          <a:custGeom xmlns:a="http://schemas.openxmlformats.org/drawingml/2006/main">
            <a:pathLst>
              <a:path w="1381125" h="6953250">
                <a:moveTo>
                  <a:pt x="666750" y="0"/>
                </a:moveTo>
                <a:lnTo>
                  <a:pt x="1066800" y="0"/>
                </a:lnTo>
                <a:lnTo>
                  <a:pt x="400050" y="6953250"/>
                </a:lnTo>
                <a:lnTo>
                  <a:pt x="0" y="6953250"/>
                </a:lnTo>
                <a:close/>
              </a:path>
            </a:pathLst>
          </a:custGeom>
          <a:solidFill xmlns:a="http://schemas.openxmlformats.org/drawingml/2006/main">
            <a:srgbClr val="B9D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D3B32-41F5-47EB-A867-2DDF3CA1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0"/>
            <a:ext cx="2066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20490-F9FF-434E-A19F-688E19B6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10477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9A100-2BF8-413A-A299-8871CBE3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2838450"/>
            <a:ext cx="4000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7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6F5EF-FBEC-420D-8535-4D496283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2266950"/>
            <a:ext cx="5238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5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79FF5-7A01-43D7-9FCD-1E4D1F73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1809750"/>
            <a:ext cx="371475" cy="393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1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86427-39E6-45F8-8AE8-68EC3706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990850"/>
            <a:ext cx="323850" cy="275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026F24-5097-4DE4-AFD8-21A262F9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304800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8B27B-F709-48B7-A00B-EAEAA5FA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3324225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5C510E-255E-4032-9B14-15265B42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360045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C1099-ABE5-4076-98CA-5D465DBB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571750"/>
            <a:ext cx="114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1C15D-8C2A-40BB-A839-636ADE0C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2325" y="2571750"/>
            <a:ext cx="114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DAFCB-1165-4FC7-AFC9-4ECF1F54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876550"/>
            <a:ext cx="114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AB40D-941D-452C-AA15-8696645C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2325" y="2876550"/>
            <a:ext cx="114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238BD3-2243-4859-A458-A29B4D88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2143125"/>
            <a:ext cx="85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D8383B-B8A9-44FE-B215-F24A8CD2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2143125"/>
            <a:ext cx="85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721F8D-CEE7-43B5-960F-A61DB54C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2457450"/>
            <a:ext cx="85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766854-AB2D-4358-907B-3270C6D0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2457450"/>
            <a:ext cx="85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C149FA-427A-4ABB-804B-97C284EA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329565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FFD57A-D2D3-4615-97DF-136A7592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3581400"/>
            <a:ext cx="9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4251AB-5AB7-41E1-8551-4A2CA2C2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5476875"/>
            <a:ext cx="1952625" cy="323850"/>
          </a:xfrm>
          <a:custGeom xmlns:a="http://schemas.openxmlformats.org/drawingml/2006/main">
            <a:pathLst>
              <a:path w="1952625" h="323850">
                <a:moveTo>
                  <a:pt x="0" y="171450"/>
                </a:moveTo>
                <a:lnTo>
                  <a:pt x="1905000" y="0"/>
                </a:lnTo>
                <a:lnTo>
                  <a:pt x="1952625" y="152400"/>
                </a:lnTo>
                <a:lnTo>
                  <a:pt x="57150" y="323850"/>
                </a:lnTo>
                <a:close/>
              </a:path>
            </a:pathLst>
          </a:custGeom>
          <a:solidFill xmlns:a="http://schemas.openxmlformats.org/drawingml/2006/main">
            <a:srgbClr val="A97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B1337D-AE2F-479F-A3D6-25422B3E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4829175"/>
            <a:ext cx="9334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5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621580-68E2-48CD-86B5-9ADEA24B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5400675"/>
            <a:ext cx="1047750" cy="133350"/>
          </a:xfrm>
          <a:custGeom xmlns:a="http://schemas.openxmlformats.org/drawingml/2006/main">
            <a:pathLst>
              <a:path w="1047750" h="133350">
                <a:moveTo>
                  <a:pt x="0" y="0"/>
                </a:moveTo>
                <a:lnTo>
                  <a:pt x="1047750" y="0"/>
                </a:lnTo>
                <a:lnTo>
                  <a:pt x="923925" y="133350"/>
                </a:lnTo>
                <a:lnTo>
                  <a:pt x="133350" y="133350"/>
                </a:lnTo>
                <a:close/>
              </a:path>
            </a:pathLst>
          </a:custGeom>
          <a:solidFill xmlns:a="http://schemas.openxmlformats.org/drawingml/2006/main">
            <a:srgbClr val="283C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CCC066-8048-4B6A-910E-F3046656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019550"/>
            <a:ext cx="3228975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6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1DCBD4-415E-4CB6-BFC5-339996A7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2862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635FFF-25A1-49B8-8718-81EBB205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524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既存の資産を活かし</a:t>
            </a:r>
          </a:p>
          <a:p xmlns:a="http://schemas.openxmlformats.org/drawingml/2006/main">
            <a:r>
              <a:rPr sz="1950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より大きな成果</a:t>
            </a:r>
            <a:r>
              <a:rPr sz="19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へ。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A62E0D-BA3E-402B-9A63-6F17C5B1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55245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今あるデータ・仕組みとつなぎ、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AIで提案業務を進化させます。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まずは特定部門からスモールスタートし、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05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効果を見ながら全社へと拡張していきます。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54ACDD-32C5-479C-BBEF-142775B7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00325"/>
            <a:ext cx="25908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6B729E-723A-45E5-8486-3B912711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00325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A00D6A-8C22-4F38-BDBA-9794902F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86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データソース（既存環境）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849960-F05A-4A4E-9713-AA2D5E3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2400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90A86D-A459-4EF2-91DD-325646B3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" y="3238500"/>
            <a:ext cx="308610" cy="1114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5A1227-2382-4240-878B-F9A59E78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" y="3298508"/>
            <a:ext cx="30861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5C708F-DAD8-4B4C-B8FA-A28389EA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" y="3478530"/>
            <a:ext cx="308610" cy="1114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862F52-61D9-4007-B0CE-5E4E19E6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基幹システム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F78CE9-B5FD-4760-B3D1-E650C6B4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194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9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（顧客・商品・取引データ）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0DF224-6743-4A1B-A61C-4CFDB976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2400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A146C8-32EA-417C-AB58-7842E8BF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4067175"/>
            <a:ext cx="25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032999-C9CF-4229-99BD-61922151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8" y="4067175"/>
            <a:ext cx="120015" cy="120015"/>
          </a:xfrm>
          <a:custGeom xmlns:a="http://schemas.openxmlformats.org/drawingml/2006/main">
            <a:pathLst>
              <a:path w="120015" h="120015">
                <a:moveTo>
                  <a:pt x="0" y="0"/>
                </a:moveTo>
                <a:lnTo>
                  <a:pt x="120015" y="120015"/>
                </a:lnTo>
                <a:lnTo>
                  <a:pt x="0" y="1200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E084A7-87D5-41B0-AF71-A90E2CF0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3" y="4204335"/>
            <a:ext cx="128588" cy="21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FD765B-4EEA-48EF-B07D-585CA236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3" y="4281488"/>
            <a:ext cx="128588" cy="21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09D7C7-71E7-4523-940D-325A6D70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2907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社内ドキュメント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0EF441-B174-42DC-9A0D-3BF17325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48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9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（提案資料・技術資料・事例）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19D187-2197-430D-873A-C271A8AF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2400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1D564B-E6FF-44C3-B8A1-644291EC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" y="4899660"/>
            <a:ext cx="137160" cy="1371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4DB5CE-B947-4CC0-B993-0E430191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4953000"/>
            <a:ext cx="106680" cy="1066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960FA33-E2CA-4E21-B5AE-47FCAB9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" y="4953000"/>
            <a:ext cx="106680" cy="1066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2508ED-06F5-4D8B-B291-0B01C6E6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59680"/>
            <a:ext cx="304800" cy="182880"/>
          </a:xfrm>
          <a:custGeom xmlns:a="http://schemas.openxmlformats.org/drawingml/2006/main">
            <a:pathLst>
              <a:path w="304800" h="182880">
                <a:moveTo>
                  <a:pt x="0" y="182880"/>
                </a:moveTo>
                <a:lnTo>
                  <a:pt x="30480" y="60960"/>
                </a:lnTo>
                <a:lnTo>
                  <a:pt x="99060" y="0"/>
                </a:lnTo>
                <a:lnTo>
                  <a:pt x="205740" y="0"/>
                </a:lnTo>
                <a:lnTo>
                  <a:pt x="274320" y="60960"/>
                </a:lnTo>
                <a:lnTo>
                  <a:pt x="304800" y="1828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BA2F57-070A-4199-9E0A-E362489F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577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営業・顧客情報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EE4AA9-C1F6-4107-BA19-F76AF1CF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768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9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（SFA / CRM）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0299BA-4EFD-4667-8D05-C8DF20AD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2400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CF1352-78AE-429A-B0B0-A27DDA04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" y="5766435"/>
            <a:ext cx="335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569F542-685A-4786-A50C-5513785E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" y="6010275"/>
            <a:ext cx="42672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8E19D6D-42B5-4D0C-8CAA-2A4057C5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8642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外部情報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98E8D8A-627A-464D-B7C6-2678EC9A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90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9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（市場・競合・ニュース等）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BD2FC37-BBA8-480A-B377-48291E33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00325"/>
            <a:ext cx="536257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B4154C3-A429-4DF2-8E73-FE3A6E4E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00325"/>
            <a:ext cx="5362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C4C883E-12F1-49B7-BEB3-80FF1D81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860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提案クエスト（本構成）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5B9E16-50F2-48F1-8B35-4F88F3A1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95625"/>
            <a:ext cx="14954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EC89FCB-5060-40AD-8552-9F21C825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95625"/>
            <a:ext cx="1495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C097FF0-52C2-4E48-BD16-627C35F0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81350"/>
            <a:ext cx="1276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データ統合・蓄積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659A561-7670-40D7-817D-931AB493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3705225"/>
            <a:ext cx="308610" cy="1114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6ABC29-7349-4683-B70B-2BF744C5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3765233"/>
            <a:ext cx="30861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C852ED4-AB97-49F0-B551-CEC0CCB1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3945255"/>
            <a:ext cx="308610" cy="1114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9C021F-A286-43E9-AFC4-073417C1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0957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データレイク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EF9CAF1-B039-4FE5-B16F-81789F78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338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8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（構造化・非構造化）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735F729-392F-4CFE-A58F-3864AE0B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93" y="4714875"/>
            <a:ext cx="291465" cy="10525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2CA7119-53FF-4C28-95E3-C57A333D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93" y="4771549"/>
            <a:ext cx="29146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DE49561-AA8F-4305-8884-8C1D7E9C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93" y="4941570"/>
            <a:ext cx="291465" cy="10525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58F9CE1-F4B7-4E72-B9BB-F945CEBB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958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ベクトルDB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817744E-F527-428A-99D5-2E89AC6D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05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8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（社内ナレッジ検索）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9FFDF44-2340-4705-821A-DD9422D1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95625"/>
            <a:ext cx="159067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F046FB7-E52C-49A1-889B-384E5810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95625"/>
            <a:ext cx="15906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84C327A-2413-4CE3-AA94-8AB39528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81350"/>
            <a:ext cx="1190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AIエンジン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DFCA183-F76F-4599-9A1B-658D21FE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404" y="3765233"/>
            <a:ext cx="170021" cy="34004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1B2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61296C9-3DC5-4141-BFC6-96960508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65233"/>
            <a:ext cx="170021" cy="34004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31B2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4A6F764-DF08-40AE-8A42-100E1100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329" y="3765233"/>
            <a:ext cx="16193" cy="3562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D8DC3C5-323D-402C-9093-1859F811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634" y="3846195"/>
            <a:ext cx="64770" cy="242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2BDC55C-3E50-4295-AA2C-160134A6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46" y="3983831"/>
            <a:ext cx="64770" cy="242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1CA5DD2-2065-422D-9C2D-18916184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826" y="4024313"/>
            <a:ext cx="64770" cy="242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B38B44B-1DEB-45D9-B358-738FB1E4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254" y="3862388"/>
            <a:ext cx="64770" cy="242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C2AB2AF-1D39-458A-B697-B63F4F00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719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生成AI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16E53BD-A762-44A1-B7CC-6A2F989D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10075"/>
            <a:ext cx="1400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75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（提案コンテンツ生成・分析）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0C48BF1-E727-4E42-B088-9190BEB8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81525"/>
            <a:ext cx="14001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F1D2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0DD0220-F5C5-475F-9E31-FBFE750F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95825"/>
            <a:ext cx="54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RAG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692AC82-551B-4DC1-A9CB-17522114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5300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8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（社内データを参照した</a:t>
            </a:r>
          </a:p>
          <a:p xmlns:a="http://schemas.openxmlformats.org/drawingml/2006/main">
            <a:pPr algn="ctr">
              <a:buNone/>
              <a:defRPr sz="825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825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高精度な生成）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9B83181-67D7-4607-A601-36F594F9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95625"/>
            <a:ext cx="14954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176644E-6CE8-475D-8F6F-8A9AF314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95625"/>
            <a:ext cx="1495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F8A4EFD-F973-4852-A08B-89003E15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1257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アプリケーション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BCFEEAE-ABFB-4374-B371-EEFB383A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769" y="3733800"/>
            <a:ext cx="2143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22800D0-D989-4B80-B587-187B9060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069" y="3733800"/>
            <a:ext cx="100013" cy="100013"/>
          </a:xfrm>
          <a:custGeom xmlns:a="http://schemas.openxmlformats.org/drawingml/2006/main">
            <a:pathLst>
              <a:path w="100013" h="100013">
                <a:moveTo>
                  <a:pt x="0" y="0"/>
                </a:moveTo>
                <a:lnTo>
                  <a:pt x="100013" y="100013"/>
                </a:lnTo>
                <a:lnTo>
                  <a:pt x="0" y="100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4A56658-E99A-4736-8796-236DF856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631" y="3848100"/>
            <a:ext cx="107156" cy="178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F688671-577D-41AC-83A6-75596C80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631" y="3912394"/>
            <a:ext cx="107156" cy="178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8A6CAC7-A748-46BE-B5C7-EE18D5EB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931" y="3869531"/>
            <a:ext cx="92869" cy="21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1C68FB0-A61C-4AA6-A703-69FADA85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909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提案書自動生成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2CBA68F-38BE-4B10-94E5-926722D6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57700"/>
            <a:ext cx="57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DB5D564-96F2-46B8-9800-F51F7811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206" y="4371975"/>
            <a:ext cx="57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810BFD0-5A70-47E0-BE21-2007A9DD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363" y="4293394"/>
            <a:ext cx="57150" cy="33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2A19C18-026A-4050-BA53-A8A3C132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629150"/>
            <a:ext cx="357188" cy="21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B981F71-5AC2-4B46-B426-AE57BA91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100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分析・示唆出し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394E45A-AB19-40D4-9203-4B2BAE8D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918" y="4863465"/>
            <a:ext cx="120015" cy="1200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7513239-C979-42F9-9435-3CEDF68C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1903" y="4910138"/>
            <a:ext cx="93345" cy="9334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A3818C4-616B-43AC-AF99-2C552DAE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603" y="4910138"/>
            <a:ext cx="93345" cy="9334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1B489D7-DB8B-433A-863F-9317A929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003483"/>
            <a:ext cx="266700" cy="160020"/>
          </a:xfrm>
          <a:custGeom xmlns:a="http://schemas.openxmlformats.org/drawingml/2006/main">
            <a:pathLst>
              <a:path w="266700" h="160020">
                <a:moveTo>
                  <a:pt x="0" y="160020"/>
                </a:moveTo>
                <a:lnTo>
                  <a:pt x="26670" y="53340"/>
                </a:lnTo>
                <a:lnTo>
                  <a:pt x="86678" y="0"/>
                </a:lnTo>
                <a:lnTo>
                  <a:pt x="180023" y="0"/>
                </a:lnTo>
                <a:lnTo>
                  <a:pt x="240030" y="53340"/>
                </a:lnTo>
                <a:lnTo>
                  <a:pt x="266700" y="1600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2E5B85C-3D1A-46C1-9603-6D76E224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33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共同編集・レビュー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294EB69-5726-42C6-AB0B-37B9450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095750"/>
            <a:ext cx="742950" cy="266700"/>
          </a:xfrm>
          <a:custGeom xmlns:a="http://schemas.openxmlformats.org/drawingml/2006/main">
            <a:pathLst>
              <a:path w="742950" h="266700">
                <a:moveTo>
                  <a:pt x="0" y="76200"/>
                </a:moveTo>
                <a:lnTo>
                  <a:pt x="571500" y="76200"/>
                </a:lnTo>
                <a:lnTo>
                  <a:pt x="571500" y="0"/>
                </a:lnTo>
                <a:lnTo>
                  <a:pt x="742950" y="133350"/>
                </a:lnTo>
                <a:lnTo>
                  <a:pt x="571500" y="266700"/>
                </a:lnTo>
                <a:lnTo>
                  <a:pt x="571500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555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646E3E1-AAE3-4850-A63B-C344E9F0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76750"/>
            <a:ext cx="714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データ連携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F68BAA2-8FB3-4D76-9EF8-CEFCC8D2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95825"/>
            <a:ext cx="809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75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（API・ファイル連携）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E0F457E-7A0F-4838-A93B-72E2958E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95750"/>
            <a:ext cx="257175" cy="266700"/>
          </a:xfrm>
          <a:custGeom xmlns:a="http://schemas.openxmlformats.org/drawingml/2006/main">
            <a:pathLst>
              <a:path w="257175" h="266700">
                <a:moveTo>
                  <a:pt x="0" y="76200"/>
                </a:moveTo>
                <a:lnTo>
                  <a:pt x="85725" y="76200"/>
                </a:lnTo>
                <a:lnTo>
                  <a:pt x="85725" y="0"/>
                </a:lnTo>
                <a:lnTo>
                  <a:pt x="257175" y="133350"/>
                </a:lnTo>
                <a:lnTo>
                  <a:pt x="85725" y="266700"/>
                </a:lnTo>
                <a:lnTo>
                  <a:pt x="85725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555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D8E0115-0ACF-4415-8AAA-E8096203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95750"/>
            <a:ext cx="276225" cy="266700"/>
          </a:xfrm>
          <a:custGeom xmlns:a="http://schemas.openxmlformats.org/drawingml/2006/main">
            <a:pathLst>
              <a:path w="276225" h="266700">
                <a:moveTo>
                  <a:pt x="0" y="76200"/>
                </a:moveTo>
                <a:lnTo>
                  <a:pt x="104775" y="76200"/>
                </a:lnTo>
                <a:lnTo>
                  <a:pt x="104775" y="0"/>
                </a:lnTo>
                <a:lnTo>
                  <a:pt x="276225" y="133350"/>
                </a:lnTo>
                <a:lnTo>
                  <a:pt x="104775" y="266700"/>
                </a:lnTo>
                <a:lnTo>
                  <a:pt x="104775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555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C3EC4AC-C324-4487-8604-BC8D4D71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00725"/>
            <a:ext cx="5048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F40CAF2-0CB8-46AF-B7D9-D589FB4E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019800"/>
            <a:ext cx="190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76A4B22-BD7D-48F2-817B-40A1B086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924550"/>
            <a:ext cx="133350" cy="1619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182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6FAF4E6-7FA9-4E93-AEC9-3BE11546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67425"/>
            <a:ext cx="3810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61D43E0-E16C-44DF-A742-D6023069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8959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セキュリティ・ガバナンス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006B4D5-67B3-4815-BD55-AF1FF65C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34100"/>
            <a:ext cx="3667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75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（アクセス制御・ログ管理・データ保護・各種コンプライアンス対応）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F264799-11C9-4A17-BE98-D31C4A37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553075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C71DCD9-601A-41B1-A74A-2B8D87B6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505450"/>
            <a:ext cx="171450" cy="85725"/>
          </a:xfrm>
          <a:custGeom xmlns:a="http://schemas.openxmlformats.org/drawingml/2006/main">
            <a:pathLst>
              <a:path w="171450" h="85725">
                <a:moveTo>
                  <a:pt x="0" y="85725"/>
                </a:moveTo>
                <a:lnTo>
                  <a:pt x="85725" y="0"/>
                </a:lnTo>
                <a:lnTo>
                  <a:pt x="171450" y="85725"/>
                </a:lnTo>
                <a:close/>
              </a:path>
            </a:pathLst>
          </a:cu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B6256AE-7ACC-449A-BA18-C85A51AA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53075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0230EE6-883E-42D7-900B-8D6968D3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05450"/>
            <a:ext cx="171450" cy="85725"/>
          </a:xfrm>
          <a:custGeom xmlns:a="http://schemas.openxmlformats.org/drawingml/2006/main">
            <a:pathLst>
              <a:path w="171450" h="85725">
                <a:moveTo>
                  <a:pt x="0" y="85725"/>
                </a:moveTo>
                <a:lnTo>
                  <a:pt x="85725" y="0"/>
                </a:lnTo>
                <a:lnTo>
                  <a:pt x="171450" y="85725"/>
                </a:lnTo>
                <a:close/>
              </a:path>
            </a:pathLst>
          </a:cu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9D48ECC-05ED-423B-B321-22FE4B31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553075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C3D20CF-2D81-4C98-91CB-04034BDA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05450"/>
            <a:ext cx="171450" cy="85725"/>
          </a:xfrm>
          <a:custGeom xmlns:a="http://schemas.openxmlformats.org/drawingml/2006/main">
            <a:pathLst>
              <a:path w="171450" h="85725">
                <a:moveTo>
                  <a:pt x="0" y="85725"/>
                </a:moveTo>
                <a:lnTo>
                  <a:pt x="85725" y="0"/>
                </a:lnTo>
                <a:lnTo>
                  <a:pt x="171450" y="85725"/>
                </a:lnTo>
                <a:close/>
              </a:path>
            </a:pathLst>
          </a:cu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657724E-75E3-4D36-9890-2E2F0A64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0325"/>
            <a:ext cx="254317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E0F3B2B-452F-4904-B2BE-28411F37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0325"/>
            <a:ext cx="2543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41F4FB4-0AA7-4DB3-8242-FD203FC1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860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出力・活用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8CA4485-2769-450C-94C1-4773C5E9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76575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4C69D20-2855-4B5F-A493-00BBD53C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3238500"/>
            <a:ext cx="25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6A4A195-744D-4D70-B143-9EE6BD4D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3238500"/>
            <a:ext cx="120015" cy="120015"/>
          </a:xfrm>
          <a:custGeom xmlns:a="http://schemas.openxmlformats.org/drawingml/2006/main">
            <a:pathLst>
              <a:path w="120015" h="120015">
                <a:moveTo>
                  <a:pt x="0" y="0"/>
                </a:moveTo>
                <a:lnTo>
                  <a:pt x="120015" y="120015"/>
                </a:lnTo>
                <a:lnTo>
                  <a:pt x="0" y="1200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4E04EDC-D98B-410F-A8E5-3F3087E4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548" y="3375660"/>
            <a:ext cx="128588" cy="21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E86BA87-B908-46DA-A42E-DA194359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548" y="3452813"/>
            <a:ext cx="128588" cy="21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8D01634-552A-4C5E-B3F5-E6F13EEB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200400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提案書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75D4A3B-3751-4590-8F08-10AC3E60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4194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9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（PPT / PDF / Word）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9374EBC-7010-4EB2-8B49-E8153E1E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0525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6A1585C-78B6-4D2B-B3F9-986F4FA1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08145"/>
            <a:ext cx="609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6535337-EAD0-47A6-8FF9-7D4D0B1B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16705"/>
            <a:ext cx="609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96C3037-681A-4D30-B55F-11C12FEF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32885"/>
            <a:ext cx="60960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A8D46F9-B1F5-42BB-818E-1ECB1A89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820" y="4391025"/>
            <a:ext cx="3810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E94C6F7-8194-46FD-B184-0793BAC7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029075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提案の裏付けデータ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92A6F45-1287-4FD0-839A-EB8DA4AB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2481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9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（グラフ・根拠資料）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BE57F72-4499-49A0-AB5B-9FBA97A6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33925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29C320F-4005-4944-A9CD-F325AE44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0" y="4899660"/>
            <a:ext cx="137160" cy="1371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EC91AD4-83C9-4878-BF87-6BAAE147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4953000"/>
            <a:ext cx="106680" cy="1066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4EFC623-1C5E-47DF-B1CF-7BE29457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760" y="4953000"/>
            <a:ext cx="106680" cy="1066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446357F-BBC6-403D-B6D4-695D8BB6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59680"/>
            <a:ext cx="304800" cy="182880"/>
          </a:xfrm>
          <a:custGeom xmlns:a="http://schemas.openxmlformats.org/drawingml/2006/main">
            <a:pathLst>
              <a:path w="304800" h="182880">
                <a:moveTo>
                  <a:pt x="0" y="182880"/>
                </a:moveTo>
                <a:lnTo>
                  <a:pt x="30480" y="60960"/>
                </a:lnTo>
                <a:lnTo>
                  <a:pt x="99060" y="0"/>
                </a:lnTo>
                <a:lnTo>
                  <a:pt x="205740" y="0"/>
                </a:lnTo>
                <a:lnTo>
                  <a:pt x="274320" y="60960"/>
                </a:lnTo>
                <a:lnTo>
                  <a:pt x="304800" y="1828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F1352ED-FA3F-4A2B-9E96-0CFCF888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857750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社内共有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1C7C59E-2CB0-4C38-ADD3-C3C179B9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07682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9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（関係者とのコラボレーション）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6241B11-8103-444A-8074-2573E5B6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5626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CE4FA53-B05B-4330-BF9F-708CE85A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60256"/>
            <a:ext cx="185738" cy="15716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29C3C15-6DCD-4097-9F64-7A5274DD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767388"/>
            <a:ext cx="221456" cy="221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FD67AB0-76DF-4865-847A-4FC7E42A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881688"/>
            <a:ext cx="178594" cy="13573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1820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34DA3E3-483A-4020-A452-E36241F8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106" y="5924550"/>
            <a:ext cx="428625" cy="928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CF78F62-4BEB-4A25-8684-40E83292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102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AEBC3E0-EFE7-4A27-B1B8-938D741B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686425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将来的な拡張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D529D31-2774-4369-9D57-2F37905C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905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900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（他業務への展開・他システム連携）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CB3EBD4-65A7-441C-880D-7C24020B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72465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2F8BAD6-F397-4677-B574-3FBB01C0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610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導入のポイント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A8577B4-9ADC-4A54-8346-D2A6492D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743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8AF6273-5CD2-48E1-9909-8FB8E3B9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10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A8521A4-4BFB-4095-9C09-413F9255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15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CAB71C7-62DD-44F3-8A61-EADFC766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991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今ある資産を活かせる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8C5D22B-DAD8-4F77-844A-5A3EF259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334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既存システム・ドキュメント・営業データと連携し、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新たなデータ入力の負荷を最小化。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4ADAA43-EDD3-4E63-A91D-F31C2D5C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991350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F5D0A86-2ADF-4238-B821-C15ED8B2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7010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5841CE2-486A-47A8-A8FD-1B2458F9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7115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7A54CB9-8E34-4359-A842-780BA594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6991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セキュアで安心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95D9B32-9474-450D-9319-3DEA3B5C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7334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企業のセキュリティ・ガバナンス要件に対応し、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安全にAIを活用。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80FF5A7-DE5F-4E84-AE3E-E072E10A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6991350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7FDD19A-0450-4BC4-8A52-C175BC65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7010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3F6F8C4-6FF5-45AD-9633-2E8B4449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71151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01F8EBD-AFA6-4E7E-BB94-27DFD201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991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スモールスタートで拡張可能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301FBC9-61D2-4AE7-AF2F-66E1D273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73342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まずは特定部門・特定業務から開始し、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効果を見ながら他部門・他業務へ展開。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DFBA895-C10B-4A33-ACD2-A084FF73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32485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218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21820"/>
                </a:solidFill>
                <a:latin typeface="Yu Gothic"/>
                <a:ea typeface="Yu Gothic"/>
                <a:cs typeface="Yu Gothic"/>
              </a:rPr>
              <a:t>提案クエスト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5C8ACFC-699E-41AB-93D1-38D1F8A6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296275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A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C551A73-8A40-43DC-8AE9-E22C3299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82296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人とテクノロジーで、より良い社会をつくる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05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Think Together, Create the Next.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F7B69D3-0EFA-4C6D-A3B5-2440FA1F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84677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6057AE2-D1E9-443B-BB4D-63EAFCDF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858000"/>
            <a:ext cx="3352800" cy="2105025"/>
          </a:xfrm>
          <a:custGeom xmlns:a="http://schemas.openxmlformats.org/drawingml/2006/main">
            <a:pathLst>
              <a:path w="3352800" h="2105025">
                <a:moveTo>
                  <a:pt x="1571625" y="0"/>
                </a:moveTo>
                <a:lnTo>
                  <a:pt x="3352800" y="0"/>
                </a:lnTo>
                <a:lnTo>
                  <a:pt x="1809750" y="2105025"/>
                </a:lnTo>
                <a:lnTo>
                  <a:pt x="0" y="2105025"/>
                </a:lnTo>
                <a:close/>
              </a:path>
            </a:pathLst>
          </a:cu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04CD8F89-6647-4601-8553-0BB88B41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239000"/>
            <a:ext cx="2781300" cy="1724025"/>
          </a:xfrm>
          <a:custGeom xmlns:a="http://schemas.openxmlformats.org/drawingml/2006/main">
            <a:pathLst>
              <a:path w="2781300" h="1724025">
                <a:moveTo>
                  <a:pt x="1285875" y="0"/>
                </a:moveTo>
                <a:lnTo>
                  <a:pt x="2209800" y="0"/>
                </a:lnTo>
                <a:lnTo>
                  <a:pt x="838200" y="1724025"/>
                </a:lnTo>
                <a:lnTo>
                  <a:pt x="0" y="1724025"/>
                </a:lnTo>
                <a:close/>
              </a:path>
            </a:pathLst>
          </a:custGeom>
          <a:solidFill xmlns:a="http://schemas.openxmlformats.org/drawingml/2006/main">
            <a:srgbClr val="B512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57618A4-160F-479E-B1AF-B0FDD538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83629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2026.08.26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A54405C-4F77-4815-AE67-C21D68B3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84677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9e4e5d6a045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00" y="0"/>
            <a:ext cx="2590800" cy="3943350"/>
          </a:xfrm>
          <a:prstGeom xmlns:a="http://schemas.openxmlformats.org/drawingml/2006/main" prst="rect">
            <a:avLst/>
          </a:prstGeom>
        </p:spPr>
      </p:pic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D2E91D2-1A23-4A44-A1A8-097A2BBF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0"/>
            <a:ext cx="295275" cy="104775"/>
          </a:xfrm>
          <a:custGeom xmlns:a="http://schemas.openxmlformats.org/drawingml/2006/main">
            <a:pathLst>
              <a:path w="295275" h="104775">
                <a:moveTo>
                  <a:pt x="0" y="38100"/>
                </a:moveTo>
                <a:lnTo>
                  <a:pt x="161925" y="0"/>
                </a:lnTo>
                <a:lnTo>
                  <a:pt x="295275" y="47625"/>
                </a:lnTo>
                <a:lnTo>
                  <a:pt x="133350" y="95250"/>
                </a:lnTo>
                <a:close/>
              </a:path>
            </a:pathLst>
          </a:custGeom>
          <a:solidFill xmlns:a="http://schemas.openxmlformats.org/drawingml/2006/main">
            <a:srgbClr val="F21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A4E5AAD5-BC52-4A24-8D03-D2F2D56E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8382000"/>
            <a:ext cx="180975" cy="85725"/>
          </a:xfrm>
          <a:custGeom xmlns:a="http://schemas.openxmlformats.org/drawingml/2006/main">
            <a:pathLst>
              <a:path w="180975" h="85725">
                <a:moveTo>
                  <a:pt x="0" y="0"/>
                </a:moveTo>
                <a:lnTo>
                  <a:pt x="180975" y="38100"/>
                </a:lnTo>
                <a:lnTo>
                  <a:pt x="180975" y="857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555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7A6C575-A150-4DE6-BEC7-DB64F2D8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91525"/>
            <a:ext cx="285750" cy="104775"/>
          </a:xfrm>
          <a:custGeom xmlns:a="http://schemas.openxmlformats.org/drawingml/2006/main">
            <a:pathLst>
              <a:path w="285750" h="104775">
                <a:moveTo>
                  <a:pt x="0" y="38100"/>
                </a:moveTo>
                <a:lnTo>
                  <a:pt x="161925" y="0"/>
                </a:lnTo>
                <a:lnTo>
                  <a:pt x="285750" y="47625"/>
                </a:lnTo>
                <a:lnTo>
                  <a:pt x="123825" y="95250"/>
                </a:lnTo>
                <a:close/>
              </a:path>
            </a:pathLst>
          </a:custGeom>
          <a:solidFill xmlns:a="http://schemas.openxmlformats.org/drawingml/2006/main">
            <a:srgbClr val="2B313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254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2026-09-19T11:46:55.0970000Z</dcterms:created>
  <dcterms:modified xsi:type="dcterms:W3CDTF">2026-09-19T11:46:55.0970000Z</dcterms:modified>
</coreProperties>
</file>