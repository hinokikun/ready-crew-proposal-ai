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1aa890d605482e" /><Relationship Type="http://schemas.openxmlformats.org/officeDocument/2006/relationships/extended-properties" Target="/docProps/app.xml" Id="R95e409420ea24395" /><Relationship Type="http://schemas.openxmlformats.org/officeDocument/2006/relationships/officeDocument" Target="/ppt/presentation.xml" Id="R0aa9b5848fcb41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f6f0e6c4384dc8"/>
  </p:sldMasterIdLst>
  <p:notesMasterIdLst>
    <p:notesMasterId xmlns:r="http://schemas.openxmlformats.org/officeDocument/2006/relationships" r:id="Re3295cc203b148dd"/>
  </p:notesMasterIdLst>
  <p:sldIdLst>
    <p:sldId xmlns:r="http://schemas.openxmlformats.org/officeDocument/2006/relationships" id="256" r:id="R2daa8bb16f564317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c5488d4c544482" /><Relationship Type="http://schemas.openxmlformats.org/officeDocument/2006/relationships/slideMaster" Target="/ppt/slideMasters/slideMaster1.xml" Id="R81f6f0e6c4384dc8" /><Relationship Type="http://schemas.openxmlformats.org/officeDocument/2006/relationships/notesMaster" Target="/ppt/notesMasters/notesMaster1.xml" Id="Re3295cc203b148dd" /><Relationship Type="http://schemas.openxmlformats.org/officeDocument/2006/relationships/presProps" Target="/ppt/presProps.xml" Id="R4fb7c3613e95494b" /><Relationship Type="http://schemas.openxmlformats.org/officeDocument/2006/relationships/tableStyles" Target="/ppt/tableStyles.xml" Id="R190588f0c9fb47db" /><Relationship Type="http://schemas.openxmlformats.org/officeDocument/2006/relationships/slide" Target="/ppt/slides/slide1.xml" Id="R2daa8bb16f5643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1c5f2e797f45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92a58bc66c40b7" /><Relationship Type="http://schemas.openxmlformats.org/officeDocument/2006/relationships/notesMaster" Target="/ppt/notesMasters/notesMaster1.xml" Id="R4f5dff6e7d9248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D08 solution-approach detail replacement native trace. Canonical image is the sole visual authority. The right-side city visual is a limited crop only; all other visible content is editable native text and shapes. Sample values are trace-only and not production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bc514dee4841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d636d4c9ff4982" /><Relationship Type="http://schemas.openxmlformats.org/officeDocument/2006/relationships/slideLayout" Target="/ppt/slideLayouts/slideLayout1.xml" Id="Re8e44581fda949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e44581fda949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146f565e54743" /><Relationship Type="http://schemas.openxmlformats.org/officeDocument/2006/relationships/image" Target="/ppt/media/image.png" Id="Rec3f9ecf825748d0" /><Relationship Type="http://schemas.openxmlformats.org/officeDocument/2006/relationships/notesSlide" Target="/ppt/notesSlides/notesSlide1.xml" Id="Rc1455ccd73f644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f9ecf825748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858750" y="0"/>
            <a:ext cx="3067050" cy="6486525"/>
          </a:xfrm>
          <a:prstGeom xmlns:a="http://schemas.openxmlformats.org/drawingml/2006/main" prst="rect">
            <a:avLst/>
          </a:prstGeom>
        </p:spPr>
      </p:pic>
      <p:sp>
        <p:nvSpPr>
          <p:cNvPr id="2" name="d08-header-photo-mask">
            <a:extLst xmlns:a="http://schemas.openxmlformats.org/drawingml/2006/main">
              <a:ext uri="{FF2B5EF4-FFF2-40B4-BE49-F238E27FC236}">
                <a16:creationId xmlns:a16="http://schemas.microsoft.com/office/drawing/2014/main" id="{F676C09C-CC4A-4086-819F-90DBB9FB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0"/>
            <a:ext cx="2324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08-top-red-diagonal">
            <a:extLst xmlns:a="http://schemas.openxmlformats.org/drawingml/2006/main">
              <a:ext uri="{FF2B5EF4-FFF2-40B4-BE49-F238E27FC236}">
                <a16:creationId xmlns:a16="http://schemas.microsoft.com/office/drawing/2014/main" id="{2CC6FBBE-CFBF-46C1-B537-B0B95089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2971800" cy="4953000"/>
          </a:xfrm>
          <a:custGeom xmlns:a="http://schemas.openxmlformats.org/drawingml/2006/main">
            <a:pathLst>
              <a:path w="2971800" h="4953000">
                <a:moveTo>
                  <a:pt x="1790700" y="0"/>
                </a:moveTo>
                <a:lnTo>
                  <a:pt x="2971800" y="0"/>
                </a:lnTo>
                <a:lnTo>
                  <a:pt x="1123950" y="4953000"/>
                </a:lnTo>
                <a:lnTo>
                  <a:pt x="0" y="495300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08-top-white-diagonal">
            <a:extLst xmlns:a="http://schemas.openxmlformats.org/drawingml/2006/main">
              <a:ext uri="{FF2B5EF4-FFF2-40B4-BE49-F238E27FC236}">
                <a16:creationId xmlns:a16="http://schemas.microsoft.com/office/drawing/2014/main" id="{D7ADB0B7-7CB0-4FF9-B47A-4A4817EA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2114550" cy="4953000"/>
          </a:xfrm>
          <a:custGeom xmlns:a="http://schemas.openxmlformats.org/drawingml/2006/main">
            <a:pathLst>
              <a:path w="2114550" h="4953000">
                <a:moveTo>
                  <a:pt x="1847850" y="0"/>
                </a:moveTo>
                <a:lnTo>
                  <a:pt x="2114550" y="0"/>
                </a:lnTo>
                <a:lnTo>
                  <a:pt x="304800" y="4953000"/>
                </a:lnTo>
                <a:lnTo>
                  <a:pt x="0" y="4953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08-top-pale-diagonal">
            <a:extLst xmlns:a="http://schemas.openxmlformats.org/drawingml/2006/main">
              <a:ext uri="{FF2B5EF4-FFF2-40B4-BE49-F238E27FC236}">
                <a16:creationId xmlns:a16="http://schemas.microsoft.com/office/drawing/2014/main" id="{48F8C758-9384-415A-BF08-0EC5378C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2057400" cy="4953000"/>
          </a:xfrm>
          <a:custGeom xmlns:a="http://schemas.openxmlformats.org/drawingml/2006/main">
            <a:pathLst>
              <a:path w="2057400" h="4953000">
                <a:moveTo>
                  <a:pt x="1809750" y="0"/>
                </a:moveTo>
                <a:lnTo>
                  <a:pt x="2057400" y="0"/>
                </a:lnTo>
                <a:lnTo>
                  <a:pt x="247650" y="4953000"/>
                </a:lnTo>
                <a:lnTo>
                  <a:pt x="0" y="4953000"/>
                </a:lnTo>
                <a:close/>
              </a:path>
            </a:pathLst>
          </a:custGeom>
          <a:solidFill xmlns:a="http://schemas.openxmlformats.org/drawingml/2006/main">
            <a:srgbClr val="E9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08-bottom-red-band">
            <a:extLst xmlns:a="http://schemas.openxmlformats.org/drawingml/2006/main">
              <a:ext uri="{FF2B5EF4-FFF2-40B4-BE49-F238E27FC236}">
                <a16:creationId xmlns:a16="http://schemas.microsoft.com/office/drawing/2014/main" id="{ED6CC5C4-8389-49FA-86D8-37059902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000875"/>
            <a:ext cx="3352800" cy="1962150"/>
          </a:xfrm>
          <a:custGeom xmlns:a="http://schemas.openxmlformats.org/drawingml/2006/main">
            <a:pathLst>
              <a:path w="3352800" h="1962150">
                <a:moveTo>
                  <a:pt x="0" y="1962150"/>
                </a:moveTo>
                <a:lnTo>
                  <a:pt x="3352800" y="0"/>
                </a:lnTo>
                <a:lnTo>
                  <a:pt x="3352800" y="19621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08-bottom-dark-band">
            <a:extLst xmlns:a="http://schemas.openxmlformats.org/drawingml/2006/main">
              <a:ext uri="{FF2B5EF4-FFF2-40B4-BE49-F238E27FC236}">
                <a16:creationId xmlns:a16="http://schemas.microsoft.com/office/drawing/2014/main" id="{BCE0ED32-9458-4473-85D5-BE012BDC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7743825"/>
            <a:ext cx="2305050" cy="1219200"/>
          </a:xfrm>
          <a:custGeom xmlns:a="http://schemas.openxmlformats.org/drawingml/2006/main">
            <a:pathLst>
              <a:path w="2305050" h="1219200">
                <a:moveTo>
                  <a:pt x="0" y="1219200"/>
                </a:moveTo>
                <a:lnTo>
                  <a:pt x="2305050" y="0"/>
                </a:lnTo>
                <a:lnTo>
                  <a:pt x="2305050" y="1219200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08-header-number">
            <a:extLst xmlns:a="http://schemas.openxmlformats.org/drawingml/2006/main">
              <a:ext uri="{FF2B5EF4-FFF2-40B4-BE49-F238E27FC236}">
                <a16:creationId xmlns:a16="http://schemas.microsoft.com/office/drawing/2014/main" id="{192D70DE-CFC3-47A5-B0C1-B2D54B41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D08</a:t>
            </a:r>
          </a:p>
        </p:txBody>
      </p:sp>
      <p:sp>
        <p:nvSpPr>
          <p:cNvPr id="9" name="d08-header-section">
            <a:extLst xmlns:a="http://schemas.openxmlformats.org/drawingml/2006/main">
              <a:ext uri="{FF2B5EF4-FFF2-40B4-BE49-F238E27FC236}">
                <a16:creationId xmlns:a16="http://schemas.microsoft.com/office/drawing/2014/main" id="{03086D4B-DBD9-4C57-A167-629FEF60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5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提案プロセス</a:t>
            </a:r>
          </a:p>
        </p:txBody>
      </p:sp>
      <p:sp>
        <p:nvSpPr>
          <p:cNvPr id="10" name="d08-header-brand">
            <a:extLst xmlns:a="http://schemas.openxmlformats.org/drawingml/2006/main">
              <a:ext uri="{FF2B5EF4-FFF2-40B4-BE49-F238E27FC236}">
                <a16:creationId xmlns:a16="http://schemas.microsoft.com/office/drawing/2014/main" id="{CF0ABEA0-C6E3-463A-833E-BB5CE1DB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E71926"/>
                </a:solidFill>
              </a:rPr>
              <a:t>提案</a:t>
            </a:r>
            <a:r>
              <a:t>クエスト</a:t>
            </a:r>
          </a:p>
        </p:txBody>
      </p:sp>
      <p:sp>
        <p:nvSpPr>
          <p:cNvPr id="11" name="d08-header-tagline">
            <a:extLst xmlns:a="http://schemas.openxmlformats.org/drawingml/2006/main">
              <a:ext uri="{FF2B5EF4-FFF2-40B4-BE49-F238E27FC236}">
                <a16:creationId xmlns:a16="http://schemas.microsoft.com/office/drawing/2014/main" id="{1B80F6BC-BA05-480B-9E4A-D3195020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"/>
            <a:ext cx="2333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AIで、提案をもっと速く、もっと強く。</a:t>
            </a:r>
          </a:p>
        </p:txBody>
      </p:sp>
      <p:sp>
        <p:nvSpPr>
          <p:cNvPr id="12" name="d08-header-english">
            <a:extLst xmlns:a="http://schemas.openxmlformats.org/drawingml/2006/main">
              <a:ext uri="{FF2B5EF4-FFF2-40B4-BE49-F238E27FC236}">
                <a16:creationId xmlns:a16="http://schemas.microsoft.com/office/drawing/2014/main" id="{55FD92CF-05B6-41F4-8BA6-A0CD71B8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4000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THINK TOGETHER,</a:t>
            </a:r>
          </a:p>
          <a:p xmlns:a="http://schemas.openxmlformats.org/drawingml/2006/main">
            <a:pPr algn="l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CREATE THE NEXT.</a:t>
            </a:r>
          </a:p>
        </p:txBody>
      </p:sp>
      <p:sp>
        <p:nvSpPr>
          <p:cNvPr id="13" name="d08-header-rule">
            <a:extLst xmlns:a="http://schemas.openxmlformats.org/drawingml/2006/main">
              <a:ext uri="{FF2B5EF4-FFF2-40B4-BE49-F238E27FC236}">
                <a16:creationId xmlns:a16="http://schemas.microsoft.com/office/drawing/2014/main" id="{F2A020DB-0F7C-4FDC-AC4A-C69DA6A3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904875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1D28"/>
            </a:solidFill>
            <a:prstDash val="solid"/>
          </a:ln>
        </p:spPr>
      </p:sp>
      <p:sp>
        <p:nvSpPr>
          <p:cNvPr id="14" name="d08-header-red-rule">
            <a:extLst xmlns:a="http://schemas.openxmlformats.org/drawingml/2006/main">
              <a:ext uri="{FF2B5EF4-FFF2-40B4-BE49-F238E27FC236}">
                <a16:creationId xmlns:a16="http://schemas.microsoft.com/office/drawing/2014/main" id="{5B1FF110-27EF-4E06-BD19-9589C4E1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904875"/>
            <a:ext cx="333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5" name="d08-title">
            <a:extLst xmlns:a="http://schemas.openxmlformats.org/drawingml/2006/main">
              <a:ext uri="{FF2B5EF4-FFF2-40B4-BE49-F238E27FC236}">
                <a16:creationId xmlns:a16="http://schemas.microsoft.com/office/drawing/2014/main" id="{1DF84396-496A-4AB4-9FE5-B7A14F7C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t>シンプルで</a:t>
            </a:r>
            <a:r>
              <a:rPr>
                <a:solidFill>
                  <a:srgbClr val="E71926"/>
                </a:solidFill>
              </a:rPr>
              <a:t>スピーディな提案プロセス</a:t>
            </a:r>
          </a:p>
        </p:txBody>
      </p:sp>
      <p:sp>
        <p:nvSpPr>
          <p:cNvPr id="16" name="d08-lead-1">
            <a:extLst xmlns:a="http://schemas.openxmlformats.org/drawingml/2006/main">
              <a:ext uri="{FF2B5EF4-FFF2-40B4-BE49-F238E27FC236}">
                <a16:creationId xmlns:a16="http://schemas.microsoft.com/office/drawing/2014/main" id="{D092B63D-A3F3-4B22-ABA8-F33B1F98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287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提案クエストは、必要な情報を入力するだけで、</a:t>
            </a:r>
          </a:p>
        </p:txBody>
      </p:sp>
      <p:sp>
        <p:nvSpPr>
          <p:cNvPr id="17" name="d08-lead-2">
            <a:extLst xmlns:a="http://schemas.openxmlformats.org/drawingml/2006/main">
              <a:ext uri="{FF2B5EF4-FFF2-40B4-BE49-F238E27FC236}">
                <a16:creationId xmlns:a16="http://schemas.microsoft.com/office/drawing/2014/main" id="{074E1DFA-980E-4C07-BE03-103DEDD7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5262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t>AIが</a:t>
            </a:r>
            <a:r>
              <a:rPr>
                <a:solidFill>
                  <a:srgbClr val="E71926"/>
                </a:solidFill>
              </a:rPr>
              <a:t>提案資料・見積書・カンペを自動生成し、</a:t>
            </a:r>
            <a:r>
              <a:t>提案までを一気通貫で支援します。</a:t>
            </a:r>
          </a:p>
        </p:txBody>
      </p:sp>
      <p:sp>
        <p:nvSpPr>
          <p:cNvPr id="18" name="d08-process-panel">
            <a:extLst xmlns:a="http://schemas.openxmlformats.org/drawingml/2006/main">
              <a:ext uri="{FF2B5EF4-FFF2-40B4-BE49-F238E27FC236}">
                <a16:creationId xmlns:a16="http://schemas.microsoft.com/office/drawing/2014/main" id="{3152FF0A-44D8-4D14-BB32-B0F5DA28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447925"/>
            <a:ext cx="112204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08-process-rule">
            <a:extLst xmlns:a="http://schemas.openxmlformats.org/drawingml/2006/main">
              <a:ext uri="{FF2B5EF4-FFF2-40B4-BE49-F238E27FC236}">
                <a16:creationId xmlns:a16="http://schemas.microsoft.com/office/drawing/2014/main" id="{B9683C9E-2730-42FC-BAB9-49146F76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19375"/>
            <a:ext cx="2000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1926"/>
            </a:solidFill>
            <a:prstDash val="solid"/>
          </a:ln>
        </p:spPr>
      </p:sp>
      <p:sp>
        <p:nvSpPr>
          <p:cNvPr id="20" name="d08-process-heading">
            <a:extLst xmlns:a="http://schemas.openxmlformats.org/drawingml/2006/main">
              <a:ext uri="{FF2B5EF4-FFF2-40B4-BE49-F238E27FC236}">
                <a16:creationId xmlns:a16="http://schemas.microsoft.com/office/drawing/2014/main" id="{4F083097-32AD-4D3F-B6FB-35EAB29C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提案までの6ステップ</a:t>
            </a:r>
          </a:p>
        </p:txBody>
      </p:sp>
      <p:sp>
        <p:nvSpPr>
          <p:cNvPr id="21" name="d08-step-0">
            <a:extLst xmlns:a="http://schemas.openxmlformats.org/drawingml/2006/main">
              <a:ext uri="{FF2B5EF4-FFF2-40B4-BE49-F238E27FC236}">
                <a16:creationId xmlns:a16="http://schemas.microsoft.com/office/drawing/2014/main" id="{ECB9938D-7E02-478F-ADA7-56CCAE64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1809750" cy="2114550"/>
          </a:xfrm>
          <a:custGeom xmlns:a="http://schemas.openxmlformats.org/drawingml/2006/main">
            <a:pathLst>
              <a:path w="1809750" h="2114550">
                <a:moveTo>
                  <a:pt x="0" y="0"/>
                </a:moveTo>
                <a:lnTo>
                  <a:pt x="1657350" y="0"/>
                </a:lnTo>
                <a:lnTo>
                  <a:pt x="1809750" y="581025"/>
                </a:lnTo>
                <a:lnTo>
                  <a:pt x="1657350" y="2114550"/>
                </a:lnTo>
                <a:lnTo>
                  <a:pt x="0" y="2114550"/>
                </a:lnTo>
                <a:close/>
              </a:path>
            </a:pathLst>
          </a:cu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08-step-number-0">
            <a:extLst xmlns:a="http://schemas.openxmlformats.org/drawingml/2006/main">
              <a:ext uri="{FF2B5EF4-FFF2-40B4-BE49-F238E27FC236}">
                <a16:creationId xmlns:a16="http://schemas.microsoft.com/office/drawing/2014/main" id="{54736B8E-0BB4-4388-8D64-CA530044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384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3" name="d08-step-title-0">
            <a:extLst xmlns:a="http://schemas.openxmlformats.org/drawingml/2006/main">
              <a:ext uri="{FF2B5EF4-FFF2-40B4-BE49-F238E27FC236}">
                <a16:creationId xmlns:a16="http://schemas.microsoft.com/office/drawing/2014/main" id="{8542E188-27BA-44A4-9FFD-CAA98E2A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0"/>
            <a:ext cx="106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案件情報の入力</a:t>
            </a:r>
          </a:p>
        </p:txBody>
      </p:sp>
      <p:sp>
        <p:nvSpPr>
          <p:cNvPr id="24" name="d08-icon-step-0-body">
            <a:extLst xmlns:a="http://schemas.openxmlformats.org/drawingml/2006/main">
              <a:ext uri="{FF2B5EF4-FFF2-40B4-BE49-F238E27FC236}">
                <a16:creationId xmlns:a16="http://schemas.microsoft.com/office/drawing/2014/main" id="{AA66EB51-8AE1-4075-B117-30D85645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052" y="3465576"/>
            <a:ext cx="2743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324B"/>
            </a:solidFill>
            <a:prstDash val="solid"/>
          </a:ln>
        </p:spPr>
      </p:sp>
      <p:sp>
        <p:nvSpPr>
          <p:cNvPr id="25" name="d08-icon-step-0-fold">
            <a:extLst xmlns:a="http://schemas.openxmlformats.org/drawingml/2006/main">
              <a:ext uri="{FF2B5EF4-FFF2-40B4-BE49-F238E27FC236}">
                <a16:creationId xmlns:a16="http://schemas.microsoft.com/office/drawing/2014/main" id="{53935700-B8F2-49A6-9512-DC1C8C8E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076" y="3465576"/>
            <a:ext cx="82296" cy="82296"/>
          </a:xfrm>
          <a:custGeom xmlns:a="http://schemas.openxmlformats.org/drawingml/2006/main">
            <a:pathLst>
              <a:path w="82296" h="82296">
                <a:moveTo>
                  <a:pt x="0" y="0"/>
                </a:move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0324B"/>
            </a:solidFill>
            <a:prstDash val="solid"/>
          </a:ln>
        </p:spPr>
      </p:sp>
      <p:sp>
        <p:nvSpPr>
          <p:cNvPr id="26" name="d08-icon-step-0-line1">
            <a:extLst xmlns:a="http://schemas.openxmlformats.org/drawingml/2006/main">
              <a:ext uri="{FF2B5EF4-FFF2-40B4-BE49-F238E27FC236}">
                <a16:creationId xmlns:a16="http://schemas.microsoft.com/office/drawing/2014/main" id="{C94B5F2E-31DF-465D-8D52-DA1F5359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488" y="3625596"/>
            <a:ext cx="15544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324B"/>
            </a:solidFill>
            <a:prstDash val="solid"/>
          </a:ln>
        </p:spPr>
      </p:sp>
      <p:sp>
        <p:nvSpPr>
          <p:cNvPr id="27" name="d08-icon-step-0-line2">
            <a:extLst xmlns:a="http://schemas.openxmlformats.org/drawingml/2006/main">
              <a:ext uri="{FF2B5EF4-FFF2-40B4-BE49-F238E27FC236}">
                <a16:creationId xmlns:a16="http://schemas.microsoft.com/office/drawing/2014/main" id="{49B7F9F2-EE28-416C-AE96-A900B4C8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488" y="3685032"/>
            <a:ext cx="15544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324B"/>
            </a:solidFill>
            <a:prstDash val="solid"/>
          </a:ln>
        </p:spPr>
      </p:sp>
      <p:sp>
        <p:nvSpPr>
          <p:cNvPr id="28" name="d08-step-body-0">
            <a:extLst xmlns:a="http://schemas.openxmlformats.org/drawingml/2006/main">
              <a:ext uri="{FF2B5EF4-FFF2-40B4-BE49-F238E27FC236}">
                <a16:creationId xmlns:a16="http://schemas.microsoft.com/office/drawing/2014/main" id="{DA4B406A-97E1-49F7-BAFD-4F02711F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162425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案件の基本情報</a:t>
            </a:r>
          </a:p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（業種・課題・要望など）</a:t>
            </a:r>
          </a:p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を入力</a:t>
            </a:r>
          </a:p>
        </p:txBody>
      </p:sp>
      <p:sp>
        <p:nvSpPr>
          <p:cNvPr id="29" name="d08-step-arrow-0">
            <a:extLst xmlns:a="http://schemas.openxmlformats.org/drawingml/2006/main">
              <a:ext uri="{FF2B5EF4-FFF2-40B4-BE49-F238E27FC236}">
                <a16:creationId xmlns:a16="http://schemas.microsoft.com/office/drawing/2014/main" id="{73E93C20-F0C1-4639-9204-C70DC736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381375"/>
            <a:ext cx="85725" cy="209550"/>
          </a:xfrm>
          <a:custGeom xmlns:a="http://schemas.openxmlformats.org/drawingml/2006/main">
            <a:pathLst>
              <a:path w="85725" h="209550">
                <a:moveTo>
                  <a:pt x="0" y="0"/>
                </a:moveTo>
                <a:lnTo>
                  <a:pt x="85725" y="104775"/>
                </a:lnTo>
                <a:lnTo>
                  <a:pt x="0" y="209550"/>
                </a:lnTo>
                <a:close/>
              </a:path>
            </a:pathLst>
          </a:custGeom>
          <a:solidFill xmlns:a="http://schemas.openxmlformats.org/drawingml/2006/main">
            <a:srgbClr val="C4C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08-step-1">
            <a:extLst xmlns:a="http://schemas.openxmlformats.org/drawingml/2006/main">
              <a:ext uri="{FF2B5EF4-FFF2-40B4-BE49-F238E27FC236}">
                <a16:creationId xmlns:a16="http://schemas.microsoft.com/office/drawing/2014/main" id="{59199A95-8467-40CE-B676-C14204E4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905125"/>
            <a:ext cx="1809750" cy="2114550"/>
          </a:xfrm>
          <a:custGeom xmlns:a="http://schemas.openxmlformats.org/drawingml/2006/main">
            <a:pathLst>
              <a:path w="1809750" h="2114550">
                <a:moveTo>
                  <a:pt x="0" y="0"/>
                </a:moveTo>
                <a:lnTo>
                  <a:pt x="1657350" y="0"/>
                </a:lnTo>
                <a:lnTo>
                  <a:pt x="1809750" y="581025"/>
                </a:lnTo>
                <a:lnTo>
                  <a:pt x="1657350" y="2114550"/>
                </a:lnTo>
                <a:lnTo>
                  <a:pt x="0" y="2114550"/>
                </a:lnTo>
                <a:close/>
              </a:path>
            </a:pathLst>
          </a:cu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08-step-number-1">
            <a:extLst xmlns:a="http://schemas.openxmlformats.org/drawingml/2006/main">
              <a:ext uri="{FF2B5EF4-FFF2-40B4-BE49-F238E27FC236}">
                <a16:creationId xmlns:a16="http://schemas.microsoft.com/office/drawing/2014/main" id="{9560D82E-91DE-4248-863B-23DE1EAD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384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2" name="d08-step-title-1">
            <a:extLst xmlns:a="http://schemas.openxmlformats.org/drawingml/2006/main">
              <a:ext uri="{FF2B5EF4-FFF2-40B4-BE49-F238E27FC236}">
                <a16:creationId xmlns:a16="http://schemas.microsoft.com/office/drawing/2014/main" id="{0CE085CC-D505-4FAF-B5CA-120B3F3E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48000"/>
            <a:ext cx="106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AIによる分析</a:t>
            </a:r>
          </a:p>
        </p:txBody>
      </p:sp>
      <p:sp>
        <p:nvSpPr>
          <p:cNvPr id="33" name="d08-icon-step-1-left-lobe">
            <a:extLst xmlns:a="http://schemas.openxmlformats.org/drawingml/2006/main">
              <a:ext uri="{FF2B5EF4-FFF2-40B4-BE49-F238E27FC236}">
                <a16:creationId xmlns:a16="http://schemas.microsoft.com/office/drawing/2014/main" id="{A0FBB28C-3D35-42F7-90AE-A208FB58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3438525"/>
            <a:ext cx="176213" cy="328613"/>
          </a:xfrm>
          <a:custGeom xmlns:a="http://schemas.openxmlformats.org/drawingml/2006/main">
            <a:pathLst>
              <a:path w="176213" h="328613">
                <a:moveTo>
                  <a:pt x="176213" y="9525"/>
                </a:moveTo>
                <a:lnTo>
                  <a:pt x="104775" y="0"/>
                </a:lnTo>
                <a:lnTo>
                  <a:pt x="42863" y="38100"/>
                </a:lnTo>
                <a:lnTo>
                  <a:pt x="9525" y="100013"/>
                </a:lnTo>
                <a:lnTo>
                  <a:pt x="28575" y="152400"/>
                </a:lnTo>
                <a:lnTo>
                  <a:pt x="0" y="209550"/>
                </a:lnTo>
                <a:lnTo>
                  <a:pt x="33338" y="280988"/>
                </a:lnTo>
                <a:lnTo>
                  <a:pt x="100013" y="328613"/>
                </a:lnTo>
                <a:lnTo>
                  <a:pt x="171450" y="3048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34" name="d08-icon-step-1-right-lobe">
            <a:extLst xmlns:a="http://schemas.openxmlformats.org/drawingml/2006/main">
              <a:ext uri="{FF2B5EF4-FFF2-40B4-BE49-F238E27FC236}">
                <a16:creationId xmlns:a16="http://schemas.microsoft.com/office/drawing/2014/main" id="{AD8A061A-31EA-4CEE-B85B-596CD168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438525"/>
            <a:ext cx="176213" cy="328613"/>
          </a:xfrm>
          <a:custGeom xmlns:a="http://schemas.openxmlformats.org/drawingml/2006/main">
            <a:pathLst>
              <a:path w="176213" h="328613">
                <a:moveTo>
                  <a:pt x="0" y="9525"/>
                </a:moveTo>
                <a:lnTo>
                  <a:pt x="71438" y="0"/>
                </a:lnTo>
                <a:lnTo>
                  <a:pt x="133350" y="38100"/>
                </a:lnTo>
                <a:lnTo>
                  <a:pt x="166688" y="100013"/>
                </a:lnTo>
                <a:lnTo>
                  <a:pt x="147638" y="152400"/>
                </a:lnTo>
                <a:lnTo>
                  <a:pt x="176213" y="209550"/>
                </a:lnTo>
                <a:lnTo>
                  <a:pt x="142875" y="280988"/>
                </a:lnTo>
                <a:lnTo>
                  <a:pt x="76200" y="328613"/>
                </a:lnTo>
                <a:lnTo>
                  <a:pt x="4763" y="3048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35" name="d08-icon-step-1-center">
            <a:extLst xmlns:a="http://schemas.openxmlformats.org/drawingml/2006/main">
              <a:ext uri="{FF2B5EF4-FFF2-40B4-BE49-F238E27FC236}">
                <a16:creationId xmlns:a16="http://schemas.microsoft.com/office/drawing/2014/main" id="{4F2D722A-BA16-48B5-B601-2A00F1F0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457575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36" name="d08-icon-step-1-left-fold">
            <a:extLst xmlns:a="http://schemas.openxmlformats.org/drawingml/2006/main">
              <a:ext uri="{FF2B5EF4-FFF2-40B4-BE49-F238E27FC236}">
                <a16:creationId xmlns:a16="http://schemas.microsoft.com/office/drawing/2014/main" id="{5C22A749-783F-4EB1-AF59-BB4CEA2A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3514725"/>
            <a:ext cx="42863" cy="185738"/>
          </a:xfrm>
          <a:custGeom xmlns:a="http://schemas.openxmlformats.org/drawingml/2006/main">
            <a:pathLst>
              <a:path w="42863" h="185738">
                <a:moveTo>
                  <a:pt x="33338" y="0"/>
                </a:moveTo>
                <a:lnTo>
                  <a:pt x="0" y="42863"/>
                </a:lnTo>
                <a:lnTo>
                  <a:pt x="42863" y="80963"/>
                </a:lnTo>
                <a:lnTo>
                  <a:pt x="0" y="133350"/>
                </a:lnTo>
                <a:lnTo>
                  <a:pt x="38100" y="1857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37" name="d08-icon-step-1-right-fold">
            <a:extLst xmlns:a="http://schemas.openxmlformats.org/drawingml/2006/main">
              <a:ext uri="{FF2B5EF4-FFF2-40B4-BE49-F238E27FC236}">
                <a16:creationId xmlns:a16="http://schemas.microsoft.com/office/drawing/2014/main" id="{B5E409ED-3DB6-4FF3-9794-A2908BF4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14725"/>
            <a:ext cx="42863" cy="185738"/>
          </a:xfrm>
          <a:custGeom xmlns:a="http://schemas.openxmlformats.org/drawingml/2006/main">
            <a:pathLst>
              <a:path w="42863" h="185738">
                <a:moveTo>
                  <a:pt x="9525" y="0"/>
                </a:moveTo>
                <a:lnTo>
                  <a:pt x="42863" y="42863"/>
                </a:lnTo>
                <a:lnTo>
                  <a:pt x="0" y="80963"/>
                </a:lnTo>
                <a:lnTo>
                  <a:pt x="42863" y="133350"/>
                </a:lnTo>
                <a:lnTo>
                  <a:pt x="4763" y="1857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38" name="d08-step-body-1">
            <a:extLst xmlns:a="http://schemas.openxmlformats.org/drawingml/2006/main">
              <a:ext uri="{FF2B5EF4-FFF2-40B4-BE49-F238E27FC236}">
                <a16:creationId xmlns:a16="http://schemas.microsoft.com/office/drawing/2014/main" id="{C080DEA3-2242-4A06-916A-1F28A149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62425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市場・競合を分析</a:t>
            </a:r>
          </a:p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・課題を整理</a:t>
            </a:r>
          </a:p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・提案ストーリーを構成</a:t>
            </a:r>
          </a:p>
        </p:txBody>
      </p:sp>
      <p:sp>
        <p:nvSpPr>
          <p:cNvPr id="39" name="d08-step-arrow-1">
            <a:extLst xmlns:a="http://schemas.openxmlformats.org/drawingml/2006/main">
              <a:ext uri="{FF2B5EF4-FFF2-40B4-BE49-F238E27FC236}">
                <a16:creationId xmlns:a16="http://schemas.microsoft.com/office/drawing/2014/main" id="{38DD1AFD-144E-4EB7-9FD9-24BA56B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81375"/>
            <a:ext cx="85725" cy="209550"/>
          </a:xfrm>
          <a:custGeom xmlns:a="http://schemas.openxmlformats.org/drawingml/2006/main">
            <a:pathLst>
              <a:path w="85725" h="209550">
                <a:moveTo>
                  <a:pt x="0" y="0"/>
                </a:moveTo>
                <a:lnTo>
                  <a:pt x="85725" y="104775"/>
                </a:lnTo>
                <a:lnTo>
                  <a:pt x="0" y="209550"/>
                </a:lnTo>
                <a:close/>
              </a:path>
            </a:pathLst>
          </a:custGeom>
          <a:solidFill xmlns:a="http://schemas.openxmlformats.org/drawingml/2006/main">
            <a:srgbClr val="C4C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08-step-2">
            <a:extLst xmlns:a="http://schemas.openxmlformats.org/drawingml/2006/main">
              <a:ext uri="{FF2B5EF4-FFF2-40B4-BE49-F238E27FC236}">
                <a16:creationId xmlns:a16="http://schemas.microsoft.com/office/drawing/2014/main" id="{23BDE160-CFA6-4746-BB0E-597BDE2D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05125"/>
            <a:ext cx="1809750" cy="2114550"/>
          </a:xfrm>
          <a:custGeom xmlns:a="http://schemas.openxmlformats.org/drawingml/2006/main">
            <a:pathLst>
              <a:path w="1809750" h="2114550">
                <a:moveTo>
                  <a:pt x="0" y="0"/>
                </a:moveTo>
                <a:lnTo>
                  <a:pt x="1657350" y="0"/>
                </a:lnTo>
                <a:lnTo>
                  <a:pt x="1809750" y="581025"/>
                </a:lnTo>
                <a:lnTo>
                  <a:pt x="1657350" y="2114550"/>
                </a:lnTo>
                <a:lnTo>
                  <a:pt x="0" y="2114550"/>
                </a:lnTo>
                <a:close/>
              </a:path>
            </a:pathLst>
          </a:cu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08-step-number-2">
            <a:extLst xmlns:a="http://schemas.openxmlformats.org/drawingml/2006/main">
              <a:ext uri="{FF2B5EF4-FFF2-40B4-BE49-F238E27FC236}">
                <a16:creationId xmlns:a16="http://schemas.microsoft.com/office/drawing/2014/main" id="{31C2B1BD-4727-4DAB-884F-3DDE058F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384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2" name="d08-step-title-2">
            <a:extLst xmlns:a="http://schemas.openxmlformats.org/drawingml/2006/main">
              <a:ext uri="{FF2B5EF4-FFF2-40B4-BE49-F238E27FC236}">
                <a16:creationId xmlns:a16="http://schemas.microsoft.com/office/drawing/2014/main" id="{43D49EB3-1F6C-4168-A759-E6D7D518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48000"/>
            <a:ext cx="106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提案資料の生成</a:t>
            </a:r>
          </a:p>
        </p:txBody>
      </p:sp>
      <p:sp>
        <p:nvSpPr>
          <p:cNvPr id="43" name="d08-icon-step-2-circle">
            <a:extLst xmlns:a="http://schemas.openxmlformats.org/drawingml/2006/main">
              <a:ext uri="{FF2B5EF4-FFF2-40B4-BE49-F238E27FC236}">
                <a16:creationId xmlns:a16="http://schemas.microsoft.com/office/drawing/2014/main" id="{BA1F8C9D-ABAC-4154-979F-EF293EB6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985" y="3508629"/>
            <a:ext cx="316992" cy="3169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08-icon-step-2-text">
            <a:extLst xmlns:a="http://schemas.openxmlformats.org/drawingml/2006/main">
              <a:ext uri="{FF2B5EF4-FFF2-40B4-BE49-F238E27FC236}">
                <a16:creationId xmlns:a16="http://schemas.microsoft.com/office/drawing/2014/main" id="{FED4D220-1AA5-40FE-AA87-C4FA9AF2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515" y="3548253"/>
            <a:ext cx="138684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5" name="d08-step-body-2">
            <a:extLst xmlns:a="http://schemas.openxmlformats.org/drawingml/2006/main">
              <a:ext uri="{FF2B5EF4-FFF2-40B4-BE49-F238E27FC236}">
                <a16:creationId xmlns:a16="http://schemas.microsoft.com/office/drawing/2014/main" id="{00AB45A9-91C4-48D6-95B6-13BA3B8A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62425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提案資料（PPTX）を</a:t>
            </a:r>
          </a:p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自動生成</a:t>
            </a:r>
          </a:p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業種に合わせた</a:t>
            </a:r>
          </a:p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テンプレートで作成</a:t>
            </a:r>
          </a:p>
        </p:txBody>
      </p:sp>
      <p:sp>
        <p:nvSpPr>
          <p:cNvPr id="46" name="d08-step-arrow-2">
            <a:extLst xmlns:a="http://schemas.openxmlformats.org/drawingml/2006/main">
              <a:ext uri="{FF2B5EF4-FFF2-40B4-BE49-F238E27FC236}">
                <a16:creationId xmlns:a16="http://schemas.microsoft.com/office/drawing/2014/main" id="{21ECD428-6391-4DA7-8998-7989D576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81375"/>
            <a:ext cx="85725" cy="209550"/>
          </a:xfrm>
          <a:custGeom xmlns:a="http://schemas.openxmlformats.org/drawingml/2006/main">
            <a:pathLst>
              <a:path w="85725" h="209550">
                <a:moveTo>
                  <a:pt x="0" y="0"/>
                </a:moveTo>
                <a:lnTo>
                  <a:pt x="85725" y="104775"/>
                </a:lnTo>
                <a:lnTo>
                  <a:pt x="0" y="209550"/>
                </a:lnTo>
                <a:close/>
              </a:path>
            </a:pathLst>
          </a:custGeom>
          <a:solidFill xmlns:a="http://schemas.openxmlformats.org/drawingml/2006/main">
            <a:srgbClr val="C4C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08-step-3">
            <a:extLst xmlns:a="http://schemas.openxmlformats.org/drawingml/2006/main">
              <a:ext uri="{FF2B5EF4-FFF2-40B4-BE49-F238E27FC236}">
                <a16:creationId xmlns:a16="http://schemas.microsoft.com/office/drawing/2014/main" id="{40199650-034F-42BB-AD31-3852C126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905125"/>
            <a:ext cx="1809750" cy="2114550"/>
          </a:xfrm>
          <a:custGeom xmlns:a="http://schemas.openxmlformats.org/drawingml/2006/main">
            <a:pathLst>
              <a:path w="1809750" h="2114550">
                <a:moveTo>
                  <a:pt x="0" y="0"/>
                </a:moveTo>
                <a:lnTo>
                  <a:pt x="1657350" y="0"/>
                </a:lnTo>
                <a:lnTo>
                  <a:pt x="1809750" y="581025"/>
                </a:lnTo>
                <a:lnTo>
                  <a:pt x="1657350" y="2114550"/>
                </a:lnTo>
                <a:lnTo>
                  <a:pt x="0" y="2114550"/>
                </a:lnTo>
                <a:close/>
              </a:path>
            </a:pathLst>
          </a:cu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08-step-number-3">
            <a:extLst xmlns:a="http://schemas.openxmlformats.org/drawingml/2006/main">
              <a:ext uri="{FF2B5EF4-FFF2-40B4-BE49-F238E27FC236}">
                <a16:creationId xmlns:a16="http://schemas.microsoft.com/office/drawing/2014/main" id="{94D0E1CB-E9A6-4BDD-8084-45BCCFCC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384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9" name="d08-step-title-3">
            <a:extLst xmlns:a="http://schemas.openxmlformats.org/drawingml/2006/main">
              <a:ext uri="{FF2B5EF4-FFF2-40B4-BE49-F238E27FC236}">
                <a16:creationId xmlns:a16="http://schemas.microsoft.com/office/drawing/2014/main" id="{F76D3341-6EC9-4EB9-B641-79CBE3B4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106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見積書の生成</a:t>
            </a:r>
          </a:p>
        </p:txBody>
      </p:sp>
      <p:sp>
        <p:nvSpPr>
          <p:cNvPr id="50" name="d08-icon-step-3-body">
            <a:extLst xmlns:a="http://schemas.openxmlformats.org/drawingml/2006/main">
              <a:ext uri="{FF2B5EF4-FFF2-40B4-BE49-F238E27FC236}">
                <a16:creationId xmlns:a16="http://schemas.microsoft.com/office/drawing/2014/main" id="{68240BA0-FF1B-4D79-8673-0F970EA4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448" y="3459099"/>
            <a:ext cx="297180" cy="386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51" name="d08-icon-step-3-fold">
            <a:extLst xmlns:a="http://schemas.openxmlformats.org/drawingml/2006/main">
              <a:ext uri="{FF2B5EF4-FFF2-40B4-BE49-F238E27FC236}">
                <a16:creationId xmlns:a16="http://schemas.microsoft.com/office/drawing/2014/main" id="{F31AB5FD-77C7-4EED-B206-5D48359C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474" y="3459099"/>
            <a:ext cx="89154" cy="89154"/>
          </a:xfrm>
          <a:custGeom xmlns:a="http://schemas.openxmlformats.org/drawingml/2006/main">
            <a:pathLst>
              <a:path w="89154" h="89154">
                <a:moveTo>
                  <a:pt x="0" y="0"/>
                </a:moveTo>
                <a:lnTo>
                  <a:pt x="89154" y="89154"/>
                </a:lnTo>
                <a:lnTo>
                  <a:pt x="0" y="891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52" name="d08-icon-step-3-line1">
            <a:extLst xmlns:a="http://schemas.openxmlformats.org/drawingml/2006/main">
              <a:ext uri="{FF2B5EF4-FFF2-40B4-BE49-F238E27FC236}">
                <a16:creationId xmlns:a16="http://schemas.microsoft.com/office/drawing/2014/main" id="{0AF79FF4-C8B9-4474-9821-E83CC99F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837" y="3632454"/>
            <a:ext cx="16840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53" name="d08-icon-step-3-line2">
            <a:extLst xmlns:a="http://schemas.openxmlformats.org/drawingml/2006/main">
              <a:ext uri="{FF2B5EF4-FFF2-40B4-BE49-F238E27FC236}">
                <a16:creationId xmlns:a16="http://schemas.microsoft.com/office/drawing/2014/main" id="{C898BC29-59DD-40E8-AC24-D974EF85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837" y="3696843"/>
            <a:ext cx="16840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54" name="d08-icon-step-3-label">
            <a:extLst xmlns:a="http://schemas.openxmlformats.org/drawingml/2006/main">
              <a:ext uri="{FF2B5EF4-FFF2-40B4-BE49-F238E27FC236}">
                <a16:creationId xmlns:a16="http://schemas.microsoft.com/office/drawing/2014/main" id="{306E4554-11D7-43EF-87D2-3402469A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213" y="3642360"/>
            <a:ext cx="237744" cy="891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sp>
        <p:nvSpPr>
          <p:cNvPr id="55" name="d08-step-body-3">
            <a:extLst xmlns:a="http://schemas.openxmlformats.org/drawingml/2006/main">
              <a:ext uri="{FF2B5EF4-FFF2-40B4-BE49-F238E27FC236}">
                <a16:creationId xmlns:a16="http://schemas.microsoft.com/office/drawing/2014/main" id="{EDE87107-589F-4941-900F-D47999FA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62425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提案内容に基づく</a:t>
            </a:r>
          </a:p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見積書を自動作成</a:t>
            </a:r>
          </a:p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（PDF出力）</a:t>
            </a:r>
          </a:p>
        </p:txBody>
      </p:sp>
      <p:sp>
        <p:nvSpPr>
          <p:cNvPr id="56" name="d08-step-arrow-3">
            <a:extLst xmlns:a="http://schemas.openxmlformats.org/drawingml/2006/main">
              <a:ext uri="{FF2B5EF4-FFF2-40B4-BE49-F238E27FC236}">
                <a16:creationId xmlns:a16="http://schemas.microsoft.com/office/drawing/2014/main" id="{37239D25-8F4A-4B4F-96EE-B82EF5C8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81375"/>
            <a:ext cx="85725" cy="209550"/>
          </a:xfrm>
          <a:custGeom xmlns:a="http://schemas.openxmlformats.org/drawingml/2006/main">
            <a:pathLst>
              <a:path w="85725" h="209550">
                <a:moveTo>
                  <a:pt x="0" y="0"/>
                </a:moveTo>
                <a:lnTo>
                  <a:pt x="85725" y="104775"/>
                </a:lnTo>
                <a:lnTo>
                  <a:pt x="0" y="209550"/>
                </a:lnTo>
                <a:close/>
              </a:path>
            </a:pathLst>
          </a:custGeom>
          <a:solidFill xmlns:a="http://schemas.openxmlformats.org/drawingml/2006/main">
            <a:srgbClr val="C4C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08-step-4">
            <a:extLst xmlns:a="http://schemas.openxmlformats.org/drawingml/2006/main">
              <a:ext uri="{FF2B5EF4-FFF2-40B4-BE49-F238E27FC236}">
                <a16:creationId xmlns:a16="http://schemas.microsoft.com/office/drawing/2014/main" id="{D7451704-DE34-4DF9-A42B-BB750BE6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05125"/>
            <a:ext cx="1809750" cy="2114550"/>
          </a:xfrm>
          <a:custGeom xmlns:a="http://schemas.openxmlformats.org/drawingml/2006/main">
            <a:pathLst>
              <a:path w="1809750" h="2114550">
                <a:moveTo>
                  <a:pt x="0" y="0"/>
                </a:moveTo>
                <a:lnTo>
                  <a:pt x="1657350" y="0"/>
                </a:lnTo>
                <a:lnTo>
                  <a:pt x="1809750" y="581025"/>
                </a:lnTo>
                <a:lnTo>
                  <a:pt x="1657350" y="2114550"/>
                </a:lnTo>
                <a:lnTo>
                  <a:pt x="0" y="2114550"/>
                </a:lnTo>
                <a:close/>
              </a:path>
            </a:pathLst>
          </a:cu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d08-step-number-4">
            <a:extLst xmlns:a="http://schemas.openxmlformats.org/drawingml/2006/main">
              <a:ext uri="{FF2B5EF4-FFF2-40B4-BE49-F238E27FC236}">
                <a16:creationId xmlns:a16="http://schemas.microsoft.com/office/drawing/2014/main" id="{1900D147-9574-44DB-9158-B44599D2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0384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9" name="d08-step-title-4">
            <a:extLst xmlns:a="http://schemas.openxmlformats.org/drawingml/2006/main">
              <a:ext uri="{FF2B5EF4-FFF2-40B4-BE49-F238E27FC236}">
                <a16:creationId xmlns:a16="http://schemas.microsoft.com/office/drawing/2014/main" id="{8DF3E5B2-E2F6-4268-9E44-485EB31D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048000"/>
            <a:ext cx="106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カンペの生成</a:t>
            </a:r>
          </a:p>
        </p:txBody>
      </p:sp>
      <p:sp>
        <p:nvSpPr>
          <p:cNvPr id="60" name="d08-icon-step-4-body">
            <a:extLst xmlns:a="http://schemas.openxmlformats.org/drawingml/2006/main">
              <a:ext uri="{FF2B5EF4-FFF2-40B4-BE49-F238E27FC236}">
                <a16:creationId xmlns:a16="http://schemas.microsoft.com/office/drawing/2014/main" id="{35BE3120-0538-4894-956C-9A9ACAED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152" y="3465576"/>
            <a:ext cx="2743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324B"/>
            </a:solidFill>
            <a:prstDash val="solid"/>
          </a:ln>
        </p:spPr>
      </p:sp>
      <p:sp>
        <p:nvSpPr>
          <p:cNvPr id="61" name="d08-icon-step-4-fold">
            <a:extLst xmlns:a="http://schemas.openxmlformats.org/drawingml/2006/main">
              <a:ext uri="{FF2B5EF4-FFF2-40B4-BE49-F238E27FC236}">
                <a16:creationId xmlns:a16="http://schemas.microsoft.com/office/drawing/2014/main" id="{2F289601-22EC-4E7D-BC21-855A8CB3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176" y="3465576"/>
            <a:ext cx="82296" cy="82296"/>
          </a:xfrm>
          <a:custGeom xmlns:a="http://schemas.openxmlformats.org/drawingml/2006/main">
            <a:pathLst>
              <a:path w="82296" h="82296">
                <a:moveTo>
                  <a:pt x="0" y="0"/>
                </a:move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0324B"/>
            </a:solidFill>
            <a:prstDash val="solid"/>
          </a:ln>
        </p:spPr>
      </p:sp>
      <p:sp>
        <p:nvSpPr>
          <p:cNvPr id="62" name="d08-icon-step-4-line1">
            <a:extLst xmlns:a="http://schemas.openxmlformats.org/drawingml/2006/main">
              <a:ext uri="{FF2B5EF4-FFF2-40B4-BE49-F238E27FC236}">
                <a16:creationId xmlns:a16="http://schemas.microsoft.com/office/drawing/2014/main" id="{6621F4F3-53F6-4B90-91BB-E8422318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4588" y="3625596"/>
            <a:ext cx="15544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324B"/>
            </a:solidFill>
            <a:prstDash val="solid"/>
          </a:ln>
        </p:spPr>
      </p:sp>
      <p:sp>
        <p:nvSpPr>
          <p:cNvPr id="63" name="d08-icon-step-4-line2">
            <a:extLst xmlns:a="http://schemas.openxmlformats.org/drawingml/2006/main">
              <a:ext uri="{FF2B5EF4-FFF2-40B4-BE49-F238E27FC236}">
                <a16:creationId xmlns:a16="http://schemas.microsoft.com/office/drawing/2014/main" id="{17B466C9-498A-41BE-B013-E95D1822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4588" y="3685032"/>
            <a:ext cx="15544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324B"/>
            </a:solidFill>
            <a:prstDash val="solid"/>
          </a:ln>
        </p:spPr>
      </p:sp>
      <p:sp>
        <p:nvSpPr>
          <p:cNvPr id="64" name="d08-step-body-4">
            <a:extLst xmlns:a="http://schemas.openxmlformats.org/drawingml/2006/main">
              <a:ext uri="{FF2B5EF4-FFF2-40B4-BE49-F238E27FC236}">
                <a16:creationId xmlns:a16="http://schemas.microsoft.com/office/drawing/2014/main" id="{A62AEEDF-9678-4D03-85C2-B6A14579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62425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提案時の話す内容を</a:t>
            </a:r>
          </a:p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要約したカンペを生成</a:t>
            </a:r>
          </a:p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想定質問と回答例も</a:t>
            </a:r>
          </a:p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作成</a:t>
            </a:r>
          </a:p>
        </p:txBody>
      </p:sp>
      <p:sp>
        <p:nvSpPr>
          <p:cNvPr id="65" name="d08-step-arrow-4">
            <a:extLst xmlns:a="http://schemas.openxmlformats.org/drawingml/2006/main">
              <a:ext uri="{FF2B5EF4-FFF2-40B4-BE49-F238E27FC236}">
                <a16:creationId xmlns:a16="http://schemas.microsoft.com/office/drawing/2014/main" id="{8C810A76-61D8-4F99-9CC3-9CA24DC9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381375"/>
            <a:ext cx="85725" cy="209550"/>
          </a:xfrm>
          <a:custGeom xmlns:a="http://schemas.openxmlformats.org/drawingml/2006/main">
            <a:pathLst>
              <a:path w="85725" h="209550">
                <a:moveTo>
                  <a:pt x="0" y="0"/>
                </a:moveTo>
                <a:lnTo>
                  <a:pt x="85725" y="104775"/>
                </a:lnTo>
                <a:lnTo>
                  <a:pt x="0" y="209550"/>
                </a:lnTo>
                <a:close/>
              </a:path>
            </a:pathLst>
          </a:custGeom>
          <a:solidFill xmlns:a="http://schemas.openxmlformats.org/drawingml/2006/main">
            <a:srgbClr val="C4C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d08-step-5">
            <a:extLst xmlns:a="http://schemas.openxmlformats.org/drawingml/2006/main">
              <a:ext uri="{FF2B5EF4-FFF2-40B4-BE49-F238E27FC236}">
                <a16:creationId xmlns:a16="http://schemas.microsoft.com/office/drawing/2014/main" id="{07E0DB69-EFEB-4E55-8769-ED22DF5A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905125"/>
            <a:ext cx="1809750" cy="2114550"/>
          </a:xfrm>
          <a:custGeom xmlns:a="http://schemas.openxmlformats.org/drawingml/2006/main">
            <a:pathLst>
              <a:path w="1809750" h="2114550">
                <a:moveTo>
                  <a:pt x="0" y="0"/>
                </a:moveTo>
                <a:lnTo>
                  <a:pt x="1657350" y="0"/>
                </a:lnTo>
                <a:lnTo>
                  <a:pt x="1809750" y="581025"/>
                </a:lnTo>
                <a:lnTo>
                  <a:pt x="1657350" y="2114550"/>
                </a:lnTo>
                <a:lnTo>
                  <a:pt x="0" y="2114550"/>
                </a:lnTo>
                <a:close/>
              </a:path>
            </a:pathLst>
          </a:cu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d08-step-number-5">
            <a:extLst xmlns:a="http://schemas.openxmlformats.org/drawingml/2006/main">
              <a:ext uri="{FF2B5EF4-FFF2-40B4-BE49-F238E27FC236}">
                <a16:creationId xmlns:a16="http://schemas.microsoft.com/office/drawing/2014/main" id="{F586EAF5-48A6-45E6-9481-3AB6542A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384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8" name="d08-step-title-5">
            <a:extLst xmlns:a="http://schemas.openxmlformats.org/drawingml/2006/main">
              <a:ext uri="{FF2B5EF4-FFF2-40B4-BE49-F238E27FC236}">
                <a16:creationId xmlns:a16="http://schemas.microsoft.com/office/drawing/2014/main" id="{F3658650-A43B-4E4B-8939-75CD68DC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048000"/>
            <a:ext cx="106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提案の実施</a:t>
            </a:r>
          </a:p>
        </p:txBody>
      </p:sp>
      <p:sp>
        <p:nvSpPr>
          <p:cNvPr id="69" name="d08-icon-step-5-people-head-left">
            <a:extLst xmlns:a="http://schemas.openxmlformats.org/drawingml/2006/main">
              <a:ext uri="{FF2B5EF4-FFF2-40B4-BE49-F238E27FC236}">
                <a16:creationId xmlns:a16="http://schemas.microsoft.com/office/drawing/2014/main" id="{12EA396F-82FC-4883-8349-6B0BD1F2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297" y="3454786"/>
            <a:ext cx="90602" cy="9060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70" name="d08-icon-step-5-people-head-center">
            <a:extLst xmlns:a="http://schemas.openxmlformats.org/drawingml/2006/main">
              <a:ext uri="{FF2B5EF4-FFF2-40B4-BE49-F238E27FC236}">
                <a16:creationId xmlns:a16="http://schemas.microsoft.com/office/drawing/2014/main" id="{C69EABAF-A797-467C-AF5B-E207624F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959" y="3418545"/>
            <a:ext cx="90602" cy="9060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71" name="d08-icon-step-5-people-head-right">
            <a:extLst xmlns:a="http://schemas.openxmlformats.org/drawingml/2006/main">
              <a:ext uri="{FF2B5EF4-FFF2-40B4-BE49-F238E27FC236}">
                <a16:creationId xmlns:a16="http://schemas.microsoft.com/office/drawing/2014/main" id="{DE10D20E-563B-48DC-B342-3ADD3755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621" y="3454786"/>
            <a:ext cx="90602" cy="9060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72" name="d08-icon-step-5-people-left">
            <a:extLst xmlns:a="http://schemas.openxmlformats.org/drawingml/2006/main">
              <a:ext uri="{FF2B5EF4-FFF2-40B4-BE49-F238E27FC236}">
                <a16:creationId xmlns:a16="http://schemas.microsoft.com/office/drawing/2014/main" id="{9915F31D-6061-4B54-8065-B6363A19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8466" y="3608809"/>
            <a:ext cx="149493" cy="163083"/>
          </a:xfrm>
          <a:custGeom xmlns:a="http://schemas.openxmlformats.org/drawingml/2006/main">
            <a:pathLst>
              <a:path w="149493" h="163083">
                <a:moveTo>
                  <a:pt x="0" y="163083"/>
                </a:moveTo>
                <a:lnTo>
                  <a:pt x="22650" y="40771"/>
                </a:lnTo>
                <a:lnTo>
                  <a:pt x="77012" y="0"/>
                </a:lnTo>
                <a:lnTo>
                  <a:pt x="131373" y="40771"/>
                </a:lnTo>
                <a:lnTo>
                  <a:pt x="149493" y="16308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73" name="d08-icon-step-5-people-center">
            <a:extLst xmlns:a="http://schemas.openxmlformats.org/drawingml/2006/main">
              <a:ext uri="{FF2B5EF4-FFF2-40B4-BE49-F238E27FC236}">
                <a16:creationId xmlns:a16="http://schemas.microsoft.com/office/drawing/2014/main" id="{26D3D26A-BFDC-493F-A531-438DFECF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28" y="3581629"/>
            <a:ext cx="154023" cy="190264"/>
          </a:xfrm>
          <a:custGeom xmlns:a="http://schemas.openxmlformats.org/drawingml/2006/main">
            <a:pathLst>
              <a:path w="154023" h="190264">
                <a:moveTo>
                  <a:pt x="0" y="190264"/>
                </a:moveTo>
                <a:lnTo>
                  <a:pt x="22650" y="45301"/>
                </a:lnTo>
                <a:lnTo>
                  <a:pt x="77012" y="0"/>
                </a:lnTo>
                <a:lnTo>
                  <a:pt x="131373" y="45301"/>
                </a:lnTo>
                <a:lnTo>
                  <a:pt x="154023" y="1902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74" name="d08-icon-step-5-people-right">
            <a:extLst xmlns:a="http://schemas.openxmlformats.org/drawingml/2006/main">
              <a:ext uri="{FF2B5EF4-FFF2-40B4-BE49-F238E27FC236}">
                <a16:creationId xmlns:a16="http://schemas.microsoft.com/office/drawing/2014/main" id="{1AD19DC4-6997-4E56-91F1-0F2BFEAC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9500" y="3608809"/>
            <a:ext cx="149493" cy="163083"/>
          </a:xfrm>
          <a:custGeom xmlns:a="http://schemas.openxmlformats.org/drawingml/2006/main">
            <a:pathLst>
              <a:path w="149493" h="163083">
                <a:moveTo>
                  <a:pt x="0" y="163083"/>
                </a:moveTo>
                <a:lnTo>
                  <a:pt x="18120" y="40771"/>
                </a:lnTo>
                <a:lnTo>
                  <a:pt x="72481" y="0"/>
                </a:lnTo>
                <a:lnTo>
                  <a:pt x="126843" y="40771"/>
                </a:lnTo>
                <a:lnTo>
                  <a:pt x="149493" y="16308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75" name="d08-icon-step-5-chart-box">
            <a:extLst xmlns:a="http://schemas.openxmlformats.org/drawingml/2006/main">
              <a:ext uri="{FF2B5EF4-FFF2-40B4-BE49-F238E27FC236}">
                <a16:creationId xmlns:a16="http://schemas.microsoft.com/office/drawing/2014/main" id="{00D336FF-75E3-4DBB-9223-693CDF8C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646" y="3593783"/>
            <a:ext cx="154686" cy="16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76" name="d08-icon-step-5-bar1">
            <a:extLst xmlns:a="http://schemas.openxmlformats.org/drawingml/2006/main">
              <a:ext uri="{FF2B5EF4-FFF2-40B4-BE49-F238E27FC236}">
                <a16:creationId xmlns:a16="http://schemas.microsoft.com/office/drawing/2014/main" id="{BE5AC996-5809-4785-AF27-9DE9020C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5793" y="3643503"/>
            <a:ext cx="9525" cy="773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77" name="d08-icon-step-5-bar2">
            <a:extLst xmlns:a="http://schemas.openxmlformats.org/drawingml/2006/main">
              <a:ext uri="{FF2B5EF4-FFF2-40B4-BE49-F238E27FC236}">
                <a16:creationId xmlns:a16="http://schemas.microsoft.com/office/drawing/2014/main" id="{73F97EFB-DECD-472A-868B-BFFF8FFD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989" y="3621405"/>
            <a:ext cx="9525" cy="99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78" name="d08-icon-step-5-bar3">
            <a:extLst xmlns:a="http://schemas.openxmlformats.org/drawingml/2006/main">
              <a:ext uri="{FF2B5EF4-FFF2-40B4-BE49-F238E27FC236}">
                <a16:creationId xmlns:a16="http://schemas.microsoft.com/office/drawing/2014/main" id="{42373341-8FA8-43AE-B48B-8E618883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185" y="3599307"/>
            <a:ext cx="9525" cy="1215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79" name="d08-step-body-5">
            <a:extLst xmlns:a="http://schemas.openxmlformats.org/drawingml/2006/main">
              <a:ext uri="{FF2B5EF4-FFF2-40B4-BE49-F238E27FC236}">
                <a16:creationId xmlns:a16="http://schemas.microsoft.com/office/drawing/2014/main" id="{5363631C-C340-49D9-8583-580C6530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62425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完成した資料で</a:t>
            </a:r>
          </a:p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顧客へ提案</a:t>
            </a:r>
          </a:p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必要に応じて修正し</a:t>
            </a:r>
          </a:p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再生成も可能</a:t>
            </a:r>
          </a:p>
        </p:txBody>
      </p:sp>
      <p:sp>
        <p:nvSpPr>
          <p:cNvPr id="80" name="d08-strength-panel">
            <a:extLst xmlns:a="http://schemas.openxmlformats.org/drawingml/2006/main">
              <a:ext uri="{FF2B5EF4-FFF2-40B4-BE49-F238E27FC236}">
                <a16:creationId xmlns:a16="http://schemas.microsoft.com/office/drawing/2014/main" id="{6CBC9435-28B4-496F-93F6-A28944E0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447925"/>
            <a:ext cx="4000500" cy="44196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d08-strength-rule">
            <a:extLst xmlns:a="http://schemas.openxmlformats.org/drawingml/2006/main">
              <a:ext uri="{FF2B5EF4-FFF2-40B4-BE49-F238E27FC236}">
                <a16:creationId xmlns:a16="http://schemas.microsoft.com/office/drawing/2014/main" id="{A3D9120D-CFF3-491A-AB75-ED4407C8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2619375"/>
            <a:ext cx="2000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1926"/>
            </a:solidFill>
            <a:prstDash val="solid"/>
          </a:ln>
        </p:spPr>
      </p:sp>
      <p:sp>
        <p:nvSpPr>
          <p:cNvPr id="82" name="d08-strength-heading">
            <a:extLst xmlns:a="http://schemas.openxmlformats.org/drawingml/2006/main">
              <a:ext uri="{FF2B5EF4-FFF2-40B4-BE49-F238E27FC236}">
                <a16:creationId xmlns:a16="http://schemas.microsoft.com/office/drawing/2014/main" id="{D959C9F1-0087-4A4C-AB94-A9A84FFE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2514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プロセスの特長</a:t>
            </a:r>
          </a:p>
        </p:txBody>
      </p:sp>
      <p:sp>
        <p:nvSpPr>
          <p:cNvPr id="83" name="d08-strength-row-0">
            <a:extLst xmlns:a="http://schemas.openxmlformats.org/drawingml/2006/main">
              <a:ext uri="{FF2B5EF4-FFF2-40B4-BE49-F238E27FC236}">
                <a16:creationId xmlns:a16="http://schemas.microsoft.com/office/drawing/2014/main" id="{21164FE0-4D4A-4390-A9A5-22CD104B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2952750"/>
            <a:ext cx="37528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d08-strength-num-bg-0">
            <a:extLst xmlns:a="http://schemas.openxmlformats.org/drawingml/2006/main">
              <a:ext uri="{FF2B5EF4-FFF2-40B4-BE49-F238E27FC236}">
                <a16:creationId xmlns:a16="http://schemas.microsoft.com/office/drawing/2014/main" id="{A1B8D1C1-BB52-4A69-9C56-41DBC6C1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3019425"/>
            <a:ext cx="5715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d08-strength-num-0">
            <a:extLst xmlns:a="http://schemas.openxmlformats.org/drawingml/2006/main">
              <a:ext uri="{FF2B5EF4-FFF2-40B4-BE49-F238E27FC236}">
                <a16:creationId xmlns:a16="http://schemas.microsoft.com/office/drawing/2014/main" id="{E513752A-38F0-4425-8373-BDDE0391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32194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6" name="d08-icon-strength-0-face">
            <a:extLst xmlns:a="http://schemas.openxmlformats.org/drawingml/2006/main">
              <a:ext uri="{FF2B5EF4-FFF2-40B4-BE49-F238E27FC236}">
                <a16:creationId xmlns:a16="http://schemas.microsoft.com/office/drawing/2014/main" id="{89BDA635-8CFA-4016-B2ED-CACAE37C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3171825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87" name="d08-icon-strength-0-hand1">
            <a:extLst xmlns:a="http://schemas.openxmlformats.org/drawingml/2006/main">
              <a:ext uri="{FF2B5EF4-FFF2-40B4-BE49-F238E27FC236}">
                <a16:creationId xmlns:a16="http://schemas.microsoft.com/office/drawing/2014/main" id="{842113C9-5104-4B5F-9D0A-8FC3E6D3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3243263"/>
            <a:ext cx="9525" cy="1000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88" name="d08-icon-strength-0-hand2">
            <a:extLst xmlns:a="http://schemas.openxmlformats.org/drawingml/2006/main">
              <a:ext uri="{FF2B5EF4-FFF2-40B4-BE49-F238E27FC236}">
                <a16:creationId xmlns:a16="http://schemas.microsoft.com/office/drawing/2014/main" id="{75DB4184-4D5C-43EC-8BEF-7B5C7860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3343275"/>
            <a:ext cx="85725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89" name="d08-strength-title-0">
            <a:extLst xmlns:a="http://schemas.openxmlformats.org/drawingml/2006/main">
              <a:ext uri="{FF2B5EF4-FFF2-40B4-BE49-F238E27FC236}">
                <a16:creationId xmlns:a16="http://schemas.microsoft.com/office/drawing/2014/main" id="{19DD48C1-86F9-4A93-ACFD-EAFCC57B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306705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短時間で高品質</a:t>
            </a:r>
          </a:p>
        </p:txBody>
      </p:sp>
      <p:sp>
        <p:nvSpPr>
          <p:cNvPr id="90" name="d08-strength-body-0">
            <a:extLst xmlns:a="http://schemas.openxmlformats.org/drawingml/2006/main">
              <a:ext uri="{FF2B5EF4-FFF2-40B4-BE49-F238E27FC236}">
                <a16:creationId xmlns:a16="http://schemas.microsoft.com/office/drawing/2014/main" id="{89F47555-0E14-4705-A639-D9AD8E4D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335280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最短数分で提案資料一式を</a:t>
            </a:r>
          </a:p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自動生成。</a:t>
            </a:r>
          </a:p>
        </p:txBody>
      </p:sp>
      <p:sp>
        <p:nvSpPr>
          <p:cNvPr id="91" name="d08-strength-row-1">
            <a:extLst xmlns:a="http://schemas.openxmlformats.org/drawingml/2006/main">
              <a:ext uri="{FF2B5EF4-FFF2-40B4-BE49-F238E27FC236}">
                <a16:creationId xmlns:a16="http://schemas.microsoft.com/office/drawing/2014/main" id="{D936FFB9-F08B-43A2-889B-B985B820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3886200"/>
            <a:ext cx="37528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d08-strength-num-bg-1">
            <a:extLst xmlns:a="http://schemas.openxmlformats.org/drawingml/2006/main">
              <a:ext uri="{FF2B5EF4-FFF2-40B4-BE49-F238E27FC236}">
                <a16:creationId xmlns:a16="http://schemas.microsoft.com/office/drawing/2014/main" id="{B172C8A5-56C3-424B-AC94-7BDAFC21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3952875"/>
            <a:ext cx="5715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d08-strength-num-1">
            <a:extLst xmlns:a="http://schemas.openxmlformats.org/drawingml/2006/main">
              <a:ext uri="{FF2B5EF4-FFF2-40B4-BE49-F238E27FC236}">
                <a16:creationId xmlns:a16="http://schemas.microsoft.com/office/drawing/2014/main" id="{809972B5-45BD-4773-A24F-2E5DA34E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4152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4" name="d08-icon-strength-1-top">
            <a:extLst xmlns:a="http://schemas.openxmlformats.org/drawingml/2006/main">
              <a:ext uri="{FF2B5EF4-FFF2-40B4-BE49-F238E27FC236}">
                <a16:creationId xmlns:a16="http://schemas.microsoft.com/office/drawing/2014/main" id="{FC5805FF-E44A-4904-8100-D554145A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095750"/>
            <a:ext cx="3619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95" name="d08-icon-strength-1-l">
            <a:extLst xmlns:a="http://schemas.openxmlformats.org/drawingml/2006/main">
              <a:ext uri="{FF2B5EF4-FFF2-40B4-BE49-F238E27FC236}">
                <a16:creationId xmlns:a16="http://schemas.microsoft.com/office/drawing/2014/main" id="{D809881B-7749-4CEE-B30E-C57625BB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143375"/>
            <a:ext cx="9525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96" name="d08-icon-strength-1-r">
            <a:extLst xmlns:a="http://schemas.openxmlformats.org/drawingml/2006/main">
              <a:ext uri="{FF2B5EF4-FFF2-40B4-BE49-F238E27FC236}">
                <a16:creationId xmlns:a16="http://schemas.microsoft.com/office/drawing/2014/main" id="{0A8213FC-7CED-484A-9AE8-F1024AAC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4143375"/>
            <a:ext cx="9525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97" name="d08-icon-strength-1-bottom">
            <a:extLst xmlns:a="http://schemas.openxmlformats.org/drawingml/2006/main">
              <a:ext uri="{FF2B5EF4-FFF2-40B4-BE49-F238E27FC236}">
                <a16:creationId xmlns:a16="http://schemas.microsoft.com/office/drawing/2014/main" id="{7B3FFEEF-9FAB-4C3E-A426-00EC3185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352925"/>
            <a:ext cx="3619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98" name="d08-strength-title-1">
            <a:extLst xmlns:a="http://schemas.openxmlformats.org/drawingml/2006/main">
              <a:ext uri="{FF2B5EF4-FFF2-40B4-BE49-F238E27FC236}">
                <a16:creationId xmlns:a16="http://schemas.microsoft.com/office/drawing/2014/main" id="{1BB13FA0-D570-48F4-9C20-8CFB25FB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400050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一貫したストーリー</a:t>
            </a:r>
          </a:p>
        </p:txBody>
      </p:sp>
      <p:sp>
        <p:nvSpPr>
          <p:cNvPr id="99" name="d08-strength-body-1">
            <a:extLst xmlns:a="http://schemas.openxmlformats.org/drawingml/2006/main">
              <a:ext uri="{FF2B5EF4-FFF2-40B4-BE49-F238E27FC236}">
                <a16:creationId xmlns:a16="http://schemas.microsoft.com/office/drawing/2014/main" id="{EEE32D2E-A869-4A58-B4F7-E58592E3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42862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分析から資料・見積・カンペまで</a:t>
            </a:r>
          </a:p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一貫した内容で作成。</a:t>
            </a:r>
          </a:p>
        </p:txBody>
      </p:sp>
      <p:sp>
        <p:nvSpPr>
          <p:cNvPr id="100" name="d08-strength-row-2">
            <a:extLst xmlns:a="http://schemas.openxmlformats.org/drawingml/2006/main">
              <a:ext uri="{FF2B5EF4-FFF2-40B4-BE49-F238E27FC236}">
                <a16:creationId xmlns:a16="http://schemas.microsoft.com/office/drawing/2014/main" id="{6A5E6118-277E-4BA4-A5DC-CCA7F99E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4819650"/>
            <a:ext cx="37528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d08-strength-num-bg-2">
            <a:extLst xmlns:a="http://schemas.openxmlformats.org/drawingml/2006/main">
              <a:ext uri="{FF2B5EF4-FFF2-40B4-BE49-F238E27FC236}">
                <a16:creationId xmlns:a16="http://schemas.microsoft.com/office/drawing/2014/main" id="{CA7965E4-CB5E-4C12-9433-606FAA0C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4886325"/>
            <a:ext cx="5715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08-strength-num-2">
            <a:extLst xmlns:a="http://schemas.openxmlformats.org/drawingml/2006/main">
              <a:ext uri="{FF2B5EF4-FFF2-40B4-BE49-F238E27FC236}">
                <a16:creationId xmlns:a16="http://schemas.microsoft.com/office/drawing/2014/main" id="{B18D9FAA-FDAF-41ED-93D4-BD0573BC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50863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3" name="d08-icon-strength-2-head-left">
            <a:extLst xmlns:a="http://schemas.openxmlformats.org/drawingml/2006/main">
              <a:ext uri="{FF2B5EF4-FFF2-40B4-BE49-F238E27FC236}">
                <a16:creationId xmlns:a16="http://schemas.microsoft.com/office/drawing/2014/main" id="{D370C701-AA67-4648-8B0D-6C5F6D6D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4438" y="5048250"/>
            <a:ext cx="952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04" name="d08-icon-strength-2-head-center">
            <a:extLst xmlns:a="http://schemas.openxmlformats.org/drawingml/2006/main">
              <a:ext uri="{FF2B5EF4-FFF2-40B4-BE49-F238E27FC236}">
                <a16:creationId xmlns:a16="http://schemas.microsoft.com/office/drawing/2014/main" id="{A5E69DEC-D6EE-4036-9C84-49CB95F9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9213" y="5010150"/>
            <a:ext cx="952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05" name="d08-icon-strength-2-head-right">
            <a:extLst xmlns:a="http://schemas.openxmlformats.org/drawingml/2006/main">
              <a:ext uri="{FF2B5EF4-FFF2-40B4-BE49-F238E27FC236}">
                <a16:creationId xmlns:a16="http://schemas.microsoft.com/office/drawing/2014/main" id="{69BADA79-478A-4325-A247-8EED7665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988" y="5048250"/>
            <a:ext cx="952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06" name="d08-icon-strength-2-left">
            <a:extLst xmlns:a="http://schemas.openxmlformats.org/drawingml/2006/main">
              <a:ext uri="{FF2B5EF4-FFF2-40B4-BE49-F238E27FC236}">
                <a16:creationId xmlns:a16="http://schemas.microsoft.com/office/drawing/2014/main" id="{FCA0A21F-896A-4329-8CC8-C982CF29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5210175"/>
            <a:ext cx="157163" cy="171450"/>
          </a:xfrm>
          <a:custGeom xmlns:a="http://schemas.openxmlformats.org/drawingml/2006/main">
            <a:pathLst>
              <a:path w="157163" h="171450">
                <a:moveTo>
                  <a:pt x="0" y="171450"/>
                </a:moveTo>
                <a:lnTo>
                  <a:pt x="23813" y="42863"/>
                </a:lnTo>
                <a:lnTo>
                  <a:pt x="80963" y="0"/>
                </a:lnTo>
                <a:lnTo>
                  <a:pt x="138113" y="42863"/>
                </a:lnTo>
                <a:lnTo>
                  <a:pt x="157163" y="1714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07" name="d08-icon-strength-2-center">
            <a:extLst xmlns:a="http://schemas.openxmlformats.org/drawingml/2006/main">
              <a:ext uri="{FF2B5EF4-FFF2-40B4-BE49-F238E27FC236}">
                <a16:creationId xmlns:a16="http://schemas.microsoft.com/office/drawing/2014/main" id="{74C8F8F9-4410-497C-A37C-DE805E05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5181600"/>
            <a:ext cx="161925" cy="200025"/>
          </a:xfrm>
          <a:custGeom xmlns:a="http://schemas.openxmlformats.org/drawingml/2006/main">
            <a:pathLst>
              <a:path w="161925" h="200025">
                <a:moveTo>
                  <a:pt x="0" y="200025"/>
                </a:moveTo>
                <a:lnTo>
                  <a:pt x="23813" y="47625"/>
                </a:lnTo>
                <a:lnTo>
                  <a:pt x="80963" y="0"/>
                </a:lnTo>
                <a:lnTo>
                  <a:pt x="138113" y="47625"/>
                </a:lnTo>
                <a:lnTo>
                  <a:pt x="161925" y="2000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08" name="d08-icon-strength-2-right">
            <a:extLst xmlns:a="http://schemas.openxmlformats.org/drawingml/2006/main">
              <a:ext uri="{FF2B5EF4-FFF2-40B4-BE49-F238E27FC236}">
                <a16:creationId xmlns:a16="http://schemas.microsoft.com/office/drawing/2014/main" id="{3C19BE92-F54E-43F3-84B8-E45C4C6C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4938" y="5210175"/>
            <a:ext cx="157163" cy="171450"/>
          </a:xfrm>
          <a:custGeom xmlns:a="http://schemas.openxmlformats.org/drawingml/2006/main">
            <a:pathLst>
              <a:path w="157163" h="171450">
                <a:moveTo>
                  <a:pt x="0" y="171450"/>
                </a:moveTo>
                <a:lnTo>
                  <a:pt x="19050" y="42863"/>
                </a:lnTo>
                <a:lnTo>
                  <a:pt x="76200" y="0"/>
                </a:lnTo>
                <a:lnTo>
                  <a:pt x="133350" y="42863"/>
                </a:lnTo>
                <a:lnTo>
                  <a:pt x="157163" y="1714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09" name="d08-strength-title-2">
            <a:extLst xmlns:a="http://schemas.openxmlformats.org/drawingml/2006/main">
              <a:ext uri="{FF2B5EF4-FFF2-40B4-BE49-F238E27FC236}">
                <a16:creationId xmlns:a16="http://schemas.microsoft.com/office/drawing/2014/main" id="{2DFE16EC-859D-4CB3-8A08-EE2D8DA0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493395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誰でも使える</a:t>
            </a:r>
          </a:p>
        </p:txBody>
      </p:sp>
      <p:sp>
        <p:nvSpPr>
          <p:cNvPr id="110" name="d08-strength-body-2">
            <a:extLst xmlns:a="http://schemas.openxmlformats.org/drawingml/2006/main">
              <a:ext uri="{FF2B5EF4-FFF2-40B4-BE49-F238E27FC236}">
                <a16:creationId xmlns:a16="http://schemas.microsoft.com/office/drawing/2014/main" id="{637EB686-0BEF-4CF6-8E48-4B4A2CC2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21970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専門知識がなくても、</a:t>
            </a:r>
          </a:p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直感的な操作で利用可能。</a:t>
            </a:r>
          </a:p>
        </p:txBody>
      </p:sp>
      <p:sp>
        <p:nvSpPr>
          <p:cNvPr id="111" name="d08-strength-row-3">
            <a:extLst xmlns:a="http://schemas.openxmlformats.org/drawingml/2006/main">
              <a:ext uri="{FF2B5EF4-FFF2-40B4-BE49-F238E27FC236}">
                <a16:creationId xmlns:a16="http://schemas.microsoft.com/office/drawing/2014/main" id="{B9D07F63-1356-4126-ACF9-97795AEC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5753100"/>
            <a:ext cx="37528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08-strength-num-bg-3">
            <a:extLst xmlns:a="http://schemas.openxmlformats.org/drawingml/2006/main">
              <a:ext uri="{FF2B5EF4-FFF2-40B4-BE49-F238E27FC236}">
                <a16:creationId xmlns:a16="http://schemas.microsoft.com/office/drawing/2014/main" id="{C85CBA63-A536-4F89-B5B6-D588D608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5819775"/>
            <a:ext cx="5715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d08-strength-num-3">
            <a:extLst xmlns:a="http://schemas.openxmlformats.org/drawingml/2006/main">
              <a:ext uri="{FF2B5EF4-FFF2-40B4-BE49-F238E27FC236}">
                <a16:creationId xmlns:a16="http://schemas.microsoft.com/office/drawing/2014/main" id="{C51301CB-60A5-4190-A6F6-EC2D8016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6019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4" name="d08-icon-strength-3-ring">
            <a:extLst xmlns:a="http://schemas.openxmlformats.org/drawingml/2006/main">
              <a:ext uri="{FF2B5EF4-FFF2-40B4-BE49-F238E27FC236}">
                <a16:creationId xmlns:a16="http://schemas.microsoft.com/office/drawing/2014/main" id="{BDA37C50-5A60-487A-8A60-282FE2F4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4913" y="6005513"/>
            <a:ext cx="314325" cy="314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15" name="d08-icon-strength-3-head-top">
            <a:extLst xmlns:a="http://schemas.openxmlformats.org/drawingml/2006/main">
              <a:ext uri="{FF2B5EF4-FFF2-40B4-BE49-F238E27FC236}">
                <a16:creationId xmlns:a16="http://schemas.microsoft.com/office/drawing/2014/main" id="{3CB7D420-6924-4A26-9376-997494C6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5962650"/>
            <a:ext cx="109538" cy="90488"/>
          </a:xfrm>
          <a:custGeom xmlns:a="http://schemas.openxmlformats.org/drawingml/2006/main">
            <a:pathLst>
              <a:path w="109538" h="90488">
                <a:moveTo>
                  <a:pt x="0" y="0"/>
                </a:moveTo>
                <a:lnTo>
                  <a:pt x="109538" y="0"/>
                </a:lnTo>
                <a:lnTo>
                  <a:pt x="76200" y="90488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08-icon-strength-3-head-bottom">
            <a:extLst xmlns:a="http://schemas.openxmlformats.org/drawingml/2006/main">
              <a:ext uri="{FF2B5EF4-FFF2-40B4-BE49-F238E27FC236}">
                <a16:creationId xmlns:a16="http://schemas.microsoft.com/office/drawing/2014/main" id="{D4EC9CAE-BFBE-42E0-B2DF-61B63CAD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7288" y="6272213"/>
            <a:ext cx="109538" cy="90488"/>
          </a:xfrm>
          <a:custGeom xmlns:a="http://schemas.openxmlformats.org/drawingml/2006/main">
            <a:pathLst>
              <a:path w="109538" h="90488">
                <a:moveTo>
                  <a:pt x="109538" y="90488"/>
                </a:moveTo>
                <a:lnTo>
                  <a:pt x="0" y="90488"/>
                </a:lnTo>
                <a:lnTo>
                  <a:pt x="33338" y="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d08-strength-title-3">
            <a:extLst xmlns:a="http://schemas.openxmlformats.org/drawingml/2006/main">
              <a:ext uri="{FF2B5EF4-FFF2-40B4-BE49-F238E27FC236}">
                <a16:creationId xmlns:a16="http://schemas.microsoft.com/office/drawing/2014/main" id="{79F544E3-614A-48BB-9B03-EBC0184F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86740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修正・再生成も簡単</a:t>
            </a:r>
          </a:p>
        </p:txBody>
      </p:sp>
      <p:sp>
        <p:nvSpPr>
          <p:cNvPr id="118" name="d08-strength-body-3">
            <a:extLst xmlns:a="http://schemas.openxmlformats.org/drawingml/2006/main">
              <a:ext uri="{FF2B5EF4-FFF2-40B4-BE49-F238E27FC236}">
                <a16:creationId xmlns:a16="http://schemas.microsoft.com/office/drawing/2014/main" id="{71EF8601-89FC-4509-9004-844E6B9E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61531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フィードバックを反映し、</a:t>
            </a:r>
          </a:p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すぐに再生成できる。</a:t>
            </a:r>
          </a:p>
        </p:txBody>
      </p:sp>
      <p:sp>
        <p:nvSpPr>
          <p:cNvPr id="119" name="d08-compare-rule">
            <a:extLst xmlns:a="http://schemas.openxmlformats.org/drawingml/2006/main">
              <a:ext uri="{FF2B5EF4-FFF2-40B4-BE49-F238E27FC236}">
                <a16:creationId xmlns:a16="http://schemas.microsoft.com/office/drawing/2014/main" id="{B88CA17B-25C6-485D-9618-CB47A68E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2000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1926"/>
            </a:solidFill>
            <a:prstDash val="solid"/>
          </a:ln>
        </p:spPr>
      </p:sp>
      <p:sp>
        <p:nvSpPr>
          <p:cNvPr id="120" name="d08-compare-heading">
            <a:extLst xmlns:a="http://schemas.openxmlformats.org/drawingml/2006/main">
              <a:ext uri="{FF2B5EF4-FFF2-40B4-BE49-F238E27FC236}">
                <a16:creationId xmlns:a16="http://schemas.microsoft.com/office/drawing/2014/main" id="{CC066561-AEC9-42B5-8F8A-A912B4E0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従来の提案業務との比較</a:t>
            </a:r>
          </a:p>
        </p:txBody>
      </p:sp>
      <p:sp>
        <p:nvSpPr>
          <p:cNvPr id="121" name="d08-old-band">
            <a:extLst xmlns:a="http://schemas.openxmlformats.org/drawingml/2006/main">
              <a:ext uri="{FF2B5EF4-FFF2-40B4-BE49-F238E27FC236}">
                <a16:creationId xmlns:a16="http://schemas.microsoft.com/office/drawing/2014/main" id="{78F16ADF-A2CE-4EFF-90A4-DCEC8E8E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61722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9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08-old-step-0">
            <a:extLst xmlns:a="http://schemas.openxmlformats.org/drawingml/2006/main">
              <a:ext uri="{FF2B5EF4-FFF2-40B4-BE49-F238E27FC236}">
                <a16:creationId xmlns:a16="http://schemas.microsoft.com/office/drawing/2014/main" id="{6CFE121F-AC27-49FE-93B1-BB29334D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924550"/>
            <a:ext cx="962025" cy="609600"/>
          </a:xfrm>
          <a:custGeom xmlns:a="http://schemas.openxmlformats.org/drawingml/2006/main">
            <a:pathLst>
              <a:path w="962025" h="609600">
                <a:moveTo>
                  <a:pt x="0" y="0"/>
                </a:moveTo>
                <a:lnTo>
                  <a:pt x="800100" y="0"/>
                </a:lnTo>
                <a:lnTo>
                  <a:pt x="962025" y="304800"/>
                </a:lnTo>
                <a:lnTo>
                  <a:pt x="800100" y="609600"/>
                </a:lnTo>
                <a:lnTo>
                  <a:pt x="0" y="609600"/>
                </a:lnTo>
                <a:close/>
              </a:path>
            </a:pathLst>
          </a:custGeom>
          <a:solidFill xmlns:a="http://schemas.openxmlformats.org/drawingml/2006/main">
            <a:srgbClr val="4D66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d08-old-step-text-0">
            <a:extLst xmlns:a="http://schemas.openxmlformats.org/drawingml/2006/main">
              <a:ext uri="{FF2B5EF4-FFF2-40B4-BE49-F238E27FC236}">
                <a16:creationId xmlns:a16="http://schemas.microsoft.com/office/drawing/2014/main" id="{6D6FFD43-E6E2-4E98-9EA3-E84B9B27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0388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従来の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提案業務</a:t>
            </a:r>
          </a:p>
        </p:txBody>
      </p:sp>
      <p:sp>
        <p:nvSpPr>
          <p:cNvPr id="124" name="d08-old-step-1">
            <a:extLst xmlns:a="http://schemas.openxmlformats.org/drawingml/2006/main">
              <a:ext uri="{FF2B5EF4-FFF2-40B4-BE49-F238E27FC236}">
                <a16:creationId xmlns:a16="http://schemas.microsoft.com/office/drawing/2014/main" id="{787C1E54-999E-4846-AC80-39EFA091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924550"/>
            <a:ext cx="962025" cy="609600"/>
          </a:xfrm>
          <a:custGeom xmlns:a="http://schemas.openxmlformats.org/drawingml/2006/main">
            <a:pathLst>
              <a:path w="962025" h="609600">
                <a:moveTo>
                  <a:pt x="0" y="0"/>
                </a:moveTo>
                <a:lnTo>
                  <a:pt x="800100" y="0"/>
                </a:lnTo>
                <a:lnTo>
                  <a:pt x="962025" y="304800"/>
                </a:lnTo>
                <a:lnTo>
                  <a:pt x="800100" y="609600"/>
                </a:lnTo>
                <a:lnTo>
                  <a:pt x="0" y="6096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d08-old-step-text-1">
            <a:extLst xmlns:a="http://schemas.openxmlformats.org/drawingml/2006/main">
              <a:ext uri="{FF2B5EF4-FFF2-40B4-BE49-F238E27FC236}">
                <a16:creationId xmlns:a16="http://schemas.microsoft.com/office/drawing/2014/main" id="{A825FFAF-7CAA-403A-8851-513EE573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0388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情報収集</a:t>
            </a:r>
          </a:p>
          <a:p xmlns:a="http://schemas.openxmlformats.org/drawingml/2006/main">
            <a:pPr algn="ctr">
              <a:defRPr sz="10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数時間</a:t>
            </a:r>
          </a:p>
        </p:txBody>
      </p:sp>
      <p:sp>
        <p:nvSpPr>
          <p:cNvPr id="126" name="d08-old-step-2">
            <a:extLst xmlns:a="http://schemas.openxmlformats.org/drawingml/2006/main">
              <a:ext uri="{FF2B5EF4-FFF2-40B4-BE49-F238E27FC236}">
                <a16:creationId xmlns:a16="http://schemas.microsoft.com/office/drawing/2014/main" id="{47E3E019-4B7E-4019-8B23-A38B4950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924550"/>
            <a:ext cx="962025" cy="609600"/>
          </a:xfrm>
          <a:custGeom xmlns:a="http://schemas.openxmlformats.org/drawingml/2006/main">
            <a:pathLst>
              <a:path w="962025" h="609600">
                <a:moveTo>
                  <a:pt x="0" y="0"/>
                </a:moveTo>
                <a:lnTo>
                  <a:pt x="800100" y="0"/>
                </a:lnTo>
                <a:lnTo>
                  <a:pt x="962025" y="304800"/>
                </a:lnTo>
                <a:lnTo>
                  <a:pt x="800100" y="609600"/>
                </a:lnTo>
                <a:lnTo>
                  <a:pt x="0" y="6096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d08-old-step-text-2">
            <a:extLst xmlns:a="http://schemas.openxmlformats.org/drawingml/2006/main">
              <a:ext uri="{FF2B5EF4-FFF2-40B4-BE49-F238E27FC236}">
                <a16:creationId xmlns:a16="http://schemas.microsoft.com/office/drawing/2014/main" id="{93DD5858-1C7C-4E51-A470-3C53CFA9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0388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資料作成</a:t>
            </a:r>
          </a:p>
          <a:p xmlns:a="http://schemas.openxmlformats.org/drawingml/2006/main">
            <a:pPr algn="ctr">
              <a:defRPr sz="10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半日〜1日</a:t>
            </a:r>
          </a:p>
        </p:txBody>
      </p:sp>
      <p:sp>
        <p:nvSpPr>
          <p:cNvPr id="128" name="d08-old-step-3">
            <a:extLst xmlns:a="http://schemas.openxmlformats.org/drawingml/2006/main">
              <a:ext uri="{FF2B5EF4-FFF2-40B4-BE49-F238E27FC236}">
                <a16:creationId xmlns:a16="http://schemas.microsoft.com/office/drawing/2014/main" id="{14B4EA73-A6E5-4A75-907D-BECDB1D3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924550"/>
            <a:ext cx="962025" cy="609600"/>
          </a:xfrm>
          <a:custGeom xmlns:a="http://schemas.openxmlformats.org/drawingml/2006/main">
            <a:pathLst>
              <a:path w="962025" h="609600">
                <a:moveTo>
                  <a:pt x="0" y="0"/>
                </a:moveTo>
                <a:lnTo>
                  <a:pt x="800100" y="0"/>
                </a:lnTo>
                <a:lnTo>
                  <a:pt x="962025" y="304800"/>
                </a:lnTo>
                <a:lnTo>
                  <a:pt x="800100" y="609600"/>
                </a:lnTo>
                <a:lnTo>
                  <a:pt x="0" y="6096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08-old-step-text-3">
            <a:extLst xmlns:a="http://schemas.openxmlformats.org/drawingml/2006/main">
              <a:ext uri="{FF2B5EF4-FFF2-40B4-BE49-F238E27FC236}">
                <a16:creationId xmlns:a16="http://schemas.microsoft.com/office/drawing/2014/main" id="{309D3CC8-0D31-4A3D-A032-862C2AE6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0388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見積作成</a:t>
            </a:r>
          </a:p>
          <a:p xmlns:a="http://schemas.openxmlformats.org/drawingml/2006/main">
            <a:pPr algn="ctr">
              <a:defRPr sz="10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数時間</a:t>
            </a:r>
          </a:p>
        </p:txBody>
      </p:sp>
      <p:sp>
        <p:nvSpPr>
          <p:cNvPr id="130" name="d08-old-step-4">
            <a:extLst xmlns:a="http://schemas.openxmlformats.org/drawingml/2006/main">
              <a:ext uri="{FF2B5EF4-FFF2-40B4-BE49-F238E27FC236}">
                <a16:creationId xmlns:a16="http://schemas.microsoft.com/office/drawing/2014/main" id="{62E37C51-E92C-4EFF-BA43-2DA35F7F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924550"/>
            <a:ext cx="962025" cy="609600"/>
          </a:xfrm>
          <a:custGeom xmlns:a="http://schemas.openxmlformats.org/drawingml/2006/main">
            <a:pathLst>
              <a:path w="962025" h="609600">
                <a:moveTo>
                  <a:pt x="0" y="0"/>
                </a:moveTo>
                <a:lnTo>
                  <a:pt x="800100" y="0"/>
                </a:lnTo>
                <a:lnTo>
                  <a:pt x="962025" y="304800"/>
                </a:lnTo>
                <a:lnTo>
                  <a:pt x="800100" y="609600"/>
                </a:lnTo>
                <a:lnTo>
                  <a:pt x="0" y="6096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08-old-step-text-4">
            <a:extLst xmlns:a="http://schemas.openxmlformats.org/drawingml/2006/main">
              <a:ext uri="{FF2B5EF4-FFF2-40B4-BE49-F238E27FC236}">
                <a16:creationId xmlns:a16="http://schemas.microsoft.com/office/drawing/2014/main" id="{EFFC7A18-6AA7-4DE1-9356-FDD31619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0388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カンペ作成</a:t>
            </a:r>
          </a:p>
          <a:p xmlns:a="http://schemas.openxmlformats.org/drawingml/2006/main">
            <a:pPr algn="ctr">
              <a:defRPr sz="10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数時間</a:t>
            </a:r>
          </a:p>
        </p:txBody>
      </p:sp>
      <p:sp>
        <p:nvSpPr>
          <p:cNvPr id="132" name="d08-old-step-5">
            <a:extLst xmlns:a="http://schemas.openxmlformats.org/drawingml/2006/main">
              <a:ext uri="{FF2B5EF4-FFF2-40B4-BE49-F238E27FC236}">
                <a16:creationId xmlns:a16="http://schemas.microsoft.com/office/drawing/2014/main" id="{6F3F9C79-5F58-4AFD-866A-3B58F06F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924550"/>
            <a:ext cx="962025" cy="609600"/>
          </a:xfrm>
          <a:custGeom xmlns:a="http://schemas.openxmlformats.org/drawingml/2006/main">
            <a:pathLst>
              <a:path w="962025" h="609600">
                <a:moveTo>
                  <a:pt x="0" y="0"/>
                </a:moveTo>
                <a:lnTo>
                  <a:pt x="800100" y="0"/>
                </a:lnTo>
                <a:lnTo>
                  <a:pt x="962025" y="304800"/>
                </a:lnTo>
                <a:lnTo>
                  <a:pt x="800100" y="609600"/>
                </a:lnTo>
                <a:lnTo>
                  <a:pt x="0" y="6096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08-old-step-text-5">
            <a:extLst xmlns:a="http://schemas.openxmlformats.org/drawingml/2006/main">
              <a:ext uri="{FF2B5EF4-FFF2-40B4-BE49-F238E27FC236}">
                <a16:creationId xmlns:a16="http://schemas.microsoft.com/office/drawing/2014/main" id="{E1D801EE-2942-4C90-9BB2-09B740ED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0388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提案準備</a:t>
            </a:r>
          </a:p>
          <a:p xmlns:a="http://schemas.openxmlformats.org/drawingml/2006/main">
            <a:pPr algn="ctr">
              <a:defRPr sz="105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半日〜1日</a:t>
            </a:r>
          </a:p>
        </p:txBody>
      </p:sp>
      <p:sp>
        <p:nvSpPr>
          <p:cNvPr id="134" name="d08-auto-band">
            <a:extLst xmlns:a="http://schemas.openxmlformats.org/drawingml/2006/main">
              <a:ext uri="{FF2B5EF4-FFF2-40B4-BE49-F238E27FC236}">
                <a16:creationId xmlns:a16="http://schemas.microsoft.com/office/drawing/2014/main" id="{0FC1084D-255A-4194-87BD-89B8724E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38800"/>
            <a:ext cx="469582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d08-auto-rule">
            <a:extLst xmlns:a="http://schemas.openxmlformats.org/drawingml/2006/main">
              <a:ext uri="{FF2B5EF4-FFF2-40B4-BE49-F238E27FC236}">
                <a16:creationId xmlns:a16="http://schemas.microsoft.com/office/drawing/2014/main" id="{74991F00-7BF7-47D5-B269-DED8AAE5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791200"/>
            <a:ext cx="1809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136" name="d08-auto-heading">
            <a:extLst xmlns:a="http://schemas.openxmlformats.org/drawingml/2006/main">
              <a:ext uri="{FF2B5EF4-FFF2-40B4-BE49-F238E27FC236}">
                <a16:creationId xmlns:a16="http://schemas.microsoft.com/office/drawing/2014/main" id="{0D8E735C-3572-4BF4-9EEF-EF3C7439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6864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提案クエストを活用した場合</a:t>
            </a:r>
          </a:p>
        </p:txBody>
      </p:sp>
      <p:sp>
        <p:nvSpPr>
          <p:cNvPr id="137" name="d08-auto-arrow">
            <a:extLst xmlns:a="http://schemas.openxmlformats.org/drawingml/2006/main">
              <a:ext uri="{FF2B5EF4-FFF2-40B4-BE49-F238E27FC236}">
                <a16:creationId xmlns:a16="http://schemas.microsoft.com/office/drawing/2014/main" id="{499DCD4F-4B46-4E26-AF0C-3142FA33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048375"/>
            <a:ext cx="3076575" cy="361950"/>
          </a:xfrm>
          <a:custGeom xmlns:a="http://schemas.openxmlformats.org/drawingml/2006/main">
            <a:pathLst>
              <a:path w="3076575" h="361950">
                <a:moveTo>
                  <a:pt x="0" y="0"/>
                </a:moveTo>
                <a:lnTo>
                  <a:pt x="2914650" y="0"/>
                </a:lnTo>
                <a:lnTo>
                  <a:pt x="3076575" y="180975"/>
                </a:lnTo>
                <a:lnTo>
                  <a:pt x="2914650" y="361950"/>
                </a:lnTo>
                <a:lnTo>
                  <a:pt x="0" y="3619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38" name="d08-auto-label">
            <a:extLst xmlns:a="http://schemas.openxmlformats.org/drawingml/2006/main">
              <a:ext uri="{FF2B5EF4-FFF2-40B4-BE49-F238E27FC236}">
                <a16:creationId xmlns:a16="http://schemas.microsoft.com/office/drawing/2014/main" id="{4AED60BC-E263-4820-82B6-4713BB6C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055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すべて自動で生成</a:t>
            </a:r>
          </a:p>
        </p:txBody>
      </p:sp>
      <p:sp>
        <p:nvSpPr>
          <p:cNvPr id="139" name="d08-auto-circle">
            <a:extLst xmlns:a="http://schemas.openxmlformats.org/drawingml/2006/main">
              <a:ext uri="{FF2B5EF4-FFF2-40B4-BE49-F238E27FC236}">
                <a16:creationId xmlns:a16="http://schemas.microsoft.com/office/drawing/2014/main" id="{CC62D4FC-2CC7-4A9B-8A7F-B989369D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007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d08-auto-circle-text">
            <a:extLst xmlns:a="http://schemas.openxmlformats.org/drawingml/2006/main">
              <a:ext uri="{FF2B5EF4-FFF2-40B4-BE49-F238E27FC236}">
                <a16:creationId xmlns:a16="http://schemas.microsoft.com/office/drawing/2014/main" id="{20548820-0827-48B3-ADFD-075D08B6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5762625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作業時間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約70%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削減</a:t>
            </a:r>
          </a:p>
        </p:txBody>
      </p:sp>
      <p:sp>
        <p:nvSpPr>
          <p:cNvPr id="141" name="d08-value-rule">
            <a:extLst xmlns:a="http://schemas.openxmlformats.org/drawingml/2006/main">
              <a:ext uri="{FF2B5EF4-FFF2-40B4-BE49-F238E27FC236}">
                <a16:creationId xmlns:a16="http://schemas.microsoft.com/office/drawing/2014/main" id="{3A7DCDA6-BF7F-441D-A9CB-DD703154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38975"/>
            <a:ext cx="2000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1926"/>
            </a:solidFill>
            <a:prstDash val="solid"/>
          </a:ln>
        </p:spPr>
      </p:sp>
      <p:sp>
        <p:nvSpPr>
          <p:cNvPr id="142" name="d08-value-heading">
            <a:extLst xmlns:a="http://schemas.openxmlformats.org/drawingml/2006/main">
              <a:ext uri="{FF2B5EF4-FFF2-40B4-BE49-F238E27FC236}">
                <a16:creationId xmlns:a16="http://schemas.microsoft.com/office/drawing/2014/main" id="{09264D32-62E0-41C4-B4AA-ECB184AC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34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提案プロセスからの提供価値</a:t>
            </a:r>
          </a:p>
        </p:txBody>
      </p:sp>
      <p:sp>
        <p:nvSpPr>
          <p:cNvPr id="143" name="d08-benefit-0">
            <a:extLst xmlns:a="http://schemas.openxmlformats.org/drawingml/2006/main">
              <a:ext uri="{FF2B5EF4-FFF2-40B4-BE49-F238E27FC236}">
                <a16:creationId xmlns:a16="http://schemas.microsoft.com/office/drawing/2014/main" id="{2CE79662-1694-4C00-9F6A-46BD1D48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267575"/>
            <a:ext cx="5029200" cy="885825"/>
          </a:xfrm>
          <a:custGeom xmlns:a="http://schemas.openxmlformats.org/drawingml/2006/main">
            <a:pathLst>
              <a:path w="5029200" h="885825">
                <a:moveTo>
                  <a:pt x="0" y="0"/>
                </a:moveTo>
                <a:lnTo>
                  <a:pt x="4629150" y="0"/>
                </a:lnTo>
                <a:lnTo>
                  <a:pt x="5029200" y="447675"/>
                </a:lnTo>
                <a:lnTo>
                  <a:pt x="4629150" y="885825"/>
                </a:lnTo>
                <a:lnTo>
                  <a:pt x="0" y="885825"/>
                </a:lnTo>
                <a:lnTo>
                  <a:pt x="333375" y="447675"/>
                </a:lnTo>
                <a:close/>
              </a:path>
            </a:pathLst>
          </a:cu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d08-icon-benefit-0-face">
            <a:extLst xmlns:a="http://schemas.openxmlformats.org/drawingml/2006/main">
              <a:ext uri="{FF2B5EF4-FFF2-40B4-BE49-F238E27FC236}">
                <a16:creationId xmlns:a16="http://schemas.microsoft.com/office/drawing/2014/main" id="{C2563BB2-2A6C-4426-963D-A29B3C34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7484745"/>
            <a:ext cx="466344" cy="46634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45" name="d08-icon-benefit-0-hand1">
            <a:extLst xmlns:a="http://schemas.openxmlformats.org/drawingml/2006/main">
              <a:ext uri="{FF2B5EF4-FFF2-40B4-BE49-F238E27FC236}">
                <a16:creationId xmlns:a16="http://schemas.microsoft.com/office/drawing/2014/main" id="{FEBC5B64-7C71-4E0B-B615-C9B10A03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7581900"/>
            <a:ext cx="9525" cy="1360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46" name="d08-icon-benefit-0-hand2">
            <a:extLst xmlns:a="http://schemas.openxmlformats.org/drawingml/2006/main">
              <a:ext uri="{FF2B5EF4-FFF2-40B4-BE49-F238E27FC236}">
                <a16:creationId xmlns:a16="http://schemas.microsoft.com/office/drawing/2014/main" id="{9D274199-F711-4210-A4EE-ED0333FA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7717917"/>
            <a:ext cx="116586" cy="777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47" name="d08-benefit-title-0">
            <a:extLst xmlns:a="http://schemas.openxmlformats.org/drawingml/2006/main">
              <a:ext uri="{FF2B5EF4-FFF2-40B4-BE49-F238E27FC236}">
                <a16:creationId xmlns:a16="http://schemas.microsoft.com/office/drawing/2014/main" id="{4D38517F-EA9E-45B5-9F3F-9BAE196F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410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提案スピードの向上</a:t>
            </a:r>
          </a:p>
        </p:txBody>
      </p:sp>
      <p:sp>
        <p:nvSpPr>
          <p:cNvPr id="148" name="d08-benefit-body-0">
            <a:extLst xmlns:a="http://schemas.openxmlformats.org/drawingml/2006/main">
              <a:ext uri="{FF2B5EF4-FFF2-40B4-BE49-F238E27FC236}">
                <a16:creationId xmlns:a16="http://schemas.microsoft.com/office/drawing/2014/main" id="{8D745B66-AD74-4643-B42A-894FDC7A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6866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準備時間を大幅に削減し、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より多くの提案機会を創出できます。</a:t>
            </a:r>
          </a:p>
        </p:txBody>
      </p:sp>
      <p:sp>
        <p:nvSpPr>
          <p:cNvPr id="149" name="d08-benefit-1">
            <a:extLst xmlns:a="http://schemas.openxmlformats.org/drawingml/2006/main">
              <a:ext uri="{FF2B5EF4-FFF2-40B4-BE49-F238E27FC236}">
                <a16:creationId xmlns:a16="http://schemas.microsoft.com/office/drawing/2014/main" id="{92E76A2D-965D-4995-A6C7-379F3289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7267575"/>
            <a:ext cx="5029200" cy="885825"/>
          </a:xfrm>
          <a:custGeom xmlns:a="http://schemas.openxmlformats.org/drawingml/2006/main">
            <a:pathLst>
              <a:path w="5029200" h="885825">
                <a:moveTo>
                  <a:pt x="0" y="0"/>
                </a:moveTo>
                <a:lnTo>
                  <a:pt x="4629150" y="0"/>
                </a:lnTo>
                <a:lnTo>
                  <a:pt x="5029200" y="447675"/>
                </a:lnTo>
                <a:lnTo>
                  <a:pt x="4629150" y="885825"/>
                </a:lnTo>
                <a:lnTo>
                  <a:pt x="0" y="885825"/>
                </a:lnTo>
                <a:lnTo>
                  <a:pt x="333375" y="447675"/>
                </a:lnTo>
                <a:close/>
              </a:path>
            </a:pathLst>
          </a:cu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d08-icon-benefit-1">
            <a:extLst xmlns:a="http://schemas.openxmlformats.org/drawingml/2006/main">
              <a:ext uri="{FF2B5EF4-FFF2-40B4-BE49-F238E27FC236}">
                <a16:creationId xmlns:a16="http://schemas.microsoft.com/office/drawing/2014/main" id="{0DF17241-52DB-4AC1-AB10-67AED5FE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7796" y="7438644"/>
            <a:ext cx="578358" cy="553212"/>
          </a:xfrm>
          <a:custGeom xmlns:a="http://schemas.openxmlformats.org/drawingml/2006/main">
            <a:pathLst>
              <a:path w="578358" h="553212">
                <a:moveTo>
                  <a:pt x="289179" y="0"/>
                </a:moveTo>
                <a:lnTo>
                  <a:pt x="364617" y="201168"/>
                </a:lnTo>
                <a:lnTo>
                  <a:pt x="578358" y="213741"/>
                </a:lnTo>
                <a:lnTo>
                  <a:pt x="414909" y="339471"/>
                </a:lnTo>
                <a:lnTo>
                  <a:pt x="477774" y="553212"/>
                </a:lnTo>
                <a:lnTo>
                  <a:pt x="289179" y="427482"/>
                </a:lnTo>
                <a:lnTo>
                  <a:pt x="100584" y="553212"/>
                </a:lnTo>
                <a:lnTo>
                  <a:pt x="163449" y="339471"/>
                </a:lnTo>
                <a:lnTo>
                  <a:pt x="0" y="213741"/>
                </a:lnTo>
                <a:lnTo>
                  <a:pt x="213741" y="2011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51" name="d08-benefit-title-1">
            <a:extLst xmlns:a="http://schemas.openxmlformats.org/drawingml/2006/main">
              <a:ext uri="{FF2B5EF4-FFF2-40B4-BE49-F238E27FC236}">
                <a16:creationId xmlns:a16="http://schemas.microsoft.com/office/drawing/2014/main" id="{04D4BC03-D52F-4DEC-BF8A-1E8D1967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7410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提案品質の標準化</a:t>
            </a:r>
          </a:p>
        </p:txBody>
      </p:sp>
      <p:sp>
        <p:nvSpPr>
          <p:cNvPr id="152" name="d08-benefit-body-1">
            <a:extLst xmlns:a="http://schemas.openxmlformats.org/drawingml/2006/main">
              <a:ext uri="{FF2B5EF4-FFF2-40B4-BE49-F238E27FC236}">
                <a16:creationId xmlns:a16="http://schemas.microsoft.com/office/drawing/2014/main" id="{95A44CC0-FCFE-4146-AC72-0A44C3A5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76866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業界・業種に最適化されたテンプレートで、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誰でも高品質な提案が可能です。</a:t>
            </a:r>
          </a:p>
        </p:txBody>
      </p:sp>
      <p:sp>
        <p:nvSpPr>
          <p:cNvPr id="153" name="d08-benefit-2">
            <a:extLst xmlns:a="http://schemas.openxmlformats.org/drawingml/2006/main">
              <a:ext uri="{FF2B5EF4-FFF2-40B4-BE49-F238E27FC236}">
                <a16:creationId xmlns:a16="http://schemas.microsoft.com/office/drawing/2014/main" id="{3966368A-CBE1-4EB9-AB40-B4991D77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7267575"/>
            <a:ext cx="5029200" cy="885825"/>
          </a:xfrm>
          <a:custGeom xmlns:a="http://schemas.openxmlformats.org/drawingml/2006/main">
            <a:pathLst>
              <a:path w="5029200" h="885825">
                <a:moveTo>
                  <a:pt x="0" y="0"/>
                </a:moveTo>
                <a:lnTo>
                  <a:pt x="4629150" y="0"/>
                </a:lnTo>
                <a:lnTo>
                  <a:pt x="5029200" y="447675"/>
                </a:lnTo>
                <a:lnTo>
                  <a:pt x="4629150" y="885825"/>
                </a:lnTo>
                <a:lnTo>
                  <a:pt x="0" y="885825"/>
                </a:lnTo>
                <a:lnTo>
                  <a:pt x="333375" y="447675"/>
                </a:lnTo>
                <a:close/>
              </a:path>
            </a:pathLst>
          </a:cu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d08-icon-benefit-2-base">
            <a:extLst xmlns:a="http://schemas.openxmlformats.org/drawingml/2006/main">
              <a:ext uri="{FF2B5EF4-FFF2-40B4-BE49-F238E27FC236}">
                <a16:creationId xmlns:a16="http://schemas.microsoft.com/office/drawing/2014/main" id="{809655E1-0BDD-43D5-A41B-0AF644CC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0049" y="7951089"/>
            <a:ext cx="49225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55" name="d08-icon-benefit-2-axis">
            <a:extLst xmlns:a="http://schemas.openxmlformats.org/drawingml/2006/main">
              <a:ext uri="{FF2B5EF4-FFF2-40B4-BE49-F238E27FC236}">
                <a16:creationId xmlns:a16="http://schemas.microsoft.com/office/drawing/2014/main" id="{201E3257-6594-49BC-A654-DED1A49D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911" y="7536561"/>
            <a:ext cx="9525" cy="4145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56" name="d08-icon-benefit-2-bar1">
            <a:extLst xmlns:a="http://schemas.openxmlformats.org/drawingml/2006/main">
              <a:ext uri="{FF2B5EF4-FFF2-40B4-BE49-F238E27FC236}">
                <a16:creationId xmlns:a16="http://schemas.microsoft.com/office/drawing/2014/main" id="{1A5326AE-2981-4EEC-9AAB-0A725EE9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681" y="7769733"/>
            <a:ext cx="77724" cy="181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d08-icon-benefit-2-bar2">
            <a:extLst xmlns:a="http://schemas.openxmlformats.org/drawingml/2006/main">
              <a:ext uri="{FF2B5EF4-FFF2-40B4-BE49-F238E27FC236}">
                <a16:creationId xmlns:a16="http://schemas.microsoft.com/office/drawing/2014/main" id="{450CA48D-2AC0-4CA3-B6AF-D416C6A4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6744" y="7666101"/>
            <a:ext cx="77724" cy="284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d08-icon-benefit-2-bar3">
            <a:extLst xmlns:a="http://schemas.openxmlformats.org/drawingml/2006/main">
              <a:ext uri="{FF2B5EF4-FFF2-40B4-BE49-F238E27FC236}">
                <a16:creationId xmlns:a16="http://schemas.microsoft.com/office/drawing/2014/main" id="{76B46619-2129-41B8-88B4-9C22C367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9807" y="7575423"/>
            <a:ext cx="77724" cy="3756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d08-benefit-title-2">
            <a:extLst xmlns:a="http://schemas.openxmlformats.org/drawingml/2006/main">
              <a:ext uri="{FF2B5EF4-FFF2-40B4-BE49-F238E27FC236}">
                <a16:creationId xmlns:a16="http://schemas.microsoft.com/office/drawing/2014/main" id="{4F3A46B1-4B61-4BF7-BEB5-8A4772DD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410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成果創出の加速</a:t>
            </a:r>
          </a:p>
        </p:txBody>
      </p:sp>
      <p:sp>
        <p:nvSpPr>
          <p:cNvPr id="160" name="d08-benefit-body-2">
            <a:extLst xmlns:a="http://schemas.openxmlformats.org/drawingml/2006/main">
              <a:ext uri="{FF2B5EF4-FFF2-40B4-BE49-F238E27FC236}">
                <a16:creationId xmlns:a16="http://schemas.microsoft.com/office/drawing/2014/main" id="{0FAFB531-6964-4595-8B47-F9A08D93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6866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提案に集中できる環境を整え、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受注率の向上と売上拡大につなげます。</a:t>
            </a:r>
          </a:p>
        </p:txBody>
      </p:sp>
      <p:sp>
        <p:nvSpPr>
          <p:cNvPr id="161" name="d08-footer-logo-top">
            <a:extLst xmlns:a="http://schemas.openxmlformats.org/drawingml/2006/main">
              <a:ext uri="{FF2B5EF4-FFF2-40B4-BE49-F238E27FC236}">
                <a16:creationId xmlns:a16="http://schemas.microsoft.com/office/drawing/2014/main" id="{91B65D10-D1F3-4CE3-B7D4-FCE36BFF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277225"/>
            <a:ext cx="266700" cy="123825"/>
          </a:xfrm>
          <a:custGeom xmlns:a="http://schemas.openxmlformats.org/drawingml/2006/main">
            <a:pathLst>
              <a:path w="266700" h="123825">
                <a:moveTo>
                  <a:pt x="0" y="57150"/>
                </a:moveTo>
                <a:lnTo>
                  <a:pt x="133350" y="0"/>
                </a:lnTo>
                <a:lnTo>
                  <a:pt x="266700" y="66675"/>
                </a:lnTo>
                <a:lnTo>
                  <a:pt x="133350" y="12382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d08-footer-logo-gray">
            <a:extLst xmlns:a="http://schemas.openxmlformats.org/drawingml/2006/main">
              <a:ext uri="{FF2B5EF4-FFF2-40B4-BE49-F238E27FC236}">
                <a16:creationId xmlns:a16="http://schemas.microsoft.com/office/drawing/2014/main" id="{7AB58AC9-4FC4-4DCE-B030-1504ECB0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34375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133350" y="13335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B8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d08-footer-logo-side">
            <a:extLst xmlns:a="http://schemas.openxmlformats.org/drawingml/2006/main">
              <a:ext uri="{FF2B5EF4-FFF2-40B4-BE49-F238E27FC236}">
                <a16:creationId xmlns:a16="http://schemas.microsoft.com/office/drawing/2014/main" id="{BFB7D0B6-F42B-4881-BE30-507C5B92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8343900"/>
            <a:ext cx="133350" cy="123825"/>
          </a:xfrm>
          <a:custGeom xmlns:a="http://schemas.openxmlformats.org/drawingml/2006/main">
            <a:pathLst>
              <a:path w="133350" h="123825">
                <a:moveTo>
                  <a:pt x="0" y="57150"/>
                </a:moveTo>
                <a:lnTo>
                  <a:pt x="133350" y="0"/>
                </a:lnTo>
                <a:lnTo>
                  <a:pt x="133350" y="66675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101D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d08-footer-logo-front">
            <a:extLst xmlns:a="http://schemas.openxmlformats.org/drawingml/2006/main">
              <a:ext uri="{FF2B5EF4-FFF2-40B4-BE49-F238E27FC236}">
                <a16:creationId xmlns:a16="http://schemas.microsoft.com/office/drawing/2014/main" id="{12C7FC80-D6F6-4EE6-9AA9-55FA6B2D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41057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57150"/>
                </a:lnTo>
                <a:lnTo>
                  <a:pt x="133350" y="152400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d08-footer-logo-bottom-side">
            <a:extLst xmlns:a="http://schemas.openxmlformats.org/drawingml/2006/main">
              <a:ext uri="{FF2B5EF4-FFF2-40B4-BE49-F238E27FC236}">
                <a16:creationId xmlns:a16="http://schemas.microsoft.com/office/drawing/2014/main" id="{332F44F9-AFCB-4941-9F17-349BB876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841057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57150"/>
                </a:moveTo>
                <a:lnTo>
                  <a:pt x="133350" y="0"/>
                </a:lnTo>
                <a:lnTo>
                  <a:pt x="133350" y="85725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101D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d08-footer-brand">
            <a:extLst xmlns:a="http://schemas.openxmlformats.org/drawingml/2006/main">
              <a:ext uri="{FF2B5EF4-FFF2-40B4-BE49-F238E27FC236}">
                <a16:creationId xmlns:a16="http://schemas.microsoft.com/office/drawing/2014/main" id="{5BEB7E89-1A1A-4A49-B67F-4704BB09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33437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提案クエスト</a:t>
            </a:r>
          </a:p>
        </p:txBody>
      </p:sp>
      <p:sp>
        <p:nvSpPr>
          <p:cNvPr id="167" name="d08-footer-divider">
            <a:extLst xmlns:a="http://schemas.openxmlformats.org/drawingml/2006/main">
              <a:ext uri="{FF2B5EF4-FFF2-40B4-BE49-F238E27FC236}">
                <a16:creationId xmlns:a16="http://schemas.microsoft.com/office/drawing/2014/main" id="{CC259FE7-74C6-496C-87D2-A59C2A43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267700"/>
            <a:ext cx="9525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68" name="d08-footer-tagline-jp">
            <a:extLst xmlns:a="http://schemas.openxmlformats.org/drawingml/2006/main">
              <a:ext uri="{FF2B5EF4-FFF2-40B4-BE49-F238E27FC236}">
                <a16:creationId xmlns:a16="http://schemas.microsoft.com/office/drawing/2014/main" id="{C06BB40D-46B7-400D-B176-AA848C9E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2581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人とテクノロジーで、より良い社会をつくる</a:t>
            </a:r>
          </a:p>
        </p:txBody>
      </p:sp>
      <p:sp>
        <p:nvSpPr>
          <p:cNvPr id="169" name="d08-footer-tagline-en">
            <a:extLst xmlns:a="http://schemas.openxmlformats.org/drawingml/2006/main">
              <a:ext uri="{FF2B5EF4-FFF2-40B4-BE49-F238E27FC236}">
                <a16:creationId xmlns:a16="http://schemas.microsoft.com/office/drawing/2014/main" id="{EBF04482-A6DD-4575-8828-1CB78C53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4772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Think Together, Create the Next.</a:t>
            </a:r>
          </a:p>
        </p:txBody>
      </p:sp>
      <p:sp>
        <p:nvSpPr>
          <p:cNvPr id="170" name="d08-footer-date">
            <a:extLst xmlns:a="http://schemas.openxmlformats.org/drawingml/2006/main">
              <a:ext uri="{FF2B5EF4-FFF2-40B4-BE49-F238E27FC236}">
                <a16:creationId xmlns:a16="http://schemas.microsoft.com/office/drawing/2014/main" id="{0B00FF56-BCFD-4B7A-8C7F-49721F9E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83343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2026.08.26</a:t>
            </a:r>
          </a:p>
        </p:txBody>
      </p:sp>
      <p:sp>
        <p:nvSpPr>
          <p:cNvPr id="171" name="d08-footer-date-rule">
            <a:extLst xmlns:a="http://schemas.openxmlformats.org/drawingml/2006/main">
              <a:ext uri="{FF2B5EF4-FFF2-40B4-BE49-F238E27FC236}">
                <a16:creationId xmlns:a16="http://schemas.microsoft.com/office/drawing/2014/main" id="{5F225EE8-720D-4EC5-AED6-342EDF8A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175" y="8410575"/>
            <a:ext cx="333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7457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2026-09-20T11:55:49.8070000Z</dcterms:created>
  <dcterms:modified xsi:type="dcterms:W3CDTF">2026-09-20T11:55:49.8070000Z</dcterms:modified>
</coreProperties>
</file>