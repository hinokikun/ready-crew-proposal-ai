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54f1cdf9ff4703" /><Relationship Type="http://schemas.openxmlformats.org/officeDocument/2006/relationships/extended-properties" Target="/docProps/app.xml" Id="Rf0425c98c02a4ce7" /><Relationship Type="http://schemas.openxmlformats.org/officeDocument/2006/relationships/officeDocument" Target="/ppt/presentation.xml" Id="R48bbf465e67d47a6" /></Relationships>
</file>

<file path=ppt/presentation.xml><?xml version="1.0" encoding="utf-8"?>
<p:presentation xmlns:p="http://schemas.openxmlformats.org/presentationml/2006/main">
  <p:sldMasterIdLst>
    <p:sldMasterId xmlns:r="http://schemas.openxmlformats.org/officeDocument/2006/relationships" id="2147483648" r:id="R71c0926a13ef4cee"/>
  </p:sldMasterIdLst>
  <p:notesMasterIdLst>
    <p:notesMasterId xmlns:r="http://schemas.openxmlformats.org/officeDocument/2006/relationships" r:id="R9878f8b6849b41dd"/>
  </p:notesMasterIdLst>
  <p:sldIdLst>
    <p:sldId xmlns:r="http://schemas.openxmlformats.org/officeDocument/2006/relationships" id="256" r:id="R7a030f0edbb548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3bfbfd8a634eed" /><Relationship Type="http://schemas.openxmlformats.org/officeDocument/2006/relationships/slideMaster" Target="/ppt/slideMasters/slideMaster1.xml" Id="R71c0926a13ef4cee" /><Relationship Type="http://schemas.openxmlformats.org/officeDocument/2006/relationships/notesMaster" Target="/ppt/notesMasters/notesMaster1.xml" Id="R9878f8b6849b41dd" /><Relationship Type="http://schemas.openxmlformats.org/officeDocument/2006/relationships/presProps" Target="/ppt/presProps.xml" Id="Rfc36158cba3545e3" /><Relationship Type="http://schemas.openxmlformats.org/officeDocument/2006/relationships/tableStyles" Target="/ppt/tableStyles.xml" Id="R20882abd1cda4700" /><Relationship Type="http://schemas.openxmlformats.org/officeDocument/2006/relationships/slide" Target="/ppt/slides/slide1.xml" Id="R7a030f0edbb548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0c16afc21843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1341701fcd4feb" /><Relationship Type="http://schemas.openxmlformats.org/officeDocument/2006/relationships/notesMaster" Target="/ppt/notesMasters/notesMaster1.xml" Id="R4cccce23d47942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D20 Case Study native trace. Visual authority: canonical_source.png. Photos are limited crops from the supplied Canonical because the Canonical contains photography. Sample content is trace-only and not production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b753b5568747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0578b383634a91" /><Relationship Type="http://schemas.openxmlformats.org/officeDocument/2006/relationships/slideLayout" Target="/ppt/slideLayouts/slideLayout1.xml" Id="R517b4ee4d52b44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7b4ee4d52b44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e7ae1884a34115" /><Relationship Type="http://schemas.openxmlformats.org/officeDocument/2006/relationships/image" Target="/ppt/media/image.png" Id="Ra0edae45390348d9" /><Relationship Type="http://schemas.openxmlformats.org/officeDocument/2006/relationships/image" Target="/ppt/media/image2.png" Id="R0f086c732004415d" /><Relationship Type="http://schemas.openxmlformats.org/officeDocument/2006/relationships/image" Target="/ppt/media/image3.png" Id="R4629e1c9d099492c" /><Relationship Type="http://schemas.openxmlformats.org/officeDocument/2006/relationships/notesSlide" Target="/ppt/notesSlides/notesSlide1.xml" Id="R24da93c2c4304db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 name="">
            <a:extLst xmlns:a="http://schemas.openxmlformats.org/drawingml/2006/main">
              <a:ext uri="{FF2B5EF4-FFF2-40B4-BE49-F238E27FC236}">
                <a16:creationId xmlns:a16="http://schemas.microsoft.com/office/drawing/2014/main" id="{EFE2F017-C14D-44E7-9D48-BAF52578CF0F}"/>
              </a:ext>
            </a:extLst>
          </p:cNvPr>
          <p:cNvSpPr>
            <a:spLocks xmlns:a="http://schemas.openxmlformats.org/drawingml/2006/main" noGrp="1"/>
          </p:cNvSpPr>
          <p:nvPr/>
        </p:nvSpPr>
        <p:spPr>
          <a:xfrm xmlns:a="http://schemas.openxmlformats.org/drawingml/2006/main">
            <a:off x="209550" y="152400"/>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0E1A2D"/>
                </a:solidFill>
                <a:latin typeface="Yu Gothic"/>
                <a:ea typeface="Yu Gothic"/>
                <a:cs typeface="Yu Gothic"/>
              </a:defRPr>
            </a:pPr>
            <a:r>
              <a:rPr sz="1200" b="1" i="0">
                <a:solidFill>
                  <a:srgbClr val="0E1A2D"/>
                </a:solidFill>
                <a:latin typeface="Yu Gothic"/>
                <a:ea typeface="Yu Gothic"/>
                <a:cs typeface="Yu Gothic"/>
              </a:rPr>
              <a:t>D20</a:t>
            </a:r>
          </a:p>
        </p:txBody>
      </p:sp>
      <p:sp>
        <p:nvSpPr>
          <p:cNvPr id="2" name="">
            <a:extLst xmlns:a="http://schemas.openxmlformats.org/drawingml/2006/main">
              <a:ext uri="{FF2B5EF4-FFF2-40B4-BE49-F238E27FC236}">
                <a16:creationId xmlns:a16="http://schemas.microsoft.com/office/drawing/2014/main" id="{90390FAA-5953-4C6B-90D0-D508DAA67DCD}"/>
              </a:ext>
            </a:extLst>
          </p:cNvPr>
          <p:cNvSpPr>
            <a:spLocks xmlns:a="http://schemas.openxmlformats.org/drawingml/2006/main" noGrp="1"/>
          </p:cNvSpPr>
          <p:nvPr/>
        </p:nvSpPr>
        <p:spPr>
          <a:xfrm xmlns:a="http://schemas.openxmlformats.org/drawingml/2006/main">
            <a:off x="685800" y="1524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0E1A2D"/>
                </a:solidFill>
                <a:latin typeface="Yu Gothic"/>
                <a:ea typeface="Yu Gothic"/>
                <a:cs typeface="Yu Gothic"/>
              </a:defRPr>
            </a:pPr>
            <a:r>
              <a:rPr sz="1200" b="1" i="0">
                <a:solidFill>
                  <a:srgbClr val="0E1A2D"/>
                </a:solidFill>
                <a:latin typeface="Yu Gothic"/>
                <a:ea typeface="Yu Gothic"/>
                <a:cs typeface="Yu Gothic"/>
              </a:rPr>
              <a:t>導入事例 / Case Study</a:t>
            </a:r>
          </a:p>
        </p:txBody>
      </p:sp>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a0edae45390348d9"/>
          <a:srcRect xmlns:a="http://schemas.openxmlformats.org/drawingml/2006/main" l="1178" t="0" r="1178" b="0"/>
          <a:stretch xmlns:a="http://schemas.openxmlformats.org/drawingml/2006/main">
            <a:fillRect l="0" t="0" r="0" b="0"/>
          </a:stretch>
        </p:blipFill>
        <p:spPr>
          <a:xfrm xmlns:a="http://schemas.openxmlformats.org/drawingml/2006/main">
            <a:off x="9906000" y="0"/>
            <a:ext cx="2286000" cy="1885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C6F812A-1EFB-4D5F-A701-4B62E3CD7E7D}"/>
              </a:ext>
            </a:extLst>
          </p:cNvPr>
          <p:cNvSpPr>
            <a:spLocks xmlns:a="http://schemas.openxmlformats.org/drawingml/2006/main" noGrp="1"/>
          </p:cNvSpPr>
          <p:nvPr/>
        </p:nvSpPr>
        <p:spPr>
          <a:xfrm xmlns:a="http://schemas.openxmlformats.org/drawingml/2006/main">
            <a:off x="7715250" y="142875"/>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latin typeface="Yu Gothic"/>
                <a:ea typeface="Yu Gothic"/>
                <a:cs typeface="Yu Gothic"/>
              </a:defRPr>
            </a:pPr>
            <a:r>
              <a:rPr sz="1350" b="1">
                <a:solidFill>
                  <a:srgbClr val="ED1C24"/>
                </a:solidFill>
                <a:latin typeface="Yu Gothic"/>
                <a:ea typeface="Yu Gothic"/>
                <a:cs typeface="Yu Gothic"/>
              </a:rPr>
              <a:t>提案</a:t>
            </a:r>
            <a:r>
              <a:rPr sz="1350" b="1">
                <a:solidFill>
                  <a:srgbClr val="0E1A2D"/>
                </a:solidFill>
                <a:latin typeface="Yu Gothic"/>
                <a:ea typeface="Yu Gothic"/>
                <a:cs typeface="Yu Gothic"/>
              </a:rPr>
              <a:t>クエスト</a:t>
            </a:r>
          </a:p>
        </p:txBody>
      </p:sp>
      <p:sp>
        <p:nvSpPr>
          <p:cNvPr id="5" name="">
            <a:extLst xmlns:a="http://schemas.openxmlformats.org/drawingml/2006/main">
              <a:ext uri="{FF2B5EF4-FFF2-40B4-BE49-F238E27FC236}">
                <a16:creationId xmlns:a16="http://schemas.microsoft.com/office/drawing/2014/main" id="{AA8A05BB-A765-44F2-8799-F6A42E8B2F0E}"/>
              </a:ext>
            </a:extLst>
          </p:cNvPr>
          <p:cNvSpPr>
            <a:spLocks xmlns:a="http://schemas.openxmlformats.org/drawingml/2006/main" noGrp="1"/>
          </p:cNvSpPr>
          <p:nvPr/>
        </p:nvSpPr>
        <p:spPr>
          <a:xfrm xmlns:a="http://schemas.openxmlformats.org/drawingml/2006/main">
            <a:off x="7524750" y="447675"/>
            <a:ext cx="2333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563" b="1" i="0">
                <a:solidFill>
                  <a:srgbClr val="ED1C24"/>
                </a:solidFill>
                <a:latin typeface="Yu Gothic"/>
                <a:ea typeface="Yu Gothic"/>
                <a:cs typeface="Yu Gothic"/>
              </a:defRPr>
            </a:pPr>
            <a:r>
              <a:rPr sz="563" b="1" i="0">
                <a:solidFill>
                  <a:srgbClr val="ED1C24"/>
                </a:solidFill>
                <a:latin typeface="Yu Gothic"/>
                <a:ea typeface="Yu Gothic"/>
                <a:cs typeface="Yu Gothic"/>
              </a:rPr>
              <a:t>AIで、提案をもっと速く、もっと強く。</a:t>
            </a:r>
          </a:p>
        </p:txBody>
      </p:sp>
      <p:sp>
        <p:nvSpPr>
          <p:cNvPr id="6" name="">
            <a:extLst xmlns:a="http://schemas.openxmlformats.org/drawingml/2006/main">
              <a:ext uri="{FF2B5EF4-FFF2-40B4-BE49-F238E27FC236}">
                <a16:creationId xmlns:a16="http://schemas.microsoft.com/office/drawing/2014/main" id="{0BF2920D-5CB4-4F59-8AB7-94967F2955B1}"/>
              </a:ext>
            </a:extLst>
          </p:cNvPr>
          <p:cNvSpPr>
            <a:spLocks xmlns:a="http://schemas.openxmlformats.org/drawingml/2006/main" noGrp="1"/>
          </p:cNvSpPr>
          <p:nvPr/>
        </p:nvSpPr>
        <p:spPr>
          <a:xfrm xmlns:a="http://schemas.openxmlformats.org/drawingml/2006/main">
            <a:off x="10810875" y="2476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75" b="1" i="0">
                <a:solidFill>
                  <a:srgbClr val="0E1A2D"/>
                </a:solidFill>
                <a:latin typeface="Yu Gothic"/>
                <a:ea typeface="Yu Gothic"/>
                <a:cs typeface="Yu Gothic"/>
              </a:defRPr>
            </a:pPr>
            <a:r>
              <a:rPr sz="675" b="1" i="0">
                <a:solidFill>
                  <a:srgbClr val="0E1A2D"/>
                </a:solidFill>
                <a:latin typeface="Yu Gothic"/>
                <a:ea typeface="Yu Gothic"/>
                <a:cs typeface="Yu Gothic"/>
              </a:rPr>
              <a:t>THINK TOGETHER,</a:t>
            </a:r>
          </a:p>
          <a:p xmlns:a="http://schemas.openxmlformats.org/drawingml/2006/main">
            <a:pPr algn="l">
              <a:defRPr sz="675" b="1" i="0">
                <a:solidFill>
                  <a:srgbClr val="0E1A2D"/>
                </a:solidFill>
                <a:latin typeface="Yu Gothic"/>
                <a:ea typeface="Yu Gothic"/>
                <a:cs typeface="Yu Gothic"/>
              </a:defRPr>
            </a:pPr>
            <a:r>
              <a:rPr sz="675" b="1" i="0">
                <a:solidFill>
                  <a:srgbClr val="0E1A2D"/>
                </a:solidFill>
                <a:latin typeface="Yu Gothic"/>
                <a:ea typeface="Yu Gothic"/>
                <a:cs typeface="Yu Gothic"/>
              </a:rPr>
              <a:t>CREATE THE NEXT.</a:t>
            </a:r>
          </a:p>
        </p:txBody>
      </p:sp>
      <p:sp>
        <p:nvSpPr>
          <p:cNvPr id="7" name="">
            <a:extLst xmlns:a="http://schemas.openxmlformats.org/drawingml/2006/main">
              <a:ext uri="{FF2B5EF4-FFF2-40B4-BE49-F238E27FC236}">
                <a16:creationId xmlns:a16="http://schemas.microsoft.com/office/drawing/2014/main" id="{1C9A8EF5-B94A-4DB7-9AC8-DDC7EB7039AD}"/>
              </a:ext>
            </a:extLst>
          </p:cNvPr>
          <p:cNvSpPr>
            <a:spLocks xmlns:a="http://schemas.openxmlformats.org/drawingml/2006/main" noGrp="1"/>
          </p:cNvSpPr>
          <p:nvPr/>
        </p:nvSpPr>
        <p:spPr>
          <a:xfrm xmlns:a="http://schemas.openxmlformats.org/drawingml/2006/main">
            <a:off x="10810875" y="666750"/>
            <a:ext cx="1238250" cy="9525"/>
          </a:xfrm>
          <a:prstGeom xmlns:a="http://schemas.openxmlformats.org/drawingml/2006/main" prst="rect">
            <a:avLst/>
          </a:prstGeom>
          <a:solidFill xmlns:a="http://schemas.openxmlformats.org/drawingml/2006/main">
            <a:srgbClr val="0E1A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8EFF1BC-FF9D-40A0-B7C9-745D1C50B415}"/>
              </a:ext>
            </a:extLst>
          </p:cNvPr>
          <p:cNvSpPr>
            <a:spLocks xmlns:a="http://schemas.openxmlformats.org/drawingml/2006/main" noGrp="1"/>
          </p:cNvSpPr>
          <p:nvPr/>
        </p:nvSpPr>
        <p:spPr>
          <a:xfrm xmlns:a="http://schemas.openxmlformats.org/drawingml/2006/main">
            <a:off x="8858250" y="0"/>
            <a:ext cx="1000125" cy="1885950"/>
          </a:xfrm>
          <a:prstGeom xmlns:a="http://schemas.openxmlformats.org/drawingml/2006/main" prst="parallelogram">
            <a:avLst/>
          </a:prstGeom>
          <a:solidFill xmlns:a="http://schemas.openxmlformats.org/drawingml/2006/main">
            <a:srgbClr val="FFF1F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F2C3129-E1EB-4228-B49F-EF6B189C01FE}"/>
              </a:ext>
            </a:extLst>
          </p:cNvPr>
          <p:cNvSpPr>
            <a:spLocks xmlns:a="http://schemas.openxmlformats.org/drawingml/2006/main" noGrp="1"/>
          </p:cNvSpPr>
          <p:nvPr/>
        </p:nvSpPr>
        <p:spPr>
          <a:xfrm xmlns:a="http://schemas.openxmlformats.org/drawingml/2006/main">
            <a:off x="9201150" y="0"/>
            <a:ext cx="1000125" cy="2076450"/>
          </a:xfrm>
          <a:prstGeom xmlns:a="http://schemas.openxmlformats.org/drawingml/2006/main" prst="parallelogram">
            <a:avLst/>
          </a:prstGeom>
          <a:solidFill xmlns:a="http://schemas.openxmlformats.org/drawingml/2006/main">
            <a:srgbClr val="ED1C2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B4CDF3-48CB-46DC-96CE-7A91124665FF}"/>
              </a:ext>
            </a:extLst>
          </p:cNvPr>
          <p:cNvSpPr>
            <a:spLocks xmlns:a="http://schemas.openxmlformats.org/drawingml/2006/main" noGrp="1"/>
          </p:cNvSpPr>
          <p:nvPr/>
        </p:nvSpPr>
        <p:spPr>
          <a:xfrm xmlns:a="http://schemas.openxmlformats.org/drawingml/2006/main">
            <a:off x="9601200" y="0"/>
            <a:ext cx="171450" cy="2038350"/>
          </a:xfrm>
          <a:prstGeom xmlns:a="http://schemas.openxmlformats.org/drawingml/2006/main" prst="parallelogram">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7E0F25A-CA4C-4F4E-867E-D76E61E89D03}"/>
              </a:ext>
            </a:extLst>
          </p:cNvPr>
          <p:cNvSpPr>
            <a:spLocks xmlns:a="http://schemas.openxmlformats.org/drawingml/2006/main" noGrp="1"/>
          </p:cNvSpPr>
          <p:nvPr/>
        </p:nvSpPr>
        <p:spPr>
          <a:xfrm xmlns:a="http://schemas.openxmlformats.org/drawingml/2006/main">
            <a:off x="9782175" y="0"/>
            <a:ext cx="133350" cy="2000250"/>
          </a:xfrm>
          <a:prstGeom xmlns:a="http://schemas.openxmlformats.org/drawingml/2006/main" prst="parallelogram">
            <a:avLst/>
          </a:prstGeom>
          <a:solidFill xmlns:a="http://schemas.openxmlformats.org/drawingml/2006/main">
            <a:srgbClr val="EAF0F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5FB8ED1-0A85-4AC9-92F0-3C8EA999210E}"/>
              </a:ext>
            </a:extLst>
          </p:cNvPr>
          <p:cNvSpPr>
            <a:spLocks xmlns:a="http://schemas.openxmlformats.org/drawingml/2006/main" noGrp="1"/>
          </p:cNvSpPr>
          <p:nvPr/>
        </p:nvSpPr>
        <p:spPr>
          <a:xfrm xmlns:a="http://schemas.openxmlformats.org/drawingml/2006/main">
            <a:off x="381000" y="590550"/>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1">
                <a:latin typeface="Yu Gothic"/>
                <a:ea typeface="Yu Gothic"/>
                <a:cs typeface="Yu Gothic"/>
              </a:defRPr>
            </a:pPr>
            <a:r>
              <a:rPr sz="2475" b="1">
                <a:solidFill>
                  <a:srgbClr val="0E1A2D"/>
                </a:solidFill>
                <a:latin typeface="Yu Gothic"/>
                <a:ea typeface="Yu Gothic"/>
                <a:cs typeface="Yu Gothic"/>
              </a:rPr>
              <a:t>提案クエストが、</a:t>
            </a:r>
            <a:r>
              <a:rPr sz="2475" b="1">
                <a:solidFill>
                  <a:srgbClr val="ED1C24"/>
                </a:solidFill>
                <a:latin typeface="Yu Gothic"/>
                <a:ea typeface="Yu Gothic"/>
                <a:cs typeface="Yu Gothic"/>
              </a:rPr>
              <a:t>現場の提案活動</a:t>
            </a:r>
            <a:r>
              <a:rPr sz="2475" b="1">
                <a:solidFill>
                  <a:srgbClr val="0E1A2D"/>
                </a:solidFill>
                <a:latin typeface="Yu Gothic"/>
                <a:ea typeface="Yu Gothic"/>
                <a:cs typeface="Yu Gothic"/>
              </a:rPr>
              <a:t>を変えた</a:t>
            </a:r>
          </a:p>
        </p:txBody>
      </p:sp>
      <p:sp>
        <p:nvSpPr>
          <p:cNvPr id="13" name="">
            <a:extLst xmlns:a="http://schemas.openxmlformats.org/drawingml/2006/main">
              <a:ext uri="{FF2B5EF4-FFF2-40B4-BE49-F238E27FC236}">
                <a16:creationId xmlns:a16="http://schemas.microsoft.com/office/drawing/2014/main" id="{AD88E06B-3A33-47B4-B66F-5A84B1E37D34}"/>
              </a:ext>
            </a:extLst>
          </p:cNvPr>
          <p:cNvSpPr>
            <a:spLocks xmlns:a="http://schemas.openxmlformats.org/drawingml/2006/main" noGrp="1"/>
          </p:cNvSpPr>
          <p:nvPr/>
        </p:nvSpPr>
        <p:spPr>
          <a:xfrm xmlns:a="http://schemas.openxmlformats.org/drawingml/2006/main">
            <a:off x="400050" y="1066800"/>
            <a:ext cx="600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0E1A2D"/>
                </a:solidFill>
                <a:latin typeface="Yu Gothic"/>
                <a:ea typeface="Yu Gothic"/>
                <a:cs typeface="Yu Gothic"/>
              </a:defRPr>
            </a:pPr>
            <a:r>
              <a:rPr sz="1350" b="1" i="0">
                <a:solidFill>
                  <a:srgbClr val="0E1A2D"/>
                </a:solidFill>
                <a:latin typeface="Yu Gothic"/>
                <a:ea typeface="Yu Gothic"/>
                <a:cs typeface="Yu Gothic"/>
              </a:rPr>
              <a:t>実際の導入企業様において、提案資料の作成時間削減だけでなく、</a:t>
            </a:r>
          </a:p>
          <a:p xmlns:a="http://schemas.openxmlformats.org/drawingml/2006/main">
            <a:pPr algn="l">
              <a:defRPr sz="1350" b="1" i="0">
                <a:solidFill>
                  <a:srgbClr val="0E1A2D"/>
                </a:solidFill>
                <a:latin typeface="Yu Gothic"/>
                <a:ea typeface="Yu Gothic"/>
                <a:cs typeface="Yu Gothic"/>
              </a:defRPr>
            </a:pPr>
            <a:r>
              <a:rPr sz="1350" b="1" i="0">
                <a:solidFill>
                  <a:srgbClr val="0E1A2D"/>
                </a:solidFill>
                <a:latin typeface="Yu Gothic"/>
                <a:ea typeface="Yu Gothic"/>
                <a:cs typeface="Yu Gothic"/>
              </a:rPr>
              <a:t>受注率の向上や組織の提案力強化など、</a:t>
            </a:r>
          </a:p>
        </p:txBody>
      </p:sp>
      <p:sp>
        <p:nvSpPr>
          <p:cNvPr id="14" name="">
            <a:extLst xmlns:a="http://schemas.openxmlformats.org/drawingml/2006/main">
              <a:ext uri="{FF2B5EF4-FFF2-40B4-BE49-F238E27FC236}">
                <a16:creationId xmlns:a16="http://schemas.microsoft.com/office/drawing/2014/main" id="{77ADAD8B-B7CC-48B5-9D71-DFF2A1C0F606}"/>
              </a:ext>
            </a:extLst>
          </p:cNvPr>
          <p:cNvSpPr>
            <a:spLocks xmlns:a="http://schemas.openxmlformats.org/drawingml/2006/main" noGrp="1"/>
          </p:cNvSpPr>
          <p:nvPr/>
        </p:nvSpPr>
        <p:spPr>
          <a:xfrm xmlns:a="http://schemas.openxmlformats.org/drawingml/2006/main">
            <a:off x="3905250" y="14859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ED1C24"/>
                </a:solidFill>
                <a:latin typeface="Yu Gothic"/>
                <a:ea typeface="Yu Gothic"/>
                <a:cs typeface="Yu Gothic"/>
              </a:defRPr>
            </a:pPr>
            <a:r>
              <a:rPr sz="1350" b="1" i="0">
                <a:solidFill>
                  <a:srgbClr val="ED1C24"/>
                </a:solidFill>
                <a:latin typeface="Yu Gothic"/>
                <a:ea typeface="Yu Gothic"/>
                <a:cs typeface="Yu Gothic"/>
              </a:rPr>
              <a:t>具体的な成果が生まれています。</a:t>
            </a:r>
          </a:p>
        </p:txBody>
      </p:sp>
      <p:sp>
        <p:nvSpPr>
          <p:cNvPr id="15" name="">
            <a:extLst xmlns:a="http://schemas.openxmlformats.org/drawingml/2006/main">
              <a:ext uri="{FF2B5EF4-FFF2-40B4-BE49-F238E27FC236}">
                <a16:creationId xmlns:a16="http://schemas.microsoft.com/office/drawing/2014/main" id="{455B0F4E-2C77-437B-AE39-089F4C6562FC}"/>
              </a:ext>
            </a:extLst>
          </p:cNvPr>
          <p:cNvSpPr>
            <a:spLocks xmlns:a="http://schemas.openxmlformats.org/drawingml/2006/main" noGrp="1"/>
          </p:cNvSpPr>
          <p:nvPr/>
        </p:nvSpPr>
        <p:spPr>
          <a:xfrm xmlns:a="http://schemas.openxmlformats.org/drawingml/2006/main">
            <a:off x="228600" y="1885950"/>
            <a:ext cx="9525000" cy="419100"/>
          </a:xfrm>
          <a:prstGeom xmlns:a="http://schemas.openxmlformats.org/drawingml/2006/main" prst="roundRect">
            <a:avLst>
              <a:gd name="adj" fmla="val 18182"/>
            </a:avLst>
          </a:prstGeom>
          <a:solidFill xmlns:a="http://schemas.openxmlformats.org/drawingml/2006/main">
            <a:srgbClr val="14274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62C1869-1AA1-400E-BAD3-275A783EADF8}"/>
              </a:ext>
            </a:extLst>
          </p:cNvPr>
          <p:cNvSpPr>
            <a:spLocks xmlns:a="http://schemas.openxmlformats.org/drawingml/2006/main" noGrp="1"/>
          </p:cNvSpPr>
          <p:nvPr/>
        </p:nvSpPr>
        <p:spPr>
          <a:xfrm xmlns:a="http://schemas.openxmlformats.org/drawingml/2006/main">
            <a:off x="400050" y="1924050"/>
            <a:ext cx="876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FFFFFF"/>
                </a:solidFill>
                <a:latin typeface="Yu Gothic"/>
                <a:ea typeface="Yu Gothic"/>
                <a:cs typeface="Yu Gothic"/>
              </a:defRPr>
            </a:pPr>
            <a:r>
              <a:rPr sz="1350" b="1" i="0">
                <a:solidFill>
                  <a:srgbClr val="FFFFFF"/>
                </a:solidFill>
                <a:latin typeface="Yu Gothic"/>
                <a:ea typeface="Yu Gothic"/>
                <a:cs typeface="Yu Gothic"/>
              </a:rPr>
              <a:t>CASE 01</a:t>
            </a:r>
          </a:p>
        </p:txBody>
      </p:sp>
      <p:sp>
        <p:nvSpPr>
          <p:cNvPr id="17" name="">
            <a:extLst xmlns:a="http://schemas.openxmlformats.org/drawingml/2006/main">
              <a:ext uri="{FF2B5EF4-FFF2-40B4-BE49-F238E27FC236}">
                <a16:creationId xmlns:a16="http://schemas.microsoft.com/office/drawing/2014/main" id="{AC5B6396-5FC3-47E9-9E6F-5513654E5820}"/>
              </a:ext>
            </a:extLst>
          </p:cNvPr>
          <p:cNvSpPr>
            <a:spLocks xmlns:a="http://schemas.openxmlformats.org/drawingml/2006/main" noGrp="1"/>
          </p:cNvSpPr>
          <p:nvPr/>
        </p:nvSpPr>
        <p:spPr>
          <a:xfrm xmlns:a="http://schemas.openxmlformats.org/drawingml/2006/main">
            <a:off x="1257300" y="19240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FFFFFF"/>
                </a:solidFill>
                <a:latin typeface="Yu Gothic"/>
                <a:ea typeface="Yu Gothic"/>
                <a:cs typeface="Yu Gothic"/>
              </a:defRPr>
            </a:pPr>
            <a:r>
              <a:rPr sz="1200" b="1" i="0">
                <a:solidFill>
                  <a:srgbClr val="FFFFFF"/>
                </a:solidFill>
                <a:latin typeface="Yu Gothic"/>
                <a:ea typeface="Yu Gothic"/>
                <a:cs typeface="Yu Gothic"/>
              </a:rPr>
              <a:t>株式会社フラワーオークションジャパン（FAJ）様</a:t>
            </a:r>
          </a:p>
        </p:txBody>
      </p:sp>
      <p:sp>
        <p:nvSpPr>
          <p:cNvPr id="18" name="">
            <a:extLst xmlns:a="http://schemas.openxmlformats.org/drawingml/2006/main">
              <a:ext uri="{FF2B5EF4-FFF2-40B4-BE49-F238E27FC236}">
                <a16:creationId xmlns:a16="http://schemas.microsoft.com/office/drawing/2014/main" id="{BFAE0411-5115-49D2-858C-EFB88AAEBF01}"/>
              </a:ext>
            </a:extLst>
          </p:cNvPr>
          <p:cNvSpPr>
            <a:spLocks xmlns:a="http://schemas.openxmlformats.org/drawingml/2006/main" noGrp="1"/>
          </p:cNvSpPr>
          <p:nvPr/>
        </p:nvSpPr>
        <p:spPr>
          <a:xfrm xmlns:a="http://schemas.openxmlformats.org/drawingml/2006/main">
            <a:off x="5505450" y="1943100"/>
            <a:ext cx="1295400" cy="295275"/>
          </a:xfrm>
          <a:prstGeom xmlns:a="http://schemas.openxmlformats.org/drawingml/2006/main" prst="roundRect">
            <a:avLst>
              <a:gd name="adj" fmla="val 25806"/>
            </a:avLst>
          </a:prstGeom>
          <a:solidFill xmlns:a="http://schemas.openxmlformats.org/drawingml/2006/main">
            <a:srgbClr val="EAF0F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CAFEF2C-0B1C-4F9F-8559-7C1A5A11EC93}"/>
              </a:ext>
            </a:extLst>
          </p:cNvPr>
          <p:cNvSpPr>
            <a:spLocks xmlns:a="http://schemas.openxmlformats.org/drawingml/2006/main" noGrp="1"/>
          </p:cNvSpPr>
          <p:nvPr/>
        </p:nvSpPr>
        <p:spPr>
          <a:xfrm xmlns:a="http://schemas.openxmlformats.org/drawingml/2006/main">
            <a:off x="5562600" y="1971675"/>
            <a:ext cx="1181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i="0">
                <a:solidFill>
                  <a:srgbClr val="0E1A2D"/>
                </a:solidFill>
                <a:latin typeface="Yu Gothic"/>
                <a:ea typeface="Yu Gothic"/>
                <a:cs typeface="Yu Gothic"/>
              </a:defRPr>
            </a:pPr>
            <a:r>
              <a:rPr sz="675" b="1" i="0">
                <a:solidFill>
                  <a:srgbClr val="0E1A2D"/>
                </a:solidFill>
                <a:latin typeface="Yu Gothic"/>
                <a:ea typeface="Yu Gothic"/>
                <a:cs typeface="Yu Gothic"/>
              </a:rPr>
              <a:t>業種　花き流通・卸売</a:t>
            </a:r>
          </a:p>
        </p:txBody>
      </p:sp>
      <p:sp>
        <p:nvSpPr>
          <p:cNvPr id="20" name="">
            <a:extLst xmlns:a="http://schemas.openxmlformats.org/drawingml/2006/main">
              <a:ext uri="{FF2B5EF4-FFF2-40B4-BE49-F238E27FC236}">
                <a16:creationId xmlns:a16="http://schemas.microsoft.com/office/drawing/2014/main" id="{129EF108-BC55-480E-9AB6-2E38A8C26B52}"/>
              </a:ext>
            </a:extLst>
          </p:cNvPr>
          <p:cNvSpPr>
            <a:spLocks xmlns:a="http://schemas.openxmlformats.org/drawingml/2006/main" noGrp="1"/>
          </p:cNvSpPr>
          <p:nvPr/>
        </p:nvSpPr>
        <p:spPr>
          <a:xfrm xmlns:a="http://schemas.openxmlformats.org/drawingml/2006/main">
            <a:off x="6858000" y="1943100"/>
            <a:ext cx="1295400" cy="295275"/>
          </a:xfrm>
          <a:prstGeom xmlns:a="http://schemas.openxmlformats.org/drawingml/2006/main" prst="roundRect">
            <a:avLst>
              <a:gd name="adj" fmla="val 25806"/>
            </a:avLst>
          </a:prstGeom>
          <a:solidFill xmlns:a="http://schemas.openxmlformats.org/drawingml/2006/main">
            <a:srgbClr val="EAF0F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BEE922F-6373-4434-8864-2BF8AC33C655}"/>
              </a:ext>
            </a:extLst>
          </p:cNvPr>
          <p:cNvSpPr>
            <a:spLocks xmlns:a="http://schemas.openxmlformats.org/drawingml/2006/main" noGrp="1"/>
          </p:cNvSpPr>
          <p:nvPr/>
        </p:nvSpPr>
        <p:spPr>
          <a:xfrm xmlns:a="http://schemas.openxmlformats.org/drawingml/2006/main">
            <a:off x="6915150" y="1971675"/>
            <a:ext cx="1181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i="0">
                <a:solidFill>
                  <a:srgbClr val="0E1A2D"/>
                </a:solidFill>
                <a:latin typeface="Yu Gothic"/>
                <a:ea typeface="Yu Gothic"/>
                <a:cs typeface="Yu Gothic"/>
              </a:defRPr>
            </a:pPr>
            <a:r>
              <a:rPr sz="675" b="1" i="0">
                <a:solidFill>
                  <a:srgbClr val="0E1A2D"/>
                </a:solidFill>
                <a:latin typeface="Yu Gothic"/>
                <a:ea typeface="Yu Gothic"/>
                <a:cs typeface="Yu Gothic"/>
              </a:rPr>
              <a:t>従業員数　約200名</a:t>
            </a:r>
          </a:p>
        </p:txBody>
      </p:sp>
      <p:sp>
        <p:nvSpPr>
          <p:cNvPr id="22" name="">
            <a:extLst xmlns:a="http://schemas.openxmlformats.org/drawingml/2006/main">
              <a:ext uri="{FF2B5EF4-FFF2-40B4-BE49-F238E27FC236}">
                <a16:creationId xmlns:a16="http://schemas.microsoft.com/office/drawing/2014/main" id="{C1FC8C88-ECF3-426D-B38D-3480A5FAE36A}"/>
              </a:ext>
            </a:extLst>
          </p:cNvPr>
          <p:cNvSpPr>
            <a:spLocks xmlns:a="http://schemas.openxmlformats.org/drawingml/2006/main" noGrp="1"/>
          </p:cNvSpPr>
          <p:nvPr/>
        </p:nvSpPr>
        <p:spPr>
          <a:xfrm xmlns:a="http://schemas.openxmlformats.org/drawingml/2006/main">
            <a:off x="8210550" y="1943100"/>
            <a:ext cx="1295400" cy="295275"/>
          </a:xfrm>
          <a:prstGeom xmlns:a="http://schemas.openxmlformats.org/drawingml/2006/main" prst="roundRect">
            <a:avLst>
              <a:gd name="adj" fmla="val 25806"/>
            </a:avLst>
          </a:prstGeom>
          <a:solidFill xmlns:a="http://schemas.openxmlformats.org/drawingml/2006/main">
            <a:srgbClr val="EAF0F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8BF46C4-77F3-4A29-91EB-E1C5C196190A}"/>
              </a:ext>
            </a:extLst>
          </p:cNvPr>
          <p:cNvSpPr>
            <a:spLocks xmlns:a="http://schemas.openxmlformats.org/drawingml/2006/main" noGrp="1"/>
          </p:cNvSpPr>
          <p:nvPr/>
        </p:nvSpPr>
        <p:spPr>
          <a:xfrm xmlns:a="http://schemas.openxmlformats.org/drawingml/2006/main">
            <a:off x="8267700" y="1971675"/>
            <a:ext cx="1181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i="0">
                <a:solidFill>
                  <a:srgbClr val="0E1A2D"/>
                </a:solidFill>
                <a:latin typeface="Yu Gothic"/>
                <a:ea typeface="Yu Gothic"/>
                <a:cs typeface="Yu Gothic"/>
              </a:defRPr>
            </a:pPr>
            <a:r>
              <a:rPr sz="675" b="1" i="0">
                <a:solidFill>
                  <a:srgbClr val="0E1A2D"/>
                </a:solidFill>
                <a:latin typeface="Yu Gothic"/>
                <a:ea typeface="Yu Gothic"/>
                <a:cs typeface="Yu Gothic"/>
              </a:rPr>
              <a:t>導入時期　2026年4月</a:t>
            </a:r>
          </a:p>
        </p:txBody>
      </p:sp>
      <p:sp>
        <p:nvSpPr>
          <p:cNvPr id="24" name="">
            <a:extLst xmlns:a="http://schemas.openxmlformats.org/drawingml/2006/main">
              <a:ext uri="{FF2B5EF4-FFF2-40B4-BE49-F238E27FC236}">
                <a16:creationId xmlns:a16="http://schemas.microsoft.com/office/drawing/2014/main" id="{BEAC86C3-F6FA-48D0-BCE8-C5BBE7AB0EEB}"/>
              </a:ext>
            </a:extLst>
          </p:cNvPr>
          <p:cNvSpPr>
            <a:spLocks xmlns:a="http://schemas.openxmlformats.org/drawingml/2006/main" noGrp="1"/>
          </p:cNvSpPr>
          <p:nvPr/>
        </p:nvSpPr>
        <p:spPr>
          <a:xfrm xmlns:a="http://schemas.openxmlformats.org/drawingml/2006/main">
            <a:off x="400050" y="2362200"/>
            <a:ext cx="8524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i="0">
                <a:solidFill>
                  <a:srgbClr val="0E1A2D"/>
                </a:solidFill>
                <a:latin typeface="Yu Gothic"/>
                <a:ea typeface="Yu Gothic"/>
                <a:cs typeface="Yu Gothic"/>
              </a:defRPr>
            </a:pPr>
            <a:r>
              <a:rPr sz="1425" b="1" i="0">
                <a:solidFill>
                  <a:srgbClr val="0E1A2D"/>
                </a:solidFill>
                <a:latin typeface="Yu Gothic"/>
                <a:ea typeface="Yu Gothic"/>
                <a:cs typeface="Yu Gothic"/>
              </a:rPr>
              <a:t>複雑な業務課題を、AIと人の知見で整理。説得力のある提案で、PoCから本格導入へ。</a:t>
            </a:r>
          </a:p>
        </p:txBody>
      </p:sp>
      <p:sp>
        <p:nvSpPr>
          <p:cNvPr id="25" name="">
            <a:extLst xmlns:a="http://schemas.openxmlformats.org/drawingml/2006/main">
              <a:ext uri="{FF2B5EF4-FFF2-40B4-BE49-F238E27FC236}">
                <a16:creationId xmlns:a16="http://schemas.microsoft.com/office/drawing/2014/main" id="{9ABE8CE3-6C21-4343-BE46-C699A6D27D22}"/>
              </a:ext>
            </a:extLst>
          </p:cNvPr>
          <p:cNvSpPr>
            <a:spLocks xmlns:a="http://schemas.openxmlformats.org/drawingml/2006/main" noGrp="1"/>
          </p:cNvSpPr>
          <p:nvPr/>
        </p:nvSpPr>
        <p:spPr>
          <a:xfrm xmlns:a="http://schemas.openxmlformats.org/drawingml/2006/main">
            <a:off x="400050" y="2686050"/>
            <a:ext cx="2647950" cy="304800"/>
          </a:xfrm>
          <a:prstGeom xmlns:a="http://schemas.openxmlformats.org/drawingml/2006/main" prst="roundRect">
            <a:avLst>
              <a:gd name="adj" fmla="val 25000"/>
            </a:avLst>
          </a:prstGeom>
          <a:solidFill xmlns:a="http://schemas.openxmlformats.org/drawingml/2006/main">
            <a:srgbClr val="DDE3E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95FB00A-3566-4428-AA88-12C338439F7A}"/>
              </a:ext>
            </a:extLst>
          </p:cNvPr>
          <p:cNvSpPr>
            <a:spLocks xmlns:a="http://schemas.openxmlformats.org/drawingml/2006/main" noGrp="1"/>
          </p:cNvSpPr>
          <p:nvPr/>
        </p:nvSpPr>
        <p:spPr>
          <a:xfrm xmlns:a="http://schemas.openxmlformats.org/drawingml/2006/main">
            <a:off x="533400" y="27051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0E1A2D"/>
                </a:solidFill>
                <a:latin typeface="Yu Gothic"/>
                <a:ea typeface="Yu Gothic"/>
                <a:cs typeface="Yu Gothic"/>
              </a:defRPr>
            </a:pPr>
            <a:r>
              <a:rPr sz="1200" b="1" i="0">
                <a:solidFill>
                  <a:srgbClr val="0E1A2D"/>
                </a:solidFill>
                <a:latin typeface="Yu Gothic"/>
                <a:ea typeface="Yu Gothic"/>
                <a:cs typeface="Yu Gothic"/>
              </a:rPr>
              <a:t>導入前の課題</a:t>
            </a:r>
          </a:p>
        </p:txBody>
      </p:sp>
      <p:sp>
        <p:nvSpPr>
          <p:cNvPr id="27" name="">
            <a:extLst xmlns:a="http://schemas.openxmlformats.org/drawingml/2006/main">
              <a:ext uri="{FF2B5EF4-FFF2-40B4-BE49-F238E27FC236}">
                <a16:creationId xmlns:a16="http://schemas.microsoft.com/office/drawing/2014/main" id="{95C8D6AA-D95E-47EB-B406-3083103829C3}"/>
              </a:ext>
            </a:extLst>
          </p:cNvPr>
          <p:cNvSpPr>
            <a:spLocks xmlns:a="http://schemas.openxmlformats.org/drawingml/2006/main" noGrp="1"/>
          </p:cNvSpPr>
          <p:nvPr/>
        </p:nvSpPr>
        <p:spPr>
          <a:xfrm xmlns:a="http://schemas.openxmlformats.org/drawingml/2006/main">
            <a:off x="400050" y="2990850"/>
            <a:ext cx="2647950" cy="1847850"/>
          </a:xfrm>
          <a:prstGeom xmlns:a="http://schemas.openxmlformats.org/drawingml/2006/main" prst="roundRect">
            <a:avLst>
              <a:gd name="adj" fmla="val 4124"/>
            </a:avLst>
          </a:prstGeom>
          <a:solidFill xmlns:a="http://schemas.openxmlformats.org/drawingml/2006/main">
            <a:srgbClr val="EFF2F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9C3B0F3-019B-4C68-8F63-9E3A1AF9A6A3}"/>
              </a:ext>
            </a:extLst>
          </p:cNvPr>
          <p:cNvSpPr>
            <a:spLocks xmlns:a="http://schemas.openxmlformats.org/drawingml/2006/main" noGrp="1"/>
          </p:cNvSpPr>
          <p:nvPr/>
        </p:nvSpPr>
        <p:spPr>
          <a:xfrm xmlns:a="http://schemas.openxmlformats.org/drawingml/2006/main">
            <a:off x="3333750" y="2686050"/>
            <a:ext cx="2647950" cy="304800"/>
          </a:xfrm>
          <a:prstGeom xmlns:a="http://schemas.openxmlformats.org/drawingml/2006/main" prst="roundRect">
            <a:avLst>
              <a:gd name="adj" fmla="val 25000"/>
            </a:avLst>
          </a:prstGeom>
          <a:solidFill xmlns:a="http://schemas.openxmlformats.org/drawingml/2006/main">
            <a:srgbClr val="ED1C2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A0BA85B-4FB9-416A-AD2F-1EF320702794}"/>
              </a:ext>
            </a:extLst>
          </p:cNvPr>
          <p:cNvSpPr>
            <a:spLocks xmlns:a="http://schemas.openxmlformats.org/drawingml/2006/main" noGrp="1"/>
          </p:cNvSpPr>
          <p:nvPr/>
        </p:nvSpPr>
        <p:spPr>
          <a:xfrm xmlns:a="http://schemas.openxmlformats.org/drawingml/2006/main">
            <a:off x="3467100" y="27051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FFFFFF"/>
                </a:solidFill>
                <a:latin typeface="Yu Gothic"/>
                <a:ea typeface="Yu Gothic"/>
                <a:cs typeface="Yu Gothic"/>
              </a:defRPr>
            </a:pPr>
            <a:r>
              <a:rPr sz="1200" b="1" i="0">
                <a:solidFill>
                  <a:srgbClr val="FFFFFF"/>
                </a:solidFill>
                <a:latin typeface="Yu Gothic"/>
                <a:ea typeface="Yu Gothic"/>
                <a:cs typeface="Yu Gothic"/>
              </a:rPr>
              <a:t>提案クエストの活用</a:t>
            </a:r>
          </a:p>
        </p:txBody>
      </p:sp>
      <p:sp>
        <p:nvSpPr>
          <p:cNvPr id="30" name="">
            <a:extLst xmlns:a="http://schemas.openxmlformats.org/drawingml/2006/main">
              <a:ext uri="{FF2B5EF4-FFF2-40B4-BE49-F238E27FC236}">
                <a16:creationId xmlns:a16="http://schemas.microsoft.com/office/drawing/2014/main" id="{D0E5283E-73B8-4665-B02A-B26C5B0BA940}"/>
              </a:ext>
            </a:extLst>
          </p:cNvPr>
          <p:cNvSpPr>
            <a:spLocks xmlns:a="http://schemas.openxmlformats.org/drawingml/2006/main" noGrp="1"/>
          </p:cNvSpPr>
          <p:nvPr/>
        </p:nvSpPr>
        <p:spPr>
          <a:xfrm xmlns:a="http://schemas.openxmlformats.org/drawingml/2006/main">
            <a:off x="3333750" y="2990850"/>
            <a:ext cx="2647950" cy="1847850"/>
          </a:xfrm>
          <a:prstGeom xmlns:a="http://schemas.openxmlformats.org/drawingml/2006/main" prst="roundRect">
            <a:avLst>
              <a:gd name="adj" fmla="val 4124"/>
            </a:avLst>
          </a:prstGeom>
          <a:solidFill xmlns:a="http://schemas.openxmlformats.org/drawingml/2006/main">
            <a:srgbClr val="FFF1F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B14F5A9-7420-46AF-999F-E61C07D2085C}"/>
              </a:ext>
            </a:extLst>
          </p:cNvPr>
          <p:cNvSpPr>
            <a:spLocks xmlns:a="http://schemas.openxmlformats.org/drawingml/2006/main" noGrp="1"/>
          </p:cNvSpPr>
          <p:nvPr/>
        </p:nvSpPr>
        <p:spPr>
          <a:xfrm xmlns:a="http://schemas.openxmlformats.org/drawingml/2006/main">
            <a:off x="6267450" y="2686050"/>
            <a:ext cx="2647950" cy="304800"/>
          </a:xfrm>
          <a:prstGeom xmlns:a="http://schemas.openxmlformats.org/drawingml/2006/main" prst="roundRect">
            <a:avLst>
              <a:gd name="adj" fmla="val 25000"/>
            </a:avLst>
          </a:prstGeom>
          <a:solidFill xmlns:a="http://schemas.openxmlformats.org/drawingml/2006/main">
            <a:srgbClr val="FCE7E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2431CD0-D6C2-4BA7-BD07-F39195C5BB8D}"/>
              </a:ext>
            </a:extLst>
          </p:cNvPr>
          <p:cNvSpPr>
            <a:spLocks xmlns:a="http://schemas.openxmlformats.org/drawingml/2006/main" noGrp="1"/>
          </p:cNvSpPr>
          <p:nvPr/>
        </p:nvSpPr>
        <p:spPr>
          <a:xfrm xmlns:a="http://schemas.openxmlformats.org/drawingml/2006/main">
            <a:off x="6400800" y="27051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ED1C24"/>
                </a:solidFill>
                <a:latin typeface="Yu Gothic"/>
                <a:ea typeface="Yu Gothic"/>
                <a:cs typeface="Yu Gothic"/>
              </a:defRPr>
            </a:pPr>
            <a:r>
              <a:rPr sz="1200" b="1" i="0">
                <a:solidFill>
                  <a:srgbClr val="ED1C24"/>
                </a:solidFill>
                <a:latin typeface="Yu Gothic"/>
                <a:ea typeface="Yu Gothic"/>
                <a:cs typeface="Yu Gothic"/>
              </a:rPr>
              <a:t>導入後の成果</a:t>
            </a:r>
          </a:p>
        </p:txBody>
      </p:sp>
      <p:sp>
        <p:nvSpPr>
          <p:cNvPr id="33" name="">
            <a:extLst xmlns:a="http://schemas.openxmlformats.org/drawingml/2006/main">
              <a:ext uri="{FF2B5EF4-FFF2-40B4-BE49-F238E27FC236}">
                <a16:creationId xmlns:a16="http://schemas.microsoft.com/office/drawing/2014/main" id="{E3596122-DFE7-42DA-AF5D-27BF1220C9B9}"/>
              </a:ext>
            </a:extLst>
          </p:cNvPr>
          <p:cNvSpPr>
            <a:spLocks xmlns:a="http://schemas.openxmlformats.org/drawingml/2006/main" noGrp="1"/>
          </p:cNvSpPr>
          <p:nvPr/>
        </p:nvSpPr>
        <p:spPr>
          <a:xfrm xmlns:a="http://schemas.openxmlformats.org/drawingml/2006/main">
            <a:off x="6267450" y="2990850"/>
            <a:ext cx="2647950" cy="1847850"/>
          </a:xfrm>
          <a:prstGeom xmlns:a="http://schemas.openxmlformats.org/drawingml/2006/main" prst="roundRect">
            <a:avLst>
              <a:gd name="adj" fmla="val 4124"/>
            </a:avLst>
          </a:prstGeom>
          <a:solidFill xmlns:a="http://schemas.openxmlformats.org/drawingml/2006/main">
            <a:srgbClr val="FFF8F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CF1F465-9956-45D6-87F2-CFD130471313}"/>
              </a:ext>
            </a:extLst>
          </p:cNvPr>
          <p:cNvSpPr>
            <a:spLocks xmlns:a="http://schemas.openxmlformats.org/drawingml/2006/main" noGrp="1"/>
          </p:cNvSpPr>
          <p:nvPr/>
        </p:nvSpPr>
        <p:spPr>
          <a:xfrm xmlns:a="http://schemas.openxmlformats.org/drawingml/2006/main">
            <a:off x="3067050" y="3562350"/>
            <a:ext cx="209550" cy="285750"/>
          </a:xfrm>
          <a:prstGeom xmlns:a="http://schemas.openxmlformats.org/drawingml/2006/main" prst="rightArrow">
            <a:avLst/>
          </a:prstGeom>
          <a:solidFill xmlns:a="http://schemas.openxmlformats.org/drawingml/2006/main">
            <a:srgbClr val="C9CED5"/>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8283A92-3935-47AB-AC24-EB8532D5AA50}"/>
              </a:ext>
            </a:extLst>
          </p:cNvPr>
          <p:cNvSpPr>
            <a:spLocks xmlns:a="http://schemas.openxmlformats.org/drawingml/2006/main" noGrp="1"/>
          </p:cNvSpPr>
          <p:nvPr/>
        </p:nvSpPr>
        <p:spPr>
          <a:xfrm xmlns:a="http://schemas.openxmlformats.org/drawingml/2006/main">
            <a:off x="6000750" y="3562350"/>
            <a:ext cx="209550" cy="285750"/>
          </a:xfrm>
          <a:prstGeom xmlns:a="http://schemas.openxmlformats.org/drawingml/2006/main" prst="rightArrow">
            <a:avLst/>
          </a:prstGeom>
          <a:solidFill xmlns:a="http://schemas.openxmlformats.org/drawingml/2006/main">
            <a:srgbClr val="C9CED5"/>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49BEC2F4-7C2C-432B-A690-61BF0060D62E}"/>
              </a:ext>
            </a:extLst>
          </p:cNvPr>
          <p:cNvSpPr>
            <a:spLocks xmlns:a="http://schemas.openxmlformats.org/drawingml/2006/main" noGrp="1"/>
          </p:cNvSpPr>
          <p:nvPr/>
        </p:nvSpPr>
        <p:spPr>
          <a:xfrm xmlns:a="http://schemas.openxmlformats.org/drawingml/2006/main">
            <a:off x="590550" y="3171825"/>
            <a:ext cx="157163" cy="200025"/>
          </a:xfrm>
          <a:prstGeom xmlns:a="http://schemas.openxmlformats.org/drawingml/2006/main" prst="rect">
            <a:avLst/>
          </a:prstGeom>
          <a:noFill xmlns:a="http://schemas.openxmlformats.org/drawingml/2006/main"/>
          <a:ln xmlns:a="http://schemas.openxmlformats.org/drawingml/2006/main" w="19050">
            <a:solidFill>
              <a:srgbClr val="0E1A2D"/>
            </a:solidFill>
            <a:prstDash val="solid"/>
          </a:ln>
        </p:spPr>
      </p:sp>
      <p:sp>
        <p:nvSpPr>
          <p:cNvPr id="37" name="">
            <a:extLst xmlns:a="http://schemas.openxmlformats.org/drawingml/2006/main">
              <a:ext uri="{FF2B5EF4-FFF2-40B4-BE49-F238E27FC236}">
                <a16:creationId xmlns:a16="http://schemas.microsoft.com/office/drawing/2014/main" id="{9CC318B6-AAEE-4623-ADB3-6E6EA3D11A2D}"/>
              </a:ext>
            </a:extLst>
          </p:cNvPr>
          <p:cNvSpPr>
            <a:spLocks xmlns:a="http://schemas.openxmlformats.org/drawingml/2006/main" noGrp="1"/>
          </p:cNvSpPr>
          <p:nvPr/>
        </p:nvSpPr>
        <p:spPr>
          <a:xfrm xmlns:a="http://schemas.openxmlformats.org/drawingml/2006/main" rot="2700000">
            <a:off x="697706" y="3171825"/>
            <a:ext cx="78581" cy="14288"/>
          </a:xfrm>
          <a:prstGeom xmlns:a="http://schemas.openxmlformats.org/drawingml/2006/main" prst="rect">
            <a:avLst/>
          </a:prstGeom>
          <a:solidFill xmlns:a="http://schemas.openxmlformats.org/drawingml/2006/main">
            <a:srgbClr val="0E1A2D"/>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777556E5-534B-4B65-ABE9-ADFDCCB4DC38}"/>
              </a:ext>
            </a:extLst>
          </p:cNvPr>
          <p:cNvSpPr>
            <a:spLocks xmlns:a="http://schemas.openxmlformats.org/drawingml/2006/main" noGrp="1"/>
          </p:cNvSpPr>
          <p:nvPr/>
        </p:nvSpPr>
        <p:spPr>
          <a:xfrm xmlns:a="http://schemas.openxmlformats.org/drawingml/2006/main">
            <a:off x="626269" y="3243263"/>
            <a:ext cx="85725" cy="19050"/>
          </a:xfrm>
          <a:prstGeom xmlns:a="http://schemas.openxmlformats.org/drawingml/2006/main" prst="rect">
            <a:avLst/>
          </a:prstGeom>
          <a:solidFill xmlns:a="http://schemas.openxmlformats.org/drawingml/2006/main">
            <a:srgbClr val="0E1A2D"/>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920AAA49-7139-4F34-BAC6-62532A63DAA8}"/>
              </a:ext>
            </a:extLst>
          </p:cNvPr>
          <p:cNvSpPr>
            <a:spLocks xmlns:a="http://schemas.openxmlformats.org/drawingml/2006/main" noGrp="1"/>
          </p:cNvSpPr>
          <p:nvPr/>
        </p:nvSpPr>
        <p:spPr>
          <a:xfrm xmlns:a="http://schemas.openxmlformats.org/drawingml/2006/main">
            <a:off x="626269" y="3286125"/>
            <a:ext cx="85725" cy="19050"/>
          </a:xfrm>
          <a:prstGeom xmlns:a="http://schemas.openxmlformats.org/drawingml/2006/main" prst="rect">
            <a:avLst/>
          </a:prstGeom>
          <a:solidFill xmlns:a="http://schemas.openxmlformats.org/drawingml/2006/main">
            <a:srgbClr val="0E1A2D"/>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2598AA0-F913-4C3F-8C06-3329BF84A340}"/>
              </a:ext>
            </a:extLst>
          </p:cNvPr>
          <p:cNvSpPr>
            <a:spLocks xmlns:a="http://schemas.openxmlformats.org/drawingml/2006/main" noGrp="1"/>
          </p:cNvSpPr>
          <p:nvPr/>
        </p:nvSpPr>
        <p:spPr>
          <a:xfrm xmlns:a="http://schemas.openxmlformats.org/drawingml/2006/main">
            <a:off x="626269" y="3328988"/>
            <a:ext cx="57150" cy="19050"/>
          </a:xfrm>
          <a:prstGeom xmlns:a="http://schemas.openxmlformats.org/drawingml/2006/main" prst="rect">
            <a:avLst/>
          </a:prstGeom>
          <a:solidFill xmlns:a="http://schemas.openxmlformats.org/drawingml/2006/main">
            <a:srgbClr val="0E1A2D"/>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7988F55F-921A-483A-A408-AA551BC8C94A}"/>
              </a:ext>
            </a:extLst>
          </p:cNvPr>
          <p:cNvSpPr>
            <a:spLocks xmlns:a="http://schemas.openxmlformats.org/drawingml/2006/main" noGrp="1"/>
          </p:cNvSpPr>
          <p:nvPr/>
        </p:nvSpPr>
        <p:spPr>
          <a:xfrm xmlns:a="http://schemas.openxmlformats.org/drawingml/2006/main">
            <a:off x="952500" y="3124200"/>
            <a:ext cx="188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0E1A2D"/>
                </a:solidFill>
                <a:latin typeface="Yu Gothic"/>
                <a:ea typeface="Yu Gothic"/>
                <a:cs typeface="Yu Gothic"/>
              </a:defRPr>
            </a:pPr>
            <a:r>
              <a:rPr sz="900" b="1" i="0">
                <a:solidFill>
                  <a:srgbClr val="0E1A2D"/>
                </a:solidFill>
                <a:latin typeface="Yu Gothic"/>
                <a:ea typeface="Yu Gothic"/>
                <a:cs typeface="Yu Gothic"/>
              </a:rPr>
              <a:t>提案資料の作成に</a:t>
            </a:r>
          </a:p>
          <a:p xmlns:a="http://schemas.openxmlformats.org/drawingml/2006/main">
            <a:pPr algn="l">
              <a:defRPr sz="900" b="1" i="0">
                <a:solidFill>
                  <a:srgbClr val="0E1A2D"/>
                </a:solidFill>
                <a:latin typeface="Yu Gothic"/>
                <a:ea typeface="Yu Gothic"/>
                <a:cs typeface="Yu Gothic"/>
              </a:defRPr>
            </a:pPr>
            <a:r>
              <a:rPr sz="900" b="1" i="0">
                <a:solidFill>
                  <a:srgbClr val="0E1A2D"/>
                </a:solidFill>
                <a:latin typeface="Yu Gothic"/>
                <a:ea typeface="Yu Gothic"/>
                <a:cs typeface="Yu Gothic"/>
              </a:rPr>
              <a:t>多くの時間がかかっていた</a:t>
            </a:r>
          </a:p>
        </p:txBody>
      </p:sp>
      <p:sp>
        <p:nvSpPr>
          <p:cNvPr id="42" name="">
            <a:extLst xmlns:a="http://schemas.openxmlformats.org/drawingml/2006/main">
              <a:ext uri="{FF2B5EF4-FFF2-40B4-BE49-F238E27FC236}">
                <a16:creationId xmlns:a16="http://schemas.microsoft.com/office/drawing/2014/main" id="{B24EC1AC-4D53-4DC1-A194-5B0A33BF3585}"/>
              </a:ext>
            </a:extLst>
          </p:cNvPr>
          <p:cNvSpPr>
            <a:spLocks xmlns:a="http://schemas.openxmlformats.org/drawingml/2006/main" noGrp="1"/>
          </p:cNvSpPr>
          <p:nvPr/>
        </p:nvSpPr>
        <p:spPr>
          <a:xfrm xmlns:a="http://schemas.openxmlformats.org/drawingml/2006/main">
            <a:off x="3524250" y="3171825"/>
            <a:ext cx="178594" cy="57150"/>
          </a:xfrm>
          <a:prstGeom xmlns:a="http://schemas.openxmlformats.org/drawingml/2006/main" prst="ellipse">
            <a:avLst/>
          </a:prstGeom>
          <a:noFill xmlns:a="http://schemas.openxmlformats.org/drawingml/2006/main"/>
          <a:ln xmlns:a="http://schemas.openxmlformats.org/drawingml/2006/main" w="19050">
            <a:solidFill>
              <a:srgbClr val="ED1C24"/>
            </a:solidFill>
            <a:prstDash val="solid"/>
          </a:ln>
        </p:spPr>
      </p:sp>
      <p:sp>
        <p:nvSpPr>
          <p:cNvPr id="43" name="">
            <a:extLst xmlns:a="http://schemas.openxmlformats.org/drawingml/2006/main">
              <a:ext uri="{FF2B5EF4-FFF2-40B4-BE49-F238E27FC236}">
                <a16:creationId xmlns:a16="http://schemas.microsoft.com/office/drawing/2014/main" id="{CA1E3338-195D-4083-AA94-AAD7B1CFD920}"/>
              </a:ext>
            </a:extLst>
          </p:cNvPr>
          <p:cNvSpPr>
            <a:spLocks xmlns:a="http://schemas.openxmlformats.org/drawingml/2006/main" noGrp="1"/>
          </p:cNvSpPr>
          <p:nvPr/>
        </p:nvSpPr>
        <p:spPr>
          <a:xfrm xmlns:a="http://schemas.openxmlformats.org/drawingml/2006/main">
            <a:off x="3524250" y="3200400"/>
            <a:ext cx="178594" cy="121444"/>
          </a:xfrm>
          <a:prstGeom xmlns:a="http://schemas.openxmlformats.org/drawingml/2006/main" prst="rect">
            <a:avLst/>
          </a:prstGeom>
          <a:noFill xmlns:a="http://schemas.openxmlformats.org/drawingml/2006/main"/>
          <a:ln xmlns:a="http://schemas.openxmlformats.org/drawingml/2006/main" w="19050">
            <a:solidFill>
              <a:srgbClr val="ED1C24"/>
            </a:solidFill>
            <a:prstDash val="solid"/>
          </a:ln>
        </p:spPr>
      </p:sp>
      <p:sp>
        <p:nvSpPr>
          <p:cNvPr id="44" name="">
            <a:extLst xmlns:a="http://schemas.openxmlformats.org/drawingml/2006/main">
              <a:ext uri="{FF2B5EF4-FFF2-40B4-BE49-F238E27FC236}">
                <a16:creationId xmlns:a16="http://schemas.microsoft.com/office/drawing/2014/main" id="{6F89F2A6-3C9A-401E-96AE-6668E987225A}"/>
              </a:ext>
            </a:extLst>
          </p:cNvPr>
          <p:cNvSpPr>
            <a:spLocks xmlns:a="http://schemas.openxmlformats.org/drawingml/2006/main" noGrp="1"/>
          </p:cNvSpPr>
          <p:nvPr/>
        </p:nvSpPr>
        <p:spPr>
          <a:xfrm xmlns:a="http://schemas.openxmlformats.org/drawingml/2006/main">
            <a:off x="3524250" y="3293269"/>
            <a:ext cx="178594" cy="57150"/>
          </a:xfrm>
          <a:prstGeom xmlns:a="http://schemas.openxmlformats.org/drawingml/2006/main" prst="ellipse">
            <a:avLst/>
          </a:prstGeom>
          <a:noFill xmlns:a="http://schemas.openxmlformats.org/drawingml/2006/main"/>
          <a:ln xmlns:a="http://schemas.openxmlformats.org/drawingml/2006/main" w="19050">
            <a:solidFill>
              <a:srgbClr val="ED1C24"/>
            </a:solidFill>
            <a:prstDash val="solid"/>
          </a:ln>
        </p:spPr>
      </p:sp>
      <p:sp>
        <p:nvSpPr>
          <p:cNvPr id="45" name="">
            <a:extLst xmlns:a="http://schemas.openxmlformats.org/drawingml/2006/main">
              <a:ext uri="{FF2B5EF4-FFF2-40B4-BE49-F238E27FC236}">
                <a16:creationId xmlns:a16="http://schemas.microsoft.com/office/drawing/2014/main" id="{F94BF6DF-B306-4F55-A73D-2982124E9669}"/>
              </a:ext>
            </a:extLst>
          </p:cNvPr>
          <p:cNvSpPr>
            <a:spLocks xmlns:a="http://schemas.openxmlformats.org/drawingml/2006/main" noGrp="1"/>
          </p:cNvSpPr>
          <p:nvPr/>
        </p:nvSpPr>
        <p:spPr>
          <a:xfrm xmlns:a="http://schemas.openxmlformats.org/drawingml/2006/main">
            <a:off x="3886200" y="3124200"/>
            <a:ext cx="194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0E1A2D"/>
                </a:solidFill>
                <a:latin typeface="Yu Gothic"/>
                <a:ea typeface="Yu Gothic"/>
                <a:cs typeface="Yu Gothic"/>
              </a:defRPr>
            </a:pPr>
            <a:r>
              <a:rPr sz="825" b="1" i="0">
                <a:solidFill>
                  <a:srgbClr val="0E1A2D"/>
                </a:solidFill>
                <a:latin typeface="Yu Gothic"/>
                <a:ea typeface="Yu Gothic"/>
                <a:cs typeface="Yu Gothic"/>
              </a:rPr>
              <a:t>案件情報から業界・顧客課題を</a:t>
            </a:r>
          </a:p>
          <a:p xmlns:a="http://schemas.openxmlformats.org/drawingml/2006/main">
            <a:pPr algn="l">
              <a:defRPr sz="825" b="1" i="0">
                <a:solidFill>
                  <a:srgbClr val="0E1A2D"/>
                </a:solidFill>
                <a:latin typeface="Yu Gothic"/>
                <a:ea typeface="Yu Gothic"/>
                <a:cs typeface="Yu Gothic"/>
              </a:defRPr>
            </a:pPr>
            <a:r>
              <a:rPr sz="825" b="1" i="0">
                <a:solidFill>
                  <a:srgbClr val="0E1A2D"/>
                </a:solidFill>
                <a:latin typeface="Yu Gothic"/>
                <a:ea typeface="Yu Gothic"/>
                <a:cs typeface="Yu Gothic"/>
              </a:rPr>
              <a:t>自動で分析し、提案ストーリーを生成</a:t>
            </a:r>
          </a:p>
        </p:txBody>
      </p:sp>
      <p:sp>
        <p:nvSpPr>
          <p:cNvPr id="46" name="">
            <a:extLst xmlns:a="http://schemas.openxmlformats.org/drawingml/2006/main">
              <a:ext uri="{FF2B5EF4-FFF2-40B4-BE49-F238E27FC236}">
                <a16:creationId xmlns:a16="http://schemas.microsoft.com/office/drawing/2014/main" id="{D83DE743-3758-4FF0-B375-9A339251D595}"/>
              </a:ext>
            </a:extLst>
          </p:cNvPr>
          <p:cNvSpPr>
            <a:spLocks xmlns:a="http://schemas.openxmlformats.org/drawingml/2006/main" noGrp="1"/>
          </p:cNvSpPr>
          <p:nvPr/>
        </p:nvSpPr>
        <p:spPr>
          <a:xfrm xmlns:a="http://schemas.openxmlformats.org/drawingml/2006/main" rot="-2100000">
            <a:off x="6551295" y="3158109"/>
            <a:ext cx="22289" cy="222885"/>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2BBD86B0-B093-49E0-8F6B-53713DE1AB49}"/>
              </a:ext>
            </a:extLst>
          </p:cNvPr>
          <p:cNvSpPr>
            <a:spLocks xmlns:a="http://schemas.openxmlformats.org/drawingml/2006/main" noGrp="1"/>
          </p:cNvSpPr>
          <p:nvPr/>
        </p:nvSpPr>
        <p:spPr>
          <a:xfrm xmlns:a="http://schemas.openxmlformats.org/drawingml/2006/main" rot="-2100000">
            <a:off x="6529007" y="3158109"/>
            <a:ext cx="74295" cy="22289"/>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599697C0-7D7E-4B0A-BD57-9BFB840612DB}"/>
              </a:ext>
            </a:extLst>
          </p:cNvPr>
          <p:cNvSpPr>
            <a:spLocks xmlns:a="http://schemas.openxmlformats.org/drawingml/2006/main" noGrp="1"/>
          </p:cNvSpPr>
          <p:nvPr/>
        </p:nvSpPr>
        <p:spPr>
          <a:xfrm xmlns:a="http://schemas.openxmlformats.org/drawingml/2006/main" rot="-2100000">
            <a:off x="6566154" y="3158109"/>
            <a:ext cx="22289" cy="74295"/>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3DE0B366-BD6B-45C4-8E77-41BE2791160A}"/>
              </a:ext>
            </a:extLst>
          </p:cNvPr>
          <p:cNvSpPr>
            <a:spLocks xmlns:a="http://schemas.openxmlformats.org/drawingml/2006/main" noGrp="1"/>
          </p:cNvSpPr>
          <p:nvPr/>
        </p:nvSpPr>
        <p:spPr>
          <a:xfrm xmlns:a="http://schemas.openxmlformats.org/drawingml/2006/main">
            <a:off x="6858000" y="311467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0E1A2D"/>
                </a:solidFill>
                <a:latin typeface="Yu Gothic"/>
                <a:ea typeface="Yu Gothic"/>
                <a:cs typeface="Yu Gothic"/>
              </a:defRPr>
            </a:pPr>
            <a:r>
              <a:rPr sz="900" b="1" i="0">
                <a:solidFill>
                  <a:srgbClr val="0E1A2D"/>
                </a:solidFill>
                <a:latin typeface="Yu Gothic"/>
                <a:ea typeface="Yu Gothic"/>
                <a:cs typeface="Yu Gothic"/>
              </a:rPr>
              <a:t>提案資料の作成時間</a:t>
            </a:r>
          </a:p>
          <a:p xmlns:a="http://schemas.openxmlformats.org/drawingml/2006/main">
            <a:pPr algn="l">
              <a:defRPr sz="900" b="1" i="0">
                <a:solidFill>
                  <a:srgbClr val="0E1A2D"/>
                </a:solidFill>
                <a:latin typeface="Yu Gothic"/>
                <a:ea typeface="Yu Gothic"/>
                <a:cs typeface="Yu Gothic"/>
              </a:defRPr>
            </a:pPr>
            <a:r>
              <a:rPr sz="900" b="1" i="0">
                <a:solidFill>
                  <a:srgbClr val="0E1A2D"/>
                </a:solidFill>
                <a:latin typeface="Yu Gothic"/>
                <a:ea typeface="Yu Gothic"/>
                <a:cs typeface="Yu Gothic"/>
              </a:rPr>
              <a:t>約70%削減</a:t>
            </a:r>
          </a:p>
        </p:txBody>
      </p:sp>
      <p:sp>
        <p:nvSpPr>
          <p:cNvPr id="50" name="">
            <a:extLst xmlns:a="http://schemas.openxmlformats.org/drawingml/2006/main">
              <a:ext uri="{FF2B5EF4-FFF2-40B4-BE49-F238E27FC236}">
                <a16:creationId xmlns:a16="http://schemas.microsoft.com/office/drawing/2014/main" id="{DAFFD609-0936-4A0E-9333-171D131047FA}"/>
              </a:ext>
            </a:extLst>
          </p:cNvPr>
          <p:cNvSpPr>
            <a:spLocks xmlns:a="http://schemas.openxmlformats.org/drawingml/2006/main" noGrp="1"/>
          </p:cNvSpPr>
          <p:nvPr/>
        </p:nvSpPr>
        <p:spPr>
          <a:xfrm xmlns:a="http://schemas.openxmlformats.org/drawingml/2006/main">
            <a:off x="533400" y="3590925"/>
            <a:ext cx="2362200" cy="9525"/>
          </a:xfrm>
          <a:prstGeom xmlns:a="http://schemas.openxmlformats.org/drawingml/2006/main" prst="rect">
            <a:avLst/>
          </a:prstGeom>
          <a:solidFill xmlns:a="http://schemas.openxmlformats.org/drawingml/2006/main">
            <a:srgbClr val="DDE3EA"/>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6D5E2028-6EDC-4F5B-90CD-F1D23124A275}"/>
              </a:ext>
            </a:extLst>
          </p:cNvPr>
          <p:cNvSpPr>
            <a:spLocks xmlns:a="http://schemas.openxmlformats.org/drawingml/2006/main" noGrp="1"/>
          </p:cNvSpPr>
          <p:nvPr/>
        </p:nvSpPr>
        <p:spPr>
          <a:xfrm xmlns:a="http://schemas.openxmlformats.org/drawingml/2006/main">
            <a:off x="3467100" y="3590925"/>
            <a:ext cx="2381250" cy="9525"/>
          </a:xfrm>
          <a:prstGeom xmlns:a="http://schemas.openxmlformats.org/drawingml/2006/main" prst="rect">
            <a:avLst/>
          </a:prstGeom>
          <a:solidFill xmlns:a="http://schemas.openxmlformats.org/drawingml/2006/main">
            <a:srgbClr val="F2CACC"/>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6CA92850-6FD1-47FB-B7AF-3658B7DB0677}"/>
              </a:ext>
            </a:extLst>
          </p:cNvPr>
          <p:cNvSpPr>
            <a:spLocks xmlns:a="http://schemas.openxmlformats.org/drawingml/2006/main" noGrp="1"/>
          </p:cNvSpPr>
          <p:nvPr/>
        </p:nvSpPr>
        <p:spPr>
          <a:xfrm xmlns:a="http://schemas.openxmlformats.org/drawingml/2006/main">
            <a:off x="6400800" y="3590925"/>
            <a:ext cx="2381250" cy="9525"/>
          </a:xfrm>
          <a:prstGeom xmlns:a="http://schemas.openxmlformats.org/drawingml/2006/main" prst="rect">
            <a:avLst/>
          </a:prstGeom>
          <a:solidFill xmlns:a="http://schemas.openxmlformats.org/drawingml/2006/main">
            <a:srgbClr val="F3D7D7"/>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73DA6F19-D9E1-485F-886C-DF5ED9A1B90C}"/>
              </a:ext>
            </a:extLst>
          </p:cNvPr>
          <p:cNvSpPr>
            <a:spLocks xmlns:a="http://schemas.openxmlformats.org/drawingml/2006/main" noGrp="1"/>
          </p:cNvSpPr>
          <p:nvPr/>
        </p:nvSpPr>
        <p:spPr>
          <a:xfrm xmlns:a="http://schemas.openxmlformats.org/drawingml/2006/main">
            <a:off x="654844" y="3724275"/>
            <a:ext cx="64294" cy="64294"/>
          </a:xfrm>
          <a:prstGeom xmlns:a="http://schemas.openxmlformats.org/drawingml/2006/main" prst="ellipse">
            <a:avLst/>
          </a:prstGeom>
          <a:noFill xmlns:a="http://schemas.openxmlformats.org/drawingml/2006/main"/>
          <a:ln xmlns:a="http://schemas.openxmlformats.org/drawingml/2006/main" w="19050">
            <a:solidFill>
              <a:srgbClr val="0E1A2D"/>
            </a:solidFill>
            <a:prstDash val="solid"/>
          </a:ln>
        </p:spPr>
      </p:sp>
      <p:sp>
        <p:nvSpPr>
          <p:cNvPr id="54" name="">
            <a:extLst xmlns:a="http://schemas.openxmlformats.org/drawingml/2006/main">
              <a:ext uri="{FF2B5EF4-FFF2-40B4-BE49-F238E27FC236}">
                <a16:creationId xmlns:a16="http://schemas.microsoft.com/office/drawing/2014/main" id="{6558AB76-9644-4210-AF48-EC8A6745F1A3}"/>
              </a:ext>
            </a:extLst>
          </p:cNvPr>
          <p:cNvSpPr>
            <a:spLocks xmlns:a="http://schemas.openxmlformats.org/drawingml/2006/main" noGrp="1"/>
          </p:cNvSpPr>
          <p:nvPr/>
        </p:nvSpPr>
        <p:spPr>
          <a:xfrm xmlns:a="http://schemas.openxmlformats.org/drawingml/2006/main">
            <a:off x="590550" y="3745706"/>
            <a:ext cx="50006" cy="50006"/>
          </a:xfrm>
          <a:prstGeom xmlns:a="http://schemas.openxmlformats.org/drawingml/2006/main" prst="ellipse">
            <a:avLst/>
          </a:prstGeom>
          <a:noFill xmlns:a="http://schemas.openxmlformats.org/drawingml/2006/main"/>
          <a:ln xmlns:a="http://schemas.openxmlformats.org/drawingml/2006/main" w="19050">
            <a:solidFill>
              <a:srgbClr val="0E1A2D"/>
            </a:solidFill>
            <a:prstDash val="solid"/>
          </a:ln>
        </p:spPr>
      </p:sp>
      <p:sp>
        <p:nvSpPr>
          <p:cNvPr id="55" name="">
            <a:extLst xmlns:a="http://schemas.openxmlformats.org/drawingml/2006/main">
              <a:ext uri="{FF2B5EF4-FFF2-40B4-BE49-F238E27FC236}">
                <a16:creationId xmlns:a16="http://schemas.microsoft.com/office/drawing/2014/main" id="{199D894A-314F-4254-AE79-90EBD8D359A2}"/>
              </a:ext>
            </a:extLst>
          </p:cNvPr>
          <p:cNvSpPr>
            <a:spLocks xmlns:a="http://schemas.openxmlformats.org/drawingml/2006/main" noGrp="1"/>
          </p:cNvSpPr>
          <p:nvPr/>
        </p:nvSpPr>
        <p:spPr>
          <a:xfrm xmlns:a="http://schemas.openxmlformats.org/drawingml/2006/main">
            <a:off x="733425" y="3745706"/>
            <a:ext cx="50006" cy="50006"/>
          </a:xfrm>
          <a:prstGeom xmlns:a="http://schemas.openxmlformats.org/drawingml/2006/main" prst="ellipse">
            <a:avLst/>
          </a:prstGeom>
          <a:noFill xmlns:a="http://schemas.openxmlformats.org/drawingml/2006/main"/>
          <a:ln xmlns:a="http://schemas.openxmlformats.org/drawingml/2006/main" w="19050">
            <a:solidFill>
              <a:srgbClr val="0E1A2D"/>
            </a:solidFill>
            <a:prstDash val="solid"/>
          </a:ln>
        </p:spPr>
      </p:sp>
      <p:sp>
        <p:nvSpPr>
          <p:cNvPr id="56" name="">
            <a:extLst xmlns:a="http://schemas.openxmlformats.org/drawingml/2006/main">
              <a:ext uri="{FF2B5EF4-FFF2-40B4-BE49-F238E27FC236}">
                <a16:creationId xmlns:a16="http://schemas.microsoft.com/office/drawing/2014/main" id="{EB5A7293-7FA8-4C65-8C57-0D011663CA54}"/>
              </a:ext>
            </a:extLst>
          </p:cNvPr>
          <p:cNvSpPr>
            <a:spLocks xmlns:a="http://schemas.openxmlformats.org/drawingml/2006/main" noGrp="1"/>
          </p:cNvSpPr>
          <p:nvPr/>
        </p:nvSpPr>
        <p:spPr>
          <a:xfrm xmlns:a="http://schemas.openxmlformats.org/drawingml/2006/main">
            <a:off x="626269" y="3817144"/>
            <a:ext cx="121444" cy="71438"/>
          </a:xfrm>
          <a:prstGeom xmlns:a="http://schemas.openxmlformats.org/drawingml/2006/main" prst="roundRect">
            <a:avLst>
              <a:gd name="adj" fmla="val 50000"/>
            </a:avLst>
          </a:prstGeom>
          <a:noFill xmlns:a="http://schemas.openxmlformats.org/drawingml/2006/main"/>
          <a:ln xmlns:a="http://schemas.openxmlformats.org/drawingml/2006/main" w="19050">
            <a:solidFill>
              <a:srgbClr val="0E1A2D"/>
            </a:solidFill>
            <a:prstDash val="solid"/>
          </a:ln>
        </p:spPr>
      </p:sp>
      <p:sp>
        <p:nvSpPr>
          <p:cNvPr id="57" name="">
            <a:extLst xmlns:a="http://schemas.openxmlformats.org/drawingml/2006/main">
              <a:ext uri="{FF2B5EF4-FFF2-40B4-BE49-F238E27FC236}">
                <a16:creationId xmlns:a16="http://schemas.microsoft.com/office/drawing/2014/main" id="{842887C1-8A34-4659-9F35-9065D0998D94}"/>
              </a:ext>
            </a:extLst>
          </p:cNvPr>
          <p:cNvSpPr>
            <a:spLocks xmlns:a="http://schemas.openxmlformats.org/drawingml/2006/main" noGrp="1"/>
          </p:cNvSpPr>
          <p:nvPr/>
        </p:nvSpPr>
        <p:spPr>
          <a:xfrm xmlns:a="http://schemas.openxmlformats.org/drawingml/2006/main">
            <a:off x="583406" y="3831431"/>
            <a:ext cx="64294" cy="5715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0E1A2D"/>
            </a:solidFill>
            <a:prstDash val="solid"/>
          </a:ln>
        </p:spPr>
      </p:sp>
      <p:sp>
        <p:nvSpPr>
          <p:cNvPr id="58" name="">
            <a:extLst xmlns:a="http://schemas.openxmlformats.org/drawingml/2006/main">
              <a:ext uri="{FF2B5EF4-FFF2-40B4-BE49-F238E27FC236}">
                <a16:creationId xmlns:a16="http://schemas.microsoft.com/office/drawing/2014/main" id="{26215D2C-8B34-4EA2-8097-107CFE486999}"/>
              </a:ext>
            </a:extLst>
          </p:cNvPr>
          <p:cNvSpPr>
            <a:spLocks xmlns:a="http://schemas.openxmlformats.org/drawingml/2006/main" noGrp="1"/>
          </p:cNvSpPr>
          <p:nvPr/>
        </p:nvSpPr>
        <p:spPr>
          <a:xfrm xmlns:a="http://schemas.openxmlformats.org/drawingml/2006/main">
            <a:off x="726281" y="3831431"/>
            <a:ext cx="64294" cy="5715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0E1A2D"/>
            </a:solidFill>
            <a:prstDash val="solid"/>
          </a:ln>
        </p:spPr>
      </p:sp>
      <p:sp>
        <p:nvSpPr>
          <p:cNvPr id="59" name="">
            <a:extLst xmlns:a="http://schemas.openxmlformats.org/drawingml/2006/main">
              <a:ext uri="{FF2B5EF4-FFF2-40B4-BE49-F238E27FC236}">
                <a16:creationId xmlns:a16="http://schemas.microsoft.com/office/drawing/2014/main" id="{8EDCB81F-12D0-47C2-8321-6E77B17E44C0}"/>
              </a:ext>
            </a:extLst>
          </p:cNvPr>
          <p:cNvSpPr>
            <a:spLocks xmlns:a="http://schemas.openxmlformats.org/drawingml/2006/main" noGrp="1"/>
          </p:cNvSpPr>
          <p:nvPr/>
        </p:nvSpPr>
        <p:spPr>
          <a:xfrm xmlns:a="http://schemas.openxmlformats.org/drawingml/2006/main">
            <a:off x="952500" y="3676650"/>
            <a:ext cx="188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0E1A2D"/>
                </a:solidFill>
                <a:latin typeface="Yu Gothic"/>
                <a:ea typeface="Yu Gothic"/>
                <a:cs typeface="Yu Gothic"/>
              </a:defRPr>
            </a:pPr>
            <a:r>
              <a:rPr sz="900" b="1" i="0">
                <a:solidFill>
                  <a:srgbClr val="0E1A2D"/>
                </a:solidFill>
                <a:latin typeface="Yu Gothic"/>
                <a:ea typeface="Yu Gothic"/>
                <a:cs typeface="Yu Gothic"/>
              </a:rPr>
              <a:t>提案の内容・品質が</a:t>
            </a:r>
          </a:p>
          <a:p xmlns:a="http://schemas.openxmlformats.org/drawingml/2006/main">
            <a:pPr algn="l">
              <a:defRPr sz="900" b="1" i="0">
                <a:solidFill>
                  <a:srgbClr val="0E1A2D"/>
                </a:solidFill>
                <a:latin typeface="Yu Gothic"/>
                <a:ea typeface="Yu Gothic"/>
                <a:cs typeface="Yu Gothic"/>
              </a:defRPr>
            </a:pPr>
            <a:r>
              <a:rPr sz="900" b="1" i="0">
                <a:solidFill>
                  <a:srgbClr val="0E1A2D"/>
                </a:solidFill>
                <a:latin typeface="Yu Gothic"/>
                <a:ea typeface="Yu Gothic"/>
                <a:cs typeface="Yu Gothic"/>
              </a:rPr>
              <a:t>担当者によってばらついていた</a:t>
            </a:r>
          </a:p>
        </p:txBody>
      </p:sp>
      <p:sp>
        <p:nvSpPr>
          <p:cNvPr id="60" name="">
            <a:extLst xmlns:a="http://schemas.openxmlformats.org/drawingml/2006/main">
              <a:ext uri="{FF2B5EF4-FFF2-40B4-BE49-F238E27FC236}">
                <a16:creationId xmlns:a16="http://schemas.microsoft.com/office/drawing/2014/main" id="{F2E0BB37-56D7-47F3-BEA5-59F57CFFC1C1}"/>
              </a:ext>
            </a:extLst>
          </p:cNvPr>
          <p:cNvSpPr>
            <a:spLocks xmlns:a="http://schemas.openxmlformats.org/drawingml/2006/main" noGrp="1"/>
          </p:cNvSpPr>
          <p:nvPr/>
        </p:nvSpPr>
        <p:spPr>
          <a:xfrm xmlns:a="http://schemas.openxmlformats.org/drawingml/2006/main">
            <a:off x="3524250" y="3724275"/>
            <a:ext cx="157163" cy="200025"/>
          </a:xfrm>
          <a:prstGeom xmlns:a="http://schemas.openxmlformats.org/drawingml/2006/main" prst="rect">
            <a:avLst/>
          </a:prstGeom>
          <a:noFill xmlns:a="http://schemas.openxmlformats.org/drawingml/2006/main"/>
          <a:ln xmlns:a="http://schemas.openxmlformats.org/drawingml/2006/main" w="19050">
            <a:solidFill>
              <a:srgbClr val="ED1C24"/>
            </a:solidFill>
            <a:prstDash val="solid"/>
          </a:ln>
        </p:spPr>
      </p:sp>
      <p:sp>
        <p:nvSpPr>
          <p:cNvPr id="61" name="">
            <a:extLst xmlns:a="http://schemas.openxmlformats.org/drawingml/2006/main">
              <a:ext uri="{FF2B5EF4-FFF2-40B4-BE49-F238E27FC236}">
                <a16:creationId xmlns:a16="http://schemas.microsoft.com/office/drawing/2014/main" id="{73656646-30BA-41CA-96A8-F6AD9858B544}"/>
              </a:ext>
            </a:extLst>
          </p:cNvPr>
          <p:cNvSpPr>
            <a:spLocks xmlns:a="http://schemas.openxmlformats.org/drawingml/2006/main" noGrp="1"/>
          </p:cNvSpPr>
          <p:nvPr/>
        </p:nvSpPr>
        <p:spPr>
          <a:xfrm xmlns:a="http://schemas.openxmlformats.org/drawingml/2006/main" rot="2700000">
            <a:off x="3631406" y="3724275"/>
            <a:ext cx="78581" cy="14288"/>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1A7ACA3D-1A5B-42A8-A546-5C0850E0B08F}"/>
              </a:ext>
            </a:extLst>
          </p:cNvPr>
          <p:cNvSpPr>
            <a:spLocks xmlns:a="http://schemas.openxmlformats.org/drawingml/2006/main" noGrp="1"/>
          </p:cNvSpPr>
          <p:nvPr/>
        </p:nvSpPr>
        <p:spPr>
          <a:xfrm xmlns:a="http://schemas.openxmlformats.org/drawingml/2006/main">
            <a:off x="3559969" y="3795713"/>
            <a:ext cx="85725" cy="19050"/>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DF04B8B9-0BCC-4787-B6C7-45250D606662}"/>
              </a:ext>
            </a:extLst>
          </p:cNvPr>
          <p:cNvSpPr>
            <a:spLocks xmlns:a="http://schemas.openxmlformats.org/drawingml/2006/main" noGrp="1"/>
          </p:cNvSpPr>
          <p:nvPr/>
        </p:nvSpPr>
        <p:spPr>
          <a:xfrm xmlns:a="http://schemas.openxmlformats.org/drawingml/2006/main">
            <a:off x="3559969" y="3838575"/>
            <a:ext cx="85725" cy="19050"/>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0326B3CF-CF25-4269-BF7C-E361C8904114}"/>
              </a:ext>
            </a:extLst>
          </p:cNvPr>
          <p:cNvSpPr>
            <a:spLocks xmlns:a="http://schemas.openxmlformats.org/drawingml/2006/main" noGrp="1"/>
          </p:cNvSpPr>
          <p:nvPr/>
        </p:nvSpPr>
        <p:spPr>
          <a:xfrm xmlns:a="http://schemas.openxmlformats.org/drawingml/2006/main">
            <a:off x="3559969" y="3881438"/>
            <a:ext cx="57150" cy="19050"/>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47ECAF2B-FC3E-4604-8F2A-D0A04DD020F0}"/>
              </a:ext>
            </a:extLst>
          </p:cNvPr>
          <p:cNvSpPr>
            <a:spLocks xmlns:a="http://schemas.openxmlformats.org/drawingml/2006/main" noGrp="1"/>
          </p:cNvSpPr>
          <p:nvPr/>
        </p:nvSpPr>
        <p:spPr>
          <a:xfrm xmlns:a="http://schemas.openxmlformats.org/drawingml/2006/main">
            <a:off x="3886200" y="3676650"/>
            <a:ext cx="194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0E1A2D"/>
                </a:solidFill>
                <a:latin typeface="Yu Gothic"/>
                <a:ea typeface="Yu Gothic"/>
                <a:cs typeface="Yu Gothic"/>
              </a:defRPr>
            </a:pPr>
            <a:r>
              <a:rPr sz="825" b="1" i="0">
                <a:solidFill>
                  <a:srgbClr val="0E1A2D"/>
                </a:solidFill>
                <a:latin typeface="Yu Gothic"/>
                <a:ea typeface="Yu Gothic"/>
                <a:cs typeface="Yu Gothic"/>
              </a:rPr>
              <a:t>提案資料（通常版・要約版）と</a:t>
            </a:r>
          </a:p>
          <a:p xmlns:a="http://schemas.openxmlformats.org/drawingml/2006/main">
            <a:pPr algn="l">
              <a:defRPr sz="825" b="1" i="0">
                <a:solidFill>
                  <a:srgbClr val="0E1A2D"/>
                </a:solidFill>
                <a:latin typeface="Yu Gothic"/>
                <a:ea typeface="Yu Gothic"/>
                <a:cs typeface="Yu Gothic"/>
              </a:defRPr>
            </a:pPr>
            <a:r>
              <a:rPr sz="825" b="1" i="0">
                <a:solidFill>
                  <a:srgbClr val="0E1A2D"/>
                </a:solidFill>
                <a:latin typeface="Yu Gothic"/>
                <a:ea typeface="Yu Gothic"/>
                <a:cs typeface="Yu Gothic"/>
              </a:rPr>
              <a:t>見積書をワンクリックで作成</a:t>
            </a:r>
          </a:p>
        </p:txBody>
      </p:sp>
      <p:sp>
        <p:nvSpPr>
          <p:cNvPr id="66" name="">
            <a:extLst xmlns:a="http://schemas.openxmlformats.org/drawingml/2006/main">
              <a:ext uri="{FF2B5EF4-FFF2-40B4-BE49-F238E27FC236}">
                <a16:creationId xmlns:a16="http://schemas.microsoft.com/office/drawing/2014/main" id="{99BF522F-A7C6-41D1-9F7C-391AECBF8AD4}"/>
              </a:ext>
            </a:extLst>
          </p:cNvPr>
          <p:cNvSpPr>
            <a:spLocks xmlns:a="http://schemas.openxmlformats.org/drawingml/2006/main" noGrp="1"/>
          </p:cNvSpPr>
          <p:nvPr/>
        </p:nvSpPr>
        <p:spPr>
          <a:xfrm xmlns:a="http://schemas.openxmlformats.org/drawingml/2006/main" rot="-2100000">
            <a:off x="6551295" y="3710559"/>
            <a:ext cx="22289" cy="222885"/>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CC2024C2-744A-423D-A754-27E969E0B8C4}"/>
              </a:ext>
            </a:extLst>
          </p:cNvPr>
          <p:cNvSpPr>
            <a:spLocks xmlns:a="http://schemas.openxmlformats.org/drawingml/2006/main" noGrp="1"/>
          </p:cNvSpPr>
          <p:nvPr/>
        </p:nvSpPr>
        <p:spPr>
          <a:xfrm xmlns:a="http://schemas.openxmlformats.org/drawingml/2006/main" rot="-2100000">
            <a:off x="6529007" y="3710559"/>
            <a:ext cx="74295" cy="22289"/>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7BFD603F-EEB4-4A42-B743-1260F6CE337E}"/>
              </a:ext>
            </a:extLst>
          </p:cNvPr>
          <p:cNvSpPr>
            <a:spLocks xmlns:a="http://schemas.openxmlformats.org/drawingml/2006/main" noGrp="1"/>
          </p:cNvSpPr>
          <p:nvPr/>
        </p:nvSpPr>
        <p:spPr>
          <a:xfrm xmlns:a="http://schemas.openxmlformats.org/drawingml/2006/main" rot="-2100000">
            <a:off x="6566154" y="3710559"/>
            <a:ext cx="22289" cy="74295"/>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0362EAC7-0E35-4A67-AD6C-210639F219E0}"/>
              </a:ext>
            </a:extLst>
          </p:cNvPr>
          <p:cNvSpPr>
            <a:spLocks xmlns:a="http://schemas.openxmlformats.org/drawingml/2006/main" noGrp="1"/>
          </p:cNvSpPr>
          <p:nvPr/>
        </p:nvSpPr>
        <p:spPr>
          <a:xfrm xmlns:a="http://schemas.openxmlformats.org/drawingml/2006/main">
            <a:off x="6858000" y="366712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0E1A2D"/>
                </a:solidFill>
                <a:latin typeface="Yu Gothic"/>
                <a:ea typeface="Yu Gothic"/>
                <a:cs typeface="Yu Gothic"/>
              </a:defRPr>
            </a:pPr>
            <a:r>
              <a:rPr sz="900" b="1" i="0">
                <a:solidFill>
                  <a:srgbClr val="0E1A2D"/>
                </a:solidFill>
                <a:latin typeface="Yu Gothic"/>
                <a:ea typeface="Yu Gothic"/>
                <a:cs typeface="Yu Gothic"/>
              </a:rPr>
              <a:t>提案の受注率</a:t>
            </a:r>
          </a:p>
          <a:p xmlns:a="http://schemas.openxmlformats.org/drawingml/2006/main">
            <a:pPr algn="l">
              <a:defRPr sz="900" b="1" i="0">
                <a:solidFill>
                  <a:srgbClr val="0E1A2D"/>
                </a:solidFill>
                <a:latin typeface="Yu Gothic"/>
                <a:ea typeface="Yu Gothic"/>
                <a:cs typeface="Yu Gothic"/>
              </a:defRPr>
            </a:pPr>
            <a:r>
              <a:rPr sz="900" b="1" i="0">
                <a:solidFill>
                  <a:srgbClr val="0E1A2D"/>
                </a:solidFill>
                <a:latin typeface="Yu Gothic"/>
                <a:ea typeface="Yu Gothic"/>
                <a:cs typeface="Yu Gothic"/>
              </a:rPr>
              <a:t>約1.5倍に向上</a:t>
            </a:r>
          </a:p>
        </p:txBody>
      </p:sp>
      <p:sp>
        <p:nvSpPr>
          <p:cNvPr id="70" name="">
            <a:extLst xmlns:a="http://schemas.openxmlformats.org/drawingml/2006/main">
              <a:ext uri="{FF2B5EF4-FFF2-40B4-BE49-F238E27FC236}">
                <a16:creationId xmlns:a16="http://schemas.microsoft.com/office/drawing/2014/main" id="{1D59ECB2-7AF7-4A7E-AC7D-17AA11F87447}"/>
              </a:ext>
            </a:extLst>
          </p:cNvPr>
          <p:cNvSpPr>
            <a:spLocks xmlns:a="http://schemas.openxmlformats.org/drawingml/2006/main" noGrp="1"/>
          </p:cNvSpPr>
          <p:nvPr/>
        </p:nvSpPr>
        <p:spPr>
          <a:xfrm xmlns:a="http://schemas.openxmlformats.org/drawingml/2006/main">
            <a:off x="533400" y="4143375"/>
            <a:ext cx="2362200" cy="9525"/>
          </a:xfrm>
          <a:prstGeom xmlns:a="http://schemas.openxmlformats.org/drawingml/2006/main" prst="rect">
            <a:avLst/>
          </a:prstGeom>
          <a:solidFill xmlns:a="http://schemas.openxmlformats.org/drawingml/2006/main">
            <a:srgbClr val="DDE3EA"/>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4AAD2CA9-D5BD-4B5F-9674-5B100ED7CDC4}"/>
              </a:ext>
            </a:extLst>
          </p:cNvPr>
          <p:cNvSpPr>
            <a:spLocks xmlns:a="http://schemas.openxmlformats.org/drawingml/2006/main" noGrp="1"/>
          </p:cNvSpPr>
          <p:nvPr/>
        </p:nvSpPr>
        <p:spPr>
          <a:xfrm xmlns:a="http://schemas.openxmlformats.org/drawingml/2006/main">
            <a:off x="3467100" y="4143375"/>
            <a:ext cx="2381250" cy="9525"/>
          </a:xfrm>
          <a:prstGeom xmlns:a="http://schemas.openxmlformats.org/drawingml/2006/main" prst="rect">
            <a:avLst/>
          </a:prstGeom>
          <a:solidFill xmlns:a="http://schemas.openxmlformats.org/drawingml/2006/main">
            <a:srgbClr val="F2CACC"/>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7D470A19-5EDD-48D4-8CE8-C984A0C072D8}"/>
              </a:ext>
            </a:extLst>
          </p:cNvPr>
          <p:cNvSpPr>
            <a:spLocks xmlns:a="http://schemas.openxmlformats.org/drawingml/2006/main" noGrp="1"/>
          </p:cNvSpPr>
          <p:nvPr/>
        </p:nvSpPr>
        <p:spPr>
          <a:xfrm xmlns:a="http://schemas.openxmlformats.org/drawingml/2006/main">
            <a:off x="6400800" y="4143375"/>
            <a:ext cx="2381250" cy="9525"/>
          </a:xfrm>
          <a:prstGeom xmlns:a="http://schemas.openxmlformats.org/drawingml/2006/main" prst="rect">
            <a:avLst/>
          </a:prstGeom>
          <a:solidFill xmlns:a="http://schemas.openxmlformats.org/drawingml/2006/main">
            <a:srgbClr val="F3D7D7"/>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DF9F46EC-CC91-4A33-97E3-9B312CE44B4D}"/>
              </a:ext>
            </a:extLst>
          </p:cNvPr>
          <p:cNvSpPr>
            <a:spLocks xmlns:a="http://schemas.openxmlformats.org/drawingml/2006/main" noGrp="1"/>
          </p:cNvSpPr>
          <p:nvPr/>
        </p:nvSpPr>
        <p:spPr>
          <a:xfrm xmlns:a="http://schemas.openxmlformats.org/drawingml/2006/main">
            <a:off x="590550" y="4276725"/>
            <a:ext cx="142875" cy="142875"/>
          </a:xfrm>
          <a:prstGeom xmlns:a="http://schemas.openxmlformats.org/drawingml/2006/main" prst="ellipse">
            <a:avLst/>
          </a:prstGeom>
          <a:noFill xmlns:a="http://schemas.openxmlformats.org/drawingml/2006/main"/>
          <a:ln xmlns:a="http://schemas.openxmlformats.org/drawingml/2006/main" w="23813">
            <a:solidFill>
              <a:srgbClr val="0E1A2D"/>
            </a:solidFill>
            <a:prstDash val="solid"/>
          </a:ln>
        </p:spPr>
      </p:sp>
      <p:sp>
        <p:nvSpPr>
          <p:cNvPr id="74" name="">
            <a:extLst xmlns:a="http://schemas.openxmlformats.org/drawingml/2006/main">
              <a:ext uri="{FF2B5EF4-FFF2-40B4-BE49-F238E27FC236}">
                <a16:creationId xmlns:a16="http://schemas.microsoft.com/office/drawing/2014/main" id="{D9B5B045-F624-41E2-BDC8-C8DE5EC1D8A0}"/>
              </a:ext>
            </a:extLst>
          </p:cNvPr>
          <p:cNvSpPr>
            <a:spLocks xmlns:a="http://schemas.openxmlformats.org/drawingml/2006/main" noGrp="1"/>
          </p:cNvSpPr>
          <p:nvPr/>
        </p:nvSpPr>
        <p:spPr>
          <a:xfrm xmlns:a="http://schemas.openxmlformats.org/drawingml/2006/main" rot="2700000">
            <a:off x="711994" y="4398169"/>
            <a:ext cx="78581" cy="21431"/>
          </a:xfrm>
          <a:prstGeom xmlns:a="http://schemas.openxmlformats.org/drawingml/2006/main" prst="rect">
            <a:avLst/>
          </a:prstGeom>
          <a:solidFill xmlns:a="http://schemas.openxmlformats.org/drawingml/2006/main">
            <a:srgbClr val="0E1A2D"/>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B4212627-5CAA-4A16-BB44-71035047E5C5}"/>
              </a:ext>
            </a:extLst>
          </p:cNvPr>
          <p:cNvSpPr>
            <a:spLocks xmlns:a="http://schemas.openxmlformats.org/drawingml/2006/main" noGrp="1"/>
          </p:cNvSpPr>
          <p:nvPr/>
        </p:nvSpPr>
        <p:spPr>
          <a:xfrm xmlns:a="http://schemas.openxmlformats.org/drawingml/2006/main">
            <a:off x="952500" y="4229100"/>
            <a:ext cx="188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0E1A2D"/>
                </a:solidFill>
                <a:latin typeface="Yu Gothic"/>
                <a:ea typeface="Yu Gothic"/>
                <a:cs typeface="Yu Gothic"/>
              </a:defRPr>
            </a:pPr>
            <a:r>
              <a:rPr sz="900" b="1" i="0">
                <a:solidFill>
                  <a:srgbClr val="0E1A2D"/>
                </a:solidFill>
                <a:latin typeface="Yu Gothic"/>
                <a:ea typeface="Yu Gothic"/>
                <a:cs typeface="Yu Gothic"/>
              </a:rPr>
              <a:t>業界特有の情報整理や</a:t>
            </a:r>
          </a:p>
          <a:p xmlns:a="http://schemas.openxmlformats.org/drawingml/2006/main">
            <a:pPr algn="l">
              <a:defRPr sz="900" b="1" i="0">
                <a:solidFill>
                  <a:srgbClr val="0E1A2D"/>
                </a:solidFill>
                <a:latin typeface="Yu Gothic"/>
                <a:ea typeface="Yu Gothic"/>
                <a:cs typeface="Yu Gothic"/>
              </a:defRPr>
            </a:pPr>
            <a:r>
              <a:rPr sz="900" b="1" i="0">
                <a:solidFill>
                  <a:srgbClr val="0E1A2D"/>
                </a:solidFill>
                <a:latin typeface="Yu Gothic"/>
                <a:ea typeface="Yu Gothic"/>
                <a:cs typeface="Yu Gothic"/>
              </a:rPr>
              <a:t>競合調査に時間を要していた</a:t>
            </a:r>
          </a:p>
        </p:txBody>
      </p:sp>
      <p:sp>
        <p:nvSpPr>
          <p:cNvPr id="76" name="">
            <a:extLst xmlns:a="http://schemas.openxmlformats.org/drawingml/2006/main">
              <a:ext uri="{FF2B5EF4-FFF2-40B4-BE49-F238E27FC236}">
                <a16:creationId xmlns:a16="http://schemas.microsoft.com/office/drawing/2014/main" id="{87B49D2B-1E4C-4429-BDC4-1F987FFC1D71}"/>
              </a:ext>
            </a:extLst>
          </p:cNvPr>
          <p:cNvSpPr>
            <a:spLocks xmlns:a="http://schemas.openxmlformats.org/drawingml/2006/main" noGrp="1"/>
          </p:cNvSpPr>
          <p:nvPr/>
        </p:nvSpPr>
        <p:spPr>
          <a:xfrm xmlns:a="http://schemas.openxmlformats.org/drawingml/2006/main">
            <a:off x="3524250" y="4476750"/>
            <a:ext cx="207169" cy="19050"/>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0F476A22-8E7F-497F-9CA3-9FB0E6D1C093}"/>
              </a:ext>
            </a:extLst>
          </p:cNvPr>
          <p:cNvSpPr>
            <a:spLocks xmlns:a="http://schemas.openxmlformats.org/drawingml/2006/main" noGrp="1"/>
          </p:cNvSpPr>
          <p:nvPr/>
        </p:nvSpPr>
        <p:spPr>
          <a:xfrm xmlns:a="http://schemas.openxmlformats.org/drawingml/2006/main">
            <a:off x="3524250" y="4276725"/>
            <a:ext cx="14288" cy="200025"/>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B71B417C-1B3B-460E-BB4A-0C4642CD0EA2}"/>
              </a:ext>
            </a:extLst>
          </p:cNvPr>
          <p:cNvSpPr>
            <a:spLocks xmlns:a="http://schemas.openxmlformats.org/drawingml/2006/main" noGrp="1"/>
          </p:cNvSpPr>
          <p:nvPr/>
        </p:nvSpPr>
        <p:spPr>
          <a:xfrm xmlns:a="http://schemas.openxmlformats.org/drawingml/2006/main">
            <a:off x="3559969" y="4383881"/>
            <a:ext cx="35719" cy="92869"/>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1DBD7588-E59F-4BA6-957E-6792AB8135D4}"/>
              </a:ext>
            </a:extLst>
          </p:cNvPr>
          <p:cNvSpPr>
            <a:spLocks xmlns:a="http://schemas.openxmlformats.org/drawingml/2006/main" noGrp="1"/>
          </p:cNvSpPr>
          <p:nvPr/>
        </p:nvSpPr>
        <p:spPr>
          <a:xfrm xmlns:a="http://schemas.openxmlformats.org/drawingml/2006/main">
            <a:off x="3617119" y="4341019"/>
            <a:ext cx="35719" cy="135731"/>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6BC26541-7ED6-4721-8141-7504A0D2C33C}"/>
              </a:ext>
            </a:extLst>
          </p:cNvPr>
          <p:cNvSpPr>
            <a:spLocks xmlns:a="http://schemas.openxmlformats.org/drawingml/2006/main" noGrp="1"/>
          </p:cNvSpPr>
          <p:nvPr/>
        </p:nvSpPr>
        <p:spPr>
          <a:xfrm xmlns:a="http://schemas.openxmlformats.org/drawingml/2006/main">
            <a:off x="3674269" y="4298156"/>
            <a:ext cx="35719" cy="178594"/>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B9CFD206-2F87-4BAF-92B5-1836E59BF839}"/>
              </a:ext>
            </a:extLst>
          </p:cNvPr>
          <p:cNvSpPr>
            <a:spLocks xmlns:a="http://schemas.openxmlformats.org/drawingml/2006/main" noGrp="1"/>
          </p:cNvSpPr>
          <p:nvPr/>
        </p:nvSpPr>
        <p:spPr>
          <a:xfrm xmlns:a="http://schemas.openxmlformats.org/drawingml/2006/main">
            <a:off x="3886200" y="4229100"/>
            <a:ext cx="194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0E1A2D"/>
                </a:solidFill>
                <a:latin typeface="Yu Gothic"/>
                <a:ea typeface="Yu Gothic"/>
                <a:cs typeface="Yu Gothic"/>
              </a:defRPr>
            </a:pPr>
            <a:r>
              <a:rPr sz="825" b="1" i="0">
                <a:solidFill>
                  <a:srgbClr val="0E1A2D"/>
                </a:solidFill>
                <a:latin typeface="Yu Gothic"/>
                <a:ea typeface="Yu Gothic"/>
                <a:cs typeface="Yu Gothic"/>
              </a:rPr>
              <a:t>競合分析や市場データも含めた</a:t>
            </a:r>
          </a:p>
          <a:p xmlns:a="http://schemas.openxmlformats.org/drawingml/2006/main">
            <a:pPr algn="l">
              <a:defRPr sz="825" b="1" i="0">
                <a:solidFill>
                  <a:srgbClr val="0E1A2D"/>
                </a:solidFill>
                <a:latin typeface="Yu Gothic"/>
                <a:ea typeface="Yu Gothic"/>
                <a:cs typeface="Yu Gothic"/>
              </a:defRPr>
            </a:pPr>
            <a:r>
              <a:rPr sz="825" b="1" i="0">
                <a:solidFill>
                  <a:srgbClr val="0E1A2D"/>
                </a:solidFill>
                <a:latin typeface="Yu Gothic"/>
                <a:ea typeface="Yu Gothic"/>
                <a:cs typeface="Yu Gothic"/>
              </a:rPr>
              <a:t>説得力のある提案内容を短時間で準備</a:t>
            </a:r>
          </a:p>
        </p:txBody>
      </p:sp>
      <p:sp>
        <p:nvSpPr>
          <p:cNvPr id="82" name="">
            <a:extLst xmlns:a="http://schemas.openxmlformats.org/drawingml/2006/main">
              <a:ext uri="{FF2B5EF4-FFF2-40B4-BE49-F238E27FC236}">
                <a16:creationId xmlns:a16="http://schemas.microsoft.com/office/drawing/2014/main" id="{47B1B206-F5D6-47B6-9A4D-BC265F6615A7}"/>
              </a:ext>
            </a:extLst>
          </p:cNvPr>
          <p:cNvSpPr>
            <a:spLocks xmlns:a="http://schemas.openxmlformats.org/drawingml/2006/main" noGrp="1"/>
          </p:cNvSpPr>
          <p:nvPr/>
        </p:nvSpPr>
        <p:spPr>
          <a:xfrm xmlns:a="http://schemas.openxmlformats.org/drawingml/2006/main" rot="-2100000">
            <a:off x="6551295" y="4263009"/>
            <a:ext cx="22289" cy="222885"/>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8C57D27F-D3CC-4D10-B735-1A9A58AF7C04}"/>
              </a:ext>
            </a:extLst>
          </p:cNvPr>
          <p:cNvSpPr>
            <a:spLocks xmlns:a="http://schemas.openxmlformats.org/drawingml/2006/main" noGrp="1"/>
          </p:cNvSpPr>
          <p:nvPr/>
        </p:nvSpPr>
        <p:spPr>
          <a:xfrm xmlns:a="http://schemas.openxmlformats.org/drawingml/2006/main" rot="-2100000">
            <a:off x="6529007" y="4263009"/>
            <a:ext cx="74295" cy="22289"/>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E2BA5E50-D916-468A-8509-BA445A38683B}"/>
              </a:ext>
            </a:extLst>
          </p:cNvPr>
          <p:cNvSpPr>
            <a:spLocks xmlns:a="http://schemas.openxmlformats.org/drawingml/2006/main" noGrp="1"/>
          </p:cNvSpPr>
          <p:nvPr/>
        </p:nvSpPr>
        <p:spPr>
          <a:xfrm xmlns:a="http://schemas.openxmlformats.org/drawingml/2006/main" rot="-2100000">
            <a:off x="6566154" y="4263009"/>
            <a:ext cx="22289" cy="74295"/>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F04784D8-4A28-4DEE-B2C5-C111DDA92538}"/>
              </a:ext>
            </a:extLst>
          </p:cNvPr>
          <p:cNvSpPr>
            <a:spLocks xmlns:a="http://schemas.openxmlformats.org/drawingml/2006/main" noGrp="1"/>
          </p:cNvSpPr>
          <p:nvPr/>
        </p:nvSpPr>
        <p:spPr>
          <a:xfrm xmlns:a="http://schemas.openxmlformats.org/drawingml/2006/main">
            <a:off x="6858000" y="4219575"/>
            <a:ext cx="182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ED1C24"/>
                </a:solidFill>
                <a:latin typeface="Yu Gothic"/>
                <a:ea typeface="Yu Gothic"/>
                <a:cs typeface="Yu Gothic"/>
              </a:defRPr>
            </a:pPr>
            <a:r>
              <a:rPr sz="900" b="1" i="0">
                <a:solidFill>
                  <a:srgbClr val="ED1C24"/>
                </a:solidFill>
                <a:latin typeface="Yu Gothic"/>
                <a:ea typeface="Yu Gothic"/>
                <a:cs typeface="Yu Gothic"/>
              </a:rPr>
              <a:t>社内の提案ナレッジ共有</a:t>
            </a:r>
          </a:p>
          <a:p xmlns:a="http://schemas.openxmlformats.org/drawingml/2006/main">
            <a:pPr algn="l">
              <a:defRPr sz="900" b="1" i="0">
                <a:solidFill>
                  <a:srgbClr val="ED1C24"/>
                </a:solidFill>
                <a:latin typeface="Yu Gothic"/>
                <a:ea typeface="Yu Gothic"/>
                <a:cs typeface="Yu Gothic"/>
              </a:defRPr>
            </a:pPr>
            <a:r>
              <a:rPr sz="900" b="1" i="0">
                <a:solidFill>
                  <a:srgbClr val="ED1C24"/>
                </a:solidFill>
                <a:latin typeface="Yu Gothic"/>
                <a:ea typeface="Yu Gothic"/>
                <a:cs typeface="Yu Gothic"/>
              </a:rPr>
              <a:t>大幅に促進</a:t>
            </a:r>
          </a:p>
        </p:txBody>
      </p:sp>
      <p:pic>
        <p:nvPicPr>
          <p:cNvPr id="206" name=""/>
          <p:cNvPicPr>
            <a:picLocks xmlns:a="http://schemas.openxmlformats.org/drawingml/2006/main" noChangeAspect="1"/>
          </p:cNvPicPr>
          <p:nvPr/>
        </p:nvPicPr>
        <p:blipFill>
          <a:blip xmlns:r="http://schemas.openxmlformats.org/officeDocument/2006/relationships" xmlns:a="http://schemas.openxmlformats.org/drawingml/2006/main" r:embed="R0f086c732004415d"/>
          <a:srcRect xmlns:a="http://schemas.openxmlformats.org/drawingml/2006/main" l="465" t="0" r="465" b="0"/>
          <a:stretch xmlns:a="http://schemas.openxmlformats.org/drawingml/2006/main">
            <a:fillRect l="0" t="0" r="0" b="0"/>
          </a:stretch>
        </p:blipFill>
        <p:spPr>
          <a:xfrm xmlns:a="http://schemas.openxmlformats.org/drawingml/2006/main">
            <a:off x="9096375" y="2447925"/>
            <a:ext cx="2809875" cy="2390775"/>
          </a:xfrm>
          <a:prstGeom xmlns:a="http://schemas.openxmlformats.org/drawingml/2006/main" prst="roundRect">
            <a:avLst>
              <a:gd name="adj" fmla="val 3984"/>
            </a:avLst>
          </a:prstGeom>
        </p:spPr>
      </p:pic>
      <p:sp>
        <p:nvSpPr>
          <p:cNvPr id="87" name="">
            <a:extLst xmlns:a="http://schemas.openxmlformats.org/drawingml/2006/main">
              <a:ext uri="{FF2B5EF4-FFF2-40B4-BE49-F238E27FC236}">
                <a16:creationId xmlns:a16="http://schemas.microsoft.com/office/drawing/2014/main" id="{F7DAC1F2-E4D5-4789-9BD3-C8CDDCA2F32C}"/>
              </a:ext>
            </a:extLst>
          </p:cNvPr>
          <p:cNvSpPr>
            <a:spLocks xmlns:a="http://schemas.openxmlformats.org/drawingml/2006/main" noGrp="1"/>
          </p:cNvSpPr>
          <p:nvPr/>
        </p:nvSpPr>
        <p:spPr>
          <a:xfrm xmlns:a="http://schemas.openxmlformats.org/drawingml/2006/main">
            <a:off x="285750" y="4905375"/>
            <a:ext cx="1276350" cy="304800"/>
          </a:xfrm>
          <a:prstGeom xmlns:a="http://schemas.openxmlformats.org/drawingml/2006/main" prst="roundRect">
            <a:avLst>
              <a:gd name="adj" fmla="val 25000"/>
            </a:avLst>
          </a:prstGeom>
          <a:solidFill xmlns:a="http://schemas.openxmlformats.org/drawingml/2006/main">
            <a:srgbClr val="142742"/>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159F7024-04D2-45D3-9C7B-56A4DE42EFE9}"/>
              </a:ext>
            </a:extLst>
          </p:cNvPr>
          <p:cNvSpPr>
            <a:spLocks xmlns:a="http://schemas.openxmlformats.org/drawingml/2006/main" noGrp="1"/>
          </p:cNvSpPr>
          <p:nvPr/>
        </p:nvSpPr>
        <p:spPr>
          <a:xfrm xmlns:a="http://schemas.openxmlformats.org/drawingml/2006/main">
            <a:off x="419100" y="4924425"/>
            <a:ext cx="100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i="0">
                <a:solidFill>
                  <a:srgbClr val="FFFFFF"/>
                </a:solidFill>
                <a:latin typeface="Yu Gothic"/>
                <a:ea typeface="Yu Gothic"/>
                <a:cs typeface="Yu Gothic"/>
              </a:defRPr>
            </a:pPr>
            <a:r>
              <a:rPr sz="1200" b="1" i="0">
                <a:solidFill>
                  <a:srgbClr val="FFFFFF"/>
                </a:solidFill>
                <a:latin typeface="Yu Gothic"/>
                <a:ea typeface="Yu Gothic"/>
                <a:cs typeface="Yu Gothic"/>
              </a:rPr>
              <a:t>お客様の声</a:t>
            </a:r>
          </a:p>
        </p:txBody>
      </p:sp>
      <p:pic>
        <p:nvPicPr>
          <p:cNvPr id="209" name=""/>
          <p:cNvPicPr>
            <a:picLocks xmlns:a="http://schemas.openxmlformats.org/drawingml/2006/main" noChangeAspect="1"/>
          </p:cNvPicPr>
          <p:nvPr/>
        </p:nvPicPr>
        <p:blipFill>
          <a:blip xmlns:r="http://schemas.openxmlformats.org/officeDocument/2006/relationships" xmlns:a="http://schemas.openxmlformats.org/drawingml/2006/main" r:embed="R4629e1c9d099492c"/>
          <a:srcRect xmlns:a="http://schemas.openxmlformats.org/drawingml/2006/main" l="0" t="408" r="0" b="408"/>
          <a:stretch xmlns:a="http://schemas.openxmlformats.org/drawingml/2006/main">
            <a:fillRect l="0" t="0" r="0" b="0"/>
          </a:stretch>
        </p:blipFill>
        <p:spPr>
          <a:xfrm xmlns:a="http://schemas.openxmlformats.org/drawingml/2006/main">
            <a:off x="285750" y="5219700"/>
            <a:ext cx="1276350" cy="1066800"/>
          </a:xfrm>
          <a:prstGeom xmlns:a="http://schemas.openxmlformats.org/drawingml/2006/main" prst="roundRect">
            <a:avLst>
              <a:gd name="adj" fmla="val 7143"/>
            </a:avLst>
          </a:prstGeom>
        </p:spPr>
      </p:pic>
      <p:sp>
        <p:nvSpPr>
          <p:cNvPr id="90" name="">
            <a:extLst xmlns:a="http://schemas.openxmlformats.org/drawingml/2006/main">
              <a:ext uri="{FF2B5EF4-FFF2-40B4-BE49-F238E27FC236}">
                <a16:creationId xmlns:a16="http://schemas.microsoft.com/office/drawing/2014/main" id="{9E5B8130-F085-4771-A375-2A613E255B43}"/>
              </a:ext>
            </a:extLst>
          </p:cNvPr>
          <p:cNvSpPr>
            <a:spLocks xmlns:a="http://schemas.openxmlformats.org/drawingml/2006/main" noGrp="1"/>
          </p:cNvSpPr>
          <p:nvPr/>
        </p:nvSpPr>
        <p:spPr>
          <a:xfrm xmlns:a="http://schemas.openxmlformats.org/drawingml/2006/main">
            <a:off x="1714500" y="5086350"/>
            <a:ext cx="400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350" b="1" i="0">
                <a:solidFill>
                  <a:srgbClr val="AEBAC8"/>
                </a:solidFill>
                <a:latin typeface="Yu Gothic"/>
                <a:ea typeface="Yu Gothic"/>
                <a:cs typeface="Yu Gothic"/>
              </a:defRPr>
            </a:pPr>
            <a:r>
              <a:rPr sz="4350" b="1" i="0">
                <a:solidFill>
                  <a:srgbClr val="AEBAC8"/>
                </a:solidFill>
                <a:latin typeface="Yu Gothic"/>
                <a:ea typeface="Yu Gothic"/>
                <a:cs typeface="Yu Gothic"/>
              </a:rPr>
              <a:t>“</a:t>
            </a:r>
          </a:p>
        </p:txBody>
      </p:sp>
      <p:sp>
        <p:nvSpPr>
          <p:cNvPr id="91" name="">
            <a:extLst xmlns:a="http://schemas.openxmlformats.org/drawingml/2006/main">
              <a:ext uri="{FF2B5EF4-FFF2-40B4-BE49-F238E27FC236}">
                <a16:creationId xmlns:a16="http://schemas.microsoft.com/office/drawing/2014/main" id="{1319F541-62E0-4A9B-B28D-9D016DDCEE2B}"/>
              </a:ext>
            </a:extLst>
          </p:cNvPr>
          <p:cNvSpPr>
            <a:spLocks xmlns:a="http://schemas.openxmlformats.org/drawingml/2006/main" noGrp="1"/>
          </p:cNvSpPr>
          <p:nvPr/>
        </p:nvSpPr>
        <p:spPr>
          <a:xfrm xmlns:a="http://schemas.openxmlformats.org/drawingml/2006/main">
            <a:off x="2095500" y="5095875"/>
            <a:ext cx="5048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i="0">
                <a:solidFill>
                  <a:srgbClr val="0E1A2D"/>
                </a:solidFill>
                <a:latin typeface="Yu Gothic"/>
                <a:ea typeface="Yu Gothic"/>
                <a:cs typeface="Yu Gothic"/>
              </a:defRPr>
            </a:pPr>
            <a:r>
              <a:rPr sz="975" b="1" i="0">
                <a:solidFill>
                  <a:srgbClr val="0E1A2D"/>
                </a:solidFill>
                <a:latin typeface="Yu Gothic"/>
                <a:ea typeface="Yu Gothic"/>
                <a:cs typeface="Yu Gothic"/>
              </a:rPr>
              <a:t>提案資料の作成にかかる時間が大幅に減り、</a:t>
            </a:r>
          </a:p>
          <a:p xmlns:a="http://schemas.openxmlformats.org/drawingml/2006/main">
            <a:pPr algn="l">
              <a:defRPr sz="975" b="1" i="0">
                <a:solidFill>
                  <a:srgbClr val="0E1A2D"/>
                </a:solidFill>
                <a:latin typeface="Yu Gothic"/>
                <a:ea typeface="Yu Gothic"/>
                <a:cs typeface="Yu Gothic"/>
              </a:defRPr>
            </a:pPr>
            <a:r>
              <a:rPr sz="975" b="1" i="0">
                <a:solidFill>
                  <a:srgbClr val="0E1A2D"/>
                </a:solidFill>
                <a:latin typeface="Yu Gothic"/>
                <a:ea typeface="Yu Gothic"/>
                <a:cs typeface="Yu Gothic"/>
              </a:rPr>
              <a:t>本来注力すべき顧客との対話や企画の検討に時間を使えるようになりました。</a:t>
            </a:r>
          </a:p>
          <a:p xmlns:a="http://schemas.openxmlformats.org/drawingml/2006/main">
            <a:pPr algn="l">
              <a:defRPr sz="975" b="1" i="0">
                <a:solidFill>
                  <a:srgbClr val="0E1A2D"/>
                </a:solidFill>
                <a:latin typeface="Yu Gothic"/>
                <a:ea typeface="Yu Gothic"/>
                <a:cs typeface="Yu Gothic"/>
              </a:defRPr>
            </a:pPr>
            <a:r>
              <a:rPr sz="975" b="1" i="0">
                <a:solidFill>
                  <a:srgbClr val="0E1A2D"/>
                </a:solidFill>
                <a:latin typeface="Yu Gothic"/>
                <a:ea typeface="Yu Gothic"/>
                <a:cs typeface="Yu Gothic"/>
              </a:rPr>
              <a:t>AIが生成する提案の質も高く、社内外からの評価も上がっています。</a:t>
            </a:r>
          </a:p>
        </p:txBody>
      </p:sp>
      <p:sp>
        <p:nvSpPr>
          <p:cNvPr id="92" name="">
            <a:extLst xmlns:a="http://schemas.openxmlformats.org/drawingml/2006/main">
              <a:ext uri="{FF2B5EF4-FFF2-40B4-BE49-F238E27FC236}">
                <a16:creationId xmlns:a16="http://schemas.microsoft.com/office/drawing/2014/main" id="{E1F5AAF9-45B6-4E96-B70B-B65C897D5B76}"/>
              </a:ext>
            </a:extLst>
          </p:cNvPr>
          <p:cNvSpPr>
            <a:spLocks xmlns:a="http://schemas.openxmlformats.org/drawingml/2006/main" noGrp="1"/>
          </p:cNvSpPr>
          <p:nvPr/>
        </p:nvSpPr>
        <p:spPr>
          <a:xfrm xmlns:a="http://schemas.openxmlformats.org/drawingml/2006/main">
            <a:off x="6667500" y="5572125"/>
            <a:ext cx="400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4350" b="1" i="0">
                <a:solidFill>
                  <a:srgbClr val="AEBAC8"/>
                </a:solidFill>
                <a:latin typeface="Yu Gothic"/>
                <a:ea typeface="Yu Gothic"/>
                <a:cs typeface="Yu Gothic"/>
              </a:defRPr>
            </a:pPr>
            <a:r>
              <a:rPr sz="4350" b="1" i="0">
                <a:solidFill>
                  <a:srgbClr val="AEBAC8"/>
                </a:solidFill>
                <a:latin typeface="Yu Gothic"/>
                <a:ea typeface="Yu Gothic"/>
                <a:cs typeface="Yu Gothic"/>
              </a:rPr>
              <a:t>”</a:t>
            </a:r>
          </a:p>
        </p:txBody>
      </p:sp>
      <p:sp>
        <p:nvSpPr>
          <p:cNvPr id="93" name="">
            <a:extLst xmlns:a="http://schemas.openxmlformats.org/drawingml/2006/main">
              <a:ext uri="{FF2B5EF4-FFF2-40B4-BE49-F238E27FC236}">
                <a16:creationId xmlns:a16="http://schemas.microsoft.com/office/drawing/2014/main" id="{6FD49CC8-2B6B-41A6-81D2-E69CE8779BEF}"/>
              </a:ext>
            </a:extLst>
          </p:cNvPr>
          <p:cNvSpPr>
            <a:spLocks xmlns:a="http://schemas.openxmlformats.org/drawingml/2006/main" noGrp="1"/>
          </p:cNvSpPr>
          <p:nvPr/>
        </p:nvSpPr>
        <p:spPr>
          <a:xfrm xmlns:a="http://schemas.openxmlformats.org/drawingml/2006/main">
            <a:off x="2114550" y="5943600"/>
            <a:ext cx="38100" cy="333375"/>
          </a:xfrm>
          <a:prstGeom xmlns:a="http://schemas.openxmlformats.org/drawingml/2006/main" prst="rect">
            <a:avLst/>
          </a:prstGeom>
          <a:solidFill xmlns:a="http://schemas.openxmlformats.org/drawingml/2006/main">
            <a:srgbClr val="ED1C24"/>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D07E2DC4-5C13-40D8-9B55-D4919D7B316D}"/>
              </a:ext>
            </a:extLst>
          </p:cNvPr>
          <p:cNvSpPr>
            <a:spLocks xmlns:a="http://schemas.openxmlformats.org/drawingml/2006/main" noGrp="1"/>
          </p:cNvSpPr>
          <p:nvPr/>
        </p:nvSpPr>
        <p:spPr>
          <a:xfrm xmlns:a="http://schemas.openxmlformats.org/drawingml/2006/main">
            <a:off x="2247900" y="5943600"/>
            <a:ext cx="3048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0E1A2D"/>
                </a:solidFill>
                <a:latin typeface="Yu Gothic"/>
                <a:ea typeface="Yu Gothic"/>
                <a:cs typeface="Yu Gothic"/>
              </a:defRPr>
            </a:pPr>
            <a:r>
              <a:rPr sz="750" b="1" i="0">
                <a:solidFill>
                  <a:srgbClr val="0E1A2D"/>
                </a:solidFill>
                <a:latin typeface="Yu Gothic"/>
                <a:ea typeface="Yu Gothic"/>
                <a:cs typeface="Yu Gothic"/>
              </a:rPr>
              <a:t>株式会社フラワーオークションジャパン</a:t>
            </a:r>
          </a:p>
          <a:p xmlns:a="http://schemas.openxmlformats.org/drawingml/2006/main">
            <a:pPr algn="l">
              <a:defRPr sz="750" b="1" i="0">
                <a:solidFill>
                  <a:srgbClr val="0E1A2D"/>
                </a:solidFill>
                <a:latin typeface="Yu Gothic"/>
                <a:ea typeface="Yu Gothic"/>
                <a:cs typeface="Yu Gothic"/>
              </a:defRPr>
            </a:pPr>
            <a:r>
              <a:rPr sz="750" b="1" i="0">
                <a:solidFill>
                  <a:srgbClr val="0E1A2D"/>
                </a:solidFill>
                <a:latin typeface="Yu Gothic"/>
                <a:ea typeface="Yu Gothic"/>
                <a:cs typeface="Yu Gothic"/>
              </a:rPr>
              <a:t>営業企画部 部長 様</a:t>
            </a:r>
          </a:p>
        </p:txBody>
      </p:sp>
      <p:sp>
        <p:nvSpPr>
          <p:cNvPr id="95" name="">
            <a:extLst xmlns:a="http://schemas.openxmlformats.org/drawingml/2006/main">
              <a:ext uri="{FF2B5EF4-FFF2-40B4-BE49-F238E27FC236}">
                <a16:creationId xmlns:a16="http://schemas.microsoft.com/office/drawing/2014/main" id="{259C96BD-97CE-4071-A0B6-E046EB387FDE}"/>
              </a:ext>
            </a:extLst>
          </p:cNvPr>
          <p:cNvSpPr>
            <a:spLocks xmlns:a="http://schemas.openxmlformats.org/drawingml/2006/main" noGrp="1"/>
          </p:cNvSpPr>
          <p:nvPr/>
        </p:nvSpPr>
        <p:spPr>
          <a:xfrm xmlns:a="http://schemas.openxmlformats.org/drawingml/2006/main">
            <a:off x="7391400" y="4905375"/>
            <a:ext cx="4514850" cy="1381125"/>
          </a:xfrm>
          <a:prstGeom xmlns:a="http://schemas.openxmlformats.org/drawingml/2006/main" prst="roundRect">
            <a:avLst>
              <a:gd name="adj" fmla="val 5517"/>
            </a:avLst>
          </a:prstGeom>
          <a:solidFill xmlns:a="http://schemas.openxmlformats.org/drawingml/2006/main">
            <a:srgbClr val="FFF1F1"/>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8652A0F0-CBBE-4F1B-8FCD-3FD4763B9FC3}"/>
              </a:ext>
            </a:extLst>
          </p:cNvPr>
          <p:cNvSpPr>
            <a:spLocks xmlns:a="http://schemas.openxmlformats.org/drawingml/2006/main" noGrp="1"/>
          </p:cNvSpPr>
          <p:nvPr/>
        </p:nvSpPr>
        <p:spPr>
          <a:xfrm xmlns:a="http://schemas.openxmlformats.org/drawingml/2006/main">
            <a:off x="7943850" y="49530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ED1C24"/>
                </a:solidFill>
                <a:latin typeface="Yu Gothic"/>
                <a:ea typeface="Yu Gothic"/>
                <a:cs typeface="Yu Gothic"/>
              </a:defRPr>
            </a:pPr>
            <a:r>
              <a:rPr sz="1350" b="1" i="0">
                <a:solidFill>
                  <a:srgbClr val="ED1C24"/>
                </a:solidFill>
                <a:latin typeface="Yu Gothic"/>
                <a:ea typeface="Yu Gothic"/>
                <a:cs typeface="Yu Gothic"/>
              </a:rPr>
              <a:t>導入の決め手</a:t>
            </a:r>
          </a:p>
        </p:txBody>
      </p:sp>
      <p:sp>
        <p:nvSpPr>
          <p:cNvPr id="97" name="">
            <a:extLst xmlns:a="http://schemas.openxmlformats.org/drawingml/2006/main">
              <a:ext uri="{FF2B5EF4-FFF2-40B4-BE49-F238E27FC236}">
                <a16:creationId xmlns:a16="http://schemas.microsoft.com/office/drawing/2014/main" id="{AC6C28FD-941C-4684-ACDE-72D0E23E1D32}"/>
              </a:ext>
            </a:extLst>
          </p:cNvPr>
          <p:cNvSpPr>
            <a:spLocks xmlns:a="http://schemas.openxmlformats.org/drawingml/2006/main" noGrp="1"/>
          </p:cNvSpPr>
          <p:nvPr/>
        </p:nvSpPr>
        <p:spPr>
          <a:xfrm xmlns:a="http://schemas.openxmlformats.org/drawingml/2006/main">
            <a:off x="7867650" y="5257800"/>
            <a:ext cx="171450" cy="171450"/>
          </a:xfrm>
          <a:prstGeom xmlns:a="http://schemas.openxmlformats.org/drawingml/2006/main" prst="ellipse">
            <a:avLst/>
          </a:prstGeom>
          <a:solidFill xmlns:a="http://schemas.openxmlformats.org/drawingml/2006/main">
            <a:srgbClr val="ED1C24"/>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7B2625CF-404D-4E85-AF0A-445C689734CF}"/>
              </a:ext>
            </a:extLst>
          </p:cNvPr>
          <p:cNvSpPr>
            <a:spLocks xmlns:a="http://schemas.openxmlformats.org/drawingml/2006/main" noGrp="1"/>
          </p:cNvSpPr>
          <p:nvPr/>
        </p:nvSpPr>
        <p:spPr>
          <a:xfrm xmlns:a="http://schemas.openxmlformats.org/drawingml/2006/main" rot="2700000">
            <a:off x="7910513" y="5336381"/>
            <a:ext cx="50006" cy="14288"/>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2B1A7B2E-A320-461D-9F94-297FC1FF5B3A}"/>
              </a:ext>
            </a:extLst>
          </p:cNvPr>
          <p:cNvSpPr>
            <a:spLocks xmlns:a="http://schemas.openxmlformats.org/drawingml/2006/main" noGrp="1"/>
          </p:cNvSpPr>
          <p:nvPr/>
        </p:nvSpPr>
        <p:spPr>
          <a:xfrm xmlns:a="http://schemas.openxmlformats.org/drawingml/2006/main" rot="-2700000">
            <a:off x="7946231" y="5314950"/>
            <a:ext cx="71438" cy="14288"/>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A5A511E9-7A74-4E52-A17E-C8E46928F4DC}"/>
              </a:ext>
            </a:extLst>
          </p:cNvPr>
          <p:cNvSpPr>
            <a:spLocks xmlns:a="http://schemas.openxmlformats.org/drawingml/2006/main" noGrp="1"/>
          </p:cNvSpPr>
          <p:nvPr/>
        </p:nvSpPr>
        <p:spPr>
          <a:xfrm xmlns:a="http://schemas.openxmlformats.org/drawingml/2006/main">
            <a:off x="8115300" y="52197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0E1A2D"/>
                </a:solidFill>
                <a:latin typeface="Yu Gothic"/>
                <a:ea typeface="Yu Gothic"/>
                <a:cs typeface="Yu Gothic"/>
              </a:defRPr>
            </a:pPr>
            <a:r>
              <a:rPr sz="825" b="1" i="0">
                <a:solidFill>
                  <a:srgbClr val="0E1A2D"/>
                </a:solidFill>
                <a:latin typeface="Yu Gothic"/>
                <a:ea typeface="Yu Gothic"/>
                <a:cs typeface="Yu Gothic"/>
              </a:rPr>
              <a:t>業界・業務特性を理解した提案内容の生成力</a:t>
            </a:r>
          </a:p>
        </p:txBody>
      </p:sp>
      <p:sp>
        <p:nvSpPr>
          <p:cNvPr id="101" name="">
            <a:extLst xmlns:a="http://schemas.openxmlformats.org/drawingml/2006/main">
              <a:ext uri="{FF2B5EF4-FFF2-40B4-BE49-F238E27FC236}">
                <a16:creationId xmlns:a16="http://schemas.microsoft.com/office/drawing/2014/main" id="{BE3DB56F-3728-45EB-8A56-CC0F4E9A6D96}"/>
              </a:ext>
            </a:extLst>
          </p:cNvPr>
          <p:cNvSpPr>
            <a:spLocks xmlns:a="http://schemas.openxmlformats.org/drawingml/2006/main" noGrp="1"/>
          </p:cNvSpPr>
          <p:nvPr/>
        </p:nvSpPr>
        <p:spPr>
          <a:xfrm xmlns:a="http://schemas.openxmlformats.org/drawingml/2006/main">
            <a:off x="7867650" y="5476875"/>
            <a:ext cx="171450" cy="171450"/>
          </a:xfrm>
          <a:prstGeom xmlns:a="http://schemas.openxmlformats.org/drawingml/2006/main" prst="ellipse">
            <a:avLst/>
          </a:prstGeom>
          <a:solidFill xmlns:a="http://schemas.openxmlformats.org/drawingml/2006/main">
            <a:srgbClr val="ED1C24"/>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E5D7A377-D2C6-4480-AECF-AF86E7CCBEC1}"/>
              </a:ext>
            </a:extLst>
          </p:cNvPr>
          <p:cNvSpPr>
            <a:spLocks xmlns:a="http://schemas.openxmlformats.org/drawingml/2006/main" noGrp="1"/>
          </p:cNvSpPr>
          <p:nvPr/>
        </p:nvSpPr>
        <p:spPr>
          <a:xfrm xmlns:a="http://schemas.openxmlformats.org/drawingml/2006/main" rot="2700000">
            <a:off x="7910513" y="5555456"/>
            <a:ext cx="50006" cy="14288"/>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3BE7E6AC-3F52-449C-AC59-8AEE83CF178F}"/>
              </a:ext>
            </a:extLst>
          </p:cNvPr>
          <p:cNvSpPr>
            <a:spLocks xmlns:a="http://schemas.openxmlformats.org/drawingml/2006/main" noGrp="1"/>
          </p:cNvSpPr>
          <p:nvPr/>
        </p:nvSpPr>
        <p:spPr>
          <a:xfrm xmlns:a="http://schemas.openxmlformats.org/drawingml/2006/main" rot="-2700000">
            <a:off x="7946231" y="5534025"/>
            <a:ext cx="71438" cy="14288"/>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F742197E-40A3-43AE-93AE-05BF1C36349E}"/>
              </a:ext>
            </a:extLst>
          </p:cNvPr>
          <p:cNvSpPr>
            <a:spLocks xmlns:a="http://schemas.openxmlformats.org/drawingml/2006/main" noGrp="1"/>
          </p:cNvSpPr>
          <p:nvPr/>
        </p:nvSpPr>
        <p:spPr>
          <a:xfrm xmlns:a="http://schemas.openxmlformats.org/drawingml/2006/main">
            <a:off x="8115300" y="5438775"/>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0E1A2D"/>
                </a:solidFill>
                <a:latin typeface="Yu Gothic"/>
                <a:ea typeface="Yu Gothic"/>
                <a:cs typeface="Yu Gothic"/>
              </a:defRPr>
            </a:pPr>
            <a:r>
              <a:rPr sz="825" b="1" i="0">
                <a:solidFill>
                  <a:srgbClr val="0E1A2D"/>
                </a:solidFill>
                <a:latin typeface="Yu Gothic"/>
                <a:ea typeface="Yu Gothic"/>
                <a:cs typeface="Yu Gothic"/>
              </a:rPr>
              <a:t>提案資料・見積書・競合分析まで一気通貫で対応</a:t>
            </a:r>
          </a:p>
        </p:txBody>
      </p:sp>
      <p:sp>
        <p:nvSpPr>
          <p:cNvPr id="105" name="">
            <a:extLst xmlns:a="http://schemas.openxmlformats.org/drawingml/2006/main">
              <a:ext uri="{FF2B5EF4-FFF2-40B4-BE49-F238E27FC236}">
                <a16:creationId xmlns:a16="http://schemas.microsoft.com/office/drawing/2014/main" id="{78B45465-EEB1-4007-A5C3-8D3A44B18A6A}"/>
              </a:ext>
            </a:extLst>
          </p:cNvPr>
          <p:cNvSpPr>
            <a:spLocks xmlns:a="http://schemas.openxmlformats.org/drawingml/2006/main" noGrp="1"/>
          </p:cNvSpPr>
          <p:nvPr/>
        </p:nvSpPr>
        <p:spPr>
          <a:xfrm xmlns:a="http://schemas.openxmlformats.org/drawingml/2006/main">
            <a:off x="7867650" y="5695950"/>
            <a:ext cx="171450" cy="171450"/>
          </a:xfrm>
          <a:prstGeom xmlns:a="http://schemas.openxmlformats.org/drawingml/2006/main" prst="ellipse">
            <a:avLst/>
          </a:prstGeom>
          <a:solidFill xmlns:a="http://schemas.openxmlformats.org/drawingml/2006/main">
            <a:srgbClr val="ED1C24"/>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3D4B4DE5-BF12-442D-971A-F59F8E381DDE}"/>
              </a:ext>
            </a:extLst>
          </p:cNvPr>
          <p:cNvSpPr>
            <a:spLocks xmlns:a="http://schemas.openxmlformats.org/drawingml/2006/main" noGrp="1"/>
          </p:cNvSpPr>
          <p:nvPr/>
        </p:nvSpPr>
        <p:spPr>
          <a:xfrm xmlns:a="http://schemas.openxmlformats.org/drawingml/2006/main" rot="2700000">
            <a:off x="7910513" y="5774531"/>
            <a:ext cx="50006" cy="14288"/>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7" name="">
            <a:extLst xmlns:a="http://schemas.openxmlformats.org/drawingml/2006/main">
              <a:ext uri="{FF2B5EF4-FFF2-40B4-BE49-F238E27FC236}">
                <a16:creationId xmlns:a16="http://schemas.microsoft.com/office/drawing/2014/main" id="{32A883F1-F000-49A8-B177-3F3EFA7F2D3C}"/>
              </a:ext>
            </a:extLst>
          </p:cNvPr>
          <p:cNvSpPr>
            <a:spLocks xmlns:a="http://schemas.openxmlformats.org/drawingml/2006/main" noGrp="1"/>
          </p:cNvSpPr>
          <p:nvPr/>
        </p:nvSpPr>
        <p:spPr>
          <a:xfrm xmlns:a="http://schemas.openxmlformats.org/drawingml/2006/main" rot="-2700000">
            <a:off x="7946231" y="5753100"/>
            <a:ext cx="71438" cy="14288"/>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89439398-8FEA-452F-9D9A-5927A6E655AF}"/>
              </a:ext>
            </a:extLst>
          </p:cNvPr>
          <p:cNvSpPr>
            <a:spLocks xmlns:a="http://schemas.openxmlformats.org/drawingml/2006/main" noGrp="1"/>
          </p:cNvSpPr>
          <p:nvPr/>
        </p:nvSpPr>
        <p:spPr>
          <a:xfrm xmlns:a="http://schemas.openxmlformats.org/drawingml/2006/main">
            <a:off x="8115300" y="56578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0E1A2D"/>
                </a:solidFill>
                <a:latin typeface="Yu Gothic"/>
                <a:ea typeface="Yu Gothic"/>
                <a:cs typeface="Yu Gothic"/>
              </a:defRPr>
            </a:pPr>
            <a:r>
              <a:rPr sz="825" b="1" i="0">
                <a:solidFill>
                  <a:srgbClr val="0E1A2D"/>
                </a:solidFill>
                <a:latin typeface="Yu Gothic"/>
                <a:ea typeface="Yu Gothic"/>
                <a:cs typeface="Yu Gothic"/>
              </a:rPr>
              <a:t>操作がシンプルで、現場ですぐに使える</a:t>
            </a:r>
          </a:p>
        </p:txBody>
      </p:sp>
      <p:sp>
        <p:nvSpPr>
          <p:cNvPr id="109" name="">
            <a:extLst xmlns:a="http://schemas.openxmlformats.org/drawingml/2006/main">
              <a:ext uri="{FF2B5EF4-FFF2-40B4-BE49-F238E27FC236}">
                <a16:creationId xmlns:a16="http://schemas.microsoft.com/office/drawing/2014/main" id="{F3AF91D5-E1DC-469C-A7DC-237314E92A51}"/>
              </a:ext>
            </a:extLst>
          </p:cNvPr>
          <p:cNvSpPr>
            <a:spLocks xmlns:a="http://schemas.openxmlformats.org/drawingml/2006/main" noGrp="1"/>
          </p:cNvSpPr>
          <p:nvPr/>
        </p:nvSpPr>
        <p:spPr>
          <a:xfrm xmlns:a="http://schemas.openxmlformats.org/drawingml/2006/main">
            <a:off x="7867650" y="5915025"/>
            <a:ext cx="171450" cy="171450"/>
          </a:xfrm>
          <a:prstGeom xmlns:a="http://schemas.openxmlformats.org/drawingml/2006/main" prst="ellipse">
            <a:avLst/>
          </a:prstGeom>
          <a:solidFill xmlns:a="http://schemas.openxmlformats.org/drawingml/2006/main">
            <a:srgbClr val="ED1C24"/>
          </a:solidFill>
          <a:ln xmlns:a="http://schemas.openxmlformats.org/drawingml/2006/main" w="0">
            <a:noFill/>
            <a:prstDash val="solid"/>
          </a:ln>
        </p:spPr>
      </p:sp>
      <p:sp>
        <p:nvSpPr>
          <p:cNvPr id="110" name="">
            <a:extLst xmlns:a="http://schemas.openxmlformats.org/drawingml/2006/main">
              <a:ext uri="{FF2B5EF4-FFF2-40B4-BE49-F238E27FC236}">
                <a16:creationId xmlns:a16="http://schemas.microsoft.com/office/drawing/2014/main" id="{4ED40DF8-75A0-4583-9E04-F8CD06758C97}"/>
              </a:ext>
            </a:extLst>
          </p:cNvPr>
          <p:cNvSpPr>
            <a:spLocks xmlns:a="http://schemas.openxmlformats.org/drawingml/2006/main" noGrp="1"/>
          </p:cNvSpPr>
          <p:nvPr/>
        </p:nvSpPr>
        <p:spPr>
          <a:xfrm xmlns:a="http://schemas.openxmlformats.org/drawingml/2006/main" rot="2700000">
            <a:off x="7910513" y="5993606"/>
            <a:ext cx="50006" cy="14288"/>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1" name="">
            <a:extLst xmlns:a="http://schemas.openxmlformats.org/drawingml/2006/main">
              <a:ext uri="{FF2B5EF4-FFF2-40B4-BE49-F238E27FC236}">
                <a16:creationId xmlns:a16="http://schemas.microsoft.com/office/drawing/2014/main" id="{7C83A408-23EE-4AF6-B1C5-250484EA5B5D}"/>
              </a:ext>
            </a:extLst>
          </p:cNvPr>
          <p:cNvSpPr>
            <a:spLocks xmlns:a="http://schemas.openxmlformats.org/drawingml/2006/main" noGrp="1"/>
          </p:cNvSpPr>
          <p:nvPr/>
        </p:nvSpPr>
        <p:spPr>
          <a:xfrm xmlns:a="http://schemas.openxmlformats.org/drawingml/2006/main" rot="-2700000">
            <a:off x="7946231" y="5972175"/>
            <a:ext cx="71438" cy="14288"/>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2" name="">
            <a:extLst xmlns:a="http://schemas.openxmlformats.org/drawingml/2006/main">
              <a:ext uri="{FF2B5EF4-FFF2-40B4-BE49-F238E27FC236}">
                <a16:creationId xmlns:a16="http://schemas.microsoft.com/office/drawing/2014/main" id="{CF1DF38B-568C-4805-A3B4-29C40D9232FF}"/>
              </a:ext>
            </a:extLst>
          </p:cNvPr>
          <p:cNvSpPr>
            <a:spLocks xmlns:a="http://schemas.openxmlformats.org/drawingml/2006/main" noGrp="1"/>
          </p:cNvSpPr>
          <p:nvPr/>
        </p:nvSpPr>
        <p:spPr>
          <a:xfrm xmlns:a="http://schemas.openxmlformats.org/drawingml/2006/main">
            <a:off x="8115300" y="5876925"/>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i="0">
                <a:solidFill>
                  <a:srgbClr val="0E1A2D"/>
                </a:solidFill>
                <a:latin typeface="Yu Gothic"/>
                <a:ea typeface="Yu Gothic"/>
                <a:cs typeface="Yu Gothic"/>
              </a:defRPr>
            </a:pPr>
            <a:r>
              <a:rPr sz="825" b="1" i="0">
                <a:solidFill>
                  <a:srgbClr val="0E1A2D"/>
                </a:solidFill>
                <a:latin typeface="Yu Gothic"/>
                <a:ea typeface="Yu Gothic"/>
                <a:cs typeface="Yu Gothic"/>
              </a:rPr>
              <a:t>セキュリティ・ガバナンス体制の安心感</a:t>
            </a:r>
          </a:p>
        </p:txBody>
      </p:sp>
      <p:sp>
        <p:nvSpPr>
          <p:cNvPr id="113" name="">
            <a:extLst xmlns:a="http://schemas.openxmlformats.org/drawingml/2006/main">
              <a:ext uri="{FF2B5EF4-FFF2-40B4-BE49-F238E27FC236}">
                <a16:creationId xmlns:a16="http://schemas.microsoft.com/office/drawing/2014/main" id="{16B63F48-7E49-4630-956F-99E5EB356444}"/>
              </a:ext>
            </a:extLst>
          </p:cNvPr>
          <p:cNvSpPr>
            <a:spLocks xmlns:a="http://schemas.openxmlformats.org/drawingml/2006/main" noGrp="1"/>
          </p:cNvSpPr>
          <p:nvPr/>
        </p:nvSpPr>
        <p:spPr>
          <a:xfrm xmlns:a="http://schemas.openxmlformats.org/drawingml/2006/main">
            <a:off x="333375" y="6410325"/>
            <a:ext cx="171450" cy="85725"/>
          </a:xfrm>
          <a:prstGeom xmlns:a="http://schemas.openxmlformats.org/drawingml/2006/main" prst="parallelogram">
            <a:avLst/>
          </a:prstGeom>
          <a:solidFill xmlns:a="http://schemas.openxmlformats.org/drawingml/2006/main">
            <a:srgbClr val="ED1C24"/>
          </a:solidFill>
          <a:ln xmlns:a="http://schemas.openxmlformats.org/drawingml/2006/main" w="0">
            <a:noFill/>
            <a:prstDash val="solid"/>
          </a:ln>
        </p:spPr>
      </p:sp>
      <p:sp>
        <p:nvSpPr>
          <p:cNvPr id="114" name="">
            <a:extLst xmlns:a="http://schemas.openxmlformats.org/drawingml/2006/main">
              <a:ext uri="{FF2B5EF4-FFF2-40B4-BE49-F238E27FC236}">
                <a16:creationId xmlns:a16="http://schemas.microsoft.com/office/drawing/2014/main" id="{CF8ABE6C-D034-428E-A084-C1CB87991706}"/>
              </a:ext>
            </a:extLst>
          </p:cNvPr>
          <p:cNvSpPr>
            <a:spLocks xmlns:a="http://schemas.openxmlformats.org/drawingml/2006/main" noGrp="1"/>
          </p:cNvSpPr>
          <p:nvPr/>
        </p:nvSpPr>
        <p:spPr>
          <a:xfrm xmlns:a="http://schemas.openxmlformats.org/drawingml/2006/main">
            <a:off x="323850" y="6496050"/>
            <a:ext cx="171450" cy="85725"/>
          </a:xfrm>
          <a:prstGeom xmlns:a="http://schemas.openxmlformats.org/drawingml/2006/main" prst="parallelogram">
            <a:avLst/>
          </a:prstGeom>
          <a:solidFill xmlns:a="http://schemas.openxmlformats.org/drawingml/2006/main">
            <a:srgbClr val="8A919A"/>
          </a:solidFill>
          <a:ln xmlns:a="http://schemas.openxmlformats.org/drawingml/2006/main" w="0">
            <a:noFill/>
            <a:prstDash val="solid"/>
          </a:ln>
        </p:spPr>
      </p:sp>
      <p:sp>
        <p:nvSpPr>
          <p:cNvPr id="115" name="">
            <a:extLst xmlns:a="http://schemas.openxmlformats.org/drawingml/2006/main">
              <a:ext uri="{FF2B5EF4-FFF2-40B4-BE49-F238E27FC236}">
                <a16:creationId xmlns:a16="http://schemas.microsoft.com/office/drawing/2014/main" id="{ED82AE48-2E3B-47B5-83F9-885112DA87E2}"/>
              </a:ext>
            </a:extLst>
          </p:cNvPr>
          <p:cNvSpPr>
            <a:spLocks xmlns:a="http://schemas.openxmlformats.org/drawingml/2006/main" noGrp="1"/>
          </p:cNvSpPr>
          <p:nvPr/>
        </p:nvSpPr>
        <p:spPr>
          <a:xfrm xmlns:a="http://schemas.openxmlformats.org/drawingml/2006/main">
            <a:off x="314325" y="6581775"/>
            <a:ext cx="171450" cy="85725"/>
          </a:xfrm>
          <a:prstGeom xmlns:a="http://schemas.openxmlformats.org/drawingml/2006/main" prst="parallelogram">
            <a:avLst/>
          </a:prstGeom>
          <a:solidFill xmlns:a="http://schemas.openxmlformats.org/drawingml/2006/main">
            <a:srgbClr val="0E1A2D"/>
          </a:solidFill>
          <a:ln xmlns:a="http://schemas.openxmlformats.org/drawingml/2006/main" w="0">
            <a:noFill/>
            <a:prstDash val="solid"/>
          </a:ln>
        </p:spPr>
      </p:sp>
      <p:sp>
        <p:nvSpPr>
          <p:cNvPr id="116" name="">
            <a:extLst xmlns:a="http://schemas.openxmlformats.org/drawingml/2006/main">
              <a:ext uri="{FF2B5EF4-FFF2-40B4-BE49-F238E27FC236}">
                <a16:creationId xmlns:a16="http://schemas.microsoft.com/office/drawing/2014/main" id="{BC8176A8-3716-4387-BDA2-F323CC71547C}"/>
              </a:ext>
            </a:extLst>
          </p:cNvPr>
          <p:cNvSpPr>
            <a:spLocks xmlns:a="http://schemas.openxmlformats.org/drawingml/2006/main" noGrp="1"/>
          </p:cNvSpPr>
          <p:nvPr/>
        </p:nvSpPr>
        <p:spPr>
          <a:xfrm xmlns:a="http://schemas.openxmlformats.org/drawingml/2006/main">
            <a:off x="695325" y="64008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i="0">
                <a:solidFill>
                  <a:srgbClr val="0E1A2D"/>
                </a:solidFill>
                <a:latin typeface="Yu Gothic"/>
                <a:ea typeface="Yu Gothic"/>
                <a:cs typeface="Yu Gothic"/>
              </a:defRPr>
            </a:pPr>
            <a:r>
              <a:rPr sz="1350" b="1" i="0">
                <a:solidFill>
                  <a:srgbClr val="0E1A2D"/>
                </a:solidFill>
                <a:latin typeface="Yu Gothic"/>
                <a:ea typeface="Yu Gothic"/>
                <a:cs typeface="Yu Gothic"/>
              </a:rPr>
              <a:t>提案クエスト</a:t>
            </a:r>
          </a:p>
        </p:txBody>
      </p:sp>
      <p:sp>
        <p:nvSpPr>
          <p:cNvPr id="117" name="">
            <a:extLst xmlns:a="http://schemas.openxmlformats.org/drawingml/2006/main">
              <a:ext uri="{FF2B5EF4-FFF2-40B4-BE49-F238E27FC236}">
                <a16:creationId xmlns:a16="http://schemas.microsoft.com/office/drawing/2014/main" id="{0B06457D-CF09-435F-BE62-6B8041F95FED}"/>
              </a:ext>
            </a:extLst>
          </p:cNvPr>
          <p:cNvSpPr>
            <a:spLocks xmlns:a="http://schemas.openxmlformats.org/drawingml/2006/main" noGrp="1"/>
          </p:cNvSpPr>
          <p:nvPr/>
        </p:nvSpPr>
        <p:spPr>
          <a:xfrm xmlns:a="http://schemas.openxmlformats.org/drawingml/2006/main">
            <a:off x="2209800" y="6400800"/>
            <a:ext cx="9525" cy="285750"/>
          </a:xfrm>
          <a:prstGeom xmlns:a="http://schemas.openxmlformats.org/drawingml/2006/main" prst="rect">
            <a:avLst/>
          </a:prstGeom>
          <a:solidFill xmlns:a="http://schemas.openxmlformats.org/drawingml/2006/main">
            <a:srgbClr val="0E1A2D"/>
          </a:solidFill>
          <a:ln xmlns:a="http://schemas.openxmlformats.org/drawingml/2006/main" w="0">
            <a:noFill/>
            <a:prstDash val="solid"/>
          </a:ln>
        </p:spPr>
      </p:sp>
      <p:sp>
        <p:nvSpPr>
          <p:cNvPr id="118" name="">
            <a:extLst xmlns:a="http://schemas.openxmlformats.org/drawingml/2006/main">
              <a:ext uri="{FF2B5EF4-FFF2-40B4-BE49-F238E27FC236}">
                <a16:creationId xmlns:a16="http://schemas.microsoft.com/office/drawing/2014/main" id="{D7DBC3A5-125A-4720-B8BE-A75790F65DFE}"/>
              </a:ext>
            </a:extLst>
          </p:cNvPr>
          <p:cNvSpPr>
            <a:spLocks xmlns:a="http://schemas.openxmlformats.org/drawingml/2006/main" noGrp="1"/>
          </p:cNvSpPr>
          <p:nvPr/>
        </p:nvSpPr>
        <p:spPr>
          <a:xfrm xmlns:a="http://schemas.openxmlformats.org/drawingml/2006/main">
            <a:off x="2362200" y="6372225"/>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i="0">
                <a:solidFill>
                  <a:srgbClr val="0E1A2D"/>
                </a:solidFill>
                <a:latin typeface="Yu Gothic"/>
                <a:ea typeface="Yu Gothic"/>
                <a:cs typeface="Yu Gothic"/>
              </a:defRPr>
            </a:pPr>
            <a:r>
              <a:rPr sz="750" b="1" i="0">
                <a:solidFill>
                  <a:srgbClr val="0E1A2D"/>
                </a:solidFill>
                <a:latin typeface="Yu Gothic"/>
                <a:ea typeface="Yu Gothic"/>
                <a:cs typeface="Yu Gothic"/>
              </a:rPr>
              <a:t>人とテクノロジーで、より良い社会をつくる</a:t>
            </a:r>
          </a:p>
          <a:p xmlns:a="http://schemas.openxmlformats.org/drawingml/2006/main">
            <a:pPr algn="l">
              <a:defRPr sz="750" b="1" i="0">
                <a:solidFill>
                  <a:srgbClr val="0E1A2D"/>
                </a:solidFill>
                <a:latin typeface="Yu Gothic"/>
                <a:ea typeface="Yu Gothic"/>
                <a:cs typeface="Yu Gothic"/>
              </a:defRPr>
            </a:pPr>
            <a:r>
              <a:rPr sz="750" b="1" i="0">
                <a:solidFill>
                  <a:srgbClr val="0E1A2D"/>
                </a:solidFill>
                <a:latin typeface="Yu Gothic"/>
                <a:ea typeface="Yu Gothic"/>
                <a:cs typeface="Yu Gothic"/>
              </a:rPr>
              <a:t>Think Together, Create the Next.</a:t>
            </a:r>
          </a:p>
        </p:txBody>
      </p:sp>
      <p:sp>
        <p:nvSpPr>
          <p:cNvPr id="119" name="">
            <a:extLst xmlns:a="http://schemas.openxmlformats.org/drawingml/2006/main">
              <a:ext uri="{FF2B5EF4-FFF2-40B4-BE49-F238E27FC236}">
                <a16:creationId xmlns:a16="http://schemas.microsoft.com/office/drawing/2014/main" id="{C1B196E1-0EF7-4833-8EB3-207D5A0ACC3A}"/>
              </a:ext>
            </a:extLst>
          </p:cNvPr>
          <p:cNvSpPr>
            <a:spLocks xmlns:a="http://schemas.openxmlformats.org/drawingml/2006/main" noGrp="1"/>
          </p:cNvSpPr>
          <p:nvPr/>
        </p:nvSpPr>
        <p:spPr>
          <a:xfrm xmlns:a="http://schemas.openxmlformats.org/drawingml/2006/main">
            <a:off x="10668000" y="6381750"/>
            <a:ext cx="904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i="0">
                <a:solidFill>
                  <a:srgbClr val="0E1A2D"/>
                </a:solidFill>
                <a:latin typeface="Yu Gothic"/>
                <a:ea typeface="Yu Gothic"/>
                <a:cs typeface="Yu Gothic"/>
              </a:defRPr>
            </a:pPr>
            <a:r>
              <a:rPr sz="750" b="1" i="0">
                <a:solidFill>
                  <a:srgbClr val="0E1A2D"/>
                </a:solidFill>
                <a:latin typeface="Yu Gothic"/>
                <a:ea typeface="Yu Gothic"/>
                <a:cs typeface="Yu Gothic"/>
              </a:rPr>
              <a:t>2026.08.26</a:t>
            </a:r>
          </a:p>
        </p:txBody>
      </p:sp>
      <p:sp>
        <p:nvSpPr>
          <p:cNvPr id="120" name="">
            <a:extLst xmlns:a="http://schemas.openxmlformats.org/drawingml/2006/main">
              <a:ext uri="{FF2B5EF4-FFF2-40B4-BE49-F238E27FC236}">
                <a16:creationId xmlns:a16="http://schemas.microsoft.com/office/drawing/2014/main" id="{F433A795-3454-4BF9-B1D9-7566D9D2D98C}"/>
              </a:ext>
            </a:extLst>
          </p:cNvPr>
          <p:cNvSpPr>
            <a:spLocks xmlns:a="http://schemas.openxmlformats.org/drawingml/2006/main" noGrp="1"/>
          </p:cNvSpPr>
          <p:nvPr/>
        </p:nvSpPr>
        <p:spPr>
          <a:xfrm xmlns:a="http://schemas.openxmlformats.org/drawingml/2006/main">
            <a:off x="11677650" y="6457950"/>
            <a:ext cx="247650" cy="9525"/>
          </a:xfrm>
          <a:prstGeom xmlns:a="http://schemas.openxmlformats.org/drawingml/2006/main" prst="rect">
            <a:avLst/>
          </a:prstGeom>
          <a:solidFill xmlns:a="http://schemas.openxmlformats.org/drawingml/2006/main">
            <a:srgbClr val="0E1A2D"/>
          </a:solidFill>
          <a:ln xmlns:a="http://schemas.openxmlformats.org/drawingml/2006/main" w="0">
            <a:noFill/>
            <a:prstDash val="solid"/>
          </a:ln>
        </p:spPr>
      </p:sp>
    </p:spTree>
    <p:extLst>
      <p:ext uri="{BB962C8B-B14F-4D97-AF65-F5344CB8AC3E}">
        <p14:creationId xmlns:p14="http://schemas.microsoft.com/office/powerpoint/2010/main" val="17342251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2026-09-20T22:06:12.1550000Z</dcterms:created>
  <dcterms:modified xsi:type="dcterms:W3CDTF">2026-09-20T22:06:12.1560000Z</dcterms:modified>
</coreProperties>
</file>