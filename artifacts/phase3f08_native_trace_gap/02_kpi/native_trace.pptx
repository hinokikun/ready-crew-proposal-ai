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f9a4896dc14cf9" /><Relationship Type="http://schemas.openxmlformats.org/officeDocument/2006/relationships/extended-properties" Target="/docProps/app.xml" Id="R29ac183931334072" /><Relationship Type="http://schemas.openxmlformats.org/officeDocument/2006/relationships/officeDocument" Target="/ppt/presentation.xml" Id="R90d4e0867208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bc1bf4369b40dc"/>
  </p:sldMasterIdLst>
  <p:notesMasterIdLst>
    <p:notesMasterId xmlns:r="http://schemas.openxmlformats.org/officeDocument/2006/relationships" r:id="R09d0b02b71d04633"/>
  </p:notesMasterIdLst>
  <p:sldIdLst>
    <p:sldId xmlns:r="http://schemas.openxmlformats.org/officeDocument/2006/relationships" id="256" r:id="R3a7f61c1e4ed424e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d15039b8354e08" /><Relationship Type="http://schemas.openxmlformats.org/officeDocument/2006/relationships/slideMaster" Target="/ppt/slideMasters/slideMaster1.xml" Id="R01bc1bf4369b40dc" /><Relationship Type="http://schemas.openxmlformats.org/officeDocument/2006/relationships/notesMaster" Target="/ppt/notesMasters/notesMaster1.xml" Id="R09d0b02b71d04633" /><Relationship Type="http://schemas.openxmlformats.org/officeDocument/2006/relationships/presProps" Target="/ppt/presProps.xml" Id="R2d1c847900a44977" /><Relationship Type="http://schemas.openxmlformats.org/officeDocument/2006/relationships/tableStyles" Target="/ppt/tableStyles.xml" Id="Re0995472b780447d" /><Relationship Type="http://schemas.openxmlformats.org/officeDocument/2006/relationships/slide" Target="/ppt/slides/slide1.xml" Id="R3a7f61c1e4ed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b461d7037143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74da3a3194f8f" /><Relationship Type="http://schemas.openxmlformats.org/officeDocument/2006/relationships/notesMaster" Target="/ppt/notesMasters/notesMaster1.xml" Id="Rc6d014c1be6d4d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79072698248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aa7225abf64edb" /><Relationship Type="http://schemas.openxmlformats.org/officeDocument/2006/relationships/slideLayout" Target="/ppt/slideLayouts/slideLayout1.xml" Id="R6a48a0d344c94a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48a0d344c94a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9e29cf6e84e57" /><Relationship Type="http://schemas.openxmlformats.org/officeDocument/2006/relationships/notesSlide" Target="/ppt/notesSlides/notesSlide1.xml" Id="R369b736ecec842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589A5A-2CB6-497A-BE3A-71773DB4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43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2" name="page-separator">
            <a:extLst xmlns:a="http://schemas.openxmlformats.org/drawingml/2006/main">
              <a:ext uri="{FF2B5EF4-FFF2-40B4-BE49-F238E27FC236}">
                <a16:creationId xmlns:a16="http://schemas.microsoft.com/office/drawing/2014/main" id="{102659E2-FA9B-4DAB-99FA-4A12941E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header-title">
            <a:extLst xmlns:a="http://schemas.openxmlformats.org/drawingml/2006/main">
              <a:ext uri="{FF2B5EF4-FFF2-40B4-BE49-F238E27FC236}">
                <a16:creationId xmlns:a16="http://schemas.microsoft.com/office/drawing/2014/main" id="{BDB4C0FF-BF43-4C6A-882A-C98C070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43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ご提案内容</a:t>
            </a:r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D58FACFB-B63C-4596-A088-E240072A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114300"/>
            <a:ext cx="1400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2026.06.22</a:t>
            </a:r>
          </a:p>
        </p:txBody>
      </p:sp>
      <p:sp>
        <p:nvSpPr>
          <p:cNvPr id="5" name="header-rule-red">
            <a:extLst xmlns:a="http://schemas.openxmlformats.org/drawingml/2006/main">
              <a:ext uri="{FF2B5EF4-FFF2-40B4-BE49-F238E27FC236}">
                <a16:creationId xmlns:a16="http://schemas.microsoft.com/office/drawing/2014/main" id="{4209BCC1-CD9D-43ED-84DE-41EA4D48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6250"/>
            <a:ext cx="865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noFill/>
          </a:ln>
        </p:spPr>
      </p:sp>
      <p:sp>
        <p:nvSpPr>
          <p:cNvPr id="6" name="header-rule-black">
            <a:extLst xmlns:a="http://schemas.openxmlformats.org/drawingml/2006/main">
              <a:ext uri="{FF2B5EF4-FFF2-40B4-BE49-F238E27FC236}">
                <a16:creationId xmlns:a16="http://schemas.microsoft.com/office/drawing/2014/main" id="{86A4584D-EFD0-49F6-9386-B4EA175B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"/>
            <a:ext cx="65817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25A30FB-D14F-43C6-852F-526C9CE0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37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KPI設計と効果測定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A6061D28-37D7-45D4-AB63-8FF764CB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導入後の成果を見える化し、改善判断に使える指標として整理します。</a:t>
            </a:r>
          </a:p>
        </p:txBody>
      </p:sp>
      <p:sp>
        <p:nvSpPr>
          <p:cNvPr id="9" name="left-kpi-bar">
            <a:extLst xmlns:a="http://schemas.openxmlformats.org/drawingml/2006/main">
              <a:ext uri="{FF2B5EF4-FFF2-40B4-BE49-F238E27FC236}">
                <a16:creationId xmlns:a16="http://schemas.microsoft.com/office/drawing/2014/main" id="{505037DC-FA84-4E9F-93F8-BDF80EF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71675"/>
            <a:ext cx="8896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0" name="left-kpi-accent">
            <a:extLst xmlns:a="http://schemas.openxmlformats.org/drawingml/2006/main">
              <a:ext uri="{FF2B5EF4-FFF2-40B4-BE49-F238E27FC236}">
                <a16:creationId xmlns:a16="http://schemas.microsoft.com/office/drawing/2014/main" id="{C0ED1665-0CA6-4903-A2DF-1098B197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noFill/>
          </a:ln>
        </p:spPr>
      </p:sp>
      <p:sp>
        <p:nvSpPr>
          <p:cNvPr id="11" name="left-kpi-label">
            <a:extLst xmlns:a="http://schemas.openxmlformats.org/drawingml/2006/main">
              <a:ext uri="{FF2B5EF4-FFF2-40B4-BE49-F238E27FC236}">
                <a16:creationId xmlns:a16="http://schemas.microsoft.com/office/drawing/2014/main" id="{0FAB8AFF-E249-4053-B107-CB7D47CA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832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主要KPI</a:t>
            </a:r>
          </a:p>
        </p:txBody>
      </p:sp>
      <p:sp>
        <p:nvSpPr>
          <p:cNvPr id="12" name="right-method-bar">
            <a:extLst xmlns:a="http://schemas.openxmlformats.org/drawingml/2006/main">
              <a:ext uri="{FF2B5EF4-FFF2-40B4-BE49-F238E27FC236}">
                <a16:creationId xmlns:a16="http://schemas.microsoft.com/office/drawing/2014/main" id="{C537B2D1-2C42-4C2A-A8AD-61B441BC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971675"/>
            <a:ext cx="6162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3" name="right-method-accent">
            <a:extLst xmlns:a="http://schemas.openxmlformats.org/drawingml/2006/main">
              <a:ext uri="{FF2B5EF4-FFF2-40B4-BE49-F238E27FC236}">
                <a16:creationId xmlns:a16="http://schemas.microsoft.com/office/drawing/2014/main" id="{F6B72A0F-FB7E-42E5-9098-50E52608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7645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noFill/>
          </a:ln>
        </p:spPr>
      </p:sp>
      <p:sp>
        <p:nvSpPr>
          <p:cNvPr id="14" name="right-method-label">
            <a:extLst xmlns:a="http://schemas.openxmlformats.org/drawingml/2006/main">
              <a:ext uri="{FF2B5EF4-FFF2-40B4-BE49-F238E27FC236}">
                <a16:creationId xmlns:a16="http://schemas.microsoft.com/office/drawing/2014/main" id="{D0DE014B-9E36-417B-B869-A5626965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19300"/>
            <a:ext cx="559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測定の考え方</a:t>
            </a:r>
          </a:p>
        </p:txBody>
      </p:sp>
      <p:sp>
        <p:nvSpPr>
          <p:cNvPr id="15" name="right-notes-bar">
            <a:extLst xmlns:a="http://schemas.openxmlformats.org/drawingml/2006/main">
              <a:ext uri="{FF2B5EF4-FFF2-40B4-BE49-F238E27FC236}">
                <a16:creationId xmlns:a16="http://schemas.microsoft.com/office/drawing/2014/main" id="{BD12FB98-B87E-4710-B413-A7ACAD9D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124450"/>
            <a:ext cx="6162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6" name="right-notes-accent">
            <a:extLst xmlns:a="http://schemas.openxmlformats.org/drawingml/2006/main">
              <a:ext uri="{FF2B5EF4-FFF2-40B4-BE49-F238E27FC236}">
                <a16:creationId xmlns:a16="http://schemas.microsoft.com/office/drawing/2014/main" id="{627BC8B0-60D6-4E8A-A753-DE6F9C55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29225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noFill/>
          </a:ln>
        </p:spPr>
      </p:sp>
      <p:sp>
        <p:nvSpPr>
          <p:cNvPr id="17" name="right-notes-label">
            <a:extLst xmlns:a="http://schemas.openxmlformats.org/drawingml/2006/main">
              <a:ext uri="{FF2B5EF4-FFF2-40B4-BE49-F238E27FC236}">
                <a16:creationId xmlns:a16="http://schemas.microsoft.com/office/drawing/2014/main" id="{D82EA368-6591-4AD5-B3D0-987AAD60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72075"/>
            <a:ext cx="559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注意点</a:t>
            </a:r>
          </a:p>
        </p:txBody>
      </p:sp>
      <p:graphicFrame>
        <p:nvGraphicFramePr>
          <p:cNvPr id="150" name=""/>
          <p:cNvGraphicFramePr/>
          <p:nvPr/>
        </p:nvGraphicFramePr>
        <p:xfrm>
          <a:off xmlns:a="http://schemas.openxmlformats.org/drawingml/2006/main" x="447675" y="2571750"/>
          <a:ext xmlns:a="http://schemas.openxmlformats.org/drawingml/2006/main" cx="86868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4175"/>
                <a:gridCol w="1181100"/>
                <a:gridCol w="1504950"/>
                <a:gridCol w="1952625"/>
                <a:gridCol w="1123950"/>
              </a:tblGrid>
              <a:tr h="3429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KPI</a:t>
                      </a:r>
                    </a:p>
                  </a:txBody>
                  <a:tcPr marL="91440" marR="91440" marT="45720" marB="4572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現状値（例）</a:t>
                      </a:r>
                    </a:p>
                  </a:txBody>
                  <a:tcPr marL="91440" marR="91440" marT="45720" marB="4572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目標値</a:t>
                      </a:r>
                    </a:p>
                  </a:txBody>
                  <a:tcPr marL="91440" marR="91440" marT="45720" marB="4572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測定方法</a:t>
                      </a:r>
                    </a:p>
                  </a:txBody>
                  <a:tcPr marL="91440" marR="91440" marT="45720" marB="45720" anchor="ctr">
                    <a:solidFill>
                      <a:srgbClr val="F4F5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優先度</a:t>
                      </a:r>
                    </a:p>
                  </a:txBody>
                  <a:tcPr marL="91440" marR="91440" marT="45720" marB="45720" anchor="ctr">
                    <a:solidFill>
                      <a:srgbClr val="F4F5F6"/>
                    </a:solidFill>
                  </a:tcPr>
                </a:tc>
              </a:tr>
              <a:tr h="11049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資料作成時間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20時間/件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70%削減</a:t>
                      </a:r>
                    </a:p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(6時間/件)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作業時間の実績記録</a:t>
                      </a:r>
                    </a:p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（ツール・工数表）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提案数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月10件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1.5倍</a:t>
                      </a:r>
                    </a:p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(月15件)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営業管理ツールの</a:t>
                      </a:r>
                    </a:p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案件件数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修正回数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5回/件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30%削減</a:t>
                      </a:r>
                    </a:p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(3.5回/件)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版管理・履歴からの</a:t>
                      </a:r>
                    </a:p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カウント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受注確度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20%向上</a:t>
                      </a:r>
                    </a:p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(24%)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営業管理ツールの</a:t>
                      </a:r>
                    </a:p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受注率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kpi-table-visual-surface">
            <a:extLst xmlns:a="http://schemas.openxmlformats.org/drawingml/2006/main">
              <a:ext uri="{FF2B5EF4-FFF2-40B4-BE49-F238E27FC236}">
                <a16:creationId xmlns:a16="http://schemas.microsoft.com/office/drawing/2014/main" id="{7170A9AE-3AE6-43B8-9CF1-6B40B060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71750"/>
            <a:ext cx="86868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kpi-table-header-fill">
            <a:extLst xmlns:a="http://schemas.openxmlformats.org/drawingml/2006/main">
              <a:ext uri="{FF2B5EF4-FFF2-40B4-BE49-F238E27FC236}">
                <a16:creationId xmlns:a16="http://schemas.microsoft.com/office/drawing/2014/main" id="{C8D9DEC4-A6F9-4976-99A0-34B16E36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71750"/>
            <a:ext cx="868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</a:ln>
        </p:spPr>
      </p:sp>
      <p:sp>
        <p:nvSpPr>
          <p:cNvPr id="21" name="kpi-table-frame">
            <a:extLst xmlns:a="http://schemas.openxmlformats.org/drawingml/2006/main">
              <a:ext uri="{FF2B5EF4-FFF2-40B4-BE49-F238E27FC236}">
                <a16:creationId xmlns:a16="http://schemas.microsoft.com/office/drawing/2014/main" id="{DCB640F5-C094-409B-85F9-F7E5B7A7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71750"/>
            <a:ext cx="86868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</a:ln>
        </p:spPr>
      </p:sp>
      <p:sp>
        <p:nvSpPr>
          <p:cNvPr id="22" name="kpi-table-divider-v-0">
            <a:extLst xmlns:a="http://schemas.openxmlformats.org/drawingml/2006/main">
              <a:ext uri="{FF2B5EF4-FFF2-40B4-BE49-F238E27FC236}">
                <a16:creationId xmlns:a16="http://schemas.microsoft.com/office/drawing/2014/main" id="{D4A65EC6-4FAB-49A8-BA37-B80D9337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0" cy="495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23" name="kpi-table-divider-v-1">
            <a:extLst xmlns:a="http://schemas.openxmlformats.org/drawingml/2006/main">
              <a:ext uri="{FF2B5EF4-FFF2-40B4-BE49-F238E27FC236}">
                <a16:creationId xmlns:a16="http://schemas.microsoft.com/office/drawing/2014/main" id="{445964B6-165F-4A35-89AB-276C1FE1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0" cy="495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24" name="kpi-table-divider-v-2">
            <a:extLst xmlns:a="http://schemas.openxmlformats.org/drawingml/2006/main">
              <a:ext uri="{FF2B5EF4-FFF2-40B4-BE49-F238E27FC236}">
                <a16:creationId xmlns:a16="http://schemas.microsoft.com/office/drawing/2014/main" id="{3786958B-2EA7-4FC0-87AA-707F7960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0" cy="495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25" name="kpi-table-divider-v-3">
            <a:extLst xmlns:a="http://schemas.openxmlformats.org/drawingml/2006/main">
              <a:ext uri="{FF2B5EF4-FFF2-40B4-BE49-F238E27FC236}">
                <a16:creationId xmlns:a16="http://schemas.microsoft.com/office/drawing/2014/main" id="{2B801AC3-27E5-4B04-AC87-7C901BCB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0" cy="495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26" name="kpi-table-divider-h-0">
            <a:extLst xmlns:a="http://schemas.openxmlformats.org/drawingml/2006/main">
              <a:ext uri="{FF2B5EF4-FFF2-40B4-BE49-F238E27FC236}">
                <a16:creationId xmlns:a16="http://schemas.microsoft.com/office/drawing/2014/main" id="{245C73C7-A6E6-4C36-A1F2-5D2659D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914650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27" name="kpi-table-divider-h-1">
            <a:extLst xmlns:a="http://schemas.openxmlformats.org/drawingml/2006/main">
              <a:ext uri="{FF2B5EF4-FFF2-40B4-BE49-F238E27FC236}">
                <a16:creationId xmlns:a16="http://schemas.microsoft.com/office/drawing/2014/main" id="{E3A932BF-DB9A-4DA5-A6D2-21079D74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019550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28" name="kpi-table-divider-h-2">
            <a:extLst xmlns:a="http://schemas.openxmlformats.org/drawingml/2006/main">
              <a:ext uri="{FF2B5EF4-FFF2-40B4-BE49-F238E27FC236}">
                <a16:creationId xmlns:a16="http://schemas.microsoft.com/office/drawing/2014/main" id="{7C0B972D-9E12-4176-814D-3BDEC9A3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143500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29" name="kpi-table-divider-h-3">
            <a:extLst xmlns:a="http://schemas.openxmlformats.org/drawingml/2006/main">
              <a:ext uri="{FF2B5EF4-FFF2-40B4-BE49-F238E27FC236}">
                <a16:creationId xmlns:a16="http://schemas.microsoft.com/office/drawing/2014/main" id="{D1E2991C-8A2C-447E-8A31-B32EADE1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305550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30" name="kpi-table-divider-h-4">
            <a:extLst xmlns:a="http://schemas.openxmlformats.org/drawingml/2006/main">
              <a:ext uri="{FF2B5EF4-FFF2-40B4-BE49-F238E27FC236}">
                <a16:creationId xmlns:a16="http://schemas.microsoft.com/office/drawing/2014/main" id="{251FA3E5-3539-4468-A04B-FFA7F9A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7524750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31" name="header-cell-0">
            <a:extLst xmlns:a="http://schemas.openxmlformats.org/drawingml/2006/main">
              <a:ext uri="{FF2B5EF4-FFF2-40B4-BE49-F238E27FC236}">
                <a16:creationId xmlns:a16="http://schemas.microsoft.com/office/drawing/2014/main" id="{36C61F37-E7BA-4872-BB8B-86281296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71750"/>
            <a:ext cx="2924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KPI</a:t>
            </a:r>
          </a:p>
        </p:txBody>
      </p:sp>
      <p:sp>
        <p:nvSpPr>
          <p:cNvPr id="32" name="header-cell-1">
            <a:extLst xmlns:a="http://schemas.openxmlformats.org/drawingml/2006/main">
              <a:ext uri="{FF2B5EF4-FFF2-40B4-BE49-F238E27FC236}">
                <a16:creationId xmlns:a16="http://schemas.microsoft.com/office/drawing/2014/main" id="{31C47ED3-7E81-47D6-9F08-9331E5F7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現状値（例）</a:t>
            </a:r>
          </a:p>
        </p:txBody>
      </p:sp>
      <p:sp>
        <p:nvSpPr>
          <p:cNvPr id="33" name="header-cell-2">
            <a:extLst xmlns:a="http://schemas.openxmlformats.org/drawingml/2006/main">
              <a:ext uri="{FF2B5EF4-FFF2-40B4-BE49-F238E27FC236}">
                <a16:creationId xmlns:a16="http://schemas.microsoft.com/office/drawing/2014/main" id="{EE542134-4139-4904-BA4B-9836D4C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目標値</a:t>
            </a:r>
          </a:p>
        </p:txBody>
      </p:sp>
      <p:sp>
        <p:nvSpPr>
          <p:cNvPr id="34" name="header-cell-3">
            <a:extLst xmlns:a="http://schemas.openxmlformats.org/drawingml/2006/main">
              <a:ext uri="{FF2B5EF4-FFF2-40B4-BE49-F238E27FC236}">
                <a16:creationId xmlns:a16="http://schemas.microsoft.com/office/drawing/2014/main" id="{36013F71-5498-41A0-8343-BF87C4A4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測定方法</a:t>
            </a:r>
          </a:p>
        </p:txBody>
      </p:sp>
      <p:sp>
        <p:nvSpPr>
          <p:cNvPr id="35" name="header-cell-4">
            <a:extLst xmlns:a="http://schemas.openxmlformats.org/drawingml/2006/main">
              <a:ext uri="{FF2B5EF4-FFF2-40B4-BE49-F238E27FC236}">
                <a16:creationId xmlns:a16="http://schemas.microsoft.com/office/drawing/2014/main" id="{64D322B9-D7E5-4278-8245-B18C744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優先度</a:t>
            </a:r>
          </a:p>
        </p:txBody>
      </p:sp>
      <p:sp>
        <p:nvSpPr>
          <p:cNvPr id="36" name="kpi-0-circle">
            <a:extLst xmlns:a="http://schemas.openxmlformats.org/drawingml/2006/main">
              <a:ext uri="{FF2B5EF4-FFF2-40B4-BE49-F238E27FC236}">
                <a16:creationId xmlns:a16="http://schemas.microsoft.com/office/drawing/2014/main" id="{8D1E10D5-F7AC-4998-8373-EEF366B8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37" name="icon-document">
            <a:extLst xmlns:a="http://schemas.openxmlformats.org/drawingml/2006/main">
              <a:ext uri="{FF2B5EF4-FFF2-40B4-BE49-F238E27FC236}">
                <a16:creationId xmlns:a16="http://schemas.microsoft.com/office/drawing/2014/main" id="{1E291B2D-106E-422B-8B12-36A5B13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65" y="3287268"/>
            <a:ext cx="320421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8" name="icon-document-fold">
            <a:extLst xmlns:a="http://schemas.openxmlformats.org/drawingml/2006/main">
              <a:ext uri="{FF2B5EF4-FFF2-40B4-BE49-F238E27FC236}">
                <a16:creationId xmlns:a16="http://schemas.microsoft.com/office/drawing/2014/main" id="{45FE8C4E-19ED-43AE-A8FE-05B9E2D9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26" y="3287268"/>
            <a:ext cx="121760" cy="99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9" name="icon-document-line-1">
            <a:extLst xmlns:a="http://schemas.openxmlformats.org/drawingml/2006/main">
              <a:ext uri="{FF2B5EF4-FFF2-40B4-BE49-F238E27FC236}">
                <a16:creationId xmlns:a16="http://schemas.microsoft.com/office/drawing/2014/main" id="{92C680FE-A56B-4172-972E-D6A99BD5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40" y="3442396"/>
            <a:ext cx="173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0" name="icon-document-line-2">
            <a:extLst xmlns:a="http://schemas.openxmlformats.org/drawingml/2006/main">
              <a:ext uri="{FF2B5EF4-FFF2-40B4-BE49-F238E27FC236}">
                <a16:creationId xmlns:a16="http://schemas.microsoft.com/office/drawing/2014/main" id="{AC5301C3-1A2B-4A13-8E01-AD66B3F5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40" y="3498083"/>
            <a:ext cx="173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1" name="icon-document-line-3">
            <a:extLst xmlns:a="http://schemas.openxmlformats.org/drawingml/2006/main">
              <a:ext uri="{FF2B5EF4-FFF2-40B4-BE49-F238E27FC236}">
                <a16:creationId xmlns:a16="http://schemas.microsoft.com/office/drawing/2014/main" id="{3846126C-8737-4E45-B5ED-76F4C5C4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40" y="3553770"/>
            <a:ext cx="12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2" name="kpi-0-title">
            <a:extLst xmlns:a="http://schemas.openxmlformats.org/drawingml/2006/main">
              <a:ext uri="{FF2B5EF4-FFF2-40B4-BE49-F238E27FC236}">
                <a16:creationId xmlns:a16="http://schemas.microsoft.com/office/drawing/2014/main" id="{8908AF76-7AB4-4F06-9C76-9CC8E76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48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資料作成時間</a:t>
            </a:r>
          </a:p>
        </p:txBody>
      </p:sp>
      <p:sp>
        <p:nvSpPr>
          <p:cNvPr id="43" name="kpi-0-desc">
            <a:extLst xmlns:a="http://schemas.openxmlformats.org/drawingml/2006/main">
              <a:ext uri="{FF2B5EF4-FFF2-40B4-BE49-F238E27FC236}">
                <a16:creationId xmlns:a16="http://schemas.microsoft.com/office/drawing/2014/main" id="{03A423EA-3B00-4A9F-97A0-BCCB242E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718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提案資料の作成にかかる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時間を削減</a:t>
            </a:r>
          </a:p>
        </p:txBody>
      </p:sp>
      <p:sp>
        <p:nvSpPr>
          <p:cNvPr id="44" name="kpi-0-current">
            <a:extLst xmlns:a="http://schemas.openxmlformats.org/drawingml/2006/main">
              <a:ext uri="{FF2B5EF4-FFF2-40B4-BE49-F238E27FC236}">
                <a16:creationId xmlns:a16="http://schemas.microsoft.com/office/drawing/2014/main" id="{9B47A2ED-8A5A-42AF-ABF6-D9533F69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956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20時間/件</a:t>
            </a:r>
          </a:p>
        </p:txBody>
      </p:sp>
      <p:sp>
        <p:nvSpPr>
          <p:cNvPr id="45" name="kpi-0-transition">
            <a:extLst xmlns:a="http://schemas.openxmlformats.org/drawingml/2006/main">
              <a:ext uri="{FF2B5EF4-FFF2-40B4-BE49-F238E27FC236}">
                <a16:creationId xmlns:a16="http://schemas.microsoft.com/office/drawing/2014/main" id="{C18F5742-55FA-492D-A400-274CE48D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3390900"/>
            <a:ext cx="2190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solidFill>
              <a:srgbClr val="E30606"/>
            </a:solidFill>
          </a:ln>
        </p:spPr>
      </p:sp>
      <p:sp>
        <p:nvSpPr>
          <p:cNvPr id="46" name="kpi-0-target">
            <a:extLst xmlns:a="http://schemas.openxmlformats.org/drawingml/2006/main">
              <a:ext uri="{FF2B5EF4-FFF2-40B4-BE49-F238E27FC236}">
                <a16:creationId xmlns:a16="http://schemas.microsoft.com/office/drawing/2014/main" id="{78E45AC5-7B5C-47E8-90B5-970D65D0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242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70%削減</a:t>
            </a:r>
          </a:p>
        </p:txBody>
      </p:sp>
      <p:sp>
        <p:nvSpPr>
          <p:cNvPr id="47" name="kpi-0-target-sub">
            <a:extLst xmlns:a="http://schemas.openxmlformats.org/drawingml/2006/main">
              <a:ext uri="{FF2B5EF4-FFF2-40B4-BE49-F238E27FC236}">
                <a16:creationId xmlns:a16="http://schemas.microsoft.com/office/drawing/2014/main" id="{77FFBE5B-934E-4D10-8E88-BFD5A8CD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480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(6時間/件)</a:t>
            </a:r>
          </a:p>
        </p:txBody>
      </p:sp>
      <p:sp>
        <p:nvSpPr>
          <p:cNvPr id="48" name="kpi-0-method">
            <a:extLst xmlns:a="http://schemas.openxmlformats.org/drawingml/2006/main">
              <a:ext uri="{FF2B5EF4-FFF2-40B4-BE49-F238E27FC236}">
                <a16:creationId xmlns:a16="http://schemas.microsoft.com/office/drawing/2014/main" id="{084B68EC-9B98-4408-B8EE-6626E55B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09925"/>
            <a:ext cx="1657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作業時間の実績記録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（ツール・工数表）</a:t>
            </a:r>
          </a:p>
        </p:txBody>
      </p:sp>
      <p:sp>
        <p:nvSpPr>
          <p:cNvPr id="49" name="kpi-0-priority-bg">
            <a:extLst xmlns:a="http://schemas.openxmlformats.org/drawingml/2006/main">
              <a:ext uri="{FF2B5EF4-FFF2-40B4-BE49-F238E27FC236}">
                <a16:creationId xmlns:a16="http://schemas.microsoft.com/office/drawing/2014/main" id="{44D648FD-E09B-42C0-AAEB-8A42EC9F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48025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</a:ln>
        </p:spPr>
      </p:sp>
      <p:sp>
        <p:nvSpPr>
          <p:cNvPr id="50" name="kpi-0-priority">
            <a:extLst xmlns:a="http://schemas.openxmlformats.org/drawingml/2006/main">
              <a:ext uri="{FF2B5EF4-FFF2-40B4-BE49-F238E27FC236}">
                <a16:creationId xmlns:a16="http://schemas.microsoft.com/office/drawing/2014/main" id="{614B7356-30C4-41EE-A751-155ADA43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48025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高</a:t>
            </a:r>
          </a:p>
        </p:txBody>
      </p:sp>
      <p:sp>
        <p:nvSpPr>
          <p:cNvPr id="51" name="kpi-1-circle">
            <a:extLst xmlns:a="http://schemas.openxmlformats.org/drawingml/2006/main">
              <a:ext uri="{FF2B5EF4-FFF2-40B4-BE49-F238E27FC236}">
                <a16:creationId xmlns:a16="http://schemas.microsoft.com/office/drawing/2014/main" id="{907EE84D-A594-452E-BE83-2F3A801B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52" name="icon-bar-base">
            <a:extLst xmlns:a="http://schemas.openxmlformats.org/drawingml/2006/main">
              <a:ext uri="{FF2B5EF4-FFF2-40B4-BE49-F238E27FC236}">
                <a16:creationId xmlns:a16="http://schemas.microsoft.com/office/drawing/2014/main" id="{B7666536-FB33-4A29-A8C8-5966353E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44" y="4775835"/>
            <a:ext cx="4309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3" name="icon-bar-0">
            <a:extLst xmlns:a="http://schemas.openxmlformats.org/drawingml/2006/main">
              <a:ext uri="{FF2B5EF4-FFF2-40B4-BE49-F238E27FC236}">
                <a16:creationId xmlns:a16="http://schemas.microsoft.com/office/drawing/2014/main" id="{10C6F417-9F86-4354-A988-B428F12A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44" y="4654296"/>
            <a:ext cx="66294" cy="1215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4" name="icon-bar-1">
            <a:extLst xmlns:a="http://schemas.openxmlformats.org/drawingml/2006/main">
              <a:ext uri="{FF2B5EF4-FFF2-40B4-BE49-F238E27FC236}">
                <a16:creationId xmlns:a16="http://schemas.microsoft.com/office/drawing/2014/main" id="{418B31E6-C219-4883-AEA3-3D90D71A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57" y="4521708"/>
            <a:ext cx="66294" cy="254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5" name="icon-bar-2">
            <a:extLst xmlns:a="http://schemas.openxmlformats.org/drawingml/2006/main">
              <a:ext uri="{FF2B5EF4-FFF2-40B4-BE49-F238E27FC236}">
                <a16:creationId xmlns:a16="http://schemas.microsoft.com/office/drawing/2014/main" id="{BA05818C-D765-4751-9D20-8D849392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69" y="4378071"/>
            <a:ext cx="66294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6" name="icon-bar-trend">
            <a:extLst xmlns:a="http://schemas.openxmlformats.org/drawingml/2006/main">
              <a:ext uri="{FF2B5EF4-FFF2-40B4-BE49-F238E27FC236}">
                <a16:creationId xmlns:a16="http://schemas.microsoft.com/office/drawing/2014/main" id="{DAC3068D-5C1A-426A-BD4B-747F7AAE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4483037"/>
            <a:ext cx="298323" cy="2651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7" name="kpi-1-title">
            <a:extLst xmlns:a="http://schemas.openxmlformats.org/drawingml/2006/main">
              <a:ext uri="{FF2B5EF4-FFF2-40B4-BE49-F238E27FC236}">
                <a16:creationId xmlns:a16="http://schemas.microsoft.com/office/drawing/2014/main" id="{F06DD079-5E58-467C-A30E-A64D9224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529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提案数</a:t>
            </a:r>
          </a:p>
        </p:txBody>
      </p:sp>
      <p:sp>
        <p:nvSpPr>
          <p:cNvPr id="58" name="kpi-1-desc">
            <a:extLst xmlns:a="http://schemas.openxmlformats.org/drawingml/2006/main">
              <a:ext uri="{FF2B5EF4-FFF2-40B4-BE49-F238E27FC236}">
                <a16:creationId xmlns:a16="http://schemas.microsoft.com/office/drawing/2014/main" id="{B47DEE53-6043-45BE-88C3-FD6F3B8C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一定期間あたりの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提案実施件数</a:t>
            </a:r>
          </a:p>
        </p:txBody>
      </p:sp>
      <p:sp>
        <p:nvSpPr>
          <p:cNvPr id="59" name="kpi-1-current">
            <a:extLst xmlns:a="http://schemas.openxmlformats.org/drawingml/2006/main">
              <a:ext uri="{FF2B5EF4-FFF2-40B4-BE49-F238E27FC236}">
                <a16:creationId xmlns:a16="http://schemas.microsoft.com/office/drawing/2014/main" id="{BE8F62EC-A3DD-4D11-AD51-01C71FE1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005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月10件</a:t>
            </a:r>
          </a:p>
        </p:txBody>
      </p:sp>
      <p:sp>
        <p:nvSpPr>
          <p:cNvPr id="60" name="kpi-1-transition">
            <a:extLst xmlns:a="http://schemas.openxmlformats.org/drawingml/2006/main">
              <a:ext uri="{FF2B5EF4-FFF2-40B4-BE49-F238E27FC236}">
                <a16:creationId xmlns:a16="http://schemas.microsoft.com/office/drawing/2014/main" id="{994C0C47-FE7D-4AA9-B62E-B2892490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4514850"/>
            <a:ext cx="2190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solidFill>
              <a:srgbClr val="E30606"/>
            </a:solidFill>
          </a:ln>
        </p:spPr>
      </p:sp>
      <p:sp>
        <p:nvSpPr>
          <p:cNvPr id="61" name="kpi-1-target">
            <a:extLst xmlns:a="http://schemas.openxmlformats.org/drawingml/2006/main">
              <a:ext uri="{FF2B5EF4-FFF2-40B4-BE49-F238E27FC236}">
                <a16:creationId xmlns:a16="http://schemas.microsoft.com/office/drawing/2014/main" id="{A7FDD439-D33C-4831-A70D-765AA86C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2291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1.5倍</a:t>
            </a:r>
          </a:p>
        </p:txBody>
      </p:sp>
      <p:sp>
        <p:nvSpPr>
          <p:cNvPr id="62" name="kpi-1-target-sub">
            <a:extLst xmlns:a="http://schemas.openxmlformats.org/drawingml/2006/main">
              <a:ext uri="{FF2B5EF4-FFF2-40B4-BE49-F238E27FC236}">
                <a16:creationId xmlns:a16="http://schemas.microsoft.com/office/drawing/2014/main" id="{A8893B1E-2C1D-4D18-943C-6245E6C6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5529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(月15件)</a:t>
            </a:r>
          </a:p>
        </p:txBody>
      </p:sp>
      <p:sp>
        <p:nvSpPr>
          <p:cNvPr id="63" name="kpi-1-method">
            <a:extLst xmlns:a="http://schemas.openxmlformats.org/drawingml/2006/main">
              <a:ext uri="{FF2B5EF4-FFF2-40B4-BE49-F238E27FC236}">
                <a16:creationId xmlns:a16="http://schemas.microsoft.com/office/drawing/2014/main" id="{4A956A22-FF97-4995-9842-750F5B7F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14825"/>
            <a:ext cx="1657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営業管理ツールの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案件件数</a:t>
            </a:r>
          </a:p>
        </p:txBody>
      </p:sp>
      <p:sp>
        <p:nvSpPr>
          <p:cNvPr id="64" name="kpi-1-priority-bg">
            <a:extLst xmlns:a="http://schemas.openxmlformats.org/drawingml/2006/main">
              <a:ext uri="{FF2B5EF4-FFF2-40B4-BE49-F238E27FC236}">
                <a16:creationId xmlns:a16="http://schemas.microsoft.com/office/drawing/2014/main" id="{2000B7BD-8481-4037-8F8A-B54D3D4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52925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</a:ln>
        </p:spPr>
      </p:sp>
      <p:sp>
        <p:nvSpPr>
          <p:cNvPr id="65" name="kpi-1-priority">
            <a:extLst xmlns:a="http://schemas.openxmlformats.org/drawingml/2006/main">
              <a:ext uri="{FF2B5EF4-FFF2-40B4-BE49-F238E27FC236}">
                <a16:creationId xmlns:a16="http://schemas.microsoft.com/office/drawing/2014/main" id="{34276A92-9B57-47D7-90B8-CE05A0F1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52925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高</a:t>
            </a:r>
          </a:p>
        </p:txBody>
      </p:sp>
      <p:sp>
        <p:nvSpPr>
          <p:cNvPr id="66" name="kpi-2-circle">
            <a:extLst xmlns:a="http://schemas.openxmlformats.org/drawingml/2006/main">
              <a:ext uri="{FF2B5EF4-FFF2-40B4-BE49-F238E27FC236}">
                <a16:creationId xmlns:a16="http://schemas.microsoft.com/office/drawing/2014/main" id="{685EB9D5-C8CA-40D3-86C7-F065B88C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67" name="icon-refresh-ring">
            <a:extLst xmlns:a="http://schemas.openxmlformats.org/drawingml/2006/main">
              <a:ext uri="{FF2B5EF4-FFF2-40B4-BE49-F238E27FC236}">
                <a16:creationId xmlns:a16="http://schemas.microsoft.com/office/drawing/2014/main" id="{A414788F-56A0-4735-888B-F09C4A65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" y="5546217"/>
            <a:ext cx="375666" cy="3756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68" name="icon-refresh-arrow-top">
            <a:extLst xmlns:a="http://schemas.openxmlformats.org/drawingml/2006/main">
              <a:ext uri="{FF2B5EF4-FFF2-40B4-BE49-F238E27FC236}">
                <a16:creationId xmlns:a16="http://schemas.microsoft.com/office/drawing/2014/main" id="{4EF496A9-ADCC-4B39-8754-86834D01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1080516" y="5496496"/>
            <a:ext cx="121539" cy="883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69" name="icon-refresh-arrow-bottom">
            <a:extLst xmlns:a="http://schemas.openxmlformats.org/drawingml/2006/main">
              <a:ext uri="{FF2B5EF4-FFF2-40B4-BE49-F238E27FC236}">
                <a16:creationId xmlns:a16="http://schemas.microsoft.com/office/drawing/2014/main" id="{A9B70D97-F3D7-4B72-895C-CB15F5DD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720000">
            <a:off x="760095" y="5888736"/>
            <a:ext cx="121539" cy="883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70" name="kpi-2-title">
            <a:extLst xmlns:a="http://schemas.openxmlformats.org/drawingml/2006/main">
              <a:ext uri="{FF2B5EF4-FFF2-40B4-BE49-F238E27FC236}">
                <a16:creationId xmlns:a16="http://schemas.microsoft.com/office/drawing/2014/main" id="{2EEBAE69-205C-4FDA-90E0-FDC6A216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768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修正回数</a:t>
            </a:r>
          </a:p>
        </p:txBody>
      </p:sp>
      <p:sp>
        <p:nvSpPr>
          <p:cNvPr id="71" name="kpi-2-desc">
            <a:extLst xmlns:a="http://schemas.openxmlformats.org/drawingml/2006/main">
              <a:ext uri="{FF2B5EF4-FFF2-40B4-BE49-F238E27FC236}">
                <a16:creationId xmlns:a16="http://schemas.microsoft.com/office/drawing/2014/main" id="{1302120F-090C-4C3F-B5D9-DE0022C2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1案件あたりの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資料修正回数を削減</a:t>
            </a:r>
          </a:p>
        </p:txBody>
      </p:sp>
      <p:sp>
        <p:nvSpPr>
          <p:cNvPr id="72" name="kpi-2-current">
            <a:extLst xmlns:a="http://schemas.openxmlformats.org/drawingml/2006/main">
              <a:ext uri="{FF2B5EF4-FFF2-40B4-BE49-F238E27FC236}">
                <a16:creationId xmlns:a16="http://schemas.microsoft.com/office/drawing/2014/main" id="{B39522F2-DD21-45B3-A261-0D780714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245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5回/件</a:t>
            </a:r>
          </a:p>
        </p:txBody>
      </p:sp>
      <p:sp>
        <p:nvSpPr>
          <p:cNvPr id="73" name="kpi-2-transition">
            <a:extLst xmlns:a="http://schemas.openxmlformats.org/drawingml/2006/main">
              <a:ext uri="{FF2B5EF4-FFF2-40B4-BE49-F238E27FC236}">
                <a16:creationId xmlns:a16="http://schemas.microsoft.com/office/drawing/2014/main" id="{CB258790-B8CB-4CC6-81F8-D8E6C60B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5638800"/>
            <a:ext cx="2190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solidFill>
              <a:srgbClr val="E30606"/>
            </a:solidFill>
          </a:ln>
        </p:spPr>
      </p:sp>
      <p:sp>
        <p:nvSpPr>
          <p:cNvPr id="74" name="kpi-2-target">
            <a:extLst xmlns:a="http://schemas.openxmlformats.org/drawingml/2006/main">
              <a:ext uri="{FF2B5EF4-FFF2-40B4-BE49-F238E27FC236}">
                <a16:creationId xmlns:a16="http://schemas.microsoft.com/office/drawing/2014/main" id="{B9A3C511-BBCE-49B5-AB34-63C2162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3530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30%削減</a:t>
            </a:r>
          </a:p>
        </p:txBody>
      </p:sp>
      <p:sp>
        <p:nvSpPr>
          <p:cNvPr id="75" name="kpi-2-target-sub">
            <a:extLst xmlns:a="http://schemas.openxmlformats.org/drawingml/2006/main">
              <a:ext uri="{FF2B5EF4-FFF2-40B4-BE49-F238E27FC236}">
                <a16:creationId xmlns:a16="http://schemas.microsoft.com/office/drawing/2014/main" id="{3E38A0E4-3F94-4E94-9548-F203E63A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6769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(3.5回/件)</a:t>
            </a:r>
          </a:p>
        </p:txBody>
      </p:sp>
      <p:sp>
        <p:nvSpPr>
          <p:cNvPr id="76" name="kpi-2-method">
            <a:extLst xmlns:a="http://schemas.openxmlformats.org/drawingml/2006/main">
              <a:ext uri="{FF2B5EF4-FFF2-40B4-BE49-F238E27FC236}">
                <a16:creationId xmlns:a16="http://schemas.microsoft.com/office/drawing/2014/main" id="{6F06CA65-1305-46C6-B730-04558CF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38775"/>
            <a:ext cx="1657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版管理・履歴からの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カウント</a:t>
            </a:r>
          </a:p>
        </p:txBody>
      </p:sp>
      <p:sp>
        <p:nvSpPr>
          <p:cNvPr id="77" name="kpi-2-priority-bg">
            <a:extLst xmlns:a="http://schemas.openxmlformats.org/drawingml/2006/main">
              <a:ext uri="{FF2B5EF4-FFF2-40B4-BE49-F238E27FC236}">
                <a16:creationId xmlns:a16="http://schemas.microsoft.com/office/drawing/2014/main" id="{BDC31C65-9C61-412F-A2D7-51E67D46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76875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</a:ln>
        </p:spPr>
      </p:sp>
      <p:sp>
        <p:nvSpPr>
          <p:cNvPr id="78" name="kpi-2-priority">
            <a:extLst xmlns:a="http://schemas.openxmlformats.org/drawingml/2006/main">
              <a:ext uri="{FF2B5EF4-FFF2-40B4-BE49-F238E27FC236}">
                <a16:creationId xmlns:a16="http://schemas.microsoft.com/office/drawing/2014/main" id="{8F41C60E-8159-4A7A-9E4E-2AB50354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76875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中</a:t>
            </a:r>
          </a:p>
        </p:txBody>
      </p:sp>
      <p:sp>
        <p:nvSpPr>
          <p:cNvPr id="79" name="kpi-3-circle">
            <a:extLst xmlns:a="http://schemas.openxmlformats.org/drawingml/2006/main">
              <a:ext uri="{FF2B5EF4-FFF2-40B4-BE49-F238E27FC236}">
                <a16:creationId xmlns:a16="http://schemas.microsoft.com/office/drawing/2014/main" id="{E6D35764-66BA-4ED0-BEFE-3D0318D4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86" name="kpi-3-title">
            <a:extLst xmlns:a="http://schemas.openxmlformats.org/drawingml/2006/main">
              <a:ext uri="{FF2B5EF4-FFF2-40B4-BE49-F238E27FC236}">
                <a16:creationId xmlns:a16="http://schemas.microsoft.com/office/drawing/2014/main" id="{69A8CF81-9092-4780-8D12-5F095AA1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389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受注確度</a:t>
            </a:r>
          </a:p>
        </p:txBody>
      </p:sp>
      <p:sp>
        <p:nvSpPr>
          <p:cNvPr id="87" name="kpi-3-desc">
            <a:extLst xmlns:a="http://schemas.openxmlformats.org/drawingml/2006/main">
              <a:ext uri="{FF2B5EF4-FFF2-40B4-BE49-F238E27FC236}">
                <a16:creationId xmlns:a16="http://schemas.microsoft.com/office/drawing/2014/main" id="{A7471212-86AB-4BE6-859D-A93C396E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627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提案からの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受注確度を向上</a:t>
            </a:r>
          </a:p>
        </p:txBody>
      </p:sp>
      <p:sp>
        <p:nvSpPr>
          <p:cNvPr id="88" name="kpi-3-current">
            <a:extLst xmlns:a="http://schemas.openxmlformats.org/drawingml/2006/main">
              <a:ext uri="{FF2B5EF4-FFF2-40B4-BE49-F238E27FC236}">
                <a16:creationId xmlns:a16="http://schemas.microsoft.com/office/drawing/2014/main" id="{55FE7DF1-B476-4404-B485-4BBEC565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6865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20%</a:t>
            </a:r>
          </a:p>
        </p:txBody>
      </p:sp>
      <p:sp>
        <p:nvSpPr>
          <p:cNvPr id="89" name="kpi-3-transition">
            <a:extLst xmlns:a="http://schemas.openxmlformats.org/drawingml/2006/main">
              <a:ext uri="{FF2B5EF4-FFF2-40B4-BE49-F238E27FC236}">
                <a16:creationId xmlns:a16="http://schemas.microsoft.com/office/drawing/2014/main" id="{CE8E5C27-9C14-4B7D-B63A-3AFA7CC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6781800"/>
            <a:ext cx="2190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solidFill>
              <a:srgbClr val="E30606"/>
            </a:solidFill>
          </a:ln>
        </p:spPr>
      </p:sp>
      <p:sp>
        <p:nvSpPr>
          <p:cNvPr id="90" name="kpi-3-target">
            <a:extLst xmlns:a="http://schemas.openxmlformats.org/drawingml/2006/main">
              <a:ext uri="{FF2B5EF4-FFF2-40B4-BE49-F238E27FC236}">
                <a16:creationId xmlns:a16="http://schemas.microsoft.com/office/drawing/2014/main" id="{08777601-12A5-4EE8-8E70-6221B03D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65151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20%向上</a:t>
            </a:r>
          </a:p>
        </p:txBody>
      </p:sp>
      <p:sp>
        <p:nvSpPr>
          <p:cNvPr id="91" name="kpi-3-target-sub">
            <a:extLst xmlns:a="http://schemas.openxmlformats.org/drawingml/2006/main">
              <a:ext uri="{FF2B5EF4-FFF2-40B4-BE49-F238E27FC236}">
                <a16:creationId xmlns:a16="http://schemas.microsoft.com/office/drawing/2014/main" id="{19F8A695-6240-4405-A977-09809F12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68389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(24%)</a:t>
            </a:r>
          </a:p>
        </p:txBody>
      </p:sp>
      <p:sp>
        <p:nvSpPr>
          <p:cNvPr id="92" name="kpi-3-method">
            <a:extLst xmlns:a="http://schemas.openxmlformats.org/drawingml/2006/main">
              <a:ext uri="{FF2B5EF4-FFF2-40B4-BE49-F238E27FC236}">
                <a16:creationId xmlns:a16="http://schemas.microsoft.com/office/drawing/2014/main" id="{0FAEB423-A113-420F-A8BD-110386F1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6600825"/>
            <a:ext cx="1657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営業管理ツールの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受注率</a:t>
            </a:r>
          </a:p>
        </p:txBody>
      </p:sp>
      <p:sp>
        <p:nvSpPr>
          <p:cNvPr id="93" name="kpi-3-priority-bg">
            <a:extLst xmlns:a="http://schemas.openxmlformats.org/drawingml/2006/main">
              <a:ext uri="{FF2B5EF4-FFF2-40B4-BE49-F238E27FC236}">
                <a16:creationId xmlns:a16="http://schemas.microsoft.com/office/drawing/2014/main" id="{4A470450-7958-46F1-BA62-97E5E9BB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638925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</a:ln>
        </p:spPr>
      </p:sp>
      <p:sp>
        <p:nvSpPr>
          <p:cNvPr id="94" name="kpi-3-priority">
            <a:extLst xmlns:a="http://schemas.openxmlformats.org/drawingml/2006/main">
              <a:ext uri="{FF2B5EF4-FFF2-40B4-BE49-F238E27FC236}">
                <a16:creationId xmlns:a16="http://schemas.microsoft.com/office/drawing/2014/main" id="{1367BF25-302D-4C94-827F-CBE9AB3E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638925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高</a:t>
            </a:r>
          </a:p>
        </p:txBody>
      </p:sp>
      <p:sp>
        <p:nvSpPr>
          <p:cNvPr id="95" name="method-0-circle">
            <a:extLst xmlns:a="http://schemas.openxmlformats.org/drawingml/2006/main">
              <a:ext uri="{FF2B5EF4-FFF2-40B4-BE49-F238E27FC236}">
                <a16:creationId xmlns:a16="http://schemas.microsoft.com/office/drawing/2014/main" id="{02BECEE6-4F9D-4B71-8FF6-6FFABC74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908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96" name="method-0-number">
            <a:extLst xmlns:a="http://schemas.openxmlformats.org/drawingml/2006/main">
              <a:ext uri="{FF2B5EF4-FFF2-40B4-BE49-F238E27FC236}">
                <a16:creationId xmlns:a16="http://schemas.microsoft.com/office/drawing/2014/main" id="{CEF80BA0-D802-4881-BB9C-BA439F4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97" name="method-0-heading">
            <a:extLst xmlns:a="http://schemas.openxmlformats.org/drawingml/2006/main">
              <a:ext uri="{FF2B5EF4-FFF2-40B4-BE49-F238E27FC236}">
                <a16:creationId xmlns:a16="http://schemas.microsoft.com/office/drawing/2014/main" id="{D0FE36D0-2B78-40A3-A992-6B3ACBD2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479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現状値の把握</a:t>
            </a:r>
          </a:p>
        </p:txBody>
      </p:sp>
      <p:sp>
        <p:nvSpPr>
          <p:cNvPr id="98" name="method-0-detail">
            <a:extLst xmlns:a="http://schemas.openxmlformats.org/drawingml/2006/main">
              <a:ext uri="{FF2B5EF4-FFF2-40B4-BE49-F238E27FC236}">
                <a16:creationId xmlns:a16="http://schemas.microsoft.com/office/drawing/2014/main" id="{CEBAC1A5-09E3-44C1-B64D-4BFD1F70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43225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既存のデータやヒアリングをもとに、現状の数値を把握します。</a:t>
            </a:r>
          </a:p>
        </p:txBody>
      </p:sp>
      <p:sp>
        <p:nvSpPr>
          <p:cNvPr id="99" name="method-1-circle">
            <a:extLst xmlns:a="http://schemas.openxmlformats.org/drawingml/2006/main">
              <a:ext uri="{FF2B5EF4-FFF2-40B4-BE49-F238E27FC236}">
                <a16:creationId xmlns:a16="http://schemas.microsoft.com/office/drawing/2014/main" id="{C452AE85-778A-4827-8266-24264FC6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194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100" name="method-1-number">
            <a:extLst xmlns:a="http://schemas.openxmlformats.org/drawingml/2006/main">
              <a:ext uri="{FF2B5EF4-FFF2-40B4-BE49-F238E27FC236}">
                <a16:creationId xmlns:a16="http://schemas.microsoft.com/office/drawing/2014/main" id="{37A16486-839D-433B-BA1B-66499C2C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766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101" name="method-1-heading">
            <a:extLst xmlns:a="http://schemas.openxmlformats.org/drawingml/2006/main">
              <a:ext uri="{FF2B5EF4-FFF2-40B4-BE49-F238E27FC236}">
                <a16:creationId xmlns:a16="http://schemas.microsoft.com/office/drawing/2014/main" id="{6EE36DBE-1A7D-4C08-8077-BAC9681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766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目標値の設定</a:t>
            </a:r>
          </a:p>
        </p:txBody>
      </p:sp>
      <p:sp>
        <p:nvSpPr>
          <p:cNvPr id="102" name="method-1-detail">
            <a:extLst xmlns:a="http://schemas.openxmlformats.org/drawingml/2006/main">
              <a:ext uri="{FF2B5EF4-FFF2-40B4-BE49-F238E27FC236}">
                <a16:creationId xmlns:a16="http://schemas.microsoft.com/office/drawing/2014/main" id="{59BC7A06-F9F9-440A-BEF4-1213BA01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719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事業目標やリソースを踏まえ、現実的かつ挑戦的な目標値を設定します。</a:t>
            </a:r>
          </a:p>
        </p:txBody>
      </p:sp>
      <p:sp>
        <p:nvSpPr>
          <p:cNvPr id="103" name="method-2-circle">
            <a:extLst xmlns:a="http://schemas.openxmlformats.org/drawingml/2006/main">
              <a:ext uri="{FF2B5EF4-FFF2-40B4-BE49-F238E27FC236}">
                <a16:creationId xmlns:a16="http://schemas.microsoft.com/office/drawing/2014/main" id="{99EF8F9D-8F5B-4184-BD21-7B5A09E9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48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104" name="method-2-number">
            <a:extLst xmlns:a="http://schemas.openxmlformats.org/drawingml/2006/main">
              <a:ext uri="{FF2B5EF4-FFF2-40B4-BE49-F238E27FC236}">
                <a16:creationId xmlns:a16="http://schemas.microsoft.com/office/drawing/2014/main" id="{9DD242CB-1D6E-4C3A-AA12-DFBD932D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105" name="method-2-heading">
            <a:extLst xmlns:a="http://schemas.openxmlformats.org/drawingml/2006/main">
              <a:ext uri="{FF2B5EF4-FFF2-40B4-BE49-F238E27FC236}">
                <a16:creationId xmlns:a16="http://schemas.microsoft.com/office/drawing/2014/main" id="{33C7A123-1FF1-4918-B041-DAF42904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053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定期レビュー</a:t>
            </a:r>
          </a:p>
        </p:txBody>
      </p:sp>
      <p:sp>
        <p:nvSpPr>
          <p:cNvPr id="106" name="method-2-detail">
            <a:extLst xmlns:a="http://schemas.openxmlformats.org/drawingml/2006/main">
              <a:ext uri="{FF2B5EF4-FFF2-40B4-BE49-F238E27FC236}">
                <a16:creationId xmlns:a16="http://schemas.microsoft.com/office/drawing/2014/main" id="{22C8C305-9042-4C31-B8B5-25CEAA6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600575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月次でKPIを確認し、要因分析と打ち手の検討を行います。</a:t>
            </a:r>
          </a:p>
        </p:txBody>
      </p:sp>
      <p:sp>
        <p:nvSpPr>
          <p:cNvPr id="107" name="method-divider-1">
            <a:extLst xmlns:a="http://schemas.openxmlformats.org/drawingml/2006/main">
              <a:ext uri="{FF2B5EF4-FFF2-40B4-BE49-F238E27FC236}">
                <a16:creationId xmlns:a16="http://schemas.microsoft.com/office/drawing/2014/main" id="{5BBE64B5-E290-40CA-B1ED-A3064A1A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05175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108" name="method-divider-2">
            <a:extLst xmlns:a="http://schemas.openxmlformats.org/drawingml/2006/main">
              <a:ext uri="{FF2B5EF4-FFF2-40B4-BE49-F238E27FC236}">
                <a16:creationId xmlns:a16="http://schemas.microsoft.com/office/drawing/2014/main" id="{8F542AFB-0F52-49BE-A129-B5409BE5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338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109" name="note-0-bullet">
            <a:extLst xmlns:a="http://schemas.openxmlformats.org/drawingml/2006/main">
              <a:ext uri="{FF2B5EF4-FFF2-40B4-BE49-F238E27FC236}">
                <a16:creationId xmlns:a16="http://schemas.microsoft.com/office/drawing/2014/main" id="{0C03CEAB-8FBC-4567-9821-3E2B7E9B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583406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noFill/>
          </a:ln>
        </p:spPr>
      </p:sp>
      <p:sp>
        <p:nvSpPr>
          <p:cNvPr id="110" name="note-0-heading">
            <a:extLst xmlns:a="http://schemas.openxmlformats.org/drawingml/2006/main">
              <a:ext uri="{FF2B5EF4-FFF2-40B4-BE49-F238E27FC236}">
                <a16:creationId xmlns:a16="http://schemas.microsoft.com/office/drawing/2014/main" id="{12C91A83-879D-492C-BDF5-7BE6EEBF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6959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実測値が未取得の場合は仮説として扱う</a:t>
            </a:r>
          </a:p>
        </p:txBody>
      </p:sp>
      <p:sp>
        <p:nvSpPr>
          <p:cNvPr id="111" name="note-0-detail">
            <a:extLst xmlns:a="http://schemas.openxmlformats.org/drawingml/2006/main">
              <a:ext uri="{FF2B5EF4-FFF2-40B4-BE49-F238E27FC236}">
                <a16:creationId xmlns:a16="http://schemas.microsoft.com/office/drawing/2014/main" id="{3DA37957-339B-40F2-939B-325593AD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97217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導入初期や計測環境が整っていない場合は、仮説値を設定し、実測後に見直します。</a:t>
            </a:r>
          </a:p>
        </p:txBody>
      </p:sp>
      <p:sp>
        <p:nvSpPr>
          <p:cNvPr id="112" name="note-1-bullet">
            <a:extLst xmlns:a="http://schemas.openxmlformats.org/drawingml/2006/main">
              <a:ext uri="{FF2B5EF4-FFF2-40B4-BE49-F238E27FC236}">
                <a16:creationId xmlns:a16="http://schemas.microsoft.com/office/drawing/2014/main" id="{8A054C65-2FCF-4208-986D-A30C20C5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64341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noFill/>
          </a:ln>
        </p:spPr>
      </p:sp>
      <p:sp>
        <p:nvSpPr>
          <p:cNvPr id="113" name="note-1-heading">
            <a:extLst xmlns:a="http://schemas.openxmlformats.org/drawingml/2006/main">
              <a:ext uri="{FF2B5EF4-FFF2-40B4-BE49-F238E27FC236}">
                <a16:creationId xmlns:a16="http://schemas.microsoft.com/office/drawing/2014/main" id="{E001C850-62BC-4590-9C06-70472232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2960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案件条件により効果は変動する</a:t>
            </a:r>
          </a:p>
        </p:txBody>
      </p:sp>
      <p:sp>
        <p:nvSpPr>
          <p:cNvPr id="114" name="note-1-detail">
            <a:extLst xmlns:a="http://schemas.openxmlformats.org/drawingml/2006/main">
              <a:ext uri="{FF2B5EF4-FFF2-40B4-BE49-F238E27FC236}">
                <a16:creationId xmlns:a16="http://schemas.microsoft.com/office/drawing/2014/main" id="{6AAC9EE4-5EAB-433E-BAB9-6F8D4A48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722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業界・案件規模・提案内容などの条件により、効果は変動する点に留意が必要です。</a:t>
            </a:r>
          </a:p>
        </p:txBody>
      </p:sp>
      <p:sp>
        <p:nvSpPr>
          <p:cNvPr id="115" name="note-2-bullet">
            <a:extLst xmlns:a="http://schemas.openxmlformats.org/drawingml/2006/main">
              <a:ext uri="{FF2B5EF4-FFF2-40B4-BE49-F238E27FC236}">
                <a16:creationId xmlns:a16="http://schemas.microsoft.com/office/drawing/2014/main" id="{43FBA507-F0E3-4F86-914E-9ADBAACC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70437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noFill/>
          </a:ln>
        </p:spPr>
      </p:sp>
      <p:sp>
        <p:nvSpPr>
          <p:cNvPr id="116" name="note-2-heading">
            <a:extLst xmlns:a="http://schemas.openxmlformats.org/drawingml/2006/main">
              <a:ext uri="{FF2B5EF4-FFF2-40B4-BE49-F238E27FC236}">
                <a16:creationId xmlns:a16="http://schemas.microsoft.com/office/drawing/2014/main" id="{D2ADA3B8-7768-4CF6-BD1A-BB15ABBF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9056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月次で改善サイクルを回す</a:t>
            </a:r>
          </a:p>
        </p:txBody>
      </p:sp>
      <p:sp>
        <p:nvSpPr>
          <p:cNvPr id="117" name="note-2-detail">
            <a:extLst xmlns:a="http://schemas.openxmlformats.org/drawingml/2006/main">
              <a:ext uri="{FF2B5EF4-FFF2-40B4-BE49-F238E27FC236}">
                <a16:creationId xmlns:a16="http://schemas.microsoft.com/office/drawing/2014/main" id="{23A46A6B-D2C7-403B-9123-B671B685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1818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267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0">
                <a:solidFill>
                  <a:srgbClr val="5E6267"/>
                </a:solidFill>
                <a:latin typeface="Yu Gothic UI"/>
                <a:ea typeface="Yu Gothic UI"/>
                <a:cs typeface="Yu Gothic UI"/>
              </a:rPr>
              <a:t>KPIの進捗を定期的に確認し、施策の見直し・改善を継続的に行います。</a:t>
            </a:r>
          </a:p>
        </p:txBody>
      </p:sp>
      <p:sp>
        <p:nvSpPr>
          <p:cNvPr id="118" name="notes-divider-1">
            <a:extLst xmlns:a="http://schemas.openxmlformats.org/drawingml/2006/main">
              <a:ext uri="{FF2B5EF4-FFF2-40B4-BE49-F238E27FC236}">
                <a16:creationId xmlns:a16="http://schemas.microsoft.com/office/drawing/2014/main" id="{06198C2D-949D-42C4-A863-D54A84E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57925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119" name="notes-divider-2">
            <a:extLst xmlns:a="http://schemas.openxmlformats.org/drawingml/2006/main">
              <a:ext uri="{FF2B5EF4-FFF2-40B4-BE49-F238E27FC236}">
                <a16:creationId xmlns:a16="http://schemas.microsoft.com/office/drawing/2014/main" id="{01AD1C11-6878-437F-B282-DE3F09BC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8580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120" name="judgment-band">
            <a:extLst xmlns:a="http://schemas.openxmlformats.org/drawingml/2006/main">
              <a:ext uri="{FF2B5EF4-FFF2-40B4-BE49-F238E27FC236}">
                <a16:creationId xmlns:a16="http://schemas.microsoft.com/office/drawing/2014/main" id="{C4ED1B53-6479-4993-9600-D461C5E1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77150"/>
            <a:ext cx="1525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0">
            <a:noFill/>
          </a:ln>
        </p:spPr>
      </p:sp>
      <p:sp>
        <p:nvSpPr>
          <p:cNvPr id="121" name="judgment-accent">
            <a:extLst xmlns:a="http://schemas.openxmlformats.org/drawingml/2006/main">
              <a:ext uri="{FF2B5EF4-FFF2-40B4-BE49-F238E27FC236}">
                <a16:creationId xmlns:a16="http://schemas.microsoft.com/office/drawing/2014/main" id="{79EC67FE-55EC-4E5C-B513-2E285F8A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8200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2" name="judgment-label">
            <a:extLst xmlns:a="http://schemas.openxmlformats.org/drawingml/2006/main">
              <a:ext uri="{FF2B5EF4-FFF2-40B4-BE49-F238E27FC236}">
                <a16:creationId xmlns:a16="http://schemas.microsoft.com/office/drawing/2014/main" id="{F6D0020F-5DC4-4F2C-B0FD-10A87A71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7724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判断基準</a:t>
            </a:r>
          </a:p>
        </p:txBody>
      </p:sp>
      <p:sp>
        <p:nvSpPr>
          <p:cNvPr id="123" name="judgment-separator">
            <a:extLst xmlns:a="http://schemas.openxmlformats.org/drawingml/2006/main">
              <a:ext uri="{FF2B5EF4-FFF2-40B4-BE49-F238E27FC236}">
                <a16:creationId xmlns:a16="http://schemas.microsoft.com/office/drawing/2014/main" id="{7BBB1463-4534-4A9F-B7AF-C77BC237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82002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4" name="judgment-body">
            <a:extLst xmlns:a="http://schemas.openxmlformats.org/drawingml/2006/main">
              <a:ext uri="{FF2B5EF4-FFF2-40B4-BE49-F238E27FC236}">
                <a16:creationId xmlns:a16="http://schemas.microsoft.com/office/drawing/2014/main" id="{B4E30824-15A1-4D02-8EB6-25FF9F35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77240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KPIを定期的に確認し、効果が出ている施策へ投資を集中します。</a:t>
            </a:r>
          </a:p>
        </p:txBody>
      </p:sp>
      <p:sp>
        <p:nvSpPr>
          <p:cNvPr id="1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29183C-084A-4A1F-8BB6-39F4F92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34400"/>
            <a:ext cx="1525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  <a:prstDash val="solid"/>
          </a:ln>
        </p:spPr>
      </p:sp>
      <p:sp>
        <p:nvSpPr>
          <p:cNvPr id="1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6A287BD-234D-427D-862A-DE45F5F4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59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127" name="footer-separator">
            <a:extLst xmlns:a="http://schemas.openxmlformats.org/drawingml/2006/main">
              <a:ext uri="{FF2B5EF4-FFF2-40B4-BE49-F238E27FC236}">
                <a16:creationId xmlns:a16="http://schemas.microsoft.com/office/drawing/2014/main" id="{1E52F81F-AB1E-4C31-A0EF-B851377C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5915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8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E77074F-55AD-4FD2-B278-88D2215B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591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提案クエスト</a:t>
            </a:r>
          </a:p>
        </p:txBody>
      </p:sp>
      <p:sp>
        <p:nvSpPr>
          <p:cNvPr id="129" name="footer-copyright">
            <a:extLst xmlns:a="http://schemas.openxmlformats.org/drawingml/2006/main">
              <a:ext uri="{FF2B5EF4-FFF2-40B4-BE49-F238E27FC236}">
                <a16:creationId xmlns:a16="http://schemas.microsoft.com/office/drawing/2014/main" id="{4D70853D-2D50-4E88-9924-201C89A5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8591550"/>
            <a:ext cx="3495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© 2026 提案クエスト Inc. All Rights Reserved.</a:t>
            </a:r>
          </a:p>
        </p:txBody>
      </p:sp>
      <p:sp>
        <p:nvSpPr>
          <p:cNvPr id="132" name="icon-handshake-lucide-native">
            <a:extLst xmlns:a="http://schemas.openxmlformats.org/drawingml/2006/main">
              <a:ext uri="{FF2B5EF4-FFF2-40B4-BE49-F238E27FC236}">
                <a16:creationId xmlns:a16="http://schemas.microsoft.com/office/drawing/2014/main" id="{6276F79E-59B0-4706-821A-1DA8C78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3" y="6669977"/>
            <a:ext cx="497205" cy="497205"/>
          </a:xfrm>
          <a:custGeom xmlns:a="http://schemas.openxmlformats.org/drawingml/2006/main">
            <a:pathLst>
              <a:path w="497205" h="497205">
                <a:moveTo>
                  <a:pt x="64294" y="85725"/>
                </a:moveTo>
                <a:lnTo>
                  <a:pt x="42863" y="300038"/>
                </a:lnTo>
                <a:lnTo>
                  <a:pt x="182166" y="439341"/>
                </a:lnTo>
                <a:moveTo>
                  <a:pt x="64294" y="85725"/>
                </a:moveTo>
                <a:lnTo>
                  <a:pt x="235744" y="85725"/>
                </a:lnTo>
                <a:moveTo>
                  <a:pt x="450056" y="64294"/>
                </a:moveTo>
                <a:lnTo>
                  <a:pt x="471488" y="300038"/>
                </a:lnTo>
                <a:lnTo>
                  <a:pt x="428625" y="300038"/>
                </a:lnTo>
                <a:moveTo>
                  <a:pt x="450056" y="85725"/>
                </a:moveTo>
                <a:lnTo>
                  <a:pt x="396478" y="107156"/>
                </a:lnTo>
                <a:moveTo>
                  <a:pt x="235744" y="192881"/>
                </a:moveTo>
                <a:lnTo>
                  <a:pt x="214313" y="214313"/>
                </a:lnTo>
                <a:lnTo>
                  <a:pt x="150019" y="278606"/>
                </a:lnTo>
                <a:moveTo>
                  <a:pt x="278606" y="214313"/>
                </a:moveTo>
                <a:lnTo>
                  <a:pt x="342900" y="278606"/>
                </a:lnTo>
                <a:lnTo>
                  <a:pt x="417909" y="353616"/>
                </a:lnTo>
                <a:lnTo>
                  <a:pt x="375047" y="396478"/>
                </a:lnTo>
                <a:lnTo>
                  <a:pt x="300038" y="321469"/>
                </a:lnTo>
                <a:moveTo>
                  <a:pt x="300038" y="321469"/>
                </a:moveTo>
                <a:lnTo>
                  <a:pt x="257175" y="364331"/>
                </a:lnTo>
                <a:lnTo>
                  <a:pt x="321469" y="428625"/>
                </a:lnTo>
                <a:lnTo>
                  <a:pt x="375047" y="396478"/>
                </a:lnTo>
                <a:moveTo>
                  <a:pt x="235744" y="364331"/>
                </a:moveTo>
                <a:lnTo>
                  <a:pt x="278606" y="407194"/>
                </a:lnTo>
                <a:lnTo>
                  <a:pt x="321469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6926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2026-09-17T22:55:40.2560000Z</dcterms:created>
  <dcterms:modified xsi:type="dcterms:W3CDTF">2026-09-17T22:55:40.2570000Z</dcterms:modified>
</coreProperties>
</file>