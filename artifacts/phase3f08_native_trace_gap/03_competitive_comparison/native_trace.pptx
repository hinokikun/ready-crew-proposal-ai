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dd122abd6104ff0" /><Relationship Type="http://schemas.openxmlformats.org/officeDocument/2006/relationships/extended-properties" Target="/docProps/app.xml" Id="R255c5948a1084166" /><Relationship Type="http://schemas.openxmlformats.org/officeDocument/2006/relationships/officeDocument" Target="/ppt/presentation.xml" Id="R51390836fbc146a5" /></Relationships>
</file>

<file path=ppt/presentation.xml><?xml version="1.0" encoding="utf-8"?>
<p:presentation xmlns:p="http://schemas.openxmlformats.org/presentationml/2006/main">
  <p:sldMasterIdLst>
    <p:sldMasterId xmlns:r="http://schemas.openxmlformats.org/officeDocument/2006/relationships" id="2147483648" r:id="Rcdce051c02904660"/>
  </p:sldMasterIdLst>
  <p:notesMasterIdLst>
    <p:notesMasterId xmlns:r="http://schemas.openxmlformats.org/officeDocument/2006/relationships" r:id="R0b10b2617d764ea6"/>
  </p:notesMasterIdLst>
  <p:sldIdLst>
    <p:sldId xmlns:r="http://schemas.openxmlformats.org/officeDocument/2006/relationships" id="256" r:id="Rdc535bd1e405496c"/>
  </p:sldIdLst>
  <p:sldSz cx="15925800" cy="8963025"/>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f312b5e8f014943" /><Relationship Type="http://schemas.openxmlformats.org/officeDocument/2006/relationships/slideMaster" Target="/ppt/slideMasters/slideMaster1.xml" Id="Rcdce051c02904660" /><Relationship Type="http://schemas.openxmlformats.org/officeDocument/2006/relationships/notesMaster" Target="/ppt/notesMasters/notesMaster1.xml" Id="R0b10b2617d764ea6" /><Relationship Type="http://schemas.openxmlformats.org/officeDocument/2006/relationships/presProps" Target="/ppt/presProps.xml" Id="R62ca46f7256b4b70" /><Relationship Type="http://schemas.openxmlformats.org/officeDocument/2006/relationships/tableStyles" Target="/ppt/tableStyles.xml" Id="R64249ede6a62433c" /><Relationship Type="http://schemas.openxmlformats.org/officeDocument/2006/relationships/slide" Target="/ppt/slides/slide1.xml" Id="Rdc535bd1e405496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6e63bd60eee4e8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c0226c1735d4b9e" /><Relationship Type="http://schemas.openxmlformats.org/officeDocument/2006/relationships/notesMaster" Target="/ppt/notesMasters/notesMaster1.xml" Id="R8dde3ca06634446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Native Trace sample content reproduced from the approved Canonical PNG for fidelity validation only. Comparative claims and sample values are not verified production evidence and must be replaced by the production data-binding contract.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fd8b55cc18a464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0ea0d767d6d4d06" /><Relationship Type="http://schemas.openxmlformats.org/officeDocument/2006/relationships/slideLayout" Target="/ppt/slideLayouts/slideLayout1.xml" Id="R1c272f6c97fd4aa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c272f6c97fd4aa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57769f9784448a2" /><Relationship Type="http://schemas.openxmlformats.org/officeDocument/2006/relationships/notesSlide" Target="/ppt/notesSlides/notesSlide1.xml" Id="R2dc45925b119429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7" name="header-section-number">
            <a:extLst xmlns:a="http://schemas.openxmlformats.org/drawingml/2006/main">
              <a:ext uri="{FF2B5EF4-FFF2-40B4-BE49-F238E27FC236}">
                <a16:creationId xmlns:a16="http://schemas.microsoft.com/office/drawing/2014/main" id="{3C095E47-EF58-4372-AE47-7346D1ADC94E}"/>
              </a:ext>
            </a:extLst>
          </p:cNvPr>
          <p:cNvSpPr>
            <a:spLocks xmlns:a="http://schemas.openxmlformats.org/drawingml/2006/main" noGrp="1"/>
          </p:cNvSpPr>
          <p:nvPr/>
        </p:nvSpPr>
        <p:spPr>
          <a:xfrm xmlns:a="http://schemas.openxmlformats.org/drawingml/2006/main">
            <a:off x="352425" y="142875"/>
            <a:ext cx="400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100000"/>
          </a:bodyPr>
          <a:lstStyle xmlns:a="http://schemas.openxmlformats.org/drawingml/2006/main"/>
          <a:p xmlns:a="http://schemas.openxmlformats.org/drawingml/2006/main">
            <a:pPr algn="ctr">
              <a:buNone/>
              <a:defRPr sz="1350" b="1">
                <a:solidFill>
                  <a:srgbClr val="F52323"/>
                </a:solidFill>
                <a:latin typeface="Yu Gothic"/>
                <a:ea typeface="Yu Gothic"/>
                <a:cs typeface="Yu Gothic"/>
              </a:defRPr>
            </a:pPr>
            <a:r>
              <a:rPr sz="1350" b="1">
                <a:solidFill>
                  <a:srgbClr val="F52323"/>
                </a:solidFill>
                <a:latin typeface="Yu Gothic"/>
                <a:ea typeface="Yu Gothic"/>
                <a:cs typeface="Yu Gothic"/>
              </a:rPr>
              <a:t>07</a:t>
            </a:r>
          </a:p>
        </p:txBody>
      </p:sp>
      <p:sp>
        <p:nvSpPr>
          <p:cNvPr id="2" name="">
            <a:extLst xmlns:a="http://schemas.openxmlformats.org/drawingml/2006/main">
              <a:ext uri="{FF2B5EF4-FFF2-40B4-BE49-F238E27FC236}">
                <a16:creationId xmlns:a16="http://schemas.microsoft.com/office/drawing/2014/main" id="{5B3B0158-2A36-4392-9EE9-0133A715B729}"/>
              </a:ext>
            </a:extLst>
          </p:cNvPr>
          <p:cNvSpPr>
            <a:spLocks xmlns:a="http://schemas.openxmlformats.org/drawingml/2006/main" noGrp="1"/>
          </p:cNvSpPr>
          <p:nvPr/>
        </p:nvSpPr>
        <p:spPr>
          <a:xfrm xmlns:a="http://schemas.openxmlformats.org/drawingml/2006/main">
            <a:off x="666750" y="142875"/>
            <a:ext cx="0" cy="257175"/>
          </a:xfrm>
          <a:prstGeom xmlns:a="http://schemas.openxmlformats.org/drawingml/2006/main" prst="line">
            <a:avLst/>
          </a:prstGeom>
          <a:noFill xmlns:a="http://schemas.openxmlformats.org/drawingml/2006/main"/>
          <a:ln xmlns:a="http://schemas.openxmlformats.org/drawingml/2006/main" w="19050">
            <a:solidFill>
              <a:srgbClr val="F52323"/>
            </a:solidFill>
            <a:prstDash val="solid"/>
          </a:ln>
        </p:spPr>
      </p:sp>
      <p:sp>
        <p:nvSpPr>
          <p:cNvPr id="3" name="header-label">
            <a:extLst xmlns:a="http://schemas.openxmlformats.org/drawingml/2006/main">
              <a:ext uri="{FF2B5EF4-FFF2-40B4-BE49-F238E27FC236}">
                <a16:creationId xmlns:a16="http://schemas.microsoft.com/office/drawing/2014/main" id="{61958B2D-33CE-4BE4-BC21-6206857FDC45}"/>
              </a:ext>
            </a:extLst>
          </p:cNvPr>
          <p:cNvSpPr>
            <a:spLocks xmlns:a="http://schemas.openxmlformats.org/drawingml/2006/main" noGrp="1"/>
          </p:cNvSpPr>
          <p:nvPr/>
        </p:nvSpPr>
        <p:spPr>
          <a:xfrm xmlns:a="http://schemas.openxmlformats.org/drawingml/2006/main">
            <a:off x="800100" y="142875"/>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buNone/>
              <a:defRPr sz="1350" b="1">
                <a:solidFill>
                  <a:srgbClr val="111111"/>
                </a:solidFill>
                <a:latin typeface="Yu Gothic"/>
                <a:ea typeface="Yu Gothic"/>
                <a:cs typeface="Yu Gothic"/>
              </a:defRPr>
            </a:pPr>
            <a:r>
              <a:rPr sz="1350" b="1">
                <a:solidFill>
                  <a:srgbClr val="111111"/>
                </a:solidFill>
                <a:latin typeface="Yu Gothic"/>
                <a:ea typeface="Yu Gothic"/>
                <a:cs typeface="Yu Gothic"/>
              </a:rPr>
              <a:t>組織を変える、AI活用の進め方</a:t>
            </a:r>
          </a:p>
        </p:txBody>
      </p:sp>
      <p:sp>
        <p:nvSpPr>
          <p:cNvPr id="4" name="header-date">
            <a:extLst xmlns:a="http://schemas.openxmlformats.org/drawingml/2006/main">
              <a:ext uri="{FF2B5EF4-FFF2-40B4-BE49-F238E27FC236}">
                <a16:creationId xmlns:a16="http://schemas.microsoft.com/office/drawing/2014/main" id="{2D653C65-5319-43A3-80B2-E89E77DCAE8F}"/>
              </a:ext>
            </a:extLst>
          </p:cNvPr>
          <p:cNvSpPr>
            <a:spLocks xmlns:a="http://schemas.openxmlformats.org/drawingml/2006/main" noGrp="1"/>
          </p:cNvSpPr>
          <p:nvPr/>
        </p:nvSpPr>
        <p:spPr>
          <a:xfrm xmlns:a="http://schemas.openxmlformats.org/drawingml/2006/main">
            <a:off x="14239875" y="123825"/>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94444"/>
          </a:bodyPr>
          <a:lstStyle xmlns:a="http://schemas.openxmlformats.org/drawingml/2006/main"/>
          <a:p xmlns:a="http://schemas.openxmlformats.org/drawingml/2006/main">
            <a:pPr algn="r">
              <a:buNone/>
              <a:defRPr sz="1350">
                <a:solidFill>
                  <a:srgbClr val="111111"/>
                </a:solidFill>
                <a:latin typeface="Yu Gothic"/>
                <a:ea typeface="Yu Gothic"/>
                <a:cs typeface="Yu Gothic"/>
              </a:defRPr>
            </a:pPr>
            <a:r>
              <a:rPr sz="1350">
                <a:solidFill>
                  <a:srgbClr val="111111"/>
                </a:solidFill>
                <a:latin typeface="Yu Gothic"/>
                <a:ea typeface="Yu Gothic"/>
                <a:cs typeface="Yu Gothic"/>
              </a:rPr>
              <a:t>2026.06.22</a:t>
            </a:r>
          </a:p>
        </p:txBody>
      </p:sp>
      <p:sp>
        <p:nvSpPr>
          <p:cNvPr id="5" name="header-red-rule">
            <a:extLst xmlns:a="http://schemas.openxmlformats.org/drawingml/2006/main">
              <a:ext uri="{FF2B5EF4-FFF2-40B4-BE49-F238E27FC236}">
                <a16:creationId xmlns:a16="http://schemas.microsoft.com/office/drawing/2014/main" id="{7B33392B-FE26-450B-AF70-171561CE3611}"/>
              </a:ext>
            </a:extLst>
          </p:cNvPr>
          <p:cNvSpPr>
            <a:spLocks xmlns:a="http://schemas.openxmlformats.org/drawingml/2006/main" noGrp="1"/>
          </p:cNvSpPr>
          <p:nvPr/>
        </p:nvSpPr>
        <p:spPr>
          <a:xfrm xmlns:a="http://schemas.openxmlformats.org/drawingml/2006/main">
            <a:off x="352425" y="476250"/>
            <a:ext cx="7620000" cy="0"/>
          </a:xfrm>
          <a:prstGeom xmlns:a="http://schemas.openxmlformats.org/drawingml/2006/main" prst="line">
            <a:avLst/>
          </a:prstGeom>
          <a:noFill xmlns:a="http://schemas.openxmlformats.org/drawingml/2006/main"/>
          <a:ln xmlns:a="http://schemas.openxmlformats.org/drawingml/2006/main" w="28575">
            <a:solidFill>
              <a:srgbClr val="F52323"/>
            </a:solidFill>
            <a:prstDash val="solid"/>
          </a:ln>
        </p:spPr>
      </p:sp>
      <p:sp>
        <p:nvSpPr>
          <p:cNvPr id="6" name="header-black-rule">
            <a:extLst xmlns:a="http://schemas.openxmlformats.org/drawingml/2006/main">
              <a:ext uri="{FF2B5EF4-FFF2-40B4-BE49-F238E27FC236}">
                <a16:creationId xmlns:a16="http://schemas.microsoft.com/office/drawing/2014/main" id="{EDEF30FA-3973-4829-B384-AF06244CF8B1}"/>
              </a:ext>
            </a:extLst>
          </p:cNvPr>
          <p:cNvSpPr>
            <a:spLocks xmlns:a="http://schemas.openxmlformats.org/drawingml/2006/main" noGrp="1"/>
          </p:cNvSpPr>
          <p:nvPr/>
        </p:nvSpPr>
        <p:spPr>
          <a:xfrm xmlns:a="http://schemas.openxmlformats.org/drawingml/2006/main">
            <a:off x="7972425" y="476250"/>
            <a:ext cx="7610475" cy="0"/>
          </a:xfrm>
          <a:prstGeom xmlns:a="http://schemas.openxmlformats.org/drawingml/2006/main" prst="line">
            <a:avLst/>
          </a:prstGeom>
          <a:noFill xmlns:a="http://schemas.openxmlformats.org/drawingml/2006/main"/>
          <a:ln xmlns:a="http://schemas.openxmlformats.org/drawingml/2006/main" w="28575">
            <a:solidFill>
              <a:srgbClr val="111111"/>
            </a:solidFill>
            <a:prstDash val="solid"/>
          </a:ln>
        </p:spPr>
      </p:sp>
      <p:sp>
        <p:nvSpPr>
          <p:cNvPr id="7" name="slide-title">
            <a:extLst xmlns:a="http://schemas.openxmlformats.org/drawingml/2006/main">
              <a:ext uri="{FF2B5EF4-FFF2-40B4-BE49-F238E27FC236}">
                <a16:creationId xmlns:a16="http://schemas.microsoft.com/office/drawing/2014/main" id="{D8ACF85B-7123-4FBD-A450-B54B2A92BC8B}"/>
              </a:ext>
            </a:extLst>
          </p:cNvPr>
          <p:cNvSpPr>
            <a:spLocks xmlns:a="http://schemas.openxmlformats.org/drawingml/2006/main" noGrp="1"/>
          </p:cNvSpPr>
          <p:nvPr/>
        </p:nvSpPr>
        <p:spPr>
          <a:xfrm xmlns:a="http://schemas.openxmlformats.org/drawingml/2006/main">
            <a:off x="381000" y="733425"/>
            <a:ext cx="7858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87681"/>
          </a:bodyPr>
          <a:lstStyle xmlns:a="http://schemas.openxmlformats.org/drawingml/2006/main"/>
          <a:p xmlns:a="http://schemas.openxmlformats.org/drawingml/2006/main">
            <a:pPr>
              <a:buNone/>
              <a:defRPr sz="3450" b="1">
                <a:solidFill>
                  <a:srgbClr val="111111"/>
                </a:solidFill>
                <a:latin typeface="Yu Gothic"/>
                <a:ea typeface="Yu Gothic"/>
                <a:cs typeface="Yu Gothic"/>
              </a:defRPr>
            </a:pPr>
            <a:r>
              <a:rPr sz="3450" b="1">
                <a:solidFill>
                  <a:srgbClr val="111111"/>
                </a:solidFill>
                <a:latin typeface="Yu Gothic"/>
                <a:ea typeface="Yu Gothic"/>
                <a:cs typeface="Yu Gothic"/>
              </a:rPr>
              <a:t>競合比較と差別化ポイント</a:t>
            </a:r>
          </a:p>
        </p:txBody>
      </p:sp>
      <p:sp>
        <p:nvSpPr>
          <p:cNvPr id="8" name="slide-subtitle">
            <a:extLst xmlns:a="http://schemas.openxmlformats.org/drawingml/2006/main">
              <a:ext uri="{FF2B5EF4-FFF2-40B4-BE49-F238E27FC236}">
                <a16:creationId xmlns:a16="http://schemas.microsoft.com/office/drawing/2014/main" id="{C2D7EB83-0901-40D2-A718-D1872C378598}"/>
              </a:ext>
            </a:extLst>
          </p:cNvPr>
          <p:cNvSpPr>
            <a:spLocks xmlns:a="http://schemas.openxmlformats.org/drawingml/2006/main" noGrp="1"/>
          </p:cNvSpPr>
          <p:nvPr/>
        </p:nvSpPr>
        <p:spPr>
          <a:xfrm xmlns:a="http://schemas.openxmlformats.org/drawingml/2006/main">
            <a:off x="381000" y="135255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84722"/>
          </a:bodyPr>
          <a:lstStyle xmlns:a="http://schemas.openxmlformats.org/drawingml/2006/main"/>
          <a:p xmlns:a="http://schemas.openxmlformats.org/drawingml/2006/main">
            <a:pPr>
              <a:buNone/>
              <a:defRPr sz="1800">
                <a:solidFill>
                  <a:srgbClr val="111111"/>
                </a:solidFill>
                <a:latin typeface="Yu Gothic"/>
                <a:ea typeface="Yu Gothic"/>
                <a:cs typeface="Yu Gothic"/>
              </a:defRPr>
            </a:pPr>
            <a:r>
              <a:rPr sz="1800">
                <a:solidFill>
                  <a:srgbClr val="111111"/>
                </a:solidFill>
                <a:latin typeface="Yu Gothic"/>
                <a:ea typeface="Yu Gothic"/>
                <a:cs typeface="Yu Gothic"/>
              </a:rPr>
              <a:t>競合候補との比較を通じて、選定判断に必要な優位性・留意点・次の確認事項を整理します。</a:t>
            </a:r>
          </a:p>
        </p:txBody>
      </p:sp>
      <p:graphicFrame>
        <p:nvGraphicFramePr>
          <p:cNvPr id="107" name=""/>
          <p:cNvGraphicFramePr/>
          <p:nvPr/>
        </p:nvGraphicFramePr>
        <p:xfrm>
          <a:off xmlns:a="http://schemas.openxmlformats.org/drawingml/2006/main" x="371475" y="1838325"/>
          <a:ext xmlns:a="http://schemas.openxmlformats.org/drawingml/2006/main" cx="8562975" cy="5524500"/>
        </p:xfrm>
        <a:graphic xmlns:a="http://schemas.openxmlformats.org/drawingml/2006/main">
          <a:graphicData uri="http://schemas.openxmlformats.org/drawingml/2006/table">
            <a:tbl>
              <a:tblPr/>
              <a:tblGrid>
                <a:gridCol w="2152650"/>
                <a:gridCol w="2114550"/>
                <a:gridCol w="1581150"/>
                <a:gridCol w="1495425"/>
                <a:gridCol w="1219200"/>
              </a:tblGrid>
              <a:tr h="609600">
                <a:tc>
                  <a:txBody>
                    <a:bodyPr wrap="square">
                      <a:normAutofit/>
                    </a:bodyPr>
                    <a:lstStyle/>
                    <a:p>
                      <a:pPr algn="ctr">
                        <a:buNone/>
                      </a:pPr>
                      <a:r>
                        <a:rPr sz="1650" b="1">
                          <a:solidFill>
                            <a:srgbClr val="FFFFFF"/>
                          </a:solidFill>
                          <a:latin typeface="Yu Gothic"/>
                          <a:ea typeface="Yu Gothic"/>
                          <a:cs typeface="Yu Gothic"/>
                        </a:rPr>
                        <a:t>比較項目</a:t>
                      </a:r>
                    </a:p>
                  </a:txBody>
                  <a:tcPr marL="91440" marR="91440" marT="45720" marB="45720" anchor="ctr">
                    <a:solidFill>
                      <a:srgbClr val="111111"/>
                    </a:solidFill>
                  </a:tcPr>
                </a:tc>
                <a:tc>
                  <a:txBody>
                    <a:bodyPr wrap="square">
                      <a:normAutofit/>
                    </a:bodyPr>
                    <a:lstStyle/>
                    <a:p>
                      <a:pPr algn="ctr">
                        <a:buNone/>
                      </a:pPr>
                      <a:r>
                        <a:rPr sz="1650" b="1">
                          <a:solidFill>
                            <a:srgbClr val="FFFFFF"/>
                          </a:solidFill>
                          <a:latin typeface="Yu Gothic"/>
                          <a:ea typeface="Yu Gothic"/>
                          <a:cs typeface="Yu Gothic"/>
                        </a:rPr>
                        <a:t>当社提案</a:t>
                      </a:r>
                    </a:p>
                  </a:txBody>
                  <a:tcPr marL="91440" marR="91440" marT="45720" marB="45720" anchor="ctr">
                    <a:solidFill>
                      <a:srgbClr val="111111"/>
                    </a:solidFill>
                  </a:tcPr>
                </a:tc>
                <a:tc>
                  <a:txBody>
                    <a:bodyPr wrap="square">
                      <a:normAutofit/>
                    </a:bodyPr>
                    <a:lstStyle/>
                    <a:p>
                      <a:pPr algn="ctr">
                        <a:buNone/>
                      </a:pPr>
                      <a:r>
                        <a:rPr sz="1650" b="1">
                          <a:solidFill>
                            <a:srgbClr val="FFFFFF"/>
                          </a:solidFill>
                          <a:latin typeface="Yu Gothic"/>
                          <a:ea typeface="Yu Gothic"/>
                          <a:cs typeface="Yu Gothic"/>
                        </a:rPr>
                        <a:t>競合A</a:t>
                      </a:r>
                    </a:p>
                  </a:txBody>
                  <a:tcPr marL="91440" marR="91440" marT="45720" marB="45720" anchor="ctr">
                    <a:solidFill>
                      <a:srgbClr val="111111"/>
                    </a:solidFill>
                  </a:tcPr>
                </a:tc>
                <a:tc>
                  <a:txBody>
                    <a:bodyPr wrap="square">
                      <a:normAutofit/>
                    </a:bodyPr>
                    <a:lstStyle/>
                    <a:p>
                      <a:pPr algn="ctr">
                        <a:buNone/>
                      </a:pPr>
                      <a:r>
                        <a:rPr sz="1650" b="1">
                          <a:solidFill>
                            <a:srgbClr val="FFFFFF"/>
                          </a:solidFill>
                          <a:latin typeface="Yu Gothic"/>
                          <a:ea typeface="Yu Gothic"/>
                          <a:cs typeface="Yu Gothic"/>
                        </a:rPr>
                        <a:t>競合B</a:t>
                      </a:r>
                    </a:p>
                  </a:txBody>
                  <a:tcPr marL="91440" marR="91440" marT="45720" marB="45720" anchor="ctr">
                    <a:solidFill>
                      <a:srgbClr val="111111"/>
                    </a:solidFill>
                  </a:tcPr>
                </a:tc>
                <a:tc>
                  <a:txBody>
                    <a:bodyPr wrap="square">
                      <a:normAutofit/>
                    </a:bodyPr>
                    <a:lstStyle/>
                    <a:p>
                      <a:pPr algn="ctr">
                        <a:buNone/>
                      </a:pPr>
                      <a:r>
                        <a:rPr sz="1650" b="1">
                          <a:solidFill>
                            <a:srgbClr val="FFFFFF"/>
                          </a:solidFill>
                          <a:latin typeface="Yu Gothic"/>
                          <a:ea typeface="Yu Gothic"/>
                          <a:cs typeface="Yu Gothic"/>
                        </a:rPr>
                        <a:t>評価</a:t>
                      </a:r>
                    </a:p>
                  </a:txBody>
                  <a:tcPr marL="91440" marR="91440" marT="45720" marB="45720" anchor="ctr">
                    <a:solidFill>
                      <a:srgbClr val="111111"/>
                    </a:solidFill>
                  </a:tcPr>
                </a:tc>
              </a:tr>
              <a:tr h="962025">
                <a:tc>
                  <a:txBody>
                    <a:bodyPr wrap="square" lIns="91440" tIns="28575" rIns="91440" bIns="28575">
                      <a:normAutofit/>
                    </a:bodyPr>
                    <a:lstStyle/>
                    <a:p>
                      <a:r>
                        <a:rPr sz="1350" b="0">
                          <a:solidFill>
                            <a:srgbClr val="16223A"/>
                          </a:solidFill>
                          <a:latin typeface="Yu Gothic"/>
                          <a:ea typeface="Yu Gothic"/>
                          <a:cs typeface="Yu Gothic"/>
                        </a:rPr>
                        <a:t/>
                      </a:r>
                    </a:p>
                  </a:txBody>
                  <a:tcPr marL="91440" marR="91440" marT="45720" marB="45720" anchor="ctr">
                    <a:solidFill>
                      <a:srgbClr val="FFFFFF"/>
                    </a:solidFill>
                  </a:tcPr>
                </a:tc>
                <a:tc>
                  <a:txBody>
                    <a:bodyPr wrap="square" lIns="91440" tIns="28575" rIns="91440" bIns="28575">
                      <a:normAutofit/>
                    </a:bodyPr>
                    <a:lstStyle/>
                    <a:p>
                      <a:pPr algn="ctr">
                        <a:buNone/>
                      </a:pPr>
                      <a:r>
                        <a:rPr sz="1350" b="0">
                          <a:solidFill>
                            <a:srgbClr val="16223A"/>
                          </a:solidFill>
                          <a:latin typeface="Yu Gothic"/>
                          <a:ea typeface="Yu Gothic"/>
                          <a:cs typeface="Yu Gothic"/>
                        </a:rPr>
                        <a:t>要件整理から</a:t>
                      </a:r>
                    </a:p>
                    <a:p>
                      <a:pPr algn="ctr">
                        <a:buNone/>
                      </a:pPr>
                      <a:r>
                        <a:rPr sz="1350" b="0">
                          <a:solidFill>
                            <a:srgbClr val="16223A"/>
                          </a:solidFill>
                          <a:latin typeface="Yu Gothic"/>
                          <a:ea typeface="Yu Gothic"/>
                          <a:cs typeface="Yu Gothic"/>
                        </a:rPr>
                        <a:t>初期公開まで最短3か月</a:t>
                      </a:r>
                    </a:p>
                  </a:txBody>
                  <a:tcPr marL="91440" marR="91440" marT="45720" marB="45720" anchor="ctr">
                    <a:solidFill>
                      <a:srgbClr val="FFFFFF"/>
                    </a:solidFill>
                  </a:tcPr>
                </a:tc>
                <a:tc>
                  <a:txBody>
                    <a:bodyPr wrap="square" lIns="91440" tIns="28575" rIns="91440" bIns="28575">
                      <a:normAutofit/>
                    </a:bodyPr>
                    <a:lstStyle/>
                    <a:p>
                      <a:pPr algn="ctr">
                        <a:buNone/>
                      </a:pPr>
                      <a:r>
                        <a:rPr sz="1350" b="0">
                          <a:solidFill>
                            <a:srgbClr val="16223A"/>
                          </a:solidFill>
                          <a:latin typeface="Yu Gothic"/>
                          <a:ea typeface="Yu Gothic"/>
                          <a:cs typeface="Yu Gothic"/>
                        </a:rPr>
                        <a:t>4〜5か月</a:t>
                      </a:r>
                    </a:p>
                  </a:txBody>
                  <a:tcPr marL="91440" marR="91440" marT="45720" marB="45720" anchor="ctr">
                    <a:solidFill>
                      <a:srgbClr val="FFFFFF"/>
                    </a:solidFill>
                  </a:tcPr>
                </a:tc>
                <a:tc>
                  <a:txBody>
                    <a:bodyPr wrap="square" lIns="91440" tIns="28575" rIns="91440" bIns="28575">
                      <a:normAutofit/>
                    </a:bodyPr>
                    <a:lstStyle/>
                    <a:p>
                      <a:pPr algn="ctr">
                        <a:buNone/>
                      </a:pPr>
                      <a:r>
                        <a:rPr sz="1350" b="0">
                          <a:solidFill>
                            <a:srgbClr val="16223A"/>
                          </a:solidFill>
                          <a:latin typeface="Yu Gothic"/>
                          <a:ea typeface="Yu Gothic"/>
                          <a:cs typeface="Yu Gothic"/>
                        </a:rPr>
                        <a:t>3〜4か月</a:t>
                      </a:r>
                    </a:p>
                  </a:txBody>
                  <a:tcPr marL="91440" marR="91440" marT="45720" marB="45720" anchor="ctr">
                    <a:solidFill>
                      <a:srgbClr val="FFFFFF"/>
                    </a:solidFill>
                  </a:tcPr>
                </a:tc>
                <a:tc>
                  <a:txBody>
                    <a:bodyPr wrap="square" lIns="91440" tIns="28575" rIns="91440" bIns="28575">
                      <a:normAutofit/>
                    </a:bodyPr>
                    <a:lstStyle/>
                    <a:p>
                      <a:pPr algn="ctr">
                        <a:buNone/>
                      </a:pPr>
                      <a:r>
                        <a:rPr sz="1350" b="1">
                          <a:solidFill>
                            <a:srgbClr val="F52323"/>
                          </a:solidFill>
                          <a:latin typeface="Yu Gothic"/>
                          <a:ea typeface="Yu Gothic"/>
                          <a:cs typeface="Yu Gothic"/>
                        </a:rPr>
                        <a:t>優位</a:t>
                      </a:r>
                    </a:p>
                  </a:txBody>
                  <a:tcPr marL="91440" marR="91440" marT="45720" marB="45720" anchor="ctr">
                    <a:solidFill>
                      <a:srgbClr val="FFFFFF"/>
                    </a:solidFill>
                  </a:tcPr>
                </a:tc>
              </a:tr>
              <a:tr h="981075">
                <a:tc>
                  <a:txBody>
                    <a:bodyPr wrap="square" lIns="91440" tIns="28575" rIns="91440" bIns="28575">
                      <a:normAutofit/>
                    </a:bodyPr>
                    <a:lstStyle/>
                    <a:p>
                      <a:r>
                        <a:rPr sz="1350" b="0">
                          <a:solidFill>
                            <a:srgbClr val="16223A"/>
                          </a:solidFill>
                          <a:latin typeface="Yu Gothic"/>
                          <a:ea typeface="Yu Gothic"/>
                          <a:cs typeface="Yu Gothic"/>
                        </a:rPr>
                        <a:t/>
                      </a:r>
                    </a:p>
                  </a:txBody>
                  <a:tcPr marL="91440" marR="91440" marT="45720" marB="45720" anchor="ctr">
                    <a:solidFill>
                      <a:srgbClr val="FFFFFF"/>
                    </a:solidFill>
                  </a:tcPr>
                </a:tc>
                <a:tc>
                  <a:txBody>
                    <a:bodyPr wrap="square" lIns="91440" tIns="28575" rIns="91440" bIns="28575">
                      <a:normAutofit/>
                    </a:bodyPr>
                    <a:lstStyle/>
                    <a:p>
                      <a:pPr algn="ctr">
                        <a:buNone/>
                      </a:pPr>
                      <a:r>
                        <a:rPr sz="1350" b="0">
                          <a:solidFill>
                            <a:srgbClr val="16223A"/>
                          </a:solidFill>
                          <a:latin typeface="Yu Gothic"/>
                          <a:ea typeface="Yu Gothic"/>
                          <a:cs typeface="Yu Gothic"/>
                        </a:rPr>
                        <a:t>構成・KPI・運用像まで</a:t>
                      </a:r>
                    </a:p>
                    <a:p>
                      <a:pPr algn="ctr">
                        <a:buNone/>
                      </a:pPr>
                      <a:r>
                        <a:rPr sz="1350" b="0">
                          <a:solidFill>
                            <a:srgbClr val="16223A"/>
                          </a:solidFill>
                          <a:latin typeface="Yu Gothic"/>
                          <a:ea typeface="Yu Gothic"/>
                          <a:cs typeface="Yu Gothic"/>
                        </a:rPr>
                        <a:t>提示</a:t>
                      </a:r>
                    </a:p>
                  </a:txBody>
                  <a:tcPr marL="91440" marR="91440" marT="45720" marB="45720" anchor="ctr">
                    <a:solidFill>
                      <a:srgbClr val="FFFFFF"/>
                    </a:solidFill>
                  </a:tcPr>
                </a:tc>
                <a:tc>
                  <a:txBody>
                    <a:bodyPr wrap="square" lIns="91440" tIns="28575" rIns="91440" bIns="28575">
                      <a:normAutofit/>
                    </a:bodyPr>
                    <a:lstStyle/>
                    <a:p>
                      <a:pPr algn="ctr">
                        <a:buNone/>
                      </a:pPr>
                      <a:r>
                        <a:rPr sz="1350" b="0">
                          <a:solidFill>
                            <a:srgbClr val="16223A"/>
                          </a:solidFill>
                          <a:latin typeface="Yu Gothic"/>
                          <a:ea typeface="Yu Gothic"/>
                          <a:cs typeface="Yu Gothic"/>
                        </a:rPr>
                        <a:t>概略中心</a:t>
                      </a:r>
                    </a:p>
                  </a:txBody>
                  <a:tcPr marL="91440" marR="91440" marT="45720" marB="45720" anchor="ctr">
                    <a:solidFill>
                      <a:srgbClr val="FFFFFF"/>
                    </a:solidFill>
                  </a:tcPr>
                </a:tc>
                <a:tc>
                  <a:txBody>
                    <a:bodyPr wrap="square" lIns="91440" tIns="28575" rIns="91440" bIns="28575">
                      <a:normAutofit/>
                    </a:bodyPr>
                    <a:lstStyle/>
                    <a:p>
                      <a:pPr algn="ctr">
                        <a:buNone/>
                      </a:pPr>
                      <a:r>
                        <a:rPr sz="1350" b="0">
                          <a:solidFill>
                            <a:srgbClr val="16223A"/>
                          </a:solidFill>
                          <a:latin typeface="Yu Gothic"/>
                          <a:ea typeface="Yu Gothic"/>
                          <a:cs typeface="Yu Gothic"/>
                        </a:rPr>
                        <a:t>一部詳細</a:t>
                      </a:r>
                    </a:p>
                  </a:txBody>
                  <a:tcPr marL="91440" marR="91440" marT="45720" marB="45720" anchor="ctr">
                    <a:solidFill>
                      <a:srgbClr val="FFFFFF"/>
                    </a:solidFill>
                  </a:tcPr>
                </a:tc>
                <a:tc>
                  <a:txBody>
                    <a:bodyPr wrap="square" lIns="91440" tIns="28575" rIns="91440" bIns="28575">
                      <a:normAutofit/>
                    </a:bodyPr>
                    <a:lstStyle/>
                    <a:p>
                      <a:pPr algn="ctr">
                        <a:buNone/>
                      </a:pPr>
                      <a:r>
                        <a:rPr sz="1350" b="1">
                          <a:solidFill>
                            <a:srgbClr val="F52323"/>
                          </a:solidFill>
                          <a:latin typeface="Yu Gothic"/>
                          <a:ea typeface="Yu Gothic"/>
                          <a:cs typeface="Yu Gothic"/>
                        </a:rPr>
                        <a:t>優位</a:t>
                      </a:r>
                    </a:p>
                  </a:txBody>
                  <a:tcPr marL="91440" marR="91440" marT="45720" marB="45720" anchor="ctr">
                    <a:solidFill>
                      <a:srgbClr val="FFFFFF"/>
                    </a:solidFill>
                  </a:tcPr>
                </a:tc>
              </a:tr>
              <a:tr h="1009650">
                <a:tc>
                  <a:txBody>
                    <a:bodyPr wrap="square" lIns="91440" tIns="28575" rIns="91440" bIns="28575">
                      <a:normAutofit/>
                    </a:bodyPr>
                    <a:lstStyle/>
                    <a:p>
                      <a:r>
                        <a:rPr sz="1350" b="0">
                          <a:solidFill>
                            <a:srgbClr val="16223A"/>
                          </a:solidFill>
                          <a:latin typeface="Yu Gothic"/>
                          <a:ea typeface="Yu Gothic"/>
                          <a:cs typeface="Yu Gothic"/>
                        </a:rPr>
                        <a:t/>
                      </a:r>
                    </a:p>
                  </a:txBody>
                  <a:tcPr marL="91440" marR="91440" marT="45720" marB="45720" anchor="ctr">
                    <a:solidFill>
                      <a:srgbClr val="FFFFFF"/>
                    </a:solidFill>
                  </a:tcPr>
                </a:tc>
                <a:tc>
                  <a:txBody>
                    <a:bodyPr wrap="square" lIns="91440" tIns="28575" rIns="91440" bIns="28575">
                      <a:normAutofit/>
                    </a:bodyPr>
                    <a:lstStyle/>
                    <a:p>
                      <a:pPr algn="ctr">
                        <a:buNone/>
                      </a:pPr>
                      <a:r>
                        <a:rPr sz="1350" b="0">
                          <a:solidFill>
                            <a:srgbClr val="16223A"/>
                          </a:solidFill>
                          <a:latin typeface="Yu Gothic"/>
                          <a:ea typeface="Yu Gothic"/>
                          <a:cs typeface="Yu Gothic"/>
                        </a:rPr>
                        <a:t>業務支援・提案自動化</a:t>
                      </a:r>
                    </a:p>
                    <a:p>
                      <a:pPr algn="ctr">
                        <a:buNone/>
                      </a:pPr>
                      <a:r>
                        <a:rPr sz="1350" b="0">
                          <a:solidFill>
                            <a:srgbClr val="16223A"/>
                          </a:solidFill>
                          <a:latin typeface="Yu Gothic"/>
                          <a:ea typeface="Yu Gothic"/>
                          <a:cs typeface="Yu Gothic"/>
                        </a:rPr>
                        <a:t>の実績あり</a:t>
                      </a:r>
                    </a:p>
                  </a:txBody>
                  <a:tcPr marL="91440" marR="91440" marT="45720" marB="45720" anchor="ctr">
                    <a:solidFill>
                      <a:srgbClr val="FFFFFF"/>
                    </a:solidFill>
                  </a:tcPr>
                </a:tc>
                <a:tc>
                  <a:txBody>
                    <a:bodyPr wrap="square" lIns="91440" tIns="28575" rIns="91440" bIns="28575">
                      <a:normAutofit/>
                    </a:bodyPr>
                    <a:lstStyle/>
                    <a:p>
                      <a:pPr algn="ctr">
                        <a:buNone/>
                      </a:pPr>
                      <a:r>
                        <a:rPr sz="1350" b="0">
                          <a:solidFill>
                            <a:srgbClr val="16223A"/>
                          </a:solidFill>
                          <a:latin typeface="Yu Gothic"/>
                          <a:ea typeface="Yu Gothic"/>
                          <a:cs typeface="Yu Gothic"/>
                        </a:rPr>
                        <a:t>実績限定的</a:t>
                      </a:r>
                    </a:p>
                  </a:txBody>
                  <a:tcPr marL="91440" marR="91440" marT="45720" marB="45720" anchor="ctr">
                    <a:solidFill>
                      <a:srgbClr val="FFFFFF"/>
                    </a:solidFill>
                  </a:tcPr>
                </a:tc>
                <a:tc>
                  <a:txBody>
                    <a:bodyPr wrap="square" lIns="91440" tIns="28575" rIns="91440" bIns="28575">
                      <a:normAutofit/>
                    </a:bodyPr>
                    <a:lstStyle/>
                    <a:p>
                      <a:pPr algn="ctr">
                        <a:buNone/>
                      </a:pPr>
                      <a:r>
                        <a:rPr sz="1350" b="0">
                          <a:solidFill>
                            <a:srgbClr val="16223A"/>
                          </a:solidFill>
                          <a:latin typeface="Yu Gothic"/>
                          <a:ea typeface="Yu Gothic"/>
                          <a:cs typeface="Yu Gothic"/>
                        </a:rPr>
                        <a:t>PoC中心</a:t>
                      </a:r>
                    </a:p>
                  </a:txBody>
                  <a:tcPr marL="91440" marR="91440" marT="45720" marB="45720" anchor="ctr">
                    <a:solidFill>
                      <a:srgbClr val="FFFFFF"/>
                    </a:solidFill>
                  </a:tcPr>
                </a:tc>
                <a:tc>
                  <a:txBody>
                    <a:bodyPr wrap="square" lIns="91440" tIns="28575" rIns="91440" bIns="28575">
                      <a:normAutofit/>
                    </a:bodyPr>
                    <a:lstStyle/>
                    <a:p>
                      <a:pPr algn="ctr">
                        <a:buNone/>
                      </a:pPr>
                      <a:r>
                        <a:rPr sz="1350" b="1">
                          <a:solidFill>
                            <a:srgbClr val="F52323"/>
                          </a:solidFill>
                          <a:latin typeface="Yu Gothic"/>
                          <a:ea typeface="Yu Gothic"/>
                          <a:cs typeface="Yu Gothic"/>
                        </a:rPr>
                        <a:t>優位</a:t>
                      </a:r>
                    </a:p>
                  </a:txBody>
                  <a:tcPr marL="91440" marR="91440" marT="45720" marB="45720" anchor="ctr">
                    <a:solidFill>
                      <a:srgbClr val="FFFFFF"/>
                    </a:solidFill>
                  </a:tcPr>
                </a:tc>
              </a:tr>
              <a:tr h="981075">
                <a:tc>
                  <a:txBody>
                    <a:bodyPr wrap="square" lIns="91440" tIns="28575" rIns="91440" bIns="28575">
                      <a:normAutofit/>
                    </a:bodyPr>
                    <a:lstStyle/>
                    <a:p>
                      <a:r>
                        <a:rPr sz="1350" b="0">
                          <a:solidFill>
                            <a:srgbClr val="16223A"/>
                          </a:solidFill>
                          <a:latin typeface="Yu Gothic"/>
                          <a:ea typeface="Yu Gothic"/>
                          <a:cs typeface="Yu Gothic"/>
                        </a:rPr>
                        <a:t/>
                      </a:r>
                    </a:p>
                  </a:txBody>
                  <a:tcPr marL="91440" marR="91440" marT="45720" marB="45720" anchor="ctr">
                    <a:solidFill>
                      <a:srgbClr val="FFFFFF"/>
                    </a:solidFill>
                  </a:tcPr>
                </a:tc>
                <a:tc>
                  <a:txBody>
                    <a:bodyPr wrap="square" lIns="91440" tIns="28575" rIns="91440" bIns="28575">
                      <a:normAutofit/>
                    </a:bodyPr>
                    <a:lstStyle/>
                    <a:p>
                      <a:pPr algn="ctr">
                        <a:buNone/>
                      </a:pPr>
                      <a:r>
                        <a:rPr sz="1350" b="0">
                          <a:solidFill>
                            <a:srgbClr val="16223A"/>
                          </a:solidFill>
                          <a:latin typeface="Yu Gothic"/>
                          <a:ea typeface="Yu Gothic"/>
                          <a:cs typeface="Yu Gothic"/>
                        </a:rPr>
                        <a:t>改善提案・定例支援を</a:t>
                      </a:r>
                    </a:p>
                    <a:p>
                      <a:pPr algn="ctr">
                        <a:buNone/>
                      </a:pPr>
                      <a:r>
                        <a:rPr sz="1350" b="0">
                          <a:solidFill>
                            <a:srgbClr val="16223A"/>
                          </a:solidFill>
                          <a:latin typeface="Yu Gothic"/>
                          <a:ea typeface="Yu Gothic"/>
                          <a:cs typeface="Yu Gothic"/>
                        </a:rPr>
                        <a:t>含む</a:t>
                      </a:r>
                    </a:p>
                  </a:txBody>
                  <a:tcPr marL="91440" marR="91440" marT="45720" marB="45720" anchor="ctr">
                    <a:solidFill>
                      <a:srgbClr val="FFFFFF"/>
                    </a:solidFill>
                  </a:tcPr>
                </a:tc>
                <a:tc>
                  <a:txBody>
                    <a:bodyPr wrap="square" lIns="91440" tIns="28575" rIns="91440" bIns="28575">
                      <a:normAutofit/>
                    </a:bodyPr>
                    <a:lstStyle/>
                    <a:p>
                      <a:pPr algn="ctr">
                        <a:buNone/>
                      </a:pPr>
                      <a:r>
                        <a:rPr sz="1350" b="0">
                          <a:solidFill>
                            <a:srgbClr val="16223A"/>
                          </a:solidFill>
                          <a:latin typeface="Yu Gothic"/>
                          <a:ea typeface="Yu Gothic"/>
                          <a:cs typeface="Yu Gothic"/>
                        </a:rPr>
                        <a:t>導入後は</a:t>
                      </a:r>
                    </a:p>
                    <a:p>
                      <a:pPr algn="ctr">
                        <a:buNone/>
                      </a:pPr>
                      <a:r>
                        <a:rPr sz="1350" b="0">
                          <a:solidFill>
                            <a:srgbClr val="16223A"/>
                          </a:solidFill>
                          <a:latin typeface="Yu Gothic"/>
                          <a:ea typeface="Yu Gothic"/>
                          <a:cs typeface="Yu Gothic"/>
                        </a:rPr>
                        <a:t>限定対応</a:t>
                      </a:r>
                    </a:p>
                  </a:txBody>
                  <a:tcPr marL="91440" marR="91440" marT="45720" marB="45720" anchor="ctr">
                    <a:solidFill>
                      <a:srgbClr val="FFFFFF"/>
                    </a:solidFill>
                  </a:tcPr>
                </a:tc>
                <a:tc>
                  <a:txBody>
                    <a:bodyPr wrap="square" lIns="91440" tIns="28575" rIns="91440" bIns="28575">
                      <a:normAutofit/>
                    </a:bodyPr>
                    <a:lstStyle/>
                    <a:p>
                      <a:pPr algn="ctr">
                        <a:buNone/>
                      </a:pPr>
                      <a:r>
                        <a:rPr sz="1350" b="0">
                          <a:solidFill>
                            <a:srgbClr val="16223A"/>
                          </a:solidFill>
                          <a:latin typeface="Yu Gothic"/>
                          <a:ea typeface="Yu Gothic"/>
                          <a:cs typeface="Yu Gothic"/>
                        </a:rPr>
                        <a:t>別契約</a:t>
                      </a:r>
                    </a:p>
                  </a:txBody>
                  <a:tcPr marL="91440" marR="91440" marT="45720" marB="45720" anchor="ctr">
                    <a:solidFill>
                      <a:srgbClr val="FFFFFF"/>
                    </a:solidFill>
                  </a:tcPr>
                </a:tc>
                <a:tc>
                  <a:txBody>
                    <a:bodyPr wrap="square" lIns="91440" tIns="28575" rIns="91440" bIns="28575">
                      <a:normAutofit/>
                    </a:bodyPr>
                    <a:lstStyle/>
                    <a:p>
                      <a:pPr algn="ctr">
                        <a:buNone/>
                      </a:pPr>
                      <a:r>
                        <a:rPr sz="1350" b="1">
                          <a:solidFill>
                            <a:srgbClr val="F52323"/>
                          </a:solidFill>
                          <a:latin typeface="Yu Gothic"/>
                          <a:ea typeface="Yu Gothic"/>
                          <a:cs typeface="Yu Gothic"/>
                        </a:rPr>
                        <a:t>優位</a:t>
                      </a:r>
                    </a:p>
                  </a:txBody>
                  <a:tcPr marL="91440" marR="91440" marT="45720" marB="45720" anchor="ctr">
                    <a:solidFill>
                      <a:srgbClr val="FFFFFF"/>
                    </a:solidFill>
                  </a:tcPr>
                </a:tc>
              </a:tr>
              <a:tr h="981075">
                <a:tc>
                  <a:txBody>
                    <a:bodyPr wrap="square" lIns="91440" tIns="28575" rIns="91440" bIns="28575">
                      <a:normAutofit/>
                    </a:bodyPr>
                    <a:lstStyle/>
                    <a:p>
                      <a:r>
                        <a:rPr sz="1350" b="0">
                          <a:solidFill>
                            <a:srgbClr val="16223A"/>
                          </a:solidFill>
                          <a:latin typeface="Yu Gothic"/>
                          <a:ea typeface="Yu Gothic"/>
                          <a:cs typeface="Yu Gothic"/>
                        </a:rPr>
                        <a:t/>
                      </a:r>
                    </a:p>
                  </a:txBody>
                  <a:tcPr marL="91440" marR="91440" marT="45720" marB="45720" anchor="ctr">
                    <a:solidFill>
                      <a:srgbClr val="FFFFFF"/>
                    </a:solidFill>
                  </a:tcPr>
                </a:tc>
                <a:tc>
                  <a:txBody>
                    <a:bodyPr wrap="square" lIns="91440" tIns="28575" rIns="91440" bIns="28575">
                      <a:normAutofit/>
                    </a:bodyPr>
                    <a:lstStyle/>
                    <a:p>
                      <a:pPr algn="ctr">
                        <a:buNone/>
                      </a:pPr>
                      <a:r>
                        <a:rPr sz="1350" b="0">
                          <a:solidFill>
                            <a:srgbClr val="16223A"/>
                          </a:solidFill>
                          <a:latin typeface="Yu Gothic"/>
                          <a:ea typeface="Yu Gothic"/>
                          <a:cs typeface="Yu Gothic"/>
                        </a:rPr>
                        <a:t>工程別に概算と前提を</a:t>
                      </a:r>
                    </a:p>
                    <a:p>
                      <a:pPr algn="ctr">
                        <a:buNone/>
                      </a:pPr>
                      <a:r>
                        <a:rPr sz="1350" b="0">
                          <a:solidFill>
                            <a:srgbClr val="16223A"/>
                          </a:solidFill>
                          <a:latin typeface="Yu Gothic"/>
                          <a:ea typeface="Yu Gothic"/>
                          <a:cs typeface="Yu Gothic"/>
                        </a:rPr>
                        <a:t>明示</a:t>
                      </a:r>
                    </a:p>
                  </a:txBody>
                  <a:tcPr marL="91440" marR="91440" marT="45720" marB="45720" anchor="ctr">
                    <a:solidFill>
                      <a:srgbClr val="FFFFFF"/>
                    </a:solidFill>
                  </a:tcPr>
                </a:tc>
                <a:tc>
                  <a:txBody>
                    <a:bodyPr wrap="square" lIns="91440" tIns="28575" rIns="91440" bIns="28575">
                      <a:normAutofit/>
                    </a:bodyPr>
                    <a:lstStyle/>
                    <a:p>
                      <a:pPr algn="ctr">
                        <a:buNone/>
                      </a:pPr>
                      <a:r>
                        <a:rPr sz="1350" b="0">
                          <a:solidFill>
                            <a:srgbClr val="16223A"/>
                          </a:solidFill>
                          <a:latin typeface="Yu Gothic"/>
                          <a:ea typeface="Yu Gothic"/>
                          <a:cs typeface="Yu Gothic"/>
                        </a:rPr>
                        <a:t>見積粒度が粗い</a:t>
                      </a:r>
                    </a:p>
                  </a:txBody>
                  <a:tcPr marL="91440" marR="91440" marT="45720" marB="45720" anchor="ctr">
                    <a:solidFill>
                      <a:srgbClr val="FFFFFF"/>
                    </a:solidFill>
                  </a:tcPr>
                </a:tc>
                <a:tc>
                  <a:txBody>
                    <a:bodyPr wrap="square" lIns="91440" tIns="28575" rIns="91440" bIns="28575">
                      <a:normAutofit/>
                    </a:bodyPr>
                    <a:lstStyle/>
                    <a:p>
                      <a:pPr algn="ctr">
                        <a:buNone/>
                      </a:pPr>
                      <a:r>
                        <a:rPr sz="1350" b="0">
                          <a:solidFill>
                            <a:srgbClr val="16223A"/>
                          </a:solidFill>
                          <a:latin typeface="Yu Gothic"/>
                          <a:ea typeface="Yu Gothic"/>
                          <a:cs typeface="Yu Gothic"/>
                        </a:rPr>
                        <a:t>追加費用条件</a:t>
                      </a:r>
                    </a:p>
                    <a:p>
                      <a:pPr algn="ctr">
                        <a:buNone/>
                      </a:pPr>
                      <a:r>
                        <a:rPr sz="1350" b="0">
                          <a:solidFill>
                            <a:srgbClr val="16223A"/>
                          </a:solidFill>
                          <a:latin typeface="Yu Gothic"/>
                          <a:ea typeface="Yu Gothic"/>
                          <a:cs typeface="Yu Gothic"/>
                        </a:rPr>
                        <a:t>が多い</a:t>
                      </a:r>
                    </a:p>
                  </a:txBody>
                  <a:tcPr marL="91440" marR="91440" marT="45720" marB="45720" anchor="ctr">
                    <a:solidFill>
                      <a:srgbClr val="FFFFFF"/>
                    </a:solidFill>
                  </a:tcPr>
                </a:tc>
                <a:tc>
                  <a:txBody>
                    <a:bodyPr wrap="square" lIns="91440" tIns="28575" rIns="91440" bIns="28575">
                      <a:normAutofit/>
                    </a:bodyPr>
                    <a:lstStyle/>
                    <a:p>
                      <a:pPr algn="ctr">
                        <a:buNone/>
                      </a:pPr>
                      <a:r>
                        <a:rPr sz="1350" b="1">
                          <a:solidFill>
                            <a:srgbClr val="F52323"/>
                          </a:solidFill>
                          <a:latin typeface="Yu Gothic"/>
                          <a:ea typeface="Yu Gothic"/>
                          <a:cs typeface="Yu Gothic"/>
                        </a:rPr>
                        <a:t>優位</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F6DC54A7-C1AF-4BCF-BC87-608E2FA7CBAC}"/>
              </a:ext>
            </a:extLst>
          </p:cNvPr>
          <p:cNvSpPr>
            <a:spLocks xmlns:a="http://schemas.openxmlformats.org/drawingml/2006/main" noGrp="1"/>
          </p:cNvSpPr>
          <p:nvPr/>
        </p:nvSpPr>
        <p:spPr>
          <a:xfrm xmlns:a="http://schemas.openxmlformats.org/drawingml/2006/main">
            <a:off x="457200" y="2586038"/>
            <a:ext cx="685800" cy="685800"/>
          </a:xfrm>
          <a:prstGeom xmlns:a="http://schemas.openxmlformats.org/drawingml/2006/main" prst="ellipse">
            <a:avLst/>
          </a:prstGeom>
          <a:solidFill xmlns:a="http://schemas.openxmlformats.org/drawingml/2006/main">
            <a:srgbClr val="FDE7E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6F90144-46FD-431F-88B2-7312227DA87A}"/>
              </a:ext>
            </a:extLst>
          </p:cNvPr>
          <p:cNvSpPr>
            <a:spLocks xmlns:a="http://schemas.openxmlformats.org/drawingml/2006/main" noGrp="1"/>
          </p:cNvSpPr>
          <p:nvPr/>
        </p:nvSpPr>
        <p:spPr>
          <a:xfrm xmlns:a="http://schemas.openxmlformats.org/drawingml/2006/main">
            <a:off x="457200" y="3557588"/>
            <a:ext cx="685800" cy="685800"/>
          </a:xfrm>
          <a:prstGeom xmlns:a="http://schemas.openxmlformats.org/drawingml/2006/main" prst="ellipse">
            <a:avLst/>
          </a:prstGeom>
          <a:solidFill xmlns:a="http://schemas.openxmlformats.org/drawingml/2006/main">
            <a:srgbClr val="FDE7E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F1E2382-62CF-4280-9A54-76C7DBB5DF3F}"/>
              </a:ext>
            </a:extLst>
          </p:cNvPr>
          <p:cNvSpPr>
            <a:spLocks xmlns:a="http://schemas.openxmlformats.org/drawingml/2006/main" noGrp="1"/>
          </p:cNvSpPr>
          <p:nvPr/>
        </p:nvSpPr>
        <p:spPr>
          <a:xfrm xmlns:a="http://schemas.openxmlformats.org/drawingml/2006/main">
            <a:off x="457200" y="4552950"/>
            <a:ext cx="685800" cy="685800"/>
          </a:xfrm>
          <a:prstGeom xmlns:a="http://schemas.openxmlformats.org/drawingml/2006/main" prst="ellipse">
            <a:avLst/>
          </a:prstGeom>
          <a:solidFill xmlns:a="http://schemas.openxmlformats.org/drawingml/2006/main">
            <a:srgbClr val="FDE7E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C845BC5-53C9-4A9C-B6B6-DBB1F89F6807}"/>
              </a:ext>
            </a:extLst>
          </p:cNvPr>
          <p:cNvSpPr>
            <a:spLocks xmlns:a="http://schemas.openxmlformats.org/drawingml/2006/main" noGrp="1"/>
          </p:cNvSpPr>
          <p:nvPr/>
        </p:nvSpPr>
        <p:spPr>
          <a:xfrm xmlns:a="http://schemas.openxmlformats.org/drawingml/2006/main">
            <a:off x="457200" y="5548313"/>
            <a:ext cx="685800" cy="685800"/>
          </a:xfrm>
          <a:prstGeom xmlns:a="http://schemas.openxmlformats.org/drawingml/2006/main" prst="ellipse">
            <a:avLst/>
          </a:prstGeom>
          <a:solidFill xmlns:a="http://schemas.openxmlformats.org/drawingml/2006/main">
            <a:srgbClr val="FDE7E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516A133-9324-40B2-A7EF-18A62635EFE9}"/>
              </a:ext>
            </a:extLst>
          </p:cNvPr>
          <p:cNvSpPr>
            <a:spLocks xmlns:a="http://schemas.openxmlformats.org/drawingml/2006/main" noGrp="1"/>
          </p:cNvSpPr>
          <p:nvPr/>
        </p:nvSpPr>
        <p:spPr>
          <a:xfrm xmlns:a="http://schemas.openxmlformats.org/drawingml/2006/main">
            <a:off x="457200" y="6529388"/>
            <a:ext cx="685800" cy="685800"/>
          </a:xfrm>
          <a:prstGeom xmlns:a="http://schemas.openxmlformats.org/drawingml/2006/main" prst="ellipse">
            <a:avLst/>
          </a:prstGeom>
          <a:solidFill xmlns:a="http://schemas.openxmlformats.org/drawingml/2006/main">
            <a:srgbClr val="FDE7E7"/>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3CCA83E-8489-466C-8DA4-B2603292419B}"/>
              </a:ext>
            </a:extLst>
          </p:cNvPr>
          <p:cNvSpPr>
            <a:spLocks xmlns:a="http://schemas.openxmlformats.org/drawingml/2006/main" noGrp="1"/>
          </p:cNvSpPr>
          <p:nvPr/>
        </p:nvSpPr>
        <p:spPr>
          <a:xfrm xmlns:a="http://schemas.openxmlformats.org/drawingml/2006/main">
            <a:off x="619125" y="2747963"/>
            <a:ext cx="361950" cy="361950"/>
          </a:xfrm>
          <a:prstGeom xmlns:a="http://schemas.openxmlformats.org/drawingml/2006/main" prst="ellipse">
            <a:avLst/>
          </a:prstGeom>
          <a:noFill xmlns:a="http://schemas.openxmlformats.org/drawingml/2006/main"/>
          <a:ln xmlns:a="http://schemas.openxmlformats.org/drawingml/2006/main" w="38100">
            <a:solidFill>
              <a:srgbClr val="111111"/>
            </a:solidFill>
            <a:prstDash val="solid"/>
          </a:ln>
        </p:spPr>
      </p:sp>
      <p:sp>
        <p:nvSpPr>
          <p:cNvPr id="16" name="">
            <a:extLst xmlns:a="http://schemas.openxmlformats.org/drawingml/2006/main">
              <a:ext uri="{FF2B5EF4-FFF2-40B4-BE49-F238E27FC236}">
                <a16:creationId xmlns:a16="http://schemas.microsoft.com/office/drawing/2014/main" id="{29441696-9030-4F70-9E0A-C0A18288ACD3}"/>
              </a:ext>
            </a:extLst>
          </p:cNvPr>
          <p:cNvSpPr>
            <a:spLocks xmlns:a="http://schemas.openxmlformats.org/drawingml/2006/main" noGrp="1"/>
          </p:cNvSpPr>
          <p:nvPr/>
        </p:nvSpPr>
        <p:spPr>
          <a:xfrm xmlns:a="http://schemas.openxmlformats.org/drawingml/2006/main">
            <a:off x="800100" y="2928938"/>
            <a:ext cx="0" cy="0"/>
          </a:xfrm>
          <a:prstGeom xmlns:a="http://schemas.openxmlformats.org/drawingml/2006/main" prst="line">
            <a:avLst/>
          </a:prstGeom>
          <a:noFill xmlns:a="http://schemas.openxmlformats.org/drawingml/2006/main"/>
          <a:ln xmlns:a="http://schemas.openxmlformats.org/drawingml/2006/main" w="38100">
            <a:solidFill>
              <a:srgbClr val="111111"/>
            </a:solidFill>
            <a:prstDash val="solid"/>
          </a:ln>
        </p:spPr>
      </p:sp>
      <p:sp>
        <p:nvSpPr>
          <p:cNvPr id="17" name="">
            <a:extLst xmlns:a="http://schemas.openxmlformats.org/drawingml/2006/main">
              <a:ext uri="{FF2B5EF4-FFF2-40B4-BE49-F238E27FC236}">
                <a16:creationId xmlns:a16="http://schemas.microsoft.com/office/drawing/2014/main" id="{7F245926-6364-49B3-AAD2-9068DC05BF05}"/>
              </a:ext>
            </a:extLst>
          </p:cNvPr>
          <p:cNvSpPr>
            <a:spLocks xmlns:a="http://schemas.openxmlformats.org/drawingml/2006/main" noGrp="1"/>
          </p:cNvSpPr>
          <p:nvPr/>
        </p:nvSpPr>
        <p:spPr>
          <a:xfrm xmlns:a="http://schemas.openxmlformats.org/drawingml/2006/main">
            <a:off x="800100" y="2928938"/>
            <a:ext cx="95250" cy="57150"/>
          </a:xfrm>
          <a:prstGeom xmlns:a="http://schemas.openxmlformats.org/drawingml/2006/main" prst="line">
            <a:avLst/>
          </a:prstGeom>
          <a:noFill xmlns:a="http://schemas.openxmlformats.org/drawingml/2006/main"/>
          <a:ln xmlns:a="http://schemas.openxmlformats.org/drawingml/2006/main" w="38100">
            <a:solidFill>
              <a:srgbClr val="111111"/>
            </a:solidFill>
            <a:prstDash val="solid"/>
          </a:ln>
        </p:spPr>
      </p:sp>
      <p:sp>
        <p:nvSpPr>
          <p:cNvPr id="18" name="">
            <a:extLst xmlns:a="http://schemas.openxmlformats.org/drawingml/2006/main">
              <a:ext uri="{FF2B5EF4-FFF2-40B4-BE49-F238E27FC236}">
                <a16:creationId xmlns:a16="http://schemas.microsoft.com/office/drawing/2014/main" id="{E3AB1A90-3AE1-48B1-BDA1-CDC7361984C6}"/>
              </a:ext>
            </a:extLst>
          </p:cNvPr>
          <p:cNvSpPr>
            <a:spLocks xmlns:a="http://schemas.openxmlformats.org/drawingml/2006/main" noGrp="1"/>
          </p:cNvSpPr>
          <p:nvPr/>
        </p:nvSpPr>
        <p:spPr>
          <a:xfrm xmlns:a="http://schemas.openxmlformats.org/drawingml/2006/main">
            <a:off x="776288" y="2905125"/>
            <a:ext cx="47625" cy="47625"/>
          </a:xfrm>
          <a:prstGeom xmlns:a="http://schemas.openxmlformats.org/drawingml/2006/main" prst="ellipse">
            <a:avLst/>
          </a:prstGeom>
          <a:solidFill xmlns:a="http://schemas.openxmlformats.org/drawingml/2006/main">
            <a:srgbClr val="11111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F5C32BF-9B9A-477A-A80F-B35737FF4D98}"/>
              </a:ext>
            </a:extLst>
          </p:cNvPr>
          <p:cNvSpPr>
            <a:spLocks xmlns:a="http://schemas.openxmlformats.org/drawingml/2006/main" noGrp="1"/>
          </p:cNvSpPr>
          <p:nvPr/>
        </p:nvSpPr>
        <p:spPr>
          <a:xfrm xmlns:a="http://schemas.openxmlformats.org/drawingml/2006/main">
            <a:off x="675132" y="3736467"/>
            <a:ext cx="249936" cy="328041"/>
          </a:xfrm>
          <a:prstGeom xmlns:a="http://schemas.openxmlformats.org/drawingml/2006/main" prst="rect">
            <a:avLst/>
          </a:prstGeom>
          <a:noFill xmlns:a="http://schemas.openxmlformats.org/drawingml/2006/main"/>
          <a:ln xmlns:a="http://schemas.openxmlformats.org/drawingml/2006/main" w="23432">
            <a:solidFill>
              <a:srgbClr val="111111"/>
            </a:solidFill>
            <a:prstDash val="solid"/>
          </a:ln>
        </p:spPr>
      </p:sp>
      <p:sp>
        <p:nvSpPr>
          <p:cNvPr id="20" name="">
            <a:extLst xmlns:a="http://schemas.openxmlformats.org/drawingml/2006/main">
              <a:ext uri="{FF2B5EF4-FFF2-40B4-BE49-F238E27FC236}">
                <a16:creationId xmlns:a16="http://schemas.microsoft.com/office/drawing/2014/main" id="{ADDBBE1B-2057-46F6-9999-EC60378F4741}"/>
              </a:ext>
            </a:extLst>
          </p:cNvPr>
          <p:cNvSpPr>
            <a:spLocks xmlns:a="http://schemas.openxmlformats.org/drawingml/2006/main" noGrp="1"/>
          </p:cNvSpPr>
          <p:nvPr/>
        </p:nvSpPr>
        <p:spPr>
          <a:xfrm xmlns:a="http://schemas.openxmlformats.org/drawingml/2006/main">
            <a:off x="830092" y="3736467"/>
            <a:ext cx="94976" cy="94976"/>
          </a:xfrm>
          <a:prstGeom xmlns:a="http://schemas.openxmlformats.org/drawingml/2006/main" prst="line">
            <a:avLst/>
          </a:prstGeom>
          <a:noFill xmlns:a="http://schemas.openxmlformats.org/drawingml/2006/main"/>
          <a:ln xmlns:a="http://schemas.openxmlformats.org/drawingml/2006/main" w="23432">
            <a:solidFill>
              <a:srgbClr val="111111"/>
            </a:solidFill>
            <a:prstDash val="solid"/>
          </a:ln>
        </p:spPr>
      </p:sp>
      <p:sp>
        <p:nvSpPr>
          <p:cNvPr id="21" name="">
            <a:extLst xmlns:a="http://schemas.openxmlformats.org/drawingml/2006/main">
              <a:ext uri="{FF2B5EF4-FFF2-40B4-BE49-F238E27FC236}">
                <a16:creationId xmlns:a16="http://schemas.microsoft.com/office/drawing/2014/main" id="{5ECFD7B3-8229-4FD8-9CD7-5691269A92E2}"/>
              </a:ext>
            </a:extLst>
          </p:cNvPr>
          <p:cNvSpPr>
            <a:spLocks xmlns:a="http://schemas.openxmlformats.org/drawingml/2006/main" noGrp="1"/>
          </p:cNvSpPr>
          <p:nvPr/>
        </p:nvSpPr>
        <p:spPr>
          <a:xfrm xmlns:a="http://schemas.openxmlformats.org/drawingml/2006/main">
            <a:off x="830092" y="3736467"/>
            <a:ext cx="0" cy="94976"/>
          </a:xfrm>
          <a:prstGeom xmlns:a="http://schemas.openxmlformats.org/drawingml/2006/main" prst="line">
            <a:avLst/>
          </a:prstGeom>
          <a:noFill xmlns:a="http://schemas.openxmlformats.org/drawingml/2006/main"/>
          <a:ln xmlns:a="http://schemas.openxmlformats.org/drawingml/2006/main" w="23432">
            <a:solidFill>
              <a:srgbClr val="111111"/>
            </a:solidFill>
            <a:prstDash val="solid"/>
          </a:ln>
        </p:spPr>
      </p:sp>
      <p:sp>
        <p:nvSpPr>
          <p:cNvPr id="22" name="">
            <a:extLst xmlns:a="http://schemas.openxmlformats.org/drawingml/2006/main">
              <a:ext uri="{FF2B5EF4-FFF2-40B4-BE49-F238E27FC236}">
                <a16:creationId xmlns:a16="http://schemas.microsoft.com/office/drawing/2014/main" id="{1B049EB4-150B-4DAF-B1E4-0A63D56A86FE}"/>
              </a:ext>
            </a:extLst>
          </p:cNvPr>
          <p:cNvSpPr>
            <a:spLocks xmlns:a="http://schemas.openxmlformats.org/drawingml/2006/main" noGrp="1"/>
          </p:cNvSpPr>
          <p:nvPr/>
        </p:nvSpPr>
        <p:spPr>
          <a:xfrm xmlns:a="http://schemas.openxmlformats.org/drawingml/2006/main">
            <a:off x="830092" y="3831443"/>
            <a:ext cx="94976" cy="0"/>
          </a:xfrm>
          <a:prstGeom xmlns:a="http://schemas.openxmlformats.org/drawingml/2006/main" prst="line">
            <a:avLst/>
          </a:prstGeom>
          <a:noFill xmlns:a="http://schemas.openxmlformats.org/drawingml/2006/main"/>
          <a:ln xmlns:a="http://schemas.openxmlformats.org/drawingml/2006/main" w="23432">
            <a:solidFill>
              <a:srgbClr val="111111"/>
            </a:solidFill>
            <a:prstDash val="solid"/>
          </a:ln>
        </p:spPr>
      </p:sp>
      <p:sp>
        <p:nvSpPr>
          <p:cNvPr id="23" name="">
            <a:extLst xmlns:a="http://schemas.openxmlformats.org/drawingml/2006/main">
              <a:ext uri="{FF2B5EF4-FFF2-40B4-BE49-F238E27FC236}">
                <a16:creationId xmlns:a16="http://schemas.microsoft.com/office/drawing/2014/main" id="{EDD8A79D-6ABF-4B02-A9FB-17E6E850229E}"/>
              </a:ext>
            </a:extLst>
          </p:cNvPr>
          <p:cNvSpPr>
            <a:spLocks xmlns:a="http://schemas.openxmlformats.org/drawingml/2006/main" noGrp="1"/>
          </p:cNvSpPr>
          <p:nvPr/>
        </p:nvSpPr>
        <p:spPr>
          <a:xfrm xmlns:a="http://schemas.openxmlformats.org/drawingml/2006/main">
            <a:off x="732617" y="3939852"/>
            <a:ext cx="137465" cy="0"/>
          </a:xfrm>
          <a:prstGeom xmlns:a="http://schemas.openxmlformats.org/drawingml/2006/main" prst="line">
            <a:avLst/>
          </a:prstGeom>
          <a:noFill xmlns:a="http://schemas.openxmlformats.org/drawingml/2006/main"/>
          <a:ln xmlns:a="http://schemas.openxmlformats.org/drawingml/2006/main" w="23432">
            <a:solidFill>
              <a:srgbClr val="111111"/>
            </a:solidFill>
            <a:prstDash val="solid"/>
          </a:ln>
        </p:spPr>
      </p:sp>
      <p:sp>
        <p:nvSpPr>
          <p:cNvPr id="24" name="">
            <a:extLst xmlns:a="http://schemas.openxmlformats.org/drawingml/2006/main">
              <a:ext uri="{FF2B5EF4-FFF2-40B4-BE49-F238E27FC236}">
                <a16:creationId xmlns:a16="http://schemas.microsoft.com/office/drawing/2014/main" id="{A53D66D5-6290-4BFB-B281-CB2107FB4251}"/>
              </a:ext>
            </a:extLst>
          </p:cNvPr>
          <p:cNvSpPr>
            <a:spLocks xmlns:a="http://schemas.openxmlformats.org/drawingml/2006/main" noGrp="1"/>
          </p:cNvSpPr>
          <p:nvPr/>
        </p:nvSpPr>
        <p:spPr>
          <a:xfrm xmlns:a="http://schemas.openxmlformats.org/drawingml/2006/main">
            <a:off x="732617" y="3992339"/>
            <a:ext cx="137465" cy="0"/>
          </a:xfrm>
          <a:prstGeom xmlns:a="http://schemas.openxmlformats.org/drawingml/2006/main" prst="line">
            <a:avLst/>
          </a:prstGeom>
          <a:noFill xmlns:a="http://schemas.openxmlformats.org/drawingml/2006/main"/>
          <a:ln xmlns:a="http://schemas.openxmlformats.org/drawingml/2006/main" w="23432">
            <a:solidFill>
              <a:srgbClr val="111111"/>
            </a:solidFill>
            <a:prstDash val="solid"/>
          </a:ln>
        </p:spPr>
      </p:sp>
      <p:sp>
        <p:nvSpPr>
          <p:cNvPr id="25" name="">
            <a:extLst xmlns:a="http://schemas.openxmlformats.org/drawingml/2006/main">
              <a:ext uri="{FF2B5EF4-FFF2-40B4-BE49-F238E27FC236}">
                <a16:creationId xmlns:a16="http://schemas.microsoft.com/office/drawing/2014/main" id="{88E521C0-3666-4D8C-8054-FD90B6F66646}"/>
              </a:ext>
            </a:extLst>
          </p:cNvPr>
          <p:cNvSpPr>
            <a:spLocks xmlns:a="http://schemas.openxmlformats.org/drawingml/2006/main" noGrp="1"/>
          </p:cNvSpPr>
          <p:nvPr/>
        </p:nvSpPr>
        <p:spPr>
          <a:xfrm xmlns:a="http://schemas.openxmlformats.org/drawingml/2006/main">
            <a:off x="600075" y="5086350"/>
            <a:ext cx="0" cy="0"/>
          </a:xfrm>
          <a:prstGeom xmlns:a="http://schemas.openxmlformats.org/drawingml/2006/main" prst="line">
            <a:avLst/>
          </a:prstGeom>
          <a:noFill xmlns:a="http://schemas.openxmlformats.org/drawingml/2006/main"/>
          <a:ln xmlns:a="http://schemas.openxmlformats.org/drawingml/2006/main" w="38100">
            <a:solidFill>
              <a:srgbClr val="111111"/>
            </a:solidFill>
            <a:prstDash val="solid"/>
          </a:ln>
        </p:spPr>
      </p:sp>
      <p:sp>
        <p:nvSpPr>
          <p:cNvPr id="26" name="">
            <a:extLst xmlns:a="http://schemas.openxmlformats.org/drawingml/2006/main">
              <a:ext uri="{FF2B5EF4-FFF2-40B4-BE49-F238E27FC236}">
                <a16:creationId xmlns:a16="http://schemas.microsoft.com/office/drawing/2014/main" id="{C164F501-27E9-4D99-96FD-1D23DA4957BC}"/>
              </a:ext>
            </a:extLst>
          </p:cNvPr>
          <p:cNvSpPr>
            <a:spLocks xmlns:a="http://schemas.openxmlformats.org/drawingml/2006/main" noGrp="1"/>
          </p:cNvSpPr>
          <p:nvPr/>
        </p:nvSpPr>
        <p:spPr>
          <a:xfrm xmlns:a="http://schemas.openxmlformats.org/drawingml/2006/main">
            <a:off x="600075" y="5086350"/>
            <a:ext cx="428625" cy="0"/>
          </a:xfrm>
          <a:prstGeom xmlns:a="http://schemas.openxmlformats.org/drawingml/2006/main" prst="line">
            <a:avLst/>
          </a:prstGeom>
          <a:noFill xmlns:a="http://schemas.openxmlformats.org/drawingml/2006/main"/>
          <a:ln xmlns:a="http://schemas.openxmlformats.org/drawingml/2006/main" w="38100">
            <a:solidFill>
              <a:srgbClr val="111111"/>
            </a:solidFill>
            <a:prstDash val="solid"/>
          </a:ln>
        </p:spPr>
      </p:sp>
      <p:sp>
        <p:nvSpPr>
          <p:cNvPr id="27" name="">
            <a:extLst xmlns:a="http://schemas.openxmlformats.org/drawingml/2006/main">
              <a:ext uri="{FF2B5EF4-FFF2-40B4-BE49-F238E27FC236}">
                <a16:creationId xmlns:a16="http://schemas.microsoft.com/office/drawing/2014/main" id="{25BA7DCD-D632-496D-B8C4-F140A4598C8E}"/>
              </a:ext>
            </a:extLst>
          </p:cNvPr>
          <p:cNvSpPr>
            <a:spLocks xmlns:a="http://schemas.openxmlformats.org/drawingml/2006/main" noGrp="1"/>
          </p:cNvSpPr>
          <p:nvPr/>
        </p:nvSpPr>
        <p:spPr>
          <a:xfrm xmlns:a="http://schemas.openxmlformats.org/drawingml/2006/main">
            <a:off x="676275" y="4905375"/>
            <a:ext cx="85725" cy="180975"/>
          </a:xfrm>
          <a:prstGeom xmlns:a="http://schemas.openxmlformats.org/drawingml/2006/main" prst="rect">
            <a:avLst/>
          </a:prstGeom>
          <a:noFill xmlns:a="http://schemas.openxmlformats.org/drawingml/2006/main"/>
          <a:ln xmlns:a="http://schemas.openxmlformats.org/drawingml/2006/main" w="38100">
            <a:solidFill>
              <a:srgbClr val="111111"/>
            </a:solidFill>
            <a:prstDash val="solid"/>
          </a:ln>
        </p:spPr>
      </p:sp>
      <p:sp>
        <p:nvSpPr>
          <p:cNvPr id="28" name="">
            <a:extLst xmlns:a="http://schemas.openxmlformats.org/drawingml/2006/main">
              <a:ext uri="{FF2B5EF4-FFF2-40B4-BE49-F238E27FC236}">
                <a16:creationId xmlns:a16="http://schemas.microsoft.com/office/drawing/2014/main" id="{3872C246-9B20-470C-A925-BB4459DF7874}"/>
              </a:ext>
            </a:extLst>
          </p:cNvPr>
          <p:cNvSpPr>
            <a:spLocks xmlns:a="http://schemas.openxmlformats.org/drawingml/2006/main" noGrp="1"/>
          </p:cNvSpPr>
          <p:nvPr/>
        </p:nvSpPr>
        <p:spPr>
          <a:xfrm xmlns:a="http://schemas.openxmlformats.org/drawingml/2006/main">
            <a:off x="809625" y="4781550"/>
            <a:ext cx="85725" cy="314325"/>
          </a:xfrm>
          <a:prstGeom xmlns:a="http://schemas.openxmlformats.org/drawingml/2006/main" prst="rect">
            <a:avLst/>
          </a:prstGeom>
          <a:noFill xmlns:a="http://schemas.openxmlformats.org/drawingml/2006/main"/>
          <a:ln xmlns:a="http://schemas.openxmlformats.org/drawingml/2006/main" w="38100">
            <a:solidFill>
              <a:srgbClr val="111111"/>
            </a:solidFill>
            <a:prstDash val="solid"/>
          </a:ln>
        </p:spPr>
      </p:sp>
      <p:sp>
        <p:nvSpPr>
          <p:cNvPr id="29" name="">
            <a:extLst xmlns:a="http://schemas.openxmlformats.org/drawingml/2006/main">
              <a:ext uri="{FF2B5EF4-FFF2-40B4-BE49-F238E27FC236}">
                <a16:creationId xmlns:a16="http://schemas.microsoft.com/office/drawing/2014/main" id="{1A48E294-E37E-46E0-9E36-2935550B6DAF}"/>
              </a:ext>
            </a:extLst>
          </p:cNvPr>
          <p:cNvSpPr>
            <a:spLocks xmlns:a="http://schemas.openxmlformats.org/drawingml/2006/main" noGrp="1"/>
          </p:cNvSpPr>
          <p:nvPr/>
        </p:nvSpPr>
        <p:spPr>
          <a:xfrm xmlns:a="http://schemas.openxmlformats.org/drawingml/2006/main">
            <a:off x="942975" y="4629150"/>
            <a:ext cx="85725" cy="466725"/>
          </a:xfrm>
          <a:prstGeom xmlns:a="http://schemas.openxmlformats.org/drawingml/2006/main" prst="rect">
            <a:avLst/>
          </a:prstGeom>
          <a:noFill xmlns:a="http://schemas.openxmlformats.org/drawingml/2006/main"/>
          <a:ln xmlns:a="http://schemas.openxmlformats.org/drawingml/2006/main" w="38100">
            <a:solidFill>
              <a:srgbClr val="111111"/>
            </a:solidFill>
            <a:prstDash val="solid"/>
          </a:ln>
        </p:spPr>
      </p:sp>
      <p:sp>
        <p:nvSpPr>
          <p:cNvPr id="30" name="">
            <a:extLst xmlns:a="http://schemas.openxmlformats.org/drawingml/2006/main">
              <a:ext uri="{FF2B5EF4-FFF2-40B4-BE49-F238E27FC236}">
                <a16:creationId xmlns:a16="http://schemas.microsoft.com/office/drawing/2014/main" id="{B7545A0A-ECCC-4B0D-BA3E-C5C5F94733C3}"/>
              </a:ext>
            </a:extLst>
          </p:cNvPr>
          <p:cNvSpPr>
            <a:spLocks xmlns:a="http://schemas.openxmlformats.org/drawingml/2006/main" noGrp="1"/>
          </p:cNvSpPr>
          <p:nvPr/>
        </p:nvSpPr>
        <p:spPr>
          <a:xfrm xmlns:a="http://schemas.openxmlformats.org/drawingml/2006/main">
            <a:off x="742950" y="5700713"/>
            <a:ext cx="114300" cy="114300"/>
          </a:xfrm>
          <a:prstGeom xmlns:a="http://schemas.openxmlformats.org/drawingml/2006/main" prst="ellipse">
            <a:avLst/>
          </a:prstGeom>
          <a:noFill xmlns:a="http://schemas.openxmlformats.org/drawingml/2006/main"/>
          <a:ln xmlns:a="http://schemas.openxmlformats.org/drawingml/2006/main" w="28575">
            <a:solidFill>
              <a:srgbClr val="111111"/>
            </a:solidFill>
            <a:prstDash val="solid"/>
          </a:ln>
        </p:spPr>
      </p:sp>
      <p:sp>
        <p:nvSpPr>
          <p:cNvPr id="31" name="">
            <a:extLst xmlns:a="http://schemas.openxmlformats.org/drawingml/2006/main">
              <a:ext uri="{FF2B5EF4-FFF2-40B4-BE49-F238E27FC236}">
                <a16:creationId xmlns:a16="http://schemas.microsoft.com/office/drawing/2014/main" id="{639B1574-67C6-484F-B533-1B7AB52024CF}"/>
              </a:ext>
            </a:extLst>
          </p:cNvPr>
          <p:cNvSpPr>
            <a:spLocks xmlns:a="http://schemas.openxmlformats.org/drawingml/2006/main" noGrp="1"/>
          </p:cNvSpPr>
          <p:nvPr/>
        </p:nvSpPr>
        <p:spPr>
          <a:xfrm xmlns:a="http://schemas.openxmlformats.org/drawingml/2006/main">
            <a:off x="581025" y="5795963"/>
            <a:ext cx="95250" cy="95250"/>
          </a:xfrm>
          <a:prstGeom xmlns:a="http://schemas.openxmlformats.org/drawingml/2006/main" prst="ellipse">
            <a:avLst/>
          </a:prstGeom>
          <a:noFill xmlns:a="http://schemas.openxmlformats.org/drawingml/2006/main"/>
          <a:ln xmlns:a="http://schemas.openxmlformats.org/drawingml/2006/main" w="28575">
            <a:solidFill>
              <a:srgbClr val="111111"/>
            </a:solidFill>
            <a:prstDash val="solid"/>
          </a:ln>
        </p:spPr>
      </p:sp>
      <p:sp>
        <p:nvSpPr>
          <p:cNvPr id="32" name="">
            <a:extLst xmlns:a="http://schemas.openxmlformats.org/drawingml/2006/main">
              <a:ext uri="{FF2B5EF4-FFF2-40B4-BE49-F238E27FC236}">
                <a16:creationId xmlns:a16="http://schemas.microsoft.com/office/drawing/2014/main" id="{721DC527-7B21-40F3-8EC4-C334E8D8DCC6}"/>
              </a:ext>
            </a:extLst>
          </p:cNvPr>
          <p:cNvSpPr>
            <a:spLocks xmlns:a="http://schemas.openxmlformats.org/drawingml/2006/main" noGrp="1"/>
          </p:cNvSpPr>
          <p:nvPr/>
        </p:nvSpPr>
        <p:spPr>
          <a:xfrm xmlns:a="http://schemas.openxmlformats.org/drawingml/2006/main">
            <a:off x="923925" y="5795963"/>
            <a:ext cx="95250" cy="95250"/>
          </a:xfrm>
          <a:prstGeom xmlns:a="http://schemas.openxmlformats.org/drawingml/2006/main" prst="ellipse">
            <a:avLst/>
          </a:prstGeom>
          <a:noFill xmlns:a="http://schemas.openxmlformats.org/drawingml/2006/main"/>
          <a:ln xmlns:a="http://schemas.openxmlformats.org/drawingml/2006/main" w="28575">
            <a:solidFill>
              <a:srgbClr val="111111"/>
            </a:solidFill>
            <a:prstDash val="solid"/>
          </a:ln>
        </p:spPr>
      </p:sp>
      <p:sp>
        <p:nvSpPr>
          <p:cNvPr id="33" name="">
            <a:extLst xmlns:a="http://schemas.openxmlformats.org/drawingml/2006/main">
              <a:ext uri="{FF2B5EF4-FFF2-40B4-BE49-F238E27FC236}">
                <a16:creationId xmlns:a16="http://schemas.microsoft.com/office/drawing/2014/main" id="{118189C2-87D7-47D3-ABFF-5F7F3F3D4D4F}"/>
              </a:ext>
            </a:extLst>
          </p:cNvPr>
          <p:cNvSpPr>
            <a:spLocks xmlns:a="http://schemas.openxmlformats.org/drawingml/2006/main" noGrp="1"/>
          </p:cNvSpPr>
          <p:nvPr/>
        </p:nvSpPr>
        <p:spPr>
          <a:xfrm xmlns:a="http://schemas.openxmlformats.org/drawingml/2006/main">
            <a:off x="590550" y="5910263"/>
            <a:ext cx="419100" cy="304800"/>
          </a:xfrm>
          <a:prstGeom xmlns:a="http://schemas.openxmlformats.org/drawingml/2006/main" prst="ellipse">
            <a:avLst/>
          </a:prstGeom>
          <a:noFill xmlns:a="http://schemas.openxmlformats.org/drawingml/2006/main"/>
          <a:ln xmlns:a="http://schemas.openxmlformats.org/drawingml/2006/main" w="28575">
            <a:solidFill>
              <a:srgbClr val="111111"/>
            </a:solidFill>
            <a:prstDash val="solid"/>
          </a:ln>
        </p:spPr>
      </p:sp>
      <p:sp>
        <p:nvSpPr>
          <p:cNvPr id="34" name="">
            <a:extLst xmlns:a="http://schemas.openxmlformats.org/drawingml/2006/main">
              <a:ext uri="{FF2B5EF4-FFF2-40B4-BE49-F238E27FC236}">
                <a16:creationId xmlns:a16="http://schemas.microsoft.com/office/drawing/2014/main" id="{030A8750-71A1-42EE-A700-EFFADB7195A1}"/>
              </a:ext>
            </a:extLst>
          </p:cNvPr>
          <p:cNvSpPr>
            <a:spLocks xmlns:a="http://schemas.openxmlformats.org/drawingml/2006/main" noGrp="1"/>
          </p:cNvSpPr>
          <p:nvPr/>
        </p:nvSpPr>
        <p:spPr>
          <a:xfrm xmlns:a="http://schemas.openxmlformats.org/drawingml/2006/main">
            <a:off x="428625" y="5957888"/>
            <a:ext cx="228600" cy="219075"/>
          </a:xfrm>
          <a:prstGeom xmlns:a="http://schemas.openxmlformats.org/drawingml/2006/main" prst="ellipse">
            <a:avLst/>
          </a:prstGeom>
          <a:noFill xmlns:a="http://schemas.openxmlformats.org/drawingml/2006/main"/>
          <a:ln xmlns:a="http://schemas.openxmlformats.org/drawingml/2006/main" w="28575">
            <a:solidFill>
              <a:srgbClr val="111111"/>
            </a:solidFill>
            <a:prstDash val="solid"/>
          </a:ln>
        </p:spPr>
      </p:sp>
      <p:sp>
        <p:nvSpPr>
          <p:cNvPr id="35" name="">
            <a:extLst xmlns:a="http://schemas.openxmlformats.org/drawingml/2006/main">
              <a:ext uri="{FF2B5EF4-FFF2-40B4-BE49-F238E27FC236}">
                <a16:creationId xmlns:a16="http://schemas.microsoft.com/office/drawing/2014/main" id="{D08DE836-84F8-4379-B167-C7718C1074B4}"/>
              </a:ext>
            </a:extLst>
          </p:cNvPr>
          <p:cNvSpPr>
            <a:spLocks xmlns:a="http://schemas.openxmlformats.org/drawingml/2006/main" noGrp="1"/>
          </p:cNvSpPr>
          <p:nvPr/>
        </p:nvSpPr>
        <p:spPr>
          <a:xfrm xmlns:a="http://schemas.openxmlformats.org/drawingml/2006/main">
            <a:off x="942975" y="5957888"/>
            <a:ext cx="228600" cy="219075"/>
          </a:xfrm>
          <a:prstGeom xmlns:a="http://schemas.openxmlformats.org/drawingml/2006/main" prst="ellipse">
            <a:avLst/>
          </a:prstGeom>
          <a:noFill xmlns:a="http://schemas.openxmlformats.org/drawingml/2006/main"/>
          <a:ln xmlns:a="http://schemas.openxmlformats.org/drawingml/2006/main" w="28575">
            <a:solidFill>
              <a:srgbClr val="111111"/>
            </a:solidFill>
            <a:prstDash val="solid"/>
          </a:ln>
        </p:spPr>
      </p:sp>
      <p:sp>
        <p:nvSpPr>
          <p:cNvPr id="36" name="">
            <a:extLst xmlns:a="http://schemas.openxmlformats.org/drawingml/2006/main">
              <a:ext uri="{FF2B5EF4-FFF2-40B4-BE49-F238E27FC236}">
                <a16:creationId xmlns:a16="http://schemas.microsoft.com/office/drawing/2014/main" id="{225F58B3-5027-40B1-9431-965522942103}"/>
              </a:ext>
            </a:extLst>
          </p:cNvPr>
          <p:cNvSpPr>
            <a:spLocks xmlns:a="http://schemas.openxmlformats.org/drawingml/2006/main" noGrp="1"/>
          </p:cNvSpPr>
          <p:nvPr/>
        </p:nvSpPr>
        <p:spPr>
          <a:xfrm xmlns:a="http://schemas.openxmlformats.org/drawingml/2006/main">
            <a:off x="590550" y="6681788"/>
            <a:ext cx="419100" cy="381000"/>
          </a:xfrm>
          <a:prstGeom xmlns:a="http://schemas.openxmlformats.org/drawingml/2006/main" prst="rect">
            <a:avLst/>
          </a:prstGeom>
          <a:noFill xmlns:a="http://schemas.openxmlformats.org/drawingml/2006/main"/>
          <a:ln xmlns:a="http://schemas.openxmlformats.org/drawingml/2006/main" w="28575">
            <a:solidFill>
              <a:srgbClr val="111111"/>
            </a:solidFill>
            <a:prstDash val="solid"/>
          </a:ln>
        </p:spPr>
      </p:sp>
      <p:sp>
        <p:nvSpPr>
          <p:cNvPr id="37" name="">
            <a:extLst xmlns:a="http://schemas.openxmlformats.org/drawingml/2006/main">
              <a:ext uri="{FF2B5EF4-FFF2-40B4-BE49-F238E27FC236}">
                <a16:creationId xmlns:a16="http://schemas.microsoft.com/office/drawing/2014/main" id="{CE266CE7-11A8-4A7A-9B36-D676B6550D18}"/>
              </a:ext>
            </a:extLst>
          </p:cNvPr>
          <p:cNvSpPr>
            <a:spLocks xmlns:a="http://schemas.openxmlformats.org/drawingml/2006/main" noGrp="1"/>
          </p:cNvSpPr>
          <p:nvPr/>
        </p:nvSpPr>
        <p:spPr>
          <a:xfrm xmlns:a="http://schemas.openxmlformats.org/drawingml/2006/main">
            <a:off x="590550" y="6634163"/>
            <a:ext cx="419100" cy="114300"/>
          </a:xfrm>
          <a:prstGeom xmlns:a="http://schemas.openxmlformats.org/drawingml/2006/main" prst="ellipse">
            <a:avLst/>
          </a:prstGeom>
          <a:noFill xmlns:a="http://schemas.openxmlformats.org/drawingml/2006/main"/>
          <a:ln xmlns:a="http://schemas.openxmlformats.org/drawingml/2006/main" w="28575">
            <a:solidFill>
              <a:srgbClr val="111111"/>
            </a:solidFill>
            <a:prstDash val="solid"/>
          </a:ln>
        </p:spPr>
      </p:sp>
      <p:sp>
        <p:nvSpPr>
          <p:cNvPr id="38" name="">
            <a:extLst xmlns:a="http://schemas.openxmlformats.org/drawingml/2006/main">
              <a:ext uri="{FF2B5EF4-FFF2-40B4-BE49-F238E27FC236}">
                <a16:creationId xmlns:a16="http://schemas.microsoft.com/office/drawing/2014/main" id="{03BFCA7B-F1B5-443C-A662-FB7EE84A36A0}"/>
              </a:ext>
            </a:extLst>
          </p:cNvPr>
          <p:cNvSpPr>
            <a:spLocks xmlns:a="http://schemas.openxmlformats.org/drawingml/2006/main" noGrp="1"/>
          </p:cNvSpPr>
          <p:nvPr/>
        </p:nvSpPr>
        <p:spPr>
          <a:xfrm xmlns:a="http://schemas.openxmlformats.org/drawingml/2006/main">
            <a:off x="590550" y="6996113"/>
            <a:ext cx="419100" cy="114300"/>
          </a:xfrm>
          <a:prstGeom xmlns:a="http://schemas.openxmlformats.org/drawingml/2006/main" prst="ellipse">
            <a:avLst/>
          </a:prstGeom>
          <a:noFill xmlns:a="http://schemas.openxmlformats.org/drawingml/2006/main"/>
          <a:ln xmlns:a="http://schemas.openxmlformats.org/drawingml/2006/main" w="28575">
            <a:solidFill>
              <a:srgbClr val="111111"/>
            </a:solidFill>
            <a:prstDash val="solid"/>
          </a:ln>
        </p:spPr>
      </p:sp>
      <p:sp>
        <p:nvSpPr>
          <p:cNvPr id="39" name="">
            <a:extLst xmlns:a="http://schemas.openxmlformats.org/drawingml/2006/main">
              <a:ext uri="{FF2B5EF4-FFF2-40B4-BE49-F238E27FC236}">
                <a16:creationId xmlns:a16="http://schemas.microsoft.com/office/drawing/2014/main" id="{0F917EB1-8A9B-48FC-99F2-6D1D95411ED5}"/>
              </a:ext>
            </a:extLst>
          </p:cNvPr>
          <p:cNvSpPr>
            <a:spLocks xmlns:a="http://schemas.openxmlformats.org/drawingml/2006/main" noGrp="1"/>
          </p:cNvSpPr>
          <p:nvPr/>
        </p:nvSpPr>
        <p:spPr>
          <a:xfrm xmlns:a="http://schemas.openxmlformats.org/drawingml/2006/main">
            <a:off x="600075" y="6805613"/>
            <a:ext cx="400050" cy="0"/>
          </a:xfrm>
          <a:prstGeom xmlns:a="http://schemas.openxmlformats.org/drawingml/2006/main" prst="line">
            <a:avLst/>
          </a:prstGeom>
          <a:noFill xmlns:a="http://schemas.openxmlformats.org/drawingml/2006/main"/>
          <a:ln xmlns:a="http://schemas.openxmlformats.org/drawingml/2006/main" w="28575">
            <a:solidFill>
              <a:srgbClr val="111111"/>
            </a:solidFill>
            <a:prstDash val="solid"/>
          </a:ln>
        </p:spPr>
      </p:sp>
      <p:sp>
        <p:nvSpPr>
          <p:cNvPr id="40" name="">
            <a:extLst xmlns:a="http://schemas.openxmlformats.org/drawingml/2006/main">
              <a:ext uri="{FF2B5EF4-FFF2-40B4-BE49-F238E27FC236}">
                <a16:creationId xmlns:a16="http://schemas.microsoft.com/office/drawing/2014/main" id="{9D599F9F-9A83-4E50-84EF-0C4679A1F6C3}"/>
              </a:ext>
            </a:extLst>
          </p:cNvPr>
          <p:cNvSpPr>
            <a:spLocks xmlns:a="http://schemas.openxmlformats.org/drawingml/2006/main" noGrp="1"/>
          </p:cNvSpPr>
          <p:nvPr/>
        </p:nvSpPr>
        <p:spPr>
          <a:xfrm xmlns:a="http://schemas.openxmlformats.org/drawingml/2006/main">
            <a:off x="600075" y="6967538"/>
            <a:ext cx="400050" cy="0"/>
          </a:xfrm>
          <a:prstGeom xmlns:a="http://schemas.openxmlformats.org/drawingml/2006/main" prst="line">
            <a:avLst/>
          </a:prstGeom>
          <a:noFill xmlns:a="http://schemas.openxmlformats.org/drawingml/2006/main"/>
          <a:ln xmlns:a="http://schemas.openxmlformats.org/drawingml/2006/main" w="28575">
            <a:solidFill>
              <a:srgbClr val="111111"/>
            </a:solidFill>
            <a:prstDash val="solid"/>
          </a:ln>
        </p:spPr>
      </p:sp>
      <p:sp>
        <p:nvSpPr>
          <p:cNvPr id="41" name="table-row-label-1">
            <a:extLst xmlns:a="http://schemas.openxmlformats.org/drawingml/2006/main">
              <a:ext uri="{FF2B5EF4-FFF2-40B4-BE49-F238E27FC236}">
                <a16:creationId xmlns:a16="http://schemas.microsoft.com/office/drawing/2014/main" id="{4CD5B663-37A6-488E-867C-63E3762246AD}"/>
              </a:ext>
            </a:extLst>
          </p:cNvPr>
          <p:cNvSpPr>
            <a:spLocks xmlns:a="http://schemas.openxmlformats.org/drawingml/2006/main" noGrp="1"/>
          </p:cNvSpPr>
          <p:nvPr/>
        </p:nvSpPr>
        <p:spPr>
          <a:xfrm xmlns:a="http://schemas.openxmlformats.org/drawingml/2006/main">
            <a:off x="1257300" y="2709863"/>
            <a:ext cx="1200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85307"/>
          </a:bodyPr>
          <a:lstStyle xmlns:a="http://schemas.openxmlformats.org/drawingml/2006/main"/>
          <a:p xmlns:a="http://schemas.openxmlformats.org/drawingml/2006/main">
            <a:pPr>
              <a:buNone/>
              <a:defRPr sz="1575" b="1">
                <a:solidFill>
                  <a:srgbClr val="111111"/>
                </a:solidFill>
                <a:latin typeface="Yu Gothic"/>
                <a:ea typeface="Yu Gothic"/>
                <a:cs typeface="Yu Gothic"/>
              </a:defRPr>
            </a:pPr>
            <a:r>
              <a:rPr sz="1575" b="1">
                <a:solidFill>
                  <a:srgbClr val="111111"/>
                </a:solidFill>
                <a:latin typeface="Yu Gothic"/>
                <a:ea typeface="Yu Gothic"/>
                <a:cs typeface="Yu Gothic"/>
              </a:rPr>
              <a:t>導入スピード</a:t>
            </a:r>
          </a:p>
        </p:txBody>
      </p:sp>
      <p:sp>
        <p:nvSpPr>
          <p:cNvPr id="42" name="table-row-label-2">
            <a:extLst xmlns:a="http://schemas.openxmlformats.org/drawingml/2006/main">
              <a:ext uri="{FF2B5EF4-FFF2-40B4-BE49-F238E27FC236}">
                <a16:creationId xmlns:a16="http://schemas.microsoft.com/office/drawing/2014/main" id="{FFA02FFA-A165-4B2A-AEC7-73FAE793D138}"/>
              </a:ext>
            </a:extLst>
          </p:cNvPr>
          <p:cNvSpPr>
            <a:spLocks xmlns:a="http://schemas.openxmlformats.org/drawingml/2006/main" noGrp="1"/>
          </p:cNvSpPr>
          <p:nvPr/>
        </p:nvSpPr>
        <p:spPr>
          <a:xfrm xmlns:a="http://schemas.openxmlformats.org/drawingml/2006/main">
            <a:off x="1257300" y="3681413"/>
            <a:ext cx="1200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84488"/>
          </a:bodyPr>
          <a:lstStyle xmlns:a="http://schemas.openxmlformats.org/drawingml/2006/main"/>
          <a:p xmlns:a="http://schemas.openxmlformats.org/drawingml/2006/main">
            <a:pPr>
              <a:buNone/>
              <a:defRPr sz="1575" b="1">
                <a:solidFill>
                  <a:srgbClr val="111111"/>
                </a:solidFill>
                <a:latin typeface="Yu Gothic"/>
                <a:ea typeface="Yu Gothic"/>
                <a:cs typeface="Yu Gothic"/>
              </a:defRPr>
            </a:pPr>
            <a:r>
              <a:rPr sz="1575" b="1">
                <a:solidFill>
                  <a:srgbClr val="111111"/>
                </a:solidFill>
                <a:latin typeface="Yu Gothic"/>
                <a:ea typeface="Yu Gothic"/>
                <a:cs typeface="Yu Gothic"/>
              </a:rPr>
              <a:t>提案の具体性</a:t>
            </a:r>
          </a:p>
        </p:txBody>
      </p:sp>
      <p:sp>
        <p:nvSpPr>
          <p:cNvPr id="43" name="table-row-label-3">
            <a:extLst xmlns:a="http://schemas.openxmlformats.org/drawingml/2006/main">
              <a:ext uri="{FF2B5EF4-FFF2-40B4-BE49-F238E27FC236}">
                <a16:creationId xmlns:a16="http://schemas.microsoft.com/office/drawing/2014/main" id="{5041F256-6C4E-44A4-9BED-AAD0AF30B748}"/>
              </a:ext>
            </a:extLst>
          </p:cNvPr>
          <p:cNvSpPr>
            <a:spLocks xmlns:a="http://schemas.openxmlformats.org/drawingml/2006/main" noGrp="1"/>
          </p:cNvSpPr>
          <p:nvPr/>
        </p:nvSpPr>
        <p:spPr>
          <a:xfrm xmlns:a="http://schemas.openxmlformats.org/drawingml/2006/main">
            <a:off x="1257300" y="4676775"/>
            <a:ext cx="1200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100000"/>
          </a:bodyPr>
          <a:lstStyle xmlns:a="http://schemas.openxmlformats.org/drawingml/2006/main"/>
          <a:p xmlns:a="http://schemas.openxmlformats.org/drawingml/2006/main">
            <a:pPr>
              <a:buNone/>
              <a:defRPr sz="1575" b="1">
                <a:solidFill>
                  <a:srgbClr val="111111"/>
                </a:solidFill>
                <a:latin typeface="Yu Gothic"/>
                <a:ea typeface="Yu Gothic"/>
                <a:cs typeface="Yu Gothic"/>
              </a:defRPr>
            </a:pPr>
            <a:r>
              <a:rPr sz="1575" b="1">
                <a:solidFill>
                  <a:srgbClr val="111111"/>
                </a:solidFill>
                <a:latin typeface="Yu Gothic"/>
                <a:ea typeface="Yu Gothic"/>
                <a:cs typeface="Yu Gothic"/>
              </a:rPr>
              <a:t>AI活用実績</a:t>
            </a:r>
          </a:p>
        </p:txBody>
      </p:sp>
      <p:sp>
        <p:nvSpPr>
          <p:cNvPr id="44" name="table-row-label-4">
            <a:extLst xmlns:a="http://schemas.openxmlformats.org/drawingml/2006/main">
              <a:ext uri="{FF2B5EF4-FFF2-40B4-BE49-F238E27FC236}">
                <a16:creationId xmlns:a16="http://schemas.microsoft.com/office/drawing/2014/main" id="{59DD7680-932F-4A0C-BABF-7BA09570615F}"/>
              </a:ext>
            </a:extLst>
          </p:cNvPr>
          <p:cNvSpPr>
            <a:spLocks xmlns:a="http://schemas.openxmlformats.org/drawingml/2006/main" noGrp="1"/>
          </p:cNvSpPr>
          <p:nvPr/>
        </p:nvSpPr>
        <p:spPr>
          <a:xfrm xmlns:a="http://schemas.openxmlformats.org/drawingml/2006/main">
            <a:off x="1257300" y="5672138"/>
            <a:ext cx="1200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100000"/>
          </a:bodyPr>
          <a:lstStyle xmlns:a="http://schemas.openxmlformats.org/drawingml/2006/main"/>
          <a:p xmlns:a="http://schemas.openxmlformats.org/drawingml/2006/main">
            <a:pPr>
              <a:buNone/>
              <a:defRPr sz="1575" b="1">
                <a:solidFill>
                  <a:srgbClr val="111111"/>
                </a:solidFill>
                <a:latin typeface="Yu Gothic"/>
                <a:ea typeface="Yu Gothic"/>
                <a:cs typeface="Yu Gothic"/>
              </a:defRPr>
            </a:pPr>
            <a:r>
              <a:rPr sz="1575" b="1">
                <a:solidFill>
                  <a:srgbClr val="111111"/>
                </a:solidFill>
                <a:latin typeface="Yu Gothic"/>
                <a:ea typeface="Yu Gothic"/>
                <a:cs typeface="Yu Gothic"/>
              </a:rPr>
              <a:t>運用伴走</a:t>
            </a:r>
          </a:p>
        </p:txBody>
      </p:sp>
      <p:sp>
        <p:nvSpPr>
          <p:cNvPr id="45" name="table-row-label-5">
            <a:extLst xmlns:a="http://schemas.openxmlformats.org/drawingml/2006/main">
              <a:ext uri="{FF2B5EF4-FFF2-40B4-BE49-F238E27FC236}">
                <a16:creationId xmlns:a16="http://schemas.microsoft.com/office/drawing/2014/main" id="{C0492F91-7EFD-44CF-9B35-BD10B0ECAA67}"/>
              </a:ext>
            </a:extLst>
          </p:cNvPr>
          <p:cNvSpPr>
            <a:spLocks xmlns:a="http://schemas.openxmlformats.org/drawingml/2006/main" noGrp="1"/>
          </p:cNvSpPr>
          <p:nvPr/>
        </p:nvSpPr>
        <p:spPr>
          <a:xfrm xmlns:a="http://schemas.openxmlformats.org/drawingml/2006/main">
            <a:off x="1257300" y="6653213"/>
            <a:ext cx="1200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84488"/>
          </a:bodyPr>
          <a:lstStyle xmlns:a="http://schemas.openxmlformats.org/drawingml/2006/main"/>
          <a:p xmlns:a="http://schemas.openxmlformats.org/drawingml/2006/main">
            <a:pPr>
              <a:buNone/>
              <a:defRPr sz="1575" b="1">
                <a:solidFill>
                  <a:srgbClr val="111111"/>
                </a:solidFill>
                <a:latin typeface="Yu Gothic"/>
                <a:ea typeface="Yu Gothic"/>
                <a:cs typeface="Yu Gothic"/>
              </a:defRPr>
            </a:pPr>
            <a:r>
              <a:rPr sz="1575" b="1">
                <a:solidFill>
                  <a:srgbClr val="111111"/>
                </a:solidFill>
                <a:latin typeface="Yu Gothic"/>
                <a:ea typeface="Yu Gothic"/>
                <a:cs typeface="Yu Gothic"/>
              </a:rPr>
              <a:t>コスト透明性</a:t>
            </a:r>
          </a:p>
        </p:txBody>
      </p:sp>
      <p:sp>
        <p:nvSpPr>
          <p:cNvPr id="46" name="panel-差別化ポイント">
            <a:extLst xmlns:a="http://schemas.openxmlformats.org/drawingml/2006/main">
              <a:ext uri="{FF2B5EF4-FFF2-40B4-BE49-F238E27FC236}">
                <a16:creationId xmlns:a16="http://schemas.microsoft.com/office/drawing/2014/main" id="{486A0A3A-3EBB-48F3-966A-72292CCCEC21}"/>
              </a:ext>
            </a:extLst>
          </p:cNvPr>
          <p:cNvSpPr>
            <a:spLocks xmlns:a="http://schemas.openxmlformats.org/drawingml/2006/main" noGrp="1"/>
          </p:cNvSpPr>
          <p:nvPr/>
        </p:nvSpPr>
        <p:spPr>
          <a:xfrm xmlns:a="http://schemas.openxmlformats.org/drawingml/2006/main">
            <a:off x="9086850" y="1838325"/>
            <a:ext cx="6486525" cy="1800225"/>
          </a:xfrm>
          <a:prstGeom xmlns:a="http://schemas.openxmlformats.org/drawingml/2006/main" prst="rect">
            <a:avLst/>
          </a:prstGeom>
          <a:solidFill xmlns:a="http://schemas.openxmlformats.org/drawingml/2006/main">
            <a:srgbClr val="FFFFFF"/>
          </a:solidFill>
          <a:ln xmlns:a="http://schemas.openxmlformats.org/drawingml/2006/main" w="9525">
            <a:solidFill>
              <a:srgbClr val="D6DDE5"/>
            </a:solidFill>
            <a:prstDash val="solid"/>
          </a:ln>
        </p:spPr>
      </p:sp>
      <p:sp>
        <p:nvSpPr>
          <p:cNvPr id="47" name="">
            <a:extLst xmlns:a="http://schemas.openxmlformats.org/drawingml/2006/main">
              <a:ext uri="{FF2B5EF4-FFF2-40B4-BE49-F238E27FC236}">
                <a16:creationId xmlns:a16="http://schemas.microsoft.com/office/drawing/2014/main" id="{910B6424-6745-41CA-8543-61236403DC58}"/>
              </a:ext>
            </a:extLst>
          </p:cNvPr>
          <p:cNvSpPr>
            <a:spLocks xmlns:a="http://schemas.openxmlformats.org/drawingml/2006/main" noGrp="1"/>
          </p:cNvSpPr>
          <p:nvPr/>
        </p:nvSpPr>
        <p:spPr>
          <a:xfrm xmlns:a="http://schemas.openxmlformats.org/drawingml/2006/main">
            <a:off x="9344025" y="2171700"/>
            <a:ext cx="295275" cy="371475"/>
          </a:xfrm>
          <a:prstGeom xmlns:a="http://schemas.openxmlformats.org/drawingml/2006/main" prst="rect">
            <a:avLst/>
          </a:prstGeom>
          <a:noFill xmlns:a="http://schemas.openxmlformats.org/drawingml/2006/main"/>
          <a:ln xmlns:a="http://schemas.openxmlformats.org/drawingml/2006/main" w="30004">
            <a:solidFill>
              <a:srgbClr val="111111"/>
            </a:solidFill>
            <a:prstDash val="solid"/>
          </a:ln>
        </p:spPr>
      </p:sp>
      <p:sp>
        <p:nvSpPr>
          <p:cNvPr id="48" name="">
            <a:extLst xmlns:a="http://schemas.openxmlformats.org/drawingml/2006/main">
              <a:ext uri="{FF2B5EF4-FFF2-40B4-BE49-F238E27FC236}">
                <a16:creationId xmlns:a16="http://schemas.microsoft.com/office/drawing/2014/main" id="{7BBF36B6-EF20-426B-856A-770FFBC63A30}"/>
              </a:ext>
            </a:extLst>
          </p:cNvPr>
          <p:cNvSpPr>
            <a:spLocks xmlns:a="http://schemas.openxmlformats.org/drawingml/2006/main" noGrp="1"/>
          </p:cNvSpPr>
          <p:nvPr/>
        </p:nvSpPr>
        <p:spPr>
          <a:xfrm xmlns:a="http://schemas.openxmlformats.org/drawingml/2006/main">
            <a:off x="9527078" y="2171700"/>
            <a:ext cx="112222" cy="107568"/>
          </a:xfrm>
          <a:prstGeom xmlns:a="http://schemas.openxmlformats.org/drawingml/2006/main" prst="line">
            <a:avLst/>
          </a:prstGeom>
          <a:noFill xmlns:a="http://schemas.openxmlformats.org/drawingml/2006/main"/>
          <a:ln xmlns:a="http://schemas.openxmlformats.org/drawingml/2006/main" w="30004">
            <a:solidFill>
              <a:srgbClr val="111111"/>
            </a:solidFill>
            <a:prstDash val="solid"/>
          </a:ln>
        </p:spPr>
      </p:sp>
      <p:sp>
        <p:nvSpPr>
          <p:cNvPr id="49" name="">
            <a:extLst xmlns:a="http://schemas.openxmlformats.org/drawingml/2006/main">
              <a:ext uri="{FF2B5EF4-FFF2-40B4-BE49-F238E27FC236}">
                <a16:creationId xmlns:a16="http://schemas.microsoft.com/office/drawing/2014/main" id="{C8214834-08C9-47AD-B2F6-AA24160A102D}"/>
              </a:ext>
            </a:extLst>
          </p:cNvPr>
          <p:cNvSpPr>
            <a:spLocks xmlns:a="http://schemas.openxmlformats.org/drawingml/2006/main" noGrp="1"/>
          </p:cNvSpPr>
          <p:nvPr/>
        </p:nvSpPr>
        <p:spPr>
          <a:xfrm xmlns:a="http://schemas.openxmlformats.org/drawingml/2006/main">
            <a:off x="9527078" y="2171700"/>
            <a:ext cx="0" cy="107568"/>
          </a:xfrm>
          <a:prstGeom xmlns:a="http://schemas.openxmlformats.org/drawingml/2006/main" prst="line">
            <a:avLst/>
          </a:prstGeom>
          <a:noFill xmlns:a="http://schemas.openxmlformats.org/drawingml/2006/main"/>
          <a:ln xmlns:a="http://schemas.openxmlformats.org/drawingml/2006/main" w="30004">
            <a:solidFill>
              <a:srgbClr val="111111"/>
            </a:solidFill>
            <a:prstDash val="solid"/>
          </a:ln>
        </p:spPr>
      </p:sp>
      <p:sp>
        <p:nvSpPr>
          <p:cNvPr id="50" name="">
            <a:extLst xmlns:a="http://schemas.openxmlformats.org/drawingml/2006/main">
              <a:ext uri="{FF2B5EF4-FFF2-40B4-BE49-F238E27FC236}">
                <a16:creationId xmlns:a16="http://schemas.microsoft.com/office/drawing/2014/main" id="{C743D5F8-6719-4A81-98A4-D7A20220BCCA}"/>
              </a:ext>
            </a:extLst>
          </p:cNvPr>
          <p:cNvSpPr>
            <a:spLocks xmlns:a="http://schemas.openxmlformats.org/drawingml/2006/main" noGrp="1"/>
          </p:cNvSpPr>
          <p:nvPr/>
        </p:nvSpPr>
        <p:spPr>
          <a:xfrm xmlns:a="http://schemas.openxmlformats.org/drawingml/2006/main">
            <a:off x="9527078" y="2279268"/>
            <a:ext cx="112222" cy="0"/>
          </a:xfrm>
          <a:prstGeom xmlns:a="http://schemas.openxmlformats.org/drawingml/2006/main" prst="line">
            <a:avLst/>
          </a:prstGeom>
          <a:noFill xmlns:a="http://schemas.openxmlformats.org/drawingml/2006/main"/>
          <a:ln xmlns:a="http://schemas.openxmlformats.org/drawingml/2006/main" w="30004">
            <a:solidFill>
              <a:srgbClr val="111111"/>
            </a:solidFill>
            <a:prstDash val="solid"/>
          </a:ln>
        </p:spPr>
      </p:sp>
      <p:sp>
        <p:nvSpPr>
          <p:cNvPr id="51" name="">
            <a:extLst xmlns:a="http://schemas.openxmlformats.org/drawingml/2006/main">
              <a:ext uri="{FF2B5EF4-FFF2-40B4-BE49-F238E27FC236}">
                <a16:creationId xmlns:a16="http://schemas.microsoft.com/office/drawing/2014/main" id="{5454543B-08E2-4027-A0B4-90ADBB2EB836}"/>
              </a:ext>
            </a:extLst>
          </p:cNvPr>
          <p:cNvSpPr>
            <a:spLocks xmlns:a="http://schemas.openxmlformats.org/drawingml/2006/main" noGrp="1"/>
          </p:cNvSpPr>
          <p:nvPr/>
        </p:nvSpPr>
        <p:spPr>
          <a:xfrm xmlns:a="http://schemas.openxmlformats.org/drawingml/2006/main">
            <a:off x="9411956" y="2401998"/>
            <a:ext cx="162401" cy="0"/>
          </a:xfrm>
          <a:prstGeom xmlns:a="http://schemas.openxmlformats.org/drawingml/2006/main" prst="line">
            <a:avLst/>
          </a:prstGeom>
          <a:noFill xmlns:a="http://schemas.openxmlformats.org/drawingml/2006/main"/>
          <a:ln xmlns:a="http://schemas.openxmlformats.org/drawingml/2006/main" w="30004">
            <a:solidFill>
              <a:srgbClr val="111111"/>
            </a:solidFill>
            <a:prstDash val="solid"/>
          </a:ln>
        </p:spPr>
      </p:sp>
      <p:sp>
        <p:nvSpPr>
          <p:cNvPr id="52" name="">
            <a:extLst xmlns:a="http://schemas.openxmlformats.org/drawingml/2006/main">
              <a:ext uri="{FF2B5EF4-FFF2-40B4-BE49-F238E27FC236}">
                <a16:creationId xmlns:a16="http://schemas.microsoft.com/office/drawing/2014/main" id="{DFACB7DB-E0AB-46ED-93AE-04E9D69A7FC6}"/>
              </a:ext>
            </a:extLst>
          </p:cNvPr>
          <p:cNvSpPr>
            <a:spLocks xmlns:a="http://schemas.openxmlformats.org/drawingml/2006/main" noGrp="1"/>
          </p:cNvSpPr>
          <p:nvPr/>
        </p:nvSpPr>
        <p:spPr>
          <a:xfrm xmlns:a="http://schemas.openxmlformats.org/drawingml/2006/main">
            <a:off x="9411956" y="2461467"/>
            <a:ext cx="162401" cy="0"/>
          </a:xfrm>
          <a:prstGeom xmlns:a="http://schemas.openxmlformats.org/drawingml/2006/main" prst="line">
            <a:avLst/>
          </a:prstGeom>
          <a:noFill xmlns:a="http://schemas.openxmlformats.org/drawingml/2006/main"/>
          <a:ln xmlns:a="http://schemas.openxmlformats.org/drawingml/2006/main" w="30004">
            <a:solidFill>
              <a:srgbClr val="111111"/>
            </a:solidFill>
            <a:prstDash val="solid"/>
          </a:ln>
        </p:spPr>
      </p:sp>
      <p:sp>
        <p:nvSpPr>
          <p:cNvPr id="53" name="panel-title-差別化ポイント">
            <a:extLst xmlns:a="http://schemas.openxmlformats.org/drawingml/2006/main">
              <a:ext uri="{FF2B5EF4-FFF2-40B4-BE49-F238E27FC236}">
                <a16:creationId xmlns:a16="http://schemas.microsoft.com/office/drawing/2014/main" id="{20091242-7191-482F-B04F-999F022A8EB7}"/>
              </a:ext>
            </a:extLst>
          </p:cNvPr>
          <p:cNvSpPr>
            <a:spLocks xmlns:a="http://schemas.openxmlformats.org/drawingml/2006/main" noGrp="1"/>
          </p:cNvSpPr>
          <p:nvPr/>
        </p:nvSpPr>
        <p:spPr>
          <a:xfrm xmlns:a="http://schemas.openxmlformats.org/drawingml/2006/main">
            <a:off x="9229725" y="2609850"/>
            <a:ext cx="2047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buNone/>
              <a:defRPr sz="1950" b="1">
                <a:solidFill>
                  <a:srgbClr val="F52323"/>
                </a:solidFill>
                <a:latin typeface="Yu Gothic"/>
                <a:ea typeface="Yu Gothic"/>
                <a:cs typeface="Yu Gothic"/>
              </a:defRPr>
            </a:pPr>
            <a:r>
              <a:rPr sz="1950" b="1">
                <a:solidFill>
                  <a:srgbClr val="F52323"/>
                </a:solidFill>
                <a:latin typeface="Yu Gothic"/>
                <a:ea typeface="Yu Gothic"/>
                <a:cs typeface="Yu Gothic"/>
              </a:rPr>
              <a:t>差別化ポイント</a:t>
            </a:r>
          </a:p>
        </p:txBody>
      </p:sp>
      <p:sp>
        <p:nvSpPr>
          <p:cNvPr id="54" name="">
            <a:extLst xmlns:a="http://schemas.openxmlformats.org/drawingml/2006/main">
              <a:ext uri="{FF2B5EF4-FFF2-40B4-BE49-F238E27FC236}">
                <a16:creationId xmlns:a16="http://schemas.microsoft.com/office/drawing/2014/main" id="{0DC5EE5A-901B-4C65-BEA0-F1844DC3E5AE}"/>
              </a:ext>
            </a:extLst>
          </p:cNvPr>
          <p:cNvSpPr>
            <a:spLocks xmlns:a="http://schemas.openxmlformats.org/drawingml/2006/main" noGrp="1"/>
          </p:cNvSpPr>
          <p:nvPr/>
        </p:nvSpPr>
        <p:spPr>
          <a:xfrm xmlns:a="http://schemas.openxmlformats.org/drawingml/2006/main">
            <a:off x="11168063" y="2181225"/>
            <a:ext cx="85725" cy="85725"/>
          </a:xfrm>
          <a:prstGeom xmlns:a="http://schemas.openxmlformats.org/drawingml/2006/main" prst="ellipse">
            <a:avLst/>
          </a:prstGeom>
          <a:solidFill xmlns:a="http://schemas.openxmlformats.org/drawingml/2006/main">
            <a:srgbClr val="F52323"/>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1F7FBA02-9A02-46E4-A925-DF68727AE7C1}"/>
              </a:ext>
            </a:extLst>
          </p:cNvPr>
          <p:cNvSpPr>
            <a:spLocks xmlns:a="http://schemas.openxmlformats.org/drawingml/2006/main" noGrp="1"/>
          </p:cNvSpPr>
          <p:nvPr/>
        </p:nvSpPr>
        <p:spPr>
          <a:xfrm xmlns:a="http://schemas.openxmlformats.org/drawingml/2006/main">
            <a:off x="11287125" y="211455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4444"/>
          </a:bodyPr>
          <a:lstStyle xmlns:a="http://schemas.openxmlformats.org/drawingml/2006/main"/>
          <a:p xmlns:a="http://schemas.openxmlformats.org/drawingml/2006/main">
            <a:pPr>
              <a:buNone/>
              <a:defRPr sz="1350">
                <a:solidFill>
                  <a:srgbClr val="111111"/>
                </a:solidFill>
                <a:latin typeface="Yu Gothic"/>
                <a:ea typeface="Yu Gothic"/>
                <a:cs typeface="Yu Gothic"/>
              </a:defRPr>
            </a:pPr>
            <a:r>
              <a:rPr sz="1350">
                <a:solidFill>
                  <a:srgbClr val="111111"/>
                </a:solidFill>
                <a:latin typeface="Yu Gothic"/>
                <a:ea typeface="Yu Gothic"/>
                <a:cs typeface="Yu Gothic"/>
              </a:rPr>
              <a:t>業務理解から提案・制作・改善まで一気通貫で支援</a:t>
            </a:r>
          </a:p>
        </p:txBody>
      </p:sp>
      <p:sp>
        <p:nvSpPr>
          <p:cNvPr id="56" name="">
            <a:extLst xmlns:a="http://schemas.openxmlformats.org/drawingml/2006/main">
              <a:ext uri="{FF2B5EF4-FFF2-40B4-BE49-F238E27FC236}">
                <a16:creationId xmlns:a16="http://schemas.microsoft.com/office/drawing/2014/main" id="{07C31E6F-F7F9-4002-ABF3-A0A2A0295438}"/>
              </a:ext>
            </a:extLst>
          </p:cNvPr>
          <p:cNvSpPr>
            <a:spLocks xmlns:a="http://schemas.openxmlformats.org/drawingml/2006/main" noGrp="1"/>
          </p:cNvSpPr>
          <p:nvPr/>
        </p:nvSpPr>
        <p:spPr>
          <a:xfrm xmlns:a="http://schemas.openxmlformats.org/drawingml/2006/main">
            <a:off x="11168063" y="2524125"/>
            <a:ext cx="85725" cy="85725"/>
          </a:xfrm>
          <a:prstGeom xmlns:a="http://schemas.openxmlformats.org/drawingml/2006/main" prst="ellipse">
            <a:avLst/>
          </a:prstGeom>
          <a:solidFill xmlns:a="http://schemas.openxmlformats.org/drawingml/2006/main">
            <a:srgbClr val="F52323"/>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7893E83C-E45F-4509-8479-7844D053EDA7}"/>
              </a:ext>
            </a:extLst>
          </p:cNvPr>
          <p:cNvSpPr>
            <a:spLocks xmlns:a="http://schemas.openxmlformats.org/drawingml/2006/main" noGrp="1"/>
          </p:cNvSpPr>
          <p:nvPr/>
        </p:nvSpPr>
        <p:spPr>
          <a:xfrm xmlns:a="http://schemas.openxmlformats.org/drawingml/2006/main">
            <a:off x="11287125" y="245745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4444"/>
          </a:bodyPr>
          <a:lstStyle xmlns:a="http://schemas.openxmlformats.org/drawingml/2006/main"/>
          <a:p xmlns:a="http://schemas.openxmlformats.org/drawingml/2006/main">
            <a:pPr>
              <a:buNone/>
              <a:defRPr sz="1350">
                <a:solidFill>
                  <a:srgbClr val="111111"/>
                </a:solidFill>
                <a:latin typeface="Yu Gothic"/>
                <a:ea typeface="Yu Gothic"/>
                <a:cs typeface="Yu Gothic"/>
              </a:defRPr>
            </a:pPr>
            <a:r>
              <a:rPr sz="1350">
                <a:solidFill>
                  <a:srgbClr val="111111"/>
                </a:solidFill>
                <a:latin typeface="Yu Gothic"/>
                <a:ea typeface="Yu Gothic"/>
                <a:cs typeface="Yu Gothic"/>
              </a:rPr>
              <a:t>AI活用を前提にした運用設計まで提示</a:t>
            </a:r>
          </a:p>
        </p:txBody>
      </p:sp>
      <p:sp>
        <p:nvSpPr>
          <p:cNvPr id="58" name="">
            <a:extLst xmlns:a="http://schemas.openxmlformats.org/drawingml/2006/main">
              <a:ext uri="{FF2B5EF4-FFF2-40B4-BE49-F238E27FC236}">
                <a16:creationId xmlns:a16="http://schemas.microsoft.com/office/drawing/2014/main" id="{A1429B02-2B08-42E7-B6C7-67B3ED7ACDDA}"/>
              </a:ext>
            </a:extLst>
          </p:cNvPr>
          <p:cNvSpPr>
            <a:spLocks xmlns:a="http://schemas.openxmlformats.org/drawingml/2006/main" noGrp="1"/>
          </p:cNvSpPr>
          <p:nvPr/>
        </p:nvSpPr>
        <p:spPr>
          <a:xfrm xmlns:a="http://schemas.openxmlformats.org/drawingml/2006/main">
            <a:off x="11168063" y="2876550"/>
            <a:ext cx="85725" cy="85725"/>
          </a:xfrm>
          <a:prstGeom xmlns:a="http://schemas.openxmlformats.org/drawingml/2006/main" prst="ellipse">
            <a:avLst/>
          </a:prstGeom>
          <a:solidFill xmlns:a="http://schemas.openxmlformats.org/drawingml/2006/main">
            <a:srgbClr val="F52323"/>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6D9ACC8B-0AF6-4768-8F51-64A11FA4DC83}"/>
              </a:ext>
            </a:extLst>
          </p:cNvPr>
          <p:cNvSpPr>
            <a:spLocks xmlns:a="http://schemas.openxmlformats.org/drawingml/2006/main" noGrp="1"/>
          </p:cNvSpPr>
          <p:nvPr/>
        </p:nvSpPr>
        <p:spPr>
          <a:xfrm xmlns:a="http://schemas.openxmlformats.org/drawingml/2006/main">
            <a:off x="11287125" y="2809875"/>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4444"/>
          </a:bodyPr>
          <a:lstStyle xmlns:a="http://schemas.openxmlformats.org/drawingml/2006/main"/>
          <a:p xmlns:a="http://schemas.openxmlformats.org/drawingml/2006/main">
            <a:pPr>
              <a:buNone/>
              <a:defRPr sz="1350">
                <a:solidFill>
                  <a:srgbClr val="111111"/>
                </a:solidFill>
                <a:latin typeface="Yu Gothic"/>
                <a:ea typeface="Yu Gothic"/>
                <a:cs typeface="Yu Gothic"/>
              </a:defRPr>
            </a:pPr>
            <a:r>
              <a:rPr sz="1350">
                <a:solidFill>
                  <a:srgbClr val="111111"/>
                </a:solidFill>
                <a:latin typeface="Yu Gothic"/>
                <a:ea typeface="Yu Gothic"/>
                <a:cs typeface="Yu Gothic"/>
              </a:rPr>
              <a:t>概要見積・体制・スケジュールの透明性が高い</a:t>
            </a:r>
          </a:p>
        </p:txBody>
      </p:sp>
      <p:sp>
        <p:nvSpPr>
          <p:cNvPr id="60" name="">
            <a:extLst xmlns:a="http://schemas.openxmlformats.org/drawingml/2006/main">
              <a:ext uri="{FF2B5EF4-FFF2-40B4-BE49-F238E27FC236}">
                <a16:creationId xmlns:a16="http://schemas.microsoft.com/office/drawing/2014/main" id="{EA9F10C3-F792-4A5B-A28D-18F1F61FE9F0}"/>
              </a:ext>
            </a:extLst>
          </p:cNvPr>
          <p:cNvSpPr>
            <a:spLocks xmlns:a="http://schemas.openxmlformats.org/drawingml/2006/main" noGrp="1"/>
          </p:cNvSpPr>
          <p:nvPr/>
        </p:nvSpPr>
        <p:spPr>
          <a:xfrm xmlns:a="http://schemas.openxmlformats.org/drawingml/2006/main">
            <a:off x="11168063" y="3219450"/>
            <a:ext cx="85725" cy="85725"/>
          </a:xfrm>
          <a:prstGeom xmlns:a="http://schemas.openxmlformats.org/drawingml/2006/main" prst="ellipse">
            <a:avLst/>
          </a:prstGeom>
          <a:solidFill xmlns:a="http://schemas.openxmlformats.org/drawingml/2006/main">
            <a:srgbClr val="F52323"/>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B548AC9F-B1F6-4FFD-A773-91E6EECD940E}"/>
              </a:ext>
            </a:extLst>
          </p:cNvPr>
          <p:cNvSpPr>
            <a:spLocks xmlns:a="http://schemas.openxmlformats.org/drawingml/2006/main" noGrp="1"/>
          </p:cNvSpPr>
          <p:nvPr/>
        </p:nvSpPr>
        <p:spPr>
          <a:xfrm xmlns:a="http://schemas.openxmlformats.org/drawingml/2006/main">
            <a:off x="11287125" y="3152775"/>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4444"/>
          </a:bodyPr>
          <a:lstStyle xmlns:a="http://schemas.openxmlformats.org/drawingml/2006/main"/>
          <a:p xmlns:a="http://schemas.openxmlformats.org/drawingml/2006/main">
            <a:pPr>
              <a:buNone/>
              <a:defRPr sz="1350">
                <a:solidFill>
                  <a:srgbClr val="111111"/>
                </a:solidFill>
                <a:latin typeface="Yu Gothic"/>
                <a:ea typeface="Yu Gothic"/>
                <a:cs typeface="Yu Gothic"/>
              </a:defRPr>
            </a:pPr>
            <a:r>
              <a:rPr sz="1350">
                <a:solidFill>
                  <a:srgbClr val="111111"/>
                </a:solidFill>
                <a:latin typeface="Yu Gothic"/>
                <a:ea typeface="Yu Gothic"/>
                <a:cs typeface="Yu Gothic"/>
              </a:rPr>
              <a:t>公開後の改善伴走まで含めた提案</a:t>
            </a:r>
          </a:p>
        </p:txBody>
      </p:sp>
      <p:sp>
        <p:nvSpPr>
          <p:cNvPr id="62" name="panel-選定時の留意点">
            <a:extLst xmlns:a="http://schemas.openxmlformats.org/drawingml/2006/main">
              <a:ext uri="{FF2B5EF4-FFF2-40B4-BE49-F238E27FC236}">
                <a16:creationId xmlns:a16="http://schemas.microsoft.com/office/drawing/2014/main" id="{0072EC90-7169-4BAD-B585-EDF291018D88}"/>
              </a:ext>
            </a:extLst>
          </p:cNvPr>
          <p:cNvSpPr>
            <a:spLocks xmlns:a="http://schemas.openxmlformats.org/drawingml/2006/main" noGrp="1"/>
          </p:cNvSpPr>
          <p:nvPr/>
        </p:nvSpPr>
        <p:spPr>
          <a:xfrm xmlns:a="http://schemas.openxmlformats.org/drawingml/2006/main">
            <a:off x="9086850" y="3743325"/>
            <a:ext cx="6486525" cy="1990725"/>
          </a:xfrm>
          <a:prstGeom xmlns:a="http://schemas.openxmlformats.org/drawingml/2006/main" prst="rect">
            <a:avLst/>
          </a:prstGeom>
          <a:solidFill xmlns:a="http://schemas.openxmlformats.org/drawingml/2006/main">
            <a:srgbClr val="FFFFFF"/>
          </a:solidFill>
          <a:ln xmlns:a="http://schemas.openxmlformats.org/drawingml/2006/main" w="9525">
            <a:solidFill>
              <a:srgbClr val="D6DDE5"/>
            </a:solidFill>
            <a:prstDash val="solid"/>
          </a:ln>
        </p:spPr>
      </p:sp>
      <p:sp>
        <p:nvSpPr>
          <p:cNvPr id="63" name="">
            <a:extLst xmlns:a="http://schemas.openxmlformats.org/drawingml/2006/main">
              <a:ext uri="{FF2B5EF4-FFF2-40B4-BE49-F238E27FC236}">
                <a16:creationId xmlns:a16="http://schemas.microsoft.com/office/drawing/2014/main" id="{6D3D49F2-8187-4672-A9A6-0556630FAD29}"/>
              </a:ext>
            </a:extLst>
          </p:cNvPr>
          <p:cNvSpPr>
            <a:spLocks xmlns:a="http://schemas.openxmlformats.org/drawingml/2006/main" noGrp="1"/>
          </p:cNvSpPr>
          <p:nvPr/>
        </p:nvSpPr>
        <p:spPr>
          <a:xfrm xmlns:a="http://schemas.openxmlformats.org/drawingml/2006/main">
            <a:off x="9344025" y="3971925"/>
            <a:ext cx="447675" cy="400050"/>
          </a:xfrm>
          <a:prstGeom xmlns:a="http://schemas.openxmlformats.org/drawingml/2006/main" prst="triangle">
            <a:avLst/>
          </a:prstGeom>
          <a:noFill xmlns:a="http://schemas.openxmlformats.org/drawingml/2006/main"/>
          <a:ln xmlns:a="http://schemas.openxmlformats.org/drawingml/2006/main" w="38100">
            <a:solidFill>
              <a:srgbClr val="111111"/>
            </a:solidFill>
            <a:prstDash val="solid"/>
          </a:ln>
        </p:spPr>
      </p:sp>
      <p:sp>
        <p:nvSpPr>
          <p:cNvPr id="64" name="">
            <a:extLst xmlns:a="http://schemas.openxmlformats.org/drawingml/2006/main">
              <a:ext uri="{FF2B5EF4-FFF2-40B4-BE49-F238E27FC236}">
                <a16:creationId xmlns:a16="http://schemas.microsoft.com/office/drawing/2014/main" id="{2323569D-47EA-4778-92F8-76A9E5DF7849}"/>
              </a:ext>
            </a:extLst>
          </p:cNvPr>
          <p:cNvSpPr>
            <a:spLocks xmlns:a="http://schemas.openxmlformats.org/drawingml/2006/main" noGrp="1"/>
          </p:cNvSpPr>
          <p:nvPr/>
        </p:nvSpPr>
        <p:spPr>
          <a:xfrm xmlns:a="http://schemas.openxmlformats.org/drawingml/2006/main">
            <a:off x="9567863" y="4090458"/>
            <a:ext cx="0" cy="125942"/>
          </a:xfrm>
          <a:prstGeom xmlns:a="http://schemas.openxmlformats.org/drawingml/2006/main" prst="line">
            <a:avLst/>
          </a:prstGeom>
          <a:noFill xmlns:a="http://schemas.openxmlformats.org/drawingml/2006/main"/>
          <a:ln xmlns:a="http://schemas.openxmlformats.org/drawingml/2006/main" w="38100">
            <a:solidFill>
              <a:srgbClr val="111111"/>
            </a:solidFill>
            <a:prstDash val="solid"/>
          </a:ln>
        </p:spPr>
      </p:sp>
      <p:sp>
        <p:nvSpPr>
          <p:cNvPr id="65" name="">
            <a:extLst xmlns:a="http://schemas.openxmlformats.org/drawingml/2006/main">
              <a:ext uri="{FF2B5EF4-FFF2-40B4-BE49-F238E27FC236}">
                <a16:creationId xmlns:a16="http://schemas.microsoft.com/office/drawing/2014/main" id="{766EC6FA-8866-41B8-960B-1E87E94140F0}"/>
              </a:ext>
            </a:extLst>
          </p:cNvPr>
          <p:cNvSpPr>
            <a:spLocks xmlns:a="http://schemas.openxmlformats.org/drawingml/2006/main" noGrp="1"/>
          </p:cNvSpPr>
          <p:nvPr/>
        </p:nvSpPr>
        <p:spPr>
          <a:xfrm xmlns:a="http://schemas.openxmlformats.org/drawingml/2006/main">
            <a:off x="9549956" y="4275667"/>
            <a:ext cx="35814" cy="29633"/>
          </a:xfrm>
          <a:prstGeom xmlns:a="http://schemas.openxmlformats.org/drawingml/2006/main" prst="ellipse">
            <a:avLst/>
          </a:prstGeom>
          <a:solidFill xmlns:a="http://schemas.openxmlformats.org/drawingml/2006/main">
            <a:srgbClr val="111111"/>
          </a:solidFill>
          <a:ln xmlns:a="http://schemas.openxmlformats.org/drawingml/2006/main" w="0">
            <a:noFill/>
            <a:prstDash val="solid"/>
          </a:ln>
        </p:spPr>
      </p:sp>
      <p:sp>
        <p:nvSpPr>
          <p:cNvPr id="66" name="panel-title-選定時の留意点">
            <a:extLst xmlns:a="http://schemas.openxmlformats.org/drawingml/2006/main">
              <a:ext uri="{FF2B5EF4-FFF2-40B4-BE49-F238E27FC236}">
                <a16:creationId xmlns:a16="http://schemas.microsoft.com/office/drawing/2014/main" id="{448A2815-D44C-4433-88C8-A74EFC68D5F3}"/>
              </a:ext>
            </a:extLst>
          </p:cNvPr>
          <p:cNvSpPr>
            <a:spLocks xmlns:a="http://schemas.openxmlformats.org/drawingml/2006/main" noGrp="1"/>
          </p:cNvSpPr>
          <p:nvPr/>
        </p:nvSpPr>
        <p:spPr>
          <a:xfrm xmlns:a="http://schemas.openxmlformats.org/drawingml/2006/main">
            <a:off x="9229725" y="4448175"/>
            <a:ext cx="2047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buNone/>
              <a:defRPr sz="1950" b="1">
                <a:solidFill>
                  <a:srgbClr val="F52323"/>
                </a:solidFill>
                <a:latin typeface="Yu Gothic"/>
                <a:ea typeface="Yu Gothic"/>
                <a:cs typeface="Yu Gothic"/>
              </a:defRPr>
            </a:pPr>
            <a:r>
              <a:rPr sz="1950" b="1">
                <a:solidFill>
                  <a:srgbClr val="F52323"/>
                </a:solidFill>
                <a:latin typeface="Yu Gothic"/>
                <a:ea typeface="Yu Gothic"/>
                <a:cs typeface="Yu Gothic"/>
              </a:rPr>
              <a:t>選定時の留意点</a:t>
            </a:r>
          </a:p>
        </p:txBody>
      </p:sp>
      <p:sp>
        <p:nvSpPr>
          <p:cNvPr id="67" name="">
            <a:extLst xmlns:a="http://schemas.openxmlformats.org/drawingml/2006/main">
              <a:ext uri="{FF2B5EF4-FFF2-40B4-BE49-F238E27FC236}">
                <a16:creationId xmlns:a16="http://schemas.microsoft.com/office/drawing/2014/main" id="{17F4F790-35A4-474C-BF81-338ADC1BFD1C}"/>
              </a:ext>
            </a:extLst>
          </p:cNvPr>
          <p:cNvSpPr>
            <a:spLocks xmlns:a="http://schemas.openxmlformats.org/drawingml/2006/main" noGrp="1"/>
          </p:cNvSpPr>
          <p:nvPr/>
        </p:nvSpPr>
        <p:spPr>
          <a:xfrm xmlns:a="http://schemas.openxmlformats.org/drawingml/2006/main">
            <a:off x="11168063" y="4086225"/>
            <a:ext cx="85725" cy="85725"/>
          </a:xfrm>
          <a:prstGeom xmlns:a="http://schemas.openxmlformats.org/drawingml/2006/main" prst="ellipse">
            <a:avLst/>
          </a:prstGeom>
          <a:solidFill xmlns:a="http://schemas.openxmlformats.org/drawingml/2006/main">
            <a:srgbClr val="F52323"/>
          </a:solidFill>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A453B8C1-0074-4070-A2AF-59FB27C89CA4}"/>
              </a:ext>
            </a:extLst>
          </p:cNvPr>
          <p:cNvSpPr>
            <a:spLocks xmlns:a="http://schemas.openxmlformats.org/drawingml/2006/main" noGrp="1"/>
          </p:cNvSpPr>
          <p:nvPr/>
        </p:nvSpPr>
        <p:spPr>
          <a:xfrm xmlns:a="http://schemas.openxmlformats.org/drawingml/2006/main">
            <a:off x="11287125" y="4019550"/>
            <a:ext cx="4191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8889"/>
          </a:bodyPr>
          <a:lstStyle xmlns:a="http://schemas.openxmlformats.org/drawingml/2006/main"/>
          <a:p xmlns:a="http://schemas.openxmlformats.org/drawingml/2006/main">
            <a:pPr>
              <a:buNone/>
              <a:defRPr sz="1350">
                <a:solidFill>
                  <a:srgbClr val="111111"/>
                </a:solidFill>
                <a:latin typeface="Yu Gothic"/>
                <a:ea typeface="Yu Gothic"/>
                <a:cs typeface="Yu Gothic"/>
              </a:defRPr>
            </a:pPr>
            <a:r>
              <a:rPr sz="1350">
                <a:solidFill>
                  <a:srgbClr val="111111"/>
                </a:solidFill>
                <a:latin typeface="Yu Gothic"/>
                <a:ea typeface="Yu Gothic"/>
                <a:cs typeface="Yu Gothic"/>
              </a:rPr>
              <a:t>最終的な要件確定により費用と期間は変動する</a:t>
            </a:r>
          </a:p>
          <a:p xmlns:a="http://schemas.openxmlformats.org/drawingml/2006/main">
            <a:pPr>
              <a:buNone/>
              <a:defRPr sz="1350">
                <a:solidFill>
                  <a:srgbClr val="111111"/>
                </a:solidFill>
                <a:latin typeface="Yu Gothic"/>
                <a:ea typeface="Yu Gothic"/>
                <a:cs typeface="Yu Gothic"/>
              </a:defRPr>
            </a:pPr>
            <a:r>
              <a:rPr sz="1350">
                <a:solidFill>
                  <a:srgbClr val="111111"/>
                </a:solidFill>
                <a:latin typeface="Yu Gothic"/>
                <a:ea typeface="Yu Gothic"/>
                <a:cs typeface="Yu Gothic"/>
              </a:rPr>
              <a:t>可能性あり</a:t>
            </a:r>
          </a:p>
        </p:txBody>
      </p:sp>
      <p:sp>
        <p:nvSpPr>
          <p:cNvPr id="69" name="">
            <a:extLst xmlns:a="http://schemas.openxmlformats.org/drawingml/2006/main">
              <a:ext uri="{FF2B5EF4-FFF2-40B4-BE49-F238E27FC236}">
                <a16:creationId xmlns:a16="http://schemas.microsoft.com/office/drawing/2014/main" id="{41C16E81-5F85-4D6F-9325-250F02A0BA99}"/>
              </a:ext>
            </a:extLst>
          </p:cNvPr>
          <p:cNvSpPr>
            <a:spLocks xmlns:a="http://schemas.openxmlformats.org/drawingml/2006/main" noGrp="1"/>
          </p:cNvSpPr>
          <p:nvPr/>
        </p:nvSpPr>
        <p:spPr>
          <a:xfrm xmlns:a="http://schemas.openxmlformats.org/drawingml/2006/main">
            <a:off x="11168063" y="4714875"/>
            <a:ext cx="85725" cy="85725"/>
          </a:xfrm>
          <a:prstGeom xmlns:a="http://schemas.openxmlformats.org/drawingml/2006/main" prst="ellipse">
            <a:avLst/>
          </a:prstGeom>
          <a:solidFill xmlns:a="http://schemas.openxmlformats.org/drawingml/2006/main">
            <a:srgbClr val="F52323"/>
          </a:solidFill>
          <a:ln xmlns:a="http://schemas.openxmlformats.org/drawingml/2006/main" w="0">
            <a:noFill/>
            <a:prstDash val="solid"/>
          </a:ln>
        </p:spPr>
      </p:sp>
      <p:sp>
        <p:nvSpPr>
          <p:cNvPr id="70" name="">
            <a:extLst xmlns:a="http://schemas.openxmlformats.org/drawingml/2006/main">
              <a:ext uri="{FF2B5EF4-FFF2-40B4-BE49-F238E27FC236}">
                <a16:creationId xmlns:a16="http://schemas.microsoft.com/office/drawing/2014/main" id="{C678B88D-96FA-4BA8-8C29-22D8CD5AD943}"/>
              </a:ext>
            </a:extLst>
          </p:cNvPr>
          <p:cNvSpPr>
            <a:spLocks xmlns:a="http://schemas.openxmlformats.org/drawingml/2006/main" noGrp="1"/>
          </p:cNvSpPr>
          <p:nvPr/>
        </p:nvSpPr>
        <p:spPr>
          <a:xfrm xmlns:a="http://schemas.openxmlformats.org/drawingml/2006/main">
            <a:off x="11287125" y="4648200"/>
            <a:ext cx="4191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8889"/>
          </a:bodyPr>
          <a:lstStyle xmlns:a="http://schemas.openxmlformats.org/drawingml/2006/main"/>
          <a:p xmlns:a="http://schemas.openxmlformats.org/drawingml/2006/main">
            <a:pPr>
              <a:buNone/>
              <a:defRPr sz="1350">
                <a:solidFill>
                  <a:srgbClr val="111111"/>
                </a:solidFill>
                <a:latin typeface="Yu Gothic"/>
                <a:ea typeface="Yu Gothic"/>
                <a:cs typeface="Yu Gothic"/>
              </a:defRPr>
            </a:pPr>
            <a:r>
              <a:rPr sz="1350">
                <a:solidFill>
                  <a:srgbClr val="111111"/>
                </a:solidFill>
                <a:latin typeface="Yu Gothic"/>
                <a:ea typeface="Yu Gothic"/>
                <a:cs typeface="Yu Gothic"/>
              </a:rPr>
              <a:t>競合比較では導入後支援範囲の差を確認する</a:t>
            </a:r>
          </a:p>
          <a:p xmlns:a="http://schemas.openxmlformats.org/drawingml/2006/main">
            <a:pPr>
              <a:buNone/>
              <a:defRPr sz="1350">
                <a:solidFill>
                  <a:srgbClr val="111111"/>
                </a:solidFill>
                <a:latin typeface="Yu Gothic"/>
                <a:ea typeface="Yu Gothic"/>
                <a:cs typeface="Yu Gothic"/>
              </a:defRPr>
            </a:pPr>
            <a:r>
              <a:rPr sz="1350">
                <a:solidFill>
                  <a:srgbClr val="111111"/>
                </a:solidFill>
                <a:latin typeface="Yu Gothic"/>
                <a:ea typeface="Yu Gothic"/>
                <a:cs typeface="Yu Gothic"/>
              </a:rPr>
              <a:t>必要あり</a:t>
            </a:r>
          </a:p>
        </p:txBody>
      </p:sp>
      <p:sp>
        <p:nvSpPr>
          <p:cNvPr id="71" name="">
            <a:extLst xmlns:a="http://schemas.openxmlformats.org/drawingml/2006/main">
              <a:ext uri="{FF2B5EF4-FFF2-40B4-BE49-F238E27FC236}">
                <a16:creationId xmlns:a16="http://schemas.microsoft.com/office/drawing/2014/main" id="{88E6B204-9097-45EB-A20F-1C31711B34D3}"/>
              </a:ext>
            </a:extLst>
          </p:cNvPr>
          <p:cNvSpPr>
            <a:spLocks xmlns:a="http://schemas.openxmlformats.org/drawingml/2006/main" noGrp="1"/>
          </p:cNvSpPr>
          <p:nvPr/>
        </p:nvSpPr>
        <p:spPr>
          <a:xfrm xmlns:a="http://schemas.openxmlformats.org/drawingml/2006/main">
            <a:off x="11168063" y="5343525"/>
            <a:ext cx="85725" cy="85725"/>
          </a:xfrm>
          <a:prstGeom xmlns:a="http://schemas.openxmlformats.org/drawingml/2006/main" prst="ellipse">
            <a:avLst/>
          </a:prstGeom>
          <a:solidFill xmlns:a="http://schemas.openxmlformats.org/drawingml/2006/main">
            <a:srgbClr val="F52323"/>
          </a:solidFill>
          <a:ln xmlns:a="http://schemas.openxmlformats.org/drawingml/2006/main" w="0">
            <a:noFill/>
            <a:prstDash val="solid"/>
          </a:ln>
        </p:spPr>
      </p:sp>
      <p:sp>
        <p:nvSpPr>
          <p:cNvPr id="72" name="">
            <a:extLst xmlns:a="http://schemas.openxmlformats.org/drawingml/2006/main">
              <a:ext uri="{FF2B5EF4-FFF2-40B4-BE49-F238E27FC236}">
                <a16:creationId xmlns:a16="http://schemas.microsoft.com/office/drawing/2014/main" id="{BBC8EBA0-BEAF-4406-9F77-8B9079C42618}"/>
              </a:ext>
            </a:extLst>
          </p:cNvPr>
          <p:cNvSpPr>
            <a:spLocks xmlns:a="http://schemas.openxmlformats.org/drawingml/2006/main" noGrp="1"/>
          </p:cNvSpPr>
          <p:nvPr/>
        </p:nvSpPr>
        <p:spPr>
          <a:xfrm xmlns:a="http://schemas.openxmlformats.org/drawingml/2006/main">
            <a:off x="11287125" y="527685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4444"/>
          </a:bodyPr>
          <a:lstStyle xmlns:a="http://schemas.openxmlformats.org/drawingml/2006/main"/>
          <a:p xmlns:a="http://schemas.openxmlformats.org/drawingml/2006/main">
            <a:pPr>
              <a:buNone/>
              <a:defRPr sz="1350">
                <a:solidFill>
                  <a:srgbClr val="111111"/>
                </a:solidFill>
                <a:latin typeface="Yu Gothic"/>
                <a:ea typeface="Yu Gothic"/>
                <a:cs typeface="Yu Gothic"/>
              </a:defRPr>
            </a:pPr>
            <a:r>
              <a:rPr sz="1350">
                <a:solidFill>
                  <a:srgbClr val="111111"/>
                </a:solidFill>
                <a:latin typeface="Yu Gothic"/>
                <a:ea typeface="Yu Gothic"/>
                <a:cs typeface="Yu Gothic"/>
              </a:rPr>
              <a:t>社内承認に向けて判断基準の事前整理が重要</a:t>
            </a:r>
          </a:p>
        </p:txBody>
      </p:sp>
      <p:sp>
        <p:nvSpPr>
          <p:cNvPr id="73" name="panel-次の確認事項">
            <a:extLst xmlns:a="http://schemas.openxmlformats.org/drawingml/2006/main">
              <a:ext uri="{FF2B5EF4-FFF2-40B4-BE49-F238E27FC236}">
                <a16:creationId xmlns:a16="http://schemas.microsoft.com/office/drawing/2014/main" id="{B87C4E5D-23B0-43C2-91BF-A6E5A42E4F74}"/>
              </a:ext>
            </a:extLst>
          </p:cNvPr>
          <p:cNvSpPr>
            <a:spLocks xmlns:a="http://schemas.openxmlformats.org/drawingml/2006/main" noGrp="1"/>
          </p:cNvSpPr>
          <p:nvPr/>
        </p:nvSpPr>
        <p:spPr>
          <a:xfrm xmlns:a="http://schemas.openxmlformats.org/drawingml/2006/main">
            <a:off x="9086850" y="5838825"/>
            <a:ext cx="6486525" cy="1524000"/>
          </a:xfrm>
          <a:prstGeom xmlns:a="http://schemas.openxmlformats.org/drawingml/2006/main" prst="rect">
            <a:avLst/>
          </a:prstGeom>
          <a:solidFill xmlns:a="http://schemas.openxmlformats.org/drawingml/2006/main">
            <a:srgbClr val="FFFFFF"/>
          </a:solidFill>
          <a:ln xmlns:a="http://schemas.openxmlformats.org/drawingml/2006/main" w="9525">
            <a:solidFill>
              <a:srgbClr val="D6DDE5"/>
            </a:solidFill>
            <a:prstDash val="solid"/>
          </a:ln>
        </p:spPr>
      </p:sp>
      <p:sp>
        <p:nvSpPr>
          <p:cNvPr id="74" name="">
            <a:extLst xmlns:a="http://schemas.openxmlformats.org/drawingml/2006/main">
              <a:ext uri="{FF2B5EF4-FFF2-40B4-BE49-F238E27FC236}">
                <a16:creationId xmlns:a16="http://schemas.microsoft.com/office/drawing/2014/main" id="{8F347B8F-A248-4BF1-8B36-D406B89D5224}"/>
              </a:ext>
            </a:extLst>
          </p:cNvPr>
          <p:cNvSpPr>
            <a:spLocks xmlns:a="http://schemas.openxmlformats.org/drawingml/2006/main" noGrp="1"/>
          </p:cNvSpPr>
          <p:nvPr/>
        </p:nvSpPr>
        <p:spPr>
          <a:xfrm xmlns:a="http://schemas.openxmlformats.org/drawingml/2006/main">
            <a:off x="9372600" y="6048375"/>
            <a:ext cx="323850" cy="323850"/>
          </a:xfrm>
          <a:prstGeom xmlns:a="http://schemas.openxmlformats.org/drawingml/2006/main" prst="ellipse">
            <a:avLst/>
          </a:prstGeom>
          <a:noFill xmlns:a="http://schemas.openxmlformats.org/drawingml/2006/main"/>
          <a:ln xmlns:a="http://schemas.openxmlformats.org/drawingml/2006/main" w="38100">
            <a:solidFill>
              <a:srgbClr val="111111"/>
            </a:solidFill>
            <a:prstDash val="solid"/>
          </a:ln>
        </p:spPr>
      </p:sp>
      <p:sp>
        <p:nvSpPr>
          <p:cNvPr id="75" name="">
            <a:extLst xmlns:a="http://schemas.openxmlformats.org/drawingml/2006/main">
              <a:ext uri="{FF2B5EF4-FFF2-40B4-BE49-F238E27FC236}">
                <a16:creationId xmlns:a16="http://schemas.microsoft.com/office/drawing/2014/main" id="{4389016F-34C7-4C12-B99C-F4EAEFCC003A}"/>
              </a:ext>
            </a:extLst>
          </p:cNvPr>
          <p:cNvSpPr>
            <a:spLocks xmlns:a="http://schemas.openxmlformats.org/drawingml/2006/main" noGrp="1"/>
          </p:cNvSpPr>
          <p:nvPr/>
        </p:nvSpPr>
        <p:spPr>
          <a:xfrm xmlns:a="http://schemas.openxmlformats.org/drawingml/2006/main">
            <a:off x="9439275" y="6115050"/>
            <a:ext cx="190500" cy="190500"/>
          </a:xfrm>
          <a:prstGeom xmlns:a="http://schemas.openxmlformats.org/drawingml/2006/main" prst="ellipse">
            <a:avLst/>
          </a:prstGeom>
          <a:noFill xmlns:a="http://schemas.openxmlformats.org/drawingml/2006/main"/>
          <a:ln xmlns:a="http://schemas.openxmlformats.org/drawingml/2006/main" w="38100">
            <a:solidFill>
              <a:srgbClr val="111111"/>
            </a:solidFill>
            <a:prstDash val="solid"/>
          </a:ln>
        </p:spPr>
      </p:sp>
      <p:sp>
        <p:nvSpPr>
          <p:cNvPr id="76" name="">
            <a:extLst xmlns:a="http://schemas.openxmlformats.org/drawingml/2006/main">
              <a:ext uri="{FF2B5EF4-FFF2-40B4-BE49-F238E27FC236}">
                <a16:creationId xmlns:a16="http://schemas.microsoft.com/office/drawing/2014/main" id="{21B141A9-9403-4417-B083-4B26AD879FEE}"/>
              </a:ext>
            </a:extLst>
          </p:cNvPr>
          <p:cNvSpPr>
            <a:spLocks xmlns:a="http://schemas.openxmlformats.org/drawingml/2006/main" noGrp="1"/>
          </p:cNvSpPr>
          <p:nvPr/>
        </p:nvSpPr>
        <p:spPr>
          <a:xfrm xmlns:a="http://schemas.openxmlformats.org/drawingml/2006/main">
            <a:off x="9501188" y="6176963"/>
            <a:ext cx="66675" cy="66675"/>
          </a:xfrm>
          <a:prstGeom xmlns:a="http://schemas.openxmlformats.org/drawingml/2006/main" prst="ellipse">
            <a:avLst/>
          </a:prstGeom>
          <a:noFill xmlns:a="http://schemas.openxmlformats.org/drawingml/2006/main"/>
          <a:ln xmlns:a="http://schemas.openxmlformats.org/drawingml/2006/main" w="38100">
            <a:solidFill>
              <a:srgbClr val="111111"/>
            </a:solidFill>
            <a:prstDash val="solid"/>
          </a:ln>
        </p:spPr>
      </p:sp>
      <p:sp>
        <p:nvSpPr>
          <p:cNvPr id="77" name="">
            <a:extLst xmlns:a="http://schemas.openxmlformats.org/drawingml/2006/main">
              <a:ext uri="{FF2B5EF4-FFF2-40B4-BE49-F238E27FC236}">
                <a16:creationId xmlns:a16="http://schemas.microsoft.com/office/drawing/2014/main" id="{B1A0BBC9-99F3-4A18-8CD1-4363A3662380}"/>
              </a:ext>
            </a:extLst>
          </p:cNvPr>
          <p:cNvSpPr>
            <a:spLocks xmlns:a="http://schemas.openxmlformats.org/drawingml/2006/main" noGrp="1"/>
          </p:cNvSpPr>
          <p:nvPr/>
        </p:nvSpPr>
        <p:spPr>
          <a:xfrm xmlns:a="http://schemas.openxmlformats.org/drawingml/2006/main">
            <a:off x="9601200" y="6143625"/>
            <a:ext cx="219075" cy="0"/>
          </a:xfrm>
          <a:prstGeom xmlns:a="http://schemas.openxmlformats.org/drawingml/2006/main" prst="line">
            <a:avLst/>
          </a:prstGeom>
          <a:noFill xmlns:a="http://schemas.openxmlformats.org/drawingml/2006/main"/>
          <a:ln xmlns:a="http://schemas.openxmlformats.org/drawingml/2006/main" w="38100">
            <a:solidFill>
              <a:srgbClr val="111111"/>
            </a:solidFill>
            <a:prstDash val="solid"/>
          </a:ln>
        </p:spPr>
      </p:sp>
      <p:sp>
        <p:nvSpPr>
          <p:cNvPr id="78" name="">
            <a:extLst xmlns:a="http://schemas.openxmlformats.org/drawingml/2006/main">
              <a:ext uri="{FF2B5EF4-FFF2-40B4-BE49-F238E27FC236}">
                <a16:creationId xmlns:a16="http://schemas.microsoft.com/office/drawing/2014/main" id="{C9115943-3B0F-4553-95CC-678E54D782A8}"/>
              </a:ext>
            </a:extLst>
          </p:cNvPr>
          <p:cNvSpPr>
            <a:spLocks xmlns:a="http://schemas.openxmlformats.org/drawingml/2006/main" noGrp="1"/>
          </p:cNvSpPr>
          <p:nvPr/>
        </p:nvSpPr>
        <p:spPr>
          <a:xfrm xmlns:a="http://schemas.openxmlformats.org/drawingml/2006/main">
            <a:off x="9820275" y="5924550"/>
            <a:ext cx="0" cy="19050"/>
          </a:xfrm>
          <a:prstGeom xmlns:a="http://schemas.openxmlformats.org/drawingml/2006/main" prst="line">
            <a:avLst/>
          </a:prstGeom>
          <a:noFill xmlns:a="http://schemas.openxmlformats.org/drawingml/2006/main"/>
          <a:ln xmlns:a="http://schemas.openxmlformats.org/drawingml/2006/main" w="38100">
            <a:solidFill>
              <a:srgbClr val="111111"/>
            </a:solidFill>
            <a:prstDash val="solid"/>
          </a:ln>
        </p:spPr>
      </p:sp>
      <p:sp>
        <p:nvSpPr>
          <p:cNvPr id="79" name="">
            <a:extLst xmlns:a="http://schemas.openxmlformats.org/drawingml/2006/main">
              <a:ext uri="{FF2B5EF4-FFF2-40B4-BE49-F238E27FC236}">
                <a16:creationId xmlns:a16="http://schemas.microsoft.com/office/drawing/2014/main" id="{5F1063F5-2787-41CF-95A2-BCAA6EDE0CFA}"/>
              </a:ext>
            </a:extLst>
          </p:cNvPr>
          <p:cNvSpPr>
            <a:spLocks xmlns:a="http://schemas.openxmlformats.org/drawingml/2006/main" noGrp="1"/>
          </p:cNvSpPr>
          <p:nvPr/>
        </p:nvSpPr>
        <p:spPr>
          <a:xfrm xmlns:a="http://schemas.openxmlformats.org/drawingml/2006/main">
            <a:off x="9820275" y="5924550"/>
            <a:ext cx="0" cy="114300"/>
          </a:xfrm>
          <a:prstGeom xmlns:a="http://schemas.openxmlformats.org/drawingml/2006/main" prst="line">
            <a:avLst/>
          </a:prstGeom>
          <a:noFill xmlns:a="http://schemas.openxmlformats.org/drawingml/2006/main"/>
          <a:ln xmlns:a="http://schemas.openxmlformats.org/drawingml/2006/main" w="38100">
            <a:solidFill>
              <a:srgbClr val="111111"/>
            </a:solidFill>
            <a:prstDash val="solid"/>
          </a:ln>
        </p:spPr>
      </p:sp>
      <p:sp>
        <p:nvSpPr>
          <p:cNvPr id="80" name="panel-title-次の確認事項">
            <a:extLst xmlns:a="http://schemas.openxmlformats.org/drawingml/2006/main">
              <a:ext uri="{FF2B5EF4-FFF2-40B4-BE49-F238E27FC236}">
                <a16:creationId xmlns:a16="http://schemas.microsoft.com/office/drawing/2014/main" id="{C03F4DE8-5CA9-4768-9FCF-DDD48E090C31}"/>
              </a:ext>
            </a:extLst>
          </p:cNvPr>
          <p:cNvSpPr>
            <a:spLocks xmlns:a="http://schemas.openxmlformats.org/drawingml/2006/main" noGrp="1"/>
          </p:cNvSpPr>
          <p:nvPr/>
        </p:nvSpPr>
        <p:spPr>
          <a:xfrm xmlns:a="http://schemas.openxmlformats.org/drawingml/2006/main">
            <a:off x="9229725" y="6429375"/>
            <a:ext cx="2047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buNone/>
              <a:defRPr sz="1950" b="1">
                <a:solidFill>
                  <a:srgbClr val="F52323"/>
                </a:solidFill>
                <a:latin typeface="Yu Gothic"/>
                <a:ea typeface="Yu Gothic"/>
                <a:cs typeface="Yu Gothic"/>
              </a:defRPr>
            </a:pPr>
            <a:r>
              <a:rPr sz="1950" b="1">
                <a:solidFill>
                  <a:srgbClr val="F52323"/>
                </a:solidFill>
                <a:latin typeface="Yu Gothic"/>
                <a:ea typeface="Yu Gothic"/>
                <a:cs typeface="Yu Gothic"/>
              </a:rPr>
              <a:t>次の確認事項</a:t>
            </a:r>
          </a:p>
        </p:txBody>
      </p:sp>
      <p:sp>
        <p:nvSpPr>
          <p:cNvPr id="81" name="">
            <a:extLst xmlns:a="http://schemas.openxmlformats.org/drawingml/2006/main">
              <a:ext uri="{FF2B5EF4-FFF2-40B4-BE49-F238E27FC236}">
                <a16:creationId xmlns:a16="http://schemas.microsoft.com/office/drawing/2014/main" id="{D43C5A78-FF78-43D8-A28D-8EF4EC7584A6}"/>
              </a:ext>
            </a:extLst>
          </p:cNvPr>
          <p:cNvSpPr>
            <a:spLocks xmlns:a="http://schemas.openxmlformats.org/drawingml/2006/main" noGrp="1"/>
          </p:cNvSpPr>
          <p:nvPr/>
        </p:nvSpPr>
        <p:spPr>
          <a:xfrm xmlns:a="http://schemas.openxmlformats.org/drawingml/2006/main">
            <a:off x="11168063" y="6162675"/>
            <a:ext cx="85725" cy="85725"/>
          </a:xfrm>
          <a:prstGeom xmlns:a="http://schemas.openxmlformats.org/drawingml/2006/main" prst="ellipse">
            <a:avLst/>
          </a:prstGeom>
          <a:solidFill xmlns:a="http://schemas.openxmlformats.org/drawingml/2006/main">
            <a:srgbClr val="F52323"/>
          </a:solidFill>
          <a:ln xmlns:a="http://schemas.openxmlformats.org/drawingml/2006/main" w="0">
            <a:noFill/>
            <a:prstDash val="solid"/>
          </a:ln>
        </p:spPr>
      </p:sp>
      <p:sp>
        <p:nvSpPr>
          <p:cNvPr id="82" name="">
            <a:extLst xmlns:a="http://schemas.openxmlformats.org/drawingml/2006/main">
              <a:ext uri="{FF2B5EF4-FFF2-40B4-BE49-F238E27FC236}">
                <a16:creationId xmlns:a16="http://schemas.microsoft.com/office/drawing/2014/main" id="{A254CB6F-C269-4809-82F8-DA0790C76971}"/>
              </a:ext>
            </a:extLst>
          </p:cNvPr>
          <p:cNvSpPr>
            <a:spLocks xmlns:a="http://schemas.openxmlformats.org/drawingml/2006/main" noGrp="1"/>
          </p:cNvSpPr>
          <p:nvPr/>
        </p:nvSpPr>
        <p:spPr>
          <a:xfrm xmlns:a="http://schemas.openxmlformats.org/drawingml/2006/main">
            <a:off x="11287125" y="609600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4444"/>
          </a:bodyPr>
          <a:lstStyle xmlns:a="http://schemas.openxmlformats.org/drawingml/2006/main"/>
          <a:p xmlns:a="http://schemas.openxmlformats.org/drawingml/2006/main">
            <a:pPr>
              <a:buNone/>
              <a:defRPr sz="1350">
                <a:solidFill>
                  <a:srgbClr val="111111"/>
                </a:solidFill>
                <a:latin typeface="Yu Gothic"/>
                <a:ea typeface="Yu Gothic"/>
                <a:cs typeface="Yu Gothic"/>
              </a:defRPr>
            </a:pPr>
            <a:r>
              <a:rPr sz="1350">
                <a:solidFill>
                  <a:srgbClr val="111111"/>
                </a:solidFill>
                <a:latin typeface="Yu Gothic"/>
                <a:ea typeface="Yu Gothic"/>
                <a:cs typeface="Yu Gothic"/>
              </a:rPr>
              <a:t>決裁者の評価観点の再確認</a:t>
            </a:r>
          </a:p>
        </p:txBody>
      </p:sp>
      <p:sp>
        <p:nvSpPr>
          <p:cNvPr id="83" name="">
            <a:extLst xmlns:a="http://schemas.openxmlformats.org/drawingml/2006/main">
              <a:ext uri="{FF2B5EF4-FFF2-40B4-BE49-F238E27FC236}">
                <a16:creationId xmlns:a16="http://schemas.microsoft.com/office/drawing/2014/main" id="{F071421B-6C0F-425B-A398-CF2E922F9A14}"/>
              </a:ext>
            </a:extLst>
          </p:cNvPr>
          <p:cNvSpPr>
            <a:spLocks xmlns:a="http://schemas.openxmlformats.org/drawingml/2006/main" noGrp="1"/>
          </p:cNvSpPr>
          <p:nvPr/>
        </p:nvSpPr>
        <p:spPr>
          <a:xfrm xmlns:a="http://schemas.openxmlformats.org/drawingml/2006/main">
            <a:off x="11168063" y="6515100"/>
            <a:ext cx="85725" cy="85725"/>
          </a:xfrm>
          <a:prstGeom xmlns:a="http://schemas.openxmlformats.org/drawingml/2006/main" prst="ellipse">
            <a:avLst/>
          </a:prstGeom>
          <a:solidFill xmlns:a="http://schemas.openxmlformats.org/drawingml/2006/main">
            <a:srgbClr val="F52323"/>
          </a:solidFill>
          <a:ln xmlns:a="http://schemas.openxmlformats.org/drawingml/2006/main" w="0">
            <a:noFill/>
            <a:prstDash val="solid"/>
          </a:ln>
        </p:spPr>
      </p:sp>
      <p:sp>
        <p:nvSpPr>
          <p:cNvPr id="84" name="">
            <a:extLst xmlns:a="http://schemas.openxmlformats.org/drawingml/2006/main">
              <a:ext uri="{FF2B5EF4-FFF2-40B4-BE49-F238E27FC236}">
                <a16:creationId xmlns:a16="http://schemas.microsoft.com/office/drawing/2014/main" id="{4C746D06-64B8-4DA3-BE3B-6081B9010EF1}"/>
              </a:ext>
            </a:extLst>
          </p:cNvPr>
          <p:cNvSpPr>
            <a:spLocks xmlns:a="http://schemas.openxmlformats.org/drawingml/2006/main" noGrp="1"/>
          </p:cNvSpPr>
          <p:nvPr/>
        </p:nvSpPr>
        <p:spPr>
          <a:xfrm xmlns:a="http://schemas.openxmlformats.org/drawingml/2006/main">
            <a:off x="11287125" y="6448425"/>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4444"/>
          </a:bodyPr>
          <a:lstStyle xmlns:a="http://schemas.openxmlformats.org/drawingml/2006/main"/>
          <a:p xmlns:a="http://schemas.openxmlformats.org/drawingml/2006/main">
            <a:pPr>
              <a:buNone/>
              <a:defRPr sz="1350">
                <a:solidFill>
                  <a:srgbClr val="111111"/>
                </a:solidFill>
                <a:latin typeface="Yu Gothic"/>
                <a:ea typeface="Yu Gothic"/>
                <a:cs typeface="Yu Gothic"/>
              </a:defRPr>
            </a:pPr>
            <a:r>
              <a:rPr sz="1350">
                <a:solidFill>
                  <a:srgbClr val="111111"/>
                </a:solidFill>
                <a:latin typeface="Yu Gothic"/>
                <a:ea typeface="Yu Gothic"/>
                <a:cs typeface="Yu Gothic"/>
              </a:rPr>
              <a:t>優先機能と初期公開範囲の合意</a:t>
            </a:r>
          </a:p>
        </p:txBody>
      </p:sp>
      <p:sp>
        <p:nvSpPr>
          <p:cNvPr id="85" name="">
            <a:extLst xmlns:a="http://schemas.openxmlformats.org/drawingml/2006/main">
              <a:ext uri="{FF2B5EF4-FFF2-40B4-BE49-F238E27FC236}">
                <a16:creationId xmlns:a16="http://schemas.microsoft.com/office/drawing/2014/main" id="{3407DE61-2C23-45CA-B6A5-EF35D8CD3EB6}"/>
              </a:ext>
            </a:extLst>
          </p:cNvPr>
          <p:cNvSpPr>
            <a:spLocks xmlns:a="http://schemas.openxmlformats.org/drawingml/2006/main" noGrp="1"/>
          </p:cNvSpPr>
          <p:nvPr/>
        </p:nvSpPr>
        <p:spPr>
          <a:xfrm xmlns:a="http://schemas.openxmlformats.org/drawingml/2006/main">
            <a:off x="11168063" y="6867525"/>
            <a:ext cx="85725" cy="85725"/>
          </a:xfrm>
          <a:prstGeom xmlns:a="http://schemas.openxmlformats.org/drawingml/2006/main" prst="ellipse">
            <a:avLst/>
          </a:prstGeom>
          <a:solidFill xmlns:a="http://schemas.openxmlformats.org/drawingml/2006/main">
            <a:srgbClr val="F52323"/>
          </a:solidFill>
          <a:ln xmlns:a="http://schemas.openxmlformats.org/drawingml/2006/main" w="0">
            <a:noFill/>
            <a:prstDash val="solid"/>
          </a:ln>
        </p:spPr>
      </p:sp>
      <p:sp>
        <p:nvSpPr>
          <p:cNvPr id="86" name="">
            <a:extLst xmlns:a="http://schemas.openxmlformats.org/drawingml/2006/main">
              <a:ext uri="{FF2B5EF4-FFF2-40B4-BE49-F238E27FC236}">
                <a16:creationId xmlns:a16="http://schemas.microsoft.com/office/drawing/2014/main" id="{EAA854BB-50D5-47AC-B807-D96C554FCD72}"/>
              </a:ext>
            </a:extLst>
          </p:cNvPr>
          <p:cNvSpPr>
            <a:spLocks xmlns:a="http://schemas.openxmlformats.org/drawingml/2006/main" noGrp="1"/>
          </p:cNvSpPr>
          <p:nvPr/>
        </p:nvSpPr>
        <p:spPr>
          <a:xfrm xmlns:a="http://schemas.openxmlformats.org/drawingml/2006/main">
            <a:off x="11287125" y="680085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4444"/>
          </a:bodyPr>
          <a:lstStyle xmlns:a="http://schemas.openxmlformats.org/drawingml/2006/main"/>
          <a:p xmlns:a="http://schemas.openxmlformats.org/drawingml/2006/main">
            <a:pPr>
              <a:buNone/>
              <a:defRPr sz="1350">
                <a:solidFill>
                  <a:srgbClr val="111111"/>
                </a:solidFill>
                <a:latin typeface="Yu Gothic"/>
                <a:ea typeface="Yu Gothic"/>
                <a:cs typeface="Yu Gothic"/>
              </a:defRPr>
            </a:pPr>
            <a:r>
              <a:rPr sz="1350">
                <a:solidFill>
                  <a:srgbClr val="111111"/>
                </a:solidFill>
                <a:latin typeface="Yu Gothic"/>
                <a:ea typeface="Yu Gothic"/>
                <a:cs typeface="Yu Gothic"/>
              </a:rPr>
              <a:t>提案比較後の条件調整ポイント整理</a:t>
            </a:r>
          </a:p>
        </p:txBody>
      </p:sp>
      <p:sp>
        <p:nvSpPr>
          <p:cNvPr id="87" name="recommendation-band">
            <a:extLst xmlns:a="http://schemas.openxmlformats.org/drawingml/2006/main">
              <a:ext uri="{FF2B5EF4-FFF2-40B4-BE49-F238E27FC236}">
                <a16:creationId xmlns:a16="http://schemas.microsoft.com/office/drawing/2014/main" id="{6777484B-121F-420F-AF5A-555ABF48FF8F}"/>
              </a:ext>
            </a:extLst>
          </p:cNvPr>
          <p:cNvSpPr>
            <a:spLocks xmlns:a="http://schemas.openxmlformats.org/drawingml/2006/main" noGrp="1"/>
          </p:cNvSpPr>
          <p:nvPr/>
        </p:nvSpPr>
        <p:spPr>
          <a:xfrm xmlns:a="http://schemas.openxmlformats.org/drawingml/2006/main">
            <a:off x="371475" y="7496175"/>
            <a:ext cx="15201900" cy="685800"/>
          </a:xfrm>
          <a:prstGeom xmlns:a="http://schemas.openxmlformats.org/drawingml/2006/main" prst="rect">
            <a:avLst/>
          </a:prstGeom>
          <a:solidFill xmlns:a="http://schemas.openxmlformats.org/drawingml/2006/main">
            <a:srgbClr val="FDE7E7"/>
          </a:solidFill>
          <a:ln xmlns:a="http://schemas.openxmlformats.org/drawingml/2006/main" w="19050">
            <a:solidFill>
              <a:srgbClr val="F52323"/>
            </a:solidFill>
            <a:prstDash val="solid"/>
          </a:ln>
        </p:spPr>
      </p:sp>
      <p:sp>
        <p:nvSpPr>
          <p:cNvPr id="88" name="recommendation-label">
            <a:extLst xmlns:a="http://schemas.openxmlformats.org/drawingml/2006/main">
              <a:ext uri="{FF2B5EF4-FFF2-40B4-BE49-F238E27FC236}">
                <a16:creationId xmlns:a16="http://schemas.microsoft.com/office/drawing/2014/main" id="{552BCDEE-9028-4CAA-BDBA-5FE60A87CA61}"/>
              </a:ext>
            </a:extLst>
          </p:cNvPr>
          <p:cNvSpPr>
            <a:spLocks xmlns:a="http://schemas.openxmlformats.org/drawingml/2006/main" noGrp="1"/>
          </p:cNvSpPr>
          <p:nvPr/>
        </p:nvSpPr>
        <p:spPr>
          <a:xfrm xmlns:a="http://schemas.openxmlformats.org/drawingml/2006/main">
            <a:off x="371475" y="7496175"/>
            <a:ext cx="2914650" cy="685800"/>
          </a:xfrm>
          <a:prstGeom xmlns:a="http://schemas.openxmlformats.org/drawingml/2006/main" prst="rect">
            <a:avLst/>
          </a:prstGeom>
          <a:solidFill xmlns:a="http://schemas.openxmlformats.org/drawingml/2006/main">
            <a:srgbClr val="F52323"/>
          </a:solidFill>
          <a:ln xmlns:a="http://schemas.openxmlformats.org/drawingml/2006/main" w="0">
            <a:solidFill>
              <a:srgbClr val="F52323"/>
            </a:solidFill>
            <a:prstDash val="solid"/>
          </a:ln>
        </p:spPr>
      </p:sp>
      <p:sp>
        <p:nvSpPr>
          <p:cNvPr id="89" name="recommendation-flag">
            <a:extLst xmlns:a="http://schemas.openxmlformats.org/drawingml/2006/main">
              <a:ext uri="{FF2B5EF4-FFF2-40B4-BE49-F238E27FC236}">
                <a16:creationId xmlns:a16="http://schemas.microsoft.com/office/drawing/2014/main" id="{D0C6D342-1385-4FC7-91DF-ADC1402160B9}"/>
              </a:ext>
            </a:extLst>
          </p:cNvPr>
          <p:cNvSpPr>
            <a:spLocks xmlns:a="http://schemas.openxmlformats.org/drawingml/2006/main" noGrp="1"/>
          </p:cNvSpPr>
          <p:nvPr/>
        </p:nvSpPr>
        <p:spPr>
          <a:xfrm xmlns:a="http://schemas.openxmlformats.org/drawingml/2006/main">
            <a:off x="600075" y="7658100"/>
            <a:ext cx="342900" cy="400050"/>
          </a:xfrm>
          <a:custGeom xmlns:a="http://schemas.openxmlformats.org/drawingml/2006/main">
            <a:pathLst>
              <a:path w="342900" h="400050">
                <a:moveTo>
                  <a:pt x="19050" y="0"/>
                </a:moveTo>
                <a:lnTo>
                  <a:pt x="47625" y="0"/>
                </a:lnTo>
                <a:lnTo>
                  <a:pt x="47625" y="47625"/>
                </a:lnTo>
                <a:lnTo>
                  <a:pt x="323850" y="47625"/>
                </a:lnTo>
                <a:lnTo>
                  <a:pt x="323850" y="276225"/>
                </a:lnTo>
                <a:lnTo>
                  <a:pt x="47625" y="276225"/>
                </a:lnTo>
                <a:lnTo>
                  <a:pt x="47625" y="400050"/>
                </a:lnTo>
                <a:lnTo>
                  <a:pt x="19050" y="400050"/>
                </a:lnTo>
                <a:close/>
              </a:path>
            </a:pathLst>
          </a:custGeom>
          <a:solidFill xmlns:a="http://schemas.openxmlformats.org/drawingml/2006/main">
            <a:srgbClr val="FFFFFF"/>
          </a:solidFill>
          <a:ln xmlns:a="http://schemas.openxmlformats.org/drawingml/2006/main" w="0">
            <a:solidFill>
              <a:srgbClr val="FFFFFF"/>
            </a:solidFill>
            <a:prstDash val="solid"/>
          </a:ln>
        </p:spPr>
      </p:sp>
      <p:sp>
        <p:nvSpPr>
          <p:cNvPr id="90" name="recommendation-label-text">
            <a:extLst xmlns:a="http://schemas.openxmlformats.org/drawingml/2006/main">
              <a:ext uri="{FF2B5EF4-FFF2-40B4-BE49-F238E27FC236}">
                <a16:creationId xmlns:a16="http://schemas.microsoft.com/office/drawing/2014/main" id="{1934D7ED-96B7-49AB-9CD5-6A921ABB5099}"/>
              </a:ext>
            </a:extLst>
          </p:cNvPr>
          <p:cNvSpPr>
            <a:spLocks xmlns:a="http://schemas.openxmlformats.org/drawingml/2006/main" noGrp="1"/>
          </p:cNvSpPr>
          <p:nvPr/>
        </p:nvSpPr>
        <p:spPr>
          <a:xfrm xmlns:a="http://schemas.openxmlformats.org/drawingml/2006/main">
            <a:off x="1228725" y="7620000"/>
            <a:ext cx="1809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buNone/>
              <a:defRPr sz="2250" b="1">
                <a:solidFill>
                  <a:srgbClr val="FFFFFF"/>
                </a:solidFill>
                <a:latin typeface="Yu Gothic"/>
                <a:ea typeface="Yu Gothic"/>
                <a:cs typeface="Yu Gothic"/>
              </a:defRPr>
            </a:pPr>
            <a:r>
              <a:rPr sz="2250" b="1">
                <a:solidFill>
                  <a:srgbClr val="FFFFFF"/>
                </a:solidFill>
                <a:latin typeface="Yu Gothic"/>
                <a:ea typeface="Yu Gothic"/>
                <a:cs typeface="Yu Gothic"/>
              </a:rPr>
              <a:t>推奨方針</a:t>
            </a:r>
          </a:p>
        </p:txBody>
      </p:sp>
      <p:sp>
        <p:nvSpPr>
          <p:cNvPr id="91" name="recommendation-copy">
            <a:extLst xmlns:a="http://schemas.openxmlformats.org/drawingml/2006/main">
              <a:ext uri="{FF2B5EF4-FFF2-40B4-BE49-F238E27FC236}">
                <a16:creationId xmlns:a16="http://schemas.microsoft.com/office/drawing/2014/main" id="{53CF12A3-F04A-48A1-855E-8914EE0E6624}"/>
              </a:ext>
            </a:extLst>
          </p:cNvPr>
          <p:cNvSpPr>
            <a:spLocks xmlns:a="http://schemas.openxmlformats.org/drawingml/2006/main" noGrp="1"/>
          </p:cNvSpPr>
          <p:nvPr/>
        </p:nvSpPr>
        <p:spPr>
          <a:xfrm xmlns:a="http://schemas.openxmlformats.org/drawingml/2006/main">
            <a:off x="3629025" y="7629525"/>
            <a:ext cx="11668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buNone/>
              <a:defRPr sz="1875" b="1">
                <a:solidFill>
                  <a:srgbClr val="111111"/>
                </a:solidFill>
                <a:latin typeface="Yu Gothic"/>
                <a:ea typeface="Yu Gothic"/>
                <a:cs typeface="Yu Gothic"/>
              </a:defRPr>
            </a:pPr>
            <a:r>
              <a:rPr sz="1875" b="1">
                <a:solidFill>
                  <a:srgbClr val="111111"/>
                </a:solidFill>
                <a:latin typeface="Yu Gothic"/>
                <a:ea typeface="Yu Gothic"/>
                <a:cs typeface="Yu Gothic"/>
              </a:rPr>
              <a:t>当社提案を第一候補として比較継続し、条件調整後に最終判断へ進むことを推奨します。</a:t>
            </a:r>
          </a:p>
        </p:txBody>
      </p:sp>
      <p:sp>
        <p:nvSpPr>
          <p:cNvPr id="92" name="footer-rule">
            <a:extLst xmlns:a="http://schemas.openxmlformats.org/drawingml/2006/main">
              <a:ext uri="{FF2B5EF4-FFF2-40B4-BE49-F238E27FC236}">
                <a16:creationId xmlns:a16="http://schemas.microsoft.com/office/drawing/2014/main" id="{DFC4AEB9-EF1C-4EF9-957C-0729D6D617BC}"/>
              </a:ext>
            </a:extLst>
          </p:cNvPr>
          <p:cNvSpPr>
            <a:spLocks xmlns:a="http://schemas.openxmlformats.org/drawingml/2006/main" noGrp="1"/>
          </p:cNvSpPr>
          <p:nvPr/>
        </p:nvSpPr>
        <p:spPr>
          <a:xfrm xmlns:a="http://schemas.openxmlformats.org/drawingml/2006/main">
            <a:off x="352425" y="8401050"/>
            <a:ext cx="15230475" cy="0"/>
          </a:xfrm>
          <a:prstGeom xmlns:a="http://schemas.openxmlformats.org/drawingml/2006/main" prst="line">
            <a:avLst/>
          </a:prstGeom>
          <a:noFill xmlns:a="http://schemas.openxmlformats.org/drawingml/2006/main"/>
          <a:ln xmlns:a="http://schemas.openxmlformats.org/drawingml/2006/main" w="28575">
            <a:solidFill>
              <a:srgbClr val="F52323"/>
            </a:solidFill>
            <a:prstDash val="solid"/>
          </a:ln>
        </p:spPr>
      </p:sp>
      <p:sp>
        <p:nvSpPr>
          <p:cNvPr id="93" name="footer-page">
            <a:extLst xmlns:a="http://schemas.openxmlformats.org/drawingml/2006/main">
              <a:ext uri="{FF2B5EF4-FFF2-40B4-BE49-F238E27FC236}">
                <a16:creationId xmlns:a16="http://schemas.microsoft.com/office/drawing/2014/main" id="{825BDD6C-BDE1-4E18-A1B3-9B45695CB8D5}"/>
              </a:ext>
            </a:extLst>
          </p:cNvPr>
          <p:cNvSpPr>
            <a:spLocks xmlns:a="http://schemas.openxmlformats.org/drawingml/2006/main" noGrp="1"/>
          </p:cNvSpPr>
          <p:nvPr/>
        </p:nvSpPr>
        <p:spPr>
          <a:xfrm xmlns:a="http://schemas.openxmlformats.org/drawingml/2006/main">
            <a:off x="390525" y="854392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85185"/>
          </a:bodyPr>
          <a:lstStyle xmlns:a="http://schemas.openxmlformats.org/drawingml/2006/main"/>
          <a:p xmlns:a="http://schemas.openxmlformats.org/drawingml/2006/main">
            <a:pPr>
              <a:buNone/>
              <a:defRPr sz="1350" b="1">
                <a:solidFill>
                  <a:srgbClr val="F52323"/>
                </a:solidFill>
                <a:latin typeface="Yu Gothic"/>
                <a:ea typeface="Yu Gothic"/>
                <a:cs typeface="Yu Gothic"/>
              </a:defRPr>
            </a:pPr>
            <a:r>
              <a:rPr sz="1350" b="1">
                <a:solidFill>
                  <a:srgbClr val="F52323"/>
                </a:solidFill>
                <a:latin typeface="Yu Gothic"/>
                <a:ea typeface="Yu Gothic"/>
                <a:cs typeface="Yu Gothic"/>
              </a:rPr>
              <a:t>07</a:t>
            </a:r>
          </a:p>
        </p:txBody>
      </p:sp>
      <p:sp>
        <p:nvSpPr>
          <p:cNvPr id="94" name="footer-divider">
            <a:extLst xmlns:a="http://schemas.openxmlformats.org/drawingml/2006/main">
              <a:ext uri="{FF2B5EF4-FFF2-40B4-BE49-F238E27FC236}">
                <a16:creationId xmlns:a16="http://schemas.microsoft.com/office/drawing/2014/main" id="{FEF7463B-013E-4C35-9A74-91F53CCCE720}"/>
              </a:ext>
            </a:extLst>
          </p:cNvPr>
          <p:cNvSpPr>
            <a:spLocks xmlns:a="http://schemas.openxmlformats.org/drawingml/2006/main" noGrp="1"/>
          </p:cNvSpPr>
          <p:nvPr/>
        </p:nvSpPr>
        <p:spPr>
          <a:xfrm xmlns:a="http://schemas.openxmlformats.org/drawingml/2006/main">
            <a:off x="866775" y="8543925"/>
            <a:ext cx="0" cy="276225"/>
          </a:xfrm>
          <a:prstGeom xmlns:a="http://schemas.openxmlformats.org/drawingml/2006/main" prst="line">
            <a:avLst/>
          </a:prstGeom>
          <a:noFill xmlns:a="http://schemas.openxmlformats.org/drawingml/2006/main"/>
          <a:ln xmlns:a="http://schemas.openxmlformats.org/drawingml/2006/main" w="19050">
            <a:solidFill>
              <a:srgbClr val="F52323"/>
            </a:solidFill>
            <a:prstDash val="solid"/>
          </a:ln>
        </p:spPr>
      </p:sp>
      <p:sp>
        <p:nvSpPr>
          <p:cNvPr id="95" name="footer-brand">
            <a:extLst xmlns:a="http://schemas.openxmlformats.org/drawingml/2006/main">
              <a:ext uri="{FF2B5EF4-FFF2-40B4-BE49-F238E27FC236}">
                <a16:creationId xmlns:a16="http://schemas.microsoft.com/office/drawing/2014/main" id="{16F790BD-CA66-4092-8EA7-1384C1B3AF38}"/>
              </a:ext>
            </a:extLst>
          </p:cNvPr>
          <p:cNvSpPr>
            <a:spLocks xmlns:a="http://schemas.openxmlformats.org/drawingml/2006/main" noGrp="1"/>
          </p:cNvSpPr>
          <p:nvPr/>
        </p:nvSpPr>
        <p:spPr>
          <a:xfrm xmlns:a="http://schemas.openxmlformats.org/drawingml/2006/main">
            <a:off x="1057275" y="8543925"/>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76667"/>
          </a:bodyPr>
          <a:lstStyle xmlns:a="http://schemas.openxmlformats.org/drawingml/2006/main"/>
          <a:p xmlns:a="http://schemas.openxmlformats.org/drawingml/2006/main">
            <a:pPr>
              <a:buNone/>
              <a:defRPr sz="1500" b="1">
                <a:solidFill>
                  <a:srgbClr val="111111"/>
                </a:solidFill>
                <a:latin typeface="Yu Gothic"/>
                <a:ea typeface="Yu Gothic"/>
                <a:cs typeface="Yu Gothic"/>
              </a:defRPr>
            </a:pPr>
            <a:r>
              <a:rPr sz="1500" b="1">
                <a:solidFill>
                  <a:srgbClr val="111111"/>
                </a:solidFill>
                <a:latin typeface="Yu Gothic"/>
                <a:ea typeface="Yu Gothic"/>
                <a:cs typeface="Yu Gothic"/>
              </a:rPr>
              <a:t>提案クエスト</a:t>
            </a:r>
          </a:p>
        </p:txBody>
      </p:sp>
      <p:sp>
        <p:nvSpPr>
          <p:cNvPr id="96" name="footer-copyright">
            <a:extLst xmlns:a="http://schemas.openxmlformats.org/drawingml/2006/main">
              <a:ext uri="{FF2B5EF4-FFF2-40B4-BE49-F238E27FC236}">
                <a16:creationId xmlns:a16="http://schemas.microsoft.com/office/drawing/2014/main" id="{39B29877-57EF-49B6-B432-8E3FF1918028}"/>
              </a:ext>
            </a:extLst>
          </p:cNvPr>
          <p:cNvSpPr>
            <a:spLocks xmlns:a="http://schemas.openxmlformats.org/drawingml/2006/main" noGrp="1"/>
          </p:cNvSpPr>
          <p:nvPr/>
        </p:nvSpPr>
        <p:spPr>
          <a:xfrm xmlns:a="http://schemas.openxmlformats.org/drawingml/2006/main">
            <a:off x="12715875" y="8543925"/>
            <a:ext cx="2838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86283"/>
          </a:bodyPr>
          <a:lstStyle xmlns:a="http://schemas.openxmlformats.org/drawingml/2006/main"/>
          <a:p xmlns:a="http://schemas.openxmlformats.org/drawingml/2006/main">
            <a:pPr algn="r">
              <a:buNone/>
              <a:defRPr sz="1125">
                <a:solidFill>
                  <a:srgbClr val="111111"/>
                </a:solidFill>
                <a:latin typeface="Yu Gothic"/>
                <a:ea typeface="Yu Gothic"/>
                <a:cs typeface="Yu Gothic"/>
              </a:defRPr>
            </a:pPr>
            <a:r>
              <a:rPr sz="1125">
                <a:solidFill>
                  <a:srgbClr val="111111"/>
                </a:solidFill>
                <a:latin typeface="Yu Gothic"/>
                <a:ea typeface="Yu Gothic"/>
                <a:cs typeface="Yu Gothic"/>
              </a:rPr>
              <a:t>© 2026 READY CREW Inc. All Rights Reserved.</a:t>
            </a:r>
          </a:p>
        </p:txBody>
      </p:sp>
    </p:spTree>
    <p:extLst>
      <p:ext uri="{BB962C8B-B14F-4D97-AF65-F5344CB8AC3E}">
        <p14:creationId xmlns:p14="http://schemas.microsoft.com/office/powerpoint/2010/main" val="4113240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2026-09-21T06:53:42.4760000Z</dcterms:created>
  <dcterms:modified xsi:type="dcterms:W3CDTF">2026-09-21T06:53:42.4760000Z</dcterms:modified>
</coreProperties>
</file>