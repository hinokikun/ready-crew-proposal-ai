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5711232db4c2d" /><Relationship Type="http://schemas.openxmlformats.org/officeDocument/2006/relationships/extended-properties" Target="/docProps/app.xml" Id="Rb1cc016ab06c4a60" /><Relationship Type="http://schemas.openxmlformats.org/officeDocument/2006/relationships/officeDocument" Target="/ppt/presentation.xml" Id="Raba4c3cdf1de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7e232733140b3"/>
  </p:sldMasterIdLst>
  <p:notesMasterIdLst>
    <p:notesMasterId xmlns:r="http://schemas.openxmlformats.org/officeDocument/2006/relationships" r:id="Rf31cf35f9f0c4049"/>
  </p:notesMasterIdLst>
  <p:sldIdLst>
    <p:sldId xmlns:r="http://schemas.openxmlformats.org/officeDocument/2006/relationships" id="256" r:id="R1dfa5109a6e845c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3e0acfe51422b" /><Relationship Type="http://schemas.openxmlformats.org/officeDocument/2006/relationships/slideMaster" Target="/ppt/slideMasters/slideMaster1.xml" Id="R0707e232733140b3" /><Relationship Type="http://schemas.openxmlformats.org/officeDocument/2006/relationships/notesMaster" Target="/ppt/notesMasters/notesMaster1.xml" Id="Rf31cf35f9f0c4049" /><Relationship Type="http://schemas.openxmlformats.org/officeDocument/2006/relationships/presProps" Target="/ppt/presProps.xml" Id="Rdd3d55acf70041d6" /><Relationship Type="http://schemas.openxmlformats.org/officeDocument/2006/relationships/tableStyles" Target="/ppt/tableStyles.xml" Id="Rbd1093b845b146bf" /><Relationship Type="http://schemas.openxmlformats.org/officeDocument/2006/relationships/slide" Target="/ppt/slides/slide1.xml" Id="R1dfa5109a6e8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8b5c933ee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3843928b14b2f" /><Relationship Type="http://schemas.openxmlformats.org/officeDocument/2006/relationships/notesMaster" Target="/ppt/notesMasters/notesMaster1.xml" Id="R12e3d4aea7df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Trace sample content reproduced from the approved Canonical PNG for fidelity validation only. The 72% value and evidence statements are trace samples, not verified production evidence. Production should use exact structured probability only when available; otherwise use qualitative confidence or 要確認.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c24ca2f3d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1035ea87340a7" /><Relationship Type="http://schemas.openxmlformats.org/officeDocument/2006/relationships/slideLayout" Target="/ppt/slideLayouts/slideLayout1.xml" Id="R70477db9d9a94a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77db9d9a94a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35af0b304151" /><Relationship Type="http://schemas.openxmlformats.org/officeDocument/2006/relationships/notesSlide" Target="/ppt/notesSlides/notesSlide1.xml" Id="R5829ad8218a043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header-section-number">
            <a:extLst xmlns:a="http://schemas.openxmlformats.org/drawingml/2006/main">
              <a:ext uri="{FF2B5EF4-FFF2-40B4-BE49-F238E27FC236}">
                <a16:creationId xmlns:a16="http://schemas.microsoft.com/office/drawing/2014/main" id="{8028088F-7126-4ECD-A232-6AF8239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3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2D67D-4852-41FB-8A2A-E2ED082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2323"/>
            </a:solidFill>
            <a:prstDash val="solid"/>
          </a:ln>
        </p:spPr>
      </p:sp>
      <p:sp>
        <p:nvSpPr>
          <p:cNvPr id="3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315983E-8FE7-4D81-95CA-ABA3C738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組織を変える、AI活用の進め方</a:t>
            </a:r>
          </a:p>
        </p:txBody>
      </p:sp>
      <p:sp>
        <p:nvSpPr>
          <p:cNvPr id="4" name="header-date">
            <a:extLst xmlns:a="http://schemas.openxmlformats.org/drawingml/2006/main">
              <a:ext uri="{FF2B5EF4-FFF2-40B4-BE49-F238E27FC236}">
                <a16:creationId xmlns:a16="http://schemas.microsoft.com/office/drawing/2014/main" id="{55C88E00-03C5-4353-83D4-BD6BEF9D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14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2026.06.22</a:t>
            </a:r>
          </a:p>
        </p:txBody>
      </p:sp>
      <p:sp>
        <p:nvSpPr>
          <p:cNvPr id="5" name="header-red-rule">
            <a:extLst xmlns:a="http://schemas.openxmlformats.org/drawingml/2006/main">
              <a:ext uri="{FF2B5EF4-FFF2-40B4-BE49-F238E27FC236}">
                <a16:creationId xmlns:a16="http://schemas.microsoft.com/office/drawing/2014/main" id="{2240BEEF-2753-4E57-A54D-5BE75281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6725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6" name="header-black-rule">
            <a:extLst xmlns:a="http://schemas.openxmlformats.org/drawingml/2006/main">
              <a:ext uri="{FF2B5EF4-FFF2-40B4-BE49-F238E27FC236}">
                <a16:creationId xmlns:a16="http://schemas.microsoft.com/office/drawing/2014/main" id="{E9780EDD-875A-4C7C-9BD9-66B9078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66725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21D4DE-57FF-4F46-942E-19820B4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239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2756"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受注確度と次の判断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A81BA8-60FB-4D85-8C0C-844A418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573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受注の可能性を、根拠・エビデンス・未確認事項・次の検証アクションとあわせて整理し、意思決定の方向性を明確にします。</a:t>
            </a:r>
          </a:p>
        </p:txBody>
      </p:sp>
      <p:sp>
        <p:nvSpPr>
          <p:cNvPr id="9" name="left-probability-panel">
            <a:extLst xmlns:a="http://schemas.openxmlformats.org/drawingml/2006/main">
              <a:ext uri="{FF2B5EF4-FFF2-40B4-BE49-F238E27FC236}">
                <a16:creationId xmlns:a16="http://schemas.microsoft.com/office/drawing/2014/main" id="{5693D4B8-BC83-4AB4-AB46-9CD1947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57350"/>
            <a:ext cx="8753475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" name="probability-heading">
            <a:extLst xmlns:a="http://schemas.openxmlformats.org/drawingml/2006/main">
              <a:ext uri="{FF2B5EF4-FFF2-40B4-BE49-F238E27FC236}">
                <a16:creationId xmlns:a16="http://schemas.microsoft.com/office/drawing/2014/main" id="{0EABF71D-11AC-4B0D-9B8C-2D40EA3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192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369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受注確度</a:t>
            </a:r>
          </a:p>
        </p:txBody>
      </p:sp>
      <p:sp>
        <p:nvSpPr>
          <p:cNvPr id="11" name="probability-value">
            <a:extLst xmlns:a="http://schemas.openxmlformats.org/drawingml/2006/main">
              <a:ext uri="{FF2B5EF4-FFF2-40B4-BE49-F238E27FC236}">
                <a16:creationId xmlns:a16="http://schemas.microsoft.com/office/drawing/2014/main" id="{B57894E8-72AE-4445-A8C5-1D16EC2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28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5538"/>
          </a:bodyPr>
          <a:lstStyle xmlns:a="http://schemas.openxmlformats.org/drawingml/2006/main"/>
          <a:p xmlns:a="http://schemas.openxmlformats.org/drawingml/2006/main">
            <a:pPr>
              <a:buNone/>
              <a:defRPr sz="9300" b="1">
                <a:solidFill>
                  <a:srgbClr val="D91616"/>
                </a:solidFill>
                <a:latin typeface="Yu Gothic"/>
                <a:ea typeface="Yu Gothic"/>
                <a:cs typeface="Yu Gothic"/>
              </a:defRPr>
            </a:pPr>
            <a:r>
              <a:rPr sz="9300" b="1">
                <a:solidFill>
                  <a:srgbClr val="D91616"/>
                </a:solidFill>
                <a:latin typeface="Yu Gothic"/>
                <a:ea typeface="Yu Gothic"/>
                <a:cs typeface="Yu Gothic"/>
              </a:rPr>
              <a:t>72%</a:t>
            </a:r>
          </a:p>
        </p:txBody>
      </p:sp>
      <p:sp>
        <p:nvSpPr>
          <p:cNvPr id="12" name="probability-divider">
            <a:extLst xmlns:a="http://schemas.openxmlformats.org/drawingml/2006/main">
              <a:ext uri="{FF2B5EF4-FFF2-40B4-BE49-F238E27FC236}">
                <a16:creationId xmlns:a16="http://schemas.microsoft.com/office/drawing/2014/main" id="{E720D68E-5286-4639-9438-6778AF6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669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13" name="probability-interpretation-heading">
            <a:extLst xmlns:a="http://schemas.openxmlformats.org/drawingml/2006/main">
              <a:ext uri="{FF2B5EF4-FFF2-40B4-BE49-F238E27FC236}">
                <a16:creationId xmlns:a16="http://schemas.microsoft.com/office/drawing/2014/main" id="{2D262274-DDF9-4E62-89E0-588A6D4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669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現時点での受注可能性は高いと判断します。</a:t>
            </a:r>
          </a:p>
        </p:txBody>
      </p:sp>
      <p:sp>
        <p:nvSpPr>
          <p:cNvPr id="14" name="probability-interpretation-body">
            <a:extLst xmlns:a="http://schemas.openxmlformats.org/drawingml/2006/main">
              <a:ext uri="{FF2B5EF4-FFF2-40B4-BE49-F238E27FC236}">
                <a16:creationId xmlns:a16="http://schemas.microsoft.com/office/drawing/2014/main" id="{55AD0EE2-FCC6-4A4C-8E2E-EE30691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57475"/>
            <a:ext cx="500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顧客の課題と当社の提案内容の適合性が高く、</a:t>
            </a:r>
          </a:p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決裁者からも前向きな評価を得ています。</a:t>
            </a:r>
          </a:p>
          <a:p xmlns:a="http://schemas.openxmlformats.org/drawingml/2006/main">
            <a:pPr>
              <a:buNone/>
              <a:defRPr sz="1275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一部の未確認事項はあるものの、総合的に72%と判断します。</a:t>
            </a:r>
          </a:p>
        </p:txBody>
      </p:sp>
      <p:sp>
        <p:nvSpPr>
          <p:cNvPr id="15" name="gauge-segment-1">
            <a:extLst xmlns:a="http://schemas.openxmlformats.org/drawingml/2006/main">
              <a:ext uri="{FF2B5EF4-FFF2-40B4-BE49-F238E27FC236}">
                <a16:creationId xmlns:a16="http://schemas.microsoft.com/office/drawing/2014/main" id="{63C8F9AF-CCB3-4966-99C0-E7174E76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AD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gauge-segment-2">
            <a:extLst xmlns:a="http://schemas.openxmlformats.org/drawingml/2006/main">
              <a:ext uri="{FF2B5EF4-FFF2-40B4-BE49-F238E27FC236}">
                <a16:creationId xmlns:a16="http://schemas.microsoft.com/office/drawing/2014/main" id="{D2B32720-3E66-4F09-9494-9C3DE511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gauge-segment-3">
            <a:extLst xmlns:a="http://schemas.openxmlformats.org/drawingml/2006/main">
              <a:ext uri="{FF2B5EF4-FFF2-40B4-BE49-F238E27FC236}">
                <a16:creationId xmlns:a16="http://schemas.microsoft.com/office/drawing/2014/main" id="{B65821E6-5E53-48AD-BB7B-9F9D359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AAA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gauge-segment-4">
            <a:extLst xmlns:a="http://schemas.openxmlformats.org/drawingml/2006/main">
              <a:ext uri="{FF2B5EF4-FFF2-40B4-BE49-F238E27FC236}">
                <a16:creationId xmlns:a16="http://schemas.microsoft.com/office/drawing/2014/main" id="{362F2D69-AA8C-42B3-9CA0-6F04DC39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8E8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gauge-segment-5">
            <a:extLst xmlns:a="http://schemas.openxmlformats.org/drawingml/2006/main">
              <a:ext uri="{FF2B5EF4-FFF2-40B4-BE49-F238E27FC236}">
                <a16:creationId xmlns:a16="http://schemas.microsoft.com/office/drawing/2014/main" id="{EAE0587E-0E7C-4F15-A1E6-56113BD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D6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gauge-segment-6">
            <a:extLst xmlns:a="http://schemas.openxmlformats.org/drawingml/2006/main">
              <a:ext uri="{FF2B5EF4-FFF2-40B4-BE49-F238E27FC236}">
                <a16:creationId xmlns:a16="http://schemas.microsoft.com/office/drawing/2014/main" id="{0709C4E6-CCBC-4714-8DEB-A728095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B4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gauge-segment-7">
            <a:extLst xmlns:a="http://schemas.openxmlformats.org/drawingml/2006/main">
              <a:ext uri="{FF2B5EF4-FFF2-40B4-BE49-F238E27FC236}">
                <a16:creationId xmlns:a16="http://schemas.microsoft.com/office/drawing/2014/main" id="{BCEE3E29-A7A5-4DFE-9B06-95768FB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gauge-segment-8">
            <a:extLst xmlns:a="http://schemas.openxmlformats.org/drawingml/2006/main">
              <a:ext uri="{FF2B5EF4-FFF2-40B4-BE49-F238E27FC236}">
                <a16:creationId xmlns:a16="http://schemas.microsoft.com/office/drawing/2014/main" id="{B3FEB727-6CEB-43A0-A90E-54AECA2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1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gauge-marker-dot">
            <a:extLst xmlns:a="http://schemas.openxmlformats.org/drawingml/2006/main">
              <a:ext uri="{FF2B5EF4-FFF2-40B4-BE49-F238E27FC236}">
                <a16:creationId xmlns:a16="http://schemas.microsoft.com/office/drawing/2014/main" id="{7164679A-F00C-463A-86E0-6D86E145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36433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9525">
            <a:solidFill>
              <a:srgbClr val="F52323"/>
            </a:solidFill>
            <a:prstDash val="solid"/>
          </a:ln>
        </p:spPr>
      </p:sp>
      <p:sp>
        <p:nvSpPr>
          <p:cNvPr id="24" name="gauge-marker-line">
            <a:extLst xmlns:a="http://schemas.openxmlformats.org/drawingml/2006/main">
              <a:ext uri="{FF2B5EF4-FFF2-40B4-BE49-F238E27FC236}">
                <a16:creationId xmlns:a16="http://schemas.microsoft.com/office/drawing/2014/main" id="{2B03E9D3-AEA3-4ADF-A48E-502E08A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719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52323"/>
            </a:solidFill>
            <a:prstDash val="solid"/>
          </a:ln>
        </p:spPr>
      </p:sp>
      <p:sp>
        <p:nvSpPr>
          <p:cNvPr id="25" name="gauge-marker-label">
            <a:extLst xmlns:a="http://schemas.openxmlformats.org/drawingml/2006/main">
              <a:ext uri="{FF2B5EF4-FFF2-40B4-BE49-F238E27FC236}">
                <a16:creationId xmlns:a16="http://schemas.microsoft.com/office/drawing/2014/main" id="{948CFE4A-1C38-4BCE-B37F-3273C078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72%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7F3B0-6F5F-48A0-BBA3-E4DD200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18E6E-D554-4AC8-A9B5-B6DA644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(0 – 30%)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B090A-52C6-4651-9C9B-9E99D5F7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8242F-5914-430C-9364-568D508B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7672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(31 – 70%)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D5EED-53A3-4E96-801D-E497DBFA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15C3D-0744-4F29-8896-6060C99F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767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(71 – 100%)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4A6D6-E405-4369-8FD5-4415F647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148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2B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00F42-B466-41CA-913A-15B34E11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2BC"/>
            </a:solidFill>
            <a:prstDash val="solid"/>
          </a:ln>
        </p:spPr>
      </p:sp>
      <p:sp>
        <p:nvSpPr>
          <p:cNvPr id="34" name="probability-evidence-rule">
            <a:extLst xmlns:a="http://schemas.openxmlformats.org/drawingml/2006/main">
              <a:ext uri="{FF2B5EF4-FFF2-40B4-BE49-F238E27FC236}">
                <a16:creationId xmlns:a16="http://schemas.microsoft.com/office/drawing/2014/main" id="{3311E00D-1A46-4020-BDBB-86C5C931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91050"/>
            <a:ext cx="831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5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B66030BD-8B25-4C21-A83C-1C79F9A5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43450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369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主な判断材料（エビデンス）</a:t>
            </a:r>
          </a:p>
        </p:txBody>
      </p:sp>
      <p:graphicFrame>
        <p:nvGraphicFramePr>
          <p:cNvPr id="138" name=""/>
          <p:cNvGraphicFramePr/>
          <p:nvPr/>
        </p:nvGraphicFramePr>
        <p:xfrm>
          <a:off xmlns:a="http://schemas.openxmlformats.org/drawingml/2006/main" x="561975" y="5124450"/>
          <a:ext xmlns:a="http://schemas.openxmlformats.org/drawingml/2006/main" cx="8315325" cy="2257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2575"/>
                <a:gridCol w="4276725"/>
                <a:gridCol w="962025"/>
                <a:gridCol w="1524000"/>
              </a:tblGrid>
              <a:tr h="342900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FDE7E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内容・根拠</a:t>
                      </a:r>
                    </a:p>
                  </a:txBody>
                  <a:tcPr marL="91440" marR="91440" marT="45720" marB="45720" anchor="ctr">
                    <a:solidFill>
                      <a:srgbClr val="FDE7E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重み</a:t>
                      </a:r>
                    </a:p>
                  </a:txBody>
                  <a:tcPr marL="91440" marR="91440" marT="45720" marB="45720" anchor="ctr">
                    <a:solidFill>
                      <a:srgbClr val="FDE7E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solidFill>
                      <a:srgbClr val="FDE7E7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課題の明確性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業務効率化の課題が明確で、解決の方向性に合意。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強い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決裁者接点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決裁者との面談を実施し、前向きなコメントあり。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強い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概算予算のレンジは合致。正式承認は未取得。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普通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導入時期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2025年下期の導入を想定。時期は柔軟に調整可能。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普通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競合優位性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機能・サポート体制で優位性あり。競合も提案中。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6223A"/>
                          </a:solidFill>
                          <a:latin typeface="Yu Gothic"/>
                          <a:ea typeface="Yu Gothic"/>
                          <a:cs typeface="Yu Gothic"/>
                        </a:rPr>
                        <a:t>やや弱い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evidence-strong-mark-1">
            <a:extLst xmlns:a="http://schemas.openxmlformats.org/drawingml/2006/main">
              <a:ext uri="{FF2B5EF4-FFF2-40B4-BE49-F238E27FC236}">
                <a16:creationId xmlns:a16="http://schemas.microsoft.com/office/drawing/2014/main" id="{CD0624AC-5A26-48A1-B422-6520DC3B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9525">
            <a:solidFill>
              <a:srgbClr val="F52323"/>
            </a:solidFill>
            <a:prstDash val="solid"/>
          </a:ln>
        </p:spPr>
      </p:sp>
      <p:sp>
        <p:nvSpPr>
          <p:cNvPr id="38" name="evidence-strong-mark-2">
            <a:extLst xmlns:a="http://schemas.openxmlformats.org/drawingml/2006/main">
              <a:ext uri="{FF2B5EF4-FFF2-40B4-BE49-F238E27FC236}">
                <a16:creationId xmlns:a16="http://schemas.microsoft.com/office/drawing/2014/main" id="{F958FAD5-D9CF-442D-AD2E-23FD343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943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9525">
            <a:solidFill>
              <a:srgbClr val="F52323"/>
            </a:solidFill>
            <a:prstDash val="solid"/>
          </a:ln>
        </p:spPr>
      </p:sp>
      <p:sp>
        <p:nvSpPr>
          <p:cNvPr id="39" name="evidence-normal-mark-1">
            <a:extLst xmlns:a="http://schemas.openxmlformats.org/drawingml/2006/main">
              <a:ext uri="{FF2B5EF4-FFF2-40B4-BE49-F238E27FC236}">
                <a16:creationId xmlns:a16="http://schemas.microsoft.com/office/drawing/2014/main" id="{F2C2318E-EBE0-4E42-9ECA-A2A3FFD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315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0" name="evidence-normal-mark-2">
            <a:extLst xmlns:a="http://schemas.openxmlformats.org/drawingml/2006/main">
              <a:ext uri="{FF2B5EF4-FFF2-40B4-BE49-F238E27FC236}">
                <a16:creationId xmlns:a16="http://schemas.microsoft.com/office/drawing/2014/main" id="{C2E0032B-493E-481A-ABB3-4515DCD2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68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1" name="evidence-weak-mark">
            <a:extLst xmlns:a="http://schemas.openxmlformats.org/drawingml/2006/main">
              <a:ext uri="{FF2B5EF4-FFF2-40B4-BE49-F238E27FC236}">
                <a16:creationId xmlns:a16="http://schemas.microsoft.com/office/drawing/2014/main" id="{CA25D7A1-CF33-4A41-8AAB-EBC5594B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096125"/>
            <a:ext cx="200025" cy="1809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2" name="right-evidence-panel">
            <a:extLst xmlns:a="http://schemas.openxmlformats.org/drawingml/2006/main">
              <a:ext uri="{FF2B5EF4-FFF2-40B4-BE49-F238E27FC236}">
                <a16:creationId xmlns:a16="http://schemas.microsoft.com/office/drawing/2014/main" id="{36774549-3254-4B19-AA93-BC4F0FDC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63436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584C71-9597-4CDA-85B4-7505F147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87642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739D39-2580-462C-91B6-7BC8D490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112" y="1876425"/>
            <a:ext cx="123063" cy="123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5B0C36-8E7B-4D0C-8A9E-02151E1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112" y="1876425"/>
            <a:ext cx="0" cy="123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872B36-7662-444D-ADD8-A9B4744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112" y="1999488"/>
            <a:ext cx="123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E3CC71-D89E-4058-A5C1-EF94294E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572" y="2136267"/>
            <a:ext cx="181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99248F-7A57-424B-879F-CDB1E35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572" y="2203323"/>
            <a:ext cx="1813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9" name="right-evidence-title">
            <a:extLst xmlns:a="http://schemas.openxmlformats.org/drawingml/2006/main">
              <a:ext uri="{FF2B5EF4-FFF2-40B4-BE49-F238E27FC236}">
                <a16:creationId xmlns:a16="http://schemas.microsoft.com/office/drawing/2014/main" id="{4643982C-A92E-4149-8C7E-73DC3A5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38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判断根拠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C34F07-24EE-4AC9-AC50-A3377097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C7306A-232A-4753-9041-E861B75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24100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顧客の課題と当社の提案内容の適合性が高い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B8ED2A-2009-487B-A282-B4C9DEA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0EB2AF-2E7E-403C-B63D-06F2911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95575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決裁者から前向きな評価と導入意向の発言がある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84AC9B-5D53-41DD-83FB-43F0B63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76592E-A4B7-47FF-B7D0-362CF82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概算予算の範囲内での導入可能性が見込める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13E7FF-0D78-4E80-81B3-FA191EB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F02BBA-92A0-4F17-9834-B491EBF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38525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同業他社での導入実績があり、信頼性が評価されている</a:t>
            </a:r>
          </a:p>
        </p:txBody>
      </p:sp>
      <p:sp>
        <p:nvSpPr>
          <p:cNvPr id="58" name="right-risk-panel">
            <a:extLst xmlns:a="http://schemas.openxmlformats.org/drawingml/2006/main">
              <a:ext uri="{FF2B5EF4-FFF2-40B4-BE49-F238E27FC236}">
                <a16:creationId xmlns:a16="http://schemas.microsoft.com/office/drawing/2014/main" id="{6091D101-D261-4AE2-B6DB-36ABE40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10000"/>
            <a:ext cx="634365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3B781A-1B1E-47F7-84B3-82CFF72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33825"/>
            <a:ext cx="533400" cy="5524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833CF8-87A1-42A5-9A62-1D9F1E05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BA9ED6-ECC1-4EFE-BEC2-6A36F0C8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43481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ight-risk-title">
            <a:extLst xmlns:a="http://schemas.openxmlformats.org/drawingml/2006/main">
              <a:ext uri="{FF2B5EF4-FFF2-40B4-BE49-F238E27FC236}">
                <a16:creationId xmlns:a16="http://schemas.microsoft.com/office/drawing/2014/main" id="{F93AB86D-F99F-431F-9CE2-AA24F62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未確認事項 / リスク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4EC6CF-8E08-4F48-A81D-A1127E5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4A3B19-F22B-4832-BEF9-4789B6EE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48175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最終的な予算承認の取得が必要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7E9C0D-5A53-40EF-8F7D-36F46E9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470B05-9E39-4F5D-BCFA-B37C875B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96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社内稟議プロセスの期間・承認条件が未確定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B03454-214A-432C-9A45-EBE0CB3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27D15A-E2CC-4FE3-A855-5DB3378E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競合他社の提案状況と価格動向の継続確認が必要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53163B-BDFC-4E75-AB22-E22BB4EA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2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60D5C1-9428-4D97-888A-8A88FE55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6260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導入スケジュールの正式確定と社内リソースの調整</a:t>
            </a:r>
          </a:p>
        </p:txBody>
      </p:sp>
      <p:sp>
        <p:nvSpPr>
          <p:cNvPr id="71" name="right-action-panel">
            <a:extLst xmlns:a="http://schemas.openxmlformats.org/drawingml/2006/main">
              <a:ext uri="{FF2B5EF4-FFF2-40B4-BE49-F238E27FC236}">
                <a16:creationId xmlns:a16="http://schemas.microsoft.com/office/drawing/2014/main" id="{A18FD252-DC2E-423E-AA63-785322C3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848350"/>
            <a:ext cx="6343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29959E-F7F4-4F3C-8A91-59AA5A8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6265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96A3CC-041E-4162-86E3-E596F7D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029325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062AE7-56D5-4164-8456-9895BEC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6100763"/>
            <a:ext cx="66675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929347-29EB-4F55-965D-00B29F2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067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D0EDBA-3C9E-4C6D-AAC2-EF3597FF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838825"/>
            <a:ext cx="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BEA805-B40A-4F58-ADC1-2EC8F4E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83882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2323"/>
            </a:solidFill>
            <a:prstDash val="solid"/>
          </a:ln>
        </p:spPr>
      </p:sp>
      <p:sp>
        <p:nvSpPr>
          <p:cNvPr id="78" name="right-action-title">
            <a:extLst xmlns:a="http://schemas.openxmlformats.org/drawingml/2006/main">
              <a:ext uri="{FF2B5EF4-FFF2-40B4-BE49-F238E27FC236}">
                <a16:creationId xmlns:a16="http://schemas.microsoft.com/office/drawing/2014/main" id="{92CA0435-0F6B-47C2-9366-839A8E34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62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次のアクション</a:t>
            </a:r>
          </a:p>
        </p:txBody>
      </p:sp>
      <p:sp>
        <p:nvSpPr>
          <p:cNvPr id="79" name="action-chevron-1">
            <a:extLst xmlns:a="http://schemas.openxmlformats.org/drawingml/2006/main">
              <a:ext uri="{FF2B5EF4-FFF2-40B4-BE49-F238E27FC236}">
                <a16:creationId xmlns:a16="http://schemas.microsoft.com/office/drawing/2014/main" id="{20B9A4EE-BA37-4E52-BE94-FCAF2C0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372225"/>
            <a:ext cx="1952625" cy="609600"/>
          </a:xfrm>
          <a:custGeom xmlns:a="http://schemas.openxmlformats.org/drawingml/2006/main">
            <a:pathLst>
              <a:path w="1952625" h="609600">
                <a:moveTo>
                  <a:pt x="0" y="0"/>
                </a:moveTo>
                <a:lnTo>
                  <a:pt x="1571625" y="0"/>
                </a:lnTo>
                <a:lnTo>
                  <a:pt x="1952625" y="304800"/>
                </a:lnTo>
                <a:lnTo>
                  <a:pt x="1571625" y="609600"/>
                </a:lnTo>
                <a:lnTo>
                  <a:pt x="0" y="609600"/>
                </a:lnTo>
                <a:lnTo>
                  <a:pt x="323850" y="304800"/>
                </a:lnTo>
                <a:close/>
              </a:path>
            </a:pathLst>
          </a:custGeom>
          <a:solidFill xmlns:a="http://schemas.openxmlformats.org/drawingml/2006/main">
            <a:srgbClr val="FD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action-step-number-1">
            <a:extLst xmlns:a="http://schemas.openxmlformats.org/drawingml/2006/main">
              <a:ext uri="{FF2B5EF4-FFF2-40B4-BE49-F238E27FC236}">
                <a16:creationId xmlns:a16="http://schemas.microsoft.com/office/drawing/2014/main" id="{34B899AA-A13D-4BEF-9F97-4FA5ED1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1" name="action-step-title-1">
            <a:extLst xmlns:a="http://schemas.openxmlformats.org/drawingml/2006/main">
              <a:ext uri="{FF2B5EF4-FFF2-40B4-BE49-F238E27FC236}">
                <a16:creationId xmlns:a16="http://schemas.microsoft.com/office/drawing/2014/main" id="{07D90908-0C6A-4739-B351-872D028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629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決裁者確認</a:t>
            </a:r>
          </a:p>
        </p:txBody>
      </p:sp>
      <p:sp>
        <p:nvSpPr>
          <p:cNvPr id="82" name="action-chevron-2">
            <a:extLst xmlns:a="http://schemas.openxmlformats.org/drawingml/2006/main">
              <a:ext uri="{FF2B5EF4-FFF2-40B4-BE49-F238E27FC236}">
                <a16:creationId xmlns:a16="http://schemas.microsoft.com/office/drawing/2014/main" id="{F1183537-2270-4C28-8766-823C49F1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72225"/>
            <a:ext cx="1952625" cy="609600"/>
          </a:xfrm>
          <a:custGeom xmlns:a="http://schemas.openxmlformats.org/drawingml/2006/main">
            <a:pathLst>
              <a:path w="1952625" h="609600">
                <a:moveTo>
                  <a:pt x="0" y="0"/>
                </a:moveTo>
                <a:lnTo>
                  <a:pt x="1571625" y="0"/>
                </a:lnTo>
                <a:lnTo>
                  <a:pt x="1952625" y="304800"/>
                </a:lnTo>
                <a:lnTo>
                  <a:pt x="1571625" y="609600"/>
                </a:lnTo>
                <a:lnTo>
                  <a:pt x="0" y="609600"/>
                </a:lnTo>
                <a:lnTo>
                  <a:pt x="361950" y="304800"/>
                </a:lnTo>
                <a:close/>
              </a:path>
            </a:pathLst>
          </a:custGeom>
          <a:solidFill xmlns:a="http://schemas.openxmlformats.org/drawingml/2006/main">
            <a:srgbClr val="F9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action-step-number-2">
            <a:extLst xmlns:a="http://schemas.openxmlformats.org/drawingml/2006/main">
              <a:ext uri="{FF2B5EF4-FFF2-40B4-BE49-F238E27FC236}">
                <a16:creationId xmlns:a16="http://schemas.microsoft.com/office/drawing/2014/main" id="{98695B46-E339-4974-BFBD-6692BAE1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48148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84" name="action-step-title-2">
            <a:extLst xmlns:a="http://schemas.openxmlformats.org/drawingml/2006/main">
              <a:ext uri="{FF2B5EF4-FFF2-40B4-BE49-F238E27FC236}">
                <a16:creationId xmlns:a16="http://schemas.microsoft.com/office/drawing/2014/main" id="{2EEC2707-876C-4841-BB82-2E758AD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629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条件調整</a:t>
            </a:r>
          </a:p>
        </p:txBody>
      </p:sp>
      <p:sp>
        <p:nvSpPr>
          <p:cNvPr id="85" name="action-chevron-3">
            <a:extLst xmlns:a="http://schemas.openxmlformats.org/drawingml/2006/main">
              <a:ext uri="{FF2B5EF4-FFF2-40B4-BE49-F238E27FC236}">
                <a16:creationId xmlns:a16="http://schemas.microsoft.com/office/drawing/2014/main" id="{515657AD-AB01-424F-BAE6-B3E357C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6372225"/>
            <a:ext cx="1952625" cy="609600"/>
          </a:xfrm>
          <a:custGeom xmlns:a="http://schemas.openxmlformats.org/drawingml/2006/main">
            <a:pathLst>
              <a:path w="1952625" h="609600">
                <a:moveTo>
                  <a:pt x="0" y="0"/>
                </a:moveTo>
                <a:lnTo>
                  <a:pt x="1571625" y="0"/>
                </a:lnTo>
                <a:lnTo>
                  <a:pt x="1952625" y="304800"/>
                </a:lnTo>
                <a:lnTo>
                  <a:pt x="1571625" y="609600"/>
                </a:lnTo>
                <a:lnTo>
                  <a:pt x="0" y="609600"/>
                </a:lnTo>
                <a:lnTo>
                  <a:pt x="361950" y="304800"/>
                </a:lnTo>
                <a:close/>
              </a:path>
            </a:pathLst>
          </a:custGeom>
          <a:solidFill xmlns:a="http://schemas.openxmlformats.org/drawingml/2006/main">
            <a:srgbClr val="F5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action-step-number-3">
            <a:extLst xmlns:a="http://schemas.openxmlformats.org/drawingml/2006/main">
              <a:ext uri="{FF2B5EF4-FFF2-40B4-BE49-F238E27FC236}">
                <a16:creationId xmlns:a16="http://schemas.microsoft.com/office/drawing/2014/main" id="{F5C824CA-CCED-4F35-BFA6-1368229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4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7" name="action-step-title-3">
            <a:extLst xmlns:a="http://schemas.openxmlformats.org/drawingml/2006/main">
              <a:ext uri="{FF2B5EF4-FFF2-40B4-BE49-F238E27FC236}">
                <a16:creationId xmlns:a16="http://schemas.microsoft.com/office/drawing/2014/main" id="{6244AEAE-12A3-4B35-BEDB-BCA29AB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629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提案提出</a:t>
            </a:r>
          </a:p>
        </p:txBody>
      </p:sp>
      <p:sp>
        <p:nvSpPr>
          <p:cNvPr id="88" name="action-step-body-1">
            <a:extLst xmlns:a="http://schemas.openxmlformats.org/drawingml/2006/main">
              <a:ext uri="{FF2B5EF4-FFF2-40B4-BE49-F238E27FC236}">
                <a16:creationId xmlns:a16="http://schemas.microsoft.com/office/drawing/2014/main" id="{22E4A5ED-2B60-46C0-8CD8-6FC7AA2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0199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819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決裁者との追加面談で</a:t>
            </a:r>
          </a:p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最終ニーズと条件を確認</a:t>
            </a:r>
          </a:p>
        </p:txBody>
      </p:sp>
      <p:sp>
        <p:nvSpPr>
          <p:cNvPr id="89" name="action-step-body-2">
            <a:extLst xmlns:a="http://schemas.openxmlformats.org/drawingml/2006/main">
              <a:ext uri="{FF2B5EF4-FFF2-40B4-BE49-F238E27FC236}">
                <a16:creationId xmlns:a16="http://schemas.microsoft.com/office/drawing/2014/main" id="{1F03CC3A-D6A6-4C94-BE1C-80562A91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0199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予算・スケジュール・</a:t>
            </a:r>
          </a:p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契約条件のすり合わせ</a:t>
            </a:r>
          </a:p>
        </p:txBody>
      </p:sp>
      <p:sp>
        <p:nvSpPr>
          <p:cNvPr id="90" name="action-step-body-3">
            <a:extLst xmlns:a="http://schemas.openxmlformats.org/drawingml/2006/main">
              <a:ext uri="{FF2B5EF4-FFF2-40B4-BE49-F238E27FC236}">
                <a16:creationId xmlns:a16="http://schemas.microsoft.com/office/drawing/2014/main" id="{74D20F42-2CBF-423A-A26E-E8AE3EC7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7019925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正式提案書を提出し、</a:t>
            </a:r>
          </a:p>
          <a:p xmlns:a="http://schemas.openxmlformats.org/drawingml/2006/main">
            <a:pPr>
              <a:buNone/>
              <a:defRPr sz="13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社内稟議を支援</a:t>
            </a:r>
          </a:p>
        </p:txBody>
      </p:sp>
      <p:sp>
        <p:nvSpPr>
          <p:cNvPr id="91" name="judgment-band">
            <a:extLst xmlns:a="http://schemas.openxmlformats.org/drawingml/2006/main">
              <a:ext uri="{FF2B5EF4-FFF2-40B4-BE49-F238E27FC236}">
                <a16:creationId xmlns:a16="http://schemas.microsoft.com/office/drawing/2014/main" id="{CF54C56E-94C1-4AFC-905B-F4E8CDAA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696200"/>
            <a:ext cx="15240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7E7"/>
          </a:solidFill>
          <a:ln xmlns:a="http://schemas.openxmlformats.org/drawingml/2006/main" w="19050">
            <a:solidFill>
              <a:srgbClr val="F52323"/>
            </a:solidFill>
            <a:prstDash val="solid"/>
          </a:ln>
        </p:spPr>
      </p:sp>
      <p:sp>
        <p:nvSpPr>
          <p:cNvPr id="92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5817F288-C5A5-48F1-8319-DC7E899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7696200"/>
            <a:ext cx="3219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616"/>
          </a:solidFill>
          <a:ln xmlns:a="http://schemas.openxmlformats.org/drawingml/2006/main" w="0">
            <a:solidFill>
              <a:srgbClr val="D91616"/>
            </a:solidFill>
            <a:prstDash val="solid"/>
          </a:ln>
        </p:spPr>
      </p:sp>
      <p:sp>
        <p:nvSpPr>
          <p:cNvPr id="93" name="judgment-flag">
            <a:extLst xmlns:a="http://schemas.openxmlformats.org/drawingml/2006/main">
              <a:ext uri="{FF2B5EF4-FFF2-40B4-BE49-F238E27FC236}">
                <a16:creationId xmlns:a16="http://schemas.microsoft.com/office/drawing/2014/main" id="{4866B42F-4054-4D38-9D7A-52FD6BB5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0"/>
            <a:ext cx="361950" cy="400050"/>
          </a:xfrm>
          <a:custGeom xmlns:a="http://schemas.openxmlformats.org/drawingml/2006/main">
            <a:pathLst>
              <a:path w="361950" h="400050">
                <a:moveTo>
                  <a:pt x="1905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342900" y="47625"/>
                </a:lnTo>
                <a:lnTo>
                  <a:pt x="342900" y="276225"/>
                </a:lnTo>
                <a:lnTo>
                  <a:pt x="47625" y="276225"/>
                </a:lnTo>
                <a:lnTo>
                  <a:pt x="47625" y="400050"/>
                </a:lnTo>
                <a:lnTo>
                  <a:pt x="19050" y="4000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4" name="judgment-label-text">
            <a:extLst xmlns:a="http://schemas.openxmlformats.org/drawingml/2006/main">
              <a:ext uri="{FF2B5EF4-FFF2-40B4-BE49-F238E27FC236}">
                <a16:creationId xmlns:a16="http://schemas.microsoft.com/office/drawing/2014/main" id="{26146F41-048D-453B-8C09-01650DE3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810500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8736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意思決定の方向性</a:t>
            </a:r>
          </a:p>
        </p:txBody>
      </p:sp>
      <p:sp>
        <p:nvSpPr>
          <p:cNvPr id="95" name="judgment-copy">
            <a:extLst xmlns:a="http://schemas.openxmlformats.org/drawingml/2006/main">
              <a:ext uri="{FF2B5EF4-FFF2-40B4-BE49-F238E27FC236}">
                <a16:creationId xmlns:a16="http://schemas.microsoft.com/office/drawing/2014/main" id="{E22D49D7-A184-45C7-A57B-3849F50A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800975"/>
            <a:ext cx="1138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現時点では前向きと判断しますが、未確認事項の解消により、正式な受注判断へ進みます。</a:t>
            </a:r>
          </a:p>
        </p:txBody>
      </p:sp>
      <p:sp>
        <p:nvSpPr>
          <p:cNvPr id="9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2D38D8-7E5E-40BC-B4C1-7450337E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429625"/>
            <a:ext cx="1524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2323"/>
            </a:solidFill>
            <a:prstDash val="solid"/>
          </a:ln>
        </p:spPr>
      </p:sp>
      <p:sp>
        <p:nvSpPr>
          <p:cNvPr id="9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D04D78B-7D1E-4F62-9212-3C78E04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629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52323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9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D7E6FBA-AFA4-492C-83ED-379387BF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562975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2323"/>
            </a:solidFill>
            <a:prstDash val="solid"/>
          </a:ln>
        </p:spPr>
      </p:sp>
      <p:sp>
        <p:nvSpPr>
          <p:cNvPr id="9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3593E3B-8A15-43DB-B378-322ED346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85629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00" name="footer-copyright">
            <a:extLst xmlns:a="http://schemas.openxmlformats.org/drawingml/2006/main">
              <a:ext uri="{FF2B5EF4-FFF2-40B4-BE49-F238E27FC236}">
                <a16:creationId xmlns:a16="http://schemas.microsoft.com/office/drawing/2014/main" id="{AE2F04C7-755D-4851-B37F-D9C8B05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8562975"/>
            <a:ext cx="2771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rmAutofit fontScale="85556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© 2026 提案クエスト</a:t>
            </a:r>
          </a:p>
        </p:txBody>
      </p:sp>
    </p:spTree>
    <p:extLst>
      <p:ext uri="{BB962C8B-B14F-4D97-AF65-F5344CB8AC3E}">
        <p14:creationId xmlns:p14="http://schemas.microsoft.com/office/powerpoint/2010/main" val="1054597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2026-09-21T07:16:53.4980000Z</dcterms:created>
  <dcterms:modified xsi:type="dcterms:W3CDTF">2026-09-21T07:16:53.4980000Z</dcterms:modified>
</coreProperties>
</file>