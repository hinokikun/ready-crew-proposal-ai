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6039a6a1041b6" /><Relationship Type="http://schemas.openxmlformats.org/officeDocument/2006/relationships/extended-properties" Target="/docProps/app.xml" Id="Rf12e7227542942a1" /><Relationship Type="http://schemas.openxmlformats.org/officeDocument/2006/relationships/officeDocument" Target="/ppt/presentation.xml" Id="Rae4e81fba7214d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a8cce11fbd48ad"/>
  </p:sldMasterIdLst>
  <p:notesMasterIdLst>
    <p:notesMasterId xmlns:r="http://schemas.openxmlformats.org/officeDocument/2006/relationships" r:id="Rdd80e7f5e62e4ad6"/>
  </p:notesMasterIdLst>
  <p:sldIdLst>
    <p:sldId xmlns:r="http://schemas.openxmlformats.org/officeDocument/2006/relationships" id="256" r:id="Re6fe6e94e3bf4fa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f32a37c4c84fc5" /><Relationship Type="http://schemas.openxmlformats.org/officeDocument/2006/relationships/slideMaster" Target="/ppt/slideMasters/slideMaster1.xml" Id="R21a8cce11fbd48ad" /><Relationship Type="http://schemas.openxmlformats.org/officeDocument/2006/relationships/notesMaster" Target="/ppt/notesMasters/notesMaster1.xml" Id="Rdd80e7f5e62e4ad6" /><Relationship Type="http://schemas.openxmlformats.org/officeDocument/2006/relationships/presProps" Target="/ppt/presProps.xml" Id="R2abecc5397fc4994" /><Relationship Type="http://schemas.openxmlformats.org/officeDocument/2006/relationships/tableStyles" Target="/ppt/tableStyles.xml" Id="Re81098c943c9441e" /><Relationship Type="http://schemas.openxmlformats.org/officeDocument/2006/relationships/slide" Target="/ppt/slides/slide1.xml" Id="Re6fe6e94e3bf4f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38a86eb4554f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f40b918924d21" /><Relationship Type="http://schemas.openxmlformats.org/officeDocument/2006/relationships/notesMaster" Target="/ppt/notesMasters/notesMaster1.xml" Id="R09217a428aa347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e17cf736f46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abb62b12e6432e" /><Relationship Type="http://schemas.openxmlformats.org/officeDocument/2006/relationships/slideLayout" Target="/ppt/slideLayouts/slideLayout1.xml" Id="R7d193a0286b64a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193a0286b64a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d3feb82a847ad" /><Relationship Type="http://schemas.openxmlformats.org/officeDocument/2006/relationships/notesSlide" Target="/ppt/notesSlides/notesSlide1.xml" Id="Re1d5575777f249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8B6A22A-D237-4866-BF34-35C58901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690" y="114911"/>
            <a:ext cx="325407" cy="258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6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356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AB999-D35F-4168-8993-A9561E7A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956" y="143638"/>
            <a:ext cx="0" cy="2298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060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B0252-4E39-4392-871A-6BB59CDC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47" y="114911"/>
            <a:ext cx="4354711" cy="26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0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組織を変える、AI活用の進め方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F8597-1320-4E62-B396-E01C6BCF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5075" y="124486"/>
            <a:ext cx="1646176" cy="239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5" b="0">
                <a:solidFill>
                  <a:srgbClr val="6D747A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6D747A"/>
                </a:solidFill>
                <a:latin typeface="Yu Gothic UI"/>
                <a:ea typeface="Yu Gothic UI"/>
                <a:cs typeface="Yu Gothic UI"/>
              </a:rPr>
              <a:t>2026.06.22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F4358-9DA0-4F02-990A-CF0821B7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119" y="478794"/>
            <a:ext cx="76566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060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7D284-D5AD-426B-82A0-8B2B259C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0754" y="478794"/>
            <a:ext cx="75704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64B55-8491-47C4-BB71-D3168A7D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832" y="727767"/>
            <a:ext cx="7848050" cy="57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4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354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概算見積と判断条件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F7240-BF0A-4695-BC50-2E333E23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832" y="1331048"/>
            <a:ext cx="8900838" cy="354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8" b="0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658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費用の透明性を確保し、判断に必要な前提・範囲・除外事項・支払条件を明確にします。</a:t>
            </a:r>
          </a:p>
        </p:txBody>
      </p:sp>
      <p:graphicFrame>
        <p:nvGraphicFramePr>
          <p:cNvPr id="152" name=""/>
          <p:cNvGraphicFramePr/>
          <p:nvPr/>
        </p:nvGraphicFramePr>
        <p:xfrm>
          <a:off xmlns:a="http://schemas.openxmlformats.org/drawingml/2006/main" x="382832" y="1848145"/>
          <a:ext xmlns:a="http://schemas.openxmlformats.org/drawingml/2006/main" cx="8565860" cy="535291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8875"/>
                <a:gridCol w="1110212"/>
                <a:gridCol w="1100641"/>
                <a:gridCol w="2316132"/>
              </a:tblGrid>
              <a:tr h="411763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項目</a:t>
                      </a:r>
                    </a:p>
                  </a:txBody>
                  <a:tcPr marL="76200" marR="76200" marT="0" marB="0">
                    <a:solidFill>
                      <a:srgbClr val="11111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単位</a:t>
                      </a:r>
                    </a:p>
                  </a:txBody>
                  <a:tcPr marL="76200" marR="76200" marT="0" marB="0">
                    <a:solidFill>
                      <a:srgbClr val="11111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数量</a:t>
                      </a:r>
                    </a:p>
                  </a:txBody>
                  <a:tcPr marL="76200" marR="76200" marT="0" marB="0">
                    <a:solidFill>
                      <a:srgbClr val="11111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概算金額（税別）</a:t>
                      </a:r>
                    </a:p>
                  </a:txBody>
                  <a:tcPr marL="76200" marR="76200" marT="0" marB="0">
                    <a:solidFill>
                      <a:srgbClr val="111111"/>
                    </a:solidFill>
                  </a:tcPr>
                </a:tc>
              </a:tr>
              <a:tr h="699039"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/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式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￥1,500,000</a:t>
                      </a:r>
                    </a:p>
                  </a:txBody>
                  <a:tcPr marL="76200" marR="285750" marT="0" marB="0" anchor="ctr">
                    <a:solidFill>
                      <a:srgbClr val="FFFFFF"/>
                    </a:solidFill>
                  </a:tcPr>
                </a:tc>
              </a:tr>
              <a:tr h="699039"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/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式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￥1,200,000</a:t>
                      </a:r>
                    </a:p>
                  </a:txBody>
                  <a:tcPr marL="76200" marR="285750" marT="0" marB="0" anchor="ctr">
                    <a:solidFill>
                      <a:srgbClr val="FFFFFF"/>
                    </a:solidFill>
                  </a:tcPr>
                </a:tc>
              </a:tr>
              <a:tr h="708615"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/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式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￥2,000,000</a:t>
                      </a:r>
                    </a:p>
                  </a:txBody>
                  <a:tcPr marL="76200" marR="285750" marT="0" marB="0" anchor="ctr">
                    <a:solidFill>
                      <a:srgbClr val="FFFFFF"/>
                    </a:solidFill>
                  </a:tcPr>
                </a:tc>
              </a:tr>
              <a:tr h="718191"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/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式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￥2,000,000</a:t>
                      </a:r>
                    </a:p>
                  </a:txBody>
                  <a:tcPr marL="76200" marR="285750" marT="0" marB="0" anchor="ctr">
                    <a:solidFill>
                      <a:srgbClr val="FFFFFF"/>
                    </a:solidFill>
                  </a:tcPr>
                </a:tc>
              </a:tr>
              <a:tr h="699039"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/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式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￥1,200,000</a:t>
                      </a:r>
                    </a:p>
                  </a:txBody>
                  <a:tcPr marL="76200" marR="285750" marT="0" marB="0" anchor="ctr">
                    <a:solidFill>
                      <a:srgbClr val="FFFFFF"/>
                    </a:solidFill>
                  </a:tcPr>
                </a:tc>
              </a:tr>
              <a:tr h="708615"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/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式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￥800,000</a:t>
                      </a:r>
                    </a:p>
                  </a:txBody>
                  <a:tcPr marL="76200" marR="285750" marT="0" marB="0" anchor="ctr">
                    <a:solidFill>
                      <a:srgbClr val="FFFFFF"/>
                    </a:solidFill>
                  </a:tcPr>
                </a:tc>
              </a:tr>
              <a:tr h="708615"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/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式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2D343B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</a:t>
                      </a:r>
                    </a:p>
                  </a:txBody>
                  <a:tcPr marL="76200" marR="76200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￥800,000</a:t>
                      </a:r>
                    </a:p>
                  </a:txBody>
                  <a:tcPr marL="76200" marR="28575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41619-29CB-4738-8B2E-4154F533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681" y="2279060"/>
            <a:ext cx="650814" cy="651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3D8E3-C628-4660-BF57-78D6F2E4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668" y="2432274"/>
            <a:ext cx="248841" cy="344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2BB8A-B467-4D44-A836-7B25A921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801" y="2432274"/>
            <a:ext cx="95708" cy="957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476D6-A2A4-46A8-BAF1-FCE6E0BA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801" y="2432274"/>
            <a:ext cx="0" cy="957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88782-A60C-46CA-BF1B-6F61FA5C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093" y="2642943"/>
            <a:ext cx="1339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6272D-A694-4923-85F3-03B225D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093" y="2700399"/>
            <a:ext cx="1339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34EB8-C716-40C9-BC15-D851F7B8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2336515"/>
            <a:ext cx="2660681" cy="26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企画設計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D6CC4-43A8-4EEF-8580-4FF51BBC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2633367"/>
            <a:ext cx="2660681" cy="239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ゴール設定・要件整理・コンセプト設計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D3E26-C9B2-43F2-B445-81BB1CAD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681" y="2978099"/>
            <a:ext cx="650814" cy="651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7DD64-57DB-4F94-9395-74A66453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663" y="3112161"/>
            <a:ext cx="114850" cy="1149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B0EC6-4E51-4294-AF7A-DD6506A0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380" y="3227072"/>
            <a:ext cx="191416" cy="11491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42E00-A366-4772-B6B0-36DC23E8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0385" y="3341983"/>
            <a:ext cx="105279" cy="957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96471-928A-427D-8F41-ED65B637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513" y="3341983"/>
            <a:ext cx="105279" cy="957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7529C-F653-469A-99C0-2F7D3FA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102" y="3399438"/>
            <a:ext cx="76566" cy="766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884E5-A6E2-4C04-BD43-545909F1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509" y="3399438"/>
            <a:ext cx="76566" cy="766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B19C0-8A1C-4833-8DE2-2CAA7D30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3035554"/>
            <a:ext cx="2660681" cy="26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情報設計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DCC27-6441-4C88-84B4-EC690F0D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3332407"/>
            <a:ext cx="2660681" cy="239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コンテンツ構成・導線設計・ワイヤーフレーム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4F0B5-DF70-4FDE-848E-8017BC9B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681" y="3677138"/>
            <a:ext cx="650814" cy="651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CE60AB-B0D2-4C86-B7FC-F9B6E7BC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8668" y="3878232"/>
            <a:ext cx="248841" cy="2489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5F953-3E7F-4541-8908-6214FFBB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084" y="3830353"/>
            <a:ext cx="86137" cy="861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312042-2C3F-4A36-8DD9-2F8551A7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526" y="4127205"/>
            <a:ext cx="957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55AE87-13B7-42DA-AB98-C8991AF1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3734594"/>
            <a:ext cx="2660681" cy="26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デザイン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49D89-403D-4377-A668-8A1406DB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4031446"/>
            <a:ext cx="2660681" cy="239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アートディレクション・画面デザイン・UI設計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754CFA-154A-40B0-ABE6-73B66013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681" y="4385754"/>
            <a:ext cx="650814" cy="651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FB3128-6A00-41C7-9AEA-855AE2A7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9526" y="4586847"/>
            <a:ext cx="105279" cy="1244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647C3D-4256-4BE5-9773-49951452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526" y="4711334"/>
            <a:ext cx="105279" cy="1244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AA6B09-BE1D-42F9-AC87-88F51292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371" y="4586847"/>
            <a:ext cx="105279" cy="1244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9BF3AA-DF20-430A-86A1-D0779C81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1371" y="4711334"/>
            <a:ext cx="105279" cy="1244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E2A7FE-0246-438A-BF49-203D0C5D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4443209"/>
            <a:ext cx="2660681" cy="26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フロントエンド開発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AAA3C6-6F9D-410F-B005-AB1C08FE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4740061"/>
            <a:ext cx="2660681" cy="239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静的コーディング・インタラクション実装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71211F-7A05-477E-8910-BF2B799E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681" y="5103945"/>
            <a:ext cx="650814" cy="651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7FA7BF-056F-4AD2-8723-AB39DB3E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668" y="5305038"/>
            <a:ext cx="248841" cy="861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1B682F-F5C0-4066-9723-01749472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668" y="5352918"/>
            <a:ext cx="248841" cy="201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29BDC2-8727-4E65-9F94-F4A3832D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668" y="5506132"/>
            <a:ext cx="248841" cy="861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119BEF-003C-4DE7-9990-45D46F0D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5161400"/>
            <a:ext cx="2660681" cy="26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CMS実装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A7CE62-5A1C-4D1A-A971-FEB26F8A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5458252"/>
            <a:ext cx="2660681" cy="239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CMS構築・テンプレート実装・初期設定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ED2677-5668-4080-9A34-580C2A36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681" y="5802984"/>
            <a:ext cx="650814" cy="651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28F0C3-2840-472A-9645-1780E5CC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814" y="5956198"/>
            <a:ext cx="344549" cy="344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9BBF7E-7F4C-49EB-A881-77AB45AB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093" y="6061533"/>
            <a:ext cx="133991" cy="1340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AD67CA-DC10-4327-81D3-AD30E94D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088" y="5889167"/>
            <a:ext cx="0" cy="670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E96306-D5CD-4826-B60E-CEA7A8CF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088" y="6300930"/>
            <a:ext cx="0" cy="670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A3FB1D-B6CD-4675-8345-536460EE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18" y="6128564"/>
            <a:ext cx="669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3695D8-C8BD-49D9-BAC9-49F87620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3" y="6128564"/>
            <a:ext cx="669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4DA93F-66FB-4452-9EA0-FF015F6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243" y="5946622"/>
            <a:ext cx="57425" cy="574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EC185D-97D9-4E01-AF9B-792D3118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509" y="6253051"/>
            <a:ext cx="57425" cy="574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55403A-F98B-43C0-8F43-BF24C03C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7509" y="5946622"/>
            <a:ext cx="57425" cy="574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A6A633-1E34-46B7-8B50-88B40DC4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1243" y="6253051"/>
            <a:ext cx="57425" cy="574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B60806-8D82-4DBF-82A1-DAFC84D4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5860439"/>
            <a:ext cx="2660681" cy="26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テスト・公開支援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8BCDBC-EB31-4F11-A9B5-592BB0E6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6157292"/>
            <a:ext cx="2660681" cy="239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動作検証・修正対応・公開作業支援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BBBBD2-716C-4481-A7F3-51B4749D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681" y="6511599"/>
            <a:ext cx="650814" cy="651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6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97B224-262C-47F9-9661-48DEE703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097" y="6971242"/>
            <a:ext cx="2775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3B84C1-D469-4B92-8BE8-265DD95A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668" y="6846755"/>
            <a:ext cx="57425" cy="124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C9D3E7-E2C3-411F-ACC4-B8ED275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76" y="6760572"/>
            <a:ext cx="57425" cy="210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CBD615-B68D-4FF0-A54A-14346FA0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084" y="6683965"/>
            <a:ext cx="57425" cy="287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4AAB238-90D6-4581-8CF5-70C96D67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6569055"/>
            <a:ext cx="2660681" cy="26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432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プロジェクト管理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FE1111-6755-48F9-970D-9ACA554D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82" y="6865907"/>
            <a:ext cx="2660681" cy="239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904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進行管理・品質管理・定例ミーティング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799EB3-9A87-4872-9037-708028B0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832" y="7201063"/>
            <a:ext cx="8565860" cy="737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9525">
            <a:solidFill>
              <a:srgbClr val="E3060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A95E1B-5758-4BE7-99C3-98C8F2CB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706" y="7201063"/>
            <a:ext cx="0" cy="7373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6EA1CE-29B1-4DAA-A434-E0E5E87F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60" y="7296822"/>
            <a:ext cx="3254070" cy="54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3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203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概算総額（税別）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1F282DE-1916-48C8-BEF6-02D9006F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6813" y="7239366"/>
            <a:ext cx="3684755" cy="63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542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542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￥10,500,000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2CA7BC5-A20E-4CE7-A038-1C1A520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03" y="8024589"/>
            <a:ext cx="8374444" cy="220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※ 概算金額です。詳細見積は要件確定後に改めてご提示します。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5B32B7-B194-4714-8F11-7D061A01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0537" y="1848145"/>
            <a:ext cx="6508139" cy="5199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5D9DD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AC0723-DD1E-41E9-A766-BCA8992C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1523" y="1982207"/>
            <a:ext cx="267982" cy="34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A748407-8B6C-46B7-B1D7-534E8918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4227" y="1982207"/>
            <a:ext cx="105279" cy="1053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791B2C-B3B9-4EB0-8A60-C6E92C8A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4227" y="1982207"/>
            <a:ext cx="0" cy="1053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2DAB87-59C5-4A45-B806-DEAA6FA3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8519" y="2202453"/>
            <a:ext cx="1339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2F332C6-74A7-4423-AE10-78E08507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8519" y="2250332"/>
            <a:ext cx="1339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FAFB8F8-E40B-42B1-A731-66FE156A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063" y="2154573"/>
            <a:ext cx="1339911" cy="306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前提条件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513836-2392-4D06-9D33-917971F8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2020511"/>
            <a:ext cx="153133" cy="210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88A6E30-8795-49F9-B4AA-DD91CF16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2020511"/>
            <a:ext cx="3971879" cy="210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本見積は、2026年6月時点の想定に基づく概算です。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80C7FDC-6EC9-40B9-9727-67F056F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2231180"/>
            <a:ext cx="153133" cy="210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8E75C0-6943-482A-8660-00B6672D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2231180"/>
            <a:ext cx="3971879" cy="210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対象はコーポレートサイト（日本語・1サイト）とします。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5605341-6D95-4293-A930-830DC223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2441850"/>
            <a:ext cx="153133" cy="210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C9183BD-7E73-4EF7-B802-9AB65A90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2441850"/>
            <a:ext cx="3971879" cy="210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ページ数・機能・コンテンツ量は現時点の想定に基づきます。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57481CA-64FD-47F0-BA89-2C274E2D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2652519"/>
            <a:ext cx="153133" cy="210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BE00570-BAA8-4A0A-88F6-991B1664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2652519"/>
            <a:ext cx="3971879" cy="210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要件の変更がある場合は、再見積いたします。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DD8E21B-4315-4CD1-A7D9-9DC13D6B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8519" y="3121737"/>
            <a:ext cx="59913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4F3383C-601B-44CC-BEF4-4E1E720D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3240" y="3236648"/>
            <a:ext cx="344549" cy="3447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8939CDA-48C1-43FE-88DD-EBB15053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8519" y="3341983"/>
            <a:ext cx="133991" cy="13406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294D65E-FD55-468E-A153-995AB256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4099" y="3409014"/>
            <a:ext cx="382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DEB9DE3-D89D-4FAC-ACDA-D52D3755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5515" y="3217496"/>
            <a:ext cx="0" cy="3830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0F1325-477C-44FD-91EA-2D505FB1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063" y="3332407"/>
            <a:ext cx="1339911" cy="306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提供範囲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0743DCA-3BA9-44D1-857E-50088F8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3255800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EA40445-0C89-4022-914D-5DD6EF9D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3255800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企画・要件定義から公開までの制作・開発業務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E40CB20-7B16-4829-A08C-20CAC5D7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3456893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7CFD4D3-8496-4F62-97C0-F89D6745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3456893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デザイン（PC・スマートフォン）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F501BE4-0B3F-483E-9924-F6A3B437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3657987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8A0F31B-1E98-4039-8917-2597E84B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3657987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CMS（基本機能）の実装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2262716-38EA-4618-82C5-95793CED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3859080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DAF80C6-9C43-4902-A24C-7C70DF03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3859080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基本的なSEO設定・アクセス解析タグの設置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90F0953-0E93-4DE3-8E75-2140DC7A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4060174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B167F23-987E-404D-B213-786FF554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4060174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公開に向けたテスト・技術サポート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3127A80-3288-48AC-9052-C3FDCCB3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8519" y="4596423"/>
            <a:ext cx="59913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F107129-4205-45F1-A64B-488A086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3240" y="4711334"/>
            <a:ext cx="344549" cy="3447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2B32568-15C5-48E3-9957-53BC9C97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9807" y="4883700"/>
            <a:ext cx="1914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D149431-7476-41EF-94B1-BCE7B7E4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063" y="4807092"/>
            <a:ext cx="1339911" cy="306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除外事項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FA86FD6-4ACA-457C-AF0E-792E2C93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4730485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21DB910-C889-43F8-B940-670889C2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4730485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写真・動画などの素材制作（別途見積）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7304252-384F-4C08-8E98-4B440759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4931579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B5C5177-278B-45F9-86B3-F877D72D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4931579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多言語対応（別途見積）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329FE75-73EA-44E2-880E-E43D9A50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5132672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8842138-5417-4D86-9ED5-D722D543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5132672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外部システムとの連携開発（別途見積）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5A291D3-7760-4943-873A-68FA7B4B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5333766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82A7EE8-F1D0-4276-83AF-D3E67E3E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5333766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公開後の運用・保守（別途見積）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F2D7D76-9441-4101-A608-6692275F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5534859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48F3AFB-9CA5-4434-9AE1-EEE766BE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5534859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サーバー・ドメイン費用（実費、別途）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8E06394-4B48-4695-8F9D-0470D716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8519" y="6061533"/>
            <a:ext cx="59913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DD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3FFA44C-9C9E-4E85-BF4A-E4824EBF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3240" y="6195595"/>
            <a:ext cx="344549" cy="3447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A3FCA9-3A25-4C55-878A-FB01A119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9377" y="6272202"/>
            <a:ext cx="86137" cy="861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6206CE3-444E-4F17-B0D0-C714E3A2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65515" y="6272202"/>
            <a:ext cx="86137" cy="861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D46CB4A-C185-49D8-BBFA-984C4856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9377" y="6358385"/>
            <a:ext cx="1722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980B0B8-267C-4E69-BB9B-2E796172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9377" y="6415841"/>
            <a:ext cx="1722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3ECE765-AA80-4F6B-9B8D-B89C4DA0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5515" y="6358385"/>
            <a:ext cx="0" cy="1340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AE3C4F6-8F41-4169-AC0B-91399E08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063" y="6291354"/>
            <a:ext cx="1531327" cy="306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支払タイミング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8C6E26-2C00-4091-8C2B-06A359AC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6243475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E93560B-074D-427E-BB9E-ED6F362A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6243475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ご発注時 ： 50%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D27ABBE-3381-47DB-BAA7-3C7A83A7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6444568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CABF80C-FE2D-4285-B03F-F9BF2708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6444568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中間納品時：30%（デザイン・開発完了時）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750FE74-EB43-4886-B652-BB1C57EF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9545" y="6645662"/>
            <a:ext cx="153133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130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•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2DA6455-AC8D-46F0-A47B-C831BA6D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961" y="6645662"/>
            <a:ext cx="3971879" cy="20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最終納品時：20%（公開後1か月以内）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AAFA38A-BDCF-4223-84D8-57049CFB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0537" y="7181911"/>
            <a:ext cx="6508139" cy="1034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E30606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8B6AEE4-FE67-4BE8-9A4D-5E933C87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1523" y="7325549"/>
            <a:ext cx="1196349" cy="63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ご判断までの</a:t>
            </a:r>
          </a:p>
          <a:p xmlns:a="http://schemas.openxmlformats.org/drawingml/2006/main">
            <a:pPr algn="l">
              <a:def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defRPr>
            </a:pPr>
            <a:r>
              <a:rPr sz="1583" b="1">
                <a:solidFill>
                  <a:srgbClr val="E30606"/>
                </a:solidFill>
                <a:latin typeface="Yu Gothic UI"/>
                <a:ea typeface="Yu Gothic UI"/>
                <a:cs typeface="Yu Gothic UI"/>
              </a:rPr>
              <a:t>ステップ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51CE17D-1865-47BD-B220-D0B2E8C5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9288" y="7296822"/>
            <a:ext cx="1780168" cy="53624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8D7D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3E6DCA6-40B6-4A91-AE6C-E95F514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9027" y="7296822"/>
            <a:ext cx="1684460" cy="53624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8D7D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034B54F-0AAC-44B0-BE7C-59EC22FC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03057" y="7296822"/>
            <a:ext cx="1186778" cy="53624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060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A212EED-0674-4A97-840F-02600C92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9288" y="7296822"/>
            <a:ext cx="1579181" cy="53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35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</a:t>
            </a:r>
          </a:p>
          <a:p xmlns:a="http://schemas.openxmlformats.org/drawingml/2006/main">
            <a:pPr algn="ctr">
              <a:defRPr sz="135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35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前提確認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FB21437-048D-434B-B524-3D98F751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9027" y="7296822"/>
            <a:ext cx="1483473" cy="53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35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02</a:t>
            </a:r>
          </a:p>
          <a:p xmlns:a="http://schemas.openxmlformats.org/drawingml/2006/main">
            <a:pPr algn="ctr">
              <a:defRPr sz="135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35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金額確定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7489AD2-D4E0-49A5-A7EB-AFB8FFA2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03057" y="7296822"/>
            <a:ext cx="1052787" cy="53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6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356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03</a:t>
            </a:r>
          </a:p>
          <a:p xmlns:a="http://schemas.openxmlformats.org/drawingml/2006/main">
            <a:pPr algn="ctr">
              <a:defRPr sz="1356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356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発注判断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36E7126-6A86-4A0F-947B-B7B1B215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9288" y="7900102"/>
            <a:ext cx="4593981" cy="210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80" b="0">
                <a:solidFill>
                  <a:srgbClr val="2D343B"/>
                </a:solidFill>
                <a:latin typeface="Yu Gothic UI"/>
                <a:ea typeface="Yu Gothic UI"/>
                <a:cs typeface="Yu Gothic UI"/>
              </a:defRPr>
            </a:pPr>
            <a:r>
              <a:rPr sz="980" b="0">
                <a:solidFill>
                  <a:srgbClr val="2D343B"/>
                </a:solidFill>
                <a:latin typeface="Yu Gothic UI"/>
                <a:ea typeface="Yu Gothic UI"/>
                <a:cs typeface="Yu Gothic UI"/>
              </a:rPr>
              <a:t>前提の合意から、スムーズなご判断をサポートします。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0F661E6-3C31-4C1D-A149-D9BD0AEF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119" y="8436352"/>
            <a:ext cx="152271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0606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99E5F0A-0E6C-409C-98F2-DB3A89ED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03" y="8560838"/>
            <a:ext cx="239270" cy="248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0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06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4941003-978A-46B6-AD3B-003B4A90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956" y="8551262"/>
            <a:ext cx="0" cy="26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0606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31EE0FE-527D-4407-8BEC-DF522F37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47" y="8560838"/>
            <a:ext cx="2105575" cy="248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206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提案クエスト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5B51B38-4406-4074-BE09-7E7BF37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4863" y="8560838"/>
            <a:ext cx="2756388" cy="248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5" b="0">
                <a:solidFill>
                  <a:srgbClr val="6D747A"/>
                </a:solidFill>
                <a:latin typeface="Yu Gothic UI"/>
                <a:ea typeface="Yu Gothic UI"/>
                <a:cs typeface="Yu Gothic UI"/>
              </a:defRPr>
            </a:pPr>
            <a:r>
              <a:rPr sz="1055" b="0">
                <a:solidFill>
                  <a:srgbClr val="6D747A"/>
                </a:solidFill>
                <a:latin typeface="Yu Gothic UI"/>
                <a:ea typeface="Yu Gothic UI"/>
                <a:cs typeface="Yu Gothic UI"/>
              </a:rPr>
              <a:t>© 2026 提案クエスト</a:t>
            </a:r>
          </a:p>
        </p:txBody>
      </p:sp>
    </p:spTree>
    <p:extLst>
      <p:ext uri="{BB962C8B-B14F-4D97-AF65-F5344CB8AC3E}">
        <p14:creationId xmlns:p14="http://schemas.microsoft.com/office/powerpoint/2010/main" val="783426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2026-09-17T21:33:48.4540000Z</dcterms:created>
  <dcterms:modified xsi:type="dcterms:W3CDTF">2026-09-17T21:33:48.4550000Z</dcterms:modified>
</coreProperties>
</file>