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15711232db4c2d" /><Relationship Type="http://schemas.openxmlformats.org/officeDocument/2006/relationships/extended-properties" Target="/docProps/app.xml" Id="Rb1cc016ab06c4a60" /><Relationship Type="http://schemas.openxmlformats.org/officeDocument/2006/relationships/officeDocument" Target="/ppt/presentation.xml" Id="Raba4c3cdf1de447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07e232733140b3"/>
  </p:sldMasterIdLst>
  <p:notesMasterIdLst>
    <p:notesMasterId xmlns:r="http://schemas.openxmlformats.org/officeDocument/2006/relationships" r:id="Rf31cf35f9f0c4049"/>
  </p:notesMasterIdLst>
  <p:sldIdLst>
    <p:sldId xmlns:r="http://schemas.openxmlformats.org/officeDocument/2006/relationships" id="256" r:id="R1dfa5109a6e845c2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93e0acfe51422b" /><Relationship Type="http://schemas.openxmlformats.org/officeDocument/2006/relationships/slideMaster" Target="/ppt/slideMasters/slideMaster1.xml" Id="R0707e232733140b3" /><Relationship Type="http://schemas.openxmlformats.org/officeDocument/2006/relationships/notesMaster" Target="/ppt/notesMasters/notesMaster1.xml" Id="Rf31cf35f9f0c4049" /><Relationship Type="http://schemas.openxmlformats.org/officeDocument/2006/relationships/presProps" Target="/ppt/presProps.xml" Id="Rdd3d55acf70041d6" /><Relationship Type="http://schemas.openxmlformats.org/officeDocument/2006/relationships/tableStyles" Target="/ppt/tableStyles.xml" Id="Rbd1093b845b146bf" /><Relationship Type="http://schemas.openxmlformats.org/officeDocument/2006/relationships/slide" Target="/ppt/slides/slide1.xml" Id="R1dfa5109a6e8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228b5c933ee41c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063843928b14b2f" /><Relationship Type="http://schemas.openxmlformats.org/officeDocument/2006/relationships/notesMaster" Target="/ppt/notesMasters/notesMaster1.xml" Id="R12e3d4aea7df46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Native Trace sample content reproduced from the approved Canonical PNG for fidelity validation only. The 72% value and evidence statements are trace samples, not verified production evidence. Production should use exact structured probability only when available; otherwise use qualitative confidence or 要確認.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dc24ca2f3d443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81035ea87340a7" /><Relationship Type="http://schemas.openxmlformats.org/officeDocument/2006/relationships/slideLayout" Target="/ppt/slideLayouts/slideLayout1.xml" Id="R70477db9d9a94a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477db9d9a94a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c35af0b304151" /><Relationship Type="http://schemas.openxmlformats.org/officeDocument/2006/relationships/notesSlide" Target="/ppt/notesSlides/notesSlide1.xml" Id="R5829ad8218a04390" /></Relationships>
</file>

<file path=ppt/slides/slide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microsoft.com/office/powerpoint/2010/main">
  <ns0:cSld>
    <ns0:bg>
      <ns0:bgPr>
        <ns1:solidFill>
          <ns1:srgbClr val="FFFFFF"/>
        </ns1:solidFill>
      </ns0:bgPr>
    </ns0:bg>
    <ns0:spTree>
      <ns0:nvGrpSpPr>
        <ns0:cNvPr id="1" name=""/>
        <ns0:cNvGrpSpPr/>
        <ns0:nvPr/>
      </ns0:nvGrpSpPr>
      <ns0:grpSpPr>
        <ns1:xfrm/>
      </ns0:grpSpPr>
      <ns0:sp>
        <ns0:nvSpPr>
          <ns0:cNvPr id="101" name="trace:WIN_PROBABILITY:content.auto">
            <ns1:extLst>
              <ns1:ext uri="{FF2B5EF4-FFF2-40B4-BE49-F238E27FC236}">
                <ns2:creationId id="{8028088F-7126-4ECD-A232-6AF82390B27D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133350"/>
            <ns1:ext cx="4000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100000"/>
          </ns1:bodyPr>
          <ns1:lstStyle/>
          <ns1:p>
            <ns1:pPr algn="ctr">
              <ns1:buNone/>
              <ns1:def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rPr>
              <ns1:t>06</ns1:t>
            </ns1:r>
          </ns1:p>
        </ns0:txBody>
      </ns0:sp>
      <ns0:sp>
        <ns0:nvSpPr>
          <ns0:cNvPr id="2" name="trace:WIN_PROBABILITY:content.auto.2">
            <ns1:extLst>
              <ns1:ext uri="{FF2B5EF4-FFF2-40B4-BE49-F238E27FC236}">
                <ns2:creationId id="{20A2D67D-4852-41FB-8A2A-E2ED082A130E}"/>
              </ns1:ext>
            </ns1:extLst>
          </ns0:cNvPr>
          <ns0:cNvSpPr>
            <ns1:spLocks noGrp="1"/>
          </ns0:cNvSpPr>
          <ns0:nvPr/>
        </ns0:nvSpPr>
        <ns0:spPr>
          <ns1:xfrm>
            <ns1:off x="666750" y="142875"/>
            <ns1:ext cx="0" cy="257175"/>
          </ns1:xfrm>
          <ns1:prstGeom prst="line">
            <ns1:avLst/>
          </ns1:prstGeom>
          <ns1:noFill/>
          <ns1:ln w="19050">
            <ns1:solidFill>
              <ns1:srgbClr val="F52323"/>
            </ns1:solidFill>
            <ns1:prstDash val="solid"/>
          </ns1:ln>
        </ns0:spPr>
      </ns0:sp>
      <ns0:sp>
        <ns0:nvSpPr>
          <ns0:cNvPr id="3" name="trace:WIN_PROBABILITY:title.primary">
            <ns1:extLst>
              <ns1:ext uri="{FF2B5EF4-FFF2-40B4-BE49-F238E27FC236}">
                <ns2:creationId id="{8315983E-8FE7-4D81-95CA-ABA3C7382F39}"/>
              </ns1:ext>
            </ns1:extLst>
          </ns0:cNvPr>
          <ns0:cNvSpPr>
            <ns1:spLocks noGrp="1"/>
          </ns0:cNvSpPr>
          <ns0:nvPr/>
        </ns0:nvSpPr>
        <ns0:spPr>
          <ns1:xfrm>
            <ns1:off x="800100" y="133350"/>
            <ns1:ext cx="4476750" cy="3048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100000"/>
          </ns1:bodyPr>
          <ns1:lstStyle/>
          <ns1:p>
            <ns1:pPr>
              <ns1:buNone/>
              <ns1:def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組織を変える、AI活用の進め方</ns1:t>
            </ns1:r>
          </ns1:p>
        </ns0:txBody>
      </ns0:sp>
      <ns0:sp>
        <ns0:nvSpPr>
          <ns0:cNvPr id="4" name="trace:WIN_PROBABILITY:footer.date">
            <ns1:extLst>
              <ns1:ext uri="{FF2B5EF4-FFF2-40B4-BE49-F238E27FC236}">
                <ns2:creationId id="{55C88E00-03C5-4353-83D4-BD6BEF9D1072}"/>
              </ns1:ext>
            </ns1:extLst>
          </ns0:cNvPr>
          <ns0:cNvSpPr>
            <ns1:spLocks noGrp="1"/>
          </ns0:cNvSpPr>
          <ns0:nvPr/>
        </ns0:nvSpPr>
        <ns0:spPr>
          <ns1:xfrm>
            <ns1:off x="14239875" y="114300"/>
            <ns1:ext cx="1333500" cy="2857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94444"/>
          </ns1:bodyPr>
          <ns1:lstStyle/>
          <ns1:p>
            <ns1:pPr algn="r">
              <ns1:buNone/>
              <ns1:def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2026.06.22</ns1:t>
            </ns1:r>
          </ns1:p>
        </ns0:txBody>
      </ns0:sp>
      <ns0:sp>
        <ns0:nvSpPr>
          <ns0:cNvPr id="5" name="trace:WIN_PROBABILITY:content.auto.3">
            <ns1:extLst>
              <ns1:ext uri="{FF2B5EF4-FFF2-40B4-BE49-F238E27FC236}">
                <ns2:creationId id="{2240BEEF-2753-4E57-A54D-5BE752810700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466725"/>
            <ns1:ext cx="6572250" cy="0"/>
          </ns1:xfrm>
          <ns1:prstGeom prst="line">
            <ns1:avLst/>
          </ns1:prstGeom>
          <ns1:noFill/>
          <ns1:ln w="28575">
            <ns1:solidFill>
              <ns1:srgbClr val="F52323"/>
            </ns1:solidFill>
            <ns1:prstDash val="solid"/>
          </ns1:ln>
        </ns0:spPr>
      </ns0:sp>
      <ns0:sp>
        <ns0:nvSpPr>
          <ns0:cNvPr id="6" name="trace:WIN_PROBABILITY:content.auto.4">
            <ns1:extLst>
              <ns1:ext uri="{FF2B5EF4-FFF2-40B4-BE49-F238E27FC236}">
                <ns2:creationId id="{E9780EDD-875A-4C7C-9BD9-66B90784ACC5}"/>
              </ns1:ext>
            </ns1:extLst>
          </ns0:cNvPr>
          <ns0:cNvSpPr>
            <ns1:spLocks noGrp="1"/>
          </ns0:cNvSpPr>
          <ns0:nvPr/>
        </ns0:nvSpPr>
        <ns0:spPr>
          <ns1:xfrm>
            <ns1:off x="6924675" y="466725"/>
            <ns1:ext cx="8667750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7" name="trace:WIN_PROBABILITY:title.primary.2">
            <ns1:extLst>
              <ns1:ext uri="{FF2B5EF4-FFF2-40B4-BE49-F238E27FC236}">
                <ns2:creationId id="{DF21D4DE-57FF-4F46-942E-19820B4AED7F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723900"/>
            <ns1:ext cx="4572000" cy="5238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72756"/>
          </ns1:bodyPr>
          <ns1:lstStyle/>
          <ns1:p>
            <ns1:pPr>
              <ns1:buNone/>
              <ns1:defRPr sz="39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39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受注確度と次の判断</ns1:t>
            </ns1:r>
          </ns1:p>
        </ns0:txBody>
      </ns0:sp>
      <ns0:sp>
        <ns0:nvSpPr>
          <ns0:cNvPr id="8" name="trace:WIN_PROBABILITY:title.primary.3">
            <ns1:extLst>
              <ns1:ext uri="{FF2B5EF4-FFF2-40B4-BE49-F238E27FC236}">
                <ns2:creationId id="{51A81BA8-60FB-4D85-8C0C-844A41887735}"/>
              </ns1:ext>
            </ns1:extLst>
          </ns0:cNvPr>
          <ns0:cNvSpPr>
            <ns1:spLocks noGrp="1"/>
          </ns0:cNvSpPr>
          <ns0:nvPr/>
        </ns0:nvSpPr>
        <ns0:spPr>
          <ns1:xfrm>
            <ns1:off x="371475" y="1257300"/>
            <ns1:ext cx="12001500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84667"/>
          </ns1:bodyPr>
          <ns1:lstStyle/>
          <ns1:p>
            <ns1:pPr>
              <ns1:buNone/>
              <ns1:defRPr sz="18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受注の可能性を、根拠・エビデンス・未確認事項・次の検証アクションとあわせて整理し、意思決定の方向性を明確にします。</ns1:t>
            </ns1:r>
          </ns1:p>
        </ns0:txBody>
      </ns0:sp>
      <ns0:sp>
        <ns0:nvSpPr>
          <ns0:cNvPr id="9" name="trace:WIN_PROBABILITY:content.auto.5">
            <ns1:extLst>
              <ns1:ext uri="{FF2B5EF4-FFF2-40B4-BE49-F238E27FC236}">
                <ns2:creationId id="{5693D4B8-BC83-4AB4-AB46-9CD19475C4B4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1657350"/>
            <ns1:ext cx="8753475" cy="59055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10" name="trace:WIN_PROBABILITY:content.auto.6">
            <ns1:extLst>
              <ns1:ext uri="{FF2B5EF4-FFF2-40B4-BE49-F238E27FC236}">
                <ns2:creationId id="{0EABF71D-11AC-4B0D-9B8C-2D40EA3FCB69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1819275"/>
            <ns1:ext cx="228600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63690"/>
          </ns1:bodyPr>
          <ns1:lstStyle/>
          <ns1:p>
            <ns1:pPr>
              <ns1:buNone/>
              <ns1:defRPr sz="21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受注確度</ns1:t>
            </ns1:r>
          </ns1:p>
        </ns0:txBody>
      </ns0:sp>
      <ns0:sp>
        <ns0:nvSpPr>
          <ns0:cNvPr id="11" name="trace:WIN_PROBABILITY:content.auto.7">
            <ns1:extLst>
              <ns1:ext uri="{FF2B5EF4-FFF2-40B4-BE49-F238E27FC236}">
                <ns2:creationId id="{B57894E8-72AE-4445-A8C5-1D16EC25B7FF}"/>
              </ns1:ext>
            </ns1:extLst>
          </ns0:cNvPr>
          <ns0:cNvSpPr>
            <ns1:spLocks noGrp="1"/>
          </ns0:cNvSpPr>
          <ns0:nvPr/>
        </ns0:nvSpPr>
        <ns0:spPr>
          <ns1:xfrm>
            <ns1:off x="781050" y="2133600"/>
            <ns1:ext cx="2628900" cy="1162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75538"/>
          </ns1:bodyPr>
          <ns1:lstStyle/>
          <ns1:p>
            <ns1:pPr>
              <ns1:buNone/>
              <ns1:defRPr sz="9300" b="1">
                <ns1:solidFill>
                  <ns1:srgbClr val="D91616"/>
                </ns1:solidFill>
                <ns1:latin typeface="Yu Gothic"/>
                <ns1:ea typeface="Yu Gothic"/>
                <ns1:cs typeface="Yu Gothic"/>
              </ns1:defRPr>
            </ns1:pPr>
            <ns1:r>
              <ns1:rPr sz="9300" b="1">
                <ns1:solidFill>
                  <ns1:srgbClr val="D91616"/>
                </ns1:solidFill>
                <ns1:latin typeface="Yu Gothic"/>
                <ns1:ea typeface="Yu Gothic"/>
                <ns1:cs typeface="Yu Gothic"/>
              </ns1:rPr>
              <ns1:t>72%</ns1:t>
            </ns1:r>
          </ns1:p>
        </ns0:txBody>
      </ns0:sp>
      <ns0:sp>
        <ns0:nvSpPr>
          <ns0:cNvPr id="12" name="trace:WIN_PROBABILITY:content.auto.8">
            <ns1:extLst>
              <ns1:ext uri="{FF2B5EF4-FFF2-40B4-BE49-F238E27FC236}">
                <ns2:creationId id="{E720D68E-5286-4639-9438-6778AF650492}"/>
              </ns1:ext>
            </ns1:extLst>
          </ns0:cNvPr>
          <ns0:cNvSpPr>
            <ns1:spLocks noGrp="1"/>
          </ns0:cNvSpPr>
          <ns0:nvPr/>
        </ns0:nvSpPr>
        <ns0:spPr>
          <ns1:xfrm>
            <ns1:off x="3571875" y="2266950"/>
            <ns1:ext cx="0" cy="1066800"/>
          </ns1:xfrm>
          <ns1:prstGeom prst="line">
            <ns1:avLst/>
          </ns1:prstGeom>
          <ns1:noFill/>
          <ns1:ln w="28575">
            <ns1:solidFill>
              <ns1:srgbClr val="F52323"/>
            </ns1:solidFill>
            <ns1:prstDash val="solid"/>
          </ns1:ln>
        </ns0:spPr>
      </ns0:sp>
      <ns0:sp>
        <ns0:nvSpPr>
          <ns0:cNvPr id="13" name="trace:WIN_PROBABILITY:title.primary.4">
            <ns1:extLst>
              <ns1:ext uri="{FF2B5EF4-FFF2-40B4-BE49-F238E27FC236}">
                <ns2:creationId id="{2D262274-DDF9-4E62-89E0-588A6D42D0BA}"/>
              </ns1:ext>
            </ns1:extLst>
          </ns0:cNvPr>
          <ns0:cNvSpPr>
            <ns1:spLocks noGrp="1"/>
          </ns0:cNvSpPr>
          <ns0:nvPr/>
        </ns0:nvSpPr>
        <ns0:spPr>
          <ns1:xfrm>
            <ns1:off x="3895725" y="2266950"/>
            <ns1:ext cx="4810125" cy="3333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84667"/>
          </ns1:bodyPr>
          <ns1:lstStyle/>
          <ns1:p>
            <ns1:pPr>
              <ns1:buNone/>
              <ns1:defRPr sz="1875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現時点での受注可能性は高いと判断します。</ns1:t>
            </ns1:r>
          </ns1:p>
        </ns0:txBody>
      </ns0:sp>
      <ns0:sp>
        <ns0:nvSpPr>
          <ns0:cNvPr id="14" name="trace:WIN_PROBABILITY:title.primary.5">
            <ns1:extLst>
              <ns1:ext uri="{FF2B5EF4-FFF2-40B4-BE49-F238E27FC236}">
                <ns2:creationId id="{55AD0EE2-FCC6-4A4C-8E2E-EE306913D798}"/>
              </ns1:ext>
            </ns1:extLst>
          </ns0:cNvPr>
          <ns0:cNvSpPr>
            <ns1:spLocks noGrp="1"/>
          </ns0:cNvSpPr>
          <ns0:nvPr/>
        </ns0:nvSpPr>
        <ns0:spPr>
          <ns1:xfrm>
            <ns1:off x="3895725" y="2657475"/>
            <ns1:ext cx="5000625" cy="7239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100000"/>
          </ns1:bodyPr>
          <ns1:lstStyle/>
          <ns1:p>
            <ns1:pPr>
              <ns1:buNone/>
              <ns1:defRPr sz="12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顧客の課題と当社の提案内容の適合性が高く、</ns1:t>
            </ns1:r>
          </ns1:p>
          <ns1:p>
            <ns1:pPr>
              <ns1:buNone/>
              <ns1:defRPr sz="12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決裁者からも前向きな評価を得ています。</ns1:t>
            </ns1:r>
          </ns1:p>
          <ns1:p>
            <ns1:pPr>
              <ns1:buNone/>
              <ns1:defRPr sz="12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75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一部の未確認事項はあるものの、総合的に72%と判断します。</ns1:t>
            </ns1:r>
          </ns1:p>
        </ns0:txBody>
      </ns0:sp>
      <ns0:sp>
        <ns0:nvSpPr>
          <ns0:cNvPr id="15" name="trace:WIN_PROBABILITY:content.auto.9">
            <ns1:extLst>
              <ns1:ext uri="{FF2B5EF4-FFF2-40B4-BE49-F238E27FC236}">
                <ns2:creationId id="{63C8F9AF-CCB3-4966-99C0-E7174E765930}"/>
              </ns1:ext>
            </ns1:extLst>
          </ns0:cNvPr>
          <ns0:cNvSpPr>
            <ns1:spLocks noGrp="1"/>
          </ns0:cNvSpPr>
          <ns0:nvPr/>
        </ns0:nvSpPr>
        <ns0:spPr>
          <ns1:xfrm>
            <ns1:off x="609600" y="3733800"/>
            <ns1:ext cx="990600" cy="190500"/>
          </ns1:xfrm>
          <ns1:prstGeom prst="rect">
            <ns1:avLst/>
          </ns1:prstGeom>
          <ns1:solidFill>
            <ns1:srgbClr val="F9DADA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6" name="trace:WIN_PROBABILITY:content.auto.10">
            <ns1:extLst>
              <ns1:ext uri="{FF2B5EF4-FFF2-40B4-BE49-F238E27FC236}">
                <ns2:creationId id="{D2B32720-3E66-4F09-9494-9C3DE5114753}"/>
              </ns1:ext>
            </ns1:extLst>
          </ns0:cNvPr>
          <ns0:cNvSpPr>
            <ns1:spLocks noGrp="1"/>
          </ns0:cNvSpPr>
          <ns0:nvPr/>
        </ns0:nvSpPr>
        <ns0:spPr>
          <ns1:xfrm>
            <ns1:off x="1638300" y="3733800"/>
            <ns1:ext cx="990600" cy="190500"/>
          </ns1:xfrm>
          <ns1:prstGeom prst="rect">
            <ns1:avLst/>
          </ns1:prstGeom>
          <ns1:solidFill>
            <ns1:srgbClr val="F4C4C4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7" name="trace:WIN_PROBABILITY:content.auto.11">
            <ns1:extLst>
              <ns1:ext uri="{FF2B5EF4-FFF2-40B4-BE49-F238E27FC236}">
                <ns2:creationId id="{B65821E6-5E53-48AD-BB7B-9F9D359DD87D}"/>
              </ns1:ext>
            </ns1:extLst>
          </ns0:cNvPr>
          <ns0:cNvSpPr>
            <ns1:spLocks noGrp="1"/>
          </ns0:cNvSpPr>
          <ns0:nvPr/>
        </ns0:nvSpPr>
        <ns0:spPr>
          <ns1:xfrm>
            <ns1:off x="2667000" y="3733800"/>
            <ns1:ext cx="990600" cy="190500"/>
          </ns1:xfrm>
          <ns1:prstGeom prst="rect">
            <ns1:avLst/>
          </ns1:prstGeom>
          <ns1:solidFill>
            <ns1:srgbClr val="F1AAAA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8" name="trace:WIN_PROBABILITY:content.auto.12">
            <ns1:extLst>
              <ns1:ext uri="{FF2B5EF4-FFF2-40B4-BE49-F238E27FC236}">
                <ns2:creationId id="{362F2D69-AA8C-42B3-9CA0-6F04DC39B12B}"/>
              </ns1:ext>
            </ns1:extLst>
          </ns0:cNvPr>
          <ns0:cNvSpPr>
            <ns1:spLocks noGrp="1"/>
          </ns0:cNvSpPr>
          <ns0:nvPr/>
        </ns0:nvSpPr>
        <ns0:spPr>
          <ns1:xfrm>
            <ns1:off x="3695700" y="3733800"/>
            <ns1:ext cx="990600" cy="190500"/>
          </ns1:xfrm>
          <ns1:prstGeom prst="rect">
            <ns1:avLst/>
          </ns1:prstGeom>
          <ns1:solidFill>
            <ns1:srgbClr val="EC8E8E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19" name="trace:WIN_PROBABILITY:content.auto.13">
            <ns1:extLst>
              <ns1:ext uri="{FF2B5EF4-FFF2-40B4-BE49-F238E27FC236}">
                <ns2:creationId id="{EAE0587E-0E7C-4F15-A1E6-56113BD4ECD4}"/>
              </ns1:ext>
            </ns1:extLst>
          </ns0:cNvPr>
          <ns0:cNvSpPr>
            <ns1:spLocks noGrp="1"/>
          </ns0:cNvSpPr>
          <ns0:nvPr/>
        </ns0:nvSpPr>
        <ns0:spPr>
          <ns1:xfrm>
            <ns1:off x="4724400" y="3733800"/>
            <ns1:ext cx="990600" cy="190500"/>
          </ns1:xfrm>
          <ns1:prstGeom prst="rect">
            <ns1:avLst/>
          </ns1:prstGeom>
          <ns1:solidFill>
            <ns1:srgbClr val="E76D6D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0" name="trace:WIN_PROBABILITY:content.auto.14">
            <ns1:extLst>
              <ns1:ext uri="{FF2B5EF4-FFF2-40B4-BE49-F238E27FC236}">
                <ns2:creationId id="{0709C4E6-CCBC-4714-8DEB-A7280950F6ED}"/>
              </ns1:ext>
            </ns1:extLst>
          </ns0:cNvPr>
          <ns0:cNvSpPr>
            <ns1:spLocks noGrp="1"/>
          </ns0:cNvSpPr>
          <ns0:nvPr/>
        </ns0:nvSpPr>
        <ns0:spPr>
          <ns1:xfrm>
            <ns1:off x="5753100" y="3733800"/>
            <ns1:ext cx="990600" cy="190500"/>
          </ns1:xfrm>
          <ns1:prstGeom prst="rect">
            <ns1:avLst/>
          </ns1:prstGeom>
          <ns1:solidFill>
            <ns1:srgbClr val="E04B4B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1" name="trace:WIN_PROBABILITY:content.auto.15">
            <ns1:extLst>
              <ns1:ext uri="{FF2B5EF4-FFF2-40B4-BE49-F238E27FC236}">
                <ns2:creationId id="{BCEE3E29-A7A5-4DFE-9B06-95768FB7524D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3733800"/>
            <ns1:ext cx="990600" cy="190500"/>
          </ns1:xfrm>
          <ns1:prstGeom prst="rect">
            <ns1:avLst/>
          </ns1:prstGeom>
          <ns1:solidFill>
            <ns1:srgbClr val="CFCFCF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2" name="trace:WIN_PROBABILITY:content.auto.16">
            <ns1:extLst>
              <ns1:ext uri="{FF2B5EF4-FFF2-40B4-BE49-F238E27FC236}">
                <ns2:creationId id="{B3FEB727-6CEB-43A0-A90E-54AECA2B14DF}"/>
              </ns1:ext>
            </ns1:extLst>
          </ns0:cNvPr>
          <ns0:cNvSpPr>
            <ns1:spLocks noGrp="1"/>
          </ns0:cNvSpPr>
          <ns0:nvPr/>
        </ns0:nvSpPr>
        <ns0:spPr>
          <ns1:xfrm>
            <ns1:off x="7810500" y="3733800"/>
            <ns1:ext cx="990600" cy="190500"/>
          </ns1:xfrm>
          <ns1:prstGeom prst="rect">
            <ns1:avLst/>
          </ns1:prstGeom>
          <ns1:solidFill>
            <ns1:srgbClr val="BFC1C3"/>
          </ns1:solidFill>
          <ns1:ln w="9525">
            <ns1:solidFill>
              <ns1:srgbClr val="FFFFFF"/>
            </ns1:solidFill>
            <ns1:prstDash val="solid"/>
          </ns1:ln>
        </ns0:spPr>
      </ns0:sp>
      <ns0:sp>
        <ns0:nvSpPr>
          <ns0:cNvPr id="23" name="trace:WIN_PROBABILITY:content.auto.17">
            <ns1:extLst>
              <ns1:ext uri="{FF2B5EF4-FFF2-40B4-BE49-F238E27FC236}">
                <ns2:creationId id="{7164679A-F00C-463A-86E0-6D86E145D4AE}"/>
              </ns1:ext>
            </ns1:extLst>
          </ns0:cNvPr>
          <ns0:cNvSpPr>
            <ns1:spLocks noGrp="1"/>
          </ns0:cNvSpPr>
          <ns0:nvPr/>
        </ns0:nvSpPr>
        <ns0:spPr>
          <ns1:xfrm>
            <ns1:off x="6719888" y="3643313"/>
            <ns1:ext cx="123825" cy="123825"/>
          </ns1:xfrm>
          <ns1:prstGeom prst="ellipse">
            <ns1:avLst/>
          </ns1:prstGeom>
          <ns1:solidFill>
            <ns1:srgbClr val="F52323"/>
          </ns1:solidFill>
          <ns1:ln w="9525">
            <ns1:solidFill>
              <ns1:srgbClr val="F52323"/>
            </ns1:solidFill>
            <ns1:prstDash val="solid"/>
          </ns1:ln>
        </ns0:spPr>
      </ns0:sp>
      <ns0:sp>
        <ns0:nvSpPr>
          <ns0:cNvPr id="24" name="trace:WIN_PROBABILITY:content.auto.18">
            <ns1:extLst>
              <ns1:ext uri="{FF2B5EF4-FFF2-40B4-BE49-F238E27FC236}">
                <ns2:creationId id="{2B03E9D3-AEA3-4ADF-A48E-502E08A6D615}"/>
              </ns1:ext>
            </ns1:extLst>
          </ns0:cNvPr>
          <ns0:cNvSpPr>
            <ns1:spLocks noGrp="1"/>
          </ns0:cNvSpPr>
          <ns0:nvPr/>
        </ns0:nvSpPr>
        <ns0:spPr>
          <ns1:xfrm>
            <ns1:off x="6781800" y="3771900"/>
            <ns1:ext cx="0" cy="409575"/>
          </ns1:xfrm>
          <ns1:prstGeom prst="line">
            <ns1:avLst/>
          </ns1:prstGeom>
          <ns1:noFill/>
          <ns1:ln w="47625">
            <ns1:solidFill>
              <ns1:srgbClr val="F52323"/>
            </ns1:solidFill>
            <ns1:prstDash val="solid"/>
          </ns1:ln>
        </ns0:spPr>
      </ns0:sp>
      <ns0:sp>
        <ns0:nvSpPr>
          <ns0:cNvPr id="25" name="trace:WIN_PROBABILITY:content.auto.19">
            <ns1:extLst>
              <ns1:ext uri="{FF2B5EF4-FFF2-40B4-BE49-F238E27FC236}">
                <ns2:creationId id="{948CFE4A-1C38-4BCE-B37F-3273C07888CD}"/>
              </ns1:ext>
            </ns1:extLst>
          </ns0:cNvPr>
          <ns0:cNvSpPr>
            <ns1:spLocks noGrp="1"/>
          </ns0:cNvSpPr>
          <ns0:nvPr/>
        </ns0:nvSpPr>
        <ns0:spPr>
          <ns1:xfrm>
            <ns1:off x="6534150" y="3333750"/>
            <ns1:ext cx="4953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80702"/>
          </ns1:bodyPr>
          <ns1:lstStyle/>
          <ns1:p>
            <ns1:pPr algn="ctr">
              <ns1:buNone/>
              <ns1:defRPr sz="1425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425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rPr>
              <ns1:t>72%</ns1:t>
            </ns1:r>
          </ns1:p>
        </ns0:txBody>
      </ns0:sp>
      <ns0:sp>
        <ns0:nvSpPr>
          <ns0:cNvPr id="26" name="trace:WIN_PROBABILITY:content.auto.20">
            <ns1:extLst>
              <ns1:ext uri="{FF2B5EF4-FFF2-40B4-BE49-F238E27FC236}">
                <ns2:creationId id="{36D7F3B0-6F5F-48A0-BBA3-E4DD200231AB}"/>
              </ns1:ext>
            </ns1:extLst>
          </ns0:cNvPr>
          <ns0:cNvSpPr>
            <ns1:spLocks noGrp="1"/>
          </ns0:cNvSpPr>
          <ns0:nvPr/>
        </ns0:nvSpPr>
        <ns0:spPr>
          <ns1:xfrm>
            <ns1:off x="1304925" y="4038600"/>
            <ns1:ext cx="1047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66667"/>
          </ns1:bodyPr>
          <ns1:lstStyle/>
          <ns1:p>
            <ns1:pPr algn="ctr">
              <ns1:buNone/>
              <ns1:def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低</ns1:t>
            </ns1:r>
          </ns1:p>
        </ns0:txBody>
      </ns0:sp>
      <ns0:sp>
        <ns0:nvSpPr>
          <ns0:cNvPr id="27" name="trace:WIN_PROBABILITY:content.auto.21">
            <ns1:extLst>
              <ns1:ext uri="{FF2B5EF4-FFF2-40B4-BE49-F238E27FC236}">
                <ns2:creationId id="{51718E6E-D554-4AC8-A9B5-B6DA644139E4}"/>
              </ns1:ext>
            </ns1:extLst>
          </ns0:cNvPr>
          <ns0:cNvSpPr>
            <ns1:spLocks noGrp="1"/>
          </ns0:cNvSpPr>
          <ns0:nvPr/>
        </ns0:nvSpPr>
        <ns0:spPr>
          <ns1:xfrm>
            <ns1:off x="1162050" y="4276725"/>
            <ns1:ext cx="13335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80208"/>
          </ns1:bodyPr>
          <ns1:lstStyle/>
          <ns1:p>
            <ns1:pPr algn="ctr">
              <ns1:buNone/>
              <ns1:defRPr sz="12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(0 – 30%)</ns1:t>
            </ns1:r>
          </ns1:p>
        </ns0:txBody>
      </ns0:sp>
      <ns0:sp>
        <ns0:nvSpPr>
          <ns0:cNvPr id="28" name="trace:WIN_PROBABILITY:content.auto.22">
            <ns1:extLst>
              <ns1:ext uri="{FF2B5EF4-FFF2-40B4-BE49-F238E27FC236}">
                <ns2:creationId id="{127B090A-52C6-4651-9C9B-9E99D5F7F0B5}"/>
              </ns1:ext>
            </ns1:extLst>
          </ns0:cNvPr>
          <ns0:cNvSpPr>
            <ns1:spLocks noGrp="1"/>
          </ns0:cNvSpPr>
          <ns0:nvPr/>
        </ns0:nvSpPr>
        <ns0:spPr>
          <ns1:xfrm>
            <ns1:off x="4171950" y="4038600"/>
            <ns1:ext cx="1047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66667"/>
          </ns1:bodyPr>
          <ns1:lstStyle/>
          <ns1:p>
            <ns1:pPr algn="ctr">
              <ns1:buNone/>
              <ns1:def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中</ns1:t>
            </ns1:r>
          </ns1:p>
        </ns0:txBody>
      </ns0:sp>
      <ns0:sp>
        <ns0:nvSpPr>
          <ns0:cNvPr id="29" name="trace:WIN_PROBABILITY:content.auto.23">
            <ns1:extLst>
              <ns1:ext uri="{FF2B5EF4-FFF2-40B4-BE49-F238E27FC236}">
                <ns2:creationId id="{AE68242F-5914-430C-9364-568D508B8A62}"/>
              </ns1:ext>
            </ns1:extLst>
          </ns0:cNvPr>
          <ns0:cNvSpPr>
            <ns1:spLocks noGrp="1"/>
          </ns0:cNvSpPr>
          <ns0:nvPr/>
        </ns0:nvSpPr>
        <ns0:spPr>
          <ns1:xfrm>
            <ns1:off x="4000500" y="4276725"/>
            <ns1:ext cx="14097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80208"/>
          </ns1:bodyPr>
          <ns1:lstStyle/>
          <ns1:p>
            <ns1:pPr algn="ctr">
              <ns1:buNone/>
              <ns1:defRPr sz="12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(31 – 70%)</ns1:t>
            </ns1:r>
          </ns1:p>
        </ns0:txBody>
      </ns0:sp>
      <ns0:sp>
        <ns0:nvSpPr>
          <ns0:cNvPr id="30" name="trace:WIN_PROBABILITY:content.auto.24">
            <ns1:extLst>
              <ns1:ext uri="{FF2B5EF4-FFF2-40B4-BE49-F238E27FC236}">
                <ns2:creationId id="{969D5EED-53A3-4E96-801D-E497DBFA5492}"/>
              </ns1:ext>
            </ns1:extLst>
          </ns0:cNvPr>
          <ns0:cNvSpPr>
            <ns1:spLocks noGrp="1"/>
          </ns0:cNvSpPr>
          <ns0:nvPr/>
        </ns0:nvSpPr>
        <ns0:spPr>
          <ns1:xfrm>
            <ns1:off x="7105650" y="4038600"/>
            <ns1:ext cx="1047750" cy="2286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66667"/>
          </ns1:bodyPr>
          <ns1:lstStyle/>
          <ns1:p>
            <ns1:pPr algn="ctr">
              <ns1:buNone/>
              <ns1:def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高</ns1:t>
            </ns1:r>
          </ns1:p>
        </ns0:txBody>
      </ns0:sp>
      <ns0:sp>
        <ns0:nvSpPr>
          <ns0:cNvPr id="31" name="trace:WIN_PROBABILITY:content.auto.25">
            <ns1:extLst>
              <ns1:ext uri="{FF2B5EF4-FFF2-40B4-BE49-F238E27FC236}">
                <ns2:creationId id="{DBC15C3D-0744-4F29-8896-6060C99F61ED}"/>
              </ns1:ext>
            </ns1:extLst>
          </ns0:cNvPr>
          <ns0:cNvSpPr>
            <ns1:spLocks noGrp="1"/>
          </ns0:cNvSpPr>
          <ns0:nvPr/>
        </ns0:nvSpPr>
        <ns0:spPr>
          <ns1:xfrm>
            <ns1:off x="6877050" y="4276725"/>
            <ns1:ext cx="1524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80208"/>
          </ns1:bodyPr>
          <ns1:lstStyle/>
          <ns1:p>
            <ns1:pPr algn="ctr">
              <ns1:buNone/>
              <ns1:defRPr sz="12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2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(71 – 100%)</ns1:t>
            </ns1:r>
          </ns1:p>
        </ns0:txBody>
      </ns0:sp>
      <ns0:sp>
        <ns0:nvSpPr>
          <ns0:cNvPr id="32" name="trace:WIN_PROBABILITY:content.auto.26">
            <ns1:extLst>
              <ns1:ext uri="{FF2B5EF4-FFF2-40B4-BE49-F238E27FC236}">
                <ns2:creationId id="{F544A6D6-E405-4369-8FD5-4415F6472C27}"/>
              </ns1:ext>
            </ns1:extLst>
          </ns0:cNvPr>
          <ns0:cNvSpPr>
            <ns1:spLocks noGrp="1"/>
          </ns0:cNvSpPr>
          <ns0:nvPr/>
        </ns0:nvSpPr>
        <ns0:spPr>
          <ns1:xfrm>
            <ns1:off x="3095625" y="4114800"/>
            <ns1:ext cx="0" cy="247650"/>
          </ns1:xfrm>
          <ns1:prstGeom prst="line">
            <ns1:avLst/>
          </ns1:prstGeom>
          <ns1:noFill/>
          <ns1:ln w="9525">
            <ns1:solidFill>
              <ns1:srgbClr val="A9B2BC"/>
            </ns1:solidFill>
            <ns1:prstDash val="solid"/>
          </ns1:ln>
        </ns0:spPr>
      </ns0:sp>
      <ns0:sp>
        <ns0:nvSpPr>
          <ns0:cNvPr id="33" name="trace:WIN_PROBABILITY:content.auto.27">
            <ns1:extLst>
              <ns1:ext uri="{FF2B5EF4-FFF2-40B4-BE49-F238E27FC236}">
                <ns2:creationId id="{7F600F42-B466-41CA-913A-15B34E11D8DB}"/>
              </ns1:ext>
            </ns1:extLst>
          </ns0:cNvPr>
          <ns0:cNvSpPr>
            <ns1:spLocks noGrp="1"/>
          </ns0:cNvSpPr>
          <ns0:nvPr/>
        </ns0:nvSpPr>
        <ns0:spPr>
          <ns1:xfrm>
            <ns1:off x="6286500" y="4114800"/>
            <ns1:ext cx="0" cy="247650"/>
          </ns1:xfrm>
          <ns1:prstGeom prst="line">
            <ns1:avLst/>
          </ns1:prstGeom>
          <ns1:noFill/>
          <ns1:ln w="9525">
            <ns1:solidFill>
              <ns1:srgbClr val="A9B2BC"/>
            </ns1:solidFill>
            <ns1:prstDash val="solid"/>
          </ns1:ln>
        </ns0:spPr>
      </ns0:sp>
      <ns0:sp>
        <ns0:nvSpPr>
          <ns0:cNvPr id="34" name="trace:WIN_PROBABILITY:content.auto.28">
            <ns1:extLst>
              <ns1:ext uri="{FF2B5EF4-FFF2-40B4-BE49-F238E27FC236}">
                <ns2:creationId id="{3311E00D-1A46-4020-BDBB-86C5C93197A9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4591050"/>
            <ns1:ext cx="8315325" cy="0"/>
          </ns1:xfrm>
          <ns1:prstGeom prst="line">
            <ns1:avLst/>
          </ns1:prstGeom>
          <ns1:noFill/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35" name="trace:WIN_PROBABILITY:content.auto.29">
            <ns1:extLst>
              <ns1:ext uri="{FF2B5EF4-FFF2-40B4-BE49-F238E27FC236}">
                <ns2:creationId id="{B66030BD-8B25-4C21-A83C-1C79F9A579EC}"/>
              </ns1:ext>
            </ns1:extLst>
          </ns0:cNvPr>
          <ns0:cNvSpPr>
            <ns1:spLocks noGrp="1"/>
          </ns0:cNvSpPr>
          <ns0:nvPr/>
        </ns0:nvSpPr>
        <ns0:spPr>
          <ns1:xfrm>
            <ns1:off x="561975" y="4743450"/>
            <ns1:ext cx="3905250" cy="2952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63690"/>
          </ns1:bodyPr>
          <ns1:lstStyle/>
          <ns1:p>
            <ns1:pPr>
              <ns1:buNone/>
              <ns1:defRPr sz="21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主な判断材料（エビデンス）</ns1:t>
            </ns1:r>
          </ns1:p>
        </ns0:txBody>
      </ns0:sp>
      <ns0:graphicFrame>
        <ns0:nvGraphicFramePr>
          <ns0:cNvPr id="138" name="trace:WIN_PROBABILITY:content.auto.30"/>
          <ns0:cNvGraphicFramePr/>
          <ns0:nvPr/>
        </ns0:nvGraphicFramePr>
        <ns0:xfrm>
          <ns1:off x="561975" y="5124450"/>
          <ns1:ext cx="8315325" cy="2257425"/>
        </ns0:xfrm>
        <ns1:graphic>
          <ns1:graphicData uri="http://schemas.openxmlformats.org/drawingml/2006/table">
            <ns1:tbl>
              <ns1:tblPr/>
              <ns1:tblGrid>
                <ns1:gridCol w="1552575"/>
                <ns1:gridCol w="4276725"/>
                <ns1:gridCol w="962025"/>
                <ns1:gridCol w="1524000"/>
              </ns1:tblGrid>
              <ns1:tr h="342900"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350" b="1">
                          <ns1:solidFill>
                            <ns1:srgbClr val="111111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項目</ns1:t>
                      </ns1:r>
                    </ns1:p>
                  </ns1:txBody>
                  <ns1:tcPr marL="91440" marR="91440" marT="45720" marB="45720" anchor="ctr">
                    <ns1:solidFill>
                      <ns1:srgbClr val="FDE7E7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350" b="1">
                          <ns1:solidFill>
                            <ns1:srgbClr val="111111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内容・根拠</ns1:t>
                      </ns1:r>
                    </ns1:p>
                  </ns1:txBody>
                  <ns1:tcPr marL="91440" marR="91440" marT="45720" marB="45720" anchor="ctr">
                    <ns1:solidFill>
                      <ns1:srgbClr val="FDE7E7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350" b="1">
                          <ns1:solidFill>
                            <ns1:srgbClr val="111111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重み</ns1:t>
                      </ns1:r>
                    </ns1:p>
                  </ns1:txBody>
                  <ns1:tcPr marL="91440" marR="91440" marT="45720" marB="45720" anchor="ctr">
                    <ns1:solidFill>
                      <ns1:srgbClr val="FDE7E7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350" b="1">
                          <ns1:solidFill>
                            <ns1:srgbClr val="111111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評価</ns1:t>
                      </ns1:r>
                    </ns1:p>
                  </ns1:txBody>
                  <ns1:tcPr marL="91440" marR="91440" marT="45720" marB="45720" anchor="ctr">
                    <ns1:solidFill>
                      <ns1:srgbClr val="FDE7E7"/>
                    </ns1:solidFill>
                  </ns1:tcPr>
                </ns1:tc>
              </ns1:tr>
              <ns1:tr h="371475"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1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課題の明確性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業務効率化の課題が明確で、解決の方向性に合意。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高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強い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  <ns1:tr h="361950"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1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決裁者接点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決裁者との面談を実施し、前向きなコメントあり。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高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強い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  <ns1:tr h="371475"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1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予算感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概算予算のレンジは合致。正式承認は未取得。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中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普通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  <ns1:tr h="371475"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1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導入時期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2025年下期の導入を想定。時期は柔軟に調整可能。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中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普通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  <ns1:tr h="438150"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1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競合優位性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l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機能・サポート体制で優位性あり。競合も提案中。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中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  <ns1:tc>
                  <ns1:txBody>
                    <ns1:bodyPr>
                      <ns1:normAutofit/>
                    </ns1:bodyPr>
                    <ns1:lstStyle/>
                    <ns1:p>
                      <ns1:pPr algn="ctr">
                        <ns1:buNone/>
                      </ns1:pPr>
                      <ns1:r>
                        <ns1:rPr sz="1200" b="0">
                          <ns1:solidFill>
                            <ns1:srgbClr val="16223A"/>
                          </ns1:solidFill>
                          <ns1:latin typeface="Yu Gothic"/>
                          <ns1:ea typeface="Yu Gothic"/>
                          <ns1:cs typeface="Yu Gothic"/>
                        </ns1:rPr>
                        <ns1:t>やや弱い</ns1:t>
                      </ns1:r>
                    </ns1:p>
                  </ns1:txBody>
                  <ns1:tcPr marL="91440" marR="91440" marT="45720" marB="45720" anchor="ctr">
                    <ns1:solidFill>
                      <ns1:srgbClr val="FFFFFF"/>
                    </ns1:solidFill>
                  </ns1:tcPr>
                </ns1:tc>
              </ns1:tr>
            </ns1:tbl>
          </ns1:graphicData>
        </ns1:graphic>
      </ns0:graphicFrame>
      <ns0:sp>
        <ns0:nvSpPr>
          <ns0:cNvPr id="37" name="trace:WIN_PROBABILITY:content.auto.31">
            <ns1:extLst>
              <ns1:ext uri="{FF2B5EF4-FFF2-40B4-BE49-F238E27FC236}">
                <ns2:creationId id="{CD0624AC-5A26-48A1-B422-6520DC3B221A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5572125"/>
            <ns1:ext cx="209550" cy="209550"/>
          </ns1:xfrm>
          <ns1:prstGeom prst="ellipse">
            <ns1:avLst/>
          </ns1:prstGeom>
          <ns1:solidFill>
            <ns1:srgbClr val="F52323"/>
          </ns1:solidFill>
          <ns1:ln w="9525">
            <ns1:solidFill>
              <ns1:srgbClr val="F52323"/>
            </ns1:solidFill>
            <ns1:prstDash val="solid"/>
          </ns1:ln>
        </ns0:spPr>
      </ns0:sp>
      <ns0:sp>
        <ns0:nvSpPr>
          <ns0:cNvPr id="38" name="trace:WIN_PROBABILITY:content.auto.32">
            <ns1:extLst>
              <ns1:ext uri="{FF2B5EF4-FFF2-40B4-BE49-F238E27FC236}">
                <ns2:creationId id="{F958FAD5-D9CF-442D-AD2E-23FD3433EED2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5943600"/>
            <ns1:ext cx="209550" cy="209550"/>
          </ns1:xfrm>
          <ns1:prstGeom prst="ellipse">
            <ns1:avLst/>
          </ns1:prstGeom>
          <ns1:solidFill>
            <ns1:srgbClr val="F52323"/>
          </ns1:solidFill>
          <ns1:ln w="9525">
            <ns1:solidFill>
              <ns1:srgbClr val="F52323"/>
            </ns1:solidFill>
            <ns1:prstDash val="solid"/>
          </ns1:ln>
        </ns0:spPr>
      </ns0:sp>
      <ns0:sp>
        <ns0:nvSpPr>
          <ns0:cNvPr id="39" name="trace:WIN_PROBABILITY:content.auto.33">
            <ns1:extLst>
              <ns1:ext uri="{FF2B5EF4-FFF2-40B4-BE49-F238E27FC236}">
                <ns2:creationId id="{F2C2318E-EBE0-4E42-9ECA-A2A3FFDF6937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6315075"/>
            <ns1:ext cx="209550" cy="20955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  <ns1:prstDash val="solid"/>
          </ns1:ln>
        </ns0:spPr>
      </ns0:sp>
      <ns0:sp>
        <ns0:nvSpPr>
          <ns0:cNvPr id="40" name="trace:WIN_PROBABILITY:content.auto.34">
            <ns1:extLst>
              <ns1:ext uri="{FF2B5EF4-FFF2-40B4-BE49-F238E27FC236}">
                <ns2:creationId id="{C2E0032B-493E-481A-ABB3-4515DCD2D942}"/>
              </ns1:ext>
            </ns1:extLst>
          </ns0:cNvPr>
          <ns0:cNvSpPr>
            <ns1:spLocks noGrp="1"/>
          </ns0:cNvSpPr>
          <ns0:nvPr/>
        </ns0:nvSpPr>
        <ns0:spPr>
          <ns1:xfrm>
            <ns1:off x="7658100" y="6686550"/>
            <ns1:ext cx="209550" cy="209550"/>
          </ns1:xfrm>
          <ns1:prstGeom prst="ellipse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  <ns1:prstDash val="solid"/>
          </ns1:ln>
        </ns0:spPr>
      </ns0:sp>
      <ns0:sp>
        <ns0:nvSpPr>
          <ns0:cNvPr id="41" name="trace:WIN_PROBABILITY:content.auto.35">
            <ns1:extLst>
              <ns1:ext uri="{FF2B5EF4-FFF2-40B4-BE49-F238E27FC236}">
                <ns2:creationId id="{CA25D7A1-CF33-4A41-8AAB-EBC5594B3BEB}"/>
              </ns1:ext>
            </ns1:extLst>
          </ns0:cNvPr>
          <ns0:cNvSpPr>
            <ns1:spLocks noGrp="1"/>
          </ns0:cNvSpPr>
          <ns0:nvPr/>
        </ns0:nvSpPr>
        <ns0:spPr>
          <ns1:xfrm>
            <ns1:off x="7667625" y="7096125"/>
            <ns1:ext cx="200025" cy="180975"/>
          </ns1:xfrm>
          <ns1:prstGeom prst="triangle">
            <ns1:avLst/>
          </ns1:prstGeom>
          <ns1:solidFill>
            <ns1:srgbClr val="FFFFFF"/>
          </ns1:solidFill>
          <ns1:ln w="19050">
            <ns1:solidFill>
              <ns1:srgbClr val="111111"/>
            </ns1:solidFill>
            <ns1:prstDash val="solid"/>
          </ns1:ln>
        </ns0:spPr>
      </ns0:sp>
      <ns0:sp>
        <ns0:nvSpPr>
          <ns0:cNvPr id="42" name="trace:WIN_PROBABILITY:content.auto.36">
            <ns1:extLst>
              <ns1:ext uri="{FF2B5EF4-FFF2-40B4-BE49-F238E27FC236}">
                <ns2:creationId id="{36774549-3254-4B19-AA93-BC4F0FDCC680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1657350"/>
            <ns1:ext cx="6343650" cy="20478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43" name="trace:WIN_PROBABILITY:content.auto.37">
            <ns1:extLst>
              <ns1:ext uri="{FF2B5EF4-FFF2-40B4-BE49-F238E27FC236}">
                <ns2:creationId id="{C6584C71-9597-4CDA-85B4-7505F14792A7}"/>
              </ns1:ext>
            </ns1:extLst>
          </ns0:cNvPr>
          <ns0:cNvSpPr>
            <ns1:spLocks noGrp="1"/>
          </ns0:cNvSpPr>
          <ns0:nvPr/>
        </ns0:nvSpPr>
        <ns0:spPr>
          <ns1:xfrm>
            <ns1:off x="9458325" y="1876425"/>
            <ns1:ext cx="323850" cy="419100"/>
          </ns1:xfrm>
          <ns1:prstGeom prst="rect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44" name="trace:WIN_PROBABILITY:content.auto.38">
            <ns1:extLst>
              <ns1:ext uri="{FF2B5EF4-FFF2-40B4-BE49-F238E27FC236}">
                <ns2:creationId id="{14739D39-2580-462C-91B6-7BC8D490623C}"/>
              </ns1:ext>
            </ns1:extLst>
          </ns0:cNvPr>
          <ns0:cNvSpPr>
            <ns1:spLocks noGrp="1"/>
          </ns0:cNvSpPr>
          <ns0:nvPr/>
        </ns0:nvSpPr>
        <ns0:spPr>
          <ns1:xfrm>
            <ns1:off x="9659112" y="1876425"/>
            <ns1:ext cx="123063" cy="123063"/>
          </ns1:xfrm>
          <ns1:prstGeom prst="line">
            <ns1:avLst/>
          </ns1:prstGeom>
          <ns1:noFill/>
          <ns1:ln w="28575">
            <ns1:solidFill>
              <ns1:srgbClr val="F52323"/>
            </ns1:solidFill>
            <ns1:prstDash val="solid"/>
          </ns1:ln>
        </ns0:spPr>
      </ns0:sp>
      <ns0:sp>
        <ns0:nvSpPr>
          <ns0:cNvPr id="45" name="trace:WIN_PROBABILITY:content.auto.39">
            <ns1:extLst>
              <ns1:ext uri="{FF2B5EF4-FFF2-40B4-BE49-F238E27FC236}">
                <ns2:creationId id="{895B0C36-8E7B-4D0C-8A9E-02151E11ED75}"/>
              </ns1:ext>
            </ns1:extLst>
          </ns0:cNvPr>
          <ns0:cNvSpPr>
            <ns1:spLocks noGrp="1"/>
          </ns0:cNvSpPr>
          <ns0:nvPr/>
        </ns0:nvSpPr>
        <ns0:spPr>
          <ns1:xfrm>
            <ns1:off x="9659112" y="1876425"/>
            <ns1:ext cx="0" cy="123063"/>
          </ns1:xfrm>
          <ns1:prstGeom prst="line">
            <ns1:avLst/>
          </ns1:prstGeom>
          <ns1:noFill/>
          <ns1:ln w="28575">
            <ns1:solidFill>
              <ns1:srgbClr val="F52323"/>
            </ns1:solidFill>
            <ns1:prstDash val="solid"/>
          </ns1:ln>
        </ns0:spPr>
      </ns0:sp>
      <ns0:sp>
        <ns0:nvSpPr>
          <ns0:cNvPr id="46" name="trace:WIN_PROBABILITY:content.auto.40">
            <ns1:extLst>
              <ns1:ext uri="{FF2B5EF4-FFF2-40B4-BE49-F238E27FC236}">
                <ns2:creationId id="{26872B36-7662-444D-ADD8-A9B474412A19}"/>
              </ns1:ext>
            </ns1:extLst>
          </ns0:cNvPr>
          <ns0:cNvSpPr>
            <ns1:spLocks noGrp="1"/>
          </ns0:cNvSpPr>
          <ns0:nvPr/>
        </ns0:nvSpPr>
        <ns0:spPr>
          <ns1:xfrm>
            <ns1:off x="9659112" y="1999488"/>
            <ns1:ext cx="123063" cy="0"/>
          </ns1:xfrm>
          <ns1:prstGeom prst="line">
            <ns1:avLst/>
          </ns1:prstGeom>
          <ns1:noFill/>
          <ns1:ln w="28575">
            <ns1:solidFill>
              <ns1:srgbClr val="F52323"/>
            </ns1:solidFill>
            <ns1:prstDash val="solid"/>
          </ns1:ln>
        </ns0:spPr>
      </ns0:sp>
      <ns0:sp>
        <ns0:nvSpPr>
          <ns0:cNvPr id="47" name="trace:WIN_PROBABILITY:content.auto.41">
            <ns1:extLst>
              <ns1:ext uri="{FF2B5EF4-FFF2-40B4-BE49-F238E27FC236}">
                <ns2:creationId id="{2DE3CC71-D89E-4058-A5C1-EF94294E9D46}"/>
              </ns1:ext>
            </ns1:extLst>
          </ns0:cNvPr>
          <ns0:cNvSpPr>
            <ns1:spLocks noGrp="1"/>
          </ns0:cNvSpPr>
          <ns0:nvPr/>
        </ns0:nvSpPr>
        <ns0:spPr>
          <ns1:xfrm>
            <ns1:off x="9529572" y="2136267"/>
            <ns1:ext cx="181356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48" name="trace:WIN_PROBABILITY:content.auto.42">
            <ns1:extLst>
              <ns1:ext uri="{FF2B5EF4-FFF2-40B4-BE49-F238E27FC236}">
                <ns2:creationId id="{5999248F-7A57-424B-879F-CDB1E3545D2A}"/>
              </ns1:ext>
            </ns1:extLst>
          </ns0:cNvPr>
          <ns0:cNvSpPr>
            <ns1:spLocks noGrp="1"/>
          </ns0:cNvSpPr>
          <ns0:nvPr/>
        </ns0:nvSpPr>
        <ns0:spPr>
          <ns1:xfrm>
            <ns1:off x="9529572" y="2203323"/>
            <ns1:ext cx="181356" cy="0"/>
          </ns1:xfrm>
          <ns1:prstGeom prst="line">
            <ns1:avLst/>
          </ns1:prstGeom>
          <ns1:noFill/>
          <ns1:ln w="28575">
            <ns1:solidFill>
              <ns1:srgbClr val="111111"/>
            </ns1:solidFill>
            <ns1:prstDash val="solid"/>
          </ns1:ln>
        </ns0:spPr>
      </ns0:sp>
      <ns0:sp>
        <ns0:nvSpPr>
          <ns0:cNvPr id="49" name="trace:WIN_PROBABILITY:content.auto.43">
            <ns1:extLst>
              <ns1:ext uri="{FF2B5EF4-FFF2-40B4-BE49-F238E27FC236}">
                <ns2:creationId id="{4643982C-A92E-4149-8C7E-73DC3A55C807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1838325"/>
            <ns1:ext cx="2095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90000"/>
          </ns1:bodyPr>
          <ns1:lstStyle/>
          <ns1:p>
            <ns1:pPr>
              <ns1:buNone/>
              <ns1:defRPr sz="22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2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判断根拠</ns1:t>
            </ns1:r>
          </ns1:p>
        </ns0:txBody>
      </ns0:sp>
      <ns0:sp>
        <ns0:nvSpPr>
          <ns0:cNvPr id="50" name="trace:WIN_PROBABILITY:content.auto.44">
            <ns1:extLst>
              <ns1:ext uri="{FF2B5EF4-FFF2-40B4-BE49-F238E27FC236}">
                <ns2:creationId id="{29C34F07-24EE-4AC9-AC50-A33770974F87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2381250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51" name="trace:WIN_PROBABILITY:title.primary.6">
            <ns1:extLst>
              <ns1:ext uri="{FF2B5EF4-FFF2-40B4-BE49-F238E27FC236}">
                <ns2:creationId id="{D2C7306A-232A-4753-9041-E861B75D9F88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2324100"/>
            <ns1:ext cx="52959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2500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顧客の課題と当社の提案内容の適合性が高い</ns1:t>
            </ns1:r>
          </ns1:p>
        </ns0:txBody>
      </ns0:sp>
      <ns0:sp>
        <ns0:nvSpPr>
          <ns0:cNvPr id="52" name="trace:WIN_PROBABILITY:content.auto.45">
            <ns1:extLst>
              <ns1:ext uri="{FF2B5EF4-FFF2-40B4-BE49-F238E27FC236}">
                <ns2:creationId id="{61B8ED2A-2009-487B-A282-B4C9DEACC971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2752725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53" name="trace:WIN_PROBABILITY:title.primary.7">
            <ns1:extLst>
              <ns1:ext uri="{FF2B5EF4-FFF2-40B4-BE49-F238E27FC236}">
                <ns2:creationId id="{460EB2AF-2E7E-403C-B63D-06F2911FFAF7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2695575"/>
            <ns1:ext cx="52959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2500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決裁者から前向きな評価と導入意向の発言がある</ns1:t>
            </ns1:r>
          </ns1:p>
        </ns0:txBody>
      </ns0:sp>
      <ns0:sp>
        <ns0:nvSpPr>
          <ns0:cNvPr id="54" name="trace:WIN_PROBABILITY:content.auto.46">
            <ns1:extLst>
              <ns1:ext uri="{FF2B5EF4-FFF2-40B4-BE49-F238E27FC236}">
                <ns2:creationId id="{1B84AC9B-5D53-41DD-83FB-43F0B6356DD0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3124200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55" name="trace:WIN_PROBABILITY:title.primary.8">
            <ns1:extLst>
              <ns1:ext uri="{FF2B5EF4-FFF2-40B4-BE49-F238E27FC236}">
                <ns2:creationId id="{8776592E-A4B7-47FF-B7D0-362CF8223685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3067050"/>
            <ns1:ext cx="52959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2500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概算予算の範囲内での導入可能性が見込める</ns1:t>
            </ns1:r>
          </ns1:p>
        </ns0:txBody>
      </ns0:sp>
      <ns0:sp>
        <ns0:nvSpPr>
          <ns0:cNvPr id="56" name="trace:WIN_PROBABILITY:content.auto.47">
            <ns1:extLst>
              <ns1:ext uri="{FF2B5EF4-FFF2-40B4-BE49-F238E27FC236}">
                <ns2:creationId id="{7013E7FF-0D78-4E80-81B3-FA191EB2A5F1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3495675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57" name="trace:WIN_PROBABILITY:title.primary.9">
            <ns1:extLst>
              <ns1:ext uri="{FF2B5EF4-FFF2-40B4-BE49-F238E27FC236}">
                <ns2:creationId id="{FEF02BBA-92A0-4F17-9834-B491EBF5EECC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3438525"/>
            <ns1:ext cx="529590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2500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同業他社での導入実績があり、信頼性が評価されている</ns1:t>
            </ns1:r>
          </ns1:p>
        </ns0:txBody>
      </ns0:sp>
      <ns0:sp>
        <ns0:nvSpPr>
          <ns0:cNvPr id="58" name="trace:WIN_PROBABILITY:content.auto.48">
            <ns1:extLst>
              <ns1:ext uri="{FF2B5EF4-FFF2-40B4-BE49-F238E27FC236}">
                <ns2:creationId id="{6091D101-D261-4AE2-B6DB-36ABE40B3761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3810000"/>
            <ns1:ext cx="6343650" cy="1933575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59" name="trace:WIN_PROBABILITY:content.auto.49">
            <ns1:extLst>
              <ns1:ext uri="{FF2B5EF4-FFF2-40B4-BE49-F238E27FC236}">
                <ns2:creationId id="{323B781A-1B1E-47F7-84B3-82CFF7213BD1}"/>
              </ns1:ext>
            </ns1:extLst>
          </ns0:cNvPr>
          <ns0:cNvSpPr>
            <ns1:spLocks noGrp="1"/>
          </ns0:cNvSpPr>
          <ns0:nvPr/>
        </ns0:nvSpPr>
        <ns0:spPr>
          <ns1:xfrm>
            <ns1:off x="9372600" y="3933825"/>
            <ns1:ext cx="533400" cy="552450"/>
          </ns1:xfrm>
          <ns1:prstGeom prst="triangl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60" name="trace:WIN_PROBABILITY:content.auto.50">
            <ns1:extLst>
              <ns1:ext uri="{FF2B5EF4-FFF2-40B4-BE49-F238E27FC236}">
                <ns2:creationId id="{BC833CF8-87A1-42A5-9A62-1D9F1E05906D}"/>
              </ns1:ext>
            </ns1:extLst>
          </ns0:cNvPr>
          <ns0:cNvSpPr>
            <ns1:spLocks noGrp="1"/>
          </ns0:cNvSpPr>
          <ns0:nvPr/>
        </ns0:nvSpPr>
        <ns0:spPr>
          <ns1:xfrm>
            <ns1:off x="9639300" y="4095750"/>
            <ns1:ext cx="0" cy="171450"/>
          </ns1:xfrm>
          <ns1:prstGeom prst="lin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61" name="trace:WIN_PROBABILITY:content.auto.51">
            <ns1:extLst>
              <ns1:ext uri="{FF2B5EF4-FFF2-40B4-BE49-F238E27FC236}">
                <ns2:creationId id="{CCBA9ED6-ECC1-4EFE-BEC2-6A36F0C8B148}"/>
              </ns1:ext>
            </ns1:extLst>
          </ns0:cNvPr>
          <ns0:cNvSpPr>
            <ns1:spLocks noGrp="1"/>
          </ns0:cNvSpPr>
          <ns0:nvPr/>
        </ns0:nvSpPr>
        <ns0:spPr>
          <ns1:xfrm>
            <ns1:off x="9615488" y="4348163"/>
            <ns1:ext cx="47625" cy="47625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62" name="trace:WIN_PROBABILITY:content.auto.52">
            <ns1:extLst>
              <ns1:ext uri="{FF2B5EF4-FFF2-40B4-BE49-F238E27FC236}">
                <ns2:creationId id="{F93AB86D-F99F-431F-9CE2-AA24F6213D9C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4000500"/>
            <ns1:ext cx="314325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90000"/>
          </ns1:bodyPr>
          <ns1:lstStyle/>
          <ns1:p>
            <ns1:pPr>
              <ns1:buNone/>
              <ns1:defRPr sz="22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2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未確認事項 / リスク</ns1:t>
            </ns1:r>
          </ns1:p>
        </ns0:txBody>
      </ns0:sp>
      <ns0:sp>
        <ns0:nvSpPr>
          <ns0:cNvPr id="63" name="trace:WIN_PROBABILITY:content.auto.53">
            <ns1:extLst>
              <ns1:ext uri="{FF2B5EF4-FFF2-40B4-BE49-F238E27FC236}">
                <ns2:creationId id="{D44EC6CF-8E08-4F48-A81D-A1127E56ACE5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4505325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64" name="trace:WIN_PROBABILITY:content.auto.54">
            <ns1:extLst>
              <ns1:ext uri="{FF2B5EF4-FFF2-40B4-BE49-F238E27FC236}">
                <ns2:creationId id="{444A3B19-F22B-4832-BEF9-4789B6EECB11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4448175"/>
            <ns1:ext cx="5295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6667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最終的な予算承認の取得が必要</ns1:t>
            </ns1:r>
          </ns1:p>
        </ns0:txBody>
      </ns0:sp>
      <ns0:sp>
        <ns0:nvSpPr>
          <ns0:cNvPr id="65" name="trace:WIN_PROBABILITY:content.auto.55">
            <ns1:extLst>
              <ns1:ext uri="{FF2B5EF4-FFF2-40B4-BE49-F238E27FC236}">
                <ns2:creationId id="{477E9C0D-5A53-40EF-8F7D-36F46E954B2B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4876800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66" name="trace:WIN_PROBABILITY:lead">
            <ns1:extLst>
              <ns1:ext uri="{FF2B5EF4-FFF2-40B4-BE49-F238E27FC236}">
                <ns2:creationId id="{6C470B05-9E39-4F5D-BCFA-B37C875BE572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4819650"/>
            <ns1:ext cx="5295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6667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社内稟議プロセスの期間・承認条件が未確定</ns1:t>
            </ns1:r>
          </ns1:p>
        </ns0:txBody>
      </ns0:sp>
      <ns0:sp>
        <ns0:nvSpPr>
          <ns0:cNvPr id="67" name="trace:WIN_PROBABILITY:content.auto.56">
            <ns1:extLst>
              <ns1:ext uri="{FF2B5EF4-FFF2-40B4-BE49-F238E27FC236}">
                <ns2:creationId id="{52B03454-214A-432C-9A45-EBE0CB3B8461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5248275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68" name="trace:WIN_PROBABILITY:content.auto.57">
            <ns1:extLst>
              <ns1:ext uri="{FF2B5EF4-FFF2-40B4-BE49-F238E27FC236}">
                <ns2:creationId id="{5B27D15A-E2CC-4FE3-A855-5DB3378E901C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5191125"/>
            <ns1:ext cx="5295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6667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競合他社の提案状況と価格動向の継続確認が必要</ns1:t>
            </ns1:r>
          </ns1:p>
        </ns0:txBody>
      </ns0:sp>
      <ns0:sp>
        <ns0:nvSpPr>
          <ns0:cNvPr id="69" name="trace:WIN_PROBABILITY:content.auto.58">
            <ns1:extLst>
              <ns1:ext uri="{FF2B5EF4-FFF2-40B4-BE49-F238E27FC236}">
                <ns2:creationId id="{8E53163B-BDFC-4E75-AB22-E22BB4EA1683}"/>
              </ns1:ext>
            </ns1:extLst>
          </ns0:cNvPr>
          <ns0:cNvSpPr>
            <ns1:spLocks noGrp="1"/>
          </ns0:cNvSpPr>
          <ns0:nvPr/>
        </ns0:nvSpPr>
        <ns0:spPr>
          <ns1:xfrm>
            <ns1:off x="9782175" y="5619750"/>
            <ns1:ext cx="95250" cy="95250"/>
          </ns1:xfrm>
          <ns1:prstGeom prst="ellipse">
            <ns1:avLst/>
          </ns1:prstGeom>
          <ns1:solidFill>
            <ns1:srgbClr val="F52323"/>
          </ns1:solidFill>
          <ns1:ln w="0">
            <ns1:noFill/>
            <ns1:prstDash val="solid"/>
          </ns1:ln>
        </ns0:spPr>
      </ns0:sp>
      <ns0:sp>
        <ns0:nvSpPr>
          <ns0:cNvPr id="70" name="trace:WIN_PROBABILITY:content.auto.59">
            <ns1:extLst>
              <ns1:ext uri="{FF2B5EF4-FFF2-40B4-BE49-F238E27FC236}">
                <ns2:creationId id="{9060D5C1-9428-4D97-888A-8A88FE550B8B}"/>
              </ns1:ext>
            </ns1:extLst>
          </ns0:cNvPr>
          <ns0:cNvSpPr>
            <ns1:spLocks noGrp="1"/>
          </ns0:cNvSpPr>
          <ns0:nvPr/>
        </ns0:nvSpPr>
        <ns0:spPr>
          <ns1:xfrm>
            <ns1:off x="10001250" y="5562600"/>
            <ns1:ext cx="5295900" cy="2667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76667"/>
          </ns1:bodyPr>
          <ns1:lstStyle/>
          <ns1:p>
            <ns1:pPr>
              <ns1:buNone/>
              <ns1:def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導入スケジュールの正式確定と社内リソースの調整</ns1:t>
            </ns1:r>
          </ns1:p>
        </ns0:txBody>
      </ns0:sp>
      <ns0:sp>
        <ns0:nvSpPr>
          <ns0:cNvPr id="71" name="trace:WIN_PROBABILITY:content.auto.60">
            <ns1:extLst>
              <ns1:ext uri="{FF2B5EF4-FFF2-40B4-BE49-F238E27FC236}">
                <ns2:creationId id="{A18FD252-DC2E-423E-AA63-785322C3E869}"/>
              </ns1:ext>
            </ns1:extLst>
          </ns0:cNvPr>
          <ns0:cNvSpPr>
            <ns1:spLocks noGrp="1"/>
          </ns0:cNvSpPr>
          <ns0:nvPr/>
        </ns0:nvSpPr>
        <ns0:spPr>
          <ns1:xfrm>
            <ns1:off x="9248775" y="5848350"/>
            <ns1:ext cx="6343650" cy="1714500"/>
          </ns1:xfrm>
          <ns1:prstGeom prst="rect">
            <ns1:avLst/>
          </ns1:prstGeom>
          <ns1:solidFill>
            <ns1:srgbClr val="FFFFFF"/>
          </ns1:solidFill>
          <ns1:ln w="9525">
            <ns1:solidFill>
              <ns1:srgbClr val="D6DDE5"/>
            </ns1:solidFill>
            <ns1:prstDash val="solid"/>
          </ns1:ln>
        </ns0:spPr>
      </ns0:sp>
      <ns0:sp>
        <ns0:nvSpPr>
          <ns0:cNvPr id="72" name="trace:WIN_PROBABILITY:content.auto.61">
            <ns1:extLst>
              <ns1:ext uri="{FF2B5EF4-FFF2-40B4-BE49-F238E27FC236}">
                <ns2:creationId id="{5F29959E-F7F4-4F3C-8A91-59AA5A82377C}"/>
              </ns1:ext>
            </ns1:extLst>
          </ns0:cNvPr>
          <ns0:cNvSpPr>
            <ns1:spLocks noGrp="1"/>
          </ns0:cNvSpPr>
          <ns0:nvPr/>
        </ns0:nvSpPr>
        <ns0:spPr>
          <ns1:xfrm>
            <ns1:off x="9448800" y="5962650"/>
            <ns1:ext cx="342900" cy="342900"/>
          </ns1:xfrm>
          <ns1:prstGeom prst="ellips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73" name="trace:WIN_PROBABILITY:content.auto.62">
            <ns1:extLst>
              <ns1:ext uri="{FF2B5EF4-FFF2-40B4-BE49-F238E27FC236}">
                <ns2:creationId id="{8996A3CC-041E-4162-86E3-E596F7D9D41C}"/>
              </ns1:ext>
            </ns1:extLst>
          </ns0:cNvPr>
          <ns0:cNvSpPr>
            <ns1:spLocks noGrp="1"/>
          </ns0:cNvSpPr>
          <ns0:nvPr/>
        </ns0:nvSpPr>
        <ns0:spPr>
          <ns1:xfrm>
            <ns1:off x="9515475" y="6029325"/>
            <ns1:ext cx="209550" cy="209550"/>
          </ns1:xfrm>
          <ns1:prstGeom prst="ellips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74" name="trace:WIN_PROBABILITY:content.auto.63">
            <ns1:extLst>
              <ns1:ext uri="{FF2B5EF4-FFF2-40B4-BE49-F238E27FC236}">
                <ns2:creationId id="{FC062AE7-56D5-4164-8456-9895BEC35391}"/>
              </ns1:ext>
            </ns1:extLst>
          </ns0:cNvPr>
          <ns0:cNvSpPr>
            <ns1:spLocks noGrp="1"/>
          </ns0:cNvSpPr>
          <ns0:nvPr/>
        </ns0:nvSpPr>
        <ns0:spPr>
          <ns1:xfrm>
            <ns1:off x="9586913" y="6100763"/>
            <ns1:ext cx="66675" cy="66675"/>
          </ns1:xfrm>
          <ns1:prstGeom prst="ellips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75" name="trace:WIN_PROBABILITY:content.auto.64">
            <ns1:extLst>
              <ns1:ext uri="{FF2B5EF4-FFF2-40B4-BE49-F238E27FC236}">
                <ns2:creationId id="{19929347-29EB-4F55-965D-00B29F286521}"/>
              </ns1:ext>
            </ns1:extLst>
          </ns0:cNvPr>
          <ns0:cNvSpPr>
            <ns1:spLocks noGrp="1"/>
          </ns0:cNvSpPr>
          <ns0:nvPr/>
        </ns0:nvSpPr>
        <ns0:spPr>
          <ns1:xfrm>
            <ns1:off x="9686925" y="6067425"/>
            <ns1:ext cx="228600" cy="0"/>
          </ns1:xfrm>
          <ns1:prstGeom prst="lin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76" name="trace:WIN_PROBABILITY:content.auto.65">
            <ns1:extLst>
              <ns1:ext uri="{FF2B5EF4-FFF2-40B4-BE49-F238E27FC236}">
                <ns2:creationId id="{EED0EDBA-3C9E-4C6D-AAC2-EF3597FF2FE7}"/>
              </ns1:ext>
            </ns1:extLst>
          </ns0:cNvPr>
          <ns0:cNvSpPr>
            <ns1:spLocks noGrp="1"/>
          </ns0:cNvSpPr>
          <ns0:nvPr/>
        </ns0:nvSpPr>
        <ns0:spPr>
          <ns1:xfrm>
            <ns1:off x="9915525" y="5838825"/>
            <ns1:ext cx="0" cy="19050"/>
          </ns1:xfrm>
          <ns1:prstGeom prst="lin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77" name="trace:WIN_PROBABILITY:content.auto.66">
            <ns1:extLst>
              <ns1:ext uri="{FF2B5EF4-FFF2-40B4-BE49-F238E27FC236}">
                <ns2:creationId id="{4EBEA805-B40A-4F58-ADC1-2EC8F4EA07A2}"/>
              </ns1:ext>
            </ns1:extLst>
          </ns0:cNvPr>
          <ns0:cNvSpPr>
            <ns1:spLocks noGrp="1"/>
          </ns0:cNvSpPr>
          <ns0:nvPr/>
        </ns0:nvSpPr>
        <ns0:spPr>
          <ns1:xfrm>
            <ns1:off x="9915525" y="5838825"/>
            <ns1:ext cx="0" cy="114300"/>
          </ns1:xfrm>
          <ns1:prstGeom prst="line">
            <ns1:avLst/>
          </ns1:prstGeom>
          <ns1:noFill/>
          <ns1:ln w="38100">
            <ns1:solidFill>
              <ns1:srgbClr val="F52323"/>
            </ns1:solidFill>
            <ns1:prstDash val="solid"/>
          </ns1:ln>
        </ns0:spPr>
      </ns0:sp>
      <ns0:sp>
        <ns0:nvSpPr>
          <ns0:cNvPr id="78" name="trace:WIN_PROBABILITY:content.auto.67">
            <ns1:extLst>
              <ns1:ext uri="{FF2B5EF4-FFF2-40B4-BE49-F238E27FC236}">
                <ns2:creationId id="{92CA0435-0F6B-47C2-9366-839A8E345AE2}"/>
              </ns1:ext>
            </ns1:extLst>
          </ns0:cNvPr>
          <ns0:cNvSpPr>
            <ns1:spLocks noGrp="1"/>
          </ns0:cNvSpPr>
          <ns0:nvPr/>
        </ns0:nvSpPr>
        <ns0:spPr>
          <ns1:xfrm>
            <ns1:off x="9982200" y="5962650"/>
            <ns1:ext cx="2476500" cy="4000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ctr">
            <ns1:normAutofit fontScale="90000"/>
          </ns1:bodyPr>
          <ns1:lstStyle/>
          <ns1:p>
            <ns1:pPr>
              <ns1:buNone/>
              <ns1:defRPr sz="22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25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次のアクション</ns1:t>
            </ns1:r>
          </ns1:p>
        </ns0:txBody>
      </ns0:sp>
      <ns0:sp>
        <ns0:nvSpPr>
          <ns0:cNvPr id="79" name="trace:WIN_PROBABILITY:content.auto.68">
            <ns1:extLst>
              <ns1:ext uri="{FF2B5EF4-FFF2-40B4-BE49-F238E27FC236}">
                <ns2:creationId id="{20B9A4EE-BA37-4E52-BE94-FCAF2C0DCDFB}"/>
              </ns1:ext>
            </ns1:extLst>
          </ns0:cNvPr>
          <ns0:cNvSpPr>
            <ns1:spLocks noGrp="1"/>
          </ns0:cNvSpPr>
          <ns0:nvPr/>
        </ns0:nvSpPr>
        <ns0:spPr>
          <ns1:xfrm>
            <ns1:off x="9553575" y="6372225"/>
            <ns1:ext cx="1952625" cy="609600"/>
          </ns1:xfrm>
          <ns1:custGeom>
            <ns1:pathLst>
              <ns1:path w="1952625" h="609600">
                <ns1:moveTo>
                  <ns1:pt x="0" y="0"/>
                </ns1:moveTo>
                <ns1:lnTo>
                  <ns1:pt x="1571625" y="0"/>
                </ns1:lnTo>
                <ns1:lnTo>
                  <ns1:pt x="1952625" y="304800"/>
                </ns1:lnTo>
                <ns1:lnTo>
                  <ns1:pt x="1571625" y="609600"/>
                </ns1:lnTo>
                <ns1:lnTo>
                  <ns1:pt x="0" y="609600"/>
                </ns1:lnTo>
                <ns1:lnTo>
                  <ns1:pt x="323850" y="304800"/>
                </ns1:lnTo>
                <ns1:close/>
              </ns1:path>
            </ns1:pathLst>
          </ns1:custGeom>
          <ns1:solidFill>
            <ns1:srgbClr val="FDE7E7"/>
          </ns1:solidFill>
          <ns1:ln w="0">
            <ns1:noFill/>
            <ns1:prstDash val="solid"/>
          </ns1:ln>
        </ns0:spPr>
      </ns0:sp>
      <ns0:sp>
        <ns0:nvSpPr>
          <ns0:cNvPr id="80" name="trace:WIN_PROBABILITY:content.auto.69">
            <ns1:extLst>
              <ns1:ext uri="{FF2B5EF4-FFF2-40B4-BE49-F238E27FC236}">
                <ns2:creationId id="{34B899AA-A13D-4BEF-9F97-4FA5ED1C1669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6438900"/>
            <ns1:ext cx="4000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48148"/>
          </ns1:bodyPr>
          <ns1:lstStyle/>
          <ns1:p>
            <ns1:pPr>
              <ns1:buNone/>
              <ns1:def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rPr>
              <ns1:t>01</ns1:t>
            </ns1:r>
          </ns1:p>
        </ns0:txBody>
      </ns0:sp>
      <ns0:sp>
        <ns0:nvSpPr>
          <ns0:cNvPr id="81" name="trace:WIN_PROBABILITY:content.auto.70">
            <ns1:extLst>
              <ns1:ext uri="{FF2B5EF4-FFF2-40B4-BE49-F238E27FC236}">
                <ns2:creationId id="{07D90908-0C6A-4739-B351-872D02817F2D}"/>
              </ns1:ext>
            </ns1:extLst>
          </ns0:cNvPr>
          <ns0:cNvSpPr>
            <ns1:spLocks noGrp="1"/>
          </ns0:cNvSpPr>
          <ns0:nvPr/>
        </ns0:nvSpPr>
        <ns0:spPr>
          <ns1:xfrm>
            <ns1:off x="9696450" y="6629400"/>
            <ns1:ext cx="16192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72500"/>
          </ns1:bodyPr>
          <ns1:lstStyle/>
          <ns1:p>
            <ns1:pPr>
              <ns1:buNone/>
              <ns1:defRPr sz="15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決裁者確認</ns1:t>
            </ns1:r>
          </ns1:p>
        </ns0:txBody>
      </ns0:sp>
      <ns0:sp>
        <ns0:nvSpPr>
          <ns0:cNvPr id="82" name="trace:WIN_PROBABILITY:content.auto.71">
            <ns1:extLst>
              <ns1:ext uri="{FF2B5EF4-FFF2-40B4-BE49-F238E27FC236}">
                <ns2:creationId id="{F1183537-2270-4C28-8766-823C49F11A3A}"/>
              </ns1:ext>
            </ns1:extLst>
          </ns0:cNvPr>
          <ns0:cNvSpPr>
            <ns1:spLocks noGrp="1"/>
          </ns0:cNvSpPr>
          <ns0:nvPr/>
        </ns0:nvSpPr>
        <ns0:spPr>
          <ns1:xfrm>
            <ns1:off x="11506200" y="6372225"/>
            <ns1:ext cx="1952625" cy="609600"/>
          </ns1:xfrm>
          <ns1:custGeom>
            <ns1:pathLst>
              <ns1:path w="1952625" h="609600">
                <ns1:moveTo>
                  <ns1:pt x="0" y="0"/>
                </ns1:moveTo>
                <ns1:lnTo>
                  <ns1:pt x="1571625" y="0"/>
                </ns1:lnTo>
                <ns1:lnTo>
                  <ns1:pt x="1952625" y="304800"/>
                </ns1:lnTo>
                <ns1:lnTo>
                  <ns1:pt x="1571625" y="609600"/>
                </ns1:lnTo>
                <ns1:lnTo>
                  <ns1:pt x="0" y="609600"/>
                </ns1:lnTo>
                <ns1:lnTo>
                  <ns1:pt x="361950" y="304800"/>
                </ns1:lnTo>
                <ns1:close/>
              </ns1:path>
            </ns1:pathLst>
          </ns1:custGeom>
          <ns1:solidFill>
            <ns1:srgbClr val="F9E1E1"/>
          </ns1:solidFill>
          <ns1:ln w="0">
            <ns1:noFill/>
            <ns1:prstDash val="solid"/>
          </ns1:ln>
        </ns0:spPr>
      </ns0:sp>
      <ns0:sp>
        <ns0:nvSpPr>
          <ns0:cNvPr id="83" name="trace:WIN_PROBABILITY:content.auto.72">
            <ns1:extLst>
              <ns1:ext uri="{FF2B5EF4-FFF2-40B4-BE49-F238E27FC236}">
                <ns2:creationId id="{98695B46-E339-4974-BFBD-6692BAE10A85}"/>
              </ns1:ext>
            </ns1:extLst>
          </ns0:cNvPr>
          <ns0:cNvSpPr>
            <ns1:spLocks noGrp="1"/>
          </ns0:cNvSpPr>
          <ns0:nvPr/>
        </ns0:nvSpPr>
        <ns0:spPr>
          <ns1:xfrm>
            <ns1:off x="11649075" y="6438900"/>
            <ns1:ext cx="4000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48148"/>
          </ns1:bodyPr>
          <ns1:lstStyle/>
          <ns1:p>
            <ns1:pPr>
              <ns1:buNone/>
              <ns1:def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rPr>
              <ns1:t>02</ns1:t>
            </ns1:r>
          </ns1:p>
        </ns0:txBody>
      </ns0:sp>
      <ns0:sp>
        <ns0:nvSpPr>
          <ns0:cNvPr id="84" name="trace:WIN_PROBABILITY:content.auto.73">
            <ns1:extLst>
              <ns1:ext uri="{FF2B5EF4-FFF2-40B4-BE49-F238E27FC236}">
                <ns2:creationId id="{2EEC2707-876C-4841-BB82-2E758ADC92D1}"/>
              </ns1:ext>
            </ns1:extLst>
          </ns0:cNvPr>
          <ns0:cNvSpPr>
            <ns1:spLocks noGrp="1"/>
          </ns0:cNvSpPr>
          <ns0:nvPr/>
        </ns0:nvSpPr>
        <ns0:spPr>
          <ns1:xfrm>
            <ns1:off x="11649075" y="6629400"/>
            <ns1:ext cx="16192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72500"/>
          </ns1:bodyPr>
          <ns1:lstStyle/>
          <ns1:p>
            <ns1:pPr>
              <ns1:buNone/>
              <ns1:defRPr sz="15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条件調整</ns1:t>
            </ns1:r>
          </ns1:p>
        </ns0:txBody>
      </ns0:sp>
      <ns0:sp>
        <ns0:nvSpPr>
          <ns0:cNvPr id="85" name="trace:WIN_PROBABILITY:content.auto.74">
            <ns1:extLst>
              <ns1:ext uri="{FF2B5EF4-FFF2-40B4-BE49-F238E27FC236}">
                <ns2:creationId id="{515657AD-AB01-424F-BAE6-B3E357C7451D}"/>
              </ns1:ext>
            </ns1:extLst>
          </ns0:cNvPr>
          <ns0:cNvSpPr>
            <ns1:spLocks noGrp="1"/>
          </ns0:cNvSpPr>
          <ns0:nvPr/>
        </ns0:nvSpPr>
        <ns0:spPr>
          <ns1:xfrm>
            <ns1:off x="13458825" y="6372225"/>
            <ns1:ext cx="1952625" cy="609600"/>
          </ns1:xfrm>
          <ns1:custGeom>
            <ns1:pathLst>
              <ns1:path w="1952625" h="609600">
                <ns1:moveTo>
                  <ns1:pt x="0" y="0"/>
                </ns1:moveTo>
                <ns1:lnTo>
                  <ns1:pt x="1571625" y="0"/>
                </ns1:lnTo>
                <ns1:lnTo>
                  <ns1:pt x="1952625" y="304800"/>
                </ns1:lnTo>
                <ns1:lnTo>
                  <ns1:pt x="1571625" y="609600"/>
                </ns1:lnTo>
                <ns1:lnTo>
                  <ns1:pt x="0" y="609600"/>
                </ns1:lnTo>
                <ns1:lnTo>
                  <ns1:pt x="361950" y="304800"/>
                </ns1:lnTo>
                <ns1:close/>
              </ns1:path>
            </ns1:pathLst>
          </ns1:custGeom>
          <ns1:solidFill>
            <ns1:srgbClr val="F5CCCC"/>
          </ns1:solidFill>
          <ns1:ln w="0">
            <ns1:noFill/>
            <ns1:prstDash val="solid"/>
          </ns1:ln>
        </ns0:spPr>
      </ns0:sp>
      <ns0:sp>
        <ns0:nvSpPr>
          <ns0:cNvPr id="86" name="trace:WIN_PROBABILITY:content.auto.75">
            <ns1:extLst>
              <ns1:ext uri="{FF2B5EF4-FFF2-40B4-BE49-F238E27FC236}">
                <ns2:creationId id="{F5C824CA-CCED-4F35-BFA6-13682295A35B}"/>
              </ns1:ext>
            </ns1:extLst>
          </ns0:cNvPr>
          <ns0:cNvSpPr>
            <ns1:spLocks noGrp="1"/>
          </ns0:cNvSpPr>
          <ns0:nvPr/>
        </ns0:nvSpPr>
        <ns0:spPr>
          <ns1:xfrm>
            <ns1:off x="13601700" y="6438900"/>
            <ns1:ext cx="400050" cy="1905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43333"/>
          </ns1:bodyPr>
          <ns1:lstStyle/>
          <ns1:p>
            <ns1:pPr>
              <ns1:buNone/>
              <ns1:defRPr sz="150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rPr>
              <ns1:t>03</ns1:t>
            </ns1:r>
          </ns1:p>
        </ns0:txBody>
      </ns0:sp>
      <ns0:sp>
        <ns0:nvSpPr>
          <ns0:cNvPr id="87" name="trace:WIN_PROBABILITY:content.auto.76">
            <ns1:extLst>
              <ns1:ext uri="{FF2B5EF4-FFF2-40B4-BE49-F238E27FC236}">
                <ns2:creationId id="{6244AEAE-12A3-4B35-BEDB-BCA29AB341BA}"/>
              </ns1:ext>
            </ns1:extLst>
          </ns0:cNvPr>
          <ns0:cNvSpPr>
            <ns1:spLocks noGrp="1"/>
          </ns0:cNvSpPr>
          <ns0:nvPr/>
        </ns0:nvSpPr>
        <ns0:spPr>
          <ns1:xfrm>
            <ns1:off x="13601700" y="6629400"/>
            <ns1:ext cx="1619250" cy="25717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72500"/>
          </ns1:bodyPr>
          <ns1:lstStyle/>
          <ns1:p>
            <ns1:pPr>
              <ns1:buNone/>
              <ns1:defRPr sz="150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rPr>
              <ns1:t>提案提出</ns1:t>
            </ns1:r>
          </ns1:p>
        </ns0:txBody>
      </ns0:sp>
      <ns0:sp>
        <ns0:nvSpPr>
          <ns0:cNvPr id="88" name="trace:WIN_PROBABILITY:content.auto.77">
            <ns1:extLst>
              <ns1:ext uri="{FF2B5EF4-FFF2-40B4-BE49-F238E27FC236}">
                <ns2:creationId id="{22E4A5ED-2B60-46C0-8CD8-6FC7AA266099}"/>
              </ns1:ext>
            </ns1:extLst>
          </ns0:cNvPr>
          <ns0:cNvSpPr>
            <ns1:spLocks noGrp="1"/>
          </ns0:cNvSpPr>
          <ns0:nvPr/>
        </ns0:nvSpPr>
        <ns0:spPr>
          <ns1:xfrm>
            <ns1:off x="9601200" y="7019925"/>
            <ns1:ext cx="176212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83819"/>
          </ns1:bodyPr>
          <ns1:lstStyle/>
          <ns1:p>
            <ns1:pPr>
              <ns1:buNone/>
              <ns1:def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決裁者との追加面談で</ns1:t>
            </ns1:r>
          </ns1:p>
          <ns1:p>
            <ns1:pPr>
              <ns1:buNone/>
              <ns1:def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最終ニーズと条件を確認</ns1:t>
            </ns1:r>
          </ns1:p>
        </ns0:txBody>
      </ns0:sp>
      <ns0:sp>
        <ns0:nvSpPr>
          <ns0:cNvPr id="89" name="trace:WIN_PROBABILITY:content.auto.78">
            <ns1:extLst>
              <ns1:ext uri="{FF2B5EF4-FFF2-40B4-BE49-F238E27FC236}">
                <ns2:creationId id="{1F03CC3A-D6A6-4C94-BE1C-80562A91F72E}"/>
              </ns1:ext>
            </ns1:extLst>
          </ns0:cNvPr>
          <ns0:cNvSpPr>
            <ns1:spLocks noGrp="1"/>
          </ns0:cNvSpPr>
          <ns0:nvPr/>
        </ns0:nvSpPr>
        <ns0:spPr>
          <ns1:xfrm>
            <ns1:off x="11572875" y="7019925"/>
            <ns1:ext cx="176212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88889"/>
          </ns1:bodyPr>
          <ns1:lstStyle/>
          <ns1:p>
            <ns1:pPr>
              <ns1:buNone/>
              <ns1:def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予算・スケジュール・</ns1:t>
            </ns1:r>
          </ns1:p>
          <ns1:p>
            <ns1:pPr>
              <ns1:buNone/>
              <ns1:def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契約条件のすり合わせ</ns1:t>
            </ns1:r>
          </ns1:p>
        </ns0:txBody>
      </ns0:sp>
      <ns0:sp>
        <ns0:nvSpPr>
          <ns0:cNvPr id="90" name="trace:WIN_PROBABILITY:content.auto.79">
            <ns1:extLst>
              <ns1:ext uri="{FF2B5EF4-FFF2-40B4-BE49-F238E27FC236}">
                <ns2:creationId id="{74D20F42-2CBF-423A-A26E-E8AE3EC7A2CF}"/>
              </ns1:ext>
            </ns1:extLst>
          </ns0:cNvPr>
          <ns0:cNvSpPr>
            <ns1:spLocks noGrp="1"/>
          </ns0:cNvSpPr>
          <ns0:nvPr/>
        </ns0:nvSpPr>
        <ns0:spPr>
          <ns1:xfrm>
            <ns1:off x="13535025" y="7019925"/>
            <ns1:ext cx="1762125" cy="45720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square" anchor="t">
            <ns1:normAutofit fontScale="88889"/>
          </ns1:bodyPr>
          <ns1:lstStyle/>
          <ns1:p>
            <ns1:pPr>
              <ns1:buNone/>
              <ns1:def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正式提案書を提出し、</ns1:t>
            </ns1:r>
          </ns1:p>
          <ns1:p>
            <ns1:pPr>
              <ns1:buNone/>
              <ns1:def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社内稟議を支援</ns1:t>
            </ns1:r>
          </ns1:p>
        </ns0:txBody>
      </ns0:sp>
      <ns0:sp>
        <ns0:nvSpPr>
          <ns0:cNvPr id="91" name="trace:WIN_PROBABILITY:content.auto.80">
            <ns1:extLst>
              <ns1:ext uri="{FF2B5EF4-FFF2-40B4-BE49-F238E27FC236}">
                <ns2:creationId id="{CF54C56E-94C1-4AFC-905B-F4E8CDAAD6D8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7696200"/>
            <ns1:ext cx="15240000" cy="619125"/>
          </ns1:xfrm>
          <ns1:prstGeom prst="rect">
            <ns1:avLst/>
          </ns1:prstGeom>
          <ns1:solidFill>
            <ns1:srgbClr val="FDE7E7"/>
          </ns1:solidFill>
          <ns1:ln w="19050">
            <ns1:solidFill>
              <ns1:srgbClr val="F52323"/>
            </ns1:solidFill>
            <ns1:prstDash val="solid"/>
          </ns1:ln>
        </ns0:spPr>
      </ns0:sp>
      <ns0:sp>
        <ns0:nvSpPr>
          <ns0:cNvPr id="92" name="trace:WIN_PROBABILITY:content.auto.81">
            <ns1:extLst>
              <ns1:ext uri="{FF2B5EF4-FFF2-40B4-BE49-F238E27FC236}">
                <ns2:creationId id="{5817F288-C5A5-48F1-8319-DC7E8990D3FE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7696200"/>
            <ns1:ext cx="3219450" cy="619125"/>
          </ns1:xfrm>
          <ns1:prstGeom prst="rect">
            <ns1:avLst/>
          </ns1:prstGeom>
          <ns1:solidFill>
            <ns1:srgbClr val="D91616"/>
          </ns1:solidFill>
          <ns1:ln w="0">
            <ns1:solidFill>
              <ns1:srgbClr val="D91616"/>
            </ns1:solidFill>
            <ns1:prstDash val="solid"/>
          </ns1:ln>
        </ns0:spPr>
      </ns0:sp>
      <ns0:sp>
        <ns0:nvSpPr>
          <ns0:cNvPr id="93" name="trace:WIN_PROBABILITY:content.auto.82">
            <ns1:extLst>
              <ns1:ext uri="{FF2B5EF4-FFF2-40B4-BE49-F238E27FC236}">
                <ns2:creationId id="{4866B42F-4054-4D38-9D7A-52FD6BB579EA}"/>
              </ns1:ext>
            </ns1:extLst>
          </ns0:cNvPr>
          <ns0:cNvSpPr>
            <ns1:spLocks noGrp="1"/>
          </ns0:cNvSpPr>
          <ns0:nvPr/>
        </ns0:nvSpPr>
        <ns0:spPr>
          <ns1:xfrm>
            <ns1:off x="590550" y="7810500"/>
            <ns1:ext cx="361950" cy="400050"/>
          </ns1:xfrm>
          <ns1:custGeom>
            <ns1:pathLst>
              <ns1:path w="361950" h="400050">
                <ns1:moveTo>
                  <ns1:pt x="19050" y="0"/>
                </ns1:moveTo>
                <ns1:lnTo>
                  <ns1:pt x="47625" y="0"/>
                </ns1:lnTo>
                <ns1:lnTo>
                  <ns1:pt x="47625" y="47625"/>
                </ns1:lnTo>
                <ns1:lnTo>
                  <ns1:pt x="342900" y="47625"/>
                </ns1:lnTo>
                <ns1:lnTo>
                  <ns1:pt x="342900" y="276225"/>
                </ns1:lnTo>
                <ns1:lnTo>
                  <ns1:pt x="47625" y="276225"/>
                </ns1:lnTo>
                <ns1:lnTo>
                  <ns1:pt x="47625" y="400050"/>
                </ns1:lnTo>
                <ns1:lnTo>
                  <ns1:pt x="19050" y="400050"/>
                </ns1:lnTo>
                <ns1:close/>
              </ns1:path>
            </ns1:pathLst>
          </ns1:custGeom>
          <ns1:solidFill>
            <ns1:srgbClr val="FFFFFF"/>
          </ns1:solidFill>
          <ns1:ln w="0">
            <ns1:solidFill>
              <ns1:srgbClr val="FFFFFF"/>
            </ns1:solidFill>
            <ns1:prstDash val="solid"/>
          </ns1:ln>
        </ns0:spPr>
      </ns0:sp>
      <ns0:sp>
        <ns0:nvSpPr>
          <ns0:cNvPr id="94" name="trace:WIN_PROBABILITY:content.auto.83">
            <ns1:extLst>
              <ns1:ext uri="{FF2B5EF4-FFF2-40B4-BE49-F238E27FC236}">
                <ns2:creationId id="{26146F41-048D-453B-8C09-01650DE3F3BF}"/>
              </ns1:ext>
            </ns1:extLst>
          </ns0:cNvPr>
          <ns0:cNvSpPr>
            <ns1:spLocks noGrp="1"/>
          </ns0:cNvSpPr>
          <ns0:nvPr/>
        </ns0:nvSpPr>
        <ns0:spPr>
          <ns1:xfrm>
            <ns1:off x="1152525" y="7810500"/>
            <ns1:ext cx="2333625" cy="3524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78736"/>
          </ns1:bodyPr>
          <ns1:lstStyle/>
          <ns1:p>
            <ns1:pPr>
              <ns1:buNone/>
              <ns1:defRPr sz="21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defRPr>
            </ns1:pPr>
            <ns1:r>
              <ns1:rPr sz="2175" b="1">
                <ns1:solidFill>
                  <ns1:srgbClr val="FFFFFF"/>
                </ns1:solidFill>
                <ns1:latin typeface="Yu Gothic"/>
                <ns1:ea typeface="Yu Gothic"/>
                <ns1:cs typeface="Yu Gothic"/>
              </ns1:rPr>
              <ns1:t>意思決定の方向性</ns1:t>
            </ns1:r>
          </ns1:p>
        </ns0:txBody>
      </ns0:sp>
      <ns0:sp>
        <ns0:nvSpPr>
          <ns0:cNvPr id="95" name="trace:WIN_PROBABILITY:content.auto.84">
            <ns1:extLst>
              <ns1:ext uri="{FF2B5EF4-FFF2-40B4-BE49-F238E27FC236}">
                <ns2:creationId id="{E22D49D7-A184-45C7-A57B-3849F50AEE45}"/>
              </ns1:ext>
            </ns1:extLst>
          </ns0:cNvPr>
          <ns0:cNvSpPr>
            <ns1:spLocks noGrp="1"/>
          </ns0:cNvSpPr>
          <ns0:nvPr/>
        </ns0:nvSpPr>
        <ns0:spPr>
          <ns1:xfrm>
            <ns1:off x="3905250" y="7800975"/>
            <ns1:ext cx="11382375" cy="361950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94667"/>
          </ns1:bodyPr>
          <ns1:lstStyle/>
          <ns1:p>
            <ns1:pPr>
              <ns1:buNone/>
              <ns1:defRPr sz="1875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875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現時点では前向きと判断しますが、未確認事項の解消により、正式な受注判断へ進みます。</ns1:t>
            </ns1:r>
          </ns1:p>
        </ns0:txBody>
      </ns0:sp>
      <ns0:sp>
        <ns0:nvSpPr>
          <ns0:cNvPr id="96" name="trace:WIN_PROBABILITY:content.auto.85">
            <ns1:extLst>
              <ns1:ext uri="{FF2B5EF4-FFF2-40B4-BE49-F238E27FC236}">
                <ns2:creationId id="{1A2D38D8-7E5E-40BC-B4C1-7450337E3A12}"/>
              </ns1:ext>
            </ns1:extLst>
          </ns0:cNvPr>
          <ns0:cNvSpPr>
            <ns1:spLocks noGrp="1"/>
          </ns0:cNvSpPr>
          <ns0:nvPr/>
        </ns0:nvSpPr>
        <ns0:spPr>
          <ns1:xfrm>
            <ns1:off x="352425" y="8429625"/>
            <ns1:ext cx="15249525" cy="0"/>
          </ns1:xfrm>
          <ns1:prstGeom prst="line">
            <ns1:avLst/>
          </ns1:prstGeom>
          <ns1:noFill/>
          <ns1:ln w="28575">
            <ns1:solidFill>
              <ns1:srgbClr val="F52323"/>
            </ns1:solidFill>
            <ns1:prstDash val="solid"/>
          </ns1:ln>
        </ns0:spPr>
      </ns0:sp>
      <ns0:sp>
        <ns0:nvSpPr>
          <ns0:cNvPr id="97" name="trace:WIN_PROBABILITY:content.auto.86">
            <ns1:extLst>
              <ns1:ext uri="{FF2B5EF4-FFF2-40B4-BE49-F238E27FC236}">
                <ns2:creationId id="{CD04D78B-7D1E-4F62-9212-3C78E042E889}"/>
              </ns1:ext>
            </ns1:extLst>
          </ns0:cNvPr>
          <ns0:cNvSpPr>
            <ns1:spLocks noGrp="1"/>
          </ns0:cNvSpPr>
          <ns0:nvPr/>
        </ns0:nvSpPr>
        <ns0:spPr>
          <ns1:xfrm>
            <ns1:off x="381000" y="8562975"/>
            <ns1:ext cx="40005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71296"/>
          </ns1:bodyPr>
          <ns1:lstStyle/>
          <ns1:p>
            <ns1:pPr>
              <ns1:buNone/>
              <ns1:def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350" b="1">
                <ns1:solidFill>
                  <ns1:srgbClr val="F52323"/>
                </ns1:solidFill>
                <ns1:latin typeface="Yu Gothic"/>
                <ns1:ea typeface="Yu Gothic"/>
                <ns1:cs typeface="Yu Gothic"/>
              </ns1:rPr>
              <ns1:t>06</ns1:t>
            </ns1:r>
          </ns1:p>
        </ns0:txBody>
      </ns0:sp>
      <ns0:sp>
        <ns0:nvSpPr>
          <ns0:cNvPr id="98" name="trace:WIN_PROBABILITY:content.auto.87">
            <ns1:extLst>
              <ns1:ext uri="{FF2B5EF4-FFF2-40B4-BE49-F238E27FC236}">
                <ns2:creationId id="{8D7E6FBA-AFA4-492C-83ED-379387BFB6D2}"/>
              </ns1:ext>
            </ns1:extLst>
          </ns0:cNvPr>
          <ns0:cNvSpPr>
            <ns1:spLocks noGrp="1"/>
          </ns0:cNvSpPr>
          <ns0:nvPr/>
        </ns0:nvSpPr>
        <ns0:spPr>
          <ns1:xfrm>
            <ns1:off x="866775" y="8562975"/>
            <ns1:ext cx="0" cy="266700"/>
          </ns1:xfrm>
          <ns1:prstGeom prst="line">
            <ns1:avLst/>
          </ns1:prstGeom>
          <ns1:noFill/>
          <ns1:ln w="19050">
            <ns1:solidFill>
              <ns1:srgbClr val="F52323"/>
            </ns1:solidFill>
            <ns1:prstDash val="solid"/>
          </ns1:ln>
        </ns0:spPr>
      </ns0:sp>
      <ns0:sp>
        <ns0:nvSpPr>
          <ns0:cNvPr id="99" name="trace:WIN_PROBABILITY:footer.brand">
            <ns1:extLst>
              <ns1:ext uri="{FF2B5EF4-FFF2-40B4-BE49-F238E27FC236}">
                <ns2:creationId id="{73593E3B-8A15-43DB-B378-322ED3467AA0}"/>
              </ns1:ext>
            </ns1:extLst>
          </ns0:cNvPr>
          <ns0:cNvSpPr>
            <ns1:spLocks noGrp="1"/>
          </ns0:cNvSpPr>
          <ns0:nvPr/>
        </ns0:nvSpPr>
        <ns0:spPr>
          <ns1:xfrm>
            <ns1:off x="1057275" y="8562975"/>
            <ns1:ext cx="1905000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64167"/>
          </ns1:bodyPr>
          <ns1:lstStyle/>
          <ns1:p>
            <ns1:pPr>
              <ns1:buNone/>
              <ns1:defRPr sz="15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500" b="1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提案クエスト</ns1:t>
            </ns1:r>
          </ns1:p>
        </ns0:txBody>
      </ns0:sp>
      <ns0:sp>
        <ns0:nvSpPr>
          <ns0:cNvPr id="100" name="trace:WIN_PROBABILITY:footer.brand.2">
            <ns1:extLst>
              <ns1:ext uri="{FF2B5EF4-FFF2-40B4-BE49-F238E27FC236}">
                <ns2:creationId id="{AE2F04C7-755D-4851-B37F-D9C8B05B80A4}"/>
              </ns1:ext>
            </ns1:extLst>
          </ns0:cNvPr>
          <ns0:cNvSpPr>
            <ns1:spLocks noGrp="1"/>
          </ns0:cNvSpPr>
          <ns0:nvPr/>
        </ns0:nvSpPr>
        <ns0:spPr>
          <ns1:xfrm>
            <ns1:off x="12801600" y="8562975"/>
            <ns1:ext cx="2771775" cy="238125"/>
          </ns1:xfrm>
          <ns1:prstGeom prst="rect">
            <ns1:avLst/>
          </ns1:prstGeom>
          <ns1:noFill/>
          <ns1:ln w="0">
            <ns1:noFill/>
            <ns1:prstDash val="solid"/>
          </ns1:ln>
        </ns0:spPr>
        <ns0:txBody>
          <ns1:bodyPr wrap="none" anchor="ctr">
            <ns1:normAutofit fontScale="85556"/>
          </ns1:bodyPr>
          <ns1:lstStyle/>
          <ns1:p>
            <ns1:pPr algn="r">
              <ns1:buNone/>
              <ns1:defRPr sz="1125">
                <ns1:solidFill>
                  <ns1:srgbClr val="111111"/>
                </ns1:solidFill>
                <ns1:latin typeface="Yu Gothic"/>
                <ns1:ea typeface="Yu Gothic"/>
                <ns1:cs typeface="Yu Gothic"/>
              </ns1:defRPr>
            </ns1:pPr>
            <ns1:r>
              <ns1:rPr sz="1125">
                <ns1:solidFill>
                  <ns1:srgbClr val="111111"/>
                </ns1:solidFill>
                <ns1:latin typeface="Yu Gothic"/>
                <ns1:ea typeface="Yu Gothic"/>
                <ns1:cs typeface="Yu Gothic"/>
              </ns1:rPr>
              <ns1:t>© 2026 提案クエスト</ns1:t>
            </ns1:r>
          </ns1:p>
        </ns0:txBody>
      </ns0:sp>
    </ns0:spTree>
    <ns0:extLst>
      <ns0:ext uri="{BB962C8B-B14F-4D97-AF65-F5344CB8AC3E}">
        <ns3:creationId val="1054597507"/>
      </ns0:ext>
    </ns0:extLst>
  </ns0:cSld>
</ns0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2026-09-21T07:16:53.4980000Z</dcterms:created>
  <dcterms:modified xsi:type="dcterms:W3CDTF">2026-09-21T07:16:53.4980000Z</dcterms:modified>
</coreProperties>
</file>