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f7191357c431c" /><Relationship Type="http://schemas.openxmlformats.org/officeDocument/2006/relationships/extended-properties" Target="/docProps/app.xml" Id="R5f5d84e6a3bd42d2" /><Relationship Type="http://schemas.openxmlformats.org/officeDocument/2006/relationships/officeDocument" Target="/ppt/presentation.xml" Id="R00c7d569b1a04e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71b7b8dde4566"/>
  </p:sldMasterIdLst>
  <p:notesMasterIdLst>
    <p:notesMasterId xmlns:r="http://schemas.openxmlformats.org/officeDocument/2006/relationships" r:id="R5aef885ff4e24abf"/>
  </p:notesMasterIdLst>
  <p:sldIdLst>
    <p:sldId xmlns:r="http://schemas.openxmlformats.org/officeDocument/2006/relationships" id="256" r:id="Ra69b3936e57c4361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a0048227bd40bc" /><Relationship Type="http://schemas.openxmlformats.org/officeDocument/2006/relationships/slideMaster" Target="/ppt/slideMasters/slideMaster1.xml" Id="R2c671b7b8dde4566" /><Relationship Type="http://schemas.openxmlformats.org/officeDocument/2006/relationships/notesMaster" Target="/ppt/notesMasters/notesMaster1.xml" Id="R5aef885ff4e24abf" /><Relationship Type="http://schemas.openxmlformats.org/officeDocument/2006/relationships/presProps" Target="/ppt/presProps.xml" Id="R240a7757146a49bb" /><Relationship Type="http://schemas.openxmlformats.org/officeDocument/2006/relationships/tableStyles" Target="/ppt/tableStyles.xml" Id="R703f7fe95b754056" /><Relationship Type="http://schemas.openxmlformats.org/officeDocument/2006/relationships/slide" Target="/ppt/slides/slide1.xml" Id="Ra69b3936e57c43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7100b238744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763d1dc4d6466a" /><Relationship Type="http://schemas.openxmlformats.org/officeDocument/2006/relationships/notesMaster" Target="/ppt/notesMasters/notesMaster1.xml" Id="R9ef8d4ffe5d54a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466c1190241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1881563159469f" /><Relationship Type="http://schemas.openxmlformats.org/officeDocument/2006/relationships/slideLayout" Target="/ppt/slideLayouts/slideLayout1.xml" Id="R2eba4e07ff0845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ba4e07ff0845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2262ed2614796" /><Relationship Type="http://schemas.openxmlformats.org/officeDocument/2006/relationships/notesSlide" Target="/ppt/notesSlides/notesSlide1.xml" Id="R0bbec262e6904c8a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9" name="trace:S03:content.auto">
            <ns1:extLst>
              <ns1:ext uri="{FF2B5EF4-FFF2-40B4-BE49-F238E27FC236}">
                <ns2:creationId id="{DC1299CB-E3DB-40D9-84C6-E4996E564475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219075"/>
            <ns1:ext cx="342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03</ns1:t>
            </ns1:r>
          </ns1:p>
        </ns0:txBody>
      </ns0:sp>
      <ns0:sp>
        <ns0:nvSpPr>
          <ns0:cNvPr id="2" name="trace:S03:content.auto.2">
            <ns1:extLst>
              <ns1:ext uri="{FF2B5EF4-FFF2-40B4-BE49-F238E27FC236}">
                <ns2:creationId id="{A197BD22-739A-42CC-BCFA-987F3EF708B5}"/>
              </ns1:ext>
            </ns1:extLst>
          </ns0:cNvPr>
          <ns0:cNvSpPr>
            <ns1:spLocks noGrp="1"/>
          </ns0:cNvSpPr>
          <ns0:nvPr/>
        </ns0:nvSpPr>
        <ns0:spPr>
          <ns1:xfrm>
            <ns1:off x="771525" y="219075"/>
            <ns1:ext cx="9525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3" name="trace:S03:title.primary">
            <ns1:extLst>
              <ns1:ext uri="{FF2B5EF4-FFF2-40B4-BE49-F238E27FC236}">
                <ns2:creationId id="{10834089-B96A-4146-89BF-2A732AE963FA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190500"/>
            <ns1:ext cx="2190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本提案の結論と期待効果</ns1:t>
            </ns1:r>
          </ns1:p>
        </ns0:txBody>
      </ns0:sp>
      <ns0:sp>
        <ns0:nvSpPr>
          <ns0:cNvPr id="4" name="trace:S03:content.auto.3">
            <ns1:extLst>
              <ns1:ext uri="{FF2B5EF4-FFF2-40B4-BE49-F238E27FC236}">
                <ns2:creationId id="{A196AFEB-9938-4582-BCD1-F77B0FFE261E}"/>
              </ns1:ext>
            </ns1:extLst>
          </ns0:cNvPr>
          <ns0:cNvSpPr>
            <ns1:spLocks noGrp="1"/>
          </ns0:cNvSpPr>
          <ns0:nvPr/>
        </ns0:nvSpPr>
        <ns0:spPr>
          <ns1:xfrm>
            <ns1:off x="2895600" y="304800"/>
            <ns1:ext cx="9334500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5" name="trace:S03:title.primary.2">
            <ns1:extLst>
              <ns1:ext uri="{FF2B5EF4-FFF2-40B4-BE49-F238E27FC236}">
                <ns2:creationId id="{EBB08122-5137-4385-A0EB-14BF41DAA0A8}"/>
              </ns1:ext>
            </ns1:extLst>
          </ns0:cNvPr>
          <ns0:cNvSpPr>
            <ns1:spLocks noGrp="1"/>
          </ns0:cNvSpPr>
          <ns0:nvPr/>
        </ns0:nvSpPr>
        <ns0:spPr>
          <ns1:xfrm>
            <ns1:off x="12001500" y="209550"/>
            <ns1:ext cx="13335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97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2025年6月22日</ns1:t>
            </ns1:r>
          </ns1:p>
        </ns0:txBody>
      </ns0:sp>
      <ns0:sp>
        <ns0:nvSpPr>
          <ns0:cNvPr id="6" name="trace:S03:title.primary.3">
            <ns1:extLst>
              <ns1:ext uri="{FF2B5EF4-FFF2-40B4-BE49-F238E27FC236}">
                <ns2:creationId id="{08EFEC3A-CDF6-4BC1-AB46-32F395DF4181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590550"/>
            <ns1:ext cx="125730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31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31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ERP導入により、業務の標準化とデータの一元化を実現し</ns1:t>
            </ns1:r>
          </ns1:p>
        </ns0:txBody>
      </ns0:sp>
      <ns0:sp>
        <ns0:nvSpPr>
          <ns0:cNvPr id="7" name="trace:S03:title.primary.4">
            <ns1:extLst>
              <ns1:ext uri="{FF2B5EF4-FFF2-40B4-BE49-F238E27FC236}">
                <ns2:creationId id="{C24FB7F4-17F4-4C9A-97A6-D2CC06E8E81F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1085850"/>
            <ns1:ext cx="118110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30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30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経営の意思決定スピードと事業成長を加速します</ns1:t>
            </ns1:r>
          </ns1:p>
        </ns0:txBody>
      </ns0:sp>
      <ns0:sp>
        <ns0:nvSpPr>
          <ns0:cNvPr id="8" name="trace:S03:title.primary.5">
            <ns1:extLst>
              <ns1:ext uri="{FF2B5EF4-FFF2-40B4-BE49-F238E27FC236}">
                <ns2:creationId id="{3C1B328C-BEF9-41A9-B462-CE729393FC0F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1695450"/>
            <ns1:ext cx="12573000" cy="628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15000"/>
              </ns1:lnSpc>
              <ns1:buNone/>
              <ns1:defRPr sz="150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本提案は、業務・データ・組織を統合したERP基盤の導入により、全社最適な業務運営と経営の可視化を実現し、</ns1:t>
            </ns1:r>
          </ns1:p>
          <ns1:p>
            <ns1:pPr algn="l">
              <ns1:lnSpc>
                <ns1:spcPct val="115000"/>
              </ns1:lnSpc>
              <ns1:buNone/>
              <ns1:defRPr sz="150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持続的な成長に向けた経営基盤を構築するものです。</ns1:t>
            </ns1:r>
          </ns1:p>
        </ns0:txBody>
      </ns0:sp>
      <ns0:sp>
        <ns0:nvSpPr>
          <ns0:cNvPr id="9" name="trace:S03:content.auto.4">
            <ns1:extLst>
              <ns1:ext uri="{FF2B5EF4-FFF2-40B4-BE49-F238E27FC236}">
                <ns2:creationId id="{48F5C42D-AAC2-41AC-A90A-64F8E87852E5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2628900"/>
            <ns1:ext cx="2457450" cy="819150"/>
          </ns1:xfrm>
          <ns1:custGeom>
            <ns1:pathLst>
              <ns1:path w="2457450" h="819150">
                <ns1:moveTo>
                  <ns1:pt x="0" y="0"/>
                </ns1:moveTo>
                <ns1:lnTo>
                  <ns1:pt x="2228850" y="0"/>
                </ns1:lnTo>
                <ns1:lnTo>
                  <ns1:pt x="2457450" y="409575"/>
                </ns1:lnTo>
                <ns1:lnTo>
                  <ns1:pt x="2228850" y="819150"/>
                </ns1:lnTo>
                <ns1:lnTo>
                  <ns1:pt x="0" y="819150"/>
                </ns1:lnTo>
                <ns1:lnTo>
                  <ns1:pt x="114300" y="409575"/>
                </ns1:lnTo>
                <ns1:close/>
              </ns1:path>
            </ns1:pathLst>
          </ns1:custGeom>
          <ns1:solidFill>
            <ns1:srgbClr val="FFF0F2"/>
          </ns1:solidFill>
          <ns1:ln w="9525">
            <ns1:solidFill>
              <ns1:srgbClr val="FFF0F2"/>
            </ns1:solidFill>
            <ns1:prstDash val="solid"/>
          </ns1:ln>
        </ns0:spPr>
      </ns0:sp>
      <ns0:sp>
        <ns0:nvSpPr>
          <ns0:cNvPr id="10" name="trace:S03:content.auto.5">
            <ns1:extLst>
              <ns1:ext uri="{FF2B5EF4-FFF2-40B4-BE49-F238E27FC236}">
                <ns2:creationId id="{B84FC2AA-6582-4480-A0AE-EFFF48AE1EAD}"/>
              </ns1:ext>
            </ns1:extLst>
          </ns0:cNvPr>
          <ns0:cNvSpPr>
            <ns1:spLocks noGrp="1"/>
          </ns0:cNvSpPr>
          <ns0:nvPr/>
        </ns0:nvSpPr>
        <ns0:spPr>
          <ns1:xfrm>
            <ns1:off x="504825" y="2838450"/>
            <ns1:ext cx="419100" cy="41910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1" name="trace:S03:content.auto.6">
            <ns1:extLst>
              <ns1:ext uri="{FF2B5EF4-FFF2-40B4-BE49-F238E27FC236}">
                <ns2:creationId id="{53CF159D-A6EC-4BF9-82D5-19EFD38DD802}"/>
              </ns1:ext>
            </ns1:extLst>
          </ns0:cNvPr>
          <ns0:cNvSpPr>
            <ns1:spLocks noGrp="1"/>
          </ns0:cNvSpPr>
          <ns0:nvPr/>
        </ns0:nvSpPr>
        <ns0:spPr>
          <ns1:xfrm>
            <ns1:off x="504825" y="2933700"/>
            <ns1:ext cx="4191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01</ns1:t>
            </ns1:r>
          </ns1:p>
        </ns0:txBody>
      </ns0:sp>
      <ns0:sp>
        <ns0:nvSpPr>
          <ns0:cNvPr id="12" name="trace:S03:content.auto.7">
            <ns1:extLst>
              <ns1:ext uri="{FF2B5EF4-FFF2-40B4-BE49-F238E27FC236}">
                <ns2:creationId id="{D17E0C9B-6CB2-4CD4-987F-F57B1FBD0FAA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752725"/>
            <ns1:ext cx="1571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なぜ今か</ns1:t>
            </ns1:r>
          </ns1:p>
        </ns0:txBody>
      </ns0:sp>
      <ns0:sp>
        <ns0:nvSpPr>
          <ns0:cNvPr id="13" name="trace:S03:title.primary.6">
            <ns1:extLst>
              <ns1:ext uri="{FF2B5EF4-FFF2-40B4-BE49-F238E27FC236}">
                <ns2:creationId id="{952EB1F6-0F49-4B83-A920-0E3A7780C890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3028950"/>
            <ns1:ext cx="1524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（背景・課題）</ns1:t>
            </ns1:r>
          </ns1:p>
        </ns0:txBody>
      </ns0:sp>
      <ns0:sp>
        <ns0:nvSpPr>
          <ns0:cNvPr id="14" name="trace:S03:content.auto.8">
            <ns1:extLst>
              <ns1:ext uri="{FF2B5EF4-FFF2-40B4-BE49-F238E27FC236}">
                <ns2:creationId id="{02D37BF9-E8AA-4EB6-B598-07A0337C4107}"/>
              </ns1:ext>
            </ns1:extLst>
          </ns0:cNvPr>
          <ns0:cNvSpPr>
            <ns1:spLocks noGrp="1"/>
          </ns0:cNvSpPr>
          <ns0:nvPr/>
        </ns0:nvSpPr>
        <ns0:spPr>
          <ns1:xfrm>
            <ns1:off x="2924175" y="2628900"/>
            <ns1:ext cx="2457450" cy="819150"/>
          </ns1:xfrm>
          <ns1:custGeom>
            <ns1:pathLst>
              <ns1:path w="2457450" h="819150">
                <ns1:moveTo>
                  <ns1:pt x="0" y="0"/>
                </ns1:moveTo>
                <ns1:lnTo>
                  <ns1:pt x="2228850" y="0"/>
                </ns1:lnTo>
                <ns1:lnTo>
                  <ns1:pt x="2457450" y="409575"/>
                </ns1:lnTo>
                <ns1:lnTo>
                  <ns1:pt x="2228850" y="819150"/>
                </ns1:lnTo>
                <ns1:lnTo>
                  <ns1:pt x="0" y="819150"/>
                </ns1:lnTo>
                <ns1:lnTo>
                  <ns1:pt x="114300" y="409575"/>
                </ns1:lnTo>
                <ns1:close/>
              </ns1:path>
            </ns1:pathLst>
          </ns1:custGeom>
          <ns1:solidFill>
            <ns1:srgbClr val="FDE6E9"/>
          </ns1:solidFill>
          <ns1:ln w="9525">
            <ns1:solidFill>
              <ns1:srgbClr val="FDE6E9"/>
            </ns1:solidFill>
            <ns1:prstDash val="solid"/>
          </ns1:ln>
        </ns0:spPr>
      </ns0:sp>
      <ns0:sp>
        <ns0:nvSpPr>
          <ns0:cNvPr id="15" name="trace:S03:content.auto.9">
            <ns1:extLst>
              <ns1:ext uri="{FF2B5EF4-FFF2-40B4-BE49-F238E27FC236}">
                <ns2:creationId id="{CE7C1A94-E970-4CAD-BCE2-CEDA89A5C7BF}"/>
              </ns1:ext>
            </ns1:extLst>
          </ns0:cNvPr>
          <ns0:cNvSpPr>
            <ns1:spLocks noGrp="1"/>
          </ns0:cNvSpPr>
          <ns0:nvPr/>
        </ns0:nvSpPr>
        <ns0:spPr>
          <ns1:xfrm>
            <ns1:off x="3048000" y="2838450"/>
            <ns1:ext cx="419100" cy="41910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6" name="trace:S03:content.auto.10">
            <ns1:extLst>
              <ns1:ext uri="{FF2B5EF4-FFF2-40B4-BE49-F238E27FC236}">
                <ns2:creationId id="{D5385D9E-42A0-45BF-9213-1330EF7CB317}"/>
              </ns1:ext>
            </ns1:extLst>
          </ns0:cNvPr>
          <ns0:cNvSpPr>
            <ns1:spLocks noGrp="1"/>
          </ns0:cNvSpPr>
          <ns0:nvPr/>
        </ns0:nvSpPr>
        <ns0:spPr>
          <ns1:xfrm>
            <ns1:off x="3048000" y="2933700"/>
            <ns1:ext cx="4191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02</ns1:t>
            </ns1:r>
          </ns1:p>
        </ns0:txBody>
      </ns0:sp>
      <ns0:sp>
        <ns0:nvSpPr>
          <ns0:cNvPr id="17" name="trace:S03:content.auto.11">
            <ns1:extLst>
              <ns1:ext uri="{FF2B5EF4-FFF2-40B4-BE49-F238E27FC236}">
                <ns2:creationId id="{D87BC6A5-7D8F-44AE-9913-AA7E32B563D5}"/>
              </ns1:ext>
            </ns1:extLst>
          </ns0:cNvPr>
          <ns0:cNvSpPr>
            <ns1:spLocks noGrp="1"/>
          </ns0:cNvSpPr>
          <ns0:nvPr/>
        </ns0:nvSpPr>
        <ns0:spPr>
          <ns1:xfrm>
            <ns1:off x="3686175" y="2752725"/>
            <ns1:ext cx="1571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基本方針</ns1:t>
            </ns1:r>
          </ns1:p>
        </ns0:txBody>
      </ns0:sp>
      <ns0:sp>
        <ns0:nvSpPr>
          <ns0:cNvPr id="18" name="trace:S03:title.primary.7">
            <ns1:extLst>
              <ns1:ext uri="{FF2B5EF4-FFF2-40B4-BE49-F238E27FC236}">
                <ns2:creationId id="{CDEA0077-2D98-4C1D-BF8C-DDF4D8374F66}"/>
              </ns1:ext>
            </ns1:extLst>
          </ns0:cNvPr>
          <ns0:cNvSpPr>
            <ns1:spLocks noGrp="1"/>
          </ns0:cNvSpPr>
          <ns0:nvPr/>
        </ns0:nvSpPr>
        <ns0:spPr>
          <ns1:xfrm>
            <ns1:off x="3686175" y="3028950"/>
            <ns1:ext cx="1524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（アプローチ）</ns1:t>
            </ns1:r>
          </ns1:p>
        </ns0:txBody>
      </ns0:sp>
      <ns0:sp>
        <ns0:nvSpPr>
          <ns0:cNvPr id="19" name="trace:S03:content.auto.12">
            <ns1:extLst>
              <ns1:ext uri="{FF2B5EF4-FFF2-40B4-BE49-F238E27FC236}">
                <ns2:creationId id="{100FDE40-7F4F-499F-9B4B-520CC467534C}"/>
              </ns1:ext>
            </ns1:extLst>
          </ns0:cNvPr>
          <ns0:cNvSpPr>
            <ns1:spLocks noGrp="1"/>
          </ns0:cNvSpPr>
          <ns0:nvPr/>
        </ns0:nvSpPr>
        <ns0:spPr>
          <ns1:xfrm>
            <ns1:off x="5467350" y="2628900"/>
            <ns1:ext cx="2457450" cy="819150"/>
          </ns1:xfrm>
          <ns1:custGeom>
            <ns1:pathLst>
              <ns1:path w="2457450" h="819150">
                <ns1:moveTo>
                  <ns1:pt x="0" y="0"/>
                </ns1:moveTo>
                <ns1:lnTo>
                  <ns1:pt x="2228850" y="0"/>
                </ns1:lnTo>
                <ns1:lnTo>
                  <ns1:pt x="2457450" y="409575"/>
                </ns1:lnTo>
                <ns1:lnTo>
                  <ns1:pt x="2228850" y="819150"/>
                </ns1:lnTo>
                <ns1:lnTo>
                  <ns1:pt x="0" y="819150"/>
                </ns1:lnTo>
                <ns1:lnTo>
                  <ns1:pt x="114300" y="409575"/>
                </ns1:lnTo>
                <ns1:close/>
              </ns1:path>
            </ns1:pathLst>
          </ns1:custGeom>
          <ns1:solidFill>
            <ns1:srgbClr val="FFF0F2"/>
          </ns1:solidFill>
          <ns1:ln w="9525">
            <ns1:solidFill>
              <ns1:srgbClr val="FFF0F2"/>
            </ns1:solidFill>
            <ns1:prstDash val="solid"/>
          </ns1:ln>
        </ns0:spPr>
      </ns0:sp>
      <ns0:sp>
        <ns0:nvSpPr>
          <ns0:cNvPr id="20" name="trace:S03:content.auto.13">
            <ns1:extLst>
              <ns1:ext uri="{FF2B5EF4-FFF2-40B4-BE49-F238E27FC236}">
                <ns2:creationId id="{33274DEA-4C7D-4E69-B484-E7CA5F7430A8}"/>
              </ns1:ext>
            </ns1:extLst>
          </ns0:cNvPr>
          <ns0:cNvSpPr>
            <ns1:spLocks noGrp="1"/>
          </ns0:cNvSpPr>
          <ns0:nvPr/>
        </ns0:nvSpPr>
        <ns0:spPr>
          <ns1:xfrm>
            <ns1:off x="5591175" y="2838450"/>
            <ns1:ext cx="419100" cy="41910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21" name="trace:S03:content.auto.14">
            <ns1:extLst>
              <ns1:ext uri="{FF2B5EF4-FFF2-40B4-BE49-F238E27FC236}">
                <ns2:creationId id="{C42658B2-239A-48FE-A57A-37E31C963235}"/>
              </ns1:ext>
            </ns1:extLst>
          </ns0:cNvPr>
          <ns0:cNvSpPr>
            <ns1:spLocks noGrp="1"/>
          </ns0:cNvSpPr>
          <ns0:nvPr/>
        </ns0:nvSpPr>
        <ns0:spPr>
          <ns1:xfrm>
            <ns1:off x="5591175" y="2933700"/>
            <ns1:ext cx="4191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03</ns1:t>
            </ns1:r>
          </ns1:p>
        </ns0:txBody>
      </ns0:sp>
      <ns0:sp>
        <ns0:nvSpPr>
          <ns0:cNvPr id="22" name="trace:S03:content.auto.15">
            <ns1:extLst>
              <ns1:ext uri="{FF2B5EF4-FFF2-40B4-BE49-F238E27FC236}">
                <ns2:creationId id="{CBCBD252-F0BD-4764-8513-A0B6491BD01A}"/>
              </ns1:ext>
            </ns1:extLst>
          </ns0:cNvPr>
          <ns0:cNvSpPr>
            <ns1:spLocks noGrp="1"/>
          </ns0:cNvSpPr>
          <ns0:nvPr/>
        </ns0:nvSpPr>
        <ns0:spPr>
          <ns1:xfrm>
            <ns1:off x="6229350" y="2752725"/>
            <ns1:ext cx="1571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必要な投資</ns1:t>
            </ns1:r>
          </ns1:p>
        </ns0:txBody>
      </ns0:sp>
      <ns0:sp>
        <ns0:nvSpPr>
          <ns0:cNvPr id="23" name="trace:S03:content.auto.16">
            <ns1:extLst>
              <ns1:ext uri="{FF2B5EF4-FFF2-40B4-BE49-F238E27FC236}">
                <ns2:creationId id="{5F21AA3F-EA1C-45F9-B157-CAE6C22C07D3}"/>
              </ns1:ext>
            </ns1:extLst>
          </ns0:cNvPr>
          <ns0:cNvSpPr>
            <ns1:spLocks noGrp="1"/>
          </ns0:cNvSpPr>
          <ns0:nvPr/>
        </ns0:nvSpPr>
        <ns0:spPr>
          <ns1:xfrm>
            <ns1:off x="6229350" y="3028950"/>
            <ns1:ext cx="1524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（導入計画）</ns1:t>
            </ns1:r>
          </ns1:p>
        </ns0:txBody>
      </ns0:sp>
      <ns0:sp>
        <ns0:nvSpPr>
          <ns0:cNvPr id="24" name="trace:S03:content.auto.17">
            <ns1:extLst>
              <ns1:ext uri="{FF2B5EF4-FFF2-40B4-BE49-F238E27FC236}">
                <ns2:creationId id="{3F669F8F-4A4F-4A62-BE63-5F09E45A7131}"/>
              </ns1:ext>
            </ns1:extLst>
          </ns0:cNvPr>
          <ns0:cNvSpPr>
            <ns1:spLocks noGrp="1"/>
          </ns0:cNvSpPr>
          <ns0:nvPr/>
        </ns0:nvSpPr>
        <ns0:spPr>
          <ns1:xfrm>
            <ns1:off x="8010525" y="2628900"/>
            <ns1:ext cx="2457450" cy="819150"/>
          </ns1:xfrm>
          <ns1:custGeom>
            <ns1:pathLst>
              <ns1:path w="2457450" h="819150">
                <ns1:moveTo>
                  <ns1:pt x="0" y="0"/>
                </ns1:moveTo>
                <ns1:lnTo>
                  <ns1:pt x="2228850" y="0"/>
                </ns1:lnTo>
                <ns1:lnTo>
                  <ns1:pt x="2457450" y="409575"/>
                </ns1:lnTo>
                <ns1:lnTo>
                  <ns1:pt x="2228850" y="819150"/>
                </ns1:lnTo>
                <ns1:lnTo>
                  <ns1:pt x="0" y="819150"/>
                </ns1:lnTo>
                <ns1:lnTo>
                  <ns1:pt x="114300" y="409575"/>
                </ns1:lnTo>
                <ns1:close/>
              </ns1:path>
            </ns1:pathLst>
          </ns1:custGeom>
          <ns1:solidFill>
            <ns1:srgbClr val="FDE6E9"/>
          </ns1:solidFill>
          <ns1:ln w="9525">
            <ns1:solidFill>
              <ns1:srgbClr val="FDE6E9"/>
            </ns1:solidFill>
            <ns1:prstDash val="solid"/>
          </ns1:ln>
        </ns0:spPr>
      </ns0:sp>
      <ns0:sp>
        <ns0:nvSpPr>
          <ns0:cNvPr id="25" name="trace:S03:content.auto.18">
            <ns1:extLst>
              <ns1:ext uri="{FF2B5EF4-FFF2-40B4-BE49-F238E27FC236}">
                <ns2:creationId id="{55CF52D9-4BFE-44C8-9BC7-2CAA001AE1A5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2838450"/>
            <ns1:ext cx="419100" cy="41910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26" name="trace:S03:content.auto.19">
            <ns1:extLst>
              <ns1:ext uri="{FF2B5EF4-FFF2-40B4-BE49-F238E27FC236}">
                <ns2:creationId id="{35D7A644-46F9-41AA-A70A-2DD341093485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2933700"/>
            <ns1:ext cx="4191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04</ns1:t>
            </ns1:r>
          </ns1:p>
        </ns0:txBody>
      </ns0:sp>
      <ns0:sp>
        <ns0:nvSpPr>
          <ns0:cNvPr id="27" name="trace:S03:title.primary.8">
            <ns1:extLst>
              <ns1:ext uri="{FF2B5EF4-FFF2-40B4-BE49-F238E27FC236}">
                <ns2:creationId id="{B1645D48-9EF1-4937-8449-CE3FB76488FF}"/>
              </ns1:ext>
            </ns1:extLst>
          </ns0:cNvPr>
          <ns0:cNvSpPr>
            <ns1:spLocks noGrp="1"/>
          </ns0:cNvSpPr>
          <ns0:nvPr/>
        </ns0:nvSpPr>
        <ns0:spPr>
          <ns1:xfrm>
            <ns1:off x="8772525" y="2752725"/>
            <ns1:ext cx="1571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導入による効果</ns1:t>
            </ns1:r>
          </ns1:p>
        </ns0:txBody>
      </ns0:sp>
      <ns0:sp>
        <ns0:nvSpPr>
          <ns0:cNvPr id="28" name="trace:S03:content.auto.20">
            <ns1:extLst>
              <ns1:ext uri="{FF2B5EF4-FFF2-40B4-BE49-F238E27FC236}">
                <ns2:creationId id="{C6C23FD7-D957-42E4-9CED-746E7934C27B}"/>
              </ns1:ext>
            </ns1:extLst>
          </ns0:cNvPr>
          <ns0:cNvSpPr>
            <ns1:spLocks noGrp="1"/>
          </ns0:cNvSpPr>
          <ns0:nvPr/>
        </ns0:nvSpPr>
        <ns0:spPr>
          <ns1:xfrm>
            <ns1:off x="8772525" y="3028950"/>
            <ns1:ext cx="1524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（期待効果）</ns1:t>
            </ns1:r>
          </ns1:p>
        </ns0:txBody>
      </ns0:sp>
      <ns0:sp>
        <ns0:nvSpPr>
          <ns0:cNvPr id="29" name="trace:S03:content.auto.21">
            <ns1:extLst>
              <ns1:ext uri="{FF2B5EF4-FFF2-40B4-BE49-F238E27FC236}">
                <ns2:creationId id="{DB8F2796-6507-4986-A015-3085BF888B37}"/>
              </ns1:ext>
            </ns1:extLst>
          </ns0:cNvPr>
          <ns0:cNvSpPr>
            <ns1:spLocks noGrp="1"/>
          </ns0:cNvSpPr>
          <ns0:nvPr/>
        </ns0:nvSpPr>
        <ns0:spPr>
          <ns1:xfrm>
            <ns1:off x="10553700" y="2628900"/>
            <ns1:ext cx="2457450" cy="819150"/>
          </ns1:xfrm>
          <ns1:custGeom>
            <ns1:pathLst>
              <ns1:path w="2457450" h="819150">
                <ns1:moveTo>
                  <ns1:pt x="0" y="0"/>
                </ns1:moveTo>
                <ns1:lnTo>
                  <ns1:pt x="2228850" y="0"/>
                </ns1:lnTo>
                <ns1:lnTo>
                  <ns1:pt x="2457450" y="409575"/>
                </ns1:lnTo>
                <ns1:lnTo>
                  <ns1:pt x="2228850" y="819150"/>
                </ns1:lnTo>
                <ns1:lnTo>
                  <ns1:pt x="0" y="819150"/>
                </ns1:lnTo>
                <ns1:lnTo>
                  <ns1:pt x="114300" y="409575"/>
                </ns1:lnTo>
                <ns1:close/>
              </ns1:path>
            </ns1:pathLst>
          </ns1:cu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30" name="trace:S03:content.auto.22">
            <ns1:extLst>
              <ns1:ext uri="{FF2B5EF4-FFF2-40B4-BE49-F238E27FC236}">
                <ns2:creationId id="{48C2750D-6C05-4D47-AFBF-373C27511948}"/>
              </ns1:ext>
            </ns1:extLst>
          </ns0:cNvPr>
          <ns0:cNvSpPr>
            <ns1:spLocks noGrp="1"/>
          </ns0:cNvSpPr>
          <ns0:nvPr/>
        </ns0:nvSpPr>
        <ns0:spPr>
          <ns1:xfrm>
            <ns1:off x="10677525" y="2838450"/>
            <ns1:ext cx="419100" cy="419100"/>
          </ns1:xfrm>
          <ns1:prstGeom prst="ellipse">
            <ns1:avLst/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31" name="trace:S03:content.auto.23">
            <ns1:extLst>
              <ns1:ext uri="{FF2B5EF4-FFF2-40B4-BE49-F238E27FC236}">
                <ns2:creationId id="{C5B31267-4299-4130-83E5-76BE541290FB}"/>
              </ns1:ext>
            </ns1:extLst>
          </ns0:cNvPr>
          <ns0:cNvSpPr>
            <ns1:spLocks noGrp="1"/>
          </ns0:cNvSpPr>
          <ns0:nvPr/>
        </ns0:nvSpPr>
        <ns0:spPr>
          <ns1:xfrm>
            <ns1:off x="10677525" y="2933700"/>
            <ns1:ext cx="4191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05</ns1:t>
            </ns1:r>
          </ns1:p>
        </ns0:txBody>
      </ns0:sp>
      <ns0:sp>
        <ns0:nvSpPr>
          <ns0:cNvPr id="32" name="trace:S03:content.auto.24">
            <ns1:extLst>
              <ns1:ext uri="{FF2B5EF4-FFF2-40B4-BE49-F238E27FC236}">
                <ns2:creationId id="{A309F027-00D0-4D2F-A8C4-91156F36FB05}"/>
              </ns1:ext>
            </ns1:extLst>
          </ns0:cNvPr>
          <ns0:cNvSpPr>
            <ns1:spLocks noGrp="1"/>
          </ns0:cNvSpPr>
          <ns0:nvPr/>
        </ns0:nvSpPr>
        <ns0:spPr>
          <ns1:xfrm>
            <ns1:off x="10677525" y="2952750"/>
            <ns1:ext cx="419100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05</ns1:t>
            </ns1:r>
          </ns1:p>
        </ns0:txBody>
      </ns0:sp>
      <ns0:sp>
        <ns0:nvSpPr>
          <ns0:cNvPr id="33" name="trace:S03:title.primary.9">
            <ns1:extLst>
              <ns1:ext uri="{FF2B5EF4-FFF2-40B4-BE49-F238E27FC236}">
                <ns2:creationId id="{A96BFEFC-5D82-49DE-8B00-D978B33C0E3D}"/>
              </ns1:ext>
            </ns1:extLst>
          </ns0:cNvPr>
          <ns0:cNvSpPr>
            <ns1:spLocks noGrp="1"/>
          </ns0:cNvSpPr>
          <ns0:nvPr/>
        </ns0:nvSpPr>
        <ns0:spPr>
          <ns1:xfrm>
            <ns1:off x="11315700" y="2752725"/>
            <ns1:ext cx="1571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経営の判断事項</ns1:t>
            </ns1:r>
          </ns1:p>
        </ns0:txBody>
      </ns0:sp>
      <ns0:sp>
        <ns0:nvSpPr>
          <ns0:cNvPr id="34" name="trace:S03:content.auto.25">
            <ns1:extLst>
              <ns1:ext uri="{FF2B5EF4-FFF2-40B4-BE49-F238E27FC236}">
                <ns2:creationId id="{014C7FFC-1235-407E-8EB7-A2DA7141D64C}"/>
              </ns1:ext>
            </ns1:extLst>
          </ns0:cNvPr>
          <ns0:cNvSpPr>
            <ns1:spLocks noGrp="1"/>
          </ns0:cNvSpPr>
          <ns0:nvPr/>
        </ns0:nvSpPr>
        <ns0:spPr>
          <ns1:xfrm>
            <ns1:off x="11315700" y="3028950"/>
            <ns1:ext cx="1524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（意思決定）</ns1:t>
            </ns1:r>
          </ns1:p>
        </ns0:txBody>
      </ns0:sp>
      <ns0:sp>
        <ns0:nvSpPr>
          <ns0:cNvPr id="35" name="trace:S03:content.auto.26">
            <ns1:extLst>
              <ns1:ext uri="{FF2B5EF4-FFF2-40B4-BE49-F238E27FC236}">
                <ns2:creationId id="{B0147C8E-98E1-4F89-BC4F-3B1A7EBFF555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3486150"/>
            <ns1:ext cx="2457450" cy="2857500"/>
          </ns1:xfrm>
          <ns1:prstGeom prst="roundRect">
            <ns1:avLst>
              <ns1:gd name="adj" fmla="val 3101"/>
            </ns1:avLst>
          </ns1:prstGeom>
          <ns1:solidFill>
            <ns1:srgbClr val="FFFFFF"/>
          </ns1:solidFill>
          <ns1:ln w="9525">
            <ns1:solidFill>
              <ns1:srgbClr val="D8E0E7"/>
            </ns1:solidFill>
            <ns1:prstDash val="solid"/>
          </ns1:ln>
        </ns0:spPr>
      </ns0:sp>
      <ns0:sp>
        <ns0:nvSpPr>
          <ns0:cNvPr id="36" name="trace:S03:content.auto.27">
            <ns1:extLst>
              <ns1:ext uri="{FF2B5EF4-FFF2-40B4-BE49-F238E27FC236}">
                <ns2:creationId id="{40897289-655C-489B-AD40-652B94C43E9E}"/>
              </ns1:ext>
            </ns1:extLst>
          </ns0:cNvPr>
          <ns0:cNvSpPr>
            <ns1:spLocks noGrp="1"/>
          </ns0:cNvSpPr>
          <ns0:nvPr/>
        </ns0:nvSpPr>
        <ns0:spPr>
          <ns1:xfrm>
            <ns1:off x="1343025" y="3984689"/>
            <ns1:ext cx="105347" cy="180594"/>
          </ns1:xfrm>
          <ns1:prstGeom prst="rect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37" name="trace:S03:content.auto.28">
            <ns1:extLst>
              <ns1:ext uri="{FF2B5EF4-FFF2-40B4-BE49-F238E27FC236}">
                <ns2:creationId id="{E5D9D483-5062-4EAD-AEEA-DC6E01E7BA96}"/>
              </ns1:ext>
            </ns1:extLst>
          </ns0:cNvPr>
          <ns0:cNvSpPr>
            <ns1:spLocks noGrp="1"/>
          </ns0:cNvSpPr>
          <ns0:nvPr/>
        </ns0:nvSpPr>
        <ns0:spPr>
          <ns1:xfrm>
            <ns1:off x="1523619" y="3879342"/>
            <ns1:ext cx="105347" cy="285941"/>
          </ns1:xfrm>
          <ns1:prstGeom prst="rect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38" name="trace:S03:content.auto.29">
            <ns1:extLst>
              <ns1:ext uri="{FF2B5EF4-FFF2-40B4-BE49-F238E27FC236}">
                <ns2:creationId id="{49E66403-E683-49A7-960E-5C516F94C323}"/>
              </ns1:ext>
            </ns1:extLst>
          </ns0:cNvPr>
          <ns0:cNvSpPr>
            <ns1:spLocks noGrp="1"/>
          </ns0:cNvSpPr>
          <ns0:nvPr/>
        </ns0:nvSpPr>
        <ns0:spPr>
          <ns1:xfrm>
            <ns1:off x="1704213" y="3758946"/>
            <ns1:ext cx="105347" cy="406337"/>
          </ns1:xfrm>
          <ns1:prstGeom prst="rect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39" name="trace:S03:content.auto.30">
            <ns1:extLst>
              <ns1:ext uri="{FF2B5EF4-FFF2-40B4-BE49-F238E27FC236}">
                <ns2:creationId id="{DCA24E78-6094-4579-BF99-674A156A0FD6}"/>
              </ns1:ext>
            </ns1:extLst>
          </ns0:cNvPr>
          <ns0:cNvSpPr>
            <ns1:spLocks noGrp="1"/>
          </ns0:cNvSpPr>
          <ns0:nvPr/>
        </ns0:nvSpPr>
        <ns0:spPr>
          <ns1:xfrm>
            <ns1:off x="1312926" y="4165283"/>
            <ns1:ext cx="586931" cy="0"/>
          </ns1:xfrm>
          <ns1:prstGeom prst="lin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40" name="trace:S03:content.auto.31">
            <ns1:extLst>
              <ns1:ext uri="{FF2B5EF4-FFF2-40B4-BE49-F238E27FC236}">
                <ns2:creationId id="{C849EDDE-387F-41A6-87C6-E2C6EF44F104}"/>
              </ns1:ext>
            </ns1:extLst>
          </ns0:cNvPr>
          <ns0:cNvSpPr>
            <ns1:spLocks noGrp="1"/>
          </ns0:cNvSpPr>
          <ns0:nvPr/>
        </ns0:nvSpPr>
        <ns0:spPr>
          <ns1:xfrm>
            <ns1:off x="1373124" y="3789045"/>
            <ns1:ext cx="451485" cy="0"/>
          </ns1:xfrm>
          <ns1:prstGeom prst="line">
            <ns1:avLst/>
          </ns1:prstGeom>
          <ns1:noFill/>
          <ns1:ln w="19050">
            <ns1:solidFill>
              <ns1:srgbClr val="E91D2B"/>
            </ns1:solidFill>
            <ns1:prstDash val="solid"/>
          </ns1:ln>
        </ns0:spPr>
      </ns0:sp>
      <ns0:sp>
        <ns0:nvSpPr>
          <ns0:cNvPr id="41" name="trace:S03:content.auto.32">
            <ns1:extLst>
              <ns1:ext uri="{FF2B5EF4-FFF2-40B4-BE49-F238E27FC236}">
                <ns2:creationId id="{5DCC79CC-8EA7-4ECD-8CF8-3DFC3435C385}"/>
              </ns1:ext>
            </ns1:extLst>
          </ns0:cNvPr>
          <ns0:cNvSpPr>
            <ns1:spLocks noGrp="1"/>
          </ns0:cNvSpPr>
          <ns0:nvPr/>
        </ns0:nvSpPr>
        <ns0:spPr>
          <ns1:xfrm rot="2700000">
            <ns1:off x="1764411" y="3713798"/>
            <ns1:ext cx="135446" cy="135446"/>
          </ns1:xfrm>
          <ns1:prstGeom prst="triangl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42" name="trace:S03:content.auto.33">
            <ns1:extLst>
              <ns1:ext uri="{FF2B5EF4-FFF2-40B4-BE49-F238E27FC236}">
                <ns2:creationId id="{47C32203-7D8A-4C50-A633-810665E87BE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30530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43" name="trace:S03:content.auto.34">
            <ns1:extLst>
              <ns1:ext uri="{FF2B5EF4-FFF2-40B4-BE49-F238E27FC236}">
                <ns2:creationId id="{501B9322-950F-4395-A9A5-9288967B90A6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428625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業務の個別最適化により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全社での非効率が発生</ns1:t>
            </ns1:r>
          </ns1:p>
        </ns0:txBody>
      </ns0:sp>
      <ns0:sp>
        <ns0:nvSpPr>
          <ns0:cNvPr id="44" name="trace:S03:content.auto.35">
            <ns1:extLst>
              <ns1:ext uri="{FF2B5EF4-FFF2-40B4-BE49-F238E27FC236}">
                <ns2:creationId id="{73CB1893-4CAF-4E0F-AF7C-31BA115F0435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81965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45" name="trace:S03:content.auto.36">
            <ns1:extLst>
              <ns1:ext uri="{FF2B5EF4-FFF2-40B4-BE49-F238E27FC236}">
                <ns2:creationId id="{A0C5C832-5B28-460C-A144-52116992407D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480060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データが分散し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経営の可視化が困難</ns1:t>
            </ns1:r>
          </ns1:p>
        </ns0:txBody>
      </ns0:sp>
      <ns0:sp>
        <ns0:nvSpPr>
          <ns0:cNvPr id="46" name="trace:S03:content.auto.37">
            <ns1:extLst>
              <ns1:ext uri="{FF2B5EF4-FFF2-40B4-BE49-F238E27FC236}">
                <ns2:creationId id="{BD3892D6-E8D7-433B-B7CF-543D18646855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533400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47" name="trace:S03:content.auto.38">
            <ns1:extLst>
              <ns1:ext uri="{FF2B5EF4-FFF2-40B4-BE49-F238E27FC236}">
                <ns2:creationId id="{E07A6EB4-5FC4-4796-B984-12769778E69D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531495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事業拡大に向けた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業務基盤の強化が急務</ns1:t>
            </ns1:r>
          </ns1:p>
        </ns0:txBody>
      </ns0:sp>
      <ns0:sp>
        <ns0:nvSpPr>
          <ns0:cNvPr id="48" name="trace:S03:content.auto.39">
            <ns1:extLst>
              <ns1:ext uri="{FF2B5EF4-FFF2-40B4-BE49-F238E27FC236}">
                <ns2:creationId id="{200A4765-89EA-4D1F-930C-7BC4949CE2BF}"/>
              </ns1:ext>
            </ns1:extLst>
          </ns0:cNvPr>
          <ns0:cNvSpPr>
            <ns1:spLocks noGrp="1"/>
          </ns0:cNvSpPr>
          <ns0:nvPr/>
        </ns0:nvSpPr>
        <ns0:spPr>
          <ns1:xfrm>
            <ns1:off x="2924175" y="3486150"/>
            <ns1:ext cx="2457450" cy="2857500"/>
          </ns1:xfrm>
          <ns1:prstGeom prst="roundRect">
            <ns1:avLst>
              <ns1:gd name="adj" fmla="val 3101"/>
            </ns1:avLst>
          </ns1:prstGeom>
          <ns1:solidFill>
            <ns1:srgbClr val="FFFFFF"/>
          </ns1:solidFill>
          <ns1:ln w="9525">
            <ns1:solidFill>
              <ns1:srgbClr val="D8E0E7"/>
            </ns1:solidFill>
            <ns1:prstDash val="solid"/>
          </ns1:ln>
        </ns0:spPr>
      </ns0:sp>
      <ns0:sp>
        <ns0:nvSpPr>
          <ns0:cNvPr id="49" name="trace:S03:content.auto.40">
            <ns1:extLst>
              <ns1:ext uri="{FF2B5EF4-FFF2-40B4-BE49-F238E27FC236}">
                <ns2:creationId id="{9CD7E6DD-F03D-4D43-95A4-E57744FB8E1A}"/>
              </ns1:ext>
            </ns1:extLst>
          </ns0:cNvPr>
          <ns0:cNvSpPr>
            <ns1:spLocks noGrp="1"/>
          </ns0:cNvSpPr>
          <ns0:nvPr/>
        </ns0:nvSpPr>
        <ns0:spPr>
          <ns1:xfrm>
            <ns1:off x="3886200" y="3638550"/>
            <ns1:ext cx="386715" cy="386715"/>
          </ns1:xfrm>
          <ns1:prstGeom prst="ellips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50" name="trace:S03:content.auto.41">
            <ns1:extLst>
              <ns1:ext uri="{FF2B5EF4-FFF2-40B4-BE49-F238E27FC236}">
                <ns2:creationId id="{EB05337C-6E39-4257-8872-5516D3EB04EC}"/>
              </ns1:ext>
            </ns1:extLst>
          </ns0:cNvPr>
          <ns0:cNvSpPr>
            <ns1:spLocks noGrp="1"/>
          </ns0:cNvSpPr>
          <ns0:nvPr/>
        </ns0:nvSpPr>
        <ns0:spPr>
          <ns1:xfrm>
            <ns1:off x="3974592" y="3726942"/>
            <ns1:ext cx="209931" cy="209931"/>
          </ns1:xfrm>
          <ns1:prstGeom prst="ellips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51" name="trace:S03:content.auto.42">
            <ns1:extLst>
              <ns1:ext uri="{FF2B5EF4-FFF2-40B4-BE49-F238E27FC236}">
                <ns2:creationId id="{20D6EEA0-AD76-49A2-8558-053A91CD5A74}"/>
              </ns1:ext>
            </ns1:extLst>
          </ns0:cNvPr>
          <ns0:cNvSpPr>
            <ns1:spLocks noGrp="1"/>
          </ns0:cNvSpPr>
          <ns0:nvPr/>
        </ns0:nvSpPr>
        <ns0:spPr>
          <ns1:xfrm>
            <ns1:off x="4051935" y="3804285"/>
            <ns1:ext cx="55245" cy="55245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52" name="trace:S03:content.auto.43">
            <ns1:extLst>
              <ns1:ext uri="{FF2B5EF4-FFF2-40B4-BE49-F238E27FC236}">
                <ns2:creationId id="{09AF197E-5008-4E8C-98CF-75C356B2871A}"/>
              </ns1:ext>
            </ns1:extLst>
          </ns0:cNvPr>
          <ns0:cNvSpPr>
            <ns1:spLocks noGrp="1"/>
          </ns0:cNvSpPr>
          <ns0:nvPr/>
        </ns0:nvSpPr>
        <ns0:spPr>
          <ns1:xfrm>
            <ns1:off x="4085082" y="3826383"/>
            <ns1:ext cx="254127" cy="0"/>
          </ns1:xfrm>
          <ns1:prstGeom prst="line">
            <ns1:avLst/>
          </ns1:prstGeom>
          <ns1:noFill/>
          <ns1:ln w="19050">
            <ns1:solidFill>
              <ns1:srgbClr val="E91D2B"/>
            </ns1:solidFill>
            <ns1:prstDash val="solid"/>
          </ns1:ln>
        </ns0:spPr>
      </ns0:sp>
      <ns0:sp>
        <ns0:nvSpPr>
          <ns0:cNvPr id="53" name="trace:S03:content.auto.44">
            <ns1:extLst>
              <ns1:ext uri="{FF2B5EF4-FFF2-40B4-BE49-F238E27FC236}">
                <ns2:creationId id="{EABC54F2-449F-4067-B732-EF7FAEB2E759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430530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54" name="trace:S03:content.auto.45">
            <ns1:extLst>
              <ns1:ext uri="{FF2B5EF4-FFF2-40B4-BE49-F238E27FC236}">
                <ns2:creationId id="{205579A1-3C59-4779-8C0A-5BD86EA3DB92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428625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業務の標準化と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プロセスの最適化</ns1:t>
            </ns1:r>
          </ns1:p>
        </ns0:txBody>
      </ns0:sp>
      <ns0:sp>
        <ns0:nvSpPr>
          <ns0:cNvPr id="55" name="trace:S03:content.auto.46">
            <ns1:extLst>
              <ns1:ext uri="{FF2B5EF4-FFF2-40B4-BE49-F238E27FC236}">
                <ns2:creationId id="{74C496C0-8C5F-42B5-92BD-7636BEACA8EA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481965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56" name="trace:S03:content.auto.47">
            <ns1:extLst>
              <ns1:ext uri="{FF2B5EF4-FFF2-40B4-BE49-F238E27FC236}">
                <ns2:creationId id="{C69CCFBE-EE97-4263-A8B5-1EF699538B64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480060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データの一元化と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リアルタイムな可視化</ns1:t>
            </ns1:r>
          </ns1:p>
        </ns0:txBody>
      </ns0:sp>
      <ns0:sp>
        <ns0:nvSpPr>
          <ns0:cNvPr id="57" name="trace:S03:content.auto.48">
            <ns1:extLst>
              <ns1:ext uri="{FF2B5EF4-FFF2-40B4-BE49-F238E27FC236}">
                <ns2:creationId id="{35DD7BAF-F3AF-43D2-BBFB-49E533EC6E97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533400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58" name="trace:S03:content.auto.49">
            <ns1:extLst>
              <ns1:ext uri="{FF2B5EF4-FFF2-40B4-BE49-F238E27FC236}">
                <ns2:creationId id="{11E099C2-9D06-436B-9069-27DA2216C768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531495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現場に適合した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段階的な導入・定着</ns1:t>
            </ns1:r>
          </ns1:p>
        </ns0:txBody>
      </ns0:sp>
      <ns0:sp>
        <ns0:nvSpPr>
          <ns0:cNvPr id="59" name="trace:S03:content.auto.50">
            <ns1:extLst>
              <ns1:ext uri="{FF2B5EF4-FFF2-40B4-BE49-F238E27FC236}">
                <ns2:creationId id="{24507784-0CD4-47CD-A9C0-ABF5B0694ED8}"/>
              </ns1:ext>
            </ns1:extLst>
          </ns0:cNvPr>
          <ns0:cNvSpPr>
            <ns1:spLocks noGrp="1"/>
          </ns0:cNvSpPr>
          <ns0:nvPr/>
        </ns0:nvSpPr>
        <ns0:spPr>
          <ns1:xfrm>
            <ns1:off x="5467350" y="3486150"/>
            <ns1:ext cx="2457450" cy="2857500"/>
          </ns1:xfrm>
          <ns1:prstGeom prst="roundRect">
            <ns1:avLst>
              <ns1:gd name="adj" fmla="val 3101"/>
            </ns1:avLst>
          </ns1:prstGeom>
          <ns1:solidFill>
            <ns1:srgbClr val="FFFFFF"/>
          </ns1:solidFill>
          <ns1:ln w="9525">
            <ns1:solidFill>
              <ns1:srgbClr val="D8E0E7"/>
            </ns1:solidFill>
            <ns1:prstDash val="solid"/>
          </ns1:ln>
        </ns0:spPr>
      </ns0:sp>
      <ns0:sp>
        <ns0:nvSpPr>
          <ns0:cNvPr id="60" name="trace:S03:content.auto.51">
            <ns1:extLst>
              <ns1:ext uri="{FF2B5EF4-FFF2-40B4-BE49-F238E27FC236}">
                <ns2:creationId id="{32D3780A-4D29-42DB-AC23-250A085B400C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3686175"/>
            <ns1:ext cx="421767" cy="140589"/>
          </ns1:xfrm>
          <ns1:prstGeom prst="ellips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61" name="trace:S03:content.auto.52">
            <ns1:extLst>
              <ns1:ext uri="{FF2B5EF4-FFF2-40B4-BE49-F238E27FC236}">
                <ns2:creationId id="{278FBA50-8530-414C-AF3A-4A9F8ABA9298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3920490"/>
            <ns1:ext cx="421767" cy="140589"/>
          </ns1:xfrm>
          <ns1:prstGeom prst="ellips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62" name="trace:S03:content.auto.53">
            <ns1:extLst>
              <ns1:ext uri="{FF2B5EF4-FFF2-40B4-BE49-F238E27FC236}">
                <ns2:creationId id="{51D89D57-6807-4C73-A415-7E6FF566DC21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3756470"/>
            <ns1:ext cx="0" cy="0"/>
          </ns1:xfrm>
          <ns1:prstGeom prst="lin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63" name="trace:S03:content.auto.54">
            <ns1:extLst>
              <ns1:ext uri="{FF2B5EF4-FFF2-40B4-BE49-F238E27FC236}">
                <ns2:creationId id="{131C98DD-BD0B-4950-9F98-993927462CAE}"/>
              </ns1:ext>
            </ns1:extLst>
          </ns0:cNvPr>
          <ns0:cNvSpPr>
            <ns1:spLocks noGrp="1"/>
          </ns0:cNvSpPr>
          <ns0:nvPr/>
        </ns0:nvSpPr>
        <ns0:spPr>
          <ns1:xfrm>
            <ns1:off x="6870192" y="3756470"/>
            <ns1:ext cx="0" cy="0"/>
          </ns1:xfrm>
          <ns1:prstGeom prst="lin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64" name="trace:S03:content.auto.55">
            <ns1:extLst>
              <ns1:ext uri="{FF2B5EF4-FFF2-40B4-BE49-F238E27FC236}">
                <ns2:creationId id="{75803D58-8E00-4ED3-80F4-87235728CCDD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3990785"/>
            <ns1:ext cx="0" cy="0"/>
          </ns1:xfrm>
          <ns1:prstGeom prst="lin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65" name="trace:S03:content.auto.56">
            <ns1:extLst>
              <ns1:ext uri="{FF2B5EF4-FFF2-40B4-BE49-F238E27FC236}">
                <ns2:creationId id="{0359F5A2-76AA-47E5-B575-CED034009C56}"/>
              </ns1:ext>
            </ns1:extLst>
          </ns0:cNvPr>
          <ns0:cNvSpPr>
            <ns1:spLocks noGrp="1"/>
          </ns0:cNvSpPr>
          <ns0:nvPr/>
        </ns0:nvSpPr>
        <ns0:spPr>
          <ns1:xfrm>
            <ns1:off x="6870192" y="3990785"/>
            <ns1:ext cx="0" cy="0"/>
          </ns1:xfrm>
          <ns1:prstGeom prst="lin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66" name="trace:S03:content.auto.57">
            <ns1:extLst>
              <ns1:ext uri="{FF2B5EF4-FFF2-40B4-BE49-F238E27FC236}">
                <ns2:creationId id="{BB240B2F-FE06-4D34-8FFB-82DC815BC7C8}"/>
              </ns1:ext>
            </ns1:extLst>
          </ns0:cNvPr>
          <ns0:cNvSpPr>
            <ns1:spLocks noGrp="1"/>
          </ns0:cNvSpPr>
          <ns0:nvPr/>
        </ns0:nvSpPr>
        <ns0:spPr>
          <ns1:xfrm>
            <ns1:off x="6753225" y="3924300"/>
            <ns1:ext cx="323850" cy="32385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67" name="trace:S03:content.auto.58">
            <ns1:extLst>
              <ns1:ext uri="{FF2B5EF4-FFF2-40B4-BE49-F238E27FC236}">
                <ns2:creationId id="{370A2AD8-9FB7-4991-AD40-C6A05A2B65EC}"/>
              </ns1:ext>
            </ns1:extLst>
          </ns0:cNvPr>
          <ns0:cNvSpPr>
            <ns1:spLocks noGrp="1"/>
          </ns0:cNvSpPr>
          <ns0:nvPr/>
        </ns0:nvSpPr>
        <ns0:spPr>
          <ns1:xfrm>
            <ns1:off x="6753225" y="3971925"/>
            <ns1:ext cx="3238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¥</ns1:t>
            </ns1:r>
          </ns1:p>
        </ns0:txBody>
      </ns0:sp>
      <ns0:sp>
        <ns0:nvSpPr>
          <ns0:cNvPr id="68" name="trace:S03:content.auto.59">
            <ns1:extLst>
              <ns1:ext uri="{FF2B5EF4-FFF2-40B4-BE49-F238E27FC236}">
                <ns2:creationId id="{D4144B6A-8013-47DC-B986-E90BD7569C8A}"/>
              </ns1:ext>
            </ns1:extLst>
          </ns0:cNvPr>
          <ns0:cNvSpPr>
            <ns1:spLocks noGrp="1"/>
          </ns0:cNvSpPr>
          <ns0:nvPr/>
        </ns0:nvSpPr>
        <ns0:spPr>
          <ns1:xfrm>
            <ns1:off x="5610225" y="430530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69" name="trace:S03:content.auto.60">
            <ns1:extLst>
              <ns1:ext uri="{FF2B5EF4-FFF2-40B4-BE49-F238E27FC236}">
                <ns2:creationId id="{1E2790F2-CC6C-4CEC-B278-A86724EA25CB}"/>
              </ns1:ext>
            </ns1:extLst>
          </ns0:cNvPr>
          <ns0:cNvSpPr>
            <ns1:spLocks noGrp="1"/>
          </ns0:cNvSpPr>
          <ns0:nvPr/>
        </ns0:nvSpPr>
        <ns0:spPr>
          <ns1:xfrm>
            <ns1:off x="5838825" y="428625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ERPライセンス・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インフラ投資</ns1:t>
            </ns1:r>
          </ns1:p>
        </ns0:txBody>
      </ns0:sp>
      <ns0:sp>
        <ns0:nvSpPr>
          <ns0:cNvPr id="70" name="trace:S03:content.auto.61">
            <ns1:extLst>
              <ns1:ext uri="{FF2B5EF4-FFF2-40B4-BE49-F238E27FC236}">
                <ns2:creationId id="{BA15F316-EC4F-40B0-9F7D-51A646A4277D}"/>
              </ns1:ext>
            </ns1:extLst>
          </ns0:cNvPr>
          <ns0:cNvSpPr>
            <ns1:spLocks noGrp="1"/>
          </ns0:cNvSpPr>
          <ns0:nvPr/>
        </ns0:nvSpPr>
        <ns0:spPr>
          <ns1:xfrm>
            <ns1:off x="5610225" y="481965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71" name="trace:S03:content.auto.62">
            <ns1:extLst>
              <ns1:ext uri="{FF2B5EF4-FFF2-40B4-BE49-F238E27FC236}">
                <ns2:creationId id="{E02363DF-A176-4DD8-B8B6-5EB6B6932180}"/>
              </ns1:ext>
            </ns1:extLst>
          </ns0:cNvPr>
          <ns0:cNvSpPr>
            <ns1:spLocks noGrp="1"/>
          </ns0:cNvSpPr>
          <ns0:nvPr/>
        </ns0:nvSpPr>
        <ns0:spPr>
          <ns1:xfrm>
            <ns1:off x="5838825" y="480060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業務設計・開発・移行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教育・チェンジマネジメント</ns1:t>
            </ns1:r>
          </ns1:p>
        </ns0:txBody>
      </ns0:sp>
      <ns0:sp>
        <ns0:nvSpPr>
          <ns0:cNvPr id="72" name="trace:S03:content.auto.63">
            <ns1:extLst>
              <ns1:ext uri="{FF2B5EF4-FFF2-40B4-BE49-F238E27FC236}">
                <ns2:creationId id="{C6F04F03-620A-44EF-8D3D-5A661538BC36}"/>
              </ns1:ext>
            </ns1:extLst>
          </ns0:cNvPr>
          <ns0:cNvSpPr>
            <ns1:spLocks noGrp="1"/>
          </ns0:cNvSpPr>
          <ns0:nvPr/>
        </ns0:nvSpPr>
        <ns0:spPr>
          <ns1:xfrm>
            <ns1:off x="5610225" y="533400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73" name="trace:S03:content.auto.64">
            <ns1:extLst>
              <ns1:ext uri="{FF2B5EF4-FFF2-40B4-BE49-F238E27FC236}">
                <ns2:creationId id="{889B9333-B1A7-437B-949B-D125ACE5FC9D}"/>
              </ns1:ext>
            </ns1:extLst>
          </ns0:cNvPr>
          <ns0:cNvSpPr>
            <ns1:spLocks noGrp="1"/>
          </ns0:cNvSpPr>
          <ns0:nvPr/>
        </ns0:nvSpPr>
        <ns0:spPr>
          <ns1:xfrm>
            <ns1:off x="5838825" y="531495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運用保守・継続的改善</ns1:t>
            </ns1:r>
          </ns1:p>
        </ns0:txBody>
      </ns0:sp>
      <ns0:sp>
        <ns0:nvSpPr>
          <ns0:cNvPr id="74" name="trace:S03:content.auto.65">
            <ns1:extLst>
              <ns1:ext uri="{FF2B5EF4-FFF2-40B4-BE49-F238E27FC236}">
                <ns2:creationId id="{EF890705-5E67-4200-8899-B689DC07D3A4}"/>
              </ns1:ext>
            </ns1:extLst>
          </ns0:cNvPr>
          <ns0:cNvSpPr>
            <ns1:spLocks noGrp="1"/>
          </ns0:cNvSpPr>
          <ns0:nvPr/>
        </ns0:nvSpPr>
        <ns0:spPr>
          <ns1:xfrm>
            <ns1:off x="8010525" y="3486150"/>
            <ns1:ext cx="2457450" cy="2857500"/>
          </ns1:xfrm>
          <ns1:prstGeom prst="roundRect">
            <ns1:avLst>
              <ns1:gd name="adj" fmla="val 3101"/>
            </ns1:avLst>
          </ns1:prstGeom>
          <ns1:solidFill>
            <ns1:srgbClr val="FFFFFF"/>
          </ns1:solidFill>
          <ns1:ln w="9525">
            <ns1:solidFill>
              <ns1:srgbClr val="D8E0E7"/>
            </ns1:solidFill>
            <ns1:prstDash val="solid"/>
          </ns1:ln>
        </ns0:spPr>
      </ns0:sp>
      <ns0:sp>
        <ns0:nvSpPr>
          <ns0:cNvPr id="75" name="trace:S03:content.auto.66">
            <ns1:extLst>
              <ns1:ext uri="{FF2B5EF4-FFF2-40B4-BE49-F238E27FC236}">
                <ns2:creationId id="{616F78EC-012C-4550-9699-364386DD15AA}"/>
              </ns1:ext>
            </ns1:extLst>
          </ns0:cNvPr>
          <ns0:cNvSpPr>
            <ns1:spLocks noGrp="1"/>
          </ns0:cNvSpPr>
          <ns0:nvPr/>
        </ns0:nvSpPr>
        <ns0:spPr>
          <ns1:xfrm>
            <ns1:off x="8972550" y="3984689"/>
            <ns1:ext cx="105347" cy="180594"/>
          </ns1:xfrm>
          <ns1:prstGeom prst="rect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76" name="trace:S03:content.auto.67">
            <ns1:extLst>
              <ns1:ext uri="{FF2B5EF4-FFF2-40B4-BE49-F238E27FC236}">
                <ns2:creationId id="{090695A3-CF84-4CDB-8E41-A1500213DED6}"/>
              </ns1:ext>
            </ns1:extLst>
          </ns0:cNvPr>
          <ns0:cNvSpPr>
            <ns1:spLocks noGrp="1"/>
          </ns0:cNvSpPr>
          <ns0:nvPr/>
        </ns0:nvSpPr>
        <ns0:spPr>
          <ns1:xfrm>
            <ns1:off x="9153144" y="3879342"/>
            <ns1:ext cx="105347" cy="285941"/>
          </ns1:xfrm>
          <ns1:prstGeom prst="rect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77" name="trace:S03:content.auto.68">
            <ns1:extLst>
              <ns1:ext uri="{FF2B5EF4-FFF2-40B4-BE49-F238E27FC236}">
                <ns2:creationId id="{7CEF5E54-AFE8-4DC6-A325-5B803FFF20D6}"/>
              </ns1:ext>
            </ns1:extLst>
          </ns0:cNvPr>
          <ns0:cNvSpPr>
            <ns1:spLocks noGrp="1"/>
          </ns0:cNvSpPr>
          <ns0:nvPr/>
        </ns0:nvSpPr>
        <ns0:spPr>
          <ns1:xfrm>
            <ns1:off x="9333738" y="3758946"/>
            <ns1:ext cx="105347" cy="406337"/>
          </ns1:xfrm>
          <ns1:prstGeom prst="rect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78" name="trace:S03:content.auto.69">
            <ns1:extLst>
              <ns1:ext uri="{FF2B5EF4-FFF2-40B4-BE49-F238E27FC236}">
                <ns2:creationId id="{DC725E09-7146-4AF2-82DC-51420D858DCB}"/>
              </ns1:ext>
            </ns1:extLst>
          </ns0:cNvPr>
          <ns0:cNvSpPr>
            <ns1:spLocks noGrp="1"/>
          </ns0:cNvSpPr>
          <ns0:nvPr/>
        </ns0:nvSpPr>
        <ns0:spPr>
          <ns1:xfrm>
            <ns1:off x="8942451" y="4165283"/>
            <ns1:ext cx="586931" cy="0"/>
          </ns1:xfrm>
          <ns1:prstGeom prst="line">
            <ns1:avLst/>
          </ns1:prstGeom>
          <ns1:noFill/>
          <ns1:ln w="19050">
            <ns1:solidFill>
              <ns1:srgbClr val="5D7188"/>
            </ns1:solidFill>
            <ns1:prstDash val="solid"/>
          </ns1:ln>
        </ns0:spPr>
      </ns0:sp>
      <ns0:sp>
        <ns0:nvSpPr>
          <ns0:cNvPr id="79" name="trace:S03:content.auto.70">
            <ns1:extLst>
              <ns1:ext uri="{FF2B5EF4-FFF2-40B4-BE49-F238E27FC236}">
                <ns2:creationId id="{31EFA152-A74C-4554-A7B6-46077F56F8DA}"/>
              </ns1:ext>
            </ns1:extLst>
          </ns0:cNvPr>
          <ns0:cNvSpPr>
            <ns1:spLocks noGrp="1"/>
          </ns0:cNvSpPr>
          <ns0:nvPr/>
        </ns0:nvSpPr>
        <ns0:spPr>
          <ns1:xfrm>
            <ns1:off x="9002649" y="3789045"/>
            <ns1:ext cx="451485" cy="0"/>
          </ns1:xfrm>
          <ns1:prstGeom prst="line">
            <ns1:avLst/>
          </ns1:prstGeom>
          <ns1:noFill/>
          <ns1:ln w="19050">
            <ns1:solidFill>
              <ns1:srgbClr val="E91D2B"/>
            </ns1:solidFill>
            <ns1:prstDash val="solid"/>
          </ns1:ln>
        </ns0:spPr>
      </ns0:sp>
      <ns0:sp>
        <ns0:nvSpPr>
          <ns0:cNvPr id="80" name="trace:S03:content.auto.71">
            <ns1:extLst>
              <ns1:ext uri="{FF2B5EF4-FFF2-40B4-BE49-F238E27FC236}">
                <ns2:creationId id="{5012DC5A-A424-401C-84DE-BC83B348EDD6}"/>
              </ns1:ext>
            </ns1:extLst>
          </ns0:cNvPr>
          <ns0:cNvSpPr>
            <ns1:spLocks noGrp="1"/>
          </ns0:cNvSpPr>
          <ns0:nvPr/>
        </ns0:nvSpPr>
        <ns0:spPr>
          <ns1:xfrm rot="2700000">
            <ns1:off x="9393936" y="3713798"/>
            <ns1:ext cx="135446" cy="135446"/>
          </ns1:xfrm>
          <ns1:prstGeom prst="triangl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81" name="trace:S03:content.auto.72">
            <ns1:extLst>
              <ns1:ext uri="{FF2B5EF4-FFF2-40B4-BE49-F238E27FC236}">
                <ns2:creationId id="{4130E7C1-B0C9-466E-A76E-F9771845F673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426720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82" name="trace:S03:content.auto.73">
            <ns1:extLst>
              <ns1:ext uri="{FF2B5EF4-FFF2-40B4-BE49-F238E27FC236}">
                <ns2:creationId id="{281FAECE-9F39-42E6-A28F-B987ECE2E00D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424815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業務効率化による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コスト削減</ns1:t>
            </ns1:r>
          </ns1:p>
        </ns0:txBody>
      </ns0:sp>
      <ns0:sp>
        <ns0:nvSpPr>
          <ns0:cNvPr id="83" name="trace:S03:content.auto.74">
            <ns1:extLst>
              <ns1:ext uri="{FF2B5EF4-FFF2-40B4-BE49-F238E27FC236}">
                <ns2:creationId id="{D5603B26-9DF0-4371-AA2C-850B02F32612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474345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84" name="trace:S03:content.auto.75">
            <ns1:extLst>
              <ns1:ext uri="{FF2B5EF4-FFF2-40B4-BE49-F238E27FC236}">
                <ns2:creationId id="{7C975F6F-6033-4EA6-A0D0-107EC3CDA7A9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472440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データに基づく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迅速な意思決定</ns1:t>
            </ns1:r>
          </ns1:p>
        </ns0:txBody>
      </ns0:sp>
      <ns0:sp>
        <ns0:nvSpPr>
          <ns0:cNvPr id="85" name="trace:S03:content.auto.76">
            <ns1:extLst>
              <ns1:ext uri="{FF2B5EF4-FFF2-40B4-BE49-F238E27FC236}">
                <ns2:creationId id="{852FB669-B099-40AD-AA9E-CCD5FA56DDC0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521970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86" name="trace:S03:content.auto.77">
            <ns1:extLst>
              <ns1:ext uri="{FF2B5EF4-FFF2-40B4-BE49-F238E27FC236}">
                <ns2:creationId id="{CA96B207-11DC-4E63-9430-9415EFC83616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520065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業務品質の向上と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内部統制の強化</ns1:t>
            </ns1:r>
          </ns1:p>
        </ns0:txBody>
      </ns0:sp>
      <ns0:sp>
        <ns0:nvSpPr>
          <ns0:cNvPr id="87" name="trace:S03:content.auto.78">
            <ns1:extLst>
              <ns1:ext uri="{FF2B5EF4-FFF2-40B4-BE49-F238E27FC236}">
                <ns2:creationId id="{240150B1-7C92-4D14-BBB7-9475F3CC7A45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569595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88" name="trace:S03:content.auto.79">
            <ns1:extLst>
              <ns1:ext uri="{FF2B5EF4-FFF2-40B4-BE49-F238E27FC236}">
                <ns2:creationId id="{A3FE176F-F414-490C-BE03-3D24A37AF172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567690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事業成長を支える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スケーラブルな基盤</ns1:t>
            </ns1:r>
          </ns1:p>
        </ns0:txBody>
      </ns0:sp>
      <ns0:sp>
        <ns0:nvSpPr>
          <ns0:cNvPr id="89" name="trace:S03:content.auto.80">
            <ns1:extLst>
              <ns1:ext uri="{FF2B5EF4-FFF2-40B4-BE49-F238E27FC236}">
                <ns2:creationId id="{E1E6357C-3B69-4D41-A931-4AFE9D59923C}"/>
              </ns1:ext>
            </ns1:extLst>
          </ns0:cNvPr>
          <ns0:cNvSpPr>
            <ns1:spLocks noGrp="1"/>
          </ns0:cNvSpPr>
          <ns0:nvPr/>
        </ns0:nvSpPr>
        <ns0:spPr>
          <ns1:xfrm>
            <ns1:off x="10553700" y="3486150"/>
            <ns1:ext cx="2457450" cy="2857500"/>
          </ns1:xfrm>
          <ns1:prstGeom prst="roundRect">
            <ns1:avLst>
              <ns1:gd name="adj" fmla="val 3101"/>
            </ns1:avLst>
          </ns1:prstGeom>
          <ns1:solidFill>
            <ns1:srgbClr val="FFFFFF"/>
          </ns1:solidFill>
          <ns1:ln w="9525">
            <ns1:solidFill>
              <ns1:srgbClr val="D8E0E7"/>
            </ns1:solidFill>
            <ns1:prstDash val="solid"/>
          </ns1:ln>
        </ns0:spPr>
      </ns0:sp>
      <ns0:sp>
        <ns0:nvSpPr>
          <ns0:cNvPr id="90" name="trace:S03:content.auto.81">
            <ns1:extLst>
              <ns1:ext uri="{FF2B5EF4-FFF2-40B4-BE49-F238E27FC236}">
                <ns2:creationId id="{E66EE83C-2EF4-4988-9C3A-16F3B85B4FE7}"/>
              </ns1:ext>
            </ns1:extLst>
          </ns0:cNvPr>
          <ns0:cNvSpPr>
            <ns1:spLocks noGrp="1"/>
          </ns0:cNvSpPr>
          <ns0:nvPr/>
        </ns0:nvSpPr>
        <ns0:spPr>
          <ns1:xfrm>
            <ns1:off x="11671745" y="3648075"/>
            <ns1:ext cx="108014" cy="108014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91" name="trace:S03:content.auto.82">
            <ns1:extLst>
              <ns1:ext uri="{FF2B5EF4-FFF2-40B4-BE49-F238E27FC236}">
                <ns2:creationId id="{8D6A123F-7867-4063-8942-02984993A1C3}"/>
              </ns1:ext>
            </ns1:extLst>
          </ns0:cNvPr>
          <ns0:cNvSpPr>
            <ns1:spLocks noGrp="1"/>
          </ns0:cNvSpPr>
          <ns0:nvPr/>
        </ns0:nvSpPr>
        <ns0:spPr>
          <ns1:xfrm>
            <ns1:off x="11515725" y="3732086"/>
            <ns1:ext cx="84011" cy="84011"/>
          </ns1:xfrm>
          <ns1:prstGeom prst="ellipse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2" name="trace:S03:content.auto.83">
            <ns1:extLst>
              <ns1:ext uri="{FF2B5EF4-FFF2-40B4-BE49-F238E27FC236}">
                <ns2:creationId id="{2286022B-46B2-403E-86AD-752FE8FF330E}"/>
              </ns1:ext>
            </ns1:extLst>
          </ns0:cNvPr>
          <ns0:cNvSpPr>
            <ns1:spLocks noGrp="1"/>
          </ns0:cNvSpPr>
          <ns0:nvPr/>
        </ns0:nvSpPr>
        <ns0:spPr>
          <ns1:xfrm>
            <ns1:off x="11839766" y="3732086"/>
            <ns1:ext cx="84011" cy="84011"/>
          </ns1:xfrm>
          <ns1:prstGeom prst="ellipse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3" name="trace:S03:content.auto.84">
            <ns1:extLst>
              <ns1:ext uri="{FF2B5EF4-FFF2-40B4-BE49-F238E27FC236}">
                <ns2:creationId id="{AA234097-9905-45CE-809A-08227FD46520}"/>
              </ns1:ext>
            </ns1:extLst>
          </ns0:cNvPr>
          <ns0:cNvSpPr>
            <ns1:spLocks noGrp="1"/>
          </ns0:cNvSpPr>
          <ns0:nvPr/>
        </ns0:nvSpPr>
        <ns0:spPr>
          <ns1:xfrm>
            <ns1:off x="11599736" y="3852101"/>
            <ns1:ext cx="252032" cy="180023"/>
          </ns1:xfrm>
          <ns1:prstGeom prst="arc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94" name="trace:S03:content.auto.85">
            <ns1:extLst>
              <ns1:ext uri="{FF2B5EF4-FFF2-40B4-BE49-F238E27FC236}">
                <ns2:creationId id="{CE0ACA8F-886C-437C-8A3C-B635A42FBBB1}"/>
              </ns1:ext>
            </ns1:extLst>
          </ns0:cNvPr>
          <ns0:cNvSpPr>
            <ns1:spLocks noGrp="1"/>
          </ns0:cNvSpPr>
          <ns0:nvPr/>
        </ns0:nvSpPr>
        <ns0:spPr>
          <ns1:xfrm>
            <ns1:off x="11479721" y="3864102"/>
            <ns1:ext cx="156020" cy="144018"/>
          </ns1:xfrm>
          <ns1:prstGeom prst="arc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5" name="trace:S03:content.auto.86">
            <ns1:extLst>
              <ns1:ext uri="{FF2B5EF4-FFF2-40B4-BE49-F238E27FC236}">
                <ns2:creationId id="{1415B4F1-5C4B-4B22-B98C-7C6D46DC2B07}"/>
              </ns1:ext>
            </ns1:extLst>
          </ns0:cNvPr>
          <ns0:cNvSpPr>
            <ns1:spLocks noGrp="1"/>
          </ns0:cNvSpPr>
          <ns0:nvPr/>
        </ns0:nvSpPr>
        <ns0:spPr>
          <ns1:xfrm>
            <ns1:off x="11815763" y="3864102"/>
            <ns1:ext cx="156020" cy="144018"/>
          </ns1:xfrm>
          <ns1:prstGeom prst="arc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6" name="trace:S03:content.auto.87">
            <ns1:extLst>
              <ns1:ext uri="{FF2B5EF4-FFF2-40B4-BE49-F238E27FC236}">
                <ns2:creationId id="{16DF763F-47F6-4D85-8490-EA7BE3DA0E27}"/>
              </ns1:ext>
            </ns1:extLst>
          </ns0:cNvPr>
          <ns0:cNvSpPr>
            <ns1:spLocks noGrp="1"/>
          </ns0:cNvSpPr>
          <ns0:nvPr/>
        </ns0:nvSpPr>
        <ns0:spPr>
          <ns1:xfrm>
            <ns1:off x="10696575" y="430530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97" name="trace:S03:content.auto.88">
            <ns1:extLst>
              <ns1:ext uri="{FF2B5EF4-FFF2-40B4-BE49-F238E27FC236}">
                <ns2:creationId id="{D97302CD-6A31-441A-AC2D-B4BA41DCAEDC}"/>
              </ns1:ext>
            </ns1:extLst>
          </ns0:cNvPr>
          <ns0:cNvSpPr>
            <ns1:spLocks noGrp="1"/>
          </ns0:cNvSpPr>
          <ns0:nvPr/>
        </ns0:nvSpPr>
        <ns0:spPr>
          <ns1:xfrm>
            <ns1:off x="10925175" y="428625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ERP導入の実行承認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初期投資の予算確保</ns1:t>
            </ns1:r>
          </ns1:p>
        </ns0:txBody>
      </ns0:sp>
      <ns0:sp>
        <ns0:nvSpPr>
          <ns0:cNvPr id="98" name="trace:S03:content.auto.89">
            <ns1:extLst>
              <ns1:ext uri="{FF2B5EF4-FFF2-40B4-BE49-F238E27FC236}">
                <ns2:creationId id="{987D9EBE-B96E-4D8C-BB63-38C729D9D93A}"/>
              </ns1:ext>
            </ns1:extLst>
          </ns0:cNvPr>
          <ns0:cNvSpPr>
            <ns1:spLocks noGrp="1"/>
          </ns0:cNvSpPr>
          <ns0:nvPr/>
        </ns0:nvSpPr>
        <ns0:spPr>
          <ns1:xfrm>
            <ns1:off x="10696575" y="4819650"/>
            <ns1:ext cx="1619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99" name="trace:S03:content.auto.90">
            <ns1:extLst>
              <ns1:ext uri="{FF2B5EF4-FFF2-40B4-BE49-F238E27FC236}">
                <ns2:creationId id="{49C4C8E9-AA3B-4C1B-B58B-6003158DECAB}"/>
              </ns1:ext>
            </ns1:extLst>
          </ns0:cNvPr>
          <ns0:cNvSpPr>
            <ns1:spLocks noGrp="1"/>
          </ns0:cNvSpPr>
          <ns0:nvPr/>
        </ns0:nvSpPr>
        <ns0:spPr>
          <ns1:xfrm>
            <ns1:off x="10925175" y="4800600"/>
            <ns1:ext cx="18669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全社的な推進体制の構築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導入スケジュールの確定</ns1:t>
            </ns1:r>
          </ns1:p>
        </ns0:txBody>
      </ns0:sp>
      <ns0:sp>
        <ns0:nvSpPr>
          <ns0:cNvPr id="100" name="trace:S03:content.auto.91">
            <ns1:extLst>
              <ns1:ext uri="{FF2B5EF4-FFF2-40B4-BE49-F238E27FC236}">
                <ns2:creationId id="{7CE7DCCA-90C9-4A7C-A609-CD86AE56CD89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343650"/>
            <ns1:ext cx="12954000" cy="723900"/>
          </ns1:xfrm>
          <ns1:prstGeom prst="rect">
            <ns1:avLst/>
          </ns1:prstGeom>
          <ns1:solidFill>
            <ns1:srgbClr val="FFF0F2"/>
          </ns1:solidFill>
          <ns1:ln w="9525">
            <ns1:solidFill>
              <ns1:srgbClr val="FFF0F2"/>
            </ns1:solidFill>
            <ns1:prstDash val="solid"/>
          </ns1:ln>
        </ns0:spPr>
      </ns0:sp>
      <ns0:sp>
        <ns0:nvSpPr>
          <ns0:cNvPr id="101" name="trace:S03:content.auto.92">
            <ns1:extLst>
              <ns1:ext uri="{FF2B5EF4-FFF2-40B4-BE49-F238E27FC236}">
                <ns2:creationId id="{49ABEF1D-9524-4750-AA7A-7F6FE65C92B4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343650"/>
            <ns1:ext cx="228600" cy="723900"/>
          </ns1:xfrm>
          <ns1:custGeom>
            <ns1:pathLst>
              <ns1:path w="228600" h="723900">
                <ns1:moveTo>
                  <ns1:pt x="0" y="0"/>
                </ns1:moveTo>
                <ns1:lnTo>
                  <ns1:pt x="171450" y="361950"/>
                </ns1:lnTo>
                <ns1:lnTo>
                  <ns1:pt x="0" y="723900"/>
                </ns1:lnTo>
                <ns1:close/>
              </ns1:path>
            </ns1:pathLst>
          </ns1:cu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02" name="trace:S03:content.auto.93">
            <ns1:extLst>
              <ns1:ext uri="{FF2B5EF4-FFF2-40B4-BE49-F238E27FC236}">
                <ns2:creationId id="{78B951CD-B5E8-43BD-B3D6-FB8AE1B72667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6572250"/>
            <ns1:ext cx="316706" cy="316706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3" name="trace:S03:content.auto.94">
            <ns1:extLst>
              <ns1:ext uri="{FF2B5EF4-FFF2-40B4-BE49-F238E27FC236}">
                <ns2:creationId id="{32C60221-439C-4945-AB3A-30B21B65E770}"/>
              </ns1:ext>
            </ns1:extLst>
          </ns0:cNvPr>
          <ns0:cNvSpPr>
            <ns1:spLocks noGrp="1"/>
          </ns0:cNvSpPr>
          <ns0:nvPr/>
        </ns0:nvSpPr>
        <ns0:spPr>
          <ns1:xfrm>
            <ns1:off x="948690" y="6644640"/>
            <ns1:ext cx="171926" cy="171926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4" name="trace:S03:content.auto.95">
            <ns1:extLst>
              <ns1:ext uri="{FF2B5EF4-FFF2-40B4-BE49-F238E27FC236}">
                <ns2:creationId id="{174076A0-8051-4B0E-BE55-766590181197}"/>
              </ns1:ext>
            </ns1:extLst>
          </ns0:cNvPr>
          <ns0:cNvSpPr>
            <ns1:spLocks noGrp="1"/>
          </ns0:cNvSpPr>
          <ns0:nvPr/>
        </ns0:nvSpPr>
        <ns0:spPr>
          <ns1:xfrm>
            <ns1:off x="1012031" y="6707981"/>
            <ns1:ext cx="45244" cy="45244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05" name="trace:S03:content.auto.96">
            <ns1:extLst>
              <ns1:ext uri="{FF2B5EF4-FFF2-40B4-BE49-F238E27FC236}">
                <ns2:creationId id="{5E528555-F70C-43AB-8206-F49B430E197F}"/>
              </ns1:ext>
            </ns1:extLst>
          </ns0:cNvPr>
          <ns0:cNvSpPr>
            <ns1:spLocks noGrp="1"/>
          </ns0:cNvSpPr>
          <ns0:nvPr/>
        </ns0:nvSpPr>
        <ns0:spPr>
          <ns1:xfrm>
            <ns1:off x="1039178" y="6726079"/>
            <ns1:ext cx="208121" cy="0"/>
          </ns1:xfrm>
          <ns1:prstGeom prst="line">
            <ns1:avLst/>
          </ns1:prstGeom>
          <ns1:noFill/>
          <ns1:ln w="19050">
            <ns1:solidFill>
              <ns1:srgbClr val="E91D2B"/>
            </ns1:solidFill>
            <ns1:prstDash val="solid"/>
          </ns1:ln>
        </ns0:spPr>
      </ns0:sp>
      <ns0:sp>
        <ns0:nvSpPr>
          <ns0:cNvPr id="106" name="trace:S03:content.auto.97">
            <ns1:extLst>
              <ns1:ext uri="{FF2B5EF4-FFF2-40B4-BE49-F238E27FC236}">
                <ns2:creationId id="{16FEE0BC-53FA-4366-8199-8711FFC7A9AC}"/>
              </ns1:ext>
            </ns1:extLst>
          </ns0:cNvPr>
          <ns0:cNvSpPr>
            <ns1:spLocks noGrp="1"/>
          </ns0:cNvSpPr>
          <ns0:nvPr/>
        </ns0:nvSpPr>
        <ns0:spPr>
          <ns1:xfrm>
            <ns1:off x="1400175" y="6515100"/>
            <ns1:ext cx="0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107" name="trace:S03:content.auto.98">
            <ns1:extLst>
              <ns1:ext uri="{FF2B5EF4-FFF2-40B4-BE49-F238E27FC236}">
                <ns2:creationId id="{11EE5999-47FB-431B-8E31-3ABB3D168E50}"/>
              </ns1:ext>
            </ns1:extLst>
          </ns0:cNvPr>
          <ns0:cNvSpPr>
            <ns1:spLocks noGrp="1"/>
          </ns0:cNvSpPr>
          <ns0:nvPr/>
        </ns0:nvSpPr>
        <ns0:spPr>
          <ns1:xfrm>
            <ns1:off x="1676400" y="6553200"/>
            <ns1:ext cx="11334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5000"/>
              </ns1:lnSpc>
              <ns1:buNone/>
              <ns1:defRPr sz="1650">
                <ns1:latin typeface="Yu Gothic UI"/>
                <ns1:ea typeface="Yu Gothic UI"/>
                <ns1:cs typeface="Yu Gothic UI"/>
              </ns1:defRPr>
            </ns1:pPr>
            <ns1:r>
              <ns1:rPr sz="16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ERP導入は、業務効率化にとどまらず、</ns1:t>
            </ns1:r>
            <ns1:r>
              <ns1:rPr sz="165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経営の可視化と事業成長を支える戦略的投資</ns1:t>
            </ns1:r>
            <ns1:r>
              <ns1:rPr sz="16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です。</ns1:t>
            </ns1:r>
          </ns1:p>
        </ns0:txBody>
      </ns0:sp>
      <ns0:sp>
        <ns0:nvSpPr>
          <ns0:cNvPr id="108" name="trace:S03:content.auto.99">
            <ns1:extLst>
              <ns1:ext uri="{FF2B5EF4-FFF2-40B4-BE49-F238E27FC236}">
                <ns2:creationId id="{B7E400C7-05E9-4831-B336-E2749DE6225C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7162800"/>
            <ns1:ext cx="12954000" cy="0"/>
          </ns1:xfrm>
          <ns1:prstGeom prst="line">
            <ns1:avLst/>
          </ns1:prstGeom>
          <ns1:noFill/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09" name="trace:S03:content.auto.100">
            <ns1:extLst>
              <ns1:ext uri="{FF2B5EF4-FFF2-40B4-BE49-F238E27FC236}">
                <ns2:creationId id="{AB56F87A-56D5-423F-85EA-31EC2A93B2A8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7296150"/>
            <ns1:ext cx="2667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03</ns1:t>
            </ns1:r>
          </ns1:p>
        </ns0:txBody>
      </ns0:sp>
      <ns0:sp>
        <ns0:nvSpPr>
          <ns0:cNvPr id="110" name="trace:S03:content.auto.101">
            <ns1:extLst>
              <ns1:ext uri="{FF2B5EF4-FFF2-40B4-BE49-F238E27FC236}">
                <ns2:creationId id="{926CC983-D9BB-466E-81AA-054A089C582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7286625"/>
            <ns1:ext cx="9525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111" name="trace:S03:content.auto.102">
            <ns1:extLst>
              <ns1:ext uri="{FF2B5EF4-FFF2-40B4-BE49-F238E27FC236}">
                <ns2:creationId id="{F360A630-B255-456D-A956-927CED91AB98}"/>
              </ns1:ext>
            </ns1:extLst>
          </ns0:cNvPr>
          <ns0:cNvSpPr>
            <ns1:spLocks noGrp="1"/>
          </ns0:cNvSpPr>
          <ns0:nvPr/>
        </ns0:nvSpPr>
        <ns0:spPr>
          <ns1:xfrm>
            <ns1:off x="934403" y="7219950"/>
            <ns1:ext cx="120015" cy="70009"/>
          </ns1:xfrm>
          <ns1:custGeom>
            <ns1:pathLst>
              <ns1:path w="120015" h="70009">
                <ns1:moveTo>
                  <ns1:pt x="60008" y="0"/>
                </ns1:moveTo>
                <ns1:lnTo>
                  <ns1:pt x="120015" y="35004"/>
                </ns1:lnTo>
                <ns1:lnTo>
                  <ns1:pt x="60008" y="70009"/>
                </ns1:lnTo>
                <ns1:lnTo>
                  <ns1:pt x="0" y="35004"/>
                </ns1:lnTo>
                <ns1:close/>
              </ns1:path>
            </ns1:pathLst>
          </ns1:custGeom>
          <ns1:solidFill>
            <ns1:srgbClr val="E91D2B"/>
          </ns1:solidFill>
          <ns1:ln w="0">
            <ns1:noFill/>
            <ns1:prstDash val="solid"/>
          </ns1:ln>
        </ns0:spPr>
      </ns0:sp>
      <ns0:sp>
        <ns0:nvSpPr>
          <ns0:cNvPr id="112" name="trace:S03:content.auto.103">
            <ns1:extLst>
              <ns1:ext uri="{FF2B5EF4-FFF2-40B4-BE49-F238E27FC236}">
                <ns2:creationId id="{696CD802-14B8-4678-9C2A-A29B8E722FFA}"/>
              </ns1:ext>
            </ns1:extLst>
          </ns0:cNvPr>
          <ns0:cNvSpPr>
            <ns1:spLocks noGrp="1"/>
          </ns0:cNvSpPr>
          <ns0:nvPr/>
        </ns0:nvSpPr>
        <ns0:spPr>
          <ns1:xfrm>
            <ns1:off x="934403" y="7289959"/>
            <ns1:ext cx="120015" cy="70009"/>
          </ns1:xfrm>
          <ns1:custGeom>
            <ns1:pathLst>
              <ns1:path w="120015" h="70009">
                <ns1:moveTo>
                  <ns1:pt x="60008" y="0"/>
                </ns1:moveTo>
                <ns1:lnTo>
                  <ns1:pt x="120015" y="35004"/>
                </ns1:lnTo>
                <ns1:lnTo>
                  <ns1:pt x="60008" y="70009"/>
                </ns1:lnTo>
                <ns1:lnTo>
                  <ns1:pt x="0" y="35004"/>
                </ns1:lnTo>
                <ns1:close/>
              </ns1:path>
            </ns1:pathLst>
          </ns1:custGeom>
          <ns1:solidFill>
            <ns1:srgbClr val="0D2238"/>
          </ns1:solidFill>
          <ns1:ln w="0">
            <ns1:noFill/>
            <ns1:prstDash val="solid"/>
          </ns1:ln>
        </ns0:spPr>
      </ns0:sp>
      <ns0:sp>
        <ns0:nvSpPr>
          <ns0:cNvPr id="113" name="trace:S03:content.auto.104">
            <ns1:extLst>
              <ns1:ext uri="{FF2B5EF4-FFF2-40B4-BE49-F238E27FC236}">
                <ns2:creationId id="{FB78541C-4ED3-420D-86C0-FE6E8CC0D78B}"/>
              </ns1:ext>
            </ns1:extLst>
          </ns0:cNvPr>
          <ns0:cNvSpPr>
            <ns1:spLocks noGrp="1"/>
          </ns0:cNvSpPr>
          <ns0:nvPr/>
        </ns0:nvSpPr>
        <ns0:spPr>
          <ns1:xfrm>
            <ns1:off x="934403" y="7359968"/>
            <ns1:ext cx="120015" cy="70009"/>
          </ns1:xfrm>
          <ns1:custGeom>
            <ns1:pathLst>
              <ns1:path w="120015" h="70009">
                <ns1:moveTo>
                  <ns1:pt x="60008" y="0"/>
                </ns1:moveTo>
                <ns1:lnTo>
                  <ns1:pt x="120015" y="35004"/>
                </ns1:lnTo>
                <ns1:lnTo>
                  <ns1:pt x="60008" y="70009"/>
                </ns1:lnTo>
                <ns1:lnTo>
                  <ns1:pt x="0" y="35004"/>
                </ns1:lnTo>
                <ns1:close/>
              </ns1:path>
            </ns1:pathLst>
          </ns1:custGeom>
          <ns1:solidFill>
            <ns1:srgbClr val="6D7781"/>
          </ns1:solidFill>
          <ns1:ln w="0">
            <ns1:noFill/>
            <ns1:prstDash val="solid"/>
          </ns1:ln>
        </ns0:spPr>
      </ns0:sp>
      <ns0:sp>
        <ns0:nvSpPr>
          <ns0:cNvPr id="114" name="trace:S03:footer.brand">
            <ns1:extLst>
              <ns1:ext uri="{FF2B5EF4-FFF2-40B4-BE49-F238E27FC236}">
                <ns2:creationId id="{B6145F98-8CFE-4190-94D3-0BCA336319F1}"/>
              </ns1:ext>
            </ns1:extLst>
          </ns0:cNvPr>
          <ns0:cNvSpPr>
            <ns1:spLocks noGrp="1"/>
          </ns0:cNvSpPr>
          <ns0:nvPr/>
        </ns0:nvSpPr>
        <ns0:spPr>
          <ns1:xfrm>
            <ns1:off x="1134428" y="7209949"/>
            <ns1:ext cx="1100138" cy="260033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提案クエスト</ns1:t>
            </ns1:r>
          </ns1:p>
        </ns0:txBody>
      </ns0:sp>
      <ns0:sp>
        <ns0:nvSpPr>
          <ns0:cNvPr id="115" name="trace:S03:content.auto.105">
            <ns1:extLst>
              <ns1:ext uri="{FF2B5EF4-FFF2-40B4-BE49-F238E27FC236}">
                <ns2:creationId id="{CB178E15-C1B7-463B-ADA9-E52ED3D6FEFE}"/>
              </ns1:ext>
            </ns1:extLst>
          </ns0:cNvPr>
          <ns0:cNvSpPr>
            <ns1:spLocks noGrp="1"/>
          </ns0:cNvSpPr>
          <ns0:nvPr/>
        </ns0:nvSpPr>
        <ns0:spPr>
          <ns1:xfrm>
            <ns1:off x="2114550" y="7286625"/>
            <ns1:ext cx="9525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116" name="trace:S03:content.auto.106">
            <ns1:extLst>
              <ns1:ext uri="{FF2B5EF4-FFF2-40B4-BE49-F238E27FC236}">
                <ns2:creationId id="{E466C3D1-C71A-4241-BB77-3913130B9A6C}"/>
              </ns1:ext>
            </ns1:extLst>
          </ns0:cNvPr>
          <ns0:cNvSpPr>
            <ns1:spLocks noGrp="1"/>
          </ns0:cNvSpPr>
          <ns0:nvPr/>
        </ns0:nvSpPr>
        <ns0:spPr>
          <ns1:xfrm>
            <ns1:off x="2305050" y="7181850"/>
            <ns1:ext cx="25717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その提案に、確かな一歩を。</ns1:t>
            </ns1:r>
          </ns1:p>
        </ns0:txBody>
      </ns0:sp>
      <ns0:sp>
        <ns0:nvSpPr>
          <ns0:cNvPr id="117" name="trace:S03:footer.tagline.en">
            <ns1:extLst>
              <ns1:ext uri="{FF2B5EF4-FFF2-40B4-BE49-F238E27FC236}">
                <ns2:creationId id="{A96E2429-9ABF-4FC8-A98B-510AC28704C1}"/>
              </ns1:ext>
            </ns1:extLst>
          </ns0:cNvPr>
          <ns0:cNvSpPr>
            <ns1:spLocks noGrp="1"/>
          </ns0:cNvSpPr>
          <ns0:nvPr/>
        </ns0:nvSpPr>
        <ns0:spPr>
          <ns1:xfrm>
            <ns1:off x="2305050" y="7353300"/>
            <ns1:ext cx="26670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Think Together, Create the Next.</ns1:t>
            </ns1:r>
          </ns1:p>
        </ns0:txBody>
      </ns0:sp>
      <ns0:sp>
        <ns0:nvSpPr>
          <ns0:cNvPr id="118" name="trace:S03:footer.brand.2">
            <ns1:extLst>
              <ns1:ext uri="{FF2B5EF4-FFF2-40B4-BE49-F238E27FC236}">
                <ns2:creationId id="{ACBC1542-EF83-4973-B40B-64CA31991544}"/>
              </ns1:ext>
            </ns1:extLst>
          </ns0:cNvPr>
          <ns0:cNvSpPr>
            <ns1:spLocks noGrp="1"/>
          </ns0:cNvSpPr>
          <ns0:nvPr/>
        </ns0:nvSpPr>
        <ns0:spPr>
          <ns1:xfrm>
            <ns1:off x="9715500" y="7296150"/>
            <ns1:ext cx="3619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© 2026 提案クエスト All Rights Reserved.</ns1:t>
            </ns1:r>
          </ns1:p>
        </ns0:txBody>
      </ns0:sp>
    </ns0:spTree>
    <ns0:extLst>
      <ns0:ext uri="{BB962C8B-B14F-4D97-AF65-F5344CB8AC3E}">
        <ns3:creationId val="201620245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2026-09-24T01:39:16.0160000Z</dcterms:created>
  <dcterms:modified xsi:type="dcterms:W3CDTF">2026-09-24T01:39:16.0160000Z</dcterms:modified>
</coreProperties>
</file>