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ac0fb5f0e94465" /><Relationship Type="http://schemas.openxmlformats.org/officeDocument/2006/relationships/extended-properties" Target="/docProps/app.xml" Id="R194cbbc95734498c" /><Relationship Type="http://schemas.openxmlformats.org/officeDocument/2006/relationships/officeDocument" Target="/ppt/presentation.xml" Id="Rd1125e1047b943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f1dcdca3e24a2e"/>
  </p:sldMasterIdLst>
  <p:notesMasterIdLst>
    <p:notesMasterId xmlns:r="http://schemas.openxmlformats.org/officeDocument/2006/relationships" r:id="R2c98470023344885"/>
  </p:notesMasterIdLst>
  <p:sldIdLst>
    <p:sldId xmlns:r="http://schemas.openxmlformats.org/officeDocument/2006/relationships" id="256" r:id="Rfeb18812603a4b67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04c02474cf4755" /><Relationship Type="http://schemas.openxmlformats.org/officeDocument/2006/relationships/slideMaster" Target="/ppt/slideMasters/slideMaster1.xml" Id="R9bf1dcdca3e24a2e" /><Relationship Type="http://schemas.openxmlformats.org/officeDocument/2006/relationships/notesMaster" Target="/ppt/notesMasters/notesMaster1.xml" Id="R2c98470023344885" /><Relationship Type="http://schemas.openxmlformats.org/officeDocument/2006/relationships/presProps" Target="/ppt/presProps.xml" Id="R850d7f548f97458a" /><Relationship Type="http://schemas.openxmlformats.org/officeDocument/2006/relationships/tableStyles" Target="/ppt/tableStyles.xml" Id="R7470888b310947a2" /><Relationship Type="http://schemas.openxmlformats.org/officeDocument/2006/relationships/slide" Target="/ppt/slides/slide1.xml" Id="Rfeb18812603a4b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7ddd0dcb0340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b8244d3f064d1e" /><Relationship Type="http://schemas.openxmlformats.org/officeDocument/2006/relationships/notesMaster" Target="/ppt/notesMasters/notesMaster1.xml" Id="Reca91b4046a74c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739645cd547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2bc7e901864748" /><Relationship Type="http://schemas.openxmlformats.org/officeDocument/2006/relationships/slideLayout" Target="/ppt/slideLayouts/slideLayout1.xml" Id="R6b02aa41dac746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02aa41dac746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c62f17e914d31" /><Relationship Type="http://schemas.openxmlformats.org/officeDocument/2006/relationships/notesSlide" Target="/ppt/notesSlides/notesSlide1.xml" Id="R44c4fb0fc63d451f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99" name="trace:S09:content.auto">
            <ns1:extLst>
              <ns1:ext uri="{FF2B5EF4-FFF2-40B4-BE49-F238E27FC236}">
                <ns2:creationId id="{FED9CA67-6E1D-46C1-A949-A30625C3CA5E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219075"/>
            <ns1:ext cx="342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09</ns1:t>
            </ns1:r>
          </ns1:p>
        </ns0:txBody>
      </ns0:sp>
      <ns0:sp>
        <ns0:nvSpPr>
          <ns0:cNvPr id="2" name="trace:S09:content.auto.2">
            <ns1:extLst>
              <ns1:ext uri="{FF2B5EF4-FFF2-40B4-BE49-F238E27FC236}">
                <ns2:creationId id="{404303A6-D74B-4990-8062-62E87BDA96EB}"/>
              </ns1:ext>
            </ns1:extLst>
          </ns0:cNvPr>
          <ns0:cNvSpPr>
            <ns1:spLocks noGrp="1"/>
          </ns0:cNvSpPr>
          <ns0:nvPr/>
        </ns0:nvSpPr>
        <ns0:spPr>
          <ns1:xfrm>
            <ns1:off x="771525" y="219075"/>
            <ns1:ext cx="9525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3" name="trace:S09:content.auto.3">
            <ns1:extLst>
              <ns1:ext uri="{FF2B5EF4-FFF2-40B4-BE49-F238E27FC236}">
                <ns2:creationId id="{1FCA6714-9D32-446B-845D-0156563A14EC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190500"/>
            <ns1:ext cx="2190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2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導入構成</ns1:t>
            </ns1:r>
          </ns1:p>
        </ns0:txBody>
      </ns0:sp>
      <ns0:sp>
        <ns0:nvSpPr>
          <ns0:cNvPr id="4" name="trace:S09:content.auto.4">
            <ns1:extLst>
              <ns1:ext uri="{FF2B5EF4-FFF2-40B4-BE49-F238E27FC236}">
                <ns2:creationId id="{E6B14D36-9457-454B-8E68-B27F47B3CCA1}"/>
              </ns1:ext>
            </ns1:extLst>
          </ns0:cNvPr>
          <ns0:cNvSpPr>
            <ns1:spLocks noGrp="1"/>
          </ns0:cNvSpPr>
          <ns0:nvPr/>
        </ns0:nvSpPr>
        <ns0:spPr>
          <ns1:xfrm>
            <ns1:off x="1943100" y="304800"/>
            <ns1:ext cx="10287000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5" name="trace:S09:title.primary">
            <ns1:extLst>
              <ns1:ext uri="{FF2B5EF4-FFF2-40B4-BE49-F238E27FC236}">
                <ns2:creationId id="{39FECA2E-928C-475D-AA76-0600C236ED19}"/>
              </ns1:ext>
            </ns1:extLst>
          </ns0:cNvPr>
          <ns0:cNvSpPr>
            <ns1:spLocks noGrp="1"/>
          </ns0:cNvSpPr>
          <ns0:nvPr/>
        </ns0:nvSpPr>
        <ns0:spPr>
          <ns1:xfrm>
            <ns1:off x="12001500" y="209550"/>
            <ns1:ext cx="133350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r">
              <ns1:lnSpc>
                <ns1:spcPct val="108000"/>
              </ns1:lnSpc>
              <ns1:buNone/>
              <ns1:defRPr sz="97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7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2025年6月22日</ns1:t>
            </ns1:r>
          </ns1:p>
        </ns0:txBody>
      </ns0:sp>
      <ns0:sp>
        <ns0:nvSpPr>
          <ns0:cNvPr id="6" name="trace:S09:content.auto.5">
            <ns1:extLst>
              <ns1:ext uri="{FF2B5EF4-FFF2-40B4-BE49-F238E27FC236}">
                <ns2:creationId id="{EE3B946A-1049-42B9-B392-2609BC371754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438150"/>
            <ns1:ext cx="228600" cy="0"/>
          </ns1:xfrm>
          <ns1:prstGeom prst="line">
            <ns1:avLst/>
          </ns1:prstGeom>
          <ns1:noFill/>
          <ns1:ln w="28575">
            <ns1:solidFill>
              <ns1:srgbClr val="0D2238"/>
            </ns1:solidFill>
            <ns1:prstDash val="solid"/>
          </ns1:ln>
        </ns0:spPr>
      </ns0:sp>
      <ns0:sp>
        <ns0:nvSpPr>
          <ns0:cNvPr id="7" name="trace:S09:title.primary.2">
            <ns1:extLst>
              <ns1:ext uri="{FF2B5EF4-FFF2-40B4-BE49-F238E27FC236}">
                <ns2:creationId id="{6B0164DD-4332-4E37-9274-0487F13381FB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609600"/>
            <ns1:ext cx="53340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5000"/>
              </ns1:lnSpc>
              <ns1:buNone/>
              <ns1:defRPr sz="3450">
                <ns1:latin typeface="Yu Gothic UI"/>
                <ns1:ea typeface="Yu Gothic UI"/>
                <ns1:cs typeface="Yu Gothic UI"/>
              </ns1:defRPr>
            </ns1:pPr>
            <ns1:r>
              <ns1:rPr sz="345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導入構成</ns1:t>
            </ns1:r>
            <ns1:r>
              <ns1:rPr sz="34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と全体像</ns1:t>
            </ns1:r>
          </ns1:p>
        </ns0:txBody>
      </ns0:sp>
      <ns0:sp>
        <ns0:nvSpPr>
          <ns0:cNvPr id="8" name="trace:S09:title.primary.3">
            <ns1:extLst>
              <ns1:ext uri="{FF2B5EF4-FFF2-40B4-BE49-F238E27FC236}">
                <ns2:creationId id="{651FE2AD-93A6-44D6-8BB8-5755A1B30EA7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1304925"/>
            <ns1:ext cx="125730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5000"/>
              </ns1:lnSpc>
              <ns1:buNone/>
              <ns1:defRPr sz="1425">
                <ns1:latin typeface="Yu Gothic UI"/>
                <ns1:ea typeface="Yu Gothic UI"/>
                <ns1:cs typeface="Yu Gothic UI"/>
              </ns1:defRPr>
            </ns1:pPr>
            <ns1:r>
              <ns1:rPr sz="1425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業務の標準化・データの一元管理により、部門間の連携を強化し、</ns1:t>
            </ns1:r>
            <ns1:r>
              <ns1:rPr sz="142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効率的で拡張性の高いERP基盤</ns1:t>
            </ns1:r>
            <ns1:r>
              <ns1:rPr sz="1425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を構築します。</ns1:t>
            </ns1:r>
          </ns1:p>
        </ns0:txBody>
      </ns0:sp>
      <ns0:sp>
        <ns0:nvSpPr>
          <ns0:cNvPr id="9" name="trace:S09:content.auto.6">
            <ns1:extLst>
              <ns1:ext uri="{FF2B5EF4-FFF2-40B4-BE49-F238E27FC236}">
                <ns2:creationId id="{D7211193-D48A-4D73-9071-CD605A6220E9}"/>
              </ns1:ext>
            </ns1:extLst>
          </ns0:cNvPr>
          <ns0:cNvSpPr>
            <ns1:spLocks noGrp="1"/>
          </ns0:cNvSpPr>
          <ns0:nvPr/>
        </ns0:nvSpPr>
        <ns0:spPr>
          <ns1:xfrm>
            <ns1:off x="304800" y="1685925"/>
            <ns1:ext cx="3524250" cy="2990850"/>
          </ns1:xfrm>
          <ns1:prstGeom prst="roundRect">
            <ns1:avLst>
              <ns1:gd name="adj" fmla="val 2548"/>
            </ns1:avLst>
          </ns1:prstGeom>
          <ns1:solidFill>
            <ns1:srgbClr val="FFF0F2"/>
          </ns1:solidFill>
          <ns1:ln w="9525">
            <ns1:solidFill>
              <ns1:srgbClr val="FFF0F2"/>
            </ns1:solidFill>
            <ns1:prstDash val="solid"/>
          </ns1:ln>
        </ns0:spPr>
      </ns0:sp>
      <ns0:sp>
        <ns0:nvSpPr>
          <ns0:cNvPr id="10" name="trace:S09:content.auto.7">
            <ns1:extLst>
              <ns1:ext uri="{FF2B5EF4-FFF2-40B4-BE49-F238E27FC236}">
                <ns2:creationId id="{CC0650E5-745E-4343-A26E-7557A8FE27A5}"/>
              </ns1:ext>
            </ns1:extLst>
          </ns0:cNvPr>
          <ns0:cNvSpPr>
            <ns1:spLocks noGrp="1"/>
          </ns0:cNvSpPr>
          <ns0:nvPr/>
        </ns0:nvSpPr>
        <ns0:spPr>
          <ns1:xfrm>
            <ns1:off x="304800" y="1685925"/>
            <ns1:ext cx="3524250" cy="400050"/>
          </ns1:xfrm>
          <ns1:prstGeom prst="rect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1" name="trace:S09:title.primary.4">
            <ns1:extLst>
              <ns1:ext uri="{FF2B5EF4-FFF2-40B4-BE49-F238E27FC236}">
                <ns2:creationId id="{519CDA80-BB62-4B9F-A732-10A53CFB014C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1743075"/>
            <ns1:ext cx="2952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4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対象業務（導入範囲）</ns1:t>
            </ns1:r>
          </ns1:p>
        </ns0:txBody>
      </ns0:sp>
      <ns0:sp>
        <ns0:nvSpPr>
          <ns0:cNvPr id="12" name="trace:S09:content.auto.8">
            <ns1:extLst>
              <ns1:ext uri="{FF2B5EF4-FFF2-40B4-BE49-F238E27FC236}">
                <ns2:creationId id="{E17CA3E5-9168-40AA-A182-D578F5CDD029}"/>
              </ns1:ext>
            </ns1:extLst>
          </ns0:cNvPr>
          <ns0:cNvSpPr>
            <ns1:spLocks noGrp="1"/>
          </ns0:cNvSpPr>
          <ns0:nvPr/>
        </ns0:nvSpPr>
        <ns0:spPr>
          <ns1:xfrm>
            <ns1:off x="428625" y="2143125"/>
            <ns1:ext cx="3276600" cy="438150"/>
          </ns1:xfrm>
          <ns1:prstGeom prst="roundRect">
            <ns1:avLst>
              <ns1:gd name="adj" fmla="val 17391"/>
            </ns1:avLst>
          </ns1:prstGeom>
          <ns1:solidFill>
            <ns1:srgbClr val="FFFFFF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13" name="trace:S09:content.auto.9">
            <ns1:extLst>
              <ns1:ext uri="{FF2B5EF4-FFF2-40B4-BE49-F238E27FC236}">
                <ns2:creationId id="{1BEF726B-4685-48FF-AAF2-63CD3AA8FDAB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2405634"/>
            <ns1:ext cx="48006" cy="82296"/>
          </ns1:xfrm>
          <ns1:prstGeom prst="rect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4" name="trace:S09:content.auto.10">
            <ns1:extLst>
              <ns1:ext uri="{FF2B5EF4-FFF2-40B4-BE49-F238E27FC236}">
                <ns2:creationId id="{23A4E868-0A31-4F05-A3BD-9BD6EB709E5A}"/>
              </ns1:ext>
            </ns1:extLst>
          </ns0:cNvPr>
          <ns0:cNvSpPr>
            <ns1:spLocks noGrp="1"/>
          </ns0:cNvSpPr>
          <ns0:nvPr/>
        </ns0:nvSpPr>
        <ns0:spPr>
          <ns1:xfrm>
            <ns1:off x="806196" y="2357628"/>
            <ns1:ext cx="48006" cy="130302"/>
          </ns1:xfrm>
          <ns1:prstGeom prst="rect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5" name="trace:S09:content.auto.11">
            <ns1:extLst>
              <ns1:ext uri="{FF2B5EF4-FFF2-40B4-BE49-F238E27FC236}">
                <ns2:creationId id="{35C6C4FD-6A8A-4385-8630-F4F2CF61AEF2}"/>
              </ns1:ext>
            </ns1:extLst>
          </ns0:cNvPr>
          <ns0:cNvSpPr>
            <ns1:spLocks noGrp="1"/>
          </ns0:cNvSpPr>
          <ns0:nvPr/>
        </ns0:nvSpPr>
        <ns0:spPr>
          <ns1:xfrm>
            <ns1:off x="888492" y="2302764"/>
            <ns1:ext cx="48006" cy="185166"/>
          </ns1:xfrm>
          <ns1:prstGeom prst="rect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6" name="trace:S09:content.auto.12">
            <ns1:extLst>
              <ns1:ext uri="{FF2B5EF4-FFF2-40B4-BE49-F238E27FC236}">
                <ns2:creationId id="{A1875256-5753-4AAF-B501-F0B54B1C9D7F}"/>
              </ns1:ext>
            </ns1:extLst>
          </ns0:cNvPr>
          <ns0:cNvSpPr>
            <ns1:spLocks noGrp="1"/>
          </ns0:cNvSpPr>
          <ns0:nvPr/>
        </ns0:nvSpPr>
        <ns0:spPr>
          <ns1:xfrm>
            <ns1:off x="710184" y="2487930"/>
            <ns1:ext cx="267462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7" name="trace:S09:content.auto.13">
            <ns1:extLst>
              <ns1:ext uri="{FF2B5EF4-FFF2-40B4-BE49-F238E27FC236}">
                <ns2:creationId id="{4CFB2CDD-B1EB-42C3-85A1-6E877E9EE8F0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2209800"/>
            <ns1:ext cx="1285875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0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販売管理</ns1:t>
            </ns1:r>
          </ns1:p>
        </ns0:txBody>
      </ns0:sp>
      <ns0:sp>
        <ns0:nvSpPr>
          <ns0:cNvPr id="18" name="trace:S09:title.primary.5">
            <ns1:extLst>
              <ns1:ext uri="{FF2B5EF4-FFF2-40B4-BE49-F238E27FC236}">
                <ns2:creationId id="{DD556C49-1053-4419-93AB-647AD7F4D031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2381250"/>
            <ns1:ext cx="238125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見積・受注・売上・請求</ns1:t>
            </ns1:r>
          </ns1:p>
        </ns0:txBody>
      </ns0:sp>
      <ns0:sp>
        <ns0:nvSpPr>
          <ns0:cNvPr id="19" name="trace:S09:content.auto.14">
            <ns1:extLst>
              <ns1:ext uri="{FF2B5EF4-FFF2-40B4-BE49-F238E27FC236}">
                <ns2:creationId id="{A6700F8D-CF80-4349-B2DE-7F4527661025}"/>
              </ns1:ext>
            </ns1:extLst>
          </ns0:cNvPr>
          <ns0:cNvSpPr>
            <ns1:spLocks noGrp="1"/>
          </ns0:cNvSpPr>
          <ns0:nvPr/>
        </ns0:nvSpPr>
        <ns0:spPr>
          <ns1:xfrm>
            <ns1:off x="428625" y="2657475"/>
            <ns1:ext cx="3276600" cy="438150"/>
          </ns1:xfrm>
          <ns1:prstGeom prst="roundRect">
            <ns1:avLst>
              <ns1:gd name="adj" fmla="val 17391"/>
            </ns1:avLst>
          </ns1:prstGeom>
          <ns1:solidFill>
            <ns1:srgbClr val="FFFFFF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20" name="trace:S09:content.auto.15">
            <ns1:extLst>
              <ns1:ext uri="{FF2B5EF4-FFF2-40B4-BE49-F238E27FC236}">
                <ns2:creationId id="{8D5A6A6C-45CE-45FC-9AC5-9B15D09EF84A}"/>
              </ns1:ext>
            </ns1:extLst>
          </ns0:cNvPr>
          <ns0:cNvSpPr>
            <ns1:spLocks noGrp="1"/>
          </ns0:cNvSpPr>
          <ns0:nvPr/>
        </ns0:nvSpPr>
        <ns0:spPr>
          <ns1:xfrm>
            <ns1:off x="733425" y="2788539"/>
            <ns1:ext cx="192024" cy="137160"/>
          </ns1:xfrm>
          <ns1:custGeom>
            <ns1:pathLst>
              <ns1:path w="192024" h="137160">
                <ns1:moveTo>
                  <ns1:pt x="0" y="48006"/>
                </ns1:moveTo>
                <ns1:lnTo>
                  <ns1:pt x="96012" y="0"/>
                </ns1:lnTo>
                <ns1:lnTo>
                  <ns1:pt x="192024" y="48006"/>
                </ns1:lnTo>
                <ns1:lnTo>
                  <ns1:pt x="96012" y="96012"/>
                </ns1:lnTo>
                <ns1:close/>
                <ns1:moveTo>
                  <ns1:pt x="0" y="48006"/>
                </ns1:moveTo>
                <ns1:lnTo>
                  <ns1:pt x="0" y="137160"/>
                </ns1:lnTo>
                <ns1:lnTo>
                  <ns1:pt x="96012" y="192024"/>
                </ns1:lnTo>
                <ns1:lnTo>
                  <ns1:pt x="96012" y="96012"/>
                </ns1:lnTo>
                <ns1:moveTo>
                  <ns1:pt x="192024" y="48006"/>
                </ns1:moveTo>
                <ns1:lnTo>
                  <ns1:pt x="192024" y="137160"/>
                </ns1:lnTo>
                <ns1:lnTo>
                  <ns1:pt x="96012" y="192024"/>
                </ns1:lnTo>
              </ns1:path>
            </ns1:pathLst>
          </ns1:cu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21" name="trace:S09:content.auto.16">
            <ns1:extLst>
              <ns1:ext uri="{FF2B5EF4-FFF2-40B4-BE49-F238E27FC236}">
                <ns2:creationId id="{C588B1E2-24C2-4C1D-AB21-29D7AFD3A81C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2724150"/>
            <ns1:ext cx="1285875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0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在庫管理</ns1:t>
            </ns1:r>
          </ns1:p>
        </ns0:txBody>
      </ns0:sp>
      <ns0:sp>
        <ns0:nvSpPr>
          <ns0:cNvPr id="22" name="trace:S09:title.primary.6">
            <ns1:extLst>
              <ns1:ext uri="{FF2B5EF4-FFF2-40B4-BE49-F238E27FC236}">
                <ns2:creationId id="{8ED0206E-A7BE-4142-BA84-43BD4C1739C6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2895600"/>
            <ns1:ext cx="238125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在庫・入出庫・棚卸</ns1:t>
            </ns1:r>
          </ns1:p>
        </ns0:txBody>
      </ns0:sp>
      <ns0:sp>
        <ns0:nvSpPr>
          <ns0:cNvPr id="23" name="trace:S09:content.auto.17">
            <ns1:extLst>
              <ns1:ext uri="{FF2B5EF4-FFF2-40B4-BE49-F238E27FC236}">
                <ns2:creationId id="{0D533A5F-AE34-46DD-98AF-77B35A8B196E}"/>
              </ns1:ext>
            </ns1:extLst>
          </ns0:cNvPr>
          <ns0:cNvSpPr>
            <ns1:spLocks noGrp="1"/>
          </ns0:cNvSpPr>
          <ns0:nvPr/>
        </ns0:nvSpPr>
        <ns0:spPr>
          <ns1:xfrm>
            <ns1:off x="428625" y="3171825"/>
            <ns1:ext cx="3276600" cy="438150"/>
          </ns1:xfrm>
          <ns1:prstGeom prst="roundRect">
            <ns1:avLst>
              <ns1:gd name="adj" fmla="val 17391"/>
            </ns1:avLst>
          </ns1:prstGeom>
          <ns1:solidFill>
            <ns1:srgbClr val="FFFFFF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24" name="trace:S09:content.auto.18">
            <ns1:extLst>
              <ns1:ext uri="{FF2B5EF4-FFF2-40B4-BE49-F238E27FC236}">
                <ns2:creationId id="{557C3F6F-92F5-46A8-9876-F2DC1E5C1600}"/>
              </ns1:ext>
            </ns1:extLst>
          </ns0:cNvPr>
          <ns0:cNvSpPr>
            <ns1:spLocks noGrp="1"/>
          </ns0:cNvSpPr>
          <ns0:nvPr/>
        </ns0:nvSpPr>
        <ns0:spPr>
          <ns1:xfrm>
            <ns1:off x="758190" y="3282315"/>
            <ns1:ext cx="150876" cy="150876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25" name="trace:S09:content.auto.19">
            <ns1:extLst>
              <ns1:ext uri="{FF2B5EF4-FFF2-40B4-BE49-F238E27FC236}">
                <ns2:creationId id="{7280BD80-2297-4081-AF43-18646DCA95B1}"/>
              </ns1:ext>
            </ns1:extLst>
          </ns0:cNvPr>
          <ns0:cNvSpPr>
            <ns1:spLocks noGrp="1"/>
          </ns0:cNvSpPr>
          <ns0:nvPr/>
        </ns0:nvSpPr>
        <ns0:spPr>
          <ns1:xfrm>
            <ns1:off x="806196" y="3330321"/>
            <ns1:ext cx="54864" cy="54864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26" name="trace:S09:content.auto.20">
            <ns1:extLst>
              <ns1:ext uri="{FF2B5EF4-FFF2-40B4-BE49-F238E27FC236}">
                <ns2:creationId id="{9A8E0E8C-ADC1-467D-92AD-0668952D941E}"/>
              </ns1:ext>
            </ns1:extLst>
          </ns0:cNvPr>
          <ns0:cNvSpPr>
            <ns1:spLocks noGrp="1"/>
          </ns0:cNvSpPr>
          <ns0:nvPr/>
        </ns0:nvSpPr>
        <ns0:spPr>
          <ns1:xfrm>
            <ns1:off x="819912" y="3248025"/>
            <ns1:ext cx="48006" cy="48006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27" name="trace:S09:content.auto.21">
            <ns1:extLst>
              <ns1:ext uri="{FF2B5EF4-FFF2-40B4-BE49-F238E27FC236}">
                <ns2:creationId id="{110DB077-A8ED-4F2C-A8FB-35743B47F876}"/>
              </ns1:ext>
            </ns1:extLst>
          </ns0:cNvPr>
          <ns0:cNvSpPr>
            <ns1:spLocks noGrp="1"/>
          </ns0:cNvSpPr>
          <ns0:nvPr/>
        </ns0:nvSpPr>
        <ns0:spPr>
          <ns1:xfrm>
            <ns1:off x="819912" y="3426333"/>
            <ns1:ext cx="48006" cy="48006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28" name="trace:S09:content.auto.22">
            <ns1:extLst>
              <ns1:ext uri="{FF2B5EF4-FFF2-40B4-BE49-F238E27FC236}">
                <ns2:creationId id="{2D247DC2-C5B9-406C-87DD-4C406FF9D9B9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3344037"/>
            <ns1:ext cx="48006" cy="48006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29" name="trace:S09:content.auto.23">
            <ns1:extLst>
              <ns1:ext uri="{FF2B5EF4-FFF2-40B4-BE49-F238E27FC236}">
                <ns2:creationId id="{63505A9C-661C-4EDA-85E1-E48E7BDF48F4}"/>
              </ns1:ext>
            </ns1:extLst>
          </ns0:cNvPr>
          <ns0:cNvSpPr>
            <ns1:spLocks noGrp="1"/>
          </ns0:cNvSpPr>
          <ns0:nvPr/>
        </ns0:nvSpPr>
        <ns0:spPr>
          <ns1:xfrm>
            <ns1:off x="915924" y="3344037"/>
            <ns1:ext cx="48006" cy="48006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30" name="trace:S09:content.auto.24">
            <ns1:extLst>
              <ns1:ext uri="{FF2B5EF4-FFF2-40B4-BE49-F238E27FC236}">
                <ns2:creationId id="{02634483-364D-4763-8171-F8E040943D87}"/>
              </ns1:ext>
            </ns1:extLst>
          </ns0:cNvPr>
          <ns0:cNvSpPr>
            <ns1:spLocks noGrp="1"/>
          </ns0:cNvSpPr>
          <ns0:nvPr/>
        </ns0:nvSpPr>
        <ns0:spPr>
          <ns1:xfrm>
            <ns1:off x="758190" y="3282315"/>
            <ns1:ext cx="48006" cy="48006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31" name="trace:S09:content.auto.25">
            <ns1:extLst>
              <ns1:ext uri="{FF2B5EF4-FFF2-40B4-BE49-F238E27FC236}">
                <ns2:creationId id="{A56F12AF-D921-4DBF-82DD-A0730792D47D}"/>
              </ns1:ext>
            </ns1:extLst>
          </ns0:cNvPr>
          <ns0:cNvSpPr>
            <ns1:spLocks noGrp="1"/>
          </ns0:cNvSpPr>
          <ns0:nvPr/>
        </ns0:nvSpPr>
        <ns0:spPr>
          <ns1:xfrm>
            <ns1:off x="881634" y="3282315"/>
            <ns1:ext cx="48006" cy="48006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32" name="trace:S09:content.auto.26">
            <ns1:extLst>
              <ns1:ext uri="{FF2B5EF4-FFF2-40B4-BE49-F238E27FC236}">
                <ns2:creationId id="{804B395B-402B-4DDD-80E2-6080DFBDC55C}"/>
              </ns1:ext>
            </ns1:extLst>
          </ns0:cNvPr>
          <ns0:cNvSpPr>
            <ns1:spLocks noGrp="1"/>
          </ns0:cNvSpPr>
          <ns0:nvPr/>
        </ns0:nvSpPr>
        <ns0:spPr>
          <ns1:xfrm>
            <ns1:off x="758190" y="3405759"/>
            <ns1:ext cx="48006" cy="48006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33" name="trace:S09:content.auto.27">
            <ns1:extLst>
              <ns1:ext uri="{FF2B5EF4-FFF2-40B4-BE49-F238E27FC236}">
                <ns2:creationId id="{371FD273-D3E4-43ED-B85F-7A44DEE3825F}"/>
              </ns1:ext>
            </ns1:extLst>
          </ns0:cNvPr>
          <ns0:cNvSpPr>
            <ns1:spLocks noGrp="1"/>
          </ns0:cNvSpPr>
          <ns0:nvPr/>
        </ns0:nvSpPr>
        <ns0:spPr>
          <ns1:xfrm>
            <ns1:off x="881634" y="3405759"/>
            <ns1:ext cx="48006" cy="48006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34" name="trace:S09:content.auto.28">
            <ns1:extLst>
              <ns1:ext uri="{FF2B5EF4-FFF2-40B4-BE49-F238E27FC236}">
                <ns2:creationId id="{B3BC57C0-71FC-492A-84E5-C82056B5BA61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3238500"/>
            <ns1:ext cx="1285875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0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購買管理</ns1:t>
            </ns1:r>
          </ns1:p>
        </ns0:txBody>
      </ns0:sp>
      <ns0:sp>
        <ns0:nvSpPr>
          <ns0:cNvPr id="35" name="trace:S09:content.auto.29">
            <ns1:extLst>
              <ns1:ext uri="{FF2B5EF4-FFF2-40B4-BE49-F238E27FC236}">
                <ns2:creationId id="{2A9EA6E7-4D4C-44FA-AADF-5171DFC91132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3409950"/>
            <ns1:ext cx="238125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発注・仕入・支払</ns1:t>
            </ns1:r>
          </ns1:p>
        </ns0:txBody>
      </ns0:sp>
      <ns0:sp>
        <ns0:nvSpPr>
          <ns0:cNvPr id="36" name="trace:S09:content.auto.30">
            <ns1:extLst>
              <ns1:ext uri="{FF2B5EF4-FFF2-40B4-BE49-F238E27FC236}">
                <ns2:creationId id="{02ABA606-9178-4AB4-9494-C53BFC37F4B7}"/>
              </ns1:ext>
            </ns1:extLst>
          </ns0:cNvPr>
          <ns0:cNvSpPr>
            <ns1:spLocks noGrp="1"/>
          </ns0:cNvSpPr>
          <ns0:nvPr/>
        </ns0:nvSpPr>
        <ns0:spPr>
          <ns1:xfrm>
            <ns1:off x="428625" y="3686175"/>
            <ns1:ext cx="3276600" cy="438150"/>
          </ns1:xfrm>
          <ns1:prstGeom prst="roundRect">
            <ns1:avLst>
              <ns1:gd name="adj" fmla="val 17391"/>
            </ns1:avLst>
          </ns1:prstGeom>
          <ns1:solidFill>
            <ns1:srgbClr val="FFFFFF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37" name="trace:S09:content.auto.31">
            <ns1:extLst>
              <ns1:ext uri="{FF2B5EF4-FFF2-40B4-BE49-F238E27FC236}">
                <ns2:creationId id="{3835C871-43B0-4912-9A79-80E36A7CC416}"/>
              </ns1:ext>
            </ns1:extLst>
          </ns0:cNvPr>
          <ns0:cNvSpPr>
            <ns1:spLocks noGrp="1"/>
          </ns0:cNvSpPr>
          <ns0:nvPr/>
        </ns0:nvSpPr>
        <ns0:spPr>
          <ns1:xfrm>
            <ns1:off x="813054" y="3762375"/>
            <ns1:ext cx="61722" cy="61722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38" name="trace:S09:content.auto.32">
            <ns1:extLst>
              <ns1:ext uri="{FF2B5EF4-FFF2-40B4-BE49-F238E27FC236}">
                <ns2:creationId id="{61D3A026-93CC-4235-B680-F9C4B627EAF7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3810381"/>
            <ns1:ext cx="48006" cy="48006"/>
          </ns1:xfrm>
          <ns1:prstGeom prst="ellipse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39" name="trace:S09:content.auto.33">
            <ns1:extLst>
              <ns1:ext uri="{FF2B5EF4-FFF2-40B4-BE49-F238E27FC236}">
                <ns2:creationId id="{0909B92B-1B87-4A20-9AA2-CC874448B56B}"/>
              </ns1:ext>
            </ns1:extLst>
          </ns0:cNvPr>
          <ns0:cNvSpPr>
            <ns1:spLocks noGrp="1"/>
          </ns0:cNvSpPr>
          <ns0:nvPr/>
        </ns0:nvSpPr>
        <ns0:spPr>
          <ns1:xfrm>
            <ns1:off x="909066" y="3810381"/>
            <ns1:ext cx="48006" cy="48006"/>
          </ns1:xfrm>
          <ns1:prstGeom prst="ellipse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40" name="trace:S09:content.auto.34">
            <ns1:extLst>
              <ns1:ext uri="{FF2B5EF4-FFF2-40B4-BE49-F238E27FC236}">
                <ns2:creationId id="{A4E35A98-F73F-4A2E-BD7D-613AC5AEEEFB}"/>
              </ns1:ext>
            </ns1:extLst>
          </ns0:cNvPr>
          <ns0:cNvSpPr>
            <ns1:spLocks noGrp="1"/>
          </ns0:cNvSpPr>
          <ns0:nvPr/>
        </ns0:nvSpPr>
        <ns0:spPr>
          <ns1:xfrm>
            <ns1:off x="771906" y="3878961"/>
            <ns1:ext cx="144018" cy="102870"/>
          </ns1:xfrm>
          <ns1:prstGeom prst="arc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41" name="trace:S09:content.auto.35">
            <ns1:extLst>
              <ns1:ext uri="{FF2B5EF4-FFF2-40B4-BE49-F238E27FC236}">
                <ns2:creationId id="{0AFB3732-27CE-4F5E-97C1-3FE040457D4E}"/>
              </ns1:ext>
            </ns1:extLst>
          </ns0:cNvPr>
          <ns0:cNvSpPr>
            <ns1:spLocks noGrp="1"/>
          </ns0:cNvSpPr>
          <ns0:nvPr/>
        </ns0:nvSpPr>
        <ns0:spPr>
          <ns1:xfrm>
            <ns1:off x="703326" y="3885819"/>
            <ns1:ext cx="89154" cy="82296"/>
          </ns1:xfrm>
          <ns1:prstGeom prst="arc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42" name="trace:S09:content.auto.36">
            <ns1:extLst>
              <ns1:ext uri="{FF2B5EF4-FFF2-40B4-BE49-F238E27FC236}">
                <ns2:creationId id="{94B6DF63-5043-4F00-8CE4-06BD8BECA79E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3885819"/>
            <ns1:ext cx="89154" cy="82296"/>
          </ns1:xfrm>
          <ns1:prstGeom prst="arc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43" name="trace:S09:content.auto.37">
            <ns1:extLst>
              <ns1:ext uri="{FF2B5EF4-FFF2-40B4-BE49-F238E27FC236}">
                <ns2:creationId id="{9E78B341-6070-44A8-9BCC-08CFFA6AE91E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3752850"/>
            <ns1:ext cx="1285875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0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生産管理</ns1:t>
            </ns1:r>
          </ns1:p>
        </ns0:txBody>
      </ns0:sp>
      <ns0:sp>
        <ns0:nvSpPr>
          <ns0:cNvPr id="44" name="trace:S09:content.auto.38">
            <ns1:extLst>
              <ns1:ext uri="{FF2B5EF4-FFF2-40B4-BE49-F238E27FC236}">
                <ns2:creationId id="{41476DD0-FB16-4F8B-A5D1-F0EE6A1689CA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3924300"/>
            <ns1:ext cx="238125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生産計画・工程・原価</ns1:t>
            </ns1:r>
          </ns1:p>
        </ns0:txBody>
      </ns0:sp>
      <ns0:sp>
        <ns0:nvSpPr>
          <ns0:cNvPr id="45" name="trace:S09:content.auto.39">
            <ns1:extLst>
              <ns1:ext uri="{FF2B5EF4-FFF2-40B4-BE49-F238E27FC236}">
                <ns2:creationId id="{752E098E-9578-4AD7-8DD7-BDC301D5AFF6}"/>
              </ns1:ext>
            </ns1:extLst>
          </ns0:cNvPr>
          <ns0:cNvSpPr>
            <ns1:spLocks noGrp="1"/>
          </ns0:cNvSpPr>
          <ns0:nvPr/>
        </ns0:nvSpPr>
        <ns0:spPr>
          <ns1:xfrm>
            <ns1:off x="428625" y="4200525"/>
            <ns1:ext cx="3276600" cy="438150"/>
          </ns1:xfrm>
          <ns1:prstGeom prst="roundRect">
            <ns1:avLst>
              <ns1:gd name="adj" fmla="val 17391"/>
            </ns1:avLst>
          </ns1:prstGeom>
          <ns1:solidFill>
            <ns1:srgbClr val="FFFFFF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46" name="trace:S09:content.auto.40">
            <ns1:extLst>
              <ns1:ext uri="{FF2B5EF4-FFF2-40B4-BE49-F238E27FC236}">
                <ns2:creationId id="{D7924C21-4F24-43D2-99E8-79A5B4BA41F4}"/>
              </ns1:ext>
            </ns1:extLst>
          </ns0:cNvPr>
          <ns0:cNvSpPr>
            <ns1:spLocks noGrp="1"/>
          </ns0:cNvSpPr>
          <ns0:nvPr/>
        </ns0:nvSpPr>
        <ns0:spPr>
          <ns1:xfrm>
            <ns1:off x="733425" y="4267200"/>
            <ns1:ext cx="167640" cy="228600"/>
          </ns1:xfrm>
          <ns1:prstGeom prst="rect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47" name="trace:S09:content.auto.41">
            <ns1:extLst>
              <ns1:ext uri="{FF2B5EF4-FFF2-40B4-BE49-F238E27FC236}">
                <ns2:creationId id="{875FEB83-5F1B-4CFA-9CB8-E9CB88545EC2}"/>
              </ns1:ext>
            </ns1:extLst>
          </ns0:cNvPr>
          <ns0:cNvSpPr>
            <ns1:spLocks noGrp="1"/>
          </ns0:cNvSpPr>
          <ns0:nvPr/>
        </ns0:nvSpPr>
        <ns0:spPr>
          <ns1:xfrm>
            <ns1:off x="771525" y="4373880"/>
            <ns1:ext cx="91440" cy="0"/>
          </ns1:xfrm>
          <ns1:prstGeom prst="line">
            <ns1:avLst/>
          </ns1:prstGeom>
          <ns1:noFill/>
          <ns1:ln w="14288">
            <ns1:solidFill>
              <ns1:srgbClr val="0D2238"/>
            </ns1:solidFill>
            <ns1:prstDash val="solid"/>
          </ns1:ln>
        </ns0:spPr>
      </ns0:sp>
      <ns0:sp>
        <ns0:nvSpPr>
          <ns0:cNvPr id="48" name="trace:S09:content.auto.42">
            <ns1:extLst>
              <ns1:ext uri="{FF2B5EF4-FFF2-40B4-BE49-F238E27FC236}">
                <ns2:creationId id="{E8E65A8C-1CBB-4D50-9556-4712CDD634AD}"/>
              </ns1:ext>
            </ns1:extLst>
          </ns0:cNvPr>
          <ns0:cNvSpPr>
            <ns1:spLocks noGrp="1"/>
          </ns0:cNvSpPr>
          <ns0:nvPr/>
        </ns0:nvSpPr>
        <ns0:spPr>
          <ns1:xfrm>
            <ns1:off x="771525" y="4419600"/>
            <ns1:ext cx="91440" cy="0"/>
          </ns1:xfrm>
          <ns1:prstGeom prst="line">
            <ns1:avLst/>
          </ns1:prstGeom>
          <ns1:noFill/>
          <ns1:ln w="14288">
            <ns1:solidFill>
              <ns1:srgbClr val="0D2238"/>
            </ns1:solidFill>
            <ns1:prstDash val="solid"/>
          </ns1:ln>
        </ns0:spPr>
      </ns0:sp>
      <ns0:sp>
        <ns0:nvSpPr>
          <ns0:cNvPr id="49" name="trace:S09:content.auto.43">
            <ns1:extLst>
              <ns1:ext uri="{FF2B5EF4-FFF2-40B4-BE49-F238E27FC236}">
                <ns2:creationId id="{DA0AD119-CC57-4440-92DD-A0D5C27E01B6}"/>
              </ns1:ext>
            </ns1:extLst>
          </ns0:cNvPr>
          <ns0:cNvSpPr>
            <ns1:spLocks noGrp="1"/>
          </ns0:cNvSpPr>
          <ns0:nvPr/>
        </ns0:nvSpPr>
        <ns0:spPr>
          <ns1:xfrm>
            <ns1:off x="847725" y="4267200"/>
            <ns1:ext cx="53340" cy="53340"/>
          </ns1:xfrm>
          <ns1:prstGeom prst="line">
            <ns1:avLst/>
          </ns1:prstGeom>
          <ns1:noFill/>
          <ns1:ln w="14288">
            <ns1:solidFill>
              <ns1:srgbClr val="0D2238"/>
            </ns1:solidFill>
            <ns1:prstDash val="solid"/>
          </ns1:ln>
        </ns0:spPr>
      </ns0:sp>
      <ns0:sp>
        <ns0:nvSpPr>
          <ns0:cNvPr id="50" name="trace:S09:content.auto.44">
            <ns1:extLst>
              <ns1:ext uri="{FF2B5EF4-FFF2-40B4-BE49-F238E27FC236}">
                <ns2:creationId id="{8F444DAD-A5F1-480E-B158-39B66D96523A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4267200"/>
            <ns1:ext cx="1285875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0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会計管理</ns1:t>
            </ns1:r>
          </ns1:p>
        </ns0:txBody>
      </ns0:sp>
      <ns0:sp>
        <ns0:nvSpPr>
          <ns0:cNvPr id="51" name="trace:S09:content.auto.45">
            <ns1:extLst>
              <ns1:ext uri="{FF2B5EF4-FFF2-40B4-BE49-F238E27FC236}">
                <ns2:creationId id="{1D0BEE53-7EFB-464E-8E93-F2CC276C2FD1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4438650"/>
            <ns1:ext cx="238125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財務・管理会計・レポート</ns1:t>
            </ns1:r>
          </ns1:p>
        </ns0:txBody>
      </ns0:sp>
      <ns0:sp>
        <ns0:nvSpPr>
          <ns0:cNvPr id="52" name="trace:S09:content.auto.46">
            <ns1:extLst>
              <ns1:ext uri="{FF2B5EF4-FFF2-40B4-BE49-F238E27FC236}">
                <ns2:creationId id="{BCC6CF6A-B2F8-4957-A27A-4C856F606DFA}"/>
              </ns1:ext>
            </ns1:extLst>
          </ns0:cNvPr>
          <ns0:cNvSpPr>
            <ns1:spLocks noGrp="1"/>
          </ns0:cNvSpPr>
          <ns0:nvPr/>
        </ns0:nvSpPr>
        <ns0:spPr>
          <ns1:xfrm>
            <ns1:off x="3829050" y="2505075"/>
            <ns1:ext cx="838200" cy="552450"/>
          </ns1:xfrm>
          <ns1:custGeom>
            <ns1:pathLst>
              <ns1:path w="838200" h="552450">
                <ns1:moveTo>
                  <ns1:pt x="0" y="0"/>
                </ns1:moveTo>
                <ns1:lnTo>
                  <ns1:pt x="581025" y="0"/>
                </ns1:lnTo>
                <ns1:lnTo>
                  <ns1:pt x="838200" y="276225"/>
                </ns1:lnTo>
                <ns1:lnTo>
                  <ns1:pt x="581025" y="552450"/>
                </ns1:lnTo>
                <ns1:lnTo>
                  <ns1:pt x="0" y="552450"/>
                </ns1:lnTo>
                <ns1:lnTo>
                  <ns1:pt x="128588" y="276225"/>
                </ns1:lnTo>
                <ns1:close/>
              </ns1:path>
            </ns1:pathLst>
          </ns1:custGeom>
          <ns1:solidFill>
            <ns1:srgbClr val="0D2238"/>
          </ns1:solidFill>
          <ns1:ln w="9525">
            <ns1:solidFill>
              <ns1:srgbClr val="0D2238"/>
            </ns1:solidFill>
            <ns1:prstDash val="solid"/>
          </ns1:ln>
        </ns0:spPr>
      </ns0:sp>
      <ns0:sp>
        <ns0:nvSpPr>
          <ns0:cNvPr id="53" name="trace:S09:content.auto.47">
            <ns1:extLst>
              <ns1:ext uri="{FF2B5EF4-FFF2-40B4-BE49-F238E27FC236}">
                <ns2:creationId id="{ABA981C4-983E-4981-A333-90DA1E2A3D3E}"/>
              </ns1:ext>
            </ns1:extLst>
          </ns0:cNvPr>
          <ns0:cNvSpPr>
            <ns1:spLocks noGrp="1"/>
          </ns0:cNvSpPr>
          <ns0:nvPr/>
        </ns0:nvSpPr>
        <ns0:spPr>
          <ns1:xfrm>
            <ns1:off x="3886200" y="2647950"/>
            <ns1:ext cx="6858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90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0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業務データ</ns1:t>
            </ns1:r>
          </ns1:p>
        </ns0:txBody>
      </ns0:sp>
      <ns0:sp>
        <ns0:nvSpPr>
          <ns0:cNvPr id="54" name="trace:S09:content.auto.48">
            <ns1:extLst>
              <ns1:ext uri="{FF2B5EF4-FFF2-40B4-BE49-F238E27FC236}">
                <ns2:creationId id="{0A5A9144-314C-4EE8-A80A-C0106C2EF487}"/>
              </ns1:ext>
            </ns1:extLst>
          </ns0:cNvPr>
          <ns0:cNvSpPr>
            <ns1:spLocks noGrp="1"/>
          </ns0:cNvSpPr>
          <ns0:nvPr/>
        </ns0:nvSpPr>
        <ns0:spPr>
          <ns1:xfrm>
            <ns1:off x="3829050" y="3171825"/>
            <ns1:ext cx="838200" cy="552450"/>
          </ns1:xfrm>
          <ns1:custGeom>
            <ns1:pathLst>
              <ns1:path w="838200" h="552450">
                <ns1:moveTo>
                  <ns1:pt x="0" y="0"/>
                </ns1:moveTo>
                <ns1:lnTo>
                  <ns1:pt x="581025" y="0"/>
                </ns1:lnTo>
                <ns1:lnTo>
                  <ns1:pt x="838200" y="276225"/>
                </ns1:lnTo>
                <ns1:lnTo>
                  <ns1:pt x="581025" y="552450"/>
                </ns1:lnTo>
                <ns1:lnTo>
                  <ns1:pt x="0" y="552450"/>
                </ns1:lnTo>
                <ns1:lnTo>
                  <ns1:pt x="128588" y="276225"/>
                </ns1:lnTo>
                <ns1:close/>
              </ns1:path>
            </ns1:pathLst>
          </ns1:cu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55" name="trace:S09:content.auto.49">
            <ns1:extLst>
              <ns1:ext uri="{FF2B5EF4-FFF2-40B4-BE49-F238E27FC236}">
                <ns2:creationId id="{17A20399-548E-489F-814E-6F24431C4C42}"/>
              </ns1:ext>
            </ns1:extLst>
          </ns0:cNvPr>
          <ns0:cNvSpPr>
            <ns1:spLocks noGrp="1"/>
          </ns0:cNvSpPr>
          <ns0:nvPr/>
        </ns0:nvSpPr>
        <ns0:spPr>
          <ns1:xfrm>
            <ns1:off x="3886200" y="3248025"/>
            <ns1:ext cx="6858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8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業務プロセス</ns1:t>
            </ns1:r>
          </ns1:p>
          <ns1:p>
            <ns1:pPr algn="ctr">
              <ns1:lnSpc>
                <ns1:spcPct val="108000"/>
              </ns1:lnSpc>
              <ns1:buNone/>
              <ns1:defRPr sz="8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標準化</ns1:t>
            </ns1:r>
          </ns1:p>
        </ns0:txBody>
      </ns0:sp>
      <ns0:sp>
        <ns0:nvSpPr>
          <ns0:cNvPr id="56" name="trace:S09:content.auto.50">
            <ns1:extLst>
              <ns1:ext uri="{FF2B5EF4-FFF2-40B4-BE49-F238E27FC236}">
                <ns2:creationId id="{CA47248F-FD3E-4249-8C02-AE3381DAEC33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1657350"/>
            <ns1:ext cx="4381500" cy="3048000"/>
          </ns1:xfrm>
          <ns1:prstGeom prst="roundRect">
            <ns1:avLst>
              <ns1:gd name="adj" fmla="val 2500"/>
            </ns1:avLst>
          </ns1:prstGeom>
          <ns1:solidFill>
            <ns1:srgbClr val="F4F7F9"/>
          </ns1:solidFill>
          <ns1:ln w="9525">
            <ns1:solidFill>
              <ns1:srgbClr val="AFC2D4"/>
            </ns1:solidFill>
            <ns1:prstDash val="solid"/>
          </ns1:ln>
        </ns0:spPr>
      </ns0:sp>
      <ns0:sp>
        <ns0:nvSpPr>
          <ns0:cNvPr id="57" name="trace:S09:content.auto.51">
            <ns1:extLst>
              <ns1:ext uri="{FF2B5EF4-FFF2-40B4-BE49-F238E27FC236}">
                <ns2:creationId id="{8C9638B9-8E3C-4F5F-B031-C91E497A38D2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1657350"/>
            <ns1:ext cx="4381500" cy="438150"/>
          </ns1:xfrm>
          <ns1:prstGeom prst="rect">
            <ns1:avLst/>
          </ns1:prstGeom>
          <ns1:solidFill>
            <ns1:srgbClr val="0D2238"/>
          </ns1:solidFill>
          <ns1:ln w="9525">
            <ns1:solidFill>
              <ns1:srgbClr val="0D2238"/>
            </ns1:solidFill>
            <ns1:prstDash val="solid"/>
          </ns1:ln>
        </ns0:spPr>
      </ns0:sp>
      <ns0:sp>
        <ns0:nvSpPr>
          <ns0:cNvPr id="58" name="trace:S09:content.auto.52">
            <ns1:extLst>
              <ns1:ext uri="{FF2B5EF4-FFF2-40B4-BE49-F238E27FC236}">
                <ns2:creationId id="{627C75D4-258E-4A3C-899C-85DECEE47575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1714500"/>
            <ns1:ext cx="43815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7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7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ERP基盤</ns1:t>
            </ns1:r>
          </ns1:p>
        </ns0:txBody>
      </ns0:sp>
      <ns0:sp>
        <ns0:nvSpPr>
          <ns0:cNvPr id="59" name="trace:S09:content.auto.53">
            <ns1:extLst>
              <ns1:ext uri="{FF2B5EF4-FFF2-40B4-BE49-F238E27FC236}">
                <ns2:creationId id="{2C6E739B-91EE-4F20-9EAE-F73C01F178C7}"/>
              </ns1:ext>
            </ns1:extLst>
          </ns0:cNvPr>
          <ns0:cNvSpPr>
            <ns1:spLocks noGrp="1"/>
          </ns0:cNvSpPr>
          <ns0:nvPr/>
        </ns0:nvSpPr>
        <ns0:spPr>
          <ns1:xfrm>
            <ns1:off x="4905375" y="2143125"/>
            <ns1:ext cx="1257300" cy="1257300"/>
          </ns1:xfrm>
          <ns1:prstGeom prst="ellipse">
            <ns1:avLst/>
          </ns1:prstGeom>
          <ns1:solidFill>
            <ns1:srgbClr val="EAF1F7"/>
          </ns1:solidFill>
          <ns1:ln w="9525">
            <ns1:solidFill>
              <ns1:srgbClr val="EAF1F7"/>
            </ns1:solidFill>
            <ns1:prstDash val="solid"/>
          </ns1:ln>
        </ns0:spPr>
      </ns0:sp>
      <ns0:sp>
        <ns0:nvSpPr>
          <ns0:cNvPr id="60" name="trace:S09:content.auto.54">
            <ns1:extLst>
              <ns1:ext uri="{FF2B5EF4-FFF2-40B4-BE49-F238E27FC236}">
                <ns2:creationId id="{3CA2F7FB-97A9-4899-B5D8-06FAD8D8685A}"/>
              </ns1:ext>
            </ns1:extLst>
          </ns0:cNvPr>
          <ns0:cNvSpPr>
            <ns1:spLocks noGrp="1"/>
          </ns0:cNvSpPr>
          <ns0:nvPr/>
        </ns0:nvSpPr>
        <ns0:spPr>
          <ns1:xfrm>
            <ns1:off x="5305425" y="2514600"/>
            <ns1:ext cx="329184" cy="109728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61" name="trace:S09:content.auto.55">
            <ns1:extLst>
              <ns1:ext uri="{FF2B5EF4-FFF2-40B4-BE49-F238E27FC236}">
                <ns2:creationId id="{0CE90131-E15B-46DF-870C-B96AF36ECE99}"/>
              </ns1:ext>
            </ns1:extLst>
          </ns0:cNvPr>
          <ns0:cNvSpPr>
            <ns1:spLocks noGrp="1"/>
          </ns0:cNvSpPr>
          <ns0:nvPr/>
        </ns0:nvSpPr>
        <ns0:spPr>
          <ns1:xfrm>
            <ns1:off x="5305425" y="2697480"/>
            <ns1:ext cx="329184" cy="109728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62" name="trace:S09:content.auto.56">
            <ns1:extLst>
              <ns1:ext uri="{FF2B5EF4-FFF2-40B4-BE49-F238E27FC236}">
                <ns2:creationId id="{F1DF0E34-7469-4F12-9CFB-4B869CFCCA12}"/>
              </ns1:ext>
            </ns1:extLst>
          </ns0:cNvPr>
          <ns0:cNvSpPr>
            <ns1:spLocks noGrp="1"/>
          </ns0:cNvSpPr>
          <ns0:nvPr/>
        </ns0:nvSpPr>
        <ns0:spPr>
          <ns1:xfrm>
            <ns1:off x="5305425" y="2569464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63" name="trace:S09:content.auto.57">
            <ns1:extLst>
              <ns1:ext uri="{FF2B5EF4-FFF2-40B4-BE49-F238E27FC236}">
                <ns2:creationId id="{0C109953-FC10-405E-9866-6C874FA9AFAC}"/>
              </ns1:ext>
            </ns1:extLst>
          </ns0:cNvPr>
          <ns0:cNvSpPr>
            <ns1:spLocks noGrp="1"/>
          </ns0:cNvSpPr>
          <ns0:nvPr/>
        </ns0:nvSpPr>
        <ns0:spPr>
          <ns1:xfrm>
            <ns1:off x="5634609" y="2569464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64" name="trace:S09:content.auto.58">
            <ns1:extLst>
              <ns1:ext uri="{FF2B5EF4-FFF2-40B4-BE49-F238E27FC236}">
                <ns2:creationId id="{A3EDAE83-A7D2-487D-B552-98052B60A38A}"/>
              </ns1:ext>
            </ns1:extLst>
          </ns0:cNvPr>
          <ns0:cNvSpPr>
            <ns1:spLocks noGrp="1"/>
          </ns0:cNvSpPr>
          <ns0:nvPr/>
        </ns0:nvSpPr>
        <ns0:spPr>
          <ns1:xfrm>
            <ns1:off x="5305425" y="2752344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65" name="trace:S09:content.auto.59">
            <ns1:extLst>
              <ns1:ext uri="{FF2B5EF4-FFF2-40B4-BE49-F238E27FC236}">
                <ns2:creationId id="{3934AF4D-688F-4450-9D69-C8F5308882D2}"/>
              </ns1:ext>
            </ns1:extLst>
          </ns0:cNvPr>
          <ns0:cNvSpPr>
            <ns1:spLocks noGrp="1"/>
          </ns0:cNvSpPr>
          <ns0:nvPr/>
        </ns0:nvSpPr>
        <ns0:spPr>
          <ns1:xfrm>
            <ns1:off x="5634609" y="2752344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66" name="trace:S09:content.auto.60">
            <ns1:extLst>
              <ns1:ext uri="{FF2B5EF4-FFF2-40B4-BE49-F238E27FC236}">
                <ns2:creationId id="{ABCCABCC-6165-4714-B718-A11AE15D0360}"/>
              </ns1:ext>
            </ns1:extLst>
          </ns0:cNvPr>
          <ns0:cNvSpPr>
            <ns1:spLocks noGrp="1"/>
          </ns0:cNvSpPr>
          <ns0:nvPr/>
        </ns0:nvSpPr>
        <ns0:spPr>
          <ns1:xfrm>
            <ns1:off x="5029200" y="2752725"/>
            <ns1:ext cx="100965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統合</ns1:t>
            </ns1:r>
          </ns1:p>
          <ns1:p>
            <ns1:pPr algn="ctr">
              <ns1:lnSpc>
                <ns1:spcPct val="108000"/>
              </ns1:lnSpc>
              <ns1:buNone/>
              <ns1:def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DB</ns1:t>
            </ns1:r>
          </ns1:p>
        </ns0:txBody>
      </ns0:sp>
      <ns0:sp>
        <ns0:nvSpPr>
          <ns0:cNvPr id="67" name="trace:S09:content.auto.61">
            <ns1:extLst>
              <ns1:ext uri="{FF2B5EF4-FFF2-40B4-BE49-F238E27FC236}">
                <ns2:creationId id="{370A3D5D-3484-43B6-BEE5-AC934439C7F8}"/>
              </ns1:ext>
            </ns1:extLst>
          </ns0:cNvPr>
          <ns0:cNvSpPr>
            <ns1:spLocks noGrp="1"/>
          </ns0:cNvSpPr>
          <ns0:nvPr/>
        </ns0:nvSpPr>
        <ns0:spPr>
          <ns1:xfrm>
            <ns1:off x="7553325" y="2143125"/>
            <ns1:ext cx="1257300" cy="1257300"/>
          </ns1:xfrm>
          <ns1:prstGeom prst="ellipse">
            <ns1:avLst/>
          </ns1:prstGeom>
          <ns1:solidFill>
            <ns1:srgbClr val="EAF1F7"/>
          </ns1:solidFill>
          <ns1:ln w="9525">
            <ns1:solidFill>
              <ns1:srgbClr val="EAF1F7"/>
            </ns1:solidFill>
            <ns1:prstDash val="solid"/>
          </ns1:ln>
        </ns0:spPr>
      </ns0:sp>
      <ns0:sp>
        <ns0:nvSpPr>
          <ns0:cNvPr id="68" name="trace:S09:content.auto.62">
            <ns1:extLst>
              <ns1:ext uri="{FF2B5EF4-FFF2-40B4-BE49-F238E27FC236}">
                <ns2:creationId id="{D584E38D-EF17-43F3-8B4F-443DFCB3813F}"/>
              </ns1:ext>
            </ns1:extLst>
          </ns0:cNvPr>
          <ns0:cNvSpPr>
            <ns1:spLocks noGrp="1"/>
          </ns0:cNvSpPr>
          <ns0:nvPr/>
        </ns0:nvSpPr>
        <ns0:spPr>
          <ns1:xfrm>
            <ns1:off x="8007668" y="2559368"/>
            <ns1:ext cx="196977" cy="196977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69" name="trace:S09:content.auto.63">
            <ns1:extLst>
              <ns1:ext uri="{FF2B5EF4-FFF2-40B4-BE49-F238E27FC236}">
                <ns2:creationId id="{CAFAFDD8-1B59-40DF-8232-CE0770B54909}"/>
              </ns1:ext>
            </ns1:extLst>
          </ns0:cNvPr>
          <ns0:cNvSpPr>
            <ns1:spLocks noGrp="1"/>
          </ns0:cNvSpPr>
          <ns0:nvPr/>
        </ns0:nvSpPr>
        <ns0:spPr>
          <ns1:xfrm>
            <ns1:off x="8070342" y="2622042"/>
            <ns1:ext cx="71628" cy="71628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70" name="trace:S09:content.auto.64">
            <ns1:extLst>
              <ns1:ext uri="{FF2B5EF4-FFF2-40B4-BE49-F238E27FC236}">
                <ns2:creationId id="{B0D08405-71B8-4A38-825F-0B26AEB95C04}"/>
              </ns1:ext>
            </ns1:extLst>
          </ns0:cNvPr>
          <ns0:cNvSpPr>
            <ns1:spLocks noGrp="1"/>
          </ns0:cNvSpPr>
          <ns0:nvPr/>
        </ns0:nvSpPr>
        <ns0:spPr>
          <ns1:xfrm>
            <ns1:off x="8088249" y="2514600"/>
            <ns1:ext cx="62675" cy="62675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71" name="trace:S09:content.auto.65">
            <ns1:extLst>
              <ns1:ext uri="{FF2B5EF4-FFF2-40B4-BE49-F238E27FC236}">
                <ns2:creationId id="{E9A6424C-A424-4885-BBA3-538BEEEF309E}"/>
              </ns1:ext>
            </ns1:extLst>
          </ns0:cNvPr>
          <ns0:cNvSpPr>
            <ns1:spLocks noGrp="1"/>
          </ns0:cNvSpPr>
          <ns0:nvPr/>
        </ns0:nvSpPr>
        <ns0:spPr>
          <ns1:xfrm>
            <ns1:off x="8088249" y="2747391"/>
            <ns1:ext cx="62675" cy="62675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72" name="trace:S09:content.auto.66">
            <ns1:extLst>
              <ns1:ext uri="{FF2B5EF4-FFF2-40B4-BE49-F238E27FC236}">
                <ns2:creationId id="{29DB95AD-1BB7-4503-A815-F5D989383508}"/>
              </ns1:ext>
            </ns1:extLst>
          </ns0:cNvPr>
          <ns0:cNvSpPr>
            <ns1:spLocks noGrp="1"/>
          </ns0:cNvSpPr>
          <ns0:nvPr/>
        </ns0:nvSpPr>
        <ns0:spPr>
          <ns1:xfrm>
            <ns1:off x="7962900" y="2639949"/>
            <ns1:ext cx="62675" cy="62675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73" name="trace:S09:content.auto.67">
            <ns1:extLst>
              <ns1:ext uri="{FF2B5EF4-FFF2-40B4-BE49-F238E27FC236}">
                <ns2:creationId id="{B11D5754-68D3-4490-A1B6-BC20DF71CB82}"/>
              </ns1:ext>
            </ns1:extLst>
          </ns0:cNvPr>
          <ns0:cNvSpPr>
            <ns1:spLocks noGrp="1"/>
          </ns0:cNvSpPr>
          <ns0:nvPr/>
        </ns0:nvSpPr>
        <ns0:spPr>
          <ns1:xfrm>
            <ns1:off x="8213598" y="2639949"/>
            <ns1:ext cx="62675" cy="62675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74" name="trace:S09:content.auto.68">
            <ns1:extLst>
              <ns1:ext uri="{FF2B5EF4-FFF2-40B4-BE49-F238E27FC236}">
                <ns2:creationId id="{967B4B7A-1834-4014-A2ED-7E3543F56F91}"/>
              </ns1:ext>
            </ns1:extLst>
          </ns0:cNvPr>
          <ns0:cNvSpPr>
            <ns1:spLocks noGrp="1"/>
          </ns0:cNvSpPr>
          <ns0:nvPr/>
        </ns0:nvSpPr>
        <ns0:spPr>
          <ns1:xfrm>
            <ns1:off x="8007668" y="2559368"/>
            <ns1:ext cx="62675" cy="62675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75" name="trace:S09:content.auto.69">
            <ns1:extLst>
              <ns1:ext uri="{FF2B5EF4-FFF2-40B4-BE49-F238E27FC236}">
                <ns2:creationId id="{A424FEA0-9C53-457A-9E82-086DE1F66B0B}"/>
              </ns1:ext>
            </ns1:extLst>
          </ns0:cNvPr>
          <ns0:cNvSpPr>
            <ns1:spLocks noGrp="1"/>
          </ns0:cNvSpPr>
          <ns0:nvPr/>
        </ns0:nvSpPr>
        <ns0:spPr>
          <ns1:xfrm>
            <ns1:off x="8168831" y="2559368"/>
            <ns1:ext cx="62675" cy="62675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76" name="trace:S09:content.auto.70">
            <ns1:extLst>
              <ns1:ext uri="{FF2B5EF4-FFF2-40B4-BE49-F238E27FC236}">
                <ns2:creationId id="{7576CCCB-B2AF-4EBC-AE3F-D28A3BCF894D}"/>
              </ns1:ext>
            </ns1:extLst>
          </ns0:cNvPr>
          <ns0:cNvSpPr>
            <ns1:spLocks noGrp="1"/>
          </ns0:cNvSpPr>
          <ns0:nvPr/>
        </ns0:nvSpPr>
        <ns0:spPr>
          <ns1:xfrm>
            <ns1:off x="8007668" y="2720531"/>
            <ns1:ext cx="62675" cy="62675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77" name="trace:S09:content.auto.71">
            <ns1:extLst>
              <ns1:ext uri="{FF2B5EF4-FFF2-40B4-BE49-F238E27FC236}">
                <ns2:creationId id="{C8CE7513-0A94-4318-BE10-A40B918C49A0}"/>
              </ns1:ext>
            </ns1:extLst>
          </ns0:cNvPr>
          <ns0:cNvSpPr>
            <ns1:spLocks noGrp="1"/>
          </ns0:cNvSpPr>
          <ns0:nvPr/>
        </ns0:nvSpPr>
        <ns0:spPr>
          <ns1:xfrm>
            <ns1:off x="8168831" y="2720531"/>
            <ns1:ext cx="62675" cy="62675"/>
          </ns1:xfrm>
          <ns1:prstGeom prst="rect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78" name="trace:S09:content.auto.72">
            <ns1:extLst>
              <ns1:ext uri="{FF2B5EF4-FFF2-40B4-BE49-F238E27FC236}">
                <ns2:creationId id="{E2ECA55D-D10D-42A4-B62D-499E10246E76}"/>
              </ns1:ext>
            </ns1:extLst>
          </ns0:cNvPr>
          <ns0:cNvSpPr>
            <ns1:spLocks noGrp="1"/>
          </ns0:cNvSpPr>
          <ns0:nvPr/>
        </ns0:nvSpPr>
        <ns0:spPr>
          <ns1:xfrm>
            <ns1:off x="7677150" y="2752725"/>
            <ns1:ext cx="100965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業務</ns1:t>
            </ns1:r>
          </ns1:p>
          <ns1:p>
            <ns1:pPr algn="ctr">
              <ns1:lnSpc>
                <ns1:spcPct val="108000"/>
              </ns1:lnSpc>
              <ns1:buNone/>
              <ns1:def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プロセス</ns1:t>
            </ns1:r>
          </ns1:p>
        </ns0:txBody>
      </ns0:sp>
      <ns0:sp>
        <ns0:nvSpPr>
          <ns0:cNvPr id="79" name="trace:S09:content.auto.73">
            <ns1:extLst>
              <ns1:ext uri="{FF2B5EF4-FFF2-40B4-BE49-F238E27FC236}">
                <ns2:creationId id="{01E4924E-8F23-4423-B545-A93B710DA299}"/>
              </ns1:ext>
            </ns1:extLst>
          </ns0:cNvPr>
          <ns0:cNvSpPr>
            <ns1:spLocks noGrp="1"/>
          </ns0:cNvSpPr>
          <ns0:nvPr/>
        </ns0:nvSpPr>
        <ns0:spPr>
          <ns1:xfrm>
            <ns1:off x="4905375" y="3381375"/>
            <ns1:ext cx="1257300" cy="1257300"/>
          </ns1:xfrm>
          <ns1:prstGeom prst="ellipse">
            <ns1:avLst/>
          </ns1:prstGeom>
          <ns1:solidFill>
            <ns1:srgbClr val="EAF1F7"/>
          </ns1:solidFill>
          <ns1:ln w="9525">
            <ns1:solidFill>
              <ns1:srgbClr val="EAF1F7"/>
            </ns1:solidFill>
            <ns1:prstDash val="solid"/>
          </ns1:ln>
        </ns0:spPr>
      </ns0:sp>
      <ns0:sp>
        <ns0:nvSpPr>
          <ns0:cNvPr id="80" name="trace:S09:content.auto.74">
            <ns1:extLst>
              <ns1:ext uri="{FF2B5EF4-FFF2-40B4-BE49-F238E27FC236}">
                <ns2:creationId id="{97EAFA9C-AAFA-44BB-A35E-EA1B8BC5E7FA}"/>
              </ns1:ext>
            </ns1:extLst>
          </ns0:cNvPr>
          <ns0:cNvSpPr>
            <ns1:spLocks noGrp="1"/>
          </ns0:cNvSpPr>
          <ns0:nvPr/>
        </ns0:nvSpPr>
        <ns0:spPr>
          <ns1:xfrm>
            <ns1:off x="5305425" y="3619500"/>
            <ns1:ext cx="419100" cy="333375"/>
          </ns1:xfrm>
          <ns1:custGeom>
            <ns1:pathLst>
              <ns1:path w="419100" h="333375">
                <ns1:moveTo>
                  <ns1:pt x="0" y="95250"/>
                </ns1:moveTo>
                <ns1:lnTo>
                  <ns1:pt x="209550" y="0"/>
                </ns1:lnTo>
                <ns1:lnTo>
                  <ns1:pt x="419100" y="95250"/>
                </ns1:lnTo>
                <ns1:lnTo>
                  <ns1:pt x="209550" y="200025"/>
                </ns1:lnTo>
                <ns1:close/>
                <ns1:moveTo>
                  <ns1:pt x="0" y="95250"/>
                </ns1:moveTo>
                <ns1:lnTo>
                  <ns1:pt x="0" y="228600"/>
                </ns1:lnTo>
                <ns1:lnTo>
                  <ns1:pt x="209550" y="333375"/>
                </ns1:lnTo>
                <ns1:lnTo>
                  <ns1:pt x="209550" y="200025"/>
                </ns1:lnTo>
                <ns1:moveTo>
                  <ns1:pt x="419100" y="95250"/>
                </ns1:moveTo>
                <ns1:lnTo>
                  <ns1:pt x="419100" y="228600"/>
                </ns1:lnTo>
                <ns1:lnTo>
                  <ns1:pt x="209550" y="333375"/>
                </ns1:lnTo>
              </ns1:path>
            </ns1:pathLst>
          </ns1:cu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81" name="trace:S09:content.auto.75">
            <ns1:extLst>
              <ns1:ext uri="{FF2B5EF4-FFF2-40B4-BE49-F238E27FC236}">
                <ns2:creationId id="{7C5A056F-5756-4696-A6F8-74526D1B1859}"/>
              </ns1:ext>
            </ns1:extLst>
          </ns0:cNvPr>
          <ns0:cNvSpPr>
            <ns1:spLocks noGrp="1"/>
          </ns0:cNvSpPr>
          <ns0:nvPr/>
        </ns0:nvSpPr>
        <ns0:spPr>
          <ns1:xfrm>
            <ns1:off x="5029200" y="3962400"/>
            <ns1:ext cx="10096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マスタ</ns1:t>
            </ns1:r>
          </ns1:p>
          <ns1:p>
            <ns1:pPr algn="ctr">
              <ns1:lnSpc>
                <ns1:spcPct val="108000"/>
              </ns1:lnSpc>
              <ns1:buNone/>
              <ns1:def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管理</ns1:t>
            </ns1:r>
          </ns1:p>
        </ns0:txBody>
      </ns0:sp>
      <ns0:sp>
        <ns0:nvSpPr>
          <ns0:cNvPr id="82" name="trace:S09:content.auto.76">
            <ns1:extLst>
              <ns1:ext uri="{FF2B5EF4-FFF2-40B4-BE49-F238E27FC236}">
                <ns2:creationId id="{4EEEFA28-D394-435A-BBFD-1E2F974C01CA}"/>
              </ns1:ext>
            </ns1:extLst>
          </ns0:cNvPr>
          <ns0:cNvSpPr>
            <ns1:spLocks noGrp="1"/>
          </ns0:cNvSpPr>
          <ns0:nvPr/>
        </ns0:nvSpPr>
        <ns0:spPr>
          <ns1:xfrm>
            <ns1:off x="7553325" y="3381375"/>
            <ns1:ext cx="1257300" cy="1257300"/>
          </ns1:xfrm>
          <ns1:prstGeom prst="ellipse">
            <ns1:avLst/>
          </ns1:prstGeom>
          <ns1:solidFill>
            <ns1:srgbClr val="EAF1F7"/>
          </ns1:solidFill>
          <ns1:ln w="9525">
            <ns1:solidFill>
              <ns1:srgbClr val="EAF1F7"/>
            </ns1:solidFill>
            <ns1:prstDash val="solid"/>
          </ns1:ln>
        </ns0:spPr>
      </ns0:sp>
      <ns0:sp>
        <ns0:nvSpPr>
          <ns0:cNvPr id="83" name="trace:S09:content.auto.77">
            <ns1:extLst>
              <ns1:ext uri="{FF2B5EF4-FFF2-40B4-BE49-F238E27FC236}">
                <ns2:creationId id="{95BF18D4-4DAA-4F1E-BED3-5A7CDAD21921}"/>
              </ns1:ext>
            </ns1:extLst>
          </ns0:cNvPr>
          <ns0:cNvSpPr>
            <ns1:spLocks noGrp="1"/>
          </ns0:cNvSpPr>
          <ns0:nvPr/>
        </ns0:nvSpPr>
        <ns0:spPr>
          <ns1:xfrm>
            <ns1:off x="7991475" y="3619500"/>
            <ns1:ext cx="219456" cy="274320"/>
          </ns1:xfrm>
          <ns1:custGeom>
            <ns1:pathLst>
              <ns1:path w="219456" h="274320">
                <ns1:moveTo>
                  <ns1:pt x="109728" y="0"/>
                </ns1:moveTo>
                <ns1:lnTo>
                  <ns1:pt x="210312" y="45720"/>
                </ns1:lnTo>
                <ns1:lnTo>
                  <ns1:pt x="182880" y="173736"/>
                </ns1:lnTo>
                <ns1:lnTo>
                  <ns1:pt x="109728" y="265176"/>
                </ns1:lnTo>
                <ns1:lnTo>
                  <ns1:pt x="36576" y="173736"/>
                </ns1:lnTo>
                <ns1:lnTo>
                  <ns1:pt x="9144" y="45720"/>
                </ns1:lnTo>
                <ns1:close/>
              </ns1:path>
            </ns1:pathLst>
          </ns1:cu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84" name="trace:S09:content.auto.78">
            <ns1:extLst>
              <ns1:ext uri="{FF2B5EF4-FFF2-40B4-BE49-F238E27FC236}">
                <ns2:creationId id="{38A23098-1F14-4C05-B173-76FB2C890B11}"/>
              </ns1:ext>
            </ns1:extLst>
          </ns0:cNvPr>
          <ns0:cNvSpPr>
            <ns1:spLocks noGrp="1"/>
          </ns0:cNvSpPr>
          <ns0:nvPr/>
        </ns0:nvSpPr>
        <ns0:spPr>
          <ns1:xfrm>
            <ns1:off x="7677150" y="3962400"/>
            <ns1:ext cx="10096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権限・</ns1:t>
            </ns1:r>
          </ns1:p>
          <ns1:p>
            <ns1:pPr algn="ctr">
              <ns1:lnSpc>
                <ns1:spcPct val="108000"/>
              </ns1:lnSpc>
              <ns1:buNone/>
              <ns1:def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セキュリティ</ns1:t>
            </ns1:r>
          </ns1:p>
        </ns0:txBody>
      </ns0:sp>
      <ns0:sp>
        <ns0:nvSpPr>
          <ns0:cNvPr id="85" name="trace:S09:content.auto.79">
            <ns1:extLst>
              <ns1:ext uri="{FF2B5EF4-FFF2-40B4-BE49-F238E27FC236}">
                <ns2:creationId id="{6BEC151A-1E06-4714-9686-4BD742EA0484}"/>
              </ns1:ext>
            </ns1:extLst>
          </ns0:cNvPr>
          <ns0:cNvSpPr>
            <ns1:spLocks noGrp="1"/>
          </ns0:cNvSpPr>
          <ns0:nvPr/>
        </ns0:nvSpPr>
        <ns0:spPr>
          <ns1:xfrm>
            <ns1:off x="6381750" y="2886075"/>
            <ns1:ext cx="589788" cy="196596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86" name="trace:S09:content.auto.80">
            <ns1:extLst>
              <ns1:ext uri="{FF2B5EF4-FFF2-40B4-BE49-F238E27FC236}">
                <ns2:creationId id="{E8329DDF-9832-426C-94EA-BC8C2C9808C9}"/>
              </ns1:ext>
            </ns1:extLst>
          </ns0:cNvPr>
          <ns0:cNvSpPr>
            <ns1:spLocks noGrp="1"/>
          </ns0:cNvSpPr>
          <ns0:nvPr/>
        </ns0:nvSpPr>
        <ns0:spPr>
          <ns1:xfrm>
            <ns1:off x="6381750" y="3213735"/>
            <ns1:ext cx="589788" cy="196596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87" name="trace:S09:content.auto.81">
            <ns1:extLst>
              <ns1:ext uri="{FF2B5EF4-FFF2-40B4-BE49-F238E27FC236}">
                <ns2:creationId id="{6902C757-D213-4ADD-97A4-0868F80D350C}"/>
              </ns1:ext>
            </ns1:extLst>
          </ns0:cNvPr>
          <ns0:cNvSpPr>
            <ns1:spLocks noGrp="1"/>
          </ns0:cNvSpPr>
          <ns0:nvPr/>
        </ns0:nvSpPr>
        <ns0:spPr>
          <ns1:xfrm>
            <ns1:off x="6381750" y="2984373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88" name="trace:S09:content.auto.82">
            <ns1:extLst>
              <ns1:ext uri="{FF2B5EF4-FFF2-40B4-BE49-F238E27FC236}">
                <ns2:creationId id="{68ECB1A9-F481-472F-A006-1B2C521B360C}"/>
              </ns1:ext>
            </ns1:extLst>
          </ns0:cNvPr>
          <ns0:cNvSpPr>
            <ns1:spLocks noGrp="1"/>
          </ns0:cNvSpPr>
          <ns0:nvPr/>
        </ns0:nvSpPr>
        <ns0:spPr>
          <ns1:xfrm>
            <ns1:off x="6971538" y="2984373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89" name="trace:S09:content.auto.83">
            <ns1:extLst>
              <ns1:ext uri="{FF2B5EF4-FFF2-40B4-BE49-F238E27FC236}">
                <ns2:creationId id="{4EDA9AC6-BF7C-4E4E-B09B-B8CC1EF03E20}"/>
              </ns1:ext>
            </ns1:extLst>
          </ns0:cNvPr>
          <ns0:cNvSpPr>
            <ns1:spLocks noGrp="1"/>
          </ns0:cNvSpPr>
          <ns0:nvPr/>
        </ns0:nvSpPr>
        <ns0:spPr>
          <ns1:xfrm>
            <ns1:off x="6381750" y="3312033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90" name="trace:S09:content.auto.84">
            <ns1:extLst>
              <ns1:ext uri="{FF2B5EF4-FFF2-40B4-BE49-F238E27FC236}">
                <ns2:creationId id="{888E9287-5D73-44C5-8B04-CBF991EC2DED}"/>
              </ns1:ext>
            </ns1:extLst>
          </ns0:cNvPr>
          <ns0:cNvSpPr>
            <ns1:spLocks noGrp="1"/>
          </ns0:cNvSpPr>
          <ns0:nvPr/>
        </ns0:nvSpPr>
        <ns0:spPr>
          <ns1:xfrm>
            <ns1:off x="6971538" y="3312033"/>
            <ns1:ext cx="0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91" name="trace:S09:content.auto.85">
            <ns1:extLst>
              <ns1:ext uri="{FF2B5EF4-FFF2-40B4-BE49-F238E27FC236}">
                <ns2:creationId id="{E64398F5-92C0-44BC-A163-04397BC12EB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3790950"/>
            <ns1:ext cx="15240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8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8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ERP</ns1:t>
            </ns1:r>
          </ns1:p>
        </ns0:txBody>
      </ns0:sp>
      <ns0:sp>
        <ns0:nvSpPr>
          <ns0:cNvPr id="92" name="trace:S09:content.auto.86">
            <ns1:extLst>
              <ns1:ext uri="{FF2B5EF4-FFF2-40B4-BE49-F238E27FC236}">
                <ns2:creationId id="{6833AE6D-8C7D-4B98-B4AA-AF3F4F2D7773}"/>
              </ns1:ext>
            </ns1:extLst>
          </ns0:cNvPr>
          <ns0:cNvSpPr>
            <ns1:spLocks noGrp="1"/>
          </ns0:cNvSpPr>
          <ns0:nvPr/>
        </ns0:nvSpPr>
        <ns0:spPr>
          <ns1:xfrm>
            <ns1:off x="9886950" y="1685925"/>
            <ns1:ext cx="3524250" cy="2990850"/>
          </ns1:xfrm>
          <ns1:prstGeom prst="roundRect">
            <ns1:avLst>
              <ns1:gd name="adj" fmla="val 2548"/>
            </ns1:avLst>
          </ns1:prstGeom>
          <ns1:solidFill>
            <ns1:srgbClr val="FFF0F2"/>
          </ns1:solidFill>
          <ns1:ln w="9525">
            <ns1:solidFill>
              <ns1:srgbClr val="FFF0F2"/>
            </ns1:solidFill>
            <ns1:prstDash val="solid"/>
          </ns1:ln>
        </ns0:spPr>
      </ns0:sp>
      <ns0:sp>
        <ns0:nvSpPr>
          <ns0:cNvPr id="93" name="trace:S09:content.auto.87">
            <ns1:extLst>
              <ns1:ext uri="{FF2B5EF4-FFF2-40B4-BE49-F238E27FC236}">
                <ns2:creationId id="{93C8A4CF-0531-48E7-920E-816162440901}"/>
              </ns1:ext>
            </ns1:extLst>
          </ns0:cNvPr>
          <ns0:cNvSpPr>
            <ns1:spLocks noGrp="1"/>
          </ns0:cNvSpPr>
          <ns0:nvPr/>
        </ns0:nvSpPr>
        <ns0:spPr>
          <ns1:xfrm>
            <ns1:off x="9886950" y="1685925"/>
            <ns1:ext cx="3524250" cy="400050"/>
          </ns1:xfrm>
          <ns1:prstGeom prst="rect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94" name="trace:S09:title.primary.7">
            <ns1:extLst>
              <ns1:ext uri="{FF2B5EF4-FFF2-40B4-BE49-F238E27FC236}">
                <ns2:creationId id="{E3359792-43D7-4D2F-AF6B-E93B3ECAA50F}"/>
              </ns1:ext>
            </ns1:extLst>
          </ns0:cNvPr>
          <ns0:cNvSpPr>
            <ns1:spLocks noGrp="1"/>
          </ns0:cNvSpPr>
          <ns0:nvPr/>
        </ns0:nvSpPr>
        <ns0:spPr>
          <ns1:xfrm>
            <ns1:off x="10191750" y="1743075"/>
            <ns1:ext cx="29146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4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連携先システム</ns1:t>
            </ns1:r>
          </ns1:p>
        </ns0:txBody>
      </ns0:sp>
      <ns0:sp>
        <ns0:nvSpPr>
          <ns0:cNvPr id="95" name="trace:S09:content.auto.88">
            <ns1:extLst>
              <ns1:ext uri="{FF2B5EF4-FFF2-40B4-BE49-F238E27FC236}">
                <ns2:creationId id="{C85BBB79-C72C-4BE3-924C-2656427416ED}"/>
              </ns1:ext>
            </ns1:extLst>
          </ns0:cNvPr>
          <ns0:cNvSpPr>
            <ns1:spLocks noGrp="1"/>
          </ns0:cNvSpPr>
          <ns0:nvPr/>
        </ns0:nvSpPr>
        <ns0:spPr>
          <ns1:xfrm>
            <ns1:off x="10010775" y="2143125"/>
            <ns1:ext cx="3276600" cy="533400"/>
          </ns1:xfrm>
          <ns1:prstGeom prst="roundRect">
            <ns1:avLst>
              <ns1:gd name="adj" fmla="val 14286"/>
            </ns1:avLst>
          </ns1:prstGeom>
          <ns1:solidFill>
            <ns1:srgbClr val="FFFFFF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96" name="trace:S09:content.auto.89">
            <ns1:extLst>
              <ns1:ext uri="{FF2B5EF4-FFF2-40B4-BE49-F238E27FC236}">
                <ns2:creationId id="{BB92E918-B24A-4BA4-A2A2-2E977F564D5D}"/>
              </ns1:ext>
            </ns1:extLst>
          </ns0:cNvPr>
          <ns0:cNvSpPr>
            <ns1:spLocks noGrp="1"/>
          </ns0:cNvSpPr>
          <ns0:nvPr/>
        </ns0:nvSpPr>
        <ns0:spPr>
          <ns1:xfrm>
            <ns1:off x="10381107" y="2238375"/>
            <ns1:ext cx="65151" cy="65151"/>
          </ns1:xfrm>
          <ns1:prstGeom prst="ellips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97" name="trace:S09:content.auto.90">
            <ns1:extLst>
              <ns1:ext uri="{FF2B5EF4-FFF2-40B4-BE49-F238E27FC236}">
                <ns2:creationId id="{F90F4E51-7B1D-4528-AE6E-8A5DD33B21FC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2289048"/>
            <ns1:ext cx="50673" cy="50673"/>
          </ns1:xfrm>
          <ns1:prstGeom prst="ellipse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98" name="trace:S09:content.auto.91">
            <ns1:extLst>
              <ns1:ext uri="{FF2B5EF4-FFF2-40B4-BE49-F238E27FC236}">
                <ns2:creationId id="{543D1683-50C0-4D62-BA4A-E236BCF31F55}"/>
              </ns1:ext>
            </ns1:extLst>
          </ns0:cNvPr>
          <ns0:cNvSpPr>
            <ns1:spLocks noGrp="1"/>
          </ns0:cNvSpPr>
          <ns0:nvPr/>
        </ns0:nvSpPr>
        <ns0:spPr>
          <ns1:xfrm>
            <ns1:off x="10482453" y="2289048"/>
            <ns1:ext cx="50673" cy="50673"/>
          </ns1:xfrm>
          <ns1:prstGeom prst="ellipse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99" name="trace:S09:content.auto.92">
            <ns1:extLst>
              <ns1:ext uri="{FF2B5EF4-FFF2-40B4-BE49-F238E27FC236}">
                <ns2:creationId id="{389BF8E1-34B4-4DC5-98C1-E937EB1F7C45}"/>
              </ns1:ext>
            </ns1:extLst>
          </ns0:cNvPr>
          <ns0:cNvSpPr>
            <ns1:spLocks noGrp="1"/>
          </ns0:cNvSpPr>
          <ns0:nvPr/>
        </ns0:nvSpPr>
        <ns0:spPr>
          <ns1:xfrm>
            <ns1:off x="10337673" y="2361438"/>
            <ns1:ext cx="152019" cy="108585"/>
          </ns1:xfrm>
          <ns1:prstGeom prst="arc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00" name="trace:S09:content.auto.93">
            <ns1:extLst>
              <ns1:ext uri="{FF2B5EF4-FFF2-40B4-BE49-F238E27FC236}">
                <ns2:creationId id="{A4C26D49-F71F-4F2A-8C5B-FECE818F0ABF}"/>
              </ns1:ext>
            </ns1:extLst>
          </ns0:cNvPr>
          <ns0:cNvSpPr>
            <ns1:spLocks noGrp="1"/>
          </ns0:cNvSpPr>
          <ns0:nvPr/>
        </ns0:nvSpPr>
        <ns0:spPr>
          <ns1:xfrm>
            <ns1:off x="10265283" y="2368677"/>
            <ns1:ext cx="94107" cy="86868"/>
          </ns1:xfrm>
          <ns1:prstGeom prst="arc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101" name="trace:S09:content.auto.94">
            <ns1:extLst>
              <ns1:ext uri="{FF2B5EF4-FFF2-40B4-BE49-F238E27FC236}">
                <ns2:creationId id="{B17DA9D3-6F47-4FC5-ABE4-8AB96BCE92D5}"/>
              </ns1:ext>
            </ns1:extLst>
          </ns0:cNvPr>
          <ns0:cNvSpPr>
            <ns1:spLocks noGrp="1"/>
          </ns0:cNvSpPr>
          <ns0:nvPr/>
        </ns0:nvSpPr>
        <ns0:spPr>
          <ns1:xfrm>
            <ns1:off x="10467975" y="2368677"/>
            <ns1:ext cx="94107" cy="86868"/>
          </ns1:xfrm>
          <ns1:prstGeom prst="arc">
            <ns1:avLst/>
          </ns1:prstGeom>
          <ns1:noFill/>
          <ns1:ln w="17145">
            <ns1:solidFill>
              <ns1:srgbClr val="0D2238"/>
            </ns1:solidFill>
            <ns1:prstDash val="solid"/>
          </ns1:ln>
        </ns0:spPr>
      </ns0:sp>
      <ns0:sp>
        <ns0:nvSpPr>
          <ns0:cNvPr id="102" name="trace:S09:title.primary.8">
            <ns1:extLst>
              <ns1:ext uri="{FF2B5EF4-FFF2-40B4-BE49-F238E27FC236}">
                <ns2:creationId id="{A74A62CB-1AD4-4F4F-866D-72325DD54D12}"/>
              </ns1:ext>
            </ns1:extLst>
          </ns0:cNvPr>
          <ns0:cNvSpPr>
            <ns1:spLocks noGrp="1"/>
          </ns0:cNvSpPr>
          <ns0:nvPr/>
        </ns0:nvSpPr>
        <ns0:spPr>
          <ns1:xfrm>
            <ns1:off x="10877550" y="2209800"/>
            <ns1:ext cx="22383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9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基幹システム（既存）</ns1:t>
            </ns1:r>
          </ns1:p>
        </ns0:txBody>
      </ns0:sp>
      <ns0:sp>
        <ns0:nvSpPr>
          <ns0:cNvPr id="103" name="trace:S09:title.primary.9">
            <ns1:extLst>
              <ns1:ext uri="{FF2B5EF4-FFF2-40B4-BE49-F238E27FC236}">
                <ns2:creationId id="{0C336490-DBD6-46E7-BF19-3C9508A85D23}"/>
              </ns1:ext>
            </ns1:extLst>
          </ns0:cNvPr>
          <ns0:cNvSpPr>
            <ns1:spLocks noGrp="1"/>
          </ns0:cNvSpPr>
          <ns0:nvPr/>
        </ns0:nvSpPr>
        <ns0:spPr>
          <ns1:xfrm>
            <ns1:off x="10877550" y="2400300"/>
            <ns1:ext cx="2238375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顧客・取引先・商品マスタ連携</ns1:t>
            </ns1:r>
          </ns1:p>
        </ns0:txBody>
      </ns0:sp>
      <ns0:sp>
        <ns0:nvSpPr>
          <ns0:cNvPr id="104" name="trace:S09:content.auto.95">
            <ns1:extLst>
              <ns1:ext uri="{FF2B5EF4-FFF2-40B4-BE49-F238E27FC236}">
                <ns2:creationId id="{29D599D9-B238-48F5-AB56-E624C9997F7E}"/>
              </ns1:ext>
            </ns1:extLst>
          </ns0:cNvPr>
          <ns0:cNvSpPr>
            <ns1:spLocks noGrp="1"/>
          </ns0:cNvSpPr>
          <ns0:nvPr/>
        </ns0:nvSpPr>
        <ns0:spPr>
          <ns1:xfrm>
            <ns1:off x="10010775" y="2771775"/>
            <ns1:ext cx="3276600" cy="533400"/>
          </ns1:xfrm>
          <ns1:prstGeom prst="roundRect">
            <ns1:avLst>
              <ns1:gd name="adj" fmla="val 14286"/>
            </ns1:avLst>
          </ns1:prstGeom>
          <ns1:solidFill>
            <ns1:srgbClr val="FFFFFF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105" name="trace:S09:content.auto.96">
            <ns1:extLst>
              <ns1:ext uri="{FF2B5EF4-FFF2-40B4-BE49-F238E27FC236}">
                <ns2:creationId id="{63113473-7483-44CA-B270-AF30A14520C4}"/>
              </ns1:ext>
            </ns1:extLst>
          </ns0:cNvPr>
          <ns0:cNvSpPr>
            <ns1:spLocks noGrp="1"/>
          </ns0:cNvSpPr>
          <ns0:nvPr/>
        </ns0:nvSpPr>
        <ns0:spPr>
          <ns1:xfrm>
            <ns1:off x="10296525" y="2934462"/>
            <ns1:ext cx="159258" cy="115824"/>
          </ns1:xfrm>
          <ns1:prstGeom prst="arc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06" name="trace:S09:content.auto.97">
            <ns1:extLst>
              <ns1:ext uri="{FF2B5EF4-FFF2-40B4-BE49-F238E27FC236}">
                <ns2:creationId id="{6C40C331-58FC-4F2D-BD9A-59CB2AE9B6E4}"/>
              </ns1:ext>
            </ns1:extLst>
          </ns0:cNvPr>
          <ns0:cNvSpPr>
            <ns1:spLocks noGrp="1"/>
          </ns0:cNvSpPr>
          <ns0:nvPr/>
        </ns0:nvSpPr>
        <ns0:spPr>
          <ns1:xfrm>
            <ns1:off x="10390632" y="2891028"/>
            <ns1:ext cx="180975" cy="159258"/>
          </ns1:xfrm>
          <ns1:prstGeom prst="arc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07" name="trace:S09:content.auto.98">
            <ns1:extLst>
              <ns1:ext uri="{FF2B5EF4-FFF2-40B4-BE49-F238E27FC236}">
                <ns2:creationId id="{392A226A-55B0-467A-905D-97D686B5D51A}"/>
              </ns1:ext>
            </ns1:extLst>
          </ns0:cNvPr>
          <ns0:cNvSpPr>
            <ns1:spLocks noGrp="1"/>
          </ns0:cNvSpPr>
          <ns0:nvPr/>
        </ns0:nvSpPr>
        <ns0:spPr>
          <ns1:xfrm>
            <ns1:off x="10325481" y="3050286"/>
            <ns1:ext cx="209931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08" name="trace:S09:content.auto.99">
            <ns1:extLst>
              <ns1:ext uri="{FF2B5EF4-FFF2-40B4-BE49-F238E27FC236}">
                <ns2:creationId id="{BF34E24A-A6E5-42CA-8994-9946D89AF0F5}"/>
              </ns1:ext>
            </ns1:extLst>
          </ns0:cNvPr>
          <ns0:cNvSpPr>
            <ns1:spLocks noGrp="1"/>
          </ns0:cNvSpPr>
          <ns0:nvPr/>
        </ns0:nvSpPr>
        <ns0:spPr>
          <ns1:xfrm>
            <ns1:off x="10877550" y="2838450"/>
            <ns1:ext cx="22383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9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外部サービス</ns1:t>
            </ns1:r>
          </ns1:p>
        </ns0:txBody>
      </ns0:sp>
      <ns0:sp>
        <ns0:nvSpPr>
          <ns0:cNvPr id="109" name="trace:S09:title.primary.10">
            <ns1:extLst>
              <ns1:ext uri="{FF2B5EF4-FFF2-40B4-BE49-F238E27FC236}">
                <ns2:creationId id="{5E08CB18-BFD3-4669-9194-047149DBAEF1}"/>
              </ns1:ext>
            </ns1:extLst>
          </ns0:cNvPr>
          <ns0:cNvSpPr>
            <ns1:spLocks noGrp="1"/>
          </ns0:cNvSpPr>
          <ns0:nvPr/>
        </ns0:nvSpPr>
        <ns0:spPr>
          <ns1:xfrm>
            <ns1:off x="10877550" y="3028950"/>
            <ns1:ext cx="2238375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EDI・電子請求・決済サービス</ns1:t>
            </ns1:r>
          </ns1:p>
        </ns0:txBody>
      </ns0:sp>
      <ns0:sp>
        <ns0:nvSpPr>
          <ns0:cNvPr id="110" name="trace:S09:content.auto.100">
            <ns1:extLst>
              <ns1:ext uri="{FF2B5EF4-FFF2-40B4-BE49-F238E27FC236}">
                <ns2:creationId id="{6D6EC73A-065A-410B-BBF7-E2EA07D76C7D}"/>
              </ns1:ext>
            </ns1:extLst>
          </ns0:cNvPr>
          <ns0:cNvSpPr>
            <ns1:spLocks noGrp="1"/>
          </ns0:cNvSpPr>
          <ns0:nvPr/>
        </ns0:nvSpPr>
        <ns0:spPr>
          <ns1:xfrm>
            <ns1:off x="10010775" y="3400425"/>
            <ns1:ext cx="3276600" cy="533400"/>
          </ns1:xfrm>
          <ns1:prstGeom prst="roundRect">
            <ns1:avLst>
              <ns1:gd name="adj" fmla="val 14286"/>
            </ns1:avLst>
          </ns1:prstGeom>
          <ns1:solidFill>
            <ns1:srgbClr val="FFFFFF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111" name="trace:S09:content.auto.101">
            <ns1:extLst>
              <ns1:ext uri="{FF2B5EF4-FFF2-40B4-BE49-F238E27FC236}">
                <ns2:creationId id="{6CE2F73A-A238-4BB8-AC20-8FDA8E1B07BB}"/>
              </ns1:ext>
            </ns1:extLst>
          </ns0:cNvPr>
          <ns0:cNvSpPr>
            <ns1:spLocks noGrp="1"/>
          </ns0:cNvSpPr>
          <ns0:nvPr/>
        </ns0:nvSpPr>
        <ns0:spPr>
          <ns1:xfrm>
            <ns1:off x="10315575" y="3486150"/>
            <ns1:ext cx="176022" cy="240030"/>
          </ns1:xfrm>
          <ns1:prstGeom prst="rect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12" name="trace:S09:content.auto.102">
            <ns1:extLst>
              <ns1:ext uri="{FF2B5EF4-FFF2-40B4-BE49-F238E27FC236}">
                <ns2:creationId id="{D0182D2F-C0A7-4BE3-BA38-7E7A11C18A1C}"/>
              </ns1:ext>
            </ns1:extLst>
          </ns0:cNvPr>
          <ns0:cNvSpPr>
            <ns1:spLocks noGrp="1"/>
          </ns0:cNvSpPr>
          <ns0:nvPr/>
        </ns0:nvSpPr>
        <ns0:spPr>
          <ns1:xfrm>
            <ns1:off x="10355580" y="3598164"/>
            <ns1:ext cx="96012" cy="0"/>
          </ns1:xfrm>
          <ns1:prstGeom prst="line">
            <ns1:avLst/>
          </ns1:prstGeom>
          <ns1:noFill/>
          <ns1:ln w="14288">
            <ns1:solidFill>
              <ns1:srgbClr val="0D2238"/>
            </ns1:solidFill>
            <ns1:prstDash val="solid"/>
          </ns1:ln>
        </ns0:spPr>
      </ns0:sp>
      <ns0:sp>
        <ns0:nvSpPr>
          <ns0:cNvPr id="113" name="trace:S09:content.auto.103">
            <ns1:extLst>
              <ns1:ext uri="{FF2B5EF4-FFF2-40B4-BE49-F238E27FC236}">
                <ns2:creationId id="{79A19EE3-9004-402D-B583-613CF1E62BC3}"/>
              </ns1:ext>
            </ns1:extLst>
          </ns0:cNvPr>
          <ns0:cNvSpPr>
            <ns1:spLocks noGrp="1"/>
          </ns0:cNvSpPr>
          <ns0:nvPr/>
        </ns0:nvSpPr>
        <ns0:spPr>
          <ns1:xfrm>
            <ns1:off x="10355580" y="3646170"/>
            <ns1:ext cx="96012" cy="0"/>
          </ns1:xfrm>
          <ns1:prstGeom prst="line">
            <ns1:avLst/>
          </ns1:prstGeom>
          <ns1:noFill/>
          <ns1:ln w="14288">
            <ns1:solidFill>
              <ns1:srgbClr val="0D2238"/>
            </ns1:solidFill>
            <ns1:prstDash val="solid"/>
          </ns1:ln>
        </ns0:spPr>
      </ns0:sp>
      <ns0:sp>
        <ns0:nvSpPr>
          <ns0:cNvPr id="114" name="trace:S09:content.auto.104">
            <ns1:extLst>
              <ns1:ext uri="{FF2B5EF4-FFF2-40B4-BE49-F238E27FC236}">
                <ns2:creationId id="{F8D4F051-F55C-4370-BD99-45334F1BEF8A}"/>
              </ns1:ext>
            </ns1:extLst>
          </ns0:cNvPr>
          <ns0:cNvSpPr>
            <ns1:spLocks noGrp="1"/>
          </ns0:cNvSpPr>
          <ns0:nvPr/>
        </ns0:nvSpPr>
        <ns0:spPr>
          <ns1:xfrm>
            <ns1:off x="10435590" y="3486150"/>
            <ns1:ext cx="56007" cy="56007"/>
          </ns1:xfrm>
          <ns1:prstGeom prst="line">
            <ns1:avLst/>
          </ns1:prstGeom>
          <ns1:noFill/>
          <ns1:ln w="14288">
            <ns1:solidFill>
              <ns1:srgbClr val="0D2238"/>
            </ns1:solidFill>
            <ns1:prstDash val="solid"/>
          </ns1:ln>
        </ns0:spPr>
      </ns0:sp>
      <ns0:sp>
        <ns0:nvSpPr>
          <ns0:cNvPr id="115" name="trace:S09:content.auto.105">
            <ns1:extLst>
              <ns1:ext uri="{FF2B5EF4-FFF2-40B4-BE49-F238E27FC236}">
                <ns2:creationId id="{26881B3E-7354-43B4-AEE3-A2347A5D3FDA}"/>
              </ns1:ext>
            </ns1:extLst>
          </ns0:cNvPr>
          <ns0:cNvSpPr>
            <ns1:spLocks noGrp="1"/>
          </ns0:cNvSpPr>
          <ns0:nvPr/>
        </ns0:nvSpPr>
        <ns0:spPr>
          <ns1:xfrm>
            <ns1:off x="10877550" y="3467100"/>
            <ns1:ext cx="22383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9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グループシステム</ns1:t>
            </ns1:r>
          </ns1:p>
        </ns0:txBody>
      </ns0:sp>
      <ns0:sp>
        <ns0:nvSpPr>
          <ns0:cNvPr id="116" name="trace:S09:content.auto.106">
            <ns1:extLst>
              <ns1:ext uri="{FF2B5EF4-FFF2-40B4-BE49-F238E27FC236}">
                <ns2:creationId id="{BCCF9916-1C7C-4C89-8CC0-2994C6A9681D}"/>
              </ns1:ext>
            </ns1:extLst>
          </ns0:cNvPr>
          <ns0:cNvSpPr>
            <ns1:spLocks noGrp="1"/>
          </ns0:cNvSpPr>
          <ns0:nvPr/>
        </ns0:nvSpPr>
        <ns0:spPr>
          <ns1:xfrm>
            <ns1:off x="10877550" y="3657600"/>
            <ns1:ext cx="2238375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人事・勤怠・ワークフロー</ns1:t>
            </ns1:r>
          </ns1:p>
        </ns0:txBody>
      </ns0:sp>
      <ns0:sp>
        <ns0:nvSpPr>
          <ns0:cNvPr id="117" name="trace:S09:content.auto.107">
            <ns1:extLst>
              <ns1:ext uri="{FF2B5EF4-FFF2-40B4-BE49-F238E27FC236}">
                <ns2:creationId id="{361C6978-4ACC-4A3B-B0E2-84C0AD2474FD}"/>
              </ns1:ext>
            </ns1:extLst>
          </ns0:cNvPr>
          <ns0:cNvSpPr>
            <ns1:spLocks noGrp="1"/>
          </ns0:cNvSpPr>
          <ns0:nvPr/>
        </ns0:nvSpPr>
        <ns0:spPr>
          <ns1:xfrm>
            <ns1:off x="10010775" y="4029075"/>
            <ns1:ext cx="3276600" cy="533400"/>
          </ns1:xfrm>
          <ns1:prstGeom prst="roundRect">
            <ns1:avLst>
              <ns1:gd name="adj" fmla="val 14286"/>
            </ns1:avLst>
          </ns1:prstGeom>
          <ns1:solidFill>
            <ns1:srgbClr val="FFFFFF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118" name="trace:S09:content.auto.108">
            <ns1:extLst>
              <ns1:ext uri="{FF2B5EF4-FFF2-40B4-BE49-F238E27FC236}">
                <ns2:creationId id="{04412B2F-8BB7-438B-81FC-DD2D7ECE02AF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4281297"/>
            <ns1:ext cx="50673" cy="86868"/>
          </ns1:xfrm>
          <ns1:prstGeom prst="rect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19" name="trace:S09:content.auto.109">
            <ns1:extLst>
              <ns1:ext uri="{FF2B5EF4-FFF2-40B4-BE49-F238E27FC236}">
                <ns2:creationId id="{6C05C317-0864-4457-925A-56D07618655D}"/>
              </ns1:ext>
            </ns1:extLst>
          </ns0:cNvPr>
          <ns0:cNvSpPr>
            <ns1:spLocks noGrp="1"/>
          </ns0:cNvSpPr>
          <ns0:nvPr/>
        </ns0:nvSpPr>
        <ns0:spPr>
          <ns1:xfrm>
            <ns1:off x="10373868" y="4230624"/>
            <ns1:ext cx="50673" cy="137541"/>
          </ns1:xfrm>
          <ns1:prstGeom prst="rect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20" name="trace:S09:content.auto.110">
            <ns1:extLst>
              <ns1:ext uri="{FF2B5EF4-FFF2-40B4-BE49-F238E27FC236}">
                <ns2:creationId id="{14E24D7F-5299-4146-A4AA-3F45B3DCD0F2}"/>
              </ns1:ext>
            </ns1:extLst>
          </ns0:cNvPr>
          <ns0:cNvSpPr>
            <ns1:spLocks noGrp="1"/>
          </ns0:cNvSpPr>
          <ns0:nvPr/>
        </ns0:nvSpPr>
        <ns0:spPr>
          <ns1:xfrm>
            <ns1:off x="10460736" y="4172712"/>
            <ns1:ext cx="50673" cy="195453"/>
          </ns1:xfrm>
          <ns1:prstGeom prst="rect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21" name="trace:S09:content.auto.111">
            <ns1:extLst>
              <ns1:ext uri="{FF2B5EF4-FFF2-40B4-BE49-F238E27FC236}">
                <ns2:creationId id="{8E4D4491-0A4A-487D-8FFB-F5BFD5649D5F}"/>
              </ns1:ext>
            </ns1:extLst>
          </ns0:cNvPr>
          <ns0:cNvSpPr>
            <ns1:spLocks noGrp="1"/>
          </ns0:cNvSpPr>
          <ns0:nvPr/>
        </ns0:nvSpPr>
        <ns0:spPr>
          <ns1:xfrm>
            <ns1:off x="10272522" y="4368165"/>
            <ns1:ext cx="282321" cy="0"/>
          </ns1:xfrm>
          <ns1:prstGeom prst="line">
            <ns1:avLst/>
          </ns1:prstGeom>
          <ns1:noFill/>
          <ns1:ln w="19050">
            <ns1:solidFill>
              <ns1:srgbClr val="0D2238"/>
            </ns1:solidFill>
            <ns1:prstDash val="solid"/>
          </ns1:ln>
        </ns0:spPr>
      </ns0:sp>
      <ns0:sp>
        <ns0:nvSpPr>
          <ns0:cNvPr id="122" name="trace:S09:content.auto.112">
            <ns1:extLst>
              <ns1:ext uri="{FF2B5EF4-FFF2-40B4-BE49-F238E27FC236}">
                <ns2:creationId id="{4C02DC28-76DF-4E0B-8650-DFA10C233B54}"/>
              </ns1:ext>
            </ns1:extLst>
          </ns0:cNvPr>
          <ns0:cNvSpPr>
            <ns1:spLocks noGrp="1"/>
          </ns0:cNvSpPr>
          <ns0:nvPr/>
        </ns0:nvSpPr>
        <ns0:spPr>
          <ns1:xfrm>
            <ns1:off x="10877550" y="4095750"/>
            <ns1:ext cx="22383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9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BIツール</ns1:t>
            </ns1:r>
          </ns1:p>
        </ns0:txBody>
      </ns0:sp>
      <ns0:sp>
        <ns0:nvSpPr>
          <ns0:cNvPr id="123" name="trace:S09:content.auto.113">
            <ns1:extLst>
              <ns1:ext uri="{FF2B5EF4-FFF2-40B4-BE49-F238E27FC236}">
                <ns2:creationId id="{51237999-1096-41E8-B7D3-7E980549FA49}"/>
              </ns1:ext>
            </ns1:extLst>
          </ns0:cNvPr>
          <ns0:cNvSpPr>
            <ns1:spLocks noGrp="1"/>
          </ns0:cNvSpPr>
          <ns0:nvPr/>
        </ns0:nvSpPr>
        <ns0:spPr>
          <ns1:xfrm>
            <ns1:off x="10877550" y="4286250"/>
            <ns1:ext cx="2238375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データ分析・経営ダッシュボード</ns1:t>
            </ns1:r>
          </ns1:p>
        </ns0:txBody>
      </ns0:sp>
      <ns0:sp>
        <ns0:nvSpPr>
          <ns0:cNvPr id="124" name="trace:S09:content.auto.114">
            <ns1:extLst>
              <ns1:ext uri="{FF2B5EF4-FFF2-40B4-BE49-F238E27FC236}">
                <ns2:creationId id="{32B50DB5-6C03-4CE5-9055-56A92A7A0493}"/>
              </ns1:ext>
            </ns1:extLst>
          </ns0:cNvPr>
          <ns0:cNvSpPr>
            <ns1:spLocks noGrp="1"/>
          </ns0:cNvSpPr>
          <ns0:nvPr/>
        </ns0:nvSpPr>
        <ns0:spPr>
          <ns1:xfrm>
            <ns1:off x="9048750" y="2505075"/>
            <ns1:ext cx="838200" cy="552450"/>
          </ns1:xfrm>
          <ns1:custGeom>
            <ns1:pathLst>
              <ns1:path w="838200" h="552450">
                <ns1:moveTo>
                  <ns1:pt x="0" y="0"/>
                </ns1:moveTo>
                <ns1:lnTo>
                  <ns1:pt x="581025" y="0"/>
                </ns1:lnTo>
                <ns1:lnTo>
                  <ns1:pt x="838200" y="276225"/>
                </ns1:lnTo>
                <ns1:lnTo>
                  <ns1:pt x="581025" y="552450"/>
                </ns1:lnTo>
                <ns1:lnTo>
                  <ns1:pt x="0" y="552450"/>
                </ns1:lnTo>
                <ns1:lnTo>
                  <ns1:pt x="128588" y="276225"/>
                </ns1:lnTo>
                <ns1:close/>
              </ns1:path>
            </ns1:pathLst>
          </ns1:custGeom>
          <ns1:solidFill>
            <ns1:srgbClr val="0D2238"/>
          </ns1:solidFill>
          <ns1:ln w="9525">
            <ns1:solidFill>
              <ns1:srgbClr val="0D2238"/>
            </ns1:solidFill>
            <ns1:prstDash val="solid"/>
          </ns1:ln>
        </ns0:spPr>
      </ns0:sp>
      <ns0:sp>
        <ns0:nvSpPr>
          <ns0:cNvPr id="125" name="trace:S09:content.auto.115">
            <ns1:extLst>
              <ns1:ext uri="{FF2B5EF4-FFF2-40B4-BE49-F238E27FC236}">
                <ns2:creationId id="{E590162A-CAFB-444C-BF07-EF22D8699A9C}"/>
              </ns1:ext>
            </ns1:extLst>
          </ns0:cNvPr>
          <ns0:cNvSpPr>
            <ns1:spLocks noGrp="1"/>
          </ns0:cNvSpPr>
          <ns0:nvPr/>
        </ns0:nvSpPr>
        <ns0:spPr>
          <ns1:xfrm>
            <ns1:off x="9105900" y="2647950"/>
            <ns1:ext cx="6858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90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0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データ連携</ns1:t>
            </ns1:r>
          </ns1:p>
        </ns0:txBody>
      </ns0:sp>
      <ns0:sp>
        <ns0:nvSpPr>
          <ns0:cNvPr id="126" name="trace:S09:content.auto.116">
            <ns1:extLst>
              <ns1:ext uri="{FF2B5EF4-FFF2-40B4-BE49-F238E27FC236}">
                <ns2:creationId id="{48FE2952-4B52-4264-9EBA-90688E96D041}"/>
              </ns1:ext>
            </ns1:extLst>
          </ns0:cNvPr>
          <ns0:cNvSpPr>
            <ns1:spLocks noGrp="1"/>
          </ns0:cNvSpPr>
          <ns0:nvPr/>
        </ns0:nvSpPr>
        <ns0:spPr>
          <ns1:xfrm>
            <ns1:off x="9048750" y="3171825"/>
            <ns1:ext cx="838200" cy="552450"/>
          </ns1:xfrm>
          <ns1:custGeom>
            <ns1:pathLst>
              <ns1:path w="838200" h="552450">
                <ns1:moveTo>
                  <ns1:pt x="0" y="0"/>
                </ns1:moveTo>
                <ns1:lnTo>
                  <ns1:pt x="581025" y="0"/>
                </ns1:lnTo>
                <ns1:lnTo>
                  <ns1:pt x="838200" y="276225"/>
                </ns1:lnTo>
                <ns1:lnTo>
                  <ns1:pt x="581025" y="552450"/>
                </ns1:lnTo>
                <ns1:lnTo>
                  <ns1:pt x="0" y="552450"/>
                </ns1:lnTo>
                <ns1:lnTo>
                  <ns1:pt x="128588" y="276225"/>
                </ns1:lnTo>
                <ns1:close/>
              </ns1:path>
            </ns1:pathLst>
          </ns1:cu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27" name="trace:S09:content.auto.117">
            <ns1:extLst>
              <ns1:ext uri="{FF2B5EF4-FFF2-40B4-BE49-F238E27FC236}">
                <ns2:creationId id="{3A420264-C067-4C27-A79E-B69E71B7E9FA}"/>
              </ns1:ext>
            </ns1:extLst>
          </ns0:cNvPr>
          <ns0:cNvSpPr>
            <ns1:spLocks noGrp="1"/>
          </ns0:cNvSpPr>
          <ns0:nvPr/>
        </ns0:nvSpPr>
        <ns0:spPr>
          <ns1:xfrm>
            <ns1:off x="9105900" y="3248025"/>
            <ns1:ext cx="6858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8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外部データ</ns1:t>
            </ns1:r>
          </ns1:p>
          <ns1:p>
            <ns1:pPr algn="ctr">
              <ns1:lnSpc>
                <ns1:spcPct val="108000"/>
              </ns1:lnSpc>
              <ns1:buNone/>
              <ns1:defRPr sz="8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取り込み</ns1:t>
            </ns1:r>
          </ns1:p>
        </ns0:txBody>
      </ns0:sp>
      <ns0:sp>
        <ns0:nvSpPr>
          <ns0:cNvPr id="128" name="trace:S09:content.auto.118">
            <ns1:extLst>
              <ns1:ext uri="{FF2B5EF4-FFF2-40B4-BE49-F238E27FC236}">
                <ns2:creationId id="{48A1B473-9003-4C44-BF01-B156317A725F}"/>
              </ns1:ext>
            </ns1:extLst>
          </ns0:cNvPr>
          <ns0:cNvSpPr>
            <ns1:spLocks noGrp="1"/>
          </ns0:cNvSpPr>
          <ns0:nvPr/>
        </ns0:nvSpPr>
        <ns0:spPr>
          <ns1:xfrm>
            <ns1:off x="304800" y="4810125"/>
            <ns1:ext cx="3905250" cy="1714500"/>
          </ns1:xfrm>
          <ns1:prstGeom prst="roundRect">
            <ns1:avLst>
              <ns1:gd name="adj" fmla="val 4444"/>
            </ns1:avLst>
          </ns1:prstGeom>
          <ns1:solidFill>
            <ns1:srgbClr val="FFFFFF"/>
          </ns1:solidFill>
          <ns1:ln w="9525">
            <ns1:solidFill>
              <ns1:srgbClr val="B8CADB"/>
            </ns1:solidFill>
            <ns1:prstDash val="solid"/>
          </ns1:ln>
        </ns0:spPr>
      </ns0:sp>
      <ns0:sp>
        <ns0:nvSpPr>
          <ns0:cNvPr id="129" name="trace:S09:content.auto.119">
            <ns1:extLst>
              <ns1:ext uri="{FF2B5EF4-FFF2-40B4-BE49-F238E27FC236}">
                <ns2:creationId id="{BC68DFAE-6A08-40F9-8BA4-D143FEBB813B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4924425"/>
            <ns1:ext cx="495300" cy="495300"/>
          </ns1:xfrm>
          <ns1:prstGeom prst="ellipse">
            <ns1:avLst/>
          </ns1:prstGeom>
          <ns1:solidFill>
            <ns1:srgbClr val="0D2238"/>
          </ns1:solidFill>
          <ns1:ln w="9525">
            <ns1:solidFill>
              <ns1:srgbClr val="0D2238"/>
            </ns1:solidFill>
            <ns1:prstDash val="solid"/>
          </ns1:ln>
        </ns0:spPr>
      </ns0:sp>
      <ns0:sp>
        <ns0:nvSpPr>
          <ns0:cNvPr id="130" name="trace:S09:content.auto.120">
            <ns1:extLst>
              <ns1:ext uri="{FF2B5EF4-FFF2-40B4-BE49-F238E27FC236}">
                <ns2:creationId id="{5054807B-63DB-4ED5-82D4-2928F81F89F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048250"/>
            <ns1:ext cx="233172" cy="77724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31" name="trace:S09:content.auto.121">
            <ns1:extLst>
              <ns1:ext uri="{FF2B5EF4-FFF2-40B4-BE49-F238E27FC236}">
                <ns2:creationId id="{9EE2174D-751E-46A6-83BF-D19E3EE956B1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177790"/>
            <ns1:ext cx="233172" cy="77724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32" name="trace:S09:content.auto.122">
            <ns1:extLst>
              <ns1:ext uri="{FF2B5EF4-FFF2-40B4-BE49-F238E27FC236}">
                <ns2:creationId id="{32D2B68A-9218-475E-8E65-24EE5D66FFC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087112"/>
            <ns1:ext cx="0" cy="0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33" name="trace:S09:content.auto.123">
            <ns1:extLst>
              <ns1:ext uri="{FF2B5EF4-FFF2-40B4-BE49-F238E27FC236}">
                <ns2:creationId id="{063345FD-7B93-47FB-BAB7-E3EE674785AA}"/>
              </ns1:ext>
            </ns1:extLst>
          </ns0:cNvPr>
          <ns0:cNvSpPr>
            <ns1:spLocks noGrp="1"/>
          </ns0:cNvSpPr>
          <ns0:nvPr/>
        </ns0:nvSpPr>
        <ns0:spPr>
          <ns1:xfrm>
            <ns1:off x="842772" y="5087112"/>
            <ns1:ext cx="0" cy="0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34" name="trace:S09:content.auto.124">
            <ns1:extLst>
              <ns1:ext uri="{FF2B5EF4-FFF2-40B4-BE49-F238E27FC236}">
                <ns2:creationId id="{280F4AB8-6B05-49B1-8BEF-536721803A2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216652"/>
            <ns1:ext cx="0" cy="0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35" name="trace:S09:content.auto.125">
            <ns1:extLst>
              <ns1:ext uri="{FF2B5EF4-FFF2-40B4-BE49-F238E27FC236}">
                <ns2:creationId id="{FACF54E7-12B2-46E3-87BC-21C5F8020F1D}"/>
              </ns1:ext>
            </ns1:extLst>
          </ns0:cNvPr>
          <ns0:cNvSpPr>
            <ns1:spLocks noGrp="1"/>
          </ns0:cNvSpPr>
          <ns0:nvPr/>
        </ns0:nvSpPr>
        <ns0:spPr>
          <ns1:xfrm>
            <ns1:off x="842772" y="5216652"/>
            <ns1:ext cx="0" cy="0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36" name="trace:S09:content.auto.126">
            <ns1:extLst>
              <ns1:ext uri="{FF2B5EF4-FFF2-40B4-BE49-F238E27FC236}">
                <ns2:creationId id="{0E55E159-BF1E-4274-8260-432611B696DF}"/>
              </ns1:ext>
            </ns1:extLst>
          </ns0:cNvPr>
          <ns0:cNvSpPr>
            <ns1:spLocks noGrp="1"/>
          </ns0:cNvSpPr>
          <ns0:nvPr/>
        </ns0:nvSpPr>
        <ns0:spPr>
          <ns1:xfrm>
            <ns1:off x="1190625" y="4972050"/>
            <ns1:ext cx="19526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費用概算</ns1:t>
            </ns1:r>
          </ns1:p>
        </ns0:txBody>
      </ns0:sp>
      <ns0:sp>
        <ns0:nvSpPr>
          <ns0:cNvPr id="137" name="trace:S09:content.auto.127">
            <ns1:extLst>
              <ns1:ext uri="{FF2B5EF4-FFF2-40B4-BE49-F238E27FC236}">
                <ns2:creationId id="{C833A051-FB42-43E6-B4BF-5572EFEC545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353050"/>
            <ns1:ext cx="179070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初期費用</ns1:t>
            </ns1:r>
          </ns1:p>
        </ns0:txBody>
      </ns0:sp>
      <ns0:sp>
        <ns0:nvSpPr>
          <ns0:cNvPr id="138" name="trace:S09:content.auto.128">
            <ns1:extLst>
              <ns1:ext uri="{FF2B5EF4-FFF2-40B4-BE49-F238E27FC236}">
                <ns2:creationId id="{31E59FDF-F09A-4F88-A664-E655F7DA14C2}"/>
              </ns1:ext>
            </ns1:extLst>
          </ns0:cNvPr>
          <ns0:cNvSpPr>
            <ns1:spLocks noGrp="1"/>
          </ns0:cNvSpPr>
          <ns0:nvPr/>
        </ns0:nvSpPr>
        <ns0:spPr>
          <ns1:xfrm>
            <ns1:off x="3028950" y="5353050"/>
            <ns1:ext cx="10001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1,200 万円〜</ns1:t>
            </ns1:r>
          </ns1:p>
        </ns0:txBody>
      </ns0:sp>
      <ns0:sp>
        <ns0:nvSpPr>
          <ns0:cNvPr id="139" name="trace:S09:content.auto.129">
            <ns1:extLst>
              <ns1:ext uri="{FF2B5EF4-FFF2-40B4-BE49-F238E27FC236}">
                <ns2:creationId id="{A09BB829-5834-4FD0-96C7-5D37A1D98AAB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610225"/>
            <ns1:ext cx="179070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ライセンス費用</ns1:t>
            </ns1:r>
          </ns1:p>
        </ns0:txBody>
      </ns0:sp>
      <ns0:sp>
        <ns0:nvSpPr>
          <ns0:cNvPr id="140" name="trace:S09:content.auto.130">
            <ns1:extLst>
              <ns1:ext uri="{FF2B5EF4-FFF2-40B4-BE49-F238E27FC236}">
                <ns2:creationId id="{A487E5FC-D8AC-485E-8516-BE0CE32F4ED1}"/>
              </ns1:ext>
            </ns1:extLst>
          </ns0:cNvPr>
          <ns0:cNvSpPr>
            <ns1:spLocks noGrp="1"/>
          </ns0:cNvSpPr>
          <ns0:nvPr/>
        </ns0:nvSpPr>
        <ns0:spPr>
          <ns1:xfrm>
            <ns1:off x="2838450" y="5610225"/>
            <ns1:ext cx="11906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年間 300 万円〜</ns1:t>
            </ns1:r>
          </ns1:p>
        </ns0:txBody>
      </ns0:sp>
      <ns0:sp>
        <ns0:nvSpPr>
          <ns0:cNvPr id="141" name="trace:S09:content.auto.131">
            <ns1:extLst>
              <ns1:ext uri="{FF2B5EF4-FFF2-40B4-BE49-F238E27FC236}">
                <ns2:creationId id="{800126F6-882F-452D-887C-A34BFB6381D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867400"/>
            <ns1:ext cx="272415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05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その他（導入支援・カスタマイズ等）</ns1:t>
            </ns1:r>
          </ns1:p>
        </ns0:txBody>
      </ns0:sp>
      <ns0:sp>
        <ns0:nvSpPr>
          <ns0:cNvPr id="142" name="trace:S09:content.auto.132">
            <ns1:extLst>
              <ns1:ext uri="{FF2B5EF4-FFF2-40B4-BE49-F238E27FC236}">
                <ns2:creationId id="{C1790D57-E8D0-4BA1-B6B1-52B289687B1B}"/>
              </ns1:ext>
            </ns1:extLst>
          </ns0:cNvPr>
          <ns0:cNvSpPr>
            <ns1:spLocks noGrp="1"/>
          </ns0:cNvSpPr>
          <ns0:nvPr/>
        </ns0:nvSpPr>
        <ns0:spPr>
          <ns1:xfrm>
            <ns1:off x="3219450" y="5867400"/>
            <ns1:ext cx="8096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lnSpc>
                <ns1:spcPct val="108000"/>
              </ns1:lnSpc>
              <ns1:buNone/>
              <ns1:def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400 万円〜</ns1:t>
            </ns1:r>
          </ns1:p>
        </ns0:txBody>
      </ns0:sp>
      <ns0:sp>
        <ns0:nvSpPr>
          <ns0:cNvPr id="143" name="trace:S09:content.auto.133">
            <ns1:extLst>
              <ns1:ext uri="{FF2B5EF4-FFF2-40B4-BE49-F238E27FC236}">
                <ns2:creationId id="{19A177BE-5AF9-4309-83EF-752E616C7FC1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6124575"/>
            <ns1:ext cx="3429000" cy="0"/>
          </ns1:xfrm>
          <ns1:prstGeom prst="line">
            <ns1:avLst/>
          </ns1:prstGeom>
          <ns1:noFill/>
          <ns1:ln w="9525">
            <ns1:solidFill>
              <ns1:srgbClr val="0D2238"/>
            </ns1:solidFill>
            <ns1:prstDash val="solid"/>
          </ns1:ln>
        </ns0:spPr>
      </ns0:sp>
      <ns0:sp>
        <ns0:nvSpPr>
          <ns0:cNvPr id="144" name="trace:S09:content.auto.134">
            <ns1:extLst>
              <ns1:ext uri="{FF2B5EF4-FFF2-40B4-BE49-F238E27FC236}">
                <ns2:creationId id="{D356A3E3-B92D-43B3-96BC-6015C3962C77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200775"/>
            <ns1:ext cx="185737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合計（初年度目安）</ns1:t>
            </ns1:r>
          </ns1:p>
        </ns0:txBody>
      </ns0:sp>
      <ns0:sp>
        <ns0:nvSpPr>
          <ns0:cNvPr id="145" name="trace:S09:content.auto.135">
            <ns1:extLst>
              <ns1:ext uri="{FF2B5EF4-FFF2-40B4-BE49-F238E27FC236}">
                <ns2:creationId id="{ACE72D1E-0523-45B8-B230-42F620BC29BD}"/>
              </ns1:ext>
            </ns1:extLst>
          </ns0:cNvPr>
          <ns0:cNvSpPr>
            <ns1:spLocks noGrp="1"/>
          </ns0:cNvSpPr>
          <ns0:nvPr/>
        </ns0:nvSpPr>
        <ns0:spPr>
          <ns1:xfrm>
            <ns1:off x="2914650" y="6172200"/>
            <ns1:ext cx="1143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lnSpc>
                <ns1:spcPct val="105000"/>
              </ns1:lnSpc>
              <ns1:buNone/>
              <ns1:defRPr sz="1425"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1,900</ns1:t>
            </ns1:r>
            <ns1:r>
              <ns1:rPr sz="1425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 万円〜</ns1:t>
            </ns1:r>
          </ns1:p>
        </ns0:txBody>
      </ns0:sp>
      <ns0:sp>
        <ns0:nvSpPr>
          <ns0:cNvPr id="146" name="trace:S09:content.auto.136">
            <ns1:extLst>
              <ns1:ext uri="{FF2B5EF4-FFF2-40B4-BE49-F238E27FC236}">
                <ns2:creationId id="{4F7712C5-0096-42A7-985C-DDCE29EDC0B4}"/>
              </ns1:ext>
            </ns1:extLst>
          </ns0:cNvPr>
          <ns0:cNvSpPr>
            <ns1:spLocks noGrp="1"/>
          </ns0:cNvSpPr>
          <ns0:nvPr/>
        </ns0:nvSpPr>
        <ns0:spPr>
          <ns1:xfrm>
            <ns1:off x="4429125" y="4810125"/>
            <ns1:ext cx="3571875" cy="1714500"/>
          </ns1:xfrm>
          <ns1:prstGeom prst="roundRect">
            <ns1:avLst>
              <ns1:gd name="adj" fmla="val 4444"/>
            </ns1:avLst>
          </ns1:prstGeom>
          <ns1:solidFill>
            <ns1:srgbClr val="FFFFFF"/>
          </ns1:solidFill>
          <ns1:ln w="9525">
            <ns1:solidFill>
              <ns1:srgbClr val="E6B8C0"/>
            </ns1:solidFill>
            <ns1:prstDash val="solid"/>
          </ns1:ln>
        </ns0:spPr>
      </ns0:sp>
      <ns0:sp>
        <ns0:nvSpPr>
          <ns0:cNvPr id="147" name="trace:S09:content.auto.137">
            <ns1:extLst>
              <ns1:ext uri="{FF2B5EF4-FFF2-40B4-BE49-F238E27FC236}">
                <ns2:creationId id="{A6C84D5B-31CF-4413-AB81-058544DBFD59}"/>
              </ns1:ext>
            </ns1:extLst>
          </ns0:cNvPr>
          <ns0:cNvSpPr>
            <ns1:spLocks noGrp="1"/>
          </ns0:cNvSpPr>
          <ns0:nvPr/>
        </ns0:nvSpPr>
        <ns0:spPr>
          <ns1:xfrm>
            <ns1:off x="4619625" y="4924425"/>
            <ns1:ext cx="495300" cy="495300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48" name="trace:S09:content.auto.138">
            <ns1:extLst>
              <ns1:ext uri="{FF2B5EF4-FFF2-40B4-BE49-F238E27FC236}">
                <ns2:creationId id="{3A4F4717-63DD-41E7-B7C9-DBD454363284}"/>
              </ns1:ext>
            </ns1:extLst>
          </ns0:cNvPr>
          <ns0:cNvSpPr>
            <ns1:spLocks noGrp="1"/>
          </ns0:cNvSpPr>
          <ns0:nvPr/>
        </ns0:nvSpPr>
        <ns0:spPr>
          <ns1:xfrm>
            <ns1:off x="4743450" y="5184743"/>
            <ns1:ext cx="47339" cy="81153"/>
          </ns1:xfrm>
          <ns1:prstGeom prst="rect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49" name="trace:S09:content.auto.139">
            <ns1:extLst>
              <ns1:ext uri="{FF2B5EF4-FFF2-40B4-BE49-F238E27FC236}">
                <ns2:creationId id="{54B2D9AE-0C5E-4E1B-8EA1-EA466726E8B9}"/>
              </ns1:ext>
            </ns1:extLst>
          </ns0:cNvPr>
          <ns0:cNvSpPr>
            <ns1:spLocks noGrp="1"/>
          </ns0:cNvSpPr>
          <ns0:nvPr/>
        </ns0:nvSpPr>
        <ns0:spPr>
          <ns1:xfrm>
            <ns1:off x="4824603" y="5137404"/>
            <ns1:ext cx="47339" cy="128492"/>
          </ns1:xfrm>
          <ns1:prstGeom prst="rect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50" name="trace:S09:content.auto.140">
            <ns1:extLst>
              <ns1:ext uri="{FF2B5EF4-FFF2-40B4-BE49-F238E27FC236}">
                <ns2:creationId id="{EF00B04D-D061-4C33-9B3B-6C8ED5E62B71}"/>
              </ns1:ext>
            </ns1:extLst>
          </ns0:cNvPr>
          <ns0:cNvSpPr>
            <ns1:spLocks noGrp="1"/>
          </ns0:cNvSpPr>
          <ns0:nvPr/>
        </ns0:nvSpPr>
        <ns0:spPr>
          <ns1:xfrm>
            <ns1:off x="4905756" y="5083302"/>
            <ns1:ext cx="47339" cy="182594"/>
          </ns1:xfrm>
          <ns1:prstGeom prst="rect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51" name="trace:S09:content.auto.141">
            <ns1:extLst>
              <ns1:ext uri="{FF2B5EF4-FFF2-40B4-BE49-F238E27FC236}">
                <ns2:creationId id="{63EAB6E2-3B49-4822-91DA-90F5A66275AB}"/>
              </ns1:ext>
            </ns1:extLst>
          </ns0:cNvPr>
          <ns0:cNvSpPr>
            <ns1:spLocks noGrp="1"/>
          </ns0:cNvSpPr>
          <ns0:nvPr/>
        </ns0:nvSpPr>
        <ns0:spPr>
          <ns1:xfrm>
            <ns1:off x="4729925" y="5265896"/>
            <ns1:ext cx="263747" cy="0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52" name="trace:S09:content.auto.142">
            <ns1:extLst>
              <ns1:ext uri="{FF2B5EF4-FFF2-40B4-BE49-F238E27FC236}">
                <ns2:creationId id="{D137A24F-EEDE-4295-B92F-3E8A2CA774C4}"/>
              </ns1:ext>
            </ns1:extLst>
          </ns0:cNvPr>
          <ns0:cNvSpPr>
            <ns1:spLocks noGrp="1"/>
          </ns0:cNvSpPr>
          <ns0:nvPr/>
        </ns0:nvSpPr>
        <ns0:spPr>
          <ns1:xfrm>
            <ns1:off x="5257800" y="4972050"/>
            <ns1:ext cx="23336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投資効果（ROI）</ns1:t>
            </ns1:r>
          </ns1:p>
        </ns0:txBody>
      </ns0:sp>
      <ns0:sp>
        <ns0:nvSpPr>
          <ns0:cNvPr id="153" name="trace:S09:content.auto.143">
            <ns1:extLst>
              <ns1:ext uri="{FF2B5EF4-FFF2-40B4-BE49-F238E27FC236}">
                <ns2:creationId id="{FCFDBF94-A7CB-477C-9453-426A6DF73DD6}"/>
              </ns1:ext>
            </ns1:extLst>
          </ns0:cNvPr>
          <ns0:cNvSpPr>
            <ns1:spLocks noGrp="1"/>
          </ns0:cNvSpPr>
          <ns0:nvPr/>
        </ns0:nvSpPr>
        <ns0:spPr>
          <ns1:xfrm>
            <ns1:off x="4733925" y="5353050"/>
            <ns1:ext cx="211455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05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業務工数の削減（年間）</ns1:t>
            </ns1:r>
          </ns1:p>
        </ns0:txBody>
      </ns0:sp>
      <ns0:sp>
        <ns0:nvSpPr>
          <ns0:cNvPr id="154" name="trace:S09:content.auto.144">
            <ns1:extLst>
              <ns1:ext uri="{FF2B5EF4-FFF2-40B4-BE49-F238E27FC236}">
                <ns2:creationId id="{BF2BA192-953F-48A4-84AC-B4371050E42F}"/>
              </ns1:ext>
            </ns1:extLst>
          </ns0:cNvPr>
          <ns0:cNvSpPr>
            <ns1:spLocks noGrp="1"/>
          </ns0:cNvSpPr>
          <ns0:nvPr/>
        </ns0:nvSpPr>
        <ns0:spPr>
          <ns1:xfrm>
            <ns1:off x="6877050" y="5353050"/>
            <ns1:ext cx="91440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lnSpc>
                <ns1:spcPct val="108000"/>
              </ns1:lnSpc>
              <ns1:buNone/>
              <ns1:defRPr sz="105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約 5,000 時間</ns1:t>
            </ns1:r>
          </ns1:p>
        </ns0:txBody>
      </ns0:sp>
      <ns0:sp>
        <ns0:nvSpPr>
          <ns0:cNvPr id="155" name="trace:S09:content.auto.145">
            <ns1:extLst>
              <ns1:ext uri="{FF2B5EF4-FFF2-40B4-BE49-F238E27FC236}">
                <ns2:creationId id="{DE99AEBA-8B6C-42A2-9480-5C176DB8570A}"/>
              </ns1:ext>
            </ns1:extLst>
          </ns0:cNvPr>
          <ns0:cNvSpPr>
            <ns1:spLocks noGrp="1"/>
          </ns0:cNvSpPr>
          <ns0:nvPr/>
        </ns0:nvSpPr>
        <ns0:spPr>
          <ns1:xfrm>
            <ns1:off x="4733925" y="5610225"/>
            <ns1:ext cx="211455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05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コスト削減効果（年間）</ns1:t>
            </ns1:r>
          </ns1:p>
        </ns0:txBody>
      </ns0:sp>
      <ns0:sp>
        <ns0:nvSpPr>
          <ns0:cNvPr id="156" name="trace:S09:content.auto.146">
            <ns1:extLst>
              <ns1:ext uri="{FF2B5EF4-FFF2-40B4-BE49-F238E27FC236}">
                <ns2:creationId id="{D73D19DA-DA35-4CF6-A62B-3E687B82F2E9}"/>
              </ns1:ext>
            </ns1:extLst>
          </ns0:cNvPr>
          <ns0:cNvSpPr>
            <ns1:spLocks noGrp="1"/>
          </ns0:cNvSpPr>
          <ns0:nvPr/>
        </ns0:nvSpPr>
        <ns0:spPr>
          <ns1:xfrm>
            <ns1:off x="6877050" y="5610225"/>
            <ns1:ext cx="91440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lnSpc>
                <ns1:spcPct val="108000"/>
              </ns1:lnSpc>
              <ns1:buNone/>
              <ns1:defRPr sz="105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約 800 万円</ns1:t>
            </ns1:r>
          </ns1:p>
        </ns0:txBody>
      </ns0:sp>
      <ns0:sp>
        <ns0:nvSpPr>
          <ns0:cNvPr id="157" name="trace:S09:content.auto.147">
            <ns1:extLst>
              <ns1:ext uri="{FF2B5EF4-FFF2-40B4-BE49-F238E27FC236}">
                <ns2:creationId id="{9A2F0952-F820-4DDF-9E5A-76C206FA4EE3}"/>
              </ns1:ext>
            </ns1:extLst>
          </ns0:cNvPr>
          <ns0:cNvSpPr>
            <ns1:spLocks noGrp="1"/>
          </ns0:cNvSpPr>
          <ns0:nvPr/>
        </ns0:nvSpPr>
        <ns0:spPr>
          <ns1:xfrm>
            <ns1:off x="4733925" y="5867400"/>
            <ns1:ext cx="211455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05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投資回収期間</ns1:t>
            </ns1:r>
          </ns1:p>
        </ns0:txBody>
      </ns0:sp>
      <ns0:sp>
        <ns0:nvSpPr>
          <ns0:cNvPr id="158" name="trace:S09:content.auto.148">
            <ns1:extLst>
              <ns1:ext uri="{FF2B5EF4-FFF2-40B4-BE49-F238E27FC236}">
                <ns2:creationId id="{8367B57F-CD64-47EC-9FF2-5E470CF2C7E6}"/>
              </ns1:ext>
            </ns1:extLst>
          </ns0:cNvPr>
          <ns0:cNvSpPr>
            <ns1:spLocks noGrp="1"/>
          </ns0:cNvSpPr>
          <ns0:nvPr/>
        </ns0:nvSpPr>
        <ns0:spPr>
          <ns1:xfrm>
            <ns1:off x="6877050" y="5867400"/>
            <ns1:ext cx="91440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lnSpc>
                <ns1:spcPct val="108000"/>
              </ns1:lnSpc>
              <ns1:buNone/>
              <ns1:defRPr sz="105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約 2.4 年</ns1:t>
            </ns1:r>
          </ns1:p>
        </ns0:txBody>
      </ns0:sp>
      <ns0:sp>
        <ns0:nvSpPr>
          <ns0:cNvPr id="159" name="trace:S09:content.auto.149">
            <ns1:extLst>
              <ns1:ext uri="{FF2B5EF4-FFF2-40B4-BE49-F238E27FC236}">
                <ns2:creationId id="{F3AEE4DC-E952-4BD1-A4AA-568E6B9A290D}"/>
              </ns1:ext>
            </ns1:extLst>
          </ns0:cNvPr>
          <ns0:cNvSpPr>
            <ns1:spLocks noGrp="1"/>
          </ns0:cNvSpPr>
          <ns0:nvPr/>
        </ns0:nvSpPr>
        <ns0:spPr>
          <ns1:xfrm>
            <ns1:off x="4714875" y="6124575"/>
            <ns1:ext cx="3067050" cy="0"/>
          </ns1:xfrm>
          <ns1:prstGeom prst="line">
            <ns1:avLst/>
          </ns1:prstGeom>
          <ns1:noFill/>
          <ns1:ln w="9525">
            <ns1:solidFill>
              <ns1:srgbClr val="0D2238"/>
            </ns1:solidFill>
            <ns1:prstDash val="solid"/>
          </ns1:ln>
        </ns0:spPr>
      </ns0:sp>
      <ns0:sp>
        <ns0:nvSpPr>
          <ns0:cNvPr id="160" name="trace:S09:content.auto.150">
            <ns1:extLst>
              <ns1:ext uri="{FF2B5EF4-FFF2-40B4-BE49-F238E27FC236}">
                <ns2:creationId id="{DFC1BFD0-0E35-4019-8C16-A57ED3C07020}"/>
              </ns1:ext>
            </ns1:extLst>
          </ns0:cNvPr>
          <ns0:cNvSpPr>
            <ns1:spLocks noGrp="1"/>
          </ns0:cNvSpPr>
          <ns0:nvPr/>
        </ns0:nvSpPr>
        <ns0:spPr>
          <ns1:xfrm>
            <ns1:off x="4733925" y="6200775"/>
            <ns1:ext cx="166687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0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3年間の累計効果</ns1:t>
            </ns1:r>
          </ns1:p>
        </ns0:txBody>
      </ns0:sp>
      <ns0:sp>
        <ns0:nvSpPr>
          <ns0:cNvPr id="161" name="trace:S09:content.auto.151">
            <ns1:extLst>
              <ns1:ext uri="{FF2B5EF4-FFF2-40B4-BE49-F238E27FC236}">
                <ns2:creationId id="{FF7A7EC4-D393-4627-808F-28999A2ECF82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6162675"/>
            <ns1:ext cx="11239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lnSpc>
                <ns1:spcPct val="108000"/>
              </ns1:lnSpc>
              <ns1:buNone/>
              <ns1:defRPr sz="135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35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約 2,400 万円</ns1:t>
            </ns1:r>
          </ns1:p>
        </ns0:txBody>
      </ns0:sp>
      <ns0:sp>
        <ns0:nvSpPr>
          <ns0:cNvPr id="162" name="trace:S09:content.auto.152">
            <ns1:extLst>
              <ns1:ext uri="{FF2B5EF4-FFF2-40B4-BE49-F238E27FC236}">
                <ns2:creationId id="{417190FF-6C5C-4988-87C2-C366CBD9CFE6}"/>
              </ns1:ext>
            </ns1:extLst>
          </ns0:cNvPr>
          <ns0:cNvSpPr>
            <ns1:spLocks noGrp="1"/>
          </ns0:cNvSpPr>
          <ns0:nvPr/>
        </ns0:nvSpPr>
        <ns0:spPr>
          <ns1:xfrm>
            <ns1:off x="8191500" y="4810125"/>
            <ns1:ext cx="5219700" cy="1714500"/>
          </ns1:xfrm>
          <ns1:prstGeom prst="roundRect">
            <ns1:avLst>
              <ns1:gd name="adj" fmla="val 4444"/>
            </ns1:avLst>
          </ns1:prstGeom>
          <ns1:solidFill>
            <ns1:srgbClr val="FFFFFF"/>
          </ns1:solidFill>
          <ns1:ln w="9525">
            <ns1:solidFill>
              <ns1:srgbClr val="B8CADB"/>
            </ns1:solidFill>
            <ns1:prstDash val="solid"/>
          </ns1:ln>
        </ns0:spPr>
      </ns0:sp>
      <ns0:sp>
        <ns0:nvSpPr>
          <ns0:cNvPr id="163" name="trace:S09:content.auto.153">
            <ns1:extLst>
              <ns1:ext uri="{FF2B5EF4-FFF2-40B4-BE49-F238E27FC236}">
                <ns2:creationId id="{BF9267EC-CE00-4CA9-A3EA-94A9E42A2B32}"/>
              </ns1:ext>
            </ns1:extLst>
          </ns0:cNvPr>
          <ns0:cNvSpPr>
            <ns1:spLocks noGrp="1"/>
          </ns0:cNvSpPr>
          <ns0:nvPr/>
        </ns0:nvSpPr>
        <ns0:spPr>
          <ns1:xfrm>
            <ns1:off x="8382000" y="4924425"/>
            <ns1:ext cx="495300" cy="495300"/>
          </ns1:xfrm>
          <ns1:prstGeom prst="ellipse">
            <ns1:avLst/>
          </ns1:prstGeom>
          <ns1:solidFill>
            <ns1:srgbClr val="0D2238"/>
          </ns1:solidFill>
          <ns1:ln w="9525">
            <ns1:solidFill>
              <ns1:srgbClr val="0D2238"/>
            </ns1:solidFill>
            <ns1:prstDash val="solid"/>
          </ns1:ln>
        </ns0:spPr>
      </ns0:sp>
      <ns0:sp>
        <ns0:nvSpPr>
          <ns0:cNvPr id="164" name="trace:S09:content.auto.154">
            <ns1:extLst>
              <ns1:ext uri="{FF2B5EF4-FFF2-40B4-BE49-F238E27FC236}">
                <ns2:creationId id="{712E6CCA-CF82-427E-A1ED-3754364833AA}"/>
              </ns1:ext>
            </ns1:extLst>
          </ns0:cNvPr>
          <ns0:cNvSpPr>
            <ns1:spLocks noGrp="1"/>
          </ns0:cNvSpPr>
          <ns0:nvPr/>
        </ns0:nvSpPr>
        <ns0:spPr>
          <ns1:xfrm>
            <ns1:off x="8486775" y="5048250"/>
            <ns1:ext cx="202882" cy="189357"/>
          </ns1:xfrm>
          <ns1:prstGeom prst="roundRect">
            <ns1:avLst>
              <ns1:gd name="adj" fmla="val 40241"/>
            </ns1:avLst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65" name="trace:S09:content.auto.155">
            <ns1:extLst>
              <ns1:ext uri="{FF2B5EF4-FFF2-40B4-BE49-F238E27FC236}">
                <ns2:creationId id="{2ECC76CD-5A12-475C-8F83-EB54EDCFD531}"/>
              </ns1:ext>
            </ns1:extLst>
          </ns0:cNvPr>
          <ns0:cNvSpPr>
            <ns1:spLocks noGrp="1"/>
          </ns0:cNvSpPr>
          <ns0:nvPr/>
        </ns0:nvSpPr>
        <ns0:spPr>
          <ns1:xfrm>
            <ns1:off x="8486775" y="5102352"/>
            <ns1:ext cx="202882" cy="0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66" name="trace:S09:content.auto.156">
            <ns1:extLst>
              <ns1:ext uri="{FF2B5EF4-FFF2-40B4-BE49-F238E27FC236}">
                <ns2:creationId id="{4003171C-2AAD-4FC2-BFBB-3261F4F5CC0F}"/>
              </ns1:ext>
            </ns1:extLst>
          </ns0:cNvPr>
          <ns0:cNvSpPr>
            <ns1:spLocks noGrp="1"/>
          </ns0:cNvSpPr>
          <ns0:nvPr/>
        </ns0:nvSpPr>
        <ns0:spPr>
          <ns1:xfrm>
            <ns1:off x="8540877" y="5027962"/>
            <ns1:ext cx="0" cy="0"/>
          </ns1:xfrm>
          <ns1:prstGeom prst="lin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67" name="trace:S09:content.auto.157">
            <ns1:extLst>
              <ns1:ext uri="{FF2B5EF4-FFF2-40B4-BE49-F238E27FC236}">
                <ns2:creationId id="{1A842251-A6B8-44CD-BE78-9757DA4632FA}"/>
              </ns1:ext>
            </ns1:extLst>
          </ns0:cNvPr>
          <ns0:cNvSpPr>
            <ns1:spLocks noGrp="1"/>
          </ns0:cNvSpPr>
          <ns0:nvPr/>
        </ns0:nvSpPr>
        <ns0:spPr>
          <ns1:xfrm>
            <ns1:off x="8635556" y="5027962"/>
            <ns1:ext cx="0" cy="0"/>
          </ns1:xfrm>
          <ns1:prstGeom prst="lin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68" name="trace:S09:content.auto.158">
            <ns1:extLst>
              <ns1:ext uri="{FF2B5EF4-FFF2-40B4-BE49-F238E27FC236}">
                <ns2:creationId id="{08FB1674-4A35-47E5-A215-FB0F35CD95AB}"/>
              </ns1:ext>
            </ns1:extLst>
          </ns0:cNvPr>
          <ns0:cNvSpPr>
            <ns1:spLocks noGrp="1"/>
          </ns0:cNvSpPr>
          <ns0:nvPr/>
        </ns0:nvSpPr>
        <ns0:spPr>
          <ns1:xfrm>
            <ns1:off x="8991600" y="4972050"/>
            <ns1:ext cx="30003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50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0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スケジュール（目安）</ns1:t>
            </ns1:r>
          </ns1:p>
        </ns0:txBody>
      </ns0:sp>
      <ns0:sp>
        <ns0:nvSpPr>
          <ns0:cNvPr id="169" name="trace:S09:content.auto.159">
            <ns1:extLst>
              <ns1:ext uri="{FF2B5EF4-FFF2-40B4-BE49-F238E27FC236}">
                <ns2:creationId id="{87630C91-D873-48DD-B063-CCABD0917721}"/>
              </ns1:ext>
            </ns1:extLst>
          </ns0:cNvPr>
          <ns0:cNvSpPr>
            <ns1:spLocks noGrp="1"/>
          </ns0:cNvSpPr>
          <ns0:nvPr/>
        </ns0:nvSpPr>
        <ns0:spPr>
          <ns1:xfrm>
            <ns1:off x="8429625" y="5276850"/>
            <ns1:ext cx="1181100" cy="409575"/>
          </ns1:xfrm>
          <ns1:custGeom>
            <ns1:pathLst>
              <ns1:path w="1181100" h="409575">
                <ns1:moveTo>
                  <ns1:pt x="0" y="0"/>
                </ns1:moveTo>
                <ns1:lnTo>
                  <ns1:pt x="1009650" y="0"/>
                </ns1:lnTo>
                <ns1:lnTo>
                  <ns1:pt x="1181100" y="204788"/>
                </ns1:lnTo>
                <ns1:lnTo>
                  <ns1:pt x="1009650" y="409575"/>
                </ns1:lnTo>
                <ns1:lnTo>
                  <ns1:pt x="0" y="409575"/>
                </ns1:lnTo>
                <ns1:lnTo>
                  <ns1:pt x="85725" y="204788"/>
                </ns1:lnTo>
                <ns1:close/>
              </ns1:path>
            </ns1:pathLst>
          </ns1:custGeom>
          <ns1:solidFill>
            <ns1:srgbClr val="EFF3F6"/>
          </ns1:solidFill>
          <ns1:ln w="9525">
            <ns1:solidFill>
              <ns1:srgbClr val="EFF3F6"/>
            </ns1:solidFill>
            <ns1:prstDash val="solid"/>
          </ns1:ln>
        </ns0:spPr>
      </ns0:sp>
      <ns0:sp>
        <ns0:nvSpPr>
          <ns0:cNvPr id="170" name="trace:S09:content.auto.160">
            <ns1:extLst>
              <ns1:ext uri="{FF2B5EF4-FFF2-40B4-BE49-F238E27FC236}">
                <ns2:creationId id="{C2D99808-2095-4279-90B7-B5EE7FE1D57F}"/>
              </ns1:ext>
            </ns1:extLst>
          </ns0:cNvPr>
          <ns0:cNvSpPr>
            <ns1:spLocks noGrp="1"/>
          </ns0:cNvSpPr>
          <ns0:nvPr/>
        </ns0:nvSpPr>
        <ns0:spPr>
          <ns1:xfrm>
            <ns1:off x="8486775" y="5324475"/>
            <ns1:ext cx="1028700" cy="142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8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準備・要件定義</ns1:t>
            </ns1:r>
          </ns1:p>
        </ns0:txBody>
      </ns0:sp>
      <ns0:sp>
        <ns0:nvSpPr>
          <ns0:cNvPr id="171" name="trace:S09:content.auto.161">
            <ns1:extLst>
              <ns1:ext uri="{FF2B5EF4-FFF2-40B4-BE49-F238E27FC236}">
                <ns2:creationId id="{272571EB-254C-40A8-83AD-71B6F8B4F983}"/>
              </ns1:ext>
            </ns1:extLst>
          </ns0:cNvPr>
          <ns0:cNvSpPr>
            <ns1:spLocks noGrp="1"/>
          </ns0:cNvSpPr>
          <ns0:nvPr/>
        </ns0:nvSpPr>
        <ns0:spPr>
          <ns1:xfrm>
            <ns1:off x="8582025" y="5505450"/>
            <ns1:ext cx="876300" cy="142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8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2か月</ns1:t>
            </ns1:r>
          </ns1:p>
        </ns0:txBody>
      </ns0:sp>
      <ns0:sp>
        <ns0:nvSpPr>
          <ns0:cNvPr id="172" name="trace:S09:content.auto.162">
            <ns1:extLst>
              <ns1:ext uri="{FF2B5EF4-FFF2-40B4-BE49-F238E27FC236}">
                <ns2:creationId id="{BED71C17-7E17-427C-A12E-04CF0922DA51}"/>
              </ns1:ext>
            </ns1:extLst>
          </ns0:cNvPr>
          <ns0:cNvSpPr>
            <ns1:spLocks noGrp="1"/>
          </ns0:cNvSpPr>
          <ns0:nvPr/>
        </ns0:nvSpPr>
        <ns0:spPr>
          <ns1:xfrm>
            <ns1:off x="9629775" y="5276850"/>
            <ns1:ext cx="1181100" cy="409575"/>
          </ns1:xfrm>
          <ns1:custGeom>
            <ns1:pathLst>
              <ns1:path w="1181100" h="409575">
                <ns1:moveTo>
                  <ns1:pt x="0" y="0"/>
                </ns1:moveTo>
                <ns1:lnTo>
                  <ns1:pt x="1009650" y="0"/>
                </ns1:lnTo>
                <ns1:lnTo>
                  <ns1:pt x="1181100" y="204788"/>
                </ns1:lnTo>
                <ns1:lnTo>
                  <ns1:pt x="1009650" y="409575"/>
                </ns1:lnTo>
                <ns1:lnTo>
                  <ns1:pt x="0" y="409575"/>
                </ns1:lnTo>
                <ns1:lnTo>
                  <ns1:pt x="85725" y="204788"/>
                </ns1:lnTo>
                <ns1:close/>
              </ns1:path>
            </ns1:pathLst>
          </ns1:custGeom>
          <ns1:solidFill>
            <ns1:srgbClr val="FDE6E9"/>
          </ns1:solidFill>
          <ns1:ln w="9525">
            <ns1:solidFill>
              <ns1:srgbClr val="FDE6E9"/>
            </ns1:solidFill>
            <ns1:prstDash val="solid"/>
          </ns1:ln>
        </ns0:spPr>
      </ns0:sp>
      <ns0:sp>
        <ns0:nvSpPr>
          <ns0:cNvPr id="173" name="trace:S09:content.auto.163">
            <ns1:extLst>
              <ns1:ext uri="{FF2B5EF4-FFF2-40B4-BE49-F238E27FC236}">
                <ns2:creationId id="{94008ACF-45F8-428A-947E-CD1DC533F7C8}"/>
              </ns1:ext>
            </ns1:extLst>
          </ns0:cNvPr>
          <ns0:cNvSpPr>
            <ns1:spLocks noGrp="1"/>
          </ns0:cNvSpPr>
          <ns0:nvPr/>
        </ns0:nvSpPr>
        <ns0:spPr>
          <ns1:xfrm>
            <ns1:off x="9686925" y="5324475"/>
            <ns1:ext cx="1028700" cy="142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8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設計・開発</ns1:t>
            </ns1:r>
          </ns1:p>
        </ns0:txBody>
      </ns0:sp>
      <ns0:sp>
        <ns0:nvSpPr>
          <ns0:cNvPr id="174" name="trace:S09:content.auto.164">
            <ns1:extLst>
              <ns1:ext uri="{FF2B5EF4-FFF2-40B4-BE49-F238E27FC236}">
                <ns2:creationId id="{60295F19-8ADC-425C-B2D8-12DAD86DA0FE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5505450"/>
            <ns1:ext cx="876300" cy="142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8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4か月</ns1:t>
            </ns1:r>
          </ns1:p>
        </ns0:txBody>
      </ns0:sp>
      <ns0:sp>
        <ns0:nvSpPr>
          <ns0:cNvPr id="175" name="trace:S09:content.auto.165">
            <ns1:extLst>
              <ns1:ext uri="{FF2B5EF4-FFF2-40B4-BE49-F238E27FC236}">
                <ns2:creationId id="{6603C2EC-24FE-492B-96AA-DBE80C7A7F7E}"/>
              </ns1:ext>
            </ns1:extLst>
          </ns0:cNvPr>
          <ns0:cNvSpPr>
            <ns1:spLocks noGrp="1"/>
          </ns0:cNvSpPr>
          <ns0:nvPr/>
        </ns0:nvSpPr>
        <ns0:spPr>
          <ns1:xfrm>
            <ns1:off x="10829925" y="5276850"/>
            <ns1:ext cx="1181100" cy="409575"/>
          </ns1:xfrm>
          <ns1:custGeom>
            <ns1:pathLst>
              <ns1:path w="1181100" h="409575">
                <ns1:moveTo>
                  <ns1:pt x="0" y="0"/>
                </ns1:moveTo>
                <ns1:lnTo>
                  <ns1:pt x="1009650" y="0"/>
                </ns1:lnTo>
                <ns1:lnTo>
                  <ns1:pt x="1181100" y="204788"/>
                </ns1:lnTo>
                <ns1:lnTo>
                  <ns1:pt x="1009650" y="409575"/>
                </ns1:lnTo>
                <ns1:lnTo>
                  <ns1:pt x="0" y="409575"/>
                </ns1:lnTo>
                <ns1:lnTo>
                  <ns1:pt x="85725" y="204788"/>
                </ns1:lnTo>
                <ns1:close/>
              </ns1:path>
            </ns1:pathLst>
          </ns1:custGeom>
          <ns1:solidFill>
            <ns1:srgbClr val="FDE6E9"/>
          </ns1:solidFill>
          <ns1:ln w="9525">
            <ns1:solidFill>
              <ns1:srgbClr val="FDE6E9"/>
            </ns1:solidFill>
            <ns1:prstDash val="solid"/>
          </ns1:ln>
        </ns0:spPr>
      </ns0:sp>
      <ns0:sp>
        <ns0:nvSpPr>
          <ns0:cNvPr id="176" name="trace:S09:content.auto.166">
            <ns1:extLst>
              <ns1:ext uri="{FF2B5EF4-FFF2-40B4-BE49-F238E27FC236}">
                <ns2:creationId id="{87DF1332-F9D5-4EA8-BE4D-D014BC0563A1}"/>
              </ns1:ext>
            </ns1:extLst>
          </ns0:cNvPr>
          <ns0:cNvSpPr>
            <ns1:spLocks noGrp="1"/>
          </ns0:cNvSpPr>
          <ns0:nvPr/>
        </ns0:nvSpPr>
        <ns0:spPr>
          <ns1:xfrm>
            <ns1:off x="10887075" y="5324475"/>
            <ns1:ext cx="1028700" cy="142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8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テスト・教育</ns1:t>
            </ns1:r>
          </ns1:p>
        </ns0:txBody>
      </ns0:sp>
      <ns0:sp>
        <ns0:nvSpPr>
          <ns0:cNvPr id="177" name="trace:S09:content.auto.167">
            <ns1:extLst>
              <ns1:ext uri="{FF2B5EF4-FFF2-40B4-BE49-F238E27FC236}">
                <ns2:creationId id="{CC4876C4-C7D0-477E-88D8-BB9708702F48}"/>
              </ns1:ext>
            </ns1:extLst>
          </ns0:cNvPr>
          <ns0:cNvSpPr>
            <ns1:spLocks noGrp="1"/>
          </ns0:cNvSpPr>
          <ns0:nvPr/>
        </ns0:nvSpPr>
        <ns0:spPr>
          <ns1:xfrm>
            <ns1:off x="10982325" y="5505450"/>
            <ns1:ext cx="876300" cy="142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8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2か月</ns1:t>
            </ns1:r>
          </ns1:p>
        </ns0:txBody>
      </ns0:sp>
      <ns0:sp>
        <ns0:nvSpPr>
          <ns0:cNvPr id="178" name="trace:S09:content.auto.168">
            <ns1:extLst>
              <ns1:ext uri="{FF2B5EF4-FFF2-40B4-BE49-F238E27FC236}">
                <ns2:creationId id="{872CA447-9BD4-411A-9268-41377DEBE9B2}"/>
              </ns1:ext>
            </ns1:extLst>
          </ns0:cNvPr>
          <ns0:cNvSpPr>
            <ns1:spLocks noGrp="1"/>
          </ns0:cNvSpPr>
          <ns0:nvPr/>
        </ns0:nvSpPr>
        <ns0:spPr>
          <ns1:xfrm>
            <ns1:off x="12030075" y="5276850"/>
            <ns1:ext cx="1181100" cy="409575"/>
          </ns1:xfrm>
          <ns1:custGeom>
            <ns1:pathLst>
              <ns1:path w="1181100" h="409575">
                <ns1:moveTo>
                  <ns1:pt x="0" y="0"/>
                </ns1:moveTo>
                <ns1:lnTo>
                  <ns1:pt x="1009650" y="0"/>
                </ns1:lnTo>
                <ns1:lnTo>
                  <ns1:pt x="1181100" y="204788"/>
                </ns1:lnTo>
                <ns1:lnTo>
                  <ns1:pt x="1009650" y="409575"/>
                </ns1:lnTo>
                <ns1:lnTo>
                  <ns1:pt x="0" y="409575"/>
                </ns1:lnTo>
                <ns1:lnTo>
                  <ns1:pt x="85725" y="204788"/>
                </ns1:lnTo>
                <ns1:close/>
              </ns1:path>
            </ns1:pathLst>
          </ns1:cu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79" name="trace:S09:content.auto.169">
            <ns1:extLst>
              <ns1:ext uri="{FF2B5EF4-FFF2-40B4-BE49-F238E27FC236}">
                <ns2:creationId id="{5FBAE3D3-0446-4F12-BFA4-DF0A357017EC}"/>
              </ns1:ext>
            </ns1:extLst>
          </ns0:cNvPr>
          <ns0:cNvSpPr>
            <ns1:spLocks noGrp="1"/>
          </ns0:cNvSpPr>
          <ns0:nvPr/>
        </ns0:nvSpPr>
        <ns0:spPr>
          <ns1:xfrm>
            <ns1:off x="12087225" y="5324475"/>
            <ns1:ext cx="1028700" cy="142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8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本番稼働</ns1:t>
            </ns1:r>
          </ns1:p>
        </ns0:txBody>
      </ns0:sp>
      <ns0:sp>
        <ns0:nvSpPr>
          <ns0:cNvPr id="180" name="trace:S09:content.auto.170">
            <ns1:extLst>
              <ns1:ext uri="{FF2B5EF4-FFF2-40B4-BE49-F238E27FC236}">
                <ns2:creationId id="{2564D125-E4D8-4A61-8C11-42038593C8AB}"/>
              </ns1:ext>
            </ns1:extLst>
          </ns0:cNvPr>
          <ns0:cNvSpPr>
            <ns1:spLocks noGrp="1"/>
          </ns0:cNvSpPr>
          <ns0:nvPr/>
        </ns0:nvSpPr>
        <ns0:spPr>
          <ns1:xfrm>
            <ns1:off x="12182475" y="5505450"/>
            <ns1:ext cx="876300" cy="142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8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1か月</ns1:t>
            </ns1:r>
          </ns1:p>
        </ns0:txBody>
      </ns0:sp>
      <ns0:sp>
        <ns0:nvSpPr>
          <ns0:cNvPr id="181" name="trace:S09:content.auto.171">
            <ns1:extLst>
              <ns1:ext uri="{FF2B5EF4-FFF2-40B4-BE49-F238E27FC236}">
                <ns2:creationId id="{7D1628FC-18B4-4959-9D84-E1FC2E3E836E}"/>
              </ns1:ext>
            </ns1:extLst>
          </ns0:cNvPr>
          <ns0:cNvSpPr>
            <ns1:spLocks noGrp="1"/>
          </ns0:cNvSpPr>
          <ns0:nvPr/>
        </ns0:nvSpPr>
        <ns0:spPr>
          <ns1:xfrm>
            <ns1:off x="8477250" y="5829300"/>
            <ns1:ext cx="4762500" cy="0"/>
          </ns1:xfrm>
          <ns1:prstGeom prst="line">
            <ns1:avLst/>
          </ns1:prstGeom>
          <ns1:noFill/>
          <ns1:ln w="14288">
            <ns1:solidFill>
              <ns1:srgbClr val="0D2238"/>
            </ns1:solidFill>
            <ns1:prstDash val="solid"/>
          </ns1:ln>
        </ns0:spPr>
      </ns0:sp>
      <ns0:sp>
        <ns0:nvSpPr>
          <ns0:cNvPr id="182" name="trace:S09:content.auto.172">
            <ns1:extLst>
              <ns1:ext uri="{FF2B5EF4-FFF2-40B4-BE49-F238E27FC236}">
                <ns2:creationId id="{D88E0CEC-77BF-4269-824A-6FDED5366E8D}"/>
              </ns1:ext>
            </ns1:extLst>
          </ns0:cNvPr>
          <ns0:cNvSpPr>
            <ns1:spLocks noGrp="1"/>
          </ns0:cNvSpPr>
          <ns0:nvPr/>
        </ns0:nvSpPr>
        <ns0:spPr>
          <ns1:xfrm>
            <ns1:off x="13049250" y="5772150"/>
            <ns1:ext cx="123825" cy="123825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83" name="trace:S09:content.auto.173">
            <ns1:extLst>
              <ns1:ext uri="{FF2B5EF4-FFF2-40B4-BE49-F238E27FC236}">
                <ns2:creationId id="{AEC4BA3C-9613-4480-B374-C2920C64EB98}"/>
              </ns1:ext>
            </ns1:extLst>
          </ns0:cNvPr>
          <ns0:cNvSpPr>
            <ns1:spLocks noGrp="1"/>
          </ns0:cNvSpPr>
          <ns0:nvPr/>
        </ns0:nvSpPr>
        <ns0:spPr>
          <ns1:xfrm>
            <ns1:off x="8477250" y="5924550"/>
            <ns1:ext cx="4762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90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00" b="0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・現状分析       ・基本設計       ・テスト実施       ・本番稼働</ns1:t>
            </ns1:r>
          </ns1:p>
        </ns0:txBody>
      </ns0:sp>
      <ns0:sp>
        <ns0:nvSpPr>
          <ns0:cNvPr id="184" name="trace:S09:content.auto.174">
            <ns1:extLst>
              <ns1:ext uri="{FF2B5EF4-FFF2-40B4-BE49-F238E27FC236}">
                <ns2:creationId id="{96823CC5-663F-4546-9E85-A2C35EF09EF8}"/>
              </ns1:ext>
            </ns1:extLst>
          </ns0:cNvPr>
          <ns0:cNvSpPr>
            <ns1:spLocks noGrp="1"/>
          </ns0:cNvSpPr>
          <ns0:nvPr/>
        </ns0:nvSpPr>
        <ns0:spPr>
          <ns1:xfrm>
            <ns1:off x="304800" y="6619875"/>
            <ns1:ext cx="13106400" cy="400050"/>
          </ns1:xfrm>
          <ns1:prstGeom prst="roundRect">
            <ns1:avLst>
              <ns1:gd name="adj" fmla="val 19048"/>
            </ns1:avLst>
          </ns1:prstGeom>
          <ns1:solidFill>
            <ns1:srgbClr val="FDE6E9"/>
          </ns1:solidFill>
          <ns1:ln w="9525">
            <ns1:solidFill>
              <ns1:srgbClr val="FDE6E9"/>
            </ns1:solidFill>
            <ns1:prstDash val="solid"/>
          </ns1:ln>
        </ns0:spPr>
      </ns0:sp>
      <ns0:sp>
        <ns0:nvSpPr>
          <ns0:cNvPr id="185" name="trace:S09:content.auto.175">
            <ns1:extLst>
              <ns1:ext uri="{FF2B5EF4-FFF2-40B4-BE49-F238E27FC236}">
                <ns2:creationId id="{18DB9DD3-070F-47DA-BA2A-809A122F1B89}"/>
              </ns1:ext>
            </ns1:extLst>
          </ns0:cNvPr>
          <ns0:cNvSpPr>
            <ns1:spLocks noGrp="1"/>
          </ns0:cNvSpPr>
          <ns0:nvPr/>
        </ns0:nvSpPr>
        <ns0:spPr>
          <ns1:xfrm>
            <ns1:off x="2457450" y="6686550"/>
            <ns1:ext cx="285750" cy="285750"/>
          </ns1:xfrm>
          <ns1:prstGeom prst="ellipse">
            <ns1:avLst/>
          </ns1:prstGeom>
          <ns1:solidFill>
            <ns1:srgbClr val="E91D2B"/>
          </ns1:solidFill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86" name="trace:S09:content.auto.176">
            <ns1:extLst>
              <ns1:ext uri="{FF2B5EF4-FFF2-40B4-BE49-F238E27FC236}">
                <ns2:creationId id="{3F0AEB32-C811-4CFF-8376-79367895AC4D}"/>
              </ns1:ext>
            </ns1:extLst>
          </ns0:cNvPr>
          <ns0:cNvSpPr>
            <ns1:spLocks noGrp="1"/>
          </ns0:cNvSpPr>
          <ns0:nvPr/>
        </ns0:nvSpPr>
        <ns0:spPr>
          <ns1:xfrm>
            <ns1:off x="2457450" y="6677025"/>
            <ns1:ext cx="285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lnSpc>
                <ns1:spcPct val="108000"/>
              </ns1:lnSpc>
              <ns1:buNone/>
              <ns1:defRPr sz="17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7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›</ns1:t>
            </ns1:r>
          </ns1:p>
        </ns0:txBody>
      </ns0:sp>
      <ns0:sp>
        <ns0:nvSpPr>
          <ns0:cNvPr id="187" name="trace:S09:content.auto.177">
            <ns1:extLst>
              <ns1:ext uri="{FF2B5EF4-FFF2-40B4-BE49-F238E27FC236}">
                <ns2:creationId id="{A8793961-523D-4E9C-861E-9FB430266978}"/>
              </ns1:ext>
            </ns1:extLst>
          </ns0:cNvPr>
          <ns0:cNvSpPr>
            <ns1:spLocks noGrp="1"/>
          </ns0:cNvSpPr>
          <ns0:nvPr/>
        </ns0:nvSpPr>
        <ns0:spPr>
          <ns1:xfrm>
            <ns1:off x="2914650" y="6686550"/>
            <ns1:ext cx="10001250" cy="2762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5000"/>
              </ns1:lnSpc>
              <ns1:buNone/>
              <ns1:defRPr sz="1200">
                <ns1:latin typeface="Yu Gothic UI"/>
                <ns1:ea typeface="Yu Gothic UI"/>
                <ns1:cs typeface="Yu Gothic UI"/>
              </ns1:defRPr>
            </ns1:pPr>
            <ns1:r>
              <ns1:rPr sz="120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業務の標準化とデータの一元管理により、</ns1:t>
            </ns1:r>
            <ns1:r>
              <ns1:rPr sz="1200" b="1">
                <ns1:solidFill>
                  <ns1:srgbClr val="E91D2B"/>
                </ns1:solidFill>
                <ns1:latin typeface="Yu Gothic UI"/>
                <ns1:ea typeface="Yu Gothic UI"/>
                <ns1:cs typeface="Yu Gothic UI"/>
              </ns1:rPr>
              <ns1:t>コストを最適化し、持続的な成長を支えるERP基盤</ns1:t>
            </ns1:r>
            <ns1:r>
              <ns1:rPr sz="1200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を構築します。</ns1:t>
            </ns1:r>
          </ns1:p>
        </ns0:txBody>
      </ns0:sp>
      <ns0:sp>
        <ns0:nvSpPr>
          <ns0:cNvPr id="188" name="trace:S09:content.auto.178">
            <ns1:extLst>
              <ns1:ext uri="{FF2B5EF4-FFF2-40B4-BE49-F238E27FC236}">
                <ns2:creationId id="{97C7919B-C79D-4A61-9488-9552D57770FD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7162800"/>
            <ns1:ext cx="12954000" cy="0"/>
          </ns1:xfrm>
          <ns1:prstGeom prst="line">
            <ns1:avLst/>
          </ns1:prstGeom>
          <ns1:noFill/>
          <ns1:ln w="9525">
            <ns1:solidFill>
              <ns1:srgbClr val="E91D2B"/>
            </ns1:solidFill>
            <ns1:prstDash val="solid"/>
          </ns1:ln>
        </ns0:spPr>
      </ns0:sp>
      <ns0:sp>
        <ns0:nvSpPr>
          <ns0:cNvPr id="189" name="trace:S09:content.auto.179">
            <ns1:extLst>
              <ns1:ext uri="{FF2B5EF4-FFF2-40B4-BE49-F238E27FC236}">
                <ns2:creationId id="{111A7BF5-3948-41B5-A30C-C3D8221CF414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7296150"/>
            <ns1:ext cx="26670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09</ns1:t>
            </ns1:r>
          </ns1:p>
        </ns0:txBody>
      </ns0:sp>
      <ns0:sp>
        <ns0:nvSpPr>
          <ns0:cNvPr id="190" name="trace:S09:content.auto.180">
            <ns1:extLst>
              <ns1:ext uri="{FF2B5EF4-FFF2-40B4-BE49-F238E27FC236}">
                <ns2:creationId id="{A7A03AD3-EB6E-463E-BA36-5EBA4D3E1610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7286625"/>
            <ns1:ext cx="9525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191" name="trace:S09:content.auto.181">
            <ns1:extLst>
              <ns1:ext uri="{FF2B5EF4-FFF2-40B4-BE49-F238E27FC236}">
                <ns2:creationId id="{163ECDE8-B47A-45DC-9272-B8A39E7F353F}"/>
              </ns1:ext>
            </ns1:extLst>
          </ns0:cNvPr>
          <ns0:cNvSpPr>
            <ns1:spLocks noGrp="1"/>
          </ns0:cNvSpPr>
          <ns0:nvPr/>
        </ns0:nvSpPr>
        <ns0:spPr>
          <ns1:xfrm>
            <ns1:off x="934403" y="7219950"/>
            <ns1:ext cx="120015" cy="70009"/>
          </ns1:xfrm>
          <ns1:custGeom>
            <ns1:pathLst>
              <ns1:path w="120015" h="70009">
                <ns1:moveTo>
                  <ns1:pt x="60008" y="0"/>
                </ns1:moveTo>
                <ns1:lnTo>
                  <ns1:pt x="120015" y="35004"/>
                </ns1:lnTo>
                <ns1:lnTo>
                  <ns1:pt x="60008" y="70009"/>
                </ns1:lnTo>
                <ns1:lnTo>
                  <ns1:pt x="0" y="35004"/>
                </ns1:lnTo>
                <ns1:close/>
              </ns1:path>
            </ns1:pathLst>
          </ns1:custGeom>
          <ns1:solidFill>
            <ns1:srgbClr val="E91D2B"/>
          </ns1:solidFill>
          <ns1:ln w="0">
            <ns1:noFill/>
            <ns1:prstDash val="solid"/>
          </ns1:ln>
        </ns0:spPr>
      </ns0:sp>
      <ns0:sp>
        <ns0:nvSpPr>
          <ns0:cNvPr id="192" name="trace:S09:content.auto.182">
            <ns1:extLst>
              <ns1:ext uri="{FF2B5EF4-FFF2-40B4-BE49-F238E27FC236}">
                <ns2:creationId id="{3FCCD654-53BC-49A5-818E-95157BB57E07}"/>
              </ns1:ext>
            </ns1:extLst>
          </ns0:cNvPr>
          <ns0:cNvSpPr>
            <ns1:spLocks noGrp="1"/>
          </ns0:cNvSpPr>
          <ns0:nvPr/>
        </ns0:nvSpPr>
        <ns0:spPr>
          <ns1:xfrm>
            <ns1:off x="934403" y="7289959"/>
            <ns1:ext cx="120015" cy="70009"/>
          </ns1:xfrm>
          <ns1:custGeom>
            <ns1:pathLst>
              <ns1:path w="120015" h="70009">
                <ns1:moveTo>
                  <ns1:pt x="60008" y="0"/>
                </ns1:moveTo>
                <ns1:lnTo>
                  <ns1:pt x="120015" y="35004"/>
                </ns1:lnTo>
                <ns1:lnTo>
                  <ns1:pt x="60008" y="70009"/>
                </ns1:lnTo>
                <ns1:lnTo>
                  <ns1:pt x="0" y="35004"/>
                </ns1:lnTo>
                <ns1:close/>
              </ns1:path>
            </ns1:pathLst>
          </ns1:custGeom>
          <ns1:solidFill>
            <ns1:srgbClr val="0D2238"/>
          </ns1:solidFill>
          <ns1:ln w="0">
            <ns1:noFill/>
            <ns1:prstDash val="solid"/>
          </ns1:ln>
        </ns0:spPr>
      </ns0:sp>
      <ns0:sp>
        <ns0:nvSpPr>
          <ns0:cNvPr id="193" name="trace:S09:content.auto.183">
            <ns1:extLst>
              <ns1:ext uri="{FF2B5EF4-FFF2-40B4-BE49-F238E27FC236}">
                <ns2:creationId id="{1CBE7748-7957-49F9-9000-1A718B3E3EDA}"/>
              </ns1:ext>
            </ns1:extLst>
          </ns0:cNvPr>
          <ns0:cNvSpPr>
            <ns1:spLocks noGrp="1"/>
          </ns0:cNvSpPr>
          <ns0:nvPr/>
        </ns0:nvSpPr>
        <ns0:spPr>
          <ns1:xfrm>
            <ns1:off x="934403" y="7359968"/>
            <ns1:ext cx="120015" cy="70009"/>
          </ns1:xfrm>
          <ns1:custGeom>
            <ns1:pathLst>
              <ns1:path w="120015" h="70009">
                <ns1:moveTo>
                  <ns1:pt x="60008" y="0"/>
                </ns1:moveTo>
                <ns1:lnTo>
                  <ns1:pt x="120015" y="35004"/>
                </ns1:lnTo>
                <ns1:lnTo>
                  <ns1:pt x="60008" y="70009"/>
                </ns1:lnTo>
                <ns1:lnTo>
                  <ns1:pt x="0" y="35004"/>
                </ns1:lnTo>
                <ns1:close/>
              </ns1:path>
            </ns1:pathLst>
          </ns1:custGeom>
          <ns1:solidFill>
            <ns1:srgbClr val="6D7781"/>
          </ns1:solidFill>
          <ns1:ln w="0">
            <ns1:noFill/>
            <ns1:prstDash val="solid"/>
          </ns1:ln>
        </ns0:spPr>
      </ns0:sp>
      <ns0:sp>
        <ns0:nvSpPr>
          <ns0:cNvPr id="194" name="trace:S09:footer.brand">
            <ns1:extLst>
              <ns1:ext uri="{FF2B5EF4-FFF2-40B4-BE49-F238E27FC236}">
                <ns2:creationId id="{95261876-D553-45C7-9DC7-2A04561993C9}"/>
              </ns1:ext>
            </ns1:extLst>
          </ns0:cNvPr>
          <ns0:cNvSpPr>
            <ns1:spLocks noGrp="1"/>
          </ns0:cNvSpPr>
          <ns0:nvPr/>
        </ns0:nvSpPr>
        <ns0:spPr>
          <ns1:xfrm>
            <ns1:off x="1134428" y="7209949"/>
            <ns1:ext cx="1100138" cy="260033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9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75" b="1">
                <ns1:solidFill>
                  <ns1:srgbClr val="0D2238"/>
                </ns1:solidFill>
                <ns1:latin typeface="Yu Gothic UI"/>
                <ns1:ea typeface="Yu Gothic UI"/>
                <ns1:cs typeface="Yu Gothic UI"/>
              </ns1:rPr>
              <ns1:t>提案クエスト</ns1:t>
            </ns1:r>
          </ns1:p>
        </ns0:txBody>
      </ns0:sp>
      <ns0:sp>
        <ns0:nvSpPr>
          <ns0:cNvPr id="195" name="trace:S09:content.auto.184">
            <ns1:extLst>
              <ns1:ext uri="{FF2B5EF4-FFF2-40B4-BE49-F238E27FC236}">
                <ns2:creationId id="{2CEE2720-3A18-48B5-BECF-325103979C9F}"/>
              </ns1:ext>
            </ns1:extLst>
          </ns0:cNvPr>
          <ns0:cNvSpPr>
            <ns1:spLocks noGrp="1"/>
          </ns0:cNvSpPr>
          <ns0:nvPr/>
        </ns0:nvSpPr>
        <ns0:spPr>
          <ns1:xfrm>
            <ns1:off x="2114550" y="7286625"/>
            <ns1:ext cx="9525" cy="0"/>
          </ns1:xfrm>
          <ns1:prstGeom prst="line">
            <ns1:avLst/>
          </ns1:prstGeom>
          <ns1:noFill/>
          <ns1:ln w="9525">
            <ns1:solidFill>
              <ns1:srgbClr val="5D7188"/>
            </ns1:solidFill>
            <ns1:prstDash val="solid"/>
          </ns1:ln>
        </ns0:spPr>
      </ns0:sp>
      <ns0:sp>
        <ns0:nvSpPr>
          <ns0:cNvPr id="196" name="trace:S09:content.auto.185">
            <ns1:extLst>
              <ns1:ext uri="{FF2B5EF4-FFF2-40B4-BE49-F238E27FC236}">
                <ns2:creationId id="{48D54D8E-A30D-4970-BA0F-282E9D768C5F}"/>
              </ns1:ext>
            </ns1:extLst>
          </ns0:cNvPr>
          <ns0:cNvSpPr>
            <ns1:spLocks noGrp="1"/>
          </ns0:cNvSpPr>
          <ns0:nvPr/>
        </ns0:nvSpPr>
        <ns0:spPr>
          <ns1:xfrm>
            <ns1:off x="2305050" y="7181850"/>
            <ns1:ext cx="257175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〜 AIで、最適な一手を。〜</ns1:t>
            </ns1:r>
          </ns1:p>
        </ns0:txBody>
      </ns0:sp>
      <ns0:sp>
        <ns0:nvSpPr>
          <ns0:cNvPr id="197" name="trace:S09:footer.tagline.en">
            <ns1:extLst>
              <ns1:ext uri="{FF2B5EF4-FFF2-40B4-BE49-F238E27FC236}">
                <ns2:creationId id="{BA30637E-FA75-4234-ADC7-B0318B04BCFB}"/>
              </ns1:ext>
            </ns1:extLst>
          </ns0:cNvPr>
          <ns0:cNvSpPr>
            <ns1:spLocks noGrp="1"/>
          </ns0:cNvSpPr>
          <ns0:nvPr/>
        </ns0:nvSpPr>
        <ns0:spPr>
          <ns1:xfrm>
            <ns1:off x="2305050" y="7353300"/>
            <ns1:ext cx="266700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lnSpc>
                <ns1:spcPct val="108000"/>
              </ns1:lnSpc>
              <ns1:buNone/>
              <ns1:def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Think Together, Create the Next.</ns1:t>
            </ns1:r>
          </ns1:p>
        </ns0:txBody>
      </ns0:sp>
      <ns0:sp>
        <ns0:nvSpPr>
          <ns0:cNvPr id="198" name="trace:S09:footer.brand.2">
            <ns1:extLst>
              <ns1:ext uri="{FF2B5EF4-FFF2-40B4-BE49-F238E27FC236}">
                <ns2:creationId id="{BD4DAD6A-75AD-4C24-BB94-11AB4B4D201F}"/>
              </ns1:ext>
            </ns1:extLst>
          </ns0:cNvPr>
          <ns0:cNvSpPr>
            <ns1:spLocks noGrp="1"/>
          </ns0:cNvSpPr>
          <ns0:nvPr/>
        </ns0:nvSpPr>
        <ns0:spPr>
          <ns1:xfrm>
            <ns1:off x="9715500" y="7296150"/>
            <ns1:ext cx="3619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lnSpc>
                <ns1:spcPct val="108000"/>
              </ns1:lnSpc>
              <ns1:buNone/>
              <ns1:def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825" b="0">
                <ns1:solidFill>
                  <ns1:srgbClr val="5D7188"/>
                </ns1:solidFill>
                <ns1:latin typeface="Yu Gothic UI"/>
                <ns1:ea typeface="Yu Gothic UI"/>
                <ns1:cs typeface="Yu Gothic UI"/>
              </ns1:rPr>
              <ns1:t>© 2026 提案クエスト All Rights Reserved.</ns1:t>
            </ns1:r>
          </ns1:p>
        </ns0:txBody>
      </ns0:sp>
    </ns0:spTree>
    <ns0:extLst>
      <ns0:ext uri="{BB962C8B-B14F-4D97-AF65-F5344CB8AC3E}">
        <ns3:creationId val="601567773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2026-09-24T01:39:24.7830000Z</dcterms:created>
  <dcterms:modified xsi:type="dcterms:W3CDTF">2026-09-24T01:39:24.7830000Z</dcterms:modified>
</coreProperties>
</file>