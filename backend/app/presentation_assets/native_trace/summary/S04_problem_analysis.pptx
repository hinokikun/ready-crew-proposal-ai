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8e87678d94c07" /><Relationship Type="http://schemas.openxmlformats.org/officeDocument/2006/relationships/extended-properties" Target="/docProps/app.xml" Id="R27dacbf2b08746dd" /><Relationship Type="http://schemas.openxmlformats.org/officeDocument/2006/relationships/officeDocument" Target="/ppt/presentation.xml" Id="R84bf9566db5b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7cf029f8a40e6"/>
  </p:sldMasterIdLst>
  <p:notesMasterIdLst>
    <p:notesMasterId xmlns:r="http://schemas.openxmlformats.org/officeDocument/2006/relationships" r:id="R77ca399ff0d54b1b"/>
  </p:notesMasterIdLst>
  <p:sldIdLst>
    <p:sldId xmlns:r="http://schemas.openxmlformats.org/officeDocument/2006/relationships" id="256" r:id="R20238f0e3d4e463f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4a192d0aa42d8" /><Relationship Type="http://schemas.openxmlformats.org/officeDocument/2006/relationships/slideMaster" Target="/ppt/slideMasters/slideMaster1.xml" Id="R3ad7cf029f8a40e6" /><Relationship Type="http://schemas.openxmlformats.org/officeDocument/2006/relationships/notesMaster" Target="/ppt/notesMasters/notesMaster1.xml" Id="R77ca399ff0d54b1b" /><Relationship Type="http://schemas.openxmlformats.org/officeDocument/2006/relationships/presProps" Target="/ppt/presProps.xml" Id="Rb41f9ceb43164889" /><Relationship Type="http://schemas.openxmlformats.org/officeDocument/2006/relationships/tableStyles" Target="/ppt/tableStyles.xml" Id="Rf8149d1a60284f20" /><Relationship Type="http://schemas.openxmlformats.org/officeDocument/2006/relationships/slide" Target="/ppt/slides/slide1.xml" Id="R20238f0e3d4e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66502dcdd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ea22b02c048b8" /><Relationship Type="http://schemas.openxmlformats.org/officeDocument/2006/relationships/notesMaster" Target="/ppt/notesMasters/notesMaster1.xml" Id="R4367c41bb416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 replacement Native Trace built from the approved Canonical source. Sample content is trace-only.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2b47f64af49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48e4b74df4f16" /><Relationship Type="http://schemas.openxmlformats.org/officeDocument/2006/relationships/slideLayout" Target="/ppt/slideLayouts/slideLayout1.xml" Id="R0625d5f1bcdb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5d5f1bcdb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5ff7316d64214" /><Relationship Type="http://schemas.openxmlformats.org/officeDocument/2006/relationships/notesSlide" Target="/ppt/notesSlides/notesSlide1.xml" Id="R2adcfcf2ea2b48b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8" name="trace:S04:content.auto">
            <ns1:extLst>
              <ns1:ext uri="{FF2B5EF4-FFF2-40B4-BE49-F238E27FC236}">
                <ns2:creationId id="{CAEE54DF-8B91-40B2-BF78-DFC73F0D83BD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57175"/>
            <ns1:ext cx="285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6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04</ns1:t>
            </ns1:r>
          </ns1:p>
        </ns0:txBody>
      </ns0:sp>
      <ns0:sp>
        <ns0:nvSpPr>
          <ns0:cNvPr id="2" name="trace:S04:content.auto.2">
            <ns1:extLst>
              <ns1:ext uri="{FF2B5EF4-FFF2-40B4-BE49-F238E27FC236}">
                <ns2:creationId id="{A177309E-0E88-443F-B61B-AB784F875742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57175"/>
            <ns1:ext cx="9525" cy="228600"/>
          </ns1:xfrm>
          <ns1:prstGeom prst="line">
            <ns1:avLst/>
          </ns1:prstGeom>
          <ns1:noFill/>
          <ns1:ln w="14288">
            <ns1:solidFill>
              <ns1:srgbClr val="6C7B88"/>
            </ns1:solidFill>
            <ns1:prstDash val="solid"/>
          </ns1:ln>
        </ns0:spPr>
      </ns0:sp>
      <ns0:sp>
        <ns0:nvSpPr>
          <ns0:cNvPr id="3" name="trace:S04:title.primary">
            <ns1:extLst>
              <ns1:ext uri="{FF2B5EF4-FFF2-40B4-BE49-F238E27FC236}">
                <ns2:creationId id="{C550F200-CB33-4934-9C07-D707E3DEAE1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47650"/>
            <ns1:ext cx="1809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現状理解・課題整理</ns1:t>
            </ns1:r>
          </ns1:p>
        </ns0:txBody>
      </ns0:sp>
      <ns0:sp>
        <ns0:nvSpPr>
          <ns0:cNvPr id="4" name="trace:S04:content.auto.3">
            <ns1:extLst>
              <ns1:ext uri="{FF2B5EF4-FFF2-40B4-BE49-F238E27FC236}">
                <ns2:creationId id="{1DDCEFF2-16C7-4A77-9550-7B3ED764227E}"/>
              </ns1:ext>
            </ns1:extLst>
          </ns0:cNvPr>
          <ns0:cNvSpPr>
            <ns1:spLocks noGrp="1"/>
          </ns0:cNvSpPr>
          <ns0:nvPr/>
        </ns0:nvSpPr>
        <ns0:spPr>
          <ns1:xfrm>
            <ns1:off x="2943225" y="371475"/>
            <ns1:ext cx="11658600" cy="9525"/>
          </ns1:xfrm>
          <ns1:prstGeom prst="line">
            <ns1:avLst/>
          </ns1:prstGeom>
          <ns1:noFill/>
          <ns1:ln w="14288">
            <ns1:solidFill>
              <ns1:srgbClr val="6E7B85"/>
            </ns1:solidFill>
            <ns1:prstDash val="solid"/>
          </ns1:ln>
        </ns0:spPr>
      </ns0:sp>
      <ns0:sp>
        <ns0:nvSpPr>
          <ns0:cNvPr id="5" name="trace:S04:footer.date">
            <ns1:extLst>
              <ns1:ext uri="{FF2B5EF4-FFF2-40B4-BE49-F238E27FC236}">
                <ns2:creationId id="{92F0C361-A337-4D50-96FC-3C0FE89579DC}"/>
              </ns1:ext>
            </ns1:extLst>
          </ns0:cNvPr>
          <ns0:cNvSpPr>
            <ns1:spLocks noGrp="1"/>
          </ns0:cNvSpPr>
          <ns0:nvPr/>
        </ns0:nvSpPr>
        <ns0:spPr>
          <ns1:xfrm>
            <ns1:off x="14735175" y="257175"/>
            <ns1:ext cx="10477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r">
              <ns1:buNone/>
              <ns1:defRPr sz="1275" b="0">
                <ns1:solidFill>
                  <ns1:srgbClr val="6C7B88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6C7B88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6" name="trace:S04:content.auto.4">
            <ns1:extLst>
              <ns1:ext uri="{FF2B5EF4-FFF2-40B4-BE49-F238E27FC236}">
                <ns2:creationId id="{3C810DDA-C35B-4F6F-B091-B1E2DB90A2C4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90575"/>
            <ns1:ext cx="2857500" cy="800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52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2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主要課題</ns1:t>
            </ns1:r>
          </ns1:p>
        </ns0:txBody>
      </ns0:sp>
      <ns0:sp>
        <ns0:nvSpPr>
          <ns0:cNvPr id="7" name="trace:S04:title.primary.2">
            <ns1:extLst>
              <ns1:ext uri="{FF2B5EF4-FFF2-40B4-BE49-F238E27FC236}">
                <ns2:creationId id="{505F43EF-5CAD-429E-A988-69841EC1294C}"/>
              </ns1:ext>
            </ns1:extLst>
          </ns0:cNvPr>
          <ns0:cNvSpPr>
            <ns1:spLocks noGrp="1"/>
          </ns0:cNvSpPr>
          <ns0:nvPr/>
        </ns0:nvSpPr>
        <ns0:spPr>
          <ns1:xfrm>
            <ns1:off x="3295650" y="790575"/>
            <ns1:ext cx="5334000" cy="800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49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49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と改善優先テーマ</ns1:t>
            </ns1:r>
          </ns1:p>
        </ns0:txBody>
      </ns0:sp>
      <ns0:sp>
        <ns0:nvSpPr>
          <ns0:cNvPr id="8" name="trace:S04:title.primary.3">
            <ns1:extLst>
              <ns1:ext uri="{FF2B5EF4-FFF2-40B4-BE49-F238E27FC236}">
                <ns2:creationId id="{67F829AD-26F1-4DAD-B10A-2A27468AD972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1657350"/>
            <ns1:ext cx="5334000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提案業務の生産性と受注精度を高めるため、</ns1:t>
            </ns1:r>
          </ns1:p>
        </ns0:txBody>
      </ns0:sp>
      <ns0:sp>
        <ns0:nvSpPr>
          <ns0:cNvPr id="9" name="trace:S04:title.primary.4">
            <ns1:extLst>
              <ns1:ext uri="{FF2B5EF4-FFF2-40B4-BE49-F238E27FC236}">
                <ns2:creationId id="{4D91F03F-2720-45ED-985E-4C60B1177465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1657350"/>
            <ns1:ext cx="4048125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優先して解決すべき課題を整理</ns1:t>
            </ns1:r>
          </ns1:p>
        </ns0:txBody>
      </ns0:sp>
      <ns0:sp>
        <ns0:nvSpPr>
          <ns0:cNvPr id="10" name="trace:S04:content.auto.5">
            <ns1:extLst>
              <ns1:ext uri="{FF2B5EF4-FFF2-40B4-BE49-F238E27FC236}">
                <ns2:creationId id="{3FBA15A9-257C-453E-B086-EC34B1176778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1657350"/>
            <ns1:ext cx="1181100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します。</ns1:t>
            </ns1:r>
          </ns1:p>
        </ns0:txBody>
      </ns0:sp>
      <ns0:sp>
        <ns0:nvSpPr>
          <ns0:cNvPr id="11" name="trace:S04:content.auto.6">
            <ns1:extLst>
              <ns1:ext uri="{FF2B5EF4-FFF2-40B4-BE49-F238E27FC236}">
                <ns2:creationId id="{F3A1289B-857B-476C-ACDF-8BCDB00EB425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295525"/>
            <ns1:ext cx="504825" cy="4762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" name="trace:S04:content.auto.7">
            <ns1:extLst>
              <ns1:ext uri="{FF2B5EF4-FFF2-40B4-BE49-F238E27FC236}">
                <ns2:creationId id="{554D5394-A1F6-4123-8E9D-A2B7B883ED44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200275"/>
            <ns1:ext cx="2381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主な業務課題</ns1:t>
            </ns1:r>
          </ns1:p>
        </ns0:txBody>
      </ns0:sp>
      <ns0:sp>
        <ns0:nvSpPr>
          <ns0:cNvPr id="13" name="trace:S04:content.auto.8">
            <ns1:extLst>
              <ns1:ext uri="{FF2B5EF4-FFF2-40B4-BE49-F238E27FC236}">
                <ns2:creationId id="{D65DAE4A-38C6-44B1-AF69-454662918A4A}"/>
              </ns1:ext>
            </ns1:extLst>
          </ns0:cNvPr>
          <ns0:cNvSpPr>
            <ns1:spLocks noGrp="1"/>
          </ns0:cNvSpPr>
          <ns0:nvPr/>
        </ns0:nvSpPr>
        <ns0:spPr>
          <ns1:xfrm>
            <ns1:off x="8934450" y="2209800"/>
            <ns1:ext cx="9525" cy="5086350"/>
          </ns1:xfrm>
          <ns1:prstGeom prst="line">
            <ns1:avLst/>
          </ns1:prstGeom>
          <ns1:noFill/>
          <ns1:ln w="14288">
            <ns1:solidFill>
              <ns1:srgbClr val="D5DDE4"/>
            </ns1:solidFill>
            <ns1:prstDash val="solid"/>
          </ns1:ln>
        </ns0:spPr>
      </ns0:sp>
      <ns0:sp>
        <ns0:nvSpPr>
          <ns0:cNvPr id="14" name="trace:S04:content.auto.9">
            <ns1:extLst>
              <ns1:ext uri="{FF2B5EF4-FFF2-40B4-BE49-F238E27FC236}">
                <ns2:creationId id="{75861A77-387D-48BB-BFC8-19C7C5894E4E}"/>
              </ns1:ext>
            </ns1:extLst>
          </ns0:cNvPr>
          <ns0:cNvSpPr>
            <ns1:spLocks noGrp="1"/>
          </ns0:cNvSpPr>
          <ns0:nvPr/>
        </ns0:nvSpPr>
        <ns0:spPr>
          <ns1:xfrm>
            <ns1:off x="9239250" y="2295525"/>
            <ns1:ext cx="495300" cy="4762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5" name="trace:S04:title.primary.5">
            <ns1:extLst>
              <ns1:ext uri="{FF2B5EF4-FFF2-40B4-BE49-F238E27FC236}">
                <ns2:creationId id="{28A27457-AF2C-4B35-9B70-970B4EA21811}"/>
              </ns1:ext>
            </ns1:extLst>
          </ns0:cNvPr>
          <ns0:cNvSpPr>
            <ns1:spLocks noGrp="1"/>
          </ns0:cNvSpPr>
          <ns0:nvPr/>
        </ns0:nvSpPr>
        <ns0:spPr>
          <ns1:xfrm>
            <ns1:off x="9867900" y="2200275"/>
            <ns1:ext cx="24765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改善優先テーマ</ns1:t>
            </ns1:r>
          </ns1:p>
        </ns0:txBody>
      </ns0:sp>
      <ns0:sp>
        <ns0:nvSpPr>
          <ns0:cNvPr id="16" name="trace:S04:content.auto.10">
            <ns1:extLst>
              <ns1:ext uri="{FF2B5EF4-FFF2-40B4-BE49-F238E27FC236}">
                <ns2:creationId id="{F792A25F-BAD1-411D-9EF8-A1607C836A50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2552700"/>
            <ns1:ext cx="8172450" cy="1066800"/>
          </ns1:xfrm>
          <ns1:prstGeom prst="roundRect">
            <ns1:avLst>
              <ns1:gd name="adj" fmla="val 6250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17" name="trace:S04:content.auto.11">
            <ns1:extLst>
              <ns1:ext uri="{FF2B5EF4-FFF2-40B4-BE49-F238E27FC236}">
                <ns2:creationId id="{5812ED94-A72A-4754-BDC6-D900EFF09CB8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2552700"/>
            <ns1:ext cx="914400" cy="1066800"/>
          </ns1:xfrm>
          <ns1:custGeom>
            <ns1:pathLst>
              <ns1:path w="914400" h="1066800">
                <ns1:moveTo>
                  <ns1:pt x="0" y="0"/>
                </ns1:moveTo>
                <ns1:lnTo>
                  <ns1:pt x="742950" y="0"/>
                </ns1:lnTo>
                <ns1:lnTo>
                  <ns1:pt x="914400" y="533400"/>
                </ns1:lnTo>
                <ns1:lnTo>
                  <ns1:pt x="742950" y="1066800"/>
                </ns1:lnTo>
                <ns1:lnTo>
                  <ns1:pt x="0" y="1066800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8" name="trace:S04:content.auto.12">
            <ns1:extLst>
              <ns1:ext uri="{FF2B5EF4-FFF2-40B4-BE49-F238E27FC236}">
                <ns2:creationId id="{C67DD3BE-57A2-4F04-99FD-3230AE019309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2924175"/>
            <ns1:ext cx="4572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35" name="trace:S04:content.auto.13">
            <ns1:extLst>
              <ns1:ext uri="{FF2B5EF4-FFF2-40B4-BE49-F238E27FC236}">
                <ns2:creationId id="{22DDAD79-86FD-43A7-B92A-91631CC7AB4D}"/>
              </ns1:ext>
            </ns1:extLst>
          </ns0:cNvPr>
          <ns0:cNvSpPr>
            <ns1:spLocks noGrp="1"/>
          </ns0:cNvSpPr>
          <ns0:nvPr/>
        </ns0:nvSpPr>
        <ns0:spPr>
          <ns1:xfrm>
            <ns1:off x="2600325" y="2743200"/>
            <ns1:ext cx="9525" cy="676275"/>
          </ns1:xfrm>
          <ns1:prstGeom prst="line">
            <ns1:avLst/>
          </ns1:prstGeom>
          <ns1:noFill/>
          <ns1:ln w="14288">
            <ns1:solidFill>
              <ns1:srgbClr val="A7B3BF"/>
            </ns1:solidFill>
            <ns1:prstDash val="solid"/>
          </ns1:ln>
        </ns0:spPr>
      </ns0:sp>
      <ns0:sp>
        <ns0:nvSpPr>
          <ns0:cNvPr id="36" name="trace:S04:title.primary.6">
            <ns1:extLst>
              <ns1:ext uri="{FF2B5EF4-FFF2-40B4-BE49-F238E27FC236}">
                <ns2:creationId id="{897DB706-7C03-4D50-9BCF-E8F99ADBC57A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2724150"/>
            <ns1:ext cx="5334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情報収集が属人化</ns1:t>
            </ns1:r>
          </ns1:p>
        </ns0:txBody>
      </ns0:sp>
      <ns0:sp>
        <ns0:nvSpPr>
          <ns0:cNvPr id="37" name="trace:S04:title.primary.7">
            <ns1:extLst>
              <ns1:ext uri="{FF2B5EF4-FFF2-40B4-BE49-F238E27FC236}">
                <ns2:creationId id="{DB43A4A3-F703-40DB-8C02-484330056958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3105150"/>
            <ns1:ext cx="55245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過去の提案資料・競合情報・顧客情報が各担当者に散在し、</ns1:t>
            </ns1:r>
          </ns1:p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必要な情報にたどり着きにくく、再利用しにくい状況です。</ns1:t>
            </ns1:r>
          </ns1:p>
        </ns0:txBody>
      </ns0:sp>
      <ns0:sp>
        <ns0:nvSpPr>
          <ns0:cNvPr id="38" name="trace:S04:content.auto.14">
            <ns1:extLst>
              <ns1:ext uri="{FF2B5EF4-FFF2-40B4-BE49-F238E27FC236}">
                <ns2:creationId id="{E2F8ACD9-40AA-496C-9A89-D65E67E81B94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3733800"/>
            <ns1:ext cx="8172450" cy="1066800"/>
          </ns1:xfrm>
          <ns1:prstGeom prst="roundRect">
            <ns1:avLst>
              <ns1:gd name="adj" fmla="val 6250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39" name="trace:S04:content.auto.15">
            <ns1:extLst>
              <ns1:ext uri="{FF2B5EF4-FFF2-40B4-BE49-F238E27FC236}">
                <ns2:creationId id="{D92A591D-0784-4BBC-864E-6FA78745D11C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3733800"/>
            <ns1:ext cx="914400" cy="1066800"/>
          </ns1:xfrm>
          <ns1:custGeom>
            <ns1:pathLst>
              <ns1:path w="914400" h="1066800">
                <ns1:moveTo>
                  <ns1:pt x="0" y="0"/>
                </ns1:moveTo>
                <ns1:lnTo>
                  <ns1:pt x="742950" y="0"/>
                </ns1:lnTo>
                <ns1:lnTo>
                  <ns1:pt x="914400" y="533400"/>
                </ns1:lnTo>
                <ns1:lnTo>
                  <ns1:pt x="742950" y="1066800"/>
                </ns1:lnTo>
                <ns1:lnTo>
                  <ns1:pt x="0" y="1066800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40" name="trace:S04:content.auto.16">
            <ns1:extLst>
              <ns1:ext uri="{FF2B5EF4-FFF2-40B4-BE49-F238E27FC236}">
                <ns2:creationId id="{D637D2CE-F9C2-40AB-A3D0-CB7D5DDD5608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4105275"/>
            <ns1:ext cx="4572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41" name="trace:S04:content.auto.17">
            <ns1:extLst>
              <ns1:ext uri="{FF2B5EF4-FFF2-40B4-BE49-F238E27FC236}">
                <ns2:creationId id="{0AB1DEEB-EED4-40FF-ACCB-D8E4B06B3A7E}"/>
              </ns1:ext>
            </ns1:extLst>
          </ns0:cNvPr>
          <ns0:cNvSpPr>
            <ns1:spLocks noGrp="1"/>
          </ns0:cNvSpPr>
          <ns0:nvPr/>
        </ns0:nvSpPr>
        <ns0:spPr>
          <ns1:xfrm>
            <ns1:off x="1714500" y="4010025"/>
            <ns1:ext cx="514350" cy="514350"/>
          </ns1:xfrm>
          <ns1:prstGeom prst="ellips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42" name="trace:S04:content.auto.18">
            <ns1:extLst>
              <ns1:ext uri="{FF2B5EF4-FFF2-40B4-BE49-F238E27FC236}">
                <ns2:creationId id="{88B18E94-CCBF-4062-A0ED-28F6A1392FF3}"/>
              </ns1:ext>
            </ns1:extLst>
          </ns0:cNvPr>
          <ns0:cNvSpPr>
            <ns1:spLocks noGrp="1"/>
          </ns0:cNvSpPr>
          <ns0:nvPr/>
        </ns0:nvSpPr>
        <ns0:spPr>
          <ns1:xfrm>
            <ns1:off x="1971675" y="4267200"/>
            <ns1:ext cx="9525" cy="9525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43" name="trace:S04:content.auto.19">
            <ns1:extLst>
              <ns1:ext uri="{FF2B5EF4-FFF2-40B4-BE49-F238E27FC236}">
                <ns2:creationId id="{F4873C51-6F2D-495E-AEAF-0D3B6149C497}"/>
              </ns1:ext>
            </ns1:extLst>
          </ns0:cNvPr>
          <ns0:cNvSpPr>
            <ns1:spLocks noGrp="1"/>
          </ns0:cNvSpPr>
          <ns0:nvPr/>
        </ns0:nvSpPr>
        <ns0:spPr>
          <ns1:xfrm>
            <ns1:off x="1971675" y="4267200"/>
            <ns1:ext cx="123825" cy="76200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44" name="trace:S04:content.auto.20">
            <ns1:extLst>
              <ns1:ext uri="{FF2B5EF4-FFF2-40B4-BE49-F238E27FC236}">
                <ns2:creationId id="{B1C2D920-636A-4223-83F8-0D2EC7F6D7BB}"/>
              </ns1:ext>
            </ns1:extLst>
          </ns0:cNvPr>
          <ns0:cNvSpPr>
            <ns1:spLocks noGrp="1"/>
          </ns0:cNvSpPr>
          <ns0:nvPr/>
        </ns0:nvSpPr>
        <ns0:spPr>
          <ns1:xfrm>
            <ns1:off x="1947863" y="4243388"/>
            <ns1:ext cx="47625" cy="47625"/>
          </ns1:xfrm>
          <ns1:prstGeom prst="ellipse">
            <ns1:avLst/>
          </ns1:prstGeom>
          <ns1:solidFill>
            <ns1:srgbClr val="10233D"/>
          </ns1:solidFill>
          <ns1:ln w="0">
            <ns1:solidFill>
              <ns1:srgbClr val="10233D"/>
            </ns1:solidFill>
            <ns1:prstDash val="solid"/>
          </ns1:ln>
        </ns0:spPr>
      </ns0:sp>
      <ns0:sp>
        <ns0:nvSpPr>
          <ns0:cNvPr id="45" name="trace:S04:content.auto.21">
            <ns1:extLst>
              <ns1:ext uri="{FF2B5EF4-FFF2-40B4-BE49-F238E27FC236}">
                <ns2:creationId id="{CC7B8D69-B535-426B-BF42-7BB8B49C161F}"/>
              </ns1:ext>
            </ns1:extLst>
          </ns0:cNvPr>
          <ns0:cNvSpPr>
            <ns1:spLocks noGrp="1"/>
          </ns0:cNvSpPr>
          <ns0:nvPr/>
        </ns0:nvSpPr>
        <ns0:spPr>
          <ns1:xfrm>
            <ns1:off x="2600325" y="3924300"/>
            <ns1:ext cx="9525" cy="676275"/>
          </ns1:xfrm>
          <ns1:prstGeom prst="line">
            <ns1:avLst/>
          </ns1:prstGeom>
          <ns1:noFill/>
          <ns1:ln w="14288">
            <ns1:solidFill>
              <ns1:srgbClr val="A7B3BF"/>
            </ns1:solidFill>
            <ns1:prstDash val="solid"/>
          </ns1:ln>
        </ns0:spPr>
      </ns0:sp>
      <ns0:sp>
        <ns0:nvSpPr>
          <ns0:cNvPr id="46" name="trace:S04:content.auto.22">
            <ns1:extLst>
              <ns1:ext uri="{FF2B5EF4-FFF2-40B4-BE49-F238E27FC236}">
                <ns2:creationId id="{3A3986F2-C553-481E-AAE2-36797C6DC168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3905250"/>
            <ns1:ext cx="5334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提案作成に時間がかかる</ns1:t>
            </ns1:r>
          </ns1:p>
        </ns0:txBody>
      </ns0:sp>
      <ns0:sp>
        <ns0:nvSpPr>
          <ns0:cNvPr id="47" name="trace:S04:lead">
            <ns1:extLst>
              <ns1:ext uri="{FF2B5EF4-FFF2-40B4-BE49-F238E27FC236}">
                <ns2:creationId id="{7FD219C4-1376-4E36-8B69-DD320CB07873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4286250"/>
            <ns1:ext cx="55245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構成の検討、文章の整理、資料の整形に多くの工数がかかり、</ns1:t>
            </ns1:r>
          </ns1:p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提案スピードの低下につながっています。</ns1:t>
            </ns1:r>
          </ns1:p>
        </ns0:txBody>
      </ns0:sp>
      <ns0:sp>
        <ns0:nvSpPr>
          <ns0:cNvPr id="48" name="trace:S04:content.auto.23">
            <ns1:extLst>
              <ns1:ext uri="{FF2B5EF4-FFF2-40B4-BE49-F238E27FC236}">
                <ns2:creationId id="{BC3A45AA-DAF5-4711-A9F8-BB30B4246D66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4953000"/>
            <ns1:ext cx="8172450" cy="1066800"/>
          </ns1:xfrm>
          <ns1:prstGeom prst="roundRect">
            <ns1:avLst>
              <ns1:gd name="adj" fmla="val 6250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49" name="trace:S04:content.auto.24">
            <ns1:extLst>
              <ns1:ext uri="{FF2B5EF4-FFF2-40B4-BE49-F238E27FC236}">
                <ns2:creationId id="{7080FADE-F927-4B0B-88D3-E99D5D2E9AD3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4953000"/>
            <ns1:ext cx="914400" cy="1066800"/>
          </ns1:xfrm>
          <ns1:custGeom>
            <ns1:pathLst>
              <ns1:path w="914400" h="1066800">
                <ns1:moveTo>
                  <ns1:pt x="0" y="0"/>
                </ns1:moveTo>
                <ns1:lnTo>
                  <ns1:pt x="742950" y="0"/>
                </ns1:lnTo>
                <ns1:lnTo>
                  <ns1:pt x="914400" y="533400"/>
                </ns1:lnTo>
                <ns1:lnTo>
                  <ns1:pt x="742950" y="1066800"/>
                </ns1:lnTo>
                <ns1:lnTo>
                  <ns1:pt x="0" y="1066800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50" name="trace:S04:content.auto.25">
            <ns1:extLst>
              <ns1:ext uri="{FF2B5EF4-FFF2-40B4-BE49-F238E27FC236}">
                <ns2:creationId id="{4569D23A-C540-4D06-82A6-534570E46397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5324475"/>
            <ns1:ext cx="4572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51" name="trace:S04:content.auto.26">
            <ns1:extLst>
              <ns1:ext uri="{FF2B5EF4-FFF2-40B4-BE49-F238E27FC236}">
                <ns2:creationId id="{4DAC8105-2C78-48A8-8854-F9D59FB121AA}"/>
              </ns1:ext>
            </ns1:extLst>
          </ns0:cNvPr>
          <ns0:cNvSpPr>
            <ns1:spLocks noGrp="1"/>
          </ns0:cNvSpPr>
          <ns0:nvPr/>
        </ns0:nvSpPr>
        <ns0:spPr>
          <ns1:xfrm>
            <ns1:off x="1781175" y="5219700"/>
            <ns1:ext cx="381000" cy="523875"/>
          </ns1:xfrm>
          <ns1:prstGeom prst="rect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52" name="trace:S04:content.auto.27">
            <ns1:extLst>
              <ns1:ext uri="{FF2B5EF4-FFF2-40B4-BE49-F238E27FC236}">
                <ns2:creationId id="{351902E5-CF67-48A7-8AC3-57BBE30968F1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5219700"/>
            <ns1:ext cx="114300" cy="114300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53" name="trace:S04:content.auto.28">
            <ns1:extLst>
              <ns1:ext uri="{FF2B5EF4-FFF2-40B4-BE49-F238E27FC236}">
                <ns2:creationId id="{9BA37206-80E5-46B3-9B4D-73A3F8FDA106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5219700"/>
            <ns1:ext cx="9525" cy="114300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54" name="trace:S04:content.auto.29">
            <ns1:extLst>
              <ns1:ext uri="{FF2B5EF4-FFF2-40B4-BE49-F238E27FC236}">
                <ns2:creationId id="{BEEF3DEA-54A4-4458-A244-AEF28A9AC921}"/>
              </ns1:ext>
            </ns1:extLst>
          </ns0:cNvPr>
          <ns0:cNvSpPr>
            <ns1:spLocks noGrp="1"/>
          </ns0:cNvSpPr>
          <ns0:nvPr/>
        </ns0:nvSpPr>
        <ns0:spPr>
          <ns1:xfrm>
            <ns1:off x="1866900" y="5457825"/>
            <ns1:ext cx="219075" cy="9525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55" name="trace:S04:content.auto.30">
            <ns1:extLst>
              <ns1:ext uri="{FF2B5EF4-FFF2-40B4-BE49-F238E27FC236}">
                <ns2:creationId id="{D70F5FBA-AF68-418A-ACF3-E5F68C454199}"/>
              </ns1:ext>
            </ns1:extLst>
          </ns0:cNvPr>
          <ns0:cNvSpPr>
            <ns1:spLocks noGrp="1"/>
          </ns0:cNvSpPr>
          <ns0:nvPr/>
        </ns0:nvSpPr>
        <ns0:spPr>
          <ns1:xfrm>
            <ns1:off x="1866900" y="5572125"/>
            <ns1:ext cx="219075" cy="9525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56" name="trace:S04:content.auto.31">
            <ns1:extLst>
              <ns1:ext uri="{FF2B5EF4-FFF2-40B4-BE49-F238E27FC236}">
                <ns2:creationId id="{35E42332-9587-48D2-9F34-0125ED3321B2}"/>
              </ns1:ext>
            </ns1:extLst>
          </ns0:cNvPr>
          <ns0:cNvSpPr>
            <ns1:spLocks noGrp="1"/>
          </ns0:cNvSpPr>
          <ns0:nvPr/>
        </ns0:nvSpPr>
        <ns0:spPr>
          <ns1:xfrm>
            <ns1:off x="2600325" y="5143500"/>
            <ns1:ext cx="9525" cy="676275"/>
          </ns1:xfrm>
          <ns1:prstGeom prst="line">
            <ns1:avLst/>
          </ns1:prstGeom>
          <ns1:noFill/>
          <ns1:ln w="14288">
            <ns1:solidFill>
              <ns1:srgbClr val="A7B3BF"/>
            </ns1:solidFill>
            <ns1:prstDash val="solid"/>
          </ns1:ln>
        </ns0:spPr>
      </ns0:sp>
      <ns0:sp>
        <ns0:nvSpPr>
          <ns0:cNvPr id="57" name="trace:S04:content.auto.32">
            <ns1:extLst>
              <ns1:ext uri="{FF2B5EF4-FFF2-40B4-BE49-F238E27FC236}">
                <ns2:creationId id="{92FEA36C-7466-4993-A555-7DDEDC3AD564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5124450"/>
            <ns1:ext cx="5334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提案品質にばらつき</ns1:t>
            </ns1:r>
          </ns1:p>
        </ns0:txBody>
      </ns0:sp>
      <ns0:sp>
        <ns0:nvSpPr>
          <ns0:cNvPr id="58" name="trace:S04:content.auto.33">
            <ns1:extLst>
              <ns1:ext uri="{FF2B5EF4-FFF2-40B4-BE49-F238E27FC236}">
                <ns2:creationId id="{4923AE73-4080-43A4-8C23-FD2D9D6EF0EA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5505450"/>
            <ns1:ext cx="55245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担当者ごとに論点整理の深さや表現の質に差が生じ、</ns1:t>
            </ns1:r>
          </ns1:p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提案内容の一貫性や訴求力にばらつきがあります。</ns1:t>
            </ns1:r>
          </ns1:p>
        </ns0:txBody>
      </ns0:sp>
      <ns0:sp>
        <ns0:nvSpPr>
          <ns0:cNvPr id="59" name="trace:S04:content.auto.34">
            <ns1:extLst>
              <ns1:ext uri="{FF2B5EF4-FFF2-40B4-BE49-F238E27FC236}">
                <ns2:creationId id="{C453CED3-361D-4BDF-90D2-252155A5837C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6172200"/>
            <ns1:ext cx="8172450" cy="1066800"/>
          </ns1:xfrm>
          <ns1:prstGeom prst="roundRect">
            <ns1:avLst>
              <ns1:gd name="adj" fmla="val 6250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60" name="trace:S04:content.auto.35">
            <ns1:extLst>
              <ns1:ext uri="{FF2B5EF4-FFF2-40B4-BE49-F238E27FC236}">
                <ns2:creationId id="{65F592BD-2AFD-4801-985A-69C9654958B2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6172200"/>
            <ns1:ext cx="914400" cy="1066800"/>
          </ns1:xfrm>
          <ns1:custGeom>
            <ns1:pathLst>
              <ns1:path w="914400" h="1066800">
                <ns1:moveTo>
                  <ns1:pt x="0" y="0"/>
                </ns1:moveTo>
                <ns1:lnTo>
                  <ns1:pt x="742950" y="0"/>
                </ns1:lnTo>
                <ns1:lnTo>
                  <ns1:pt x="914400" y="533400"/>
                </ns1:lnTo>
                <ns1:lnTo>
                  <ns1:pt x="742950" y="1066800"/>
                </ns1:lnTo>
                <ns1:lnTo>
                  <ns1:pt x="0" y="1066800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1" name="trace:S04:content.auto.36">
            <ns1:extLst>
              <ns1:ext uri="{FF2B5EF4-FFF2-40B4-BE49-F238E27FC236}">
                <ns2:creationId id="{2523F2F5-ADF4-40EA-8CF6-B3201760FCA1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6543675"/>
            <ns1:ext cx="4572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04</ns1:t>
            </ns1:r>
          </ns1:p>
        </ns0:txBody>
      </ns0:sp>
      <ns0:sp>
        <ns0:nvSpPr>
          <ns0:cNvPr id="62" name="trace:S04:content.auto.37">
            <ns1:extLst>
              <ns1:ext uri="{FF2B5EF4-FFF2-40B4-BE49-F238E27FC236}">
                <ns2:creationId id="{6A0F2B4F-3993-453D-AE7B-7C7BC7741450}"/>
              </ns1:ext>
            </ns1:extLst>
          </ns0:cNvPr>
          <ns0:cNvSpPr>
            <ns1:spLocks noGrp="1"/>
          </ns0:cNvSpPr>
          <ns0:nvPr/>
        </ns0:nvSpPr>
        <ns0:spPr>
          <ns1:xfrm>
            <ns1:off x="1704975" y="6943725"/>
            <ns1:ext cx="542925" cy="9525"/>
          </ns1:xfrm>
          <ns1:prstGeom prst="line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63" name="trace:S04:content.auto.38">
            <ns1:extLst>
              <ns1:ext uri="{FF2B5EF4-FFF2-40B4-BE49-F238E27FC236}">
                <ns2:creationId id="{4C6AFA6E-AA40-4AE2-B9D6-A17EF2E99FDD}"/>
              </ns1:ext>
            </ns1:extLst>
          </ns0:cNvPr>
          <ns0:cNvSpPr>
            <ns1:spLocks noGrp="1"/>
          </ns0:cNvSpPr>
          <ns0:nvPr/>
        </ns0:nvSpPr>
        <ns0:spPr>
          <ns1:xfrm>
            <ns1:off x="1733550" y="6734175"/>
            <ns1:ext cx="114300" cy="209550"/>
          </ns1:xfrm>
          <ns1:prstGeom prst="rect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64" name="trace:S04:content.auto.39">
            <ns1:extLst>
              <ns1:ext uri="{FF2B5EF4-FFF2-40B4-BE49-F238E27FC236}">
                <ns2:creationId id="{2E506F89-F471-4DEB-8CC7-63F55AD47545}"/>
              </ns1:ext>
            </ns1:extLst>
          </ns0:cNvPr>
          <ns0:cNvSpPr>
            <ns1:spLocks noGrp="1"/>
          </ns0:cNvSpPr>
          <ns0:nvPr/>
        </ns0:nvSpPr>
        <ns0:spPr>
          <ns1:xfrm>
            <ns1:off x="1924050" y="6610350"/>
            <ns1:ext cx="114300" cy="333375"/>
          </ns1:xfrm>
          <ns1:prstGeom prst="rect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65" name="trace:S04:content.auto.40">
            <ns1:extLst>
              <ns1:ext uri="{FF2B5EF4-FFF2-40B4-BE49-F238E27FC236}">
                <ns2:creationId id="{76E0C84B-EEBD-4E9B-B89B-39E50761E9C0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6467475"/>
            <ns1:ext cx="114300" cy="476250"/>
          </ns1:xfrm>
          <ns1:prstGeom prst="rect">
            <ns1:avLst/>
          </ns1:prstGeom>
          <ns1:noFill/>
          <ns1:ln w="23813">
            <ns1:solidFill>
              <ns1:srgbClr val="10233D"/>
            </ns1:solidFill>
            <ns1:prstDash val="solid"/>
          </ns1:ln>
        </ns0:spPr>
      </ns0:sp>
      <ns0:sp>
        <ns0:nvSpPr>
          <ns0:cNvPr id="66" name="trace:S04:content.auto.41">
            <ns1:extLst>
              <ns1:ext uri="{FF2B5EF4-FFF2-40B4-BE49-F238E27FC236}">
                <ns2:creationId id="{5255F499-497B-437F-8F57-0B1AF261C879}"/>
              </ns1:ext>
            </ns1:extLst>
          </ns0:cNvPr>
          <ns0:cNvSpPr>
            <ns1:spLocks noGrp="1"/>
          </ns0:cNvSpPr>
          <ns0:nvPr/>
        </ns0:nvSpPr>
        <ns0:spPr>
          <ns1:xfrm>
            <ns1:off x="2600325" y="6362700"/>
            <ns1:ext cx="9525" cy="676275"/>
          </ns1:xfrm>
          <ns1:prstGeom prst="line">
            <ns1:avLst/>
          </ns1:prstGeom>
          <ns1:noFill/>
          <ns1:ln w="14288">
            <ns1:solidFill>
              <ns1:srgbClr val="A7B3BF"/>
            </ns1:solidFill>
            <ns1:prstDash val="solid"/>
          </ns1:ln>
        </ns0:spPr>
      </ns0:sp>
      <ns0:sp>
        <ns0:nvSpPr>
          <ns0:cNvPr id="67" name="trace:S04:content.auto.42">
            <ns1:extLst>
              <ns1:ext uri="{FF2B5EF4-FFF2-40B4-BE49-F238E27FC236}">
                <ns2:creationId id="{4D3E21ED-253F-45D7-A7B7-980E6848FC0B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6343650"/>
            <ns1:ext cx="5334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判断材料が不足</ns1:t>
            </ns1:r>
          </ns1:p>
        </ns0:txBody>
      </ns0:sp>
      <ns0:sp>
        <ns0:nvSpPr>
          <ns0:cNvPr id="68" name="trace:S04:content.auto.43">
            <ns1:extLst>
              <ns1:ext uri="{FF2B5EF4-FFF2-40B4-BE49-F238E27FC236}">
                <ns2:creationId id="{878A39AB-122B-4339-9E27-FE904FC86A8B}"/>
              </ns1:ext>
            </ns1:extLst>
          </ns0:cNvPr>
          <ns0:cNvSpPr>
            <ns1:spLocks noGrp="1"/>
          </ns0:cNvSpPr>
          <ns0:nvPr/>
        </ns0:nvSpPr>
        <ns0:spPr>
          <ns1:xfrm>
            <ns1:off x="2886075" y="6686550"/>
            <ns1:ext cx="55245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受注確度、競合優位性、見積根拠などの情報が</ns1:t>
            </ns1:r>
          </ns1:p>
          <ns1:p>
            <ns1:pPr algn="l">
              <ns1:buNone/>
              <ns1:defRPr sz="12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十分に可視化されておらず、</ns1:t>
            </ns1:r>
          </ns1:p>
          <ns1:p>
            <ns1:pPr algn="l">
              <ns1:buNone/>
              <ns1:defRPr sz="12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戦略的な意思決定が難しい状況です。</ns1:t>
            </ns1:r>
          </ns1:p>
        </ns0:txBody>
      </ns0:sp>
      <ns0:sp>
        <ns0:nvSpPr>
          <ns0:cNvPr id="69" name="trace:S04:content.auto.44">
            <ns1:extLst>
              <ns1:ext uri="{FF2B5EF4-FFF2-40B4-BE49-F238E27FC236}">
                <ns2:creationId id="{849744BF-48ED-43E2-9F0D-57CA29A472C2}"/>
              </ns1:ext>
            </ns1:extLst>
          </ns0:cNvPr>
          <ns0:cNvSpPr>
            <ns1:spLocks noGrp="1"/>
          </ns0:cNvSpPr>
          <ns0:nvPr/>
        </ns0:nvSpPr>
        <ns0:spPr>
          <ns1:xfrm>
            <ns1:off x="9239250" y="2552700"/>
            <ns1:ext cx="6200775" cy="1047750"/>
          </ns1:xfrm>
          <ns1:prstGeom prst="roundRect">
            <ns1:avLst>
              <ns1:gd name="adj" fmla="val 6364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70" name="trace:S04:content.auto.45">
            <ns1:extLst>
              <ns1:ext uri="{FF2B5EF4-FFF2-40B4-BE49-F238E27FC236}">
                <ns2:creationId id="{40BDB13B-1033-4314-99F3-D6F80D08FBF0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2609850"/>
            <ns1:ext cx="857250" cy="857250"/>
          </ns1:xfrm>
          <ns1:prstGeom prst="ellipse">
            <ns1:avLst/>
          </ns1:prstGeom>
          <ns1:solidFill>
            <ns1:srgbClr val="ED1C24"/>
          </ns1:solidFill>
          <ns1:ln w="0">
            <ns1:solidFill>
              <ns1:srgbClr val="ED1C24"/>
            </ns1:solidFill>
            <ns1:prstDash val="solid"/>
          </ns1:ln>
        </ns0:spPr>
      </ns0:sp>
      <ns0:sp>
        <ns0:nvSpPr>
          <ns0:cNvPr id="71" name="trace:S04:content.auto.46">
            <ns1:extLst>
              <ns1:ext uri="{FF2B5EF4-FFF2-40B4-BE49-F238E27FC236}">
                <ns2:creationId id="{62F6F7B8-7710-4413-9B86-981BA11D72FC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2800350"/>
            <ns1:ext cx="476250" cy="142875"/>
          </ns1:xfrm>
          <ns1:prstGeom prst="ellipse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72" name="trace:S04:content.auto.47">
            <ns1:extLst>
              <ns1:ext uri="{FF2B5EF4-FFF2-40B4-BE49-F238E27FC236}">
                <ns2:creationId id="{334C8F2F-EC49-46DF-9449-F60C33B6C396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2876550"/>
            <ns1:ext cx="476250" cy="323850"/>
          </ns1:xfrm>
          <ns1:prstGeom prst="rect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73" name="trace:S04:content.auto.48">
            <ns1:extLst>
              <ns1:ext uri="{FF2B5EF4-FFF2-40B4-BE49-F238E27FC236}">
                <ns2:creationId id="{5872CEFA-4205-40E3-8A3B-AB7847D4ABAF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3133725"/>
            <ns1:ext cx="476250" cy="142875"/>
          </ns1:xfrm>
          <ns1:prstGeom prst="ellipse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74" name="trace:S04:content.auto.49">
            <ns1:extLst>
              <ns1:ext uri="{FF2B5EF4-FFF2-40B4-BE49-F238E27FC236}">
                <ns2:creationId id="{34B713BA-2782-4314-B2F6-743AD5B88073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2867025"/>
            <ns1:ext cx="9525" cy="342900"/>
          </ns1:xfrm>
          <ns1:prstGeom prst="line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75" name="trace:S04:content.auto.50">
            <ns1:extLst>
              <ns1:ext uri="{FF2B5EF4-FFF2-40B4-BE49-F238E27FC236}">
                <ns2:creationId id="{0EE8EF44-677A-405D-B0F5-A6BE3BF9074B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2867025"/>
            <ns1:ext cx="9525" cy="342900"/>
          </ns1:xfrm>
          <ns1:prstGeom prst="line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76" name="trace:S04:title.primary.8">
            <ns1:extLst>
              <ns1:ext uri="{FF2B5EF4-FFF2-40B4-BE49-F238E27FC236}">
                <ns2:creationId id="{5A4BD419-8556-478D-8E1F-E713ED2E7774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2705100"/>
            <ns1:ext cx="433387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A. 情報の蓄積と再利用</ns1:t>
            </ns1:r>
          </ns1:p>
        </ns0:txBody>
      </ns0:sp>
      <ns0:sp>
        <ns0:nvSpPr>
          <ns0:cNvPr id="77" name="trace:S04:title.primary.9">
            <ns1:extLst>
              <ns1:ext uri="{FF2B5EF4-FFF2-40B4-BE49-F238E27FC236}">
                <ns2:creationId id="{CA0C6D5F-8396-46E9-9238-94754ECB6C4D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3095625"/>
            <ns1:ext cx="4191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提案・顧客・競合情報を一元化し、</ns1:t>
            </ns1:r>
          </ns1:p>
          <ns1:p>
            <ns1:pPr algn="l">
              <ns1:buNone/>
              <ns1:def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誰でも活用できるナレッジ基盤を構築します。</ns1:t>
            </ns1:r>
          </ns1:p>
        </ns0:txBody>
      </ns0:sp>
      <ns0:sp>
        <ns0:nvSpPr>
          <ns0:cNvPr id="78" name="trace:S04:content.auto.51">
            <ns1:extLst>
              <ns1:ext uri="{FF2B5EF4-FFF2-40B4-BE49-F238E27FC236}">
                <ns2:creationId id="{1DEF64BB-C9C1-46AF-8FC1-E344E3B1AB70}"/>
              </ns1:ext>
            </ns1:extLst>
          </ns0:cNvPr>
          <ns0:cNvSpPr>
            <ns1:spLocks noGrp="1"/>
          </ns0:cNvSpPr>
          <ns0:nvPr/>
        </ns0:nvSpPr>
        <ns0:spPr>
          <ns1:xfrm>
            <ns1:off x="9239250" y="3667125"/>
            <ns1:ext cx="6200775" cy="1047750"/>
          </ns1:xfrm>
          <ns1:prstGeom prst="roundRect">
            <ns1:avLst>
              <ns1:gd name="adj" fmla="val 6364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79" name="trace:S04:content.auto.52">
            <ns1:extLst>
              <ns1:ext uri="{FF2B5EF4-FFF2-40B4-BE49-F238E27FC236}">
                <ns2:creationId id="{D52BC140-7A51-45F8-B676-1801E7962171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3724275"/>
            <ns1:ext cx="857250" cy="857250"/>
          </ns1:xfrm>
          <ns1:prstGeom prst="ellipse">
            <ns1:avLst/>
          </ns1:prstGeom>
          <ns1:solidFill>
            <ns1:srgbClr val="ED1C24"/>
          </ns1:solidFill>
          <ns1:ln w="0">
            <ns1:solidFill>
              <ns1:srgbClr val="ED1C24"/>
            </ns1:solidFill>
            <ns1:prstDash val="solid"/>
          </ns1:ln>
        </ns0:spPr>
      </ns0:sp>
      <ns0:sp>
        <ns0:nvSpPr>
          <ns0:cNvPr id="90" name="trace:S04:content.auto.53">
            <ns1:extLst>
              <ns1:ext uri="{FF2B5EF4-FFF2-40B4-BE49-F238E27FC236}">
                <ns2:creationId id="{A09B9BE5-D141-4A93-9558-799BBACAAB0D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3819525"/>
            <ns1:ext cx="433387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B. 作成業務の自動化</ns1:t>
            </ns1:r>
          </ns1:p>
        </ns0:txBody>
      </ns0:sp>
      <ns0:sp>
        <ns0:nvSpPr>
          <ns0:cNvPr id="91" name="trace:S04:lead.2">
            <ns1:extLst>
              <ns1:ext uri="{FF2B5EF4-FFF2-40B4-BE49-F238E27FC236}">
                <ns2:creationId id="{A4FE363B-60D5-4A7A-800B-4AF9BB6EAB98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4210050"/>
            <ns1:ext cx="4191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AI・テンプレートの活用により、</ns1:t>
            </ns1:r>
          </ns1:p>
          <ns1:p>
            <ns1:pPr algn="l">
              <ns1:buNone/>
              <ns1:def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構成・文章・資料作成の工数を削減します。</ns1:t>
            </ns1:r>
          </ns1:p>
        </ns0:txBody>
      </ns0:sp>
      <ns0:sp>
        <ns0:nvSpPr>
          <ns0:cNvPr id="92" name="trace:S04:content.auto.54">
            <ns1:extLst>
              <ns1:ext uri="{FF2B5EF4-FFF2-40B4-BE49-F238E27FC236}">
                <ns2:creationId id="{042BB095-DD39-4405-ACB6-287E9BC9AD05}"/>
              </ns1:ext>
            </ns1:extLst>
          </ns0:cNvPr>
          <ns0:cNvSpPr>
            <ns1:spLocks noGrp="1"/>
          </ns0:cNvSpPr>
          <ns0:nvPr/>
        </ns0:nvSpPr>
        <ns0:spPr>
          <ns1:xfrm>
            <ns1:off x="9239250" y="4781550"/>
            <ns1:ext cx="6200775" cy="1047750"/>
          </ns1:xfrm>
          <ns1:prstGeom prst="roundRect">
            <ns1:avLst>
              <ns1:gd name="adj" fmla="val 6364"/>
            </ns1:avLst>
          </ns1:prstGeom>
          <ns1:solidFill>
            <ns1:srgbClr val="F1F5F8"/>
          </ns1:solidFill>
          <ns1:ln w="0">
            <ns1:noFill/>
            <ns1:prstDash val="solid"/>
          </ns1:ln>
        </ns0:spPr>
      </ns0:sp>
      <ns0:sp>
        <ns0:nvSpPr>
          <ns0:cNvPr id="93" name="trace:S04:content.auto.55">
            <ns1:extLst>
              <ns1:ext uri="{FF2B5EF4-FFF2-40B4-BE49-F238E27FC236}">
                <ns2:creationId id="{652DB01B-0529-486C-8502-3236C42894D2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4838700"/>
            <ns1:ext cx="857250" cy="857250"/>
          </ns1:xfrm>
          <ns1:prstGeom prst="ellipse">
            <ns1:avLst/>
          </ns1:prstGeom>
          <ns1:solidFill>
            <ns1:srgbClr val="ED1C24"/>
          </ns1:solidFill>
          <ns1:ln w="0">
            <ns1:solidFill>
              <ns1:srgbClr val="ED1C24"/>
            </ns1:solidFill>
            <ns1:prstDash val="solid"/>
          </ns1:ln>
        </ns0:spPr>
      </ns0:sp>
      <ns0:sp>
        <ns0:nvSpPr>
          <ns0:cNvPr id="94" name="trace:S04:content.auto.56">
            <ns1:extLst>
              <ns1:ext uri="{FF2B5EF4-FFF2-40B4-BE49-F238E27FC236}">
                <ns2:creationId id="{03702006-5F7F-4891-B049-B220C07AFEE2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5505450"/>
            <ns1:ext cx="542925" cy="9525"/>
          </ns1:xfrm>
          <ns1:prstGeom prst="line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95" name="trace:S04:content.auto.57">
            <ns1:extLst>
              <ns1:ext uri="{FF2B5EF4-FFF2-40B4-BE49-F238E27FC236}">
                <ns2:creationId id="{39C6ED44-B2BF-4AC0-90E7-30555097B153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5295900"/>
            <ns1:ext cx="114300" cy="209550"/>
          </ns1:xfrm>
          <ns1:prstGeom prst="rect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96" name="trace:S04:content.auto.58">
            <ns1:extLst>
              <ns1:ext uri="{FF2B5EF4-FFF2-40B4-BE49-F238E27FC236}">
                <ns2:creationId id="{F570FEEE-C9A8-4499-B100-EA31541D5AD5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5172075"/>
            <ns1:ext cx="114300" cy="333375"/>
          </ns1:xfrm>
          <ns1:prstGeom prst="rect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97" name="trace:S04:content.auto.59">
            <ns1:extLst>
              <ns1:ext uri="{FF2B5EF4-FFF2-40B4-BE49-F238E27FC236}">
                <ns2:creationId id="{07AC167E-8562-46CA-BC91-45A36AC3328D}"/>
              </ns1:ext>
            </ns1:extLst>
          </ns0:cNvPr>
          <ns0:cNvSpPr>
            <ns1:spLocks noGrp="1"/>
          </ns0:cNvSpPr>
          <ns0:nvPr/>
        </ns0:nvSpPr>
        <ns0:spPr>
          <ns1:xfrm>
            <ns1:off x="10191750" y="5029200"/>
            <ns1:ext cx="114300" cy="476250"/>
          </ns1:xfrm>
          <ns1:prstGeom prst="rect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98" name="trace:S04:content.auto.60">
            <ns1:extLst>
              <ns1:ext uri="{FF2B5EF4-FFF2-40B4-BE49-F238E27FC236}">
                <ns2:creationId id="{82F7CC9D-92F6-4758-A3E9-9661A85AA3DD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4933950"/>
            <ns1:ext cx="433387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C. 判断支援の標準化</ns1:t>
            </ns1:r>
          </ns1:p>
        </ns0:txBody>
      </ns0:sp>
      <ns0:sp>
        <ns0:nvSpPr>
          <ns0:cNvPr id="99" name="trace:S04:content.auto.61">
            <ns1:extLst>
              <ns1:ext uri="{FF2B5EF4-FFF2-40B4-BE49-F238E27FC236}">
                <ns2:creationId id="{AAB6D708-744B-4111-A306-384221BF0F3E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5324475"/>
            <ns1:ext cx="4191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受注確度や競合分析、見積根拠を可視化し、</ns1:t>
            </ns1:r>
          </ns1:p>
          <ns1:p>
            <ns1:pPr algn="l">
              <ns1:buNone/>
              <ns1:def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データに基づく意思決定を支援します。</ns1:t>
            </ns1:r>
          </ns1:p>
        </ns0:txBody>
      </ns0:sp>
      <ns0:sp>
        <ns0:nvSpPr>
          <ns0:cNvPr id="100" name="trace:S04:content.auto.62">
            <ns1:extLst>
              <ns1:ext uri="{FF2B5EF4-FFF2-40B4-BE49-F238E27FC236}">
                <ns2:creationId id="{7DE4A518-1CB0-4E78-B929-75204B55E744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5905500"/>
            <ns1:ext cx="666750" cy="247650"/>
          </ns1:xfrm>
          <ns1:custGeom>
            <ns1:pathLst>
              <ns1:path w="666750" h="247650">
                <ns1:moveTo>
                  <ns1:pt x="0" y="0"/>
                </ns1:moveTo>
                <ns1:lnTo>
                  <ns1:pt x="666750" y="0"/>
                </ns1:lnTo>
                <ns1:lnTo>
                  <ns1:pt x="333375" y="247650"/>
                </ns1:lnTo>
                <ns1:close/>
              </ns1:path>
            </ns1:pathLst>
          </ns1:custGeom>
          <ns1:solidFill>
            <ns1:srgbClr val="FFD8DA"/>
          </ns1:solidFill>
          <ns1:ln w="0">
            <ns1:noFill/>
            <ns1:prstDash val="solid"/>
          </ns1:ln>
        </ns0:spPr>
      </ns0:sp>
      <ns0:sp>
        <ns0:nvSpPr>
          <ns0:cNvPr id="101" name="trace:S04:content.auto.63">
            <ns1:extLst>
              <ns1:ext uri="{FF2B5EF4-FFF2-40B4-BE49-F238E27FC236}">
                <ns2:creationId id="{A39CCDF4-FBE1-46D4-AA67-FC7F94CBF6B0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5905500"/>
            <ns1:ext cx="419100" cy="152400"/>
          </ns1:xfrm>
          <ns1:custGeom>
            <ns1:pathLst>
              <ns1:path w="419100" h="152400">
                <ns1:moveTo>
                  <ns1:pt x="0" y="0"/>
                </ns1:moveTo>
                <ns1:lnTo>
                  <ns1:pt x="419100" y="0"/>
                </ns1:lnTo>
                <ns1:lnTo>
                  <ns1:pt x="209550" y="152400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02" name="trace:S04:content.auto.64">
            <ns1:extLst>
              <ns1:ext uri="{FF2B5EF4-FFF2-40B4-BE49-F238E27FC236}">
                <ns2:creationId id="{EC960B6C-8618-4FB7-BF15-136F945CA9C6}"/>
              </ns1:ext>
            </ns1:extLst>
          </ns0:cNvPr>
          <ns0:cNvSpPr>
            <ns1:spLocks noGrp="1"/>
          </ns0:cNvSpPr>
          <ns0:nvPr/>
        </ns0:nvSpPr>
        <ns0:spPr>
          <ns1:xfrm>
            <ns1:off x="9239250" y="6172200"/>
            <ns1:ext cx="6200775" cy="1181100"/>
          </ns1:xfrm>
          <ns1:prstGeom prst="roundRect">
            <ns1:avLst>
              <ns1:gd name="adj" fmla="val 5645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03" name="trace:S04:content.auto.65">
            <ns1:extLst>
              <ns1:ext uri="{FF2B5EF4-FFF2-40B4-BE49-F238E27FC236}">
                <ns2:creationId id="{0E0F6DDD-2362-436D-90C4-6CB334062D9C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6353175"/>
            <ns1:ext cx="495300" cy="4762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04" name="trace:S04:content.auto.66">
            <ns1:extLst>
              <ns1:ext uri="{FF2B5EF4-FFF2-40B4-BE49-F238E27FC236}">
                <ns2:creationId id="{EF778BAE-2DF8-4073-902C-37CD88A12BBE}"/>
              </ns1:ext>
            </ns1:extLst>
          </ns0:cNvPr>
          <ns0:cNvSpPr>
            <ns1:spLocks noGrp="1"/>
          </ns0:cNvSpPr>
          <ns0:nvPr/>
        </ns0:nvSpPr>
        <ns0:spPr>
          <ns1:xfrm>
            <ns1:off x="10077450" y="6286500"/>
            <ns1:ext cx="219075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期待される効果</ns1:t>
            </ns1:r>
          </ns1:p>
        </ns0:txBody>
      </ns0:sp>
      <ns0:sp>
        <ns0:nvSpPr>
          <ns0:cNvPr id="105" name="trace:S04:content.auto.67">
            <ns1:extLst>
              <ns1:ext uri="{FF2B5EF4-FFF2-40B4-BE49-F238E27FC236}">
                <ns2:creationId id="{3CE362F9-A463-4739-9A30-8D3DB5AF9F4C}"/>
              </ns1:ext>
            </ns1:extLst>
          </ns0:cNvPr>
          <ns0:cNvSpPr>
            <ns1:spLocks noGrp="1"/>
          </ns0:cNvSpPr>
          <ns0:nvPr/>
        </ns0:nvSpPr>
        <ns0:spPr>
          <ns1:xfrm>
            <ns1:off x="9486900" y="7134225"/>
            <ns1:ext cx="542925" cy="9525"/>
          </ns1:xfrm>
          <ns1:prstGeom prst="line">
            <ns1:avLst/>
          </ns1:prstGeom>
          <ns1:noFill/>
          <ns1:ln w="23813">
            <ns1:solidFill>
              <ns1:srgbClr val="ED1C24"/>
            </ns1:solidFill>
            <ns1:prstDash val="solid"/>
          </ns1:ln>
        </ns0:spPr>
      </ns0:sp>
      <ns0:sp>
        <ns0:nvSpPr>
          <ns0:cNvPr id="106" name="trace:S04:content.auto.68">
            <ns1:extLst>
              <ns1:ext uri="{FF2B5EF4-FFF2-40B4-BE49-F238E27FC236}">
                <ns2:creationId id="{3DD2537E-B87A-45B9-90BB-6338A36E3F80}"/>
              </ns1:ext>
            </ns1:extLst>
          </ns0:cNvPr>
          <ns0:cNvSpPr>
            <ns1:spLocks noGrp="1"/>
          </ns0:cNvSpPr>
          <ns0:nvPr/>
        </ns0:nvSpPr>
        <ns0:spPr>
          <ns1:xfrm>
            <ns1:off x="9515475" y="6924675"/>
            <ns1:ext cx="114300" cy="209550"/>
          </ns1:xfrm>
          <ns1:prstGeom prst="rect">
            <ns1:avLst/>
          </ns1:prstGeom>
          <ns1:noFill/>
          <ns1:ln w="23813">
            <ns1:solidFill>
              <ns1:srgbClr val="ED1C24"/>
            </ns1:solidFill>
            <ns1:prstDash val="solid"/>
          </ns1:ln>
        </ns0:spPr>
      </ns0:sp>
      <ns0:sp>
        <ns0:nvSpPr>
          <ns0:cNvPr id="107" name="trace:S04:content.auto.69">
            <ns1:extLst>
              <ns1:ext uri="{FF2B5EF4-FFF2-40B4-BE49-F238E27FC236}">
                <ns2:creationId id="{737F07E1-4EE2-4E25-AE53-FFC5706AD4FD}"/>
              </ns1:ext>
            </ns1:extLst>
          </ns0:cNvPr>
          <ns0:cNvSpPr>
            <ns1:spLocks noGrp="1"/>
          </ns0:cNvSpPr>
          <ns0:nvPr/>
        </ns0:nvSpPr>
        <ns0:spPr>
          <ns1:xfrm>
            <ns1:off x="9705975" y="6800850"/>
            <ns1:ext cx="114300" cy="333375"/>
          </ns1:xfrm>
          <ns1:prstGeom prst="rect">
            <ns1:avLst/>
          </ns1:prstGeom>
          <ns1:noFill/>
          <ns1:ln w="23813">
            <ns1:solidFill>
              <ns1:srgbClr val="ED1C24"/>
            </ns1:solidFill>
            <ns1:prstDash val="solid"/>
          </ns1:ln>
        </ns0:spPr>
      </ns0:sp>
      <ns0:sp>
        <ns0:nvSpPr>
          <ns0:cNvPr id="108" name="trace:S04:content.auto.70">
            <ns1:extLst>
              <ns1:ext uri="{FF2B5EF4-FFF2-40B4-BE49-F238E27FC236}">
                <ns2:creationId id="{2F6EA8E1-2170-42ED-8BF5-C46E550CBDDC}"/>
              </ns1:ext>
            </ns1:extLst>
          </ns0:cNvPr>
          <ns0:cNvSpPr>
            <ns1:spLocks noGrp="1"/>
          </ns0:cNvSpPr>
          <ns0:nvPr/>
        </ns0:nvSpPr>
        <ns0:spPr>
          <ns1:xfrm>
            <ns1:off x="9896475" y="6657975"/>
            <ns1:ext cx="114300" cy="476250"/>
          </ns1:xfrm>
          <ns1:prstGeom prst="rect">
            <ns1:avLst/>
          </ns1:prstGeom>
          <ns1:noFill/>
          <ns1:ln w="23813">
            <ns1:solidFill>
              <ns1:srgbClr val="ED1C24"/>
            </ns1:solidFill>
            <ns1:prstDash val="solid"/>
          </ns1:ln>
        </ns0:spPr>
      </ns0:sp>
      <ns0:sp>
        <ns0:nvSpPr>
          <ns0:cNvPr id="109" name="trace:S04:content.auto.71">
            <ns1:extLst>
              <ns1:ext uri="{FF2B5EF4-FFF2-40B4-BE49-F238E27FC236}">
                <ns2:creationId id="{91D6C705-E022-4226-AF80-0B5B57FCAA01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6629400"/>
            <ns1:ext cx="4762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提案時間短縮 / 品質平準化 / 受注率向上</ns1:t>
            </ns1:r>
          </ns1:p>
        </ns0:txBody>
      </ns0:sp>
      <ns0:sp>
        <ns0:nvSpPr>
          <ns0:cNvPr id="110" name="trace:S04:content.auto.72">
            <ns1:extLst>
              <ns1:ext uri="{FF2B5EF4-FFF2-40B4-BE49-F238E27FC236}">
                <ns2:creationId id="{835BC919-5D7C-455D-8074-EF09A8D13900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7048500"/>
            <ns1:ext cx="5048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業務の効率化と提案力の強化により、継続的な成果創出を実現します。</ns1:t>
            </ns1:r>
          </ns1:p>
        </ns0:txBody>
      </ns0:sp>
      <ns0:sp>
        <ns0:nvSpPr>
          <ns0:cNvPr id="111" name="trace:S04:content.auto.73">
            <ns1:extLst>
              <ns1:ext uri="{FF2B5EF4-FFF2-40B4-BE49-F238E27FC236}">
                <ns2:creationId id="{864DCF56-9D94-4B31-88A9-65EEC7892EEA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7524750"/>
            <ns1:ext cx="12534900" cy="590550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12" name="trace:S04:content.auto.74">
            <ns1:extLst>
              <ns1:ext uri="{FF2B5EF4-FFF2-40B4-BE49-F238E27FC236}">
                <ns2:creationId id="{DEA12D65-2D05-4BB0-8478-F21160EF60CE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7524750"/>
            <ns1:ext cx="2362200" cy="590550"/>
          </ns1:xfrm>
          <ns1:custGeom>
            <ns1:pathLst>
              <ns1:path w="2362200" h="590550">
                <ns1:moveTo>
                  <ns1:pt x="0" y="0"/>
                </ns1:moveTo>
                <ns1:lnTo>
                  <ns1:pt x="2095500" y="0"/>
                </ns1:lnTo>
                <ns1:lnTo>
                  <ns1:pt x="2362200" y="295275"/>
                </ns1:lnTo>
                <ns1:lnTo>
                  <ns1:pt x="2095500" y="590550"/>
                </ns1:lnTo>
                <ns1:lnTo>
                  <ns1:pt x="0" y="590550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13" name="trace:S04:content.auto.75">
            <ns1:extLst>
              <ns1:ext uri="{FF2B5EF4-FFF2-40B4-BE49-F238E27FC236}">
                <ns2:creationId id="{25A86124-5C18-41DD-9C49-61861AB14210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7639050"/>
            <ns1:ext cx="9525" cy="361950"/>
          </ns1:xfrm>
          <ns1:prstGeom prst="line">
            <ns1:avLst/>
          </ns1:pr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114" name="trace:S04:content.auto.76">
            <ns1:extLst>
              <ns1:ext uri="{FF2B5EF4-FFF2-40B4-BE49-F238E27FC236}">
                <ns2:creationId id="{20CAA6D4-4F79-4752-A7A3-7BF15E609AEA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7658100"/>
            <ns1:ext cx="266700" cy="161925"/>
          </ns1:xfrm>
          <ns1:custGeom>
            <ns1:pathLst>
              <ns1:path w="266700" h="161925">
                <ns1:moveTo>
                  <ns1:pt x="0" y="0"/>
                </ns1:moveTo>
                <ns1:lnTo>
                  <ns1:pt x="266700" y="38100"/>
                </ns1:lnTo>
                <ns1:lnTo>
                  <ns1:pt x="171450" y="104775"/>
                </ns1:lnTo>
                <ns1:lnTo>
                  <ns1:pt x="266700" y="161925"/>
                </ns1:lnTo>
                <ns1:lnTo>
                  <ns1:pt x="0" y="161925"/>
                </ns1:lnTo>
                <ns1:close/>
              </ns1:path>
            </ns1:pathLst>
          </ns1:custGeom>
          <ns1:noFill/>
          <ns1:ln w="23813">
            <ns1:solidFill>
              <ns1:srgbClr val="FFFFFF"/>
            </ns1:solidFill>
            <ns1:prstDash val="solid"/>
          </ns1:ln>
        </ns0:spPr>
      </ns0:sp>
      <ns0:sp>
        <ns0:nvSpPr>
          <ns0:cNvPr id="115" name="trace:S04:content.auto.77">
            <ns1:extLst>
              <ns1:ext uri="{FF2B5EF4-FFF2-40B4-BE49-F238E27FC236}">
                <ns2:creationId id="{6364BDEC-9C93-44A0-89A3-ABE301AFD9E4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" y="7677150"/>
            <ns1:ext cx="14287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6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今後の方針</ns1:t>
            </ns1:r>
          </ns1:p>
        </ns0:txBody>
      </ns0:sp>
      <ns0:sp>
        <ns0:nvSpPr>
          <ns0:cNvPr id="116" name="trace:S04:content.auto.78">
            <ns1:extLst>
              <ns1:ext uri="{FF2B5EF4-FFF2-40B4-BE49-F238E27FC236}">
                <ns2:creationId id="{FF5EA23D-A57C-4725-937A-952F3798297B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7648575"/>
            <ns1:ext cx="3905250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重点課題を段階的に解決し、</ns1:t>
            </ns1:r>
          </ns1:p>
        </ns0:txBody>
      </ns0:sp>
      <ns0:sp>
        <ns0:nvSpPr>
          <ns0:cNvPr id="117" name="trace:S04:content.auto.79">
            <ns1:extLst>
              <ns1:ext uri="{FF2B5EF4-FFF2-40B4-BE49-F238E27FC236}">
                <ns2:creationId id="{CEFDD4DB-BB3F-4C93-9951-FBDD241990B5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7648575"/>
            <ns1:ext cx="5619750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提案業務を再現性のある仕組みに変えていきます。</ns1:t>
            </ns1:r>
          </ns1:p>
        </ns0:txBody>
      </ns0:sp>
      <ns0:sp>
        <ns0:nvSpPr>
          <ns0:cNvPr id="118" name="trace:S04:content.auto.80">
            <ns1:extLst>
              <ns1:ext uri="{FF2B5EF4-FFF2-40B4-BE49-F238E27FC236}">
                <ns2:creationId id="{599E9897-6973-4730-A6E6-50857A22DCFE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8391525"/>
            <ns1:ext cx="12258675" cy="9525"/>
          </ns1:xfrm>
          <ns1:prstGeom prst="line">
            <ns1:avLst/>
          </ns1:prstGeom>
          <ns1:noFill/>
          <ns1:ln w="14288">
            <ns1:solidFill>
              <ns1:srgbClr val="ED1C24"/>
            </ns1:solidFill>
            <ns1:prstDash val="solid"/>
          </ns1:ln>
        </ns0:spPr>
      </ns0:sp>
      <ns0:sp>
        <ns0:nvSpPr>
          <ns0:cNvPr id="119" name="trace:S04:content.auto.81">
            <ns1:extLst>
              <ns1:ext uri="{FF2B5EF4-FFF2-40B4-BE49-F238E27FC236}">
                <ns2:creationId id="{0F4C6FCD-6D1C-48D7-92EE-90C593EC4563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8467725"/>
            <ns1:ext cx="285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6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04</ns1:t>
            </ns1:r>
          </ns1:p>
        </ns0:txBody>
      </ns0:sp>
      <ns0:sp>
        <ns0:nvSpPr>
          <ns0:cNvPr id="120" name="trace:S04:content.auto.82">
            <ns1:extLst>
              <ns1:ext uri="{FF2B5EF4-FFF2-40B4-BE49-F238E27FC236}">
                <ns2:creationId id="{7CD93C8F-10F6-4134-8DB3-5F811AE2AF0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8467725"/>
            <ns1:ext cx="9525" cy="257175"/>
          </ns1:xfrm>
          <ns1:prstGeom prst="line">
            <ns1:avLst/>
          </ns1:prstGeom>
          <ns1:noFill/>
          <ns1:ln w="14288">
            <ns1:solidFill>
              <ns1:srgbClr val="6C7B88"/>
            </ns1:solidFill>
            <ns1:prstDash val="solid"/>
          </ns1:ln>
        </ns0:spPr>
      </ns0:sp>
      <ns0:sp>
        <ns0:nvSpPr>
          <ns0:cNvPr id="121" name="trace:S04:footer.brand">
            <ns1:extLst>
              <ns1:ext uri="{FF2B5EF4-FFF2-40B4-BE49-F238E27FC236}">
                <ns2:creationId id="{6E3BDD0F-EA4F-430B-AAE0-FB89B39CC80D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8467725"/>
            <ns1:ext cx="1524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6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22" name="trace:S04:content.auto.83">
            <ns1:extLst>
              <ns1:ext uri="{FF2B5EF4-FFF2-40B4-BE49-F238E27FC236}">
                <ns2:creationId id="{8BD2E128-573E-4366-BF67-05CDAD40F80D}"/>
              </ns1:ext>
            </ns1:extLst>
          </ns0:cNvPr>
          <ns0:cNvSpPr>
            <ns1:spLocks noGrp="1"/>
          </ns0:cNvSpPr>
          <ns0:nvPr/>
        </ns0:nvSpPr>
        <ns0:spPr>
          <ns1:xfrm>
            <ns1:off x="2609850" y="8467725"/>
            <ns1:ext cx="9525" cy="257175"/>
          </ns1:xfrm>
          <ns1:prstGeom prst="line">
            <ns1:avLst/>
          </ns1:prstGeom>
          <ns1:noFill/>
          <ns1:ln w="14288">
            <ns1:solidFill>
              <ns1:srgbClr val="6C7B88"/>
            </ns1:solidFill>
            <ns1:prstDash val="solid"/>
          </ns1:ln>
        </ns0:spPr>
      </ns0:sp>
      <ns0:sp>
        <ns0:nvSpPr>
          <ns0:cNvPr id="123" name="trace:S04:footer.tagline.jp">
            <ns1:extLst>
              <ns1:ext uri="{FF2B5EF4-FFF2-40B4-BE49-F238E27FC236}">
                <ns2:creationId id="{83C70DF2-5F5B-42EF-9550-CA94108058A5}"/>
              </ns1:ext>
            </ns1:extLst>
          </ns0:cNvPr>
          <ns0:cNvSpPr>
            <ns1:spLocks noGrp="1"/>
          </ns0:cNvSpPr>
          <ns0:nvPr/>
        </ns0:nvSpPr>
        <ns0:spPr>
          <ns1:xfrm>
            <ns1:off x="2867025" y="8401050"/>
            <ns1:ext cx="3333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6C7B88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6C7B88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  <ns1:p>
            <ns1:pPr algn="l">
              <ns1:buNone/>
              <ns1:defRPr sz="1125" b="0">
                <ns1:solidFill>
                  <ns1:srgbClr val="6C7B88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6C7B88"/>
                </ns1:solidFill>
                <ns1:latin typeface="Yu Gothic"/>
                <ns1:ea typeface="Yu Gothic"/>
                <ns1:cs typeface="Yu Gothic"/>
              </ns1:rPr>
              <ns1:t>Think Together, Create the Next.</ns1:t>
            </ns1:r>
          </ns1:p>
        </ns0:txBody>
      </ns0:sp>
      <ns0:sp>
        <ns0:nvSpPr>
          <ns0:cNvPr id="124" name="trace:S04:content.auto.84">
            <ns1:extLst>
              <ns1:ext uri="{FF2B5EF4-FFF2-40B4-BE49-F238E27FC236}">
                <ns2:creationId id="{C80678D6-0524-4CAC-B969-9D014F15C444}"/>
              </ns1:ext>
            </ns1:extLst>
          </ns0:cNvPr>
          <ns0:cNvSpPr>
            <ns1:spLocks noGrp="1"/>
          </ns0:cNvSpPr>
          <ns0:nvPr/>
        </ns0:nvSpPr>
        <ns0:spPr>
          <ns1:xfrm>
            <ns1:off x="12077700" y="7410450"/>
            <ns1:ext cx="3848100" cy="1552575"/>
          </ns1:xfrm>
          <ns1:custGeom>
            <ns1:pathLst>
              <ns1:path w="3848100" h="1552575">
                <ns1:moveTo>
                  <ns1:pt x="0" y="1552575"/>
                </ns1:moveTo>
                <ns1:lnTo>
                  <ns1:pt x="3848100" y="0"/>
                </ns1:lnTo>
                <ns1:lnTo>
                  <ns1:pt x="3848100" y="1552575"/>
                </ns1:lnTo>
                <ns1:close/>
              </ns1:path>
            </ns1:pathLst>
          </ns1:cu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5" name="trace:S04:content.auto.85">
            <ns1:extLst>
              <ns1:ext uri="{FF2B5EF4-FFF2-40B4-BE49-F238E27FC236}">
                <ns2:creationId id="{CC51B945-D3D4-4E64-A220-CDA253EC2257}"/>
              </ns1:ext>
            </ns1:extLst>
          </ns0:cNvPr>
          <ns0:cNvSpPr>
            <ns1:spLocks noGrp="1"/>
          </ns0:cNvSpPr>
          <ns0:nvPr/>
        </ns0:nvSpPr>
        <ns0:spPr>
          <ns1:xfrm>
            <ns1:off x="13887450" y="7905750"/>
            <ns1:ext cx="2038350" cy="1057275"/>
          </ns1:xfrm>
          <ns1:custGeom>
            <ns1:pathLst>
              <ns1:path w="2038350" h="1057275">
                <ns1:moveTo>
                  <ns1:pt x="0" y="1057275"/>
                </ns1:moveTo>
                <ns1:lnTo>
                  <ns1:pt x="2038350" y="0"/>
                </ns1:lnTo>
                <ns1:lnTo>
                  <ns1:pt x="2038350" y="1057275"/>
                </ns1:lnTo>
                <ns1:close/>
              </ns1:path>
            </ns1:pathLst>
          </ns1:custGeom>
          <ns1:solidFill>
            <ns1:srgbClr val="C50F1A"/>
          </ns1:solidFill>
          <ns1:ln w="0">
            <ns1:noFill/>
            <ns1:prstDash val="solid"/>
          </ns1:ln>
        </ns0:spPr>
      </ns0:sp>
      <ns0:sp>
        <ns0:nvSpPr>
          <ns0:cNvPr id="126" name="trace:S04:content.auto.86">
            <ns1:extLst>
              <ns1:ext uri="{FF2B5EF4-FFF2-40B4-BE49-F238E27FC236}">
                <ns2:creationId id="{12BC2A03-8C99-48D2-93FE-C65FD61FDA6E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8039100"/>
            <ns1:ext cx="13335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8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THINK TOGETHER.</ns1:t>
            </ns1:r>
          </ns1:p>
          <ns1:p>
            <ns1:pPr algn="ctr">
              <ns1:buNone/>
              <ns1:defRPr sz="8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CREATE THE NEXT.</ns1:t>
            </ns1:r>
          </ns1:p>
        </ns0:txBody>
      </ns0:sp>
      <ns0:sp>
        <ns0:nvSpPr>
          <ns0:cNvPr id="127" name="trace:S04:content.auto.87">
            <ns1:extLst>
              <ns1:ext uri="{FF2B5EF4-FFF2-40B4-BE49-F238E27FC236}">
                <ns2:creationId id="{6AA198B0-4DB5-4EA2-A672-7C1E6E3DC12B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8524875"/>
            <ns1:ext cx="1333500" cy="9525"/>
          </ns1:xfrm>
          <ns1:prstGeom prst="line">
            <ns1:avLst/>
          </ns1:prstGeom>
          <ns1:noFill/>
          <ns1:ln w="14288">
            <ns1:solidFill>
              <ns1:srgbClr val="FFFFFF"/>
            </ns1:solidFill>
            <ns1:prstDash val="solid"/>
          </ns1:ln>
        </ns0:spPr>
      </ns0:sp>
      <ns0:sp>
        <ns0:nvSpPr>
          <ns0:cNvPr id="129" name="trace:S04:content.auto.88">
            <ns1:extLst>
              <ns1:ext uri="{FF2B5EF4-FFF2-40B4-BE49-F238E27FC236}">
                <ns2:creationId id="{9A485820-B473-4193-889F-757D85439B25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3914775"/>
            <ns1:ext cx="476250" cy="476250"/>
          </ns1:xfrm>
          <ns1:custGeom>
            <ns1:pathLst>
              <ns1:path w="476250" h="476250">
                <ns1:moveTo>
                  <ns1:pt x="238125" y="9525"/>
                </ns1:moveTo>
                <ns1:lnTo>
                  <ns1:pt x="282723" y="13917"/>
                </ns1:lnTo>
                <ns1:lnTo>
                  <ns1:pt x="306361" y="73390"/>
                </ns1:lnTo>
                <ns1:lnTo>
                  <ns1:pt x="337188" y="89867"/>
                </ns1:lnTo>
                <ns1:lnTo>
                  <ns1:pt x="399770" y="76480"/>
                </ns1:lnTo>
                <ns1:lnTo>
                  <ns1:pt x="428199" y="111122"/>
                </ns1:lnTo>
                <ns1:lnTo>
                  <ns1:pt x="402860" y="169889"/>
                </ns1:lnTo>
                <ns1:lnTo>
                  <ns1:pt x="413007" y="203339"/>
                </ns1:lnTo>
                <ns1:lnTo>
                  <ns1:pt x="466725" y="238125"/>
                </ns1:lnTo>
                <ns1:lnTo>
                  <ns1:pt x="462333" y="282723"/>
                </ns1:lnTo>
                <ns1:lnTo>
                  <ns1:pt x="402860" y="306361"/>
                </ns1:lnTo>
                <ns1:lnTo>
                  <ns1:pt x="386383" y="337188"/>
                </ns1:lnTo>
                <ns1:lnTo>
                  <ns1:pt x="399770" y="399770"/>
                </ns1:lnTo>
                <ns1:lnTo>
                  <ns1:pt x="365128" y="428199"/>
                </ns1:lnTo>
                <ns1:lnTo>
                  <ns1:pt x="306361" y="402860"/>
                </ns1:lnTo>
                <ns1:lnTo>
                  <ns1:pt x="272911" y="413007"/>
                </ns1:lnTo>
                <ns1:lnTo>
                  <ns1:pt x="238125" y="466725"/>
                </ns1:lnTo>
                <ns1:lnTo>
                  <ns1:pt x="193527" y="462333"/>
                </ns1:lnTo>
                <ns1:lnTo>
                  <ns1:pt x="169889" y="402860"/>
                </ns1:lnTo>
                <ns1:lnTo>
                  <ns1:pt x="139062" y="386383"/>
                </ns1:lnTo>
                <ns1:lnTo>
                  <ns1:pt x="76480" y="399770"/>
                </ns1:lnTo>
                <ns1:lnTo>
                  <ns1:pt x="48051" y="365128"/>
                </ns1:lnTo>
                <ns1:lnTo>
                  <ns1:pt x="73390" y="306361"/>
                </ns1:lnTo>
                <ns1:lnTo>
                  <ns1:pt x="63243" y="272911"/>
                </ns1:lnTo>
                <ns1:lnTo>
                  <ns1:pt x="9525" y="238125"/>
                </ns1:lnTo>
                <ns1:lnTo>
                  <ns1:pt x="13917" y="193527"/>
                </ns1:lnTo>
                <ns1:lnTo>
                  <ns1:pt x="73390" y="169889"/>
                </ns1:lnTo>
                <ns1:lnTo>
                  <ns1:pt x="89867" y="139062"/>
                </ns1:lnTo>
                <ns1:lnTo>
                  <ns1:pt x="76480" y="76480"/>
                </ns1:lnTo>
                <ns1:lnTo>
                  <ns1:pt x="111122" y="48051"/>
                </ns1:lnTo>
                <ns1:lnTo>
                  <ns1:pt x="169889" y="73390"/>
                </ns1:lnTo>
                <ns1:lnTo>
                  <ns1:pt x="203339" y="63243"/>
                </ns1:lnTo>
                <ns1:close/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0" name="trace:S04:content.auto.89">
            <ns1:extLst>
              <ns1:ext uri="{FF2B5EF4-FFF2-40B4-BE49-F238E27FC236}">
                <ns2:creationId id="{708F8EB3-B90D-48A7-B170-B3E66915ADBD}"/>
              </ns1:ext>
            </ns1:extLst>
          </ns0:cNvPr>
          <ns0:cNvSpPr>
            <ns1:spLocks noGrp="1"/>
          </ns0:cNvSpPr>
          <ns0:nvPr/>
        </ns0:nvSpPr>
        <ns0:spPr>
          <ns1:xfrm>
            <ns1:off x="9963150" y="4067175"/>
            <ns1:ext cx="171450" cy="1714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1" name="trace:S04:content.auto.90">
            <ns1:extLst>
              <ns1:ext uri="{FF2B5EF4-FFF2-40B4-BE49-F238E27FC236}">
                <ns2:creationId id="{F92EBB25-D49B-4A3E-B53D-593918B35989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2838450"/>
            <ns1:ext cx="171450" cy="171450"/>
          </ns1:xfrm>
          <ns1:prstGeom prst="ellips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32" name="trace:S04:content.auto.91">
            <ns1:extLst>
              <ns1:ext uri="{FF2B5EF4-FFF2-40B4-BE49-F238E27FC236}">
                <ns2:creationId id="{30404F06-CA33-44B1-8864-7C25D1A97E96}"/>
              </ns1:ext>
            </ns1:extLst>
          </ns0:cNvPr>
          <ns0:cNvSpPr>
            <ns1:spLocks noGrp="1"/>
          </ns0:cNvSpPr>
          <ns0:nvPr/>
        </ns0:nvSpPr>
        <ns0:spPr>
          <ns1:xfrm>
            <ns1:off x="1895475" y="2724150"/>
            <ns1:ext cx="228600" cy="228600"/>
          </ns1:xfrm>
          <ns1:prstGeom prst="ellips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33" name="trace:S04:content.auto.92">
            <ns1:extLst>
              <ns1:ext uri="{FF2B5EF4-FFF2-40B4-BE49-F238E27FC236}">
                <ns2:creationId id="{F0E65B1A-3458-4299-8E1A-982B642A5F31}"/>
              </ns1:ext>
            </ns1:extLst>
          </ns0:cNvPr>
          <ns0:cNvSpPr>
            <ns1:spLocks noGrp="1"/>
          </ns0:cNvSpPr>
          <ns0:nvPr/>
        </ns0:nvSpPr>
        <ns0:spPr>
          <ns1:xfrm>
            <ns1:off x="2152650" y="2838450"/>
            <ns1:ext cx="171450" cy="171450"/>
          </ns1:xfrm>
          <ns1:prstGeom prst="ellipse">
            <ns1:avLst/>
          </ns1:pr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34" name="trace:S04:content.auto.93">
            <ns1:extLst>
              <ns1:ext uri="{FF2B5EF4-FFF2-40B4-BE49-F238E27FC236}">
                <ns2:creationId id="{FBAD4A70-E116-4325-B64C-E5C1A93C9FA9}"/>
              </ns1:ext>
            </ns1:extLst>
          </ns0:cNvPr>
          <ns0:cNvSpPr>
            <ns1:spLocks noGrp="1"/>
          </ns0:cNvSpPr>
          <ns0:nvPr/>
        </ns0:nvSpPr>
        <ns0:spPr>
          <ns1:xfrm>
            <ns1:off x="1676400" y="3038475"/>
            <ns1:ext cx="304800" cy="285750"/>
          </ns1:xfrm>
          <ns1:custGeom>
            <ns1:pathLst>
              <ns1:path w="304800" h="285750">
                <ns1:moveTo>
                  <ns1:pt x="0" y="285750"/>
                </ns1:moveTo>
                <ns1:lnTo>
                  <ns1:pt x="0" y="190500"/>
                </ns1:lnTo>
                <ns1:lnTo>
                  <ns1:pt x="66675" y="95250"/>
                </ns1:lnTo>
                <ns1:lnTo>
                  <ns1:pt x="238125" y="95250"/>
                </ns1:lnTo>
                <ns1:lnTo>
                  <ns1:pt x="304800" y="190500"/>
                </ns1:lnTo>
                <ns1:lnTo>
                  <ns1:pt x="304800" y="285750"/>
                </ns1:lnTo>
              </ns1:path>
            </ns1:pathLst>
          </ns1:cu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35" name="trace:S04:content.auto.94">
            <ns1:extLst>
              <ns1:ext uri="{FF2B5EF4-FFF2-40B4-BE49-F238E27FC236}">
                <ns2:creationId id="{C8029F27-0962-4D06-9438-A07A5615C95F}"/>
              </ns1:ext>
            </ns1:extLst>
          </ns0:cNvPr>
          <ns0:cNvSpPr>
            <ns1:spLocks noGrp="1"/>
          </ns0:cNvSpPr>
          <ns0:nvPr/>
        </ns0:nvSpPr>
        <ns0:spPr>
          <ns1:xfrm>
            <ns1:off x="1800225" y="3009900"/>
            <ns1:ext cx="323850" cy="342900"/>
          </ns1:xfrm>
          <ns1:custGeom>
            <ns1:pathLst>
              <ns1:path w="323850" h="342900">
                <ns1:moveTo>
                  <ns1:pt x="0" y="342900"/>
                </ns1:moveTo>
                <ns1:lnTo>
                  <ns1:pt x="0" y="200025"/>
                </ns1:lnTo>
                <ns1:lnTo>
                  <ns1:pt x="76200" y="85725"/>
                </ns1:lnTo>
                <ns1:lnTo>
                  <ns1:pt x="247650" y="85725"/>
                </ns1:lnTo>
                <ns1:lnTo>
                  <ns1:pt x="323850" y="200025"/>
                </ns1:lnTo>
                <ns1:lnTo>
                  <ns1:pt x="323850" y="342900"/>
                </ns1:lnTo>
              </ns1:path>
            </ns1:pathLst>
          </ns1:custGeom>
          <ns1:noFill/>
          <ns1:ln w="28575">
            <ns1:solidFill>
              <ns1:srgbClr val="10213D"/>
            </ns1:solidFill>
            <ns1:prstDash val="solid"/>
          </ns1:ln>
        </ns0:spPr>
      </ns0:sp>
      <ns0:sp>
        <ns0:nvSpPr>
          <ns0:cNvPr id="136" name="trace:S04:content.auto.95">
            <ns1:extLst>
              <ns1:ext uri="{FF2B5EF4-FFF2-40B4-BE49-F238E27FC236}">
                <ns2:creationId id="{FEB8282F-73C5-4F82-9755-ED47DD632B76}"/>
              </ns1:ext>
            </ns1:extLst>
          </ns0:cNvPr>
          <ns0:cNvSpPr>
            <ns1:spLocks noGrp="1"/>
          </ns0:cNvSpPr>
          <ns0:nvPr/>
        </ns0:nvSpPr>
        <ns0:spPr>
          <ns1:xfrm>
            <ns1:off x="2000250" y="3038475"/>
            <ns1:ext cx="304800" cy="285750"/>
          </ns1:xfrm>
          <ns1:custGeom>
            <ns1:pathLst>
              <ns1:path w="304800" h="285750">
                <ns1:moveTo>
                  <ns1:pt x="0" y="285750"/>
                </ns1:moveTo>
                <ns1:lnTo>
                  <ns1:pt x="0" y="190500"/>
                </ns1:lnTo>
                <ns1:lnTo>
                  <ns1:pt x="66675" y="95250"/>
                </ns1:lnTo>
                <ns1:lnTo>
                  <ns1:pt x="238125" y="95250"/>
                </ns1:lnTo>
                <ns1:lnTo>
                  <ns1:pt x="304800" y="190500"/>
                </ns1:lnTo>
                <ns1:lnTo>
                  <ns1:pt x="304800" y="285750"/>
                </ns1:lnTo>
              </ns1:path>
            </ns1:pathLst>
          </ns1:custGeom>
          <ns1:noFill/>
          <ns1:ln w="28575">
            <ns1:solidFill>
              <ns1:srgbClr val="10213D"/>
            </ns1:solidFill>
            <ns1:prstDash val="solid"/>
          </ns1:ln>
        </ns0:spPr>
      </ns0:sp>
    </ns0:spTree>
    <ns0:extLst>
      <ns0:ext uri="{BB962C8B-B14F-4D97-AF65-F5344CB8AC3E}">
        <ns3:creationId val="189867154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2026-09-20T23:21:35.0480000Z</dcterms:created>
  <dcterms:modified xsi:type="dcterms:W3CDTF">2026-09-20T23:21:35.0480000Z</dcterms:modified>
</coreProperties>
</file>