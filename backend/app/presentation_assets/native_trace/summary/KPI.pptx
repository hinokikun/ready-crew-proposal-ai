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f9a4896dc14cf9" /><Relationship Type="http://schemas.openxmlformats.org/officeDocument/2006/relationships/extended-properties" Target="/docProps/app.xml" Id="R29ac183931334072" /><Relationship Type="http://schemas.openxmlformats.org/officeDocument/2006/relationships/officeDocument" Target="/ppt/presentation.xml" Id="R90d4e086720842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1bc1bf4369b40dc"/>
  </p:sldMasterIdLst>
  <p:notesMasterIdLst>
    <p:notesMasterId xmlns:r="http://schemas.openxmlformats.org/officeDocument/2006/relationships" r:id="R09d0b02b71d04633"/>
  </p:notesMasterIdLst>
  <p:sldIdLst>
    <p:sldId xmlns:r="http://schemas.openxmlformats.org/officeDocument/2006/relationships" id="256" r:id="R3a7f61c1e4ed424e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d15039b8354e08" /><Relationship Type="http://schemas.openxmlformats.org/officeDocument/2006/relationships/slideMaster" Target="/ppt/slideMasters/slideMaster1.xml" Id="R01bc1bf4369b40dc" /><Relationship Type="http://schemas.openxmlformats.org/officeDocument/2006/relationships/notesMaster" Target="/ppt/notesMasters/notesMaster1.xml" Id="R09d0b02b71d04633" /><Relationship Type="http://schemas.openxmlformats.org/officeDocument/2006/relationships/presProps" Target="/ppt/presProps.xml" Id="R2d1c847900a44977" /><Relationship Type="http://schemas.openxmlformats.org/officeDocument/2006/relationships/tableStyles" Target="/ppt/tableStyles.xml" Id="Re0995472b780447d" /><Relationship Type="http://schemas.openxmlformats.org/officeDocument/2006/relationships/slide" Target="/ppt/slides/slide1.xml" Id="R3a7f61c1e4ed42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b461d7037143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574da3a3194f8f" /><Relationship Type="http://schemas.openxmlformats.org/officeDocument/2006/relationships/notesMaster" Target="/ppt/notesMasters/notesMaster1.xml" Id="Rc6d014c1be6d4d1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879072698248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aa7225abf64edb" /><Relationship Type="http://schemas.openxmlformats.org/officeDocument/2006/relationships/slideLayout" Target="/ppt/slideLayouts/slideLayout1.xml" Id="R6a48a0d344c94a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48a0d344c94a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9e29cf6e84e57" /><Relationship Type="http://schemas.openxmlformats.org/officeDocument/2006/relationships/notesSlide" Target="/ppt/notesSlides/notesSlide1.xml" Id="R369b736ecec8424e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30" name="trace:KPI:content.auto">
            <ns1:extLst>
              <ns1:ext uri="{FF2B5EF4-FFF2-40B4-BE49-F238E27FC236}">
                <ns2:creationId id="{6B589A5A-2CB6-497A-BE3A-71773DB44646}"/>
              </ns1:ext>
            </ns1:extLst>
          </ns0:cNvPr>
          <ns0:cNvSpPr>
            <ns1:spLocks noGrp="1"/>
          </ns0:cNvSpPr>
          <ns0:nvPr/>
        </ns0:nvSpPr>
        <ns0:spPr>
          <ns1:xfrm>
            <ns1:off x="352425" y="114300"/>
            <ns1:ext cx="40005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14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08</ns1:t>
            </ns1:r>
          </ns1:p>
        </ns0:txBody>
      </ns0:sp>
      <ns0:sp>
        <ns0:nvSpPr>
          <ns0:cNvPr id="2" name="trace:KPI:content.auto.2">
            <ns1:extLst>
              <ns1:ext uri="{FF2B5EF4-FFF2-40B4-BE49-F238E27FC236}">
                <ns2:creationId id="{102659E2-FA9B-4DAB-99FA-4A12941EDED7}"/>
              </ns1:ext>
            </ns1:extLst>
          </ns0:cNvPr>
          <ns0:cNvSpPr>
            <ns1:spLocks noGrp="1"/>
          </ns0:cNvSpPr>
          <ns0:nvPr/>
        </ns0:nvSpPr>
        <ns0:spPr>
          <ns1:xfrm>
            <ns1:off x="838200" y="133350"/>
            <ns1:ext cx="0" cy="266700"/>
          </ns1:xfrm>
          <ns1:prstGeom prst="line">
            <ns1:avLst/>
          </ns1:prstGeom>
          <ns1:noFill/>
          <ns1:ln w="9525">
            <ns1:solidFill>
              <ns1:srgbClr val="111111"/>
            </ns1:solidFill>
            <ns1:prstDash val="solid"/>
          </ns1:ln>
        </ns0:spPr>
      </ns0:sp>
      <ns0:sp>
        <ns0:nvSpPr>
          <ns0:cNvPr id="3" name="trace:KPI:content.auto.3">
            <ns1:extLst>
              <ns1:ext uri="{FF2B5EF4-FFF2-40B4-BE49-F238E27FC236}">
                <ns2:creationId id="{BDB4C0FF-BF43-4C6A-882A-C98C0705BFF1}"/>
              </ns1:ext>
            </ns1:extLst>
          </ns0:cNvPr>
          <ns0:cNvSpPr>
            <ns1:spLocks noGrp="1"/>
          </ns0:cNvSpPr>
          <ns0:nvPr/>
        </ns0:nvSpPr>
        <ns0:spPr>
          <ns1:xfrm>
            <ns1:off x="1028700" y="114300"/>
            <ns1:ext cx="209550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3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3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ご提案内容</ns1:t>
            </ns1:r>
          </ns1:p>
        </ns0:txBody>
      </ns0:sp>
      <ns0:sp>
        <ns0:nvSpPr>
          <ns0:cNvPr id="4" name="trace:KPI:footer.date">
            <ns1:extLst>
              <ns1:ext uri="{FF2B5EF4-FFF2-40B4-BE49-F238E27FC236}">
                <ns2:creationId id="{D58FACFB-B63C-4596-A088-E240072AC627}"/>
              </ns1:ext>
            </ns1:extLst>
          </ns0:cNvPr>
          <ns0:cNvSpPr>
            <ns1:spLocks noGrp="1"/>
          </ns0:cNvSpPr>
          <ns0:nvPr/>
        </ns0:nvSpPr>
        <ns0:spPr>
          <ns1:xfrm>
            <ns1:off x="14192250" y="114300"/>
            <ns1:ext cx="1400175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r">
              <ns1:lnSpc>
                <ns1:spcPct val="100000"/>
              </ns1:lnSpc>
              <ns1:buNone/>
              <ns1:defRPr sz="127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2026.06.22</ns1:t>
            </ns1:r>
          </ns1:p>
        </ns0:txBody>
      </ns0:sp>
      <ns0:sp>
        <ns0:nvSpPr>
          <ns0:cNvPr id="5" name="trace:KPI:content.auto.4">
            <ns1:extLst>
              <ns1:ext uri="{FF2B5EF4-FFF2-40B4-BE49-F238E27FC236}">
                <ns2:creationId id="{4209BCC1-CD9D-43ED-84DE-41EA4D48CEFE}"/>
              </ns1:ext>
            </ns1:extLst>
          </ns0:cNvPr>
          <ns0:cNvSpPr>
            <ns1:spLocks noGrp="1"/>
          </ns0:cNvSpPr>
          <ns0:nvPr/>
        </ns0:nvSpPr>
        <ns0:spPr>
          <ns1:xfrm>
            <ns1:off x="352425" y="476250"/>
            <ns1:ext cx="8658225" cy="38100"/>
          </ns1:xfrm>
          <ns1:prstGeom prst="rect">
            <ns1:avLst/>
          </ns1:prstGeom>
          <ns1:solidFill>
            <ns1:srgbClr val="E30606"/>
          </ns1:solidFill>
          <ns1:ln w="0">
            <ns1:noFill/>
          </ns1:ln>
        </ns0:spPr>
      </ns0:sp>
      <ns0:sp>
        <ns0:nvSpPr>
          <ns0:cNvPr id="6" name="trace:KPI:content.auto.5">
            <ns1:extLst>
              <ns1:ext uri="{FF2B5EF4-FFF2-40B4-BE49-F238E27FC236}">
                <ns2:creationId id="{86A4584D-EFD0-49F6-9386-B4EA175B539C}"/>
              </ns1:ext>
            </ns1:extLst>
          </ns0:cNvPr>
          <ns0:cNvSpPr>
            <ns1:spLocks noGrp="1"/>
          </ns0:cNvSpPr>
          <ns0:nvPr/>
        </ns0:nvSpPr>
        <ns0:spPr>
          <ns1:xfrm>
            <ns1:off x="9010650" y="476250"/>
            <ns1:ext cx="6581775" cy="38100"/>
          </ns1:xfrm>
          <ns1:prstGeom prst="rect">
            <ns1:avLst/>
          </ns1:prstGeom>
          <ns1:solidFill>
            <ns1:srgbClr val="191919"/>
          </ns1:solidFill>
          <ns1:ln w="0">
            <ns1:noFill/>
          </ns1:ln>
        </ns0:spPr>
      </ns0:sp>
      <ns0:sp>
        <ns0:nvSpPr>
          <ns0:cNvPr id="7" name="trace:KPI:title.primary">
            <ns1:extLst>
              <ns1:ext uri="{FF2B5EF4-FFF2-40B4-BE49-F238E27FC236}">
                <ns2:creationId id="{325A30FB-D14F-43C6-852F-526C9CE0B90E}"/>
              </ns1:ext>
            </ns1:extLst>
          </ns0:cNvPr>
          <ns0:cNvSpPr>
            <ns1:spLocks noGrp="1"/>
          </ns0:cNvSpPr>
          <ns0:nvPr/>
        </ns0:nvSpPr>
        <ns0:spPr>
          <ns1:xfrm>
            <ns1:off x="361950" y="733425"/>
            <ns1:ext cx="7524750" cy="5715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37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37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KPI設計と効果測定</ns1:t>
            </ns1:r>
          </ns1:p>
        </ns0:txBody>
      </ns0:sp>
      <ns0:sp>
        <ns0:nvSpPr>
          <ns0:cNvPr id="8" name="trace:KPI:title.primary.2">
            <ns1:extLst>
              <ns1:ext uri="{FF2B5EF4-FFF2-40B4-BE49-F238E27FC236}">
                <ns2:creationId id="{A6061D28-37D7-45D4-AB63-8FF764CBC75A}"/>
              </ns1:ext>
            </ns1:extLst>
          </ns0:cNvPr>
          <ns0:cNvSpPr>
            <ns1:spLocks noGrp="1"/>
          </ns0:cNvSpPr>
          <ns0:nvPr/>
        </ns0:nvSpPr>
        <ns0:spPr>
          <ns1:xfrm>
            <ns1:off x="371475" y="1333500"/>
            <ns1:ext cx="9525000" cy="3810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800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800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導入後の成果を見える化し、改善判断に使える指標として整理します。</ns1:t>
            </ns1:r>
          </ns1:p>
        </ns0:txBody>
      </ns0:sp>
      <ns0:sp>
        <ns0:nvSpPr>
          <ns0:cNvPr id="9" name="trace:KPI:content.auto.6">
            <ns1:extLst>
              <ns1:ext uri="{FF2B5EF4-FFF2-40B4-BE49-F238E27FC236}">
                <ns2:creationId id="{505037DC-FA84-4E9F-93F8-BDF80EF8556E}"/>
              </ns1:ext>
            </ns1:extLst>
          </ns0:cNvPr>
          <ns0:cNvSpPr>
            <ns1:spLocks noGrp="1"/>
          </ns0:cNvSpPr>
          <ns0:nvPr/>
        </ns0:nvSpPr>
        <ns0:spPr>
          <ns1:xfrm>
            <ns1:off x="342900" y="1971675"/>
            <ns1:ext cx="8896350" cy="495300"/>
          </ns1:xfrm>
          <ns1:prstGeom prst="rect">
            <ns1:avLst/>
          </ns1:prstGeom>
          <ns1:solidFill>
            <ns1:srgbClr val="191919"/>
          </ns1:solidFill>
          <ns1:ln w="0">
            <ns1:noFill/>
          </ns1:ln>
        </ns0:spPr>
      </ns0:sp>
      <ns0:sp>
        <ns0:nvSpPr>
          <ns0:cNvPr id="10" name="trace:KPI:content.auto.7">
            <ns1:extLst>
              <ns1:ext uri="{FF2B5EF4-FFF2-40B4-BE49-F238E27FC236}">
                <ns2:creationId id="{C0ED1665-0CA6-4903-A2DF-1098B197AE5B}"/>
              </ns1:ext>
            </ns1:extLst>
          </ns0:cNvPr>
          <ns0:cNvSpPr>
            <ns1:spLocks noGrp="1"/>
          </ns0:cNvSpPr>
          <ns0:nvPr/>
        </ns0:nvSpPr>
        <ns0:spPr>
          <ns1:xfrm>
            <ns1:off x="533400" y="2076450"/>
            <ns1:ext cx="57150" cy="304800"/>
          </ns1:xfrm>
          <ns1:prstGeom prst="rect">
            <ns1:avLst/>
          </ns1:prstGeom>
          <ns1:solidFill>
            <ns1:srgbClr val="E30606"/>
          </ns1:solidFill>
          <ns1:ln w="0">
            <ns1:noFill/>
          </ns1:ln>
        </ns0:spPr>
      </ns0:sp>
      <ns0:sp>
        <ns0:nvSpPr>
          <ns0:cNvPr id="11" name="trace:KPI:content.auto.8">
            <ns1:extLst>
              <ns1:ext uri="{FF2B5EF4-FFF2-40B4-BE49-F238E27FC236}">
                <ns2:creationId id="{0FAB8AFF-E249-4053-B107-CB7D47CAEE2C}"/>
              </ns1:ext>
            </ns1:extLst>
          </ns0:cNvPr>
          <ns0:cNvSpPr>
            <ns1:spLocks noGrp="1"/>
          </ns0:cNvSpPr>
          <ns0:nvPr/>
        </ns0:nvSpPr>
        <ns0:spPr>
          <ns1:xfrm>
            <ns1:off x="762000" y="2019300"/>
            <ns1:ext cx="8324850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950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950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主要KPI</ns1:t>
            </ns1:r>
          </ns1:p>
        </ns0:txBody>
      </ns0:sp>
      <ns0:sp>
        <ns0:nvSpPr>
          <ns0:cNvPr id="12" name="trace:KPI:content.auto.9">
            <ns1:extLst>
              <ns1:ext uri="{FF2B5EF4-FFF2-40B4-BE49-F238E27FC236}">
                <ns2:creationId id="{C537B2D1-2C42-4C2A-A8AD-61B441BC5BEB}"/>
              </ns1:ext>
            </ns1:extLst>
          </ns0:cNvPr>
          <ns0:cNvSpPr>
            <ns1:spLocks noGrp="1"/>
          </ns0:cNvSpPr>
          <ns0:nvPr/>
        </ns0:nvSpPr>
        <ns0:spPr>
          <ns1:xfrm>
            <ns1:off x="9439275" y="1971675"/>
            <ns1:ext cx="6162675" cy="495300"/>
          </ns1:xfrm>
          <ns1:prstGeom prst="rect">
            <ns1:avLst/>
          </ns1:prstGeom>
          <ns1:solidFill>
            <ns1:srgbClr val="191919"/>
          </ns1:solidFill>
          <ns1:ln w="0">
            <ns1:noFill/>
          </ns1:ln>
        </ns0:spPr>
      </ns0:sp>
      <ns0:sp>
        <ns0:nvSpPr>
          <ns0:cNvPr id="13" name="trace:KPI:content.auto.10">
            <ns1:extLst>
              <ns1:ext uri="{FF2B5EF4-FFF2-40B4-BE49-F238E27FC236}">
                <ns2:creationId id="{F6B72A0F-FB7E-42E5-9098-50E526087220}"/>
              </ns1:ext>
            </ns1:extLst>
          </ns0:cNvPr>
          <ns0:cNvSpPr>
            <ns1:spLocks noGrp="1"/>
          </ns0:cNvSpPr>
          <ns0:nvPr/>
        </ns0:nvSpPr>
        <ns0:spPr>
          <ns1:xfrm>
            <ns1:off x="9629775" y="2076450"/>
            <ns1:ext cx="57150" cy="304800"/>
          </ns1:xfrm>
          <ns1:prstGeom prst="rect">
            <ns1:avLst/>
          </ns1:prstGeom>
          <ns1:solidFill>
            <ns1:srgbClr val="E30606"/>
          </ns1:solidFill>
          <ns1:ln w="0">
            <ns1:noFill/>
          </ns1:ln>
        </ns0:spPr>
      </ns0:sp>
      <ns0:sp>
        <ns0:nvSpPr>
          <ns0:cNvPr id="14" name="trace:KPI:content.auto.11">
            <ns1:extLst>
              <ns1:ext uri="{FF2B5EF4-FFF2-40B4-BE49-F238E27FC236}">
                <ns2:creationId id="{D0DE014B-9E36-417B-B869-A56269657041}"/>
              </ns1:ext>
            </ns1:extLst>
          </ns0:cNvPr>
          <ns0:cNvSpPr>
            <ns1:spLocks noGrp="1"/>
          </ns0:cNvSpPr>
          <ns0:nvPr/>
        </ns0:nvSpPr>
        <ns0:spPr>
          <ns1:xfrm>
            <ns1:off x="9858375" y="2019300"/>
            <ns1:ext cx="559117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950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950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測定の考え方</ns1:t>
            </ns1:r>
          </ns1:p>
        </ns0:txBody>
      </ns0:sp>
      <ns0:sp>
        <ns0:nvSpPr>
          <ns0:cNvPr id="15" name="trace:KPI:content.auto.12">
            <ns1:extLst>
              <ns1:ext uri="{FF2B5EF4-FFF2-40B4-BE49-F238E27FC236}">
                <ns2:creationId id="{BD12FB98-B87E-4710-B413-A7ACAD9D36E0}"/>
              </ns1:ext>
            </ns1:extLst>
          </ns0:cNvPr>
          <ns0:cNvSpPr>
            <ns1:spLocks noGrp="1"/>
          </ns0:cNvSpPr>
          <ns0:nvPr/>
        </ns0:nvSpPr>
        <ns0:spPr>
          <ns1:xfrm>
            <ns1:off x="9439275" y="5124450"/>
            <ns1:ext cx="6162675" cy="495300"/>
          </ns1:xfrm>
          <ns1:prstGeom prst="rect">
            <ns1:avLst/>
          </ns1:prstGeom>
          <ns1:solidFill>
            <ns1:srgbClr val="191919"/>
          </ns1:solidFill>
          <ns1:ln w="0">
            <ns1:noFill/>
          </ns1:ln>
        </ns0:spPr>
      </ns0:sp>
      <ns0:sp>
        <ns0:nvSpPr>
          <ns0:cNvPr id="16" name="trace:KPI:content.auto.13">
            <ns1:extLst>
              <ns1:ext uri="{FF2B5EF4-FFF2-40B4-BE49-F238E27FC236}">
                <ns2:creationId id="{627BC8B0-60D6-4E8A-A753-DE6F9C55761B}"/>
              </ns1:ext>
            </ns1:extLst>
          </ns0:cNvPr>
          <ns0:cNvSpPr>
            <ns1:spLocks noGrp="1"/>
          </ns0:cNvSpPr>
          <ns0:nvPr/>
        </ns0:nvSpPr>
        <ns0:spPr>
          <ns1:xfrm>
            <ns1:off x="9629775" y="5229225"/>
            <ns1:ext cx="57150" cy="304800"/>
          </ns1:xfrm>
          <ns1:prstGeom prst="rect">
            <ns1:avLst/>
          </ns1:prstGeom>
          <ns1:solidFill>
            <ns1:srgbClr val="E30606"/>
          </ns1:solidFill>
          <ns1:ln w="0">
            <ns1:noFill/>
          </ns1:ln>
        </ns0:spPr>
      </ns0:sp>
      <ns0:sp>
        <ns0:nvSpPr>
          <ns0:cNvPr id="17" name="trace:KPI:content.auto.14">
            <ns1:extLst>
              <ns1:ext uri="{FF2B5EF4-FFF2-40B4-BE49-F238E27FC236}">
                <ns2:creationId id="{D82EA368-6591-4AD5-B3D0-987AAD60C6B6}"/>
              </ns1:ext>
            </ns1:extLst>
          </ns0:cNvPr>
          <ns0:cNvSpPr>
            <ns1:spLocks noGrp="1"/>
          </ns0:cNvSpPr>
          <ns0:nvPr/>
        </ns0:nvSpPr>
        <ns0:spPr>
          <ns1:xfrm>
            <ns1:off x="9858375" y="5172075"/>
            <ns1:ext cx="5591175" cy="4000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950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950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注意点</ns1:t>
            </ns1:r>
          </ns1:p>
        </ns0:txBody>
      </ns0:sp>
      <ns0:graphicFrame>
        <ns0:nvGraphicFramePr>
          <ns0:cNvPr id="150" name="trace:KPI:title.primary.3"/>
          <ns0:cNvGraphicFramePr/>
          <ns0:nvPr/>
        </ns0:nvGraphicFramePr>
        <ns0:xfrm>
          <ns1:off x="447675" y="2571750"/>
          <ns1:ext cx="8686800" cy="4953000"/>
        </ns0:xfrm>
        <ns1:graphic>
          <ns1:graphicData uri="http://schemas.openxmlformats.org/drawingml/2006/table">
            <ns1:tbl>
              <ns1:tblPr/>
              <ns1:tblGrid>
                <ns1:gridCol w="2924175"/>
                <ns1:gridCol w="1181100"/>
                <ns1:gridCol w="1504950"/>
                <ns1:gridCol w="1952625"/>
                <ns1:gridCol w="1123950"/>
              </ns1:tblGrid>
              <ns1:tr h="342900"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KPI</ns1:t>
                      </ns1:r>
                    </ns1:p>
                  </ns1:txBody>
                  <ns1:tcPr marL="91440" marR="91440" marT="45720" marB="45720" anchor="ctr">
                    <ns1:solidFill>
                      <ns1:srgbClr val="F4F5F6"/>
                    </ns1:solidFill>
                  </ns1:tcPr>
                </ns1:tc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現状値（例）</ns1:t>
                      </ns1:r>
                    </ns1:p>
                  </ns1:txBody>
                  <ns1:tcPr marL="91440" marR="91440" marT="45720" marB="45720" anchor="ctr">
                    <ns1:solidFill>
                      <ns1:srgbClr val="F4F5F6"/>
                    </ns1:solidFill>
                  </ns1:tcPr>
                </ns1:tc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目標値</ns1:t>
                      </ns1:r>
                    </ns1:p>
                  </ns1:txBody>
                  <ns1:tcPr marL="91440" marR="91440" marT="45720" marB="45720" anchor="ctr">
                    <ns1:solidFill>
                      <ns1:srgbClr val="F4F5F6"/>
                    </ns1:solidFill>
                  </ns1:tcPr>
                </ns1:tc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測定方法</ns1:t>
                      </ns1:r>
                    </ns1:p>
                  </ns1:txBody>
                  <ns1:tcPr marL="91440" marR="91440" marT="45720" marB="45720" anchor="ctr">
                    <ns1:solidFill>
                      <ns1:srgbClr val="F4F5F6"/>
                    </ns1:solidFill>
                  </ns1:tcPr>
                </ns1:tc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優先度</ns1:t>
                      </ns1:r>
                    </ns1:p>
                  </ns1:txBody>
                  <ns1:tcPr marL="91440" marR="91440" marT="45720" marB="45720" anchor="ctr">
                    <ns1:solidFill>
                      <ns1:srgbClr val="F4F5F6"/>
                    </ns1:solidFill>
                  </ns1:tcPr>
                </ns1:tc>
              </ns1:tr>
              <ns1:tr h="1104900"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資料作成時間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20時間/件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70%削減</ns1:t>
                      </ns1:r>
                    </ns1:p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(6時間/件)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作業時間の実績記録</ns1:t>
                      </ns1:r>
                    </ns1:p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（ツール・工数表）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高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</ns1:tr>
              <ns1:tr h="1123950"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提案数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月10件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1.5倍</ns1:t>
                      </ns1:r>
                    </ns1:p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(月15件)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営業管理ツールの</ns1:t>
                      </ns1:r>
                    </ns1:p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案件件数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高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</ns1:tr>
              <ns1:tr h="1162050"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修正回数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5回/件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30%削減</ns1:t>
                      </ns1:r>
                    </ns1:p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(3.5回/件)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版管理・履歴からの</ns1:t>
                      </ns1:r>
                    </ns1:p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カウント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中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</ns1:tr>
              <ns1:tr h="1219200"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受注確度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20%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20%向上</ns1:t>
                      </ns1:r>
                    </ns1:p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(24%)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営業管理ツールの</ns1:t>
                      </ns1:r>
                    </ns1:p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受注率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 wrap="square" lIns="0" tIns="0" rIns="0" bIns="0">
                      <ns1:no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050">
                          <ns1:solidFill>
                            <ns1:srgbClr val="111111"/>
                          </ns1:solidFill>
                          <ns1:latin typeface="Yu Gothic UI"/>
                          <ns1:ea typeface="Yu Gothic UI"/>
                          <ns1:cs typeface="Yu Gothic UI"/>
                        </ns1:rPr>
                        <ns1:t>高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19" name="trace:KPI:content.auto.15">
            <ns1:extLst>
              <ns1:ext uri="{FF2B5EF4-FFF2-40B4-BE49-F238E27FC236}">
                <ns2:creationId id="{7170A9AE-3AE6-43B8-9CF1-6B40B0604660}"/>
              </ns1:ext>
            </ns1:extLst>
          </ns0:cNvPr>
          <ns0:cNvSpPr>
            <ns1:spLocks noGrp="1"/>
          </ns0:cNvSpPr>
          <ns0:nvPr/>
        </ns0:nvSpPr>
        <ns0:spPr>
          <ns1:xfrm>
            <ns1:off x="447675" y="2571750"/>
            <ns1:ext cx="8686800" cy="4953000"/>
          </ns1:xfrm>
          <ns1:prstGeom prst="rect">
            <ns1:avLst/>
          </ns1:prstGeom>
          <ns1:solidFill>
            <ns1:srgbClr val="FFFFFF"/>
          </ns1:solidFill>
          <ns1:ln w="0">
            <ns1:noFill/>
          </ns1:ln>
        </ns0:spPr>
      </ns0:sp>
      <ns0:sp>
        <ns0:nvSpPr>
          <ns0:cNvPr id="20" name="trace:KPI:content.auto.16">
            <ns1:extLst>
              <ns1:ext uri="{FF2B5EF4-FFF2-40B4-BE49-F238E27FC236}">
                <ns2:creationId id="{C8D9DEC4-A6F9-4976-99A0-34B16E36B960}"/>
              </ns1:ext>
            </ns1:extLst>
          </ns0:cNvPr>
          <ns0:cNvSpPr>
            <ns1:spLocks noGrp="1"/>
          </ns0:cNvSpPr>
          <ns0:nvPr/>
        </ns0:nvSpPr>
        <ns0:spPr>
          <ns1:xfrm>
            <ns1:off x="447675" y="2571750"/>
            <ns1:ext cx="8686800" cy="342900"/>
          </ns1:xfrm>
          <ns1:prstGeom prst="rect">
            <ns1:avLst/>
          </ns1:prstGeom>
          <ns1:solidFill>
            <ns1:srgbClr val="F4F5F6"/>
          </ns1:solidFill>
          <ns1:ln w="0">
            <ns1:noFill/>
          </ns1:ln>
        </ns0:spPr>
      </ns0:sp>
      <ns0:sp>
        <ns0:nvSpPr>
          <ns0:cNvPr id="21" name="trace:KPI:content.auto.17">
            <ns1:extLst>
              <ns1:ext uri="{FF2B5EF4-FFF2-40B4-BE49-F238E27FC236}">
                <ns2:creationId id="{DCB640F5-C094-409B-85F9-F7E5B7A7A9E0}"/>
              </ns1:ext>
            </ns1:extLst>
          </ns0:cNvPr>
          <ns0:cNvSpPr>
            <ns1:spLocks noGrp="1"/>
          </ns0:cNvSpPr>
          <ns0:nvPr/>
        </ns0:nvSpPr>
        <ns0:spPr>
          <ns1:xfrm>
            <ns1:off x="447675" y="2571750"/>
            <ns1:ext cx="8686800" cy="4953000"/>
          </ns1:xfrm>
          <ns1:prstGeom prst="rect">
            <ns1:avLst/>
          </ns1:prstGeom>
          <ns1:noFill/>
          <ns1:ln w="9525">
            <ns1:solidFill>
              <ns1:srgbClr val="D5D9DD"/>
            </ns1:solidFill>
          </ns1:ln>
        </ns0:spPr>
      </ns0:sp>
      <ns0:sp>
        <ns0:nvSpPr>
          <ns0:cNvPr id="22" name="trace:KPI:content.auto.18">
            <ns1:extLst>
              <ns1:ext uri="{FF2B5EF4-FFF2-40B4-BE49-F238E27FC236}">
                <ns2:creationId id="{D4A65EC6-4FAB-49A8-BA37-B80D9337FA26}"/>
              </ns1:ext>
            </ns1:extLst>
          </ns0:cNvPr>
          <ns0:cNvSpPr>
            <ns1:spLocks noGrp="1"/>
          </ns0:cNvSpPr>
          <ns0:nvPr/>
        </ns0:nvSpPr>
        <ns0:spPr>
          <ns1:xfrm>
            <ns1:off x="3371850" y="2571750"/>
            <ns1:ext cx="0" cy="4953000"/>
          </ns1:xfrm>
          <ns1:prstGeom prst="line">
            <ns1:avLst/>
          </ns1:prstGeom>
          <ns1:noFill/>
          <ns1:ln w="9525">
            <ns1:solidFill>
              <ns1:srgbClr val="D5D9DD"/>
            </ns1:solidFill>
            <ns1:prstDash val="solid"/>
          </ns1:ln>
        </ns0:spPr>
      </ns0:sp>
      <ns0:sp>
        <ns0:nvSpPr>
          <ns0:cNvPr id="23" name="trace:KPI:content.auto.19">
            <ns1:extLst>
              <ns1:ext uri="{FF2B5EF4-FFF2-40B4-BE49-F238E27FC236}">
                <ns2:creationId id="{445964B6-165F-4A35-89AB-276C1FE10EA1}"/>
              </ns1:ext>
            </ns1:extLst>
          </ns0:cNvPr>
          <ns0:cNvSpPr>
            <ns1:spLocks noGrp="1"/>
          </ns0:cNvSpPr>
          <ns0:nvPr/>
        </ns0:nvSpPr>
        <ns0:spPr>
          <ns1:xfrm>
            <ns1:off x="4552950" y="2571750"/>
            <ns1:ext cx="0" cy="4953000"/>
          </ns1:xfrm>
          <ns1:prstGeom prst="line">
            <ns1:avLst/>
          </ns1:prstGeom>
          <ns1:noFill/>
          <ns1:ln w="9525">
            <ns1:solidFill>
              <ns1:srgbClr val="D5D9DD"/>
            </ns1:solidFill>
            <ns1:prstDash val="solid"/>
          </ns1:ln>
        </ns0:spPr>
      </ns0:sp>
      <ns0:sp>
        <ns0:nvSpPr>
          <ns0:cNvPr id="24" name="trace:KPI:content.auto.20">
            <ns1:extLst>
              <ns1:ext uri="{FF2B5EF4-FFF2-40B4-BE49-F238E27FC236}">
                <ns2:creationId id="{3786958B-2EA7-4FC0-87AA-707F79603A3E}"/>
              </ns1:ext>
            </ns1:extLst>
          </ns0:cNvPr>
          <ns0:cNvSpPr>
            <ns1:spLocks noGrp="1"/>
          </ns0:cNvSpPr>
          <ns0:nvPr/>
        </ns0:nvSpPr>
        <ns0:spPr>
          <ns1:xfrm>
            <ns1:off x="6057900" y="2571750"/>
            <ns1:ext cx="0" cy="4953000"/>
          </ns1:xfrm>
          <ns1:prstGeom prst="line">
            <ns1:avLst/>
          </ns1:prstGeom>
          <ns1:noFill/>
          <ns1:ln w="9525">
            <ns1:solidFill>
              <ns1:srgbClr val="D5D9DD"/>
            </ns1:solidFill>
            <ns1:prstDash val="solid"/>
          </ns1:ln>
        </ns0:spPr>
      </ns0:sp>
      <ns0:sp>
        <ns0:nvSpPr>
          <ns0:cNvPr id="25" name="trace:KPI:content.auto.21">
            <ns1:extLst>
              <ns1:ext uri="{FF2B5EF4-FFF2-40B4-BE49-F238E27FC236}">
                <ns2:creationId id="{2B801AC3-27E5-4B04-AC87-7C901BCBDDBF}"/>
              </ns1:ext>
            </ns1:extLst>
          </ns0:cNvPr>
          <ns0:cNvSpPr>
            <ns1:spLocks noGrp="1"/>
          </ns0:cNvSpPr>
          <ns0:nvPr/>
        </ns0:nvSpPr>
        <ns0:spPr>
          <ns1:xfrm>
            <ns1:off x="8010525" y="2571750"/>
            <ns1:ext cx="0" cy="4953000"/>
          </ns1:xfrm>
          <ns1:prstGeom prst="line">
            <ns1:avLst/>
          </ns1:prstGeom>
          <ns1:noFill/>
          <ns1:ln w="9525">
            <ns1:solidFill>
              <ns1:srgbClr val="D5D9DD"/>
            </ns1:solidFill>
            <ns1:prstDash val="solid"/>
          </ns1:ln>
        </ns0:spPr>
      </ns0:sp>
      <ns0:sp>
        <ns0:nvSpPr>
          <ns0:cNvPr id="26" name="trace:KPI:content.auto.22">
            <ns1:extLst>
              <ns1:ext uri="{FF2B5EF4-FFF2-40B4-BE49-F238E27FC236}">
                <ns2:creationId id="{245C73C7-A6E6-4C36-A1F2-5D2659D9F0D9}"/>
              </ns1:ext>
            </ns1:extLst>
          </ns0:cNvPr>
          <ns0:cNvSpPr>
            <ns1:spLocks noGrp="1"/>
          </ns0:cNvSpPr>
          <ns0:nvPr/>
        </ns0:nvSpPr>
        <ns0:spPr>
          <ns1:xfrm>
            <ns1:off x="447675" y="2914650"/>
            <ns1:ext cx="8686800" cy="0"/>
          </ns1:xfrm>
          <ns1:prstGeom prst="line">
            <ns1:avLst/>
          </ns1:prstGeom>
          <ns1:noFill/>
          <ns1:ln w="9525">
            <ns1:solidFill>
              <ns1:srgbClr val="D5D9DD"/>
            </ns1:solidFill>
            <ns1:prstDash val="solid"/>
          </ns1:ln>
        </ns0:spPr>
      </ns0:sp>
      <ns0:sp>
        <ns0:nvSpPr>
          <ns0:cNvPr id="27" name="trace:KPI:content.auto.23">
            <ns1:extLst>
              <ns1:ext uri="{FF2B5EF4-FFF2-40B4-BE49-F238E27FC236}">
                <ns2:creationId id="{E3A932BF-DB9A-4DA5-A6D2-21079D74A89B}"/>
              </ns1:ext>
            </ns1:extLst>
          </ns0:cNvPr>
          <ns0:cNvSpPr>
            <ns1:spLocks noGrp="1"/>
          </ns0:cNvSpPr>
          <ns0:nvPr/>
        </ns0:nvSpPr>
        <ns0:spPr>
          <ns1:xfrm>
            <ns1:off x="447675" y="4019550"/>
            <ns1:ext cx="8686800" cy="0"/>
          </ns1:xfrm>
          <ns1:prstGeom prst="line">
            <ns1:avLst/>
          </ns1:prstGeom>
          <ns1:noFill/>
          <ns1:ln w="9525">
            <ns1:solidFill>
              <ns1:srgbClr val="D5D9DD"/>
            </ns1:solidFill>
            <ns1:prstDash val="solid"/>
          </ns1:ln>
        </ns0:spPr>
      </ns0:sp>
      <ns0:sp>
        <ns0:nvSpPr>
          <ns0:cNvPr id="28" name="trace:KPI:content.auto.24">
            <ns1:extLst>
              <ns1:ext uri="{FF2B5EF4-FFF2-40B4-BE49-F238E27FC236}">
                <ns2:creationId id="{7C0B972D-9E12-4176-814D-3BDEC9A39314}"/>
              </ns1:ext>
            </ns1:extLst>
          </ns0:cNvPr>
          <ns0:cNvSpPr>
            <ns1:spLocks noGrp="1"/>
          </ns0:cNvSpPr>
          <ns0:nvPr/>
        </ns0:nvSpPr>
        <ns0:spPr>
          <ns1:xfrm>
            <ns1:off x="447675" y="5143500"/>
            <ns1:ext cx="8686800" cy="0"/>
          </ns1:xfrm>
          <ns1:prstGeom prst="line">
            <ns1:avLst/>
          </ns1:prstGeom>
          <ns1:noFill/>
          <ns1:ln w="9525">
            <ns1:solidFill>
              <ns1:srgbClr val="D5D9DD"/>
            </ns1:solidFill>
            <ns1:prstDash val="solid"/>
          </ns1:ln>
        </ns0:spPr>
      </ns0:sp>
      <ns0:sp>
        <ns0:nvSpPr>
          <ns0:cNvPr id="29" name="trace:KPI:content.auto.25">
            <ns1:extLst>
              <ns1:ext uri="{FF2B5EF4-FFF2-40B4-BE49-F238E27FC236}">
                <ns2:creationId id="{D1E2991C-8A2C-447E-8A31-B32EADE1D83B}"/>
              </ns1:ext>
            </ns1:extLst>
          </ns0:cNvPr>
          <ns0:cNvSpPr>
            <ns1:spLocks noGrp="1"/>
          </ns0:cNvSpPr>
          <ns0:nvPr/>
        </ns0:nvSpPr>
        <ns0:spPr>
          <ns1:xfrm>
            <ns1:off x="447675" y="6305550"/>
            <ns1:ext cx="8686800" cy="0"/>
          </ns1:xfrm>
          <ns1:prstGeom prst="line">
            <ns1:avLst/>
          </ns1:prstGeom>
          <ns1:noFill/>
          <ns1:ln w="9525">
            <ns1:solidFill>
              <ns1:srgbClr val="D5D9DD"/>
            </ns1:solidFill>
            <ns1:prstDash val="solid"/>
          </ns1:ln>
        </ns0:spPr>
      </ns0:sp>
      <ns0:sp>
        <ns0:nvSpPr>
          <ns0:cNvPr id="30" name="trace:KPI:content.auto.26">
            <ns1:extLst>
              <ns1:ext uri="{FF2B5EF4-FFF2-40B4-BE49-F238E27FC236}">
                <ns2:creationId id="{251FA3E5-3539-4468-A04B-FFA7F9A61666}"/>
              </ns1:ext>
            </ns1:extLst>
          </ns0:cNvPr>
          <ns0:cNvSpPr>
            <ns1:spLocks noGrp="1"/>
          </ns0:cNvSpPr>
          <ns0:nvPr/>
        </ns0:nvSpPr>
        <ns0:spPr>
          <ns1:xfrm>
            <ns1:off x="447675" y="7524750"/>
            <ns1:ext cx="8686800" cy="0"/>
          </ns1:xfrm>
          <ns1:prstGeom prst="line">
            <ns1:avLst/>
          </ns1:prstGeom>
          <ns1:noFill/>
          <ns1:ln w="9525">
            <ns1:solidFill>
              <ns1:srgbClr val="D5D9DD"/>
            </ns1:solidFill>
            <ns1:prstDash val="solid"/>
          </ns1:ln>
        </ns0:spPr>
      </ns0:sp>
      <ns0:sp>
        <ns0:nvSpPr>
          <ns0:cNvPr id="31" name="trace:KPI:content.auto.27">
            <ns1:extLst>
              <ns1:ext uri="{FF2B5EF4-FFF2-40B4-BE49-F238E27FC236}">
                <ns2:creationId id="{36C61F37-E7BA-4872-BB8B-862812962B9D}"/>
              </ns1:ext>
            </ns1:extLst>
          </ns0:cNvPr>
          <ns0:cNvSpPr>
            <ns1:spLocks noGrp="1"/>
          </ns0:cNvSpPr>
          <ns0:nvPr/>
        </ns0:nvSpPr>
        <ns0:spPr>
          <ns1:xfrm>
            <ns1:off x="447675" y="2571750"/>
            <ns1:ext cx="2924175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127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KPI</ns1:t>
            </ns1:r>
          </ns1:p>
        </ns0:txBody>
      </ns0:sp>
      <ns0:sp>
        <ns0:nvSpPr>
          <ns0:cNvPr id="32" name="trace:KPI:content.auto.28">
            <ns1:extLst>
              <ns1:ext uri="{FF2B5EF4-FFF2-40B4-BE49-F238E27FC236}">
                <ns2:creationId id="{31C47ED3-7E81-47D6-9F08-9331E5F7464D}"/>
              </ns1:ext>
            </ns1:extLst>
          </ns0:cNvPr>
          <ns0:cNvSpPr>
            <ns1:spLocks noGrp="1"/>
          </ns0:cNvSpPr>
          <ns0:nvPr/>
        </ns0:nvSpPr>
        <ns0:spPr>
          <ns1:xfrm>
            <ns1:off x="3371850" y="2571750"/>
            <ns1:ext cx="118110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127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現状値（例）</ns1:t>
            </ns1:r>
          </ns1:p>
        </ns0:txBody>
      </ns0:sp>
      <ns0:sp>
        <ns0:nvSpPr>
          <ns0:cNvPr id="33" name="trace:KPI:content.auto.29">
            <ns1:extLst>
              <ns1:ext uri="{FF2B5EF4-FFF2-40B4-BE49-F238E27FC236}">
                <ns2:creationId id="{EE542134-4139-4904-BA4B-9836D4CD2FCD}"/>
              </ns1:ext>
            </ns1:extLst>
          </ns0:cNvPr>
          <ns0:cNvSpPr>
            <ns1:spLocks noGrp="1"/>
          </ns0:cNvSpPr>
          <ns0:nvPr/>
        </ns0:nvSpPr>
        <ns0:spPr>
          <ns1:xfrm>
            <ns1:off x="4552950" y="2571750"/>
            <ns1:ext cx="15049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127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目標値</ns1:t>
            </ns1:r>
          </ns1:p>
        </ns0:txBody>
      </ns0:sp>
      <ns0:sp>
        <ns0:nvSpPr>
          <ns0:cNvPr id="34" name="trace:KPI:content.auto.30">
            <ns1:extLst>
              <ns1:ext uri="{FF2B5EF4-FFF2-40B4-BE49-F238E27FC236}">
                <ns2:creationId id="{36013F71-5498-41A0-8343-BF87C4A4D58C}"/>
              </ns1:ext>
            </ns1:extLst>
          </ns0:cNvPr>
          <ns0:cNvSpPr>
            <ns1:spLocks noGrp="1"/>
          </ns0:cNvSpPr>
          <ns0:nvPr/>
        </ns0:nvSpPr>
        <ns0:spPr>
          <ns1:xfrm>
            <ns1:off x="6057900" y="2571750"/>
            <ns1:ext cx="1952625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127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測定方法</ns1:t>
            </ns1:r>
          </ns1:p>
        </ns0:txBody>
      </ns0:sp>
      <ns0:sp>
        <ns0:nvSpPr>
          <ns0:cNvPr id="35" name="trace:KPI:content.auto.31">
            <ns1:extLst>
              <ns1:ext uri="{FF2B5EF4-FFF2-40B4-BE49-F238E27FC236}">
                <ns2:creationId id="{64D322B9-D7E5-4278-8245-B18C7442D633}"/>
              </ns1:ext>
            </ns1:extLst>
          </ns0:cNvPr>
          <ns0:cNvSpPr>
            <ns1:spLocks noGrp="1"/>
          </ns0:cNvSpPr>
          <ns0:nvPr/>
        </ns0:nvSpPr>
        <ns0:spPr>
          <ns1:xfrm>
            <ns1:off x="8010525" y="2571750"/>
            <ns1:ext cx="1123950" cy="3429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127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7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優先度</ns1:t>
            </ns1:r>
          </ns1:p>
        </ns0:txBody>
      </ns0:sp>
      <ns0:sp>
        <ns0:nvSpPr>
          <ns0:cNvPr id="36" name="trace:KPI:content.auto.32">
            <ns1:extLst>
              <ns1:ext uri="{FF2B5EF4-FFF2-40B4-BE49-F238E27FC236}">
                <ns2:creationId id="{8D1E10D5-F7AC-4998-8373-EEF366B8FADD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3076575"/>
            <ns1:ext cx="819150" cy="819150"/>
          </ns1:xfrm>
          <ns1:prstGeom prst="ellipse">
            <ns1:avLst/>
          </ns1:prstGeom>
          <ns1:solidFill>
            <ns1:srgbClr val="FBE5E6"/>
          </ns1:solidFill>
          <ns1:ln w="0">
            <ns1:noFill/>
          </ns1:ln>
        </ns0:spPr>
      </ns0:sp>
      <ns0:sp>
        <ns0:nvSpPr>
          <ns0:cNvPr id="37" name="trace:KPI:content.auto.33">
            <ns1:extLst>
              <ns1:ext uri="{FF2B5EF4-FFF2-40B4-BE49-F238E27FC236}">
                <ns2:creationId id="{1E291B2D-106E-422B-8B12-36A5B135162E}"/>
              </ns1:ext>
            </ns1:extLst>
          </ns0:cNvPr>
          <ns0:cNvSpPr>
            <ns1:spLocks noGrp="1"/>
          </ns0:cNvSpPr>
          <ns0:nvPr/>
        </ns0:nvSpPr>
        <ns0:spPr>
          <ns1:xfrm>
            <ns1:off x="820865" y="3287268"/>
            <ns1:ext cx="320421" cy="397764"/>
          </ns1:xfrm>
          <ns1:prstGeom prst="rect">
            <ns1:avLst/>
          </ns1:prstGeom>
          <ns1:noFill/>
          <ns1:ln w="28575">
            <ns1:solidFill>
              <ns1:srgbClr val="111111"/>
            </ns1:solidFill>
          </ns1:ln>
        </ns0:spPr>
      </ns0:sp>
      <ns0:sp>
        <ns0:nvSpPr>
          <ns0:cNvPr id="38" name="trace:KPI:content.auto.34">
            <ns1:extLst>
              <ns1:ext uri="{FF2B5EF4-FFF2-40B4-BE49-F238E27FC236}">
                <ns2:creationId id="{45FE8C4E-19ED-43AE-A8FE-05B9E2D9FA26}"/>
              </ns1:ext>
            </ns1:extLst>
          </ns0:cNvPr>
          <ns0:cNvSpPr>
            <ns1:spLocks noGrp="1"/>
          </ns0:cNvSpPr>
          <ns0:nvPr/>
        </ns0:nvSpPr>
        <ns0:spPr>
          <ns1:xfrm>
            <ns1:off x="1019526" y="3287268"/>
            <ns1:ext cx="121760" cy="99441"/>
          </ns1:xfrm>
          <ns1:prstGeom prst="line">
            <ns1:avLst/>
          </ns1:prstGeom>
          <ns1:noFill/>
          <ns1:ln w="28575">
            <ns1:solidFill>
              <ns1:srgbClr val="111111"/>
            </ns1:solidFill>
            <ns1:prstDash val="solid"/>
          </ns1:ln>
        </ns0:spPr>
      </ns0:sp>
      <ns0:sp>
        <ns0:nvSpPr>
          <ns0:cNvPr id="39" name="trace:KPI:content.auto.35">
            <ns1:extLst>
              <ns1:ext uri="{FF2B5EF4-FFF2-40B4-BE49-F238E27FC236}">
                <ns2:creationId id="{92C680FE-A56B-4172-972E-D6A99BD5D668}"/>
              </ns1:ext>
            </ns1:extLst>
          </ns0:cNvPr>
          <ns0:cNvSpPr>
            <ns1:spLocks noGrp="1"/>
          </ns0:cNvSpPr>
          <ns0:nvPr/>
        </ns0:nvSpPr>
        <ns0:spPr>
          <ns1:xfrm>
            <ns1:off x="878540" y="3442396"/>
            <ns1:ext cx="173027" cy="0"/>
          </ns1:xfrm>
          <ns1:prstGeom prst="line">
            <ns1:avLst/>
          </ns1:prstGeom>
          <ns1:noFill/>
          <ns1:ln w="28575">
            <ns1:solidFill>
              <ns1:srgbClr val="111111"/>
            </ns1:solidFill>
            <ns1:prstDash val="solid"/>
          </ns1:ln>
        </ns0:spPr>
      </ns0:sp>
      <ns0:sp>
        <ns0:nvSpPr>
          <ns0:cNvPr id="40" name="trace:KPI:content.auto.36">
            <ns1:extLst>
              <ns1:ext uri="{FF2B5EF4-FFF2-40B4-BE49-F238E27FC236}">
                <ns2:creationId id="{AC5301C3-1A2B-4A13-8E01-AD66B3F5DB03}"/>
              </ns1:ext>
            </ns1:extLst>
          </ns0:cNvPr>
          <ns0:cNvSpPr>
            <ns1:spLocks noGrp="1"/>
          </ns0:cNvSpPr>
          <ns0:nvPr/>
        </ns0:nvSpPr>
        <ns0:spPr>
          <ns1:xfrm>
            <ns1:off x="878540" y="3498083"/>
            <ns1:ext cx="173027" cy="0"/>
          </ns1:xfrm>
          <ns1:prstGeom prst="line">
            <ns1:avLst/>
          </ns1:prstGeom>
          <ns1:noFill/>
          <ns1:ln w="28575">
            <ns1:solidFill>
              <ns1:srgbClr val="111111"/>
            </ns1:solidFill>
            <ns1:prstDash val="solid"/>
          </ns1:ln>
        </ns0:spPr>
      </ns0:sp>
      <ns0:sp>
        <ns0:nvSpPr>
          <ns0:cNvPr id="41" name="trace:KPI:content.auto.37">
            <ns1:extLst>
              <ns1:ext uri="{FF2B5EF4-FFF2-40B4-BE49-F238E27FC236}">
                <ns2:creationId id="{3846126C-8737-4E45-B5ED-76F4C5C452A3}"/>
              </ns1:ext>
            </ns1:extLst>
          </ns0:cNvPr>
          <ns0:cNvSpPr>
            <ns1:spLocks noGrp="1"/>
          </ns0:cNvSpPr>
          <ns0:nvPr/>
        </ns0:nvSpPr>
        <ns0:spPr>
          <ns1:xfrm>
            <ns1:off x="878540" y="3553770"/>
            <ns1:ext cx="121760" cy="0"/>
          </ns1:xfrm>
          <ns1:prstGeom prst="line">
            <ns1:avLst/>
          </ns1:prstGeom>
          <ns1:noFill/>
          <ns1:ln w="28575">
            <ns1:solidFill>
              <ns1:srgbClr val="111111"/>
            </ns1:solidFill>
            <ns1:prstDash val="solid"/>
          </ns1:ln>
        </ns0:spPr>
      </ns0:sp>
      <ns0:sp>
        <ns0:nvSpPr>
          <ns0:cNvPr id="42" name="trace:KPI:content.auto.38">
            <ns1:extLst>
              <ns1:ext uri="{FF2B5EF4-FFF2-40B4-BE49-F238E27FC236}">
                <ns2:creationId id="{8908AF76-7AB4-4F06-9C76-9CC8E76C2598}"/>
              </ns1:ext>
            </ns1:extLst>
          </ns0:cNvPr>
          <ns0:cNvSpPr>
            <ns1:spLocks noGrp="1"/>
          </ns0:cNvSpPr>
          <ns0:nvPr/>
        </ns0:nvSpPr>
        <ns0:spPr>
          <ns1:xfrm>
            <ns1:off x="1600200" y="3048000"/>
            <ns1:ext cx="167640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7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7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資料作成時間</ns1:t>
            </ns1:r>
          </ns1:p>
        </ns0:txBody>
      </ns0:sp>
      <ns0:sp>
        <ns0:nvSpPr>
          <ns0:cNvPr id="43" name="trace:KPI:title.primary.4">
            <ns1:extLst>
              <ns1:ext uri="{FF2B5EF4-FFF2-40B4-BE49-F238E27FC236}">
                <ns2:creationId id="{03A423EA-3B00-4A9F-97A0-BCCB242EA8A5}"/>
              </ns1:ext>
            </ns1:extLst>
          </ns0:cNvPr>
          <ns0:cNvSpPr>
            <ns1:spLocks noGrp="1"/>
          </ns0:cNvSpPr>
          <ns0:nvPr/>
        </ns0:nvSpPr>
        <ns0:spPr>
          <ns1:xfrm>
            <ns1:off x="1600200" y="3371850"/>
            <ns1:ext cx="167640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95000"/>
              </ns1:lnSpc>
              <ns1:buNone/>
              <ns1:def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rPr>
              <ns1:t>提案資料の作成にかかる</ns1:t>
            </ns1:r>
          </ns1:p>
          <ns1:p>
            <ns1:pPr algn="l">
              <ns1:lnSpc>
                <ns1:spcPct val="95000"/>
              </ns1:lnSpc>
              <ns1:buNone/>
              <ns1:def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rPr>
              <ns1:t>時間を削減</ns1:t>
            </ns1:r>
          </ns1:p>
        </ns0:txBody>
      </ns0:sp>
      <ns0:sp>
        <ns0:nvSpPr>
          <ns0:cNvPr id="44" name="trace:KPI:content.auto.39">
            <ns1:extLst>
              <ns1:ext uri="{FF2B5EF4-FFF2-40B4-BE49-F238E27FC236}">
                <ns2:creationId id="{9B47A2ED-8A5A-42AF-ABF6-D9533F69D065}"/>
              </ns1:ext>
            </ns1:extLst>
          </ns0:cNvPr>
          <ns0:cNvSpPr>
            <ns1:spLocks noGrp="1"/>
          </ns0:cNvSpPr>
          <ns0:nvPr/>
        </ns0:nvSpPr>
        <ns0:spPr>
          <ns1:xfrm>
            <ns1:off x="3476625" y="3295650"/>
            <ns1:ext cx="9715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13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3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20時間/件</ns1:t>
            </ns1:r>
          </ns1:p>
        </ns0:txBody>
      </ns0:sp>
      <ns0:sp>
        <ns0:nvSpPr>
          <ns0:cNvPr id="45" name="trace:KPI:content.auto.40">
            <ns1:extLst>
              <ns1:ext uri="{FF2B5EF4-FFF2-40B4-BE49-F238E27FC236}">
                <ns2:creationId id="{C18F5742-55FA-492D-A400-274CE48D8B23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4514850" y="3390900"/>
            <ns1:ext cx="219075" cy="171450"/>
          </ns1:xfrm>
          <ns1:prstGeom prst="rightArrow">
            <ns1:avLst/>
          </ns1:prstGeom>
          <ns1:solidFill>
            <ns1:srgbClr val="E30606"/>
          </ns1:solidFill>
          <ns1:ln w="0">
            <ns1:solidFill>
              <ns1:srgbClr val="E30606"/>
            </ns1:solidFill>
          </ns1:ln>
        </ns0:spPr>
      </ns0:sp>
      <ns0:sp>
        <ns0:nvSpPr>
          <ns0:cNvPr id="46" name="trace:KPI:content.auto.41">
            <ns1:extLst>
              <ns1:ext uri="{FF2B5EF4-FFF2-40B4-BE49-F238E27FC236}">
                <ns2:creationId id="{78E45AC5-7B5C-47E8-90B5-970D65D0CD57}"/>
              </ns1:ext>
            </ns1:extLst>
          </ns0:cNvPr>
          <ns0:cNvSpPr>
            <ns1:spLocks noGrp="1"/>
          </ns0:cNvSpPr>
          <ns0:nvPr/>
        </ns0:nvSpPr>
        <ns0:spPr>
          <ns1:xfrm>
            <ns1:off x="4829175" y="3124200"/>
            <ns1:ext cx="116205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2025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2025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70%削減</ns1:t>
            </ns1:r>
          </ns1:p>
        </ns0:txBody>
      </ns0:sp>
      <ns0:sp>
        <ns0:nvSpPr>
          <ns0:cNvPr id="47" name="trace:KPI:title.primary.5">
            <ns1:extLst>
              <ns1:ext uri="{FF2B5EF4-FFF2-40B4-BE49-F238E27FC236}">
                <ns2:creationId id="{77FFBE5B-934E-4D10-8E88-BFD5A8CD8CC9}"/>
              </ns1:ext>
            </ns1:extLst>
          </ns0:cNvPr>
          <ns0:cNvSpPr>
            <ns1:spLocks noGrp="1"/>
          </ns0:cNvSpPr>
          <ns0:nvPr/>
        </ns0:nvSpPr>
        <ns0:spPr>
          <ns1:xfrm>
            <ns1:off x="4829175" y="3448050"/>
            <ns1:ext cx="1162050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rPr>
              <ns1:t>(6時間/件)</ns1:t>
            </ns1:r>
          </ns1:p>
        </ns0:txBody>
      </ns0:sp>
      <ns0:sp>
        <ns0:nvSpPr>
          <ns0:cNvPr id="48" name="trace:KPI:title.primary.6">
            <ns1:extLst>
              <ns1:ext uri="{FF2B5EF4-FFF2-40B4-BE49-F238E27FC236}">
                <ns2:creationId id="{084B68EC-9B98-4408-B8EE-6626E55B0671}"/>
              </ns1:ext>
            </ns1:extLst>
          </ns0:cNvPr>
          <ns0:cNvSpPr>
            <ns1:spLocks noGrp="1"/>
          </ns0:cNvSpPr>
          <ns0:nvPr/>
        </ns0:nvSpPr>
        <ns0:spPr>
          <ns1:xfrm>
            <ns1:off x="6257925" y="3209925"/>
            <ns1:ext cx="1657350" cy="5810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95000"/>
              </ns1:lnSpc>
              <ns1:buNone/>
              <ns1:defRPr sz="1200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作業時間の実績記録</ns1:t>
            </ns1:r>
          </ns1:p>
          <ns1:p>
            <ns1:pPr algn="ctr">
              <ns1:lnSpc>
                <ns1:spcPct val="95000"/>
              </ns1:lnSpc>
              <ns1:buNone/>
              <ns1:defRPr sz="1200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（ツール・工数表）</ns1:t>
            </ns1:r>
          </ns1:p>
        </ns0:txBody>
      </ns0:sp>
      <ns0:sp>
        <ns0:nvSpPr>
          <ns0:cNvPr id="49" name="trace:KPI:content.auto.42">
            <ns1:extLst>
              <ns1:ext uri="{FF2B5EF4-FFF2-40B4-BE49-F238E27FC236}">
                <ns2:creationId id="{44D648FD-E09B-42C0-AAEB-8A42EC9F9252}"/>
              </ns1:ext>
            </ns1:extLst>
          </ns0:cNvPr>
          <ns0:cNvSpPr>
            <ns1:spLocks noGrp="1"/>
          </ns0:cNvSpPr>
          <ns0:nvPr/>
        </ns0:nvSpPr>
        <ns0:spPr>
          <ns1:xfrm>
            <ns1:off x="8143875" y="3248025"/>
            <ns1:ext cx="857250" cy="466725"/>
          </ns1:xfrm>
          <ns1:prstGeom prst="rect">
            <ns1:avLst/>
          </ns1:prstGeom>
          <ns1:solidFill>
            <ns1:srgbClr val="FFF0F0"/>
          </ns1:solidFill>
          <ns1:ln w="0">
            <ns1:noFill/>
          </ns1:ln>
        </ns0:spPr>
      </ns0:sp>
      <ns0:sp>
        <ns0:nvSpPr>
          <ns0:cNvPr id="50" name="trace:KPI:content.auto.43">
            <ns1:extLst>
              <ns1:ext uri="{FF2B5EF4-FFF2-40B4-BE49-F238E27FC236}">
                <ns2:creationId id="{614B7356-30C4-41EE-A751-155ADA438E78}"/>
              </ns1:ext>
            </ns1:extLst>
          </ns0:cNvPr>
          <ns0:cNvSpPr>
            <ns1:spLocks noGrp="1"/>
          </ns0:cNvSpPr>
          <ns0:nvPr/>
        </ns0:nvSpPr>
        <ns0:spPr>
          <ns1:xfrm>
            <ns1:off x="8143875" y="3248025"/>
            <ns1:ext cx="85725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180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80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高</ns1:t>
            </ns1:r>
          </ns1:p>
        </ns0:txBody>
      </ns0:sp>
      <ns0:sp>
        <ns0:nvSpPr>
          <ns0:cNvPr id="51" name="trace:KPI:content.auto.44">
            <ns1:extLst>
              <ns1:ext uri="{FF2B5EF4-FFF2-40B4-BE49-F238E27FC236}">
                <ns2:creationId id="{907EE84D-A594-452E-BE83-2F3A801B655A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4200525"/>
            <ns1:ext cx="819150" cy="819150"/>
          </ns1:xfrm>
          <ns1:prstGeom prst="ellipse">
            <ns1:avLst/>
          </ns1:prstGeom>
          <ns1:solidFill>
            <ns1:srgbClr val="FBE5E6"/>
          </ns1:solidFill>
          <ns1:ln w="0">
            <ns1:noFill/>
          </ns1:ln>
        </ns0:spPr>
      </ns0:sp>
      <ns0:sp>
        <ns0:nvSpPr>
          <ns0:cNvPr id="52" name="trace:KPI:content.auto.45">
            <ns1:extLst>
              <ns1:ext uri="{FF2B5EF4-FFF2-40B4-BE49-F238E27FC236}">
                <ns2:creationId id="{B7666536-FB33-4A29-A8C8-5966353EBF4F}"/>
              </ns1:ext>
            </ns1:extLst>
          </ns0:cNvPr>
          <ns0:cNvSpPr>
            <ns1:spLocks noGrp="1"/>
          </ns0:cNvSpPr>
          <ns0:nvPr/>
        </ns0:nvSpPr>
        <ns0:spPr>
          <ns1:xfrm>
            <ns1:off x="771144" y="4775835"/>
            <ns1:ext cx="430911" cy="0"/>
          </ns1:xfrm>
          <ns1:prstGeom prst="line">
            <ns1:avLst/>
          </ns1:prstGeom>
          <ns1:noFill/>
          <ns1:ln w="28575">
            <ns1:solidFill>
              <ns1:srgbClr val="111111"/>
            </ns1:solidFill>
            <ns1:prstDash val="solid"/>
          </ns1:ln>
        </ns0:spPr>
      </ns0:sp>
      <ns0:sp>
        <ns0:nvSpPr>
          <ns0:cNvPr id="53" name="trace:KPI:content.auto.46">
            <ns1:extLst>
              <ns1:ext uri="{FF2B5EF4-FFF2-40B4-BE49-F238E27FC236}">
                <ns2:creationId id="{10C6F417-9F86-4354-A988-B428F12AB419}"/>
              </ns1:ext>
            </ns1:extLst>
          </ns0:cNvPr>
          <ns0:cNvSpPr>
            <ns1:spLocks noGrp="1"/>
          </ns0:cNvSpPr>
          <ns0:nvPr/>
        </ns0:nvSpPr>
        <ns0:spPr>
          <ns1:xfrm>
            <ns1:off x="771144" y="4654296"/>
            <ns1:ext cx="66294" cy="121539"/>
          </ns1:xfrm>
          <ns1:prstGeom prst="rect">
            <ns1:avLst/>
          </ns1:prstGeom>
          <ns1:solidFill>
            <ns1:srgbClr val="111111"/>
          </ns1:solidFill>
          <ns1:ln w="9525">
            <ns1:solidFill>
              <ns1:srgbClr val="111111"/>
            </ns1:solidFill>
          </ns1:ln>
        </ns0:spPr>
      </ns0:sp>
      <ns0:sp>
        <ns0:nvSpPr>
          <ns0:cNvPr id="54" name="trace:KPI:content.auto.47">
            <ns1:extLst>
              <ns1:ext uri="{FF2B5EF4-FFF2-40B4-BE49-F238E27FC236}">
                <ns2:creationId id="{418B31E6-C219-4883-AEA3-3D90D71AD0F1}"/>
              </ns1:ext>
            </ns1:extLst>
          </ns0:cNvPr>
          <ns0:cNvSpPr>
            <ns1:spLocks noGrp="1"/>
          </ns0:cNvSpPr>
          <ns0:nvPr/>
        </ns0:nvSpPr>
        <ns0:spPr>
          <ns1:xfrm>
            <ns1:off x="909257" y="4521708"/>
            <ns1:ext cx="66294" cy="254127"/>
          </ns1:xfrm>
          <ns1:prstGeom prst="rect">
            <ns1:avLst/>
          </ns1:prstGeom>
          <ns1:solidFill>
            <ns1:srgbClr val="111111"/>
          </ns1:solidFill>
          <ns1:ln w="9525">
            <ns1:solidFill>
              <ns1:srgbClr val="111111"/>
            </ns1:solidFill>
          </ns1:ln>
        </ns0:spPr>
      </ns0:sp>
      <ns0:sp>
        <ns0:nvSpPr>
          <ns0:cNvPr id="55" name="trace:KPI:content.auto.48">
            <ns1:extLst>
              <ns1:ext uri="{FF2B5EF4-FFF2-40B4-BE49-F238E27FC236}">
                <ns2:creationId id="{BA05818C-D765-4751-9D20-8D8493928A6C}"/>
              </ns1:ext>
            </ns1:extLst>
          </ns0:cNvPr>
          <ns0:cNvSpPr>
            <ns1:spLocks noGrp="1"/>
          </ns0:cNvSpPr>
          <ns0:nvPr/>
        </ns0:nvSpPr>
        <ns0:spPr>
          <ns1:xfrm>
            <ns1:off x="1047369" y="4378071"/>
            <ns1:ext cx="66294" cy="397764"/>
          </ns1:xfrm>
          <ns1:prstGeom prst="rect">
            <ns1:avLst/>
          </ns1:prstGeom>
          <ns1:solidFill>
            <ns1:srgbClr val="111111"/>
          </ns1:solidFill>
          <ns1:ln w="9525">
            <ns1:solidFill>
              <ns1:srgbClr val="111111"/>
            </ns1:solidFill>
          </ns1:ln>
        </ns0:spPr>
      </ns0:sp>
      <ns0:sp>
        <ns0:nvSpPr>
          <ns0:cNvPr id="56" name="trace:KPI:content.auto.49">
            <ns1:extLst>
              <ns1:ext uri="{FF2B5EF4-FFF2-40B4-BE49-F238E27FC236}">
                <ns2:creationId id="{DAC3068D-5C1A-426A-BD4B-747F7AAE65A6}"/>
              </ns1:ext>
            </ns1:extLst>
          </ns0:cNvPr>
          <ns0:cNvSpPr>
            <ns1:spLocks noGrp="1"/>
          </ns0:cNvSpPr>
          <ns0:nvPr/>
        </ns0:nvSpPr>
        <ns0:spPr>
          <ns1:xfrm>
            <ns1:off x="815340" y="4483037"/>
            <ns1:ext cx="298323" cy="265176"/>
          </ns1:xfrm>
          <ns1:prstGeom prst="line">
            <ns1:avLst/>
          </ns1:prstGeom>
          <ns1:noFill/>
          <ns1:ln w="19050">
            <ns1:solidFill>
              <ns1:srgbClr val="111111"/>
            </ns1:solidFill>
            <ns1:prstDash val="solid"/>
          </ns1:ln>
        </ns0:spPr>
      </ns0:sp>
      <ns0:sp>
        <ns0:nvSpPr>
          <ns0:cNvPr id="57" name="trace:KPI:content.auto.50">
            <ns1:extLst>
              <ns1:ext uri="{FF2B5EF4-FFF2-40B4-BE49-F238E27FC236}">
                <ns2:creationId id="{F06DD079-5E58-467C-A30E-A64D9224F078}"/>
              </ns1:ext>
            </ns1:extLst>
          </ns0:cNvPr>
          <ns0:cNvSpPr>
            <ns1:spLocks noGrp="1"/>
          </ns0:cNvSpPr>
          <ns0:nvPr/>
        </ns0:nvSpPr>
        <ns0:spPr>
          <ns1:xfrm>
            <ns1:off x="1600200" y="4152900"/>
            <ns1:ext cx="167640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7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7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提案数</ns1:t>
            </ns1:r>
          </ns1:p>
        </ns0:txBody>
      </ns0:sp>
      <ns0:sp>
        <ns0:nvSpPr>
          <ns0:cNvPr id="58" name="trace:KPI:content.auto.51">
            <ns1:extLst>
              <ns1:ext uri="{FF2B5EF4-FFF2-40B4-BE49-F238E27FC236}">
                <ns2:creationId id="{B47DEE53-6043-45BE-88C3-FD6F3B8C9A8D}"/>
              </ns1:ext>
            </ns1:extLst>
          </ns0:cNvPr>
          <ns0:cNvSpPr>
            <ns1:spLocks noGrp="1"/>
          </ns0:cNvSpPr>
          <ns0:nvPr/>
        </ns0:nvSpPr>
        <ns0:spPr>
          <ns1:xfrm>
            <ns1:off x="1600200" y="4476750"/>
            <ns1:ext cx="167640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95000"/>
              </ns1:lnSpc>
              <ns1:buNone/>
              <ns1:def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rPr>
              <ns1:t>一定期間あたりの</ns1:t>
            </ns1:r>
          </ns1:p>
          <ns1:p>
            <ns1:pPr algn="l">
              <ns1:lnSpc>
                <ns1:spcPct val="95000"/>
              </ns1:lnSpc>
              <ns1:buNone/>
              <ns1:def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rPr>
              <ns1:t>提案実施件数</ns1:t>
            </ns1:r>
          </ns1:p>
        </ns0:txBody>
      </ns0:sp>
      <ns0:sp>
        <ns0:nvSpPr>
          <ns0:cNvPr id="59" name="trace:KPI:content.auto.52">
            <ns1:extLst>
              <ns1:ext uri="{FF2B5EF4-FFF2-40B4-BE49-F238E27FC236}">
                <ns2:creationId id="{BE8F62EC-A3DD-4D11-AD51-01C71FE1E0F3}"/>
              </ns1:ext>
            </ns1:extLst>
          </ns0:cNvPr>
          <ns0:cNvSpPr>
            <ns1:spLocks noGrp="1"/>
          </ns0:cNvSpPr>
          <ns0:nvPr/>
        </ns0:nvSpPr>
        <ns0:spPr>
          <ns1:xfrm>
            <ns1:off x="3476625" y="4400550"/>
            <ns1:ext cx="9715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13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3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月10件</ns1:t>
            </ns1:r>
          </ns1:p>
        </ns0:txBody>
      </ns0:sp>
      <ns0:sp>
        <ns0:nvSpPr>
          <ns0:cNvPr id="60" name="trace:KPI:content.auto.53">
            <ns1:extLst>
              <ns1:ext uri="{FF2B5EF4-FFF2-40B4-BE49-F238E27FC236}">
                <ns2:creationId id="{994C0C47-FE7D-4AA9-B62E-B289249021C4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4514850" y="4514850"/>
            <ns1:ext cx="219075" cy="171450"/>
          </ns1:xfrm>
          <ns1:prstGeom prst="rightArrow">
            <ns1:avLst/>
          </ns1:prstGeom>
          <ns1:solidFill>
            <ns1:srgbClr val="E30606"/>
          </ns1:solidFill>
          <ns1:ln w="0">
            <ns1:solidFill>
              <ns1:srgbClr val="E30606"/>
            </ns1:solidFill>
          </ns1:ln>
        </ns0:spPr>
      </ns0:sp>
      <ns0:sp>
        <ns0:nvSpPr>
          <ns0:cNvPr id="61" name="trace:KPI:content.auto.54">
            <ns1:extLst>
              <ns1:ext uri="{FF2B5EF4-FFF2-40B4-BE49-F238E27FC236}">
                <ns2:creationId id="{A7FDD439-D33C-4831-A70D-765AA86C252E}"/>
              </ns1:ext>
            </ns1:extLst>
          </ns0:cNvPr>
          <ns0:cNvSpPr>
            <ns1:spLocks noGrp="1"/>
          </ns0:cNvSpPr>
          <ns0:nvPr/>
        </ns0:nvSpPr>
        <ns0:spPr>
          <ns1:xfrm>
            <ns1:off x="4829175" y="4229100"/>
            <ns1:ext cx="116205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2025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2025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1.5倍</ns1:t>
            </ns1:r>
          </ns1:p>
        </ns0:txBody>
      </ns0:sp>
      <ns0:sp>
        <ns0:nvSpPr>
          <ns0:cNvPr id="62" name="trace:KPI:content.auto.55">
            <ns1:extLst>
              <ns1:ext uri="{FF2B5EF4-FFF2-40B4-BE49-F238E27FC236}">
                <ns2:creationId id="{A8893B1E-2C1D-4D18-943C-6245E6C60C11}"/>
              </ns1:ext>
            </ns1:extLst>
          </ns0:cNvPr>
          <ns0:cNvSpPr>
            <ns1:spLocks noGrp="1"/>
          </ns0:cNvSpPr>
          <ns0:nvPr/>
        </ns0:nvSpPr>
        <ns0:spPr>
          <ns1:xfrm>
            <ns1:off x="4829175" y="4552950"/>
            <ns1:ext cx="1162050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rPr>
              <ns1:t>(月15件)</ns1:t>
            </ns1:r>
          </ns1:p>
        </ns0:txBody>
      </ns0:sp>
      <ns0:sp>
        <ns0:nvSpPr>
          <ns0:cNvPr id="63" name="trace:KPI:content.auto.56">
            <ns1:extLst>
              <ns1:ext uri="{FF2B5EF4-FFF2-40B4-BE49-F238E27FC236}">
                <ns2:creationId id="{4A956A22-FF97-4995-9842-750F5B7FC6E6}"/>
              </ns1:ext>
            </ns1:extLst>
          </ns0:cNvPr>
          <ns0:cNvSpPr>
            <ns1:spLocks noGrp="1"/>
          </ns0:cNvSpPr>
          <ns0:nvPr/>
        </ns0:nvSpPr>
        <ns0:spPr>
          <ns1:xfrm>
            <ns1:off x="6257925" y="4314825"/>
            <ns1:ext cx="1657350" cy="5810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95000"/>
              </ns1:lnSpc>
              <ns1:buNone/>
              <ns1:defRPr sz="1200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営業管理ツールの</ns1:t>
            </ns1:r>
          </ns1:p>
          <ns1:p>
            <ns1:pPr algn="ctr">
              <ns1:lnSpc>
                <ns1:spcPct val="95000"/>
              </ns1:lnSpc>
              <ns1:buNone/>
              <ns1:defRPr sz="1200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案件件数</ns1:t>
            </ns1:r>
          </ns1:p>
        </ns0:txBody>
      </ns0:sp>
      <ns0:sp>
        <ns0:nvSpPr>
          <ns0:cNvPr id="64" name="trace:KPI:content.auto.57">
            <ns1:extLst>
              <ns1:ext uri="{FF2B5EF4-FFF2-40B4-BE49-F238E27FC236}">
                <ns2:creationId id="{2000B7BD-8481-4037-8F8A-B54D3D4DCB38}"/>
              </ns1:ext>
            </ns1:extLst>
          </ns0:cNvPr>
          <ns0:cNvSpPr>
            <ns1:spLocks noGrp="1"/>
          </ns0:cNvSpPr>
          <ns0:nvPr/>
        </ns0:nvSpPr>
        <ns0:spPr>
          <ns1:xfrm>
            <ns1:off x="8143875" y="4352925"/>
            <ns1:ext cx="857250" cy="466725"/>
          </ns1:xfrm>
          <ns1:prstGeom prst="rect">
            <ns1:avLst/>
          </ns1:prstGeom>
          <ns1:solidFill>
            <ns1:srgbClr val="FFF0F0"/>
          </ns1:solidFill>
          <ns1:ln w="0">
            <ns1:noFill/>
          </ns1:ln>
        </ns0:spPr>
      </ns0:sp>
      <ns0:sp>
        <ns0:nvSpPr>
          <ns0:cNvPr id="65" name="trace:KPI:content.auto.58">
            <ns1:extLst>
              <ns1:ext uri="{FF2B5EF4-FFF2-40B4-BE49-F238E27FC236}">
                <ns2:creationId id="{34276A92-9B57-47D7-90B8-CE05A0F1760B}"/>
              </ns1:ext>
            </ns1:extLst>
          </ns0:cNvPr>
          <ns0:cNvSpPr>
            <ns1:spLocks noGrp="1"/>
          </ns0:cNvSpPr>
          <ns0:nvPr/>
        </ns0:nvSpPr>
        <ns0:spPr>
          <ns1:xfrm>
            <ns1:off x="8143875" y="4352925"/>
            <ns1:ext cx="85725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180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80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高</ns1:t>
            </ns1:r>
          </ns1:p>
        </ns0:txBody>
      </ns0:sp>
      <ns0:sp>
        <ns0:nvSpPr>
          <ns0:cNvPr id="66" name="trace:KPI:content.auto.59">
            <ns1:extLst>
              <ns1:ext uri="{FF2B5EF4-FFF2-40B4-BE49-F238E27FC236}">
                <ns2:creationId id="{685EB9D5-C8CA-40D3-86C7-F065B88C7CAB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5324475"/>
            <ns1:ext cx="819150" cy="819150"/>
          </ns1:xfrm>
          <ns1:prstGeom prst="ellipse">
            <ns1:avLst/>
          </ns1:prstGeom>
          <ns1:solidFill>
            <ns1:srgbClr val="FBE5E6"/>
          </ns1:solidFill>
          <ns1:ln w="0">
            <ns1:noFill/>
          </ns1:ln>
        </ns0:spPr>
      </ns0:sp>
      <ns0:sp>
        <ns0:nvSpPr>
          <ns0:cNvPr id="67" name="trace:KPI:content.auto.60">
            <ns1:extLst>
              <ns1:ext uri="{FF2B5EF4-FFF2-40B4-BE49-F238E27FC236}">
                <ns2:creationId id="{A414788F-56A0-4735-888B-F09C4A658F3E}"/>
              </ns1:ext>
            </ns1:extLst>
          </ns0:cNvPr>
          <ns0:cNvSpPr>
            <ns1:spLocks noGrp="1"/>
          </ns0:cNvSpPr>
          <ns0:nvPr/>
        </ns0:nvSpPr>
        <ns0:spPr>
          <ns1:xfrm>
            <ns1:off x="793242" y="5546217"/>
            <ns1:ext cx="375666" cy="375666"/>
          </ns1:xfrm>
          <ns1:prstGeom prst="ellipse">
            <ns1:avLst/>
          </ns1:prstGeom>
          <ns1:noFill/>
          <ns1:ln w="28575">
            <ns1:solidFill>
              <ns1:srgbClr val="111111"/>
            </ns1:solidFill>
          </ns1:ln>
        </ns0:spPr>
      </ns0:sp>
      <ns0:sp>
        <ns0:nvSpPr>
          <ns0:cNvPr id="68" name="trace:KPI:content.auto.61">
            <ns1:extLst>
              <ns1:ext uri="{FF2B5EF4-FFF2-40B4-BE49-F238E27FC236}">
                <ns2:creationId id="{4EF496A9-ADCC-4B39-8754-86834D018847}"/>
              </ns1:ext>
            </ns1:extLst>
          </ns0:cNvPr>
          <ns0:cNvSpPr>
            <ns1:spLocks noGrp="1"/>
          </ns0:cNvSpPr>
          <ns0:nvPr/>
        </ns0:nvSpPr>
        <ns0:spPr>
          <ns1:xfrm rot="-1080000">
            <ns1:off x="1080516" y="5496496"/>
            <ns1:ext cx="121539" cy="88392"/>
          </ns1:xfrm>
          <ns1:prstGeom prst="rightArrow">
            <ns1:avLst/>
          </ns1:prstGeom>
          <ns1:solidFill>
            <ns1:srgbClr val="111111"/>
          </ns1:solidFill>
          <ns1:ln w="0">
            <ns1:solidFill>
              <ns1:srgbClr val="111111"/>
            </ns1:solidFill>
          </ns1:ln>
        </ns0:spPr>
      </ns0:sp>
      <ns0:sp>
        <ns0:nvSpPr>
          <ns0:cNvPr id="69" name="trace:KPI:content.auto.62">
            <ns1:extLst>
              <ns1:ext uri="{FF2B5EF4-FFF2-40B4-BE49-F238E27FC236}">
                <ns2:creationId id="{A9B70D97-F3D7-4B72-895C-CB15F5DD6B47}"/>
              </ns1:ext>
            </ns1:extLst>
          </ns0:cNvPr>
          <ns0:cNvSpPr>
            <ns1:spLocks noGrp="1"/>
          </ns0:cNvSpPr>
          <ns0:nvPr/>
        </ns0:nvSpPr>
        <ns0:spPr>
          <ns1:xfrm rot="9720000">
            <ns1:off x="760095" y="5888736"/>
            <ns1:ext cx="121539" cy="88392"/>
          </ns1:xfrm>
          <ns1:prstGeom prst="rightArrow">
            <ns1:avLst/>
          </ns1:prstGeom>
          <ns1:solidFill>
            <ns1:srgbClr val="111111"/>
          </ns1:solidFill>
          <ns1:ln w="0">
            <ns1:solidFill>
              <ns1:srgbClr val="111111"/>
            </ns1:solidFill>
          </ns1:ln>
        </ns0:spPr>
      </ns0:sp>
      <ns0:sp>
        <ns0:nvSpPr>
          <ns0:cNvPr id="70" name="trace:KPI:content.auto.63">
            <ns1:extLst>
              <ns1:ext uri="{FF2B5EF4-FFF2-40B4-BE49-F238E27FC236}">
                <ns2:creationId id="{2EEBAE69-205C-4FDA-90E0-FDC6A2169EE9}"/>
              </ns1:ext>
            </ns1:extLst>
          </ns0:cNvPr>
          <ns0:cNvSpPr>
            <ns1:spLocks noGrp="1"/>
          </ns0:cNvSpPr>
          <ns0:nvPr/>
        </ns0:nvSpPr>
        <ns0:spPr>
          <ns1:xfrm>
            <ns1:off x="1600200" y="5276850"/>
            <ns1:ext cx="167640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7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7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修正回数</ns1:t>
            </ns1:r>
          </ns1:p>
        </ns0:txBody>
      </ns0:sp>
      <ns0:sp>
        <ns0:nvSpPr>
          <ns0:cNvPr id="71" name="trace:KPI:content.auto.64">
            <ns1:extLst>
              <ns1:ext uri="{FF2B5EF4-FFF2-40B4-BE49-F238E27FC236}">
                <ns2:creationId id="{1302120F-090C-4C3F-B5D9-DE0022C2348B}"/>
              </ns1:ext>
            </ns1:extLst>
          </ns0:cNvPr>
          <ns0:cNvSpPr>
            <ns1:spLocks noGrp="1"/>
          </ns0:cNvSpPr>
          <ns0:nvPr/>
        </ns0:nvSpPr>
        <ns0:spPr>
          <ns1:xfrm>
            <ns1:off x="1600200" y="5600700"/>
            <ns1:ext cx="167640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95000"/>
              </ns1:lnSpc>
              <ns1:buNone/>
              <ns1:def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rPr>
              <ns1:t>1案件あたりの</ns1:t>
            </ns1:r>
          </ns1:p>
          <ns1:p>
            <ns1:pPr algn="l">
              <ns1:lnSpc>
                <ns1:spcPct val="95000"/>
              </ns1:lnSpc>
              <ns1:buNone/>
              <ns1:def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rPr>
              <ns1:t>資料修正回数を削減</ns1:t>
            </ns1:r>
          </ns1:p>
        </ns0:txBody>
      </ns0:sp>
      <ns0:sp>
        <ns0:nvSpPr>
          <ns0:cNvPr id="72" name="trace:KPI:content.auto.65">
            <ns1:extLst>
              <ns1:ext uri="{FF2B5EF4-FFF2-40B4-BE49-F238E27FC236}">
                <ns2:creationId id="{B39522F2-DD21-45B3-A261-0D780714E4B6}"/>
              </ns1:ext>
            </ns1:extLst>
          </ns0:cNvPr>
          <ns0:cNvSpPr>
            <ns1:spLocks noGrp="1"/>
          </ns0:cNvSpPr>
          <ns0:nvPr/>
        </ns0:nvSpPr>
        <ns0:spPr>
          <ns1:xfrm>
            <ns1:off x="3476625" y="5524500"/>
            <ns1:ext cx="9715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13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3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5回/件</ns1:t>
            </ns1:r>
          </ns1:p>
        </ns0:txBody>
      </ns0:sp>
      <ns0:sp>
        <ns0:nvSpPr>
          <ns0:cNvPr id="73" name="trace:KPI:content.auto.66">
            <ns1:extLst>
              <ns1:ext uri="{FF2B5EF4-FFF2-40B4-BE49-F238E27FC236}">
                <ns2:creationId id="{CB258790-B8CB-4CC6-81F8-D8E6C60BD325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4514850" y="5638800"/>
            <ns1:ext cx="219075" cy="171450"/>
          </ns1:xfrm>
          <ns1:prstGeom prst="rightArrow">
            <ns1:avLst/>
          </ns1:prstGeom>
          <ns1:solidFill>
            <ns1:srgbClr val="E30606"/>
          </ns1:solidFill>
          <ns1:ln w="0">
            <ns1:solidFill>
              <ns1:srgbClr val="E30606"/>
            </ns1:solidFill>
          </ns1:ln>
        </ns0:spPr>
      </ns0:sp>
      <ns0:sp>
        <ns0:nvSpPr>
          <ns0:cNvPr id="74" name="trace:KPI:content.auto.67">
            <ns1:extLst>
              <ns1:ext uri="{FF2B5EF4-FFF2-40B4-BE49-F238E27FC236}">
                <ns2:creationId id="{B9A3C511-BBCE-49B5-AB34-63C2162FDA61}"/>
              </ns1:ext>
            </ns1:extLst>
          </ns0:cNvPr>
          <ns0:cNvSpPr>
            <ns1:spLocks noGrp="1"/>
          </ns0:cNvSpPr>
          <ns0:nvPr/>
        </ns0:nvSpPr>
        <ns0:spPr>
          <ns1:xfrm>
            <ns1:off x="4829175" y="5353050"/>
            <ns1:ext cx="116205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2025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2025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30%削減</ns1:t>
            </ns1:r>
          </ns1:p>
        </ns0:txBody>
      </ns0:sp>
      <ns0:sp>
        <ns0:nvSpPr>
          <ns0:cNvPr id="75" name="trace:KPI:content.auto.68">
            <ns1:extLst>
              <ns1:ext uri="{FF2B5EF4-FFF2-40B4-BE49-F238E27FC236}">
                <ns2:creationId id="{3E38A0E4-3F94-4E94-9548-F203E63AA009}"/>
              </ns1:ext>
            </ns1:extLst>
          </ns0:cNvPr>
          <ns0:cNvSpPr>
            <ns1:spLocks noGrp="1"/>
          </ns0:cNvSpPr>
          <ns0:nvPr/>
        </ns0:nvSpPr>
        <ns0:spPr>
          <ns1:xfrm>
            <ns1:off x="4829175" y="5676900"/>
            <ns1:ext cx="1162050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rPr>
              <ns1:t>(3.5回/件)</ns1:t>
            </ns1:r>
          </ns1:p>
        </ns0:txBody>
      </ns0:sp>
      <ns0:sp>
        <ns0:nvSpPr>
          <ns0:cNvPr id="76" name="trace:KPI:content.auto.69">
            <ns1:extLst>
              <ns1:ext uri="{FF2B5EF4-FFF2-40B4-BE49-F238E27FC236}">
                <ns2:creationId id="{6F06CA65-1305-46C6-B730-04558CF66CE4}"/>
              </ns1:ext>
            </ns1:extLst>
          </ns0:cNvPr>
          <ns0:cNvSpPr>
            <ns1:spLocks noGrp="1"/>
          </ns0:cNvSpPr>
          <ns0:nvPr/>
        </ns0:nvSpPr>
        <ns0:spPr>
          <ns1:xfrm>
            <ns1:off x="6257925" y="5438775"/>
            <ns1:ext cx="1657350" cy="5810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95000"/>
              </ns1:lnSpc>
              <ns1:buNone/>
              <ns1:defRPr sz="1200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版管理・履歴からの</ns1:t>
            </ns1:r>
          </ns1:p>
          <ns1:p>
            <ns1:pPr algn="ctr">
              <ns1:lnSpc>
                <ns1:spcPct val="95000"/>
              </ns1:lnSpc>
              <ns1:buNone/>
              <ns1:defRPr sz="1200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カウント</ns1:t>
            </ns1:r>
          </ns1:p>
        </ns0:txBody>
      </ns0:sp>
      <ns0:sp>
        <ns0:nvSpPr>
          <ns0:cNvPr id="77" name="trace:KPI:content.auto.70">
            <ns1:extLst>
              <ns1:ext uri="{FF2B5EF4-FFF2-40B4-BE49-F238E27FC236}">
                <ns2:creationId id="{BDC31C65-9C61-412F-A2D7-51E67D464214}"/>
              </ns1:ext>
            </ns1:extLst>
          </ns0:cNvPr>
          <ns0:cNvSpPr>
            <ns1:spLocks noGrp="1"/>
          </ns0:cNvSpPr>
          <ns0:nvPr/>
        </ns0:nvSpPr>
        <ns0:spPr>
          <ns1:xfrm>
            <ns1:off x="8143875" y="5476875"/>
            <ns1:ext cx="857250" cy="466725"/>
          </ns1:xfrm>
          <ns1:prstGeom prst="rect">
            <ns1:avLst/>
          </ns1:prstGeom>
          <ns1:solidFill>
            <ns1:srgbClr val="F5F6F7"/>
          </ns1:solidFill>
          <ns1:ln w="0">
            <ns1:noFill/>
          </ns1:ln>
        </ns0:spPr>
      </ns0:sp>
      <ns0:sp>
        <ns0:nvSpPr>
          <ns0:cNvPr id="78" name="trace:KPI:content.auto.71">
            <ns1:extLst>
              <ns1:ext uri="{FF2B5EF4-FFF2-40B4-BE49-F238E27FC236}">
                <ns2:creationId id="{8F41C60E-8159-4A7A-9E4E-2AB5035412F5}"/>
              </ns1:ext>
            </ns1:extLst>
          </ns0:cNvPr>
          <ns0:cNvSpPr>
            <ns1:spLocks noGrp="1"/>
          </ns0:cNvSpPr>
          <ns0:nvPr/>
        </ns0:nvSpPr>
        <ns0:spPr>
          <ns1:xfrm>
            <ns1:off x="8143875" y="5476875"/>
            <ns1:ext cx="85725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180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80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中</ns1:t>
            </ns1:r>
          </ns1:p>
        </ns0:txBody>
      </ns0:sp>
      <ns0:sp>
        <ns0:nvSpPr>
          <ns0:cNvPr id="79" name="trace:KPI:content.auto.72">
            <ns1:extLst>
              <ns1:ext uri="{FF2B5EF4-FFF2-40B4-BE49-F238E27FC236}">
                <ns2:creationId id="{E6D35764-66BA-4ED0-BEFE-3D0318D46571}"/>
              </ns1:ext>
            </ns1:extLst>
          </ns0:cNvPr>
          <ns0:cNvSpPr>
            <ns1:spLocks noGrp="1"/>
          </ns0:cNvSpPr>
          <ns0:nvPr/>
        </ns0:nvSpPr>
        <ns0:spPr>
          <ns1:xfrm>
            <ns1:off x="571500" y="6467475"/>
            <ns1:ext cx="819150" cy="819150"/>
          </ns1:xfrm>
          <ns1:prstGeom prst="ellipse">
            <ns1:avLst/>
          </ns1:prstGeom>
          <ns1:solidFill>
            <ns1:srgbClr val="FBE5E6"/>
          </ns1:solidFill>
          <ns1:ln w="0">
            <ns1:noFill/>
          </ns1:ln>
        </ns0:spPr>
      </ns0:sp>
      <ns0:sp>
        <ns0:nvSpPr>
          <ns0:cNvPr id="86" name="trace:KPI:content.auto.73">
            <ns1:extLst>
              <ns1:ext uri="{FF2B5EF4-FFF2-40B4-BE49-F238E27FC236}">
                <ns2:creationId id="{69A8CF81-9092-4780-8D12-5F095AA1DE5F}"/>
              </ns1:ext>
            </ns1:extLst>
          </ns0:cNvPr>
          <ns0:cNvSpPr>
            <ns1:spLocks noGrp="1"/>
          </ns0:cNvSpPr>
          <ns0:nvPr/>
        </ns0:nvSpPr>
        <ns0:spPr>
          <ns1:xfrm>
            <ns1:off x="1600200" y="6438900"/>
            <ns1:ext cx="167640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7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7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受注確度</ns1:t>
            </ns1:r>
          </ns1:p>
        </ns0:txBody>
      </ns0:sp>
      <ns0:sp>
        <ns0:nvSpPr>
          <ns0:cNvPr id="87" name="trace:KPI:content.auto.74">
            <ns1:extLst>
              <ns1:ext uri="{FF2B5EF4-FFF2-40B4-BE49-F238E27FC236}">
                <ns2:creationId id="{A7471212-86AB-4BE6-859D-A93C396E9CFD}"/>
              </ns1:ext>
            </ns1:extLst>
          </ns0:cNvPr>
          <ns0:cNvSpPr>
            <ns1:spLocks noGrp="1"/>
          </ns0:cNvSpPr>
          <ns0:nvPr/>
        </ns0:nvSpPr>
        <ns0:spPr>
          <ns1:xfrm>
            <ns1:off x="1600200" y="6762750"/>
            <ns1:ext cx="167640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95000"/>
              </ns1:lnSpc>
              <ns1:buNone/>
              <ns1:def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rPr>
              <ns1:t>提案からの</ns1:t>
            </ns1:r>
          </ns1:p>
          <ns1:p>
            <ns1:pPr algn="l">
              <ns1:lnSpc>
                <ns1:spcPct val="95000"/>
              </ns1:lnSpc>
              <ns1:buNone/>
              <ns1:def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rPr>
              <ns1:t>受注確度を向上</ns1:t>
            </ns1:r>
          </ns1:p>
        </ns0:txBody>
      </ns0:sp>
      <ns0:sp>
        <ns0:nvSpPr>
          <ns0:cNvPr id="88" name="trace:KPI:content.auto.75">
            <ns1:extLst>
              <ns1:ext uri="{FF2B5EF4-FFF2-40B4-BE49-F238E27FC236}">
                <ns2:creationId id="{55FE7DF1-B476-4404-B485-4BBEC56577B7}"/>
              </ns1:ext>
            </ns1:extLst>
          </ns0:cNvPr>
          <ns0:cNvSpPr>
            <ns1:spLocks noGrp="1"/>
          </ns0:cNvSpPr>
          <ns0:nvPr/>
        </ns0:nvSpPr>
        <ns0:spPr>
          <ns1:xfrm>
            <ns1:off x="3476625" y="6686550"/>
            <ns1:ext cx="9715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13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3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20%</ns1:t>
            </ns1:r>
          </ns1:p>
        </ns0:txBody>
      </ns0:sp>
      <ns0:sp>
        <ns0:nvSpPr>
          <ns0:cNvPr id="89" name="trace:KPI:content.auto.76">
            <ns1:extLst>
              <ns1:ext uri="{FF2B5EF4-FFF2-40B4-BE49-F238E27FC236}">
                <ns2:creationId id="{CE8E5C27-9C14-4B7D-B63A-3AFA7CC76FF4}"/>
              </ns1:ext>
            </ns1:extLst>
          </ns0:cNvPr>
          <ns0:cNvSpPr>
            <ns1:spLocks noGrp="1"/>
          </ns0:cNvSpPr>
          <ns0:nvPr/>
        </ns0:nvSpPr>
        <ns0:spPr>
          <ns1:xfrm rot="0">
            <ns1:off x="4514850" y="6781800"/>
            <ns1:ext cx="219075" cy="171450"/>
          </ns1:xfrm>
          <ns1:prstGeom prst="rightArrow">
            <ns1:avLst/>
          </ns1:prstGeom>
          <ns1:solidFill>
            <ns1:srgbClr val="E30606"/>
          </ns1:solidFill>
          <ns1:ln w="0">
            <ns1:solidFill>
              <ns1:srgbClr val="E30606"/>
            </ns1:solidFill>
          </ns1:ln>
        </ns0:spPr>
      </ns0:sp>
      <ns0:sp>
        <ns0:nvSpPr>
          <ns0:cNvPr id="90" name="trace:KPI:content.auto.77">
            <ns1:extLst>
              <ns1:ext uri="{FF2B5EF4-FFF2-40B4-BE49-F238E27FC236}">
                <ns2:creationId id="{08777601-12A5-4EE8-8E70-6221B03DD182}"/>
              </ns1:ext>
            </ns1:extLst>
          </ns0:cNvPr>
          <ns0:cNvSpPr>
            <ns1:spLocks noGrp="1"/>
          </ns0:cNvSpPr>
          <ns0:nvPr/>
        </ns0:nvSpPr>
        <ns0:spPr>
          <ns1:xfrm>
            <ns1:off x="4829175" y="6515100"/>
            <ns1:ext cx="1162050" cy="3333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2025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2025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20%向上</ns1:t>
            </ns1:r>
          </ns1:p>
        </ns0:txBody>
      </ns0:sp>
      <ns0:sp>
        <ns0:nvSpPr>
          <ns0:cNvPr id="91" name="trace:KPI:content.auto.78">
            <ns1:extLst>
              <ns1:ext uri="{FF2B5EF4-FFF2-40B4-BE49-F238E27FC236}">
                <ns2:creationId id="{19F8A695-6240-4405-A977-09809F125104}"/>
              </ns1:ext>
            </ns1:extLst>
          </ns0:cNvPr>
          <ns0:cNvSpPr>
            <ns1:spLocks noGrp="1"/>
          </ns0:cNvSpPr>
          <ns0:nvPr/>
        </ns0:nvSpPr>
        <ns0:spPr>
          <ns1:xfrm>
            <ns1:off x="4829175" y="6838950"/>
            <ns1:ext cx="1162050" cy="2476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rPr>
              <ns1:t>(24%)</ns1:t>
            </ns1:r>
          </ns1:p>
        </ns0:txBody>
      </ns0:sp>
      <ns0:sp>
        <ns0:nvSpPr>
          <ns0:cNvPr id="92" name="trace:KPI:content.auto.79">
            <ns1:extLst>
              <ns1:ext uri="{FF2B5EF4-FFF2-40B4-BE49-F238E27FC236}">
                <ns2:creationId id="{0FAEB423-A113-420F-A8BD-110386F18C57}"/>
              </ns1:ext>
            </ns1:extLst>
          </ns0:cNvPr>
          <ns0:cNvSpPr>
            <ns1:spLocks noGrp="1"/>
          </ns0:cNvSpPr>
          <ns0:nvPr/>
        </ns0:nvSpPr>
        <ns0:spPr>
          <ns1:xfrm>
            <ns1:off x="6257925" y="6600825"/>
            <ns1:ext cx="1657350" cy="5810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95000"/>
              </ns1:lnSpc>
              <ns1:buNone/>
              <ns1:defRPr sz="1200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営業管理ツールの</ns1:t>
            </ns1:r>
          </ns1:p>
          <ns1:p>
            <ns1:pPr algn="ctr">
              <ns1:lnSpc>
                <ns1:spcPct val="95000"/>
              </ns1:lnSpc>
              <ns1:buNone/>
              <ns1:defRPr sz="1200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受注率</ns1:t>
            </ns1:r>
          </ns1:p>
        </ns0:txBody>
      </ns0:sp>
      <ns0:sp>
        <ns0:nvSpPr>
          <ns0:cNvPr id="93" name="trace:KPI:content.auto.80">
            <ns1:extLst>
              <ns1:ext uri="{FF2B5EF4-FFF2-40B4-BE49-F238E27FC236}">
                <ns2:creationId id="{4A470450-7958-46F1-BA62-97E5E9BB436A}"/>
              </ns1:ext>
            </ns1:extLst>
          </ns0:cNvPr>
          <ns0:cNvSpPr>
            <ns1:spLocks noGrp="1"/>
          </ns0:cNvSpPr>
          <ns0:nvPr/>
        </ns0:nvSpPr>
        <ns0:spPr>
          <ns1:xfrm>
            <ns1:off x="8143875" y="6638925"/>
            <ns1:ext cx="857250" cy="466725"/>
          </ns1:xfrm>
          <ns1:prstGeom prst="rect">
            <ns1:avLst/>
          </ns1:prstGeom>
          <ns1:solidFill>
            <ns1:srgbClr val="FFF0F0"/>
          </ns1:solidFill>
          <ns1:ln w="0">
            <ns1:noFill/>
          </ns1:ln>
        </ns0:spPr>
      </ns0:sp>
      <ns0:sp>
        <ns0:nvSpPr>
          <ns0:cNvPr id="94" name="trace:KPI:content.auto.81">
            <ns1:extLst>
              <ns1:ext uri="{FF2B5EF4-FFF2-40B4-BE49-F238E27FC236}">
                <ns2:creationId id="{1367BF25-302D-4C94-827F-CBE9AB3EDE90}"/>
              </ns1:ext>
            </ns1:extLst>
          </ns0:cNvPr>
          <ns0:cNvSpPr>
            <ns1:spLocks noGrp="1"/>
          </ns0:cNvSpPr>
          <ns0:nvPr/>
        </ns0:nvSpPr>
        <ns0:spPr>
          <ns1:xfrm>
            <ns1:off x="8143875" y="6638925"/>
            <ns1:ext cx="857250" cy="46672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180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800" b="1">
                <ns1:solidFill>
                  <ns1:srgbClr val="E30606"/>
                </ns1:solidFill>
                <ns1:latin typeface="Yu Gothic UI"/>
                <ns1:ea typeface="Yu Gothic UI"/>
                <ns1:cs typeface="Yu Gothic UI"/>
              </ns1:rPr>
              <ns1:t>高</ns1:t>
            </ns1:r>
          </ns1:p>
        </ns0:txBody>
      </ns0:sp>
      <ns0:sp>
        <ns0:nvSpPr>
          <ns0:cNvPr id="95" name="trace:KPI:content.auto.82">
            <ns1:extLst>
              <ns1:ext uri="{FF2B5EF4-FFF2-40B4-BE49-F238E27FC236}">
                <ns2:creationId id="{02BECEE6-4F9D-4B71-8FF6-6FFABC74FCF8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2590800"/>
            <ns1:ext cx="571500" cy="571500"/>
          </ns1:xfrm>
          <ns1:prstGeom prst="ellipse">
            <ns1:avLst/>
          </ns1:prstGeom>
          <ns1:solidFill>
            <ns1:srgbClr val="FBE5E6"/>
          </ns1:solidFill>
          <ns1:ln w="0">
            <ns1:noFill/>
          </ns1:ln>
        </ns0:spPr>
      </ns0:sp>
      <ns0:sp>
        <ns0:nvSpPr>
          <ns0:cNvPr id="96" name="trace:KPI:content.auto.83">
            <ns1:extLst>
              <ns1:ext uri="{FF2B5EF4-FFF2-40B4-BE49-F238E27FC236}">
                <ns2:creationId id="{CEF80BA0-D802-4881-BB9C-BA439F491EFE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2647950"/>
            <ns1:ext cx="57150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17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7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01</ns1:t>
            </ns1:r>
          </ns1:p>
        </ns0:txBody>
      </ns0:sp>
      <ns0:sp>
        <ns0:nvSpPr>
          <ns0:cNvPr id="97" name="trace:KPI:content.auto.84">
            <ns1:extLst>
              <ns1:ext uri="{FF2B5EF4-FFF2-40B4-BE49-F238E27FC236}">
                <ns2:creationId id="{D0FE36D0-2B78-40A3-A992-6B3ACBD26A3B}"/>
              </ns1:ext>
            </ns1:extLst>
          </ns0:cNvPr>
          <ns0:cNvSpPr>
            <ns1:spLocks noGrp="1"/>
          </ns0:cNvSpPr>
          <ns0:nvPr/>
        </ns0:nvSpPr>
        <ns0:spPr>
          <ns1:xfrm>
            <ns1:off x="10401300" y="2647950"/>
            <ns1:ext cx="46672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6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6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現状値の把握</ns1:t>
            </ns1:r>
          </ns1:p>
        </ns0:txBody>
      </ns0:sp>
      <ns0:sp>
        <ns0:nvSpPr>
          <ns0:cNvPr id="98" name="trace:KPI:title.primary.7">
            <ns1:extLst>
              <ns1:ext uri="{FF2B5EF4-FFF2-40B4-BE49-F238E27FC236}">
                <ns2:creationId id="{CEBAC1A5-09E3-44C1-B64D-4BFD1F7081D7}"/>
              </ns1:ext>
            </ns1:extLst>
          </ns0:cNvPr>
          <ns0:cNvSpPr>
            <ns1:spLocks noGrp="1"/>
          </ns0:cNvSpPr>
          <ns0:nvPr/>
        </ns0:nvSpPr>
        <ns0:spPr>
          <ns1:xfrm>
            <ns1:off x="10401300" y="2943225"/>
            <ns1:ext cx="4810125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rPr>
              <ns1:t>既存のデータやヒアリングをもとに、現状の数値を把握します。</ns1:t>
            </ns1:r>
          </ns1:p>
        </ns0:txBody>
      </ns0:sp>
      <ns0:sp>
        <ns0:nvSpPr>
          <ns0:cNvPr id="99" name="trace:KPI:content.auto.85">
            <ns1:extLst>
              <ns1:ext uri="{FF2B5EF4-FFF2-40B4-BE49-F238E27FC236}">
                <ns2:creationId id="{C452AE85-778A-4827-8266-24264FC6C2E1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3419475"/>
            <ns1:ext cx="571500" cy="571500"/>
          </ns1:xfrm>
          <ns1:prstGeom prst="ellipse">
            <ns1:avLst/>
          </ns1:prstGeom>
          <ns1:solidFill>
            <ns1:srgbClr val="FBE5E6"/>
          </ns1:solidFill>
          <ns1:ln w="0">
            <ns1:noFill/>
          </ns1:ln>
        </ns0:spPr>
      </ns0:sp>
      <ns0:sp>
        <ns0:nvSpPr>
          <ns0:cNvPr id="100" name="trace:KPI:content.auto.86">
            <ns1:extLst>
              <ns1:ext uri="{FF2B5EF4-FFF2-40B4-BE49-F238E27FC236}">
                <ns2:creationId id="{37A16486-839D-433B-BA1B-66499C2C3541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3476625"/>
            <ns1:ext cx="57150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17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7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02</ns1:t>
            </ns1:r>
          </ns1:p>
        </ns0:txBody>
      </ns0:sp>
      <ns0:sp>
        <ns0:nvSpPr>
          <ns0:cNvPr id="101" name="trace:KPI:content.auto.87">
            <ns1:extLst>
              <ns1:ext uri="{FF2B5EF4-FFF2-40B4-BE49-F238E27FC236}">
                <ns2:creationId id="{6EE36DBE-1A7D-4C08-8077-BAC968165640}"/>
              </ns1:ext>
            </ns1:extLst>
          </ns0:cNvPr>
          <ns0:cNvSpPr>
            <ns1:spLocks noGrp="1"/>
          </ns0:cNvSpPr>
          <ns0:nvPr/>
        </ns0:nvSpPr>
        <ns0:spPr>
          <ns1:xfrm>
            <ns1:off x="10401300" y="3476625"/>
            <ns1:ext cx="46672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6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6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目標値の設定</ns1:t>
            </ns1:r>
          </ns1:p>
        </ns0:txBody>
      </ns0:sp>
      <ns0:sp>
        <ns0:nvSpPr>
          <ns0:cNvPr id="102" name="trace:KPI:lead">
            <ns1:extLst>
              <ns1:ext uri="{FF2B5EF4-FFF2-40B4-BE49-F238E27FC236}">
                <ns2:creationId id="{59BC7A06-F9F9-440A-BEF4-1213BA016FA0}"/>
              </ns1:ext>
            </ns1:extLst>
          </ns0:cNvPr>
          <ns0:cNvSpPr>
            <ns1:spLocks noGrp="1"/>
          </ns0:cNvSpPr>
          <ns0:nvPr/>
        </ns0:nvSpPr>
        <ns0:spPr>
          <ns1:xfrm>
            <ns1:off x="10401300" y="3771900"/>
            <ns1:ext cx="5048250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rPr>
              <ns1:t>事業目標やリソースを踏まえ、現実的かつ挑戦的な目標値を設定します。</ns1:t>
            </ns1:r>
          </ns1:p>
        </ns0:txBody>
      </ns0:sp>
      <ns0:sp>
        <ns0:nvSpPr>
          <ns0:cNvPr id="103" name="trace:KPI:content.auto.88">
            <ns1:extLst>
              <ns1:ext uri="{FF2B5EF4-FFF2-40B4-BE49-F238E27FC236}">
                <ns2:creationId id="{99EF8F9D-8F5B-4184-BD21-7B5A09E990B3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4248150"/>
            <ns1:ext cx="571500" cy="571500"/>
          </ns1:xfrm>
          <ns1:prstGeom prst="ellipse">
            <ns1:avLst/>
          </ns1:prstGeom>
          <ns1:solidFill>
            <ns1:srgbClr val="FBE5E6"/>
          </ns1:solidFill>
          <ns1:ln w="0">
            <ns1:noFill/>
          </ns1:ln>
        </ns0:spPr>
      </ns0:sp>
      <ns0:sp>
        <ns0:nvSpPr>
          <ns0:cNvPr id="104" name="trace:KPI:content.auto.89">
            <ns1:extLst>
              <ns1:ext uri="{FF2B5EF4-FFF2-40B4-BE49-F238E27FC236}">
                <ns2:creationId id="{9DD242CB-1D6E-4C3A-AA12-DFBD932DF64A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4305300"/>
            <ns1:ext cx="571500" cy="4572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ctr">
              <ns1:lnSpc>
                <ns1:spcPct val="100000"/>
              </ns1:lnSpc>
              <ns1:buNone/>
              <ns1:defRPr sz="17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7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03</ns1:t>
            </ns1:r>
          </ns1:p>
        </ns0:txBody>
      </ns0:sp>
      <ns0:sp>
        <ns0:nvSpPr>
          <ns0:cNvPr id="105" name="trace:KPI:content.auto.90">
            <ns1:extLst>
              <ns1:ext uri="{FF2B5EF4-FFF2-40B4-BE49-F238E27FC236}">
                <ns2:creationId id="{33C7A123-1FF1-4918-B041-DAF42904E2E8}"/>
              </ns1:ext>
            </ns1:extLst>
          </ns0:cNvPr>
          <ns0:cNvSpPr>
            <ns1:spLocks noGrp="1"/>
          </ns0:cNvSpPr>
          <ns0:nvPr/>
        </ns0:nvSpPr>
        <ns0:spPr>
          <ns1:xfrm>
            <ns1:off x="10401300" y="4305300"/>
            <ns1:ext cx="4667250" cy="28575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6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6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定期レビュー</ns1:t>
            </ns1:r>
          </ns1:p>
        </ns0:txBody>
      </ns0:sp>
      <ns0:sp>
        <ns0:nvSpPr>
          <ns0:cNvPr id="106" name="trace:KPI:lead.2">
            <ns1:extLst>
              <ns1:ext uri="{FF2B5EF4-FFF2-40B4-BE49-F238E27FC236}">
                <ns2:creationId id="{22C8C305-9042-4C31-B8B5-25CEAA6771D0}"/>
              </ns1:ext>
            </ns1:extLst>
          </ns0:cNvPr>
          <ns0:cNvSpPr>
            <ns1:spLocks noGrp="1"/>
          </ns0:cNvSpPr>
          <ns0:nvPr/>
        </ns0:nvSpPr>
        <ns0:spPr>
          <ns1:xfrm>
            <ns1:off x="10401300" y="4600575"/>
            <ns1:ext cx="4810125" cy="3048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200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rPr>
              <ns1:t>月次でKPIを確認し、要因分析と打ち手の検討を行います。</ns1:t>
            </ns1:r>
          </ns1:p>
        </ns0:txBody>
      </ns0:sp>
      <ns0:sp>
        <ns0:nvSpPr>
          <ns0:cNvPr id="107" name="trace:KPI:content.auto.91">
            <ns1:extLst>
              <ns1:ext uri="{FF2B5EF4-FFF2-40B4-BE49-F238E27FC236}">
                <ns2:creationId id="{5BBE64B5-E290-40CA-B1ED-A3064A1A3262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3305175"/>
            <ns1:ext cx="5715000" cy="0"/>
          </ns1:xfrm>
          <ns1:prstGeom prst="line">
            <ns1:avLst/>
          </ns1:prstGeom>
          <ns1:noFill/>
          <ns1:ln w="9525">
            <ns1:solidFill>
              <ns1:srgbClr val="D5D9DD"/>
            </ns1:solidFill>
            <ns1:prstDash val="solid"/>
          </ns1:ln>
        </ns0:spPr>
      </ns0:sp>
      <ns0:sp>
        <ns0:nvSpPr>
          <ns0:cNvPr id="108" name="trace:KPI:content.auto.92">
            <ns1:extLst>
              <ns1:ext uri="{FF2B5EF4-FFF2-40B4-BE49-F238E27FC236}">
                <ns2:creationId id="{8F542AFB-0F52-49BE-A129-B5409BE58568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4133850"/>
            <ns1:ext cx="5715000" cy="0"/>
          </ns1:xfrm>
          <ns1:prstGeom prst="line">
            <ns1:avLst/>
          </ns1:prstGeom>
          <ns1:noFill/>
          <ns1:ln w="9525">
            <ns1:solidFill>
              <ns1:srgbClr val="D5D9DD"/>
            </ns1:solidFill>
            <ns1:prstDash val="solid"/>
          </ns1:ln>
        </ns0:spPr>
      </ns0:sp>
      <ns0:sp>
        <ns0:nvSpPr>
          <ns0:cNvPr id="109" name="trace:KPI:content.auto.93">
            <ns1:extLst>
              <ns1:ext uri="{FF2B5EF4-FFF2-40B4-BE49-F238E27FC236}">
                <ns2:creationId id="{0C03CEAB-8FBC-4567-9821-3E2B7E9BB6FE}"/>
              </ns1:ext>
            </ns1:extLst>
          </ns0:cNvPr>
          <ns0:cNvSpPr>
            <ns1:spLocks noGrp="1"/>
          </ns0:cNvSpPr>
          <ns0:nvPr/>
        </ns0:nvSpPr>
        <ns0:spPr>
          <ns1:xfrm>
            <ns1:off x="9691688" y="5834063"/>
            <ns1:ext cx="142875" cy="142875"/>
          </ns1:xfrm>
          <ns1:prstGeom prst="ellipse">
            <ns1:avLst/>
          </ns1:prstGeom>
          <ns1:solidFill>
            <ns1:srgbClr val="E30606"/>
          </ns1:solidFill>
          <ns1:ln w="0">
            <ns1:noFill/>
          </ns1:ln>
        </ns0:spPr>
      </ns0:sp>
      <ns0:sp>
        <ns0:nvSpPr>
          <ns0:cNvPr id="110" name="trace:KPI:content.auto.94">
            <ns1:extLst>
              <ns1:ext uri="{FF2B5EF4-FFF2-40B4-BE49-F238E27FC236}">
                <ns2:creationId id="{12C91A83-879D-492C-BDF5-7BE6EEBF9C30}"/>
              </ns1:ext>
            </ns1:extLst>
          </ns0:cNvPr>
          <ns0:cNvSpPr>
            <ns1:spLocks noGrp="1"/>
          </ns0:cNvSpPr>
          <ns0:nvPr/>
        </ns0:nvSpPr>
        <ns0:spPr>
          <ns1:xfrm>
            <ns1:off x="9982200" y="5695950"/>
            <ns1:ext cx="5238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4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実測値が未取得の場合は仮説として扱う</ns1:t>
            </ns1:r>
          </ns1:p>
        </ns0:txBody>
      </ns0:sp>
      <ns0:sp>
        <ns0:nvSpPr>
          <ns0:cNvPr id="111" name="trace:KPI:content.auto.95">
            <ns1:extLst>
              <ns1:ext uri="{FF2B5EF4-FFF2-40B4-BE49-F238E27FC236}">
                <ns2:creationId id="{3DA37957-339B-40F2-939B-325593AD6064}"/>
              </ns1:ext>
            </ns1:extLst>
          </ns0:cNvPr>
          <ns0:cNvSpPr>
            <ns1:spLocks noGrp="1"/>
          </ns0:cNvSpPr>
          <ns0:nvPr/>
        </ns0:nvSpPr>
        <ns0:spPr>
          <ns1:xfrm>
            <ns1:off x="9982200" y="5972175"/>
            <ns1:ext cx="5334000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125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rPr>
              <ns1:t>導入初期や計測環境が整っていない場合は、仮説値を設定し、実測後に見直します。</ns1:t>
            </ns1:r>
          </ns1:p>
        </ns0:txBody>
      </ns0:sp>
      <ns0:sp>
        <ns0:nvSpPr>
          <ns0:cNvPr id="112" name="trace:KPI:content.auto.96">
            <ns1:extLst>
              <ns1:ext uri="{FF2B5EF4-FFF2-40B4-BE49-F238E27FC236}">
                <ns2:creationId id="{8A054C65-2FCF-4208-986D-A30C20C58A97}"/>
              </ns1:ext>
            </ns1:extLst>
          </ns0:cNvPr>
          <ns0:cNvSpPr>
            <ns1:spLocks noGrp="1"/>
          </ns0:cNvSpPr>
          <ns0:nvPr/>
        </ns0:nvSpPr>
        <ns0:spPr>
          <ns1:xfrm>
            <ns1:off x="9691688" y="6434138"/>
            <ns1:ext cx="142875" cy="142875"/>
          </ns1:xfrm>
          <ns1:prstGeom prst="ellipse">
            <ns1:avLst/>
          </ns1:prstGeom>
          <ns1:solidFill>
            <ns1:srgbClr val="E30606"/>
          </ns1:solidFill>
          <ns1:ln w="0">
            <ns1:noFill/>
          </ns1:ln>
        </ns0:spPr>
      </ns0:sp>
      <ns0:sp>
        <ns0:nvSpPr>
          <ns0:cNvPr id="113" name="trace:KPI:content.auto.97">
            <ns1:extLst>
              <ns1:ext uri="{FF2B5EF4-FFF2-40B4-BE49-F238E27FC236}">
                <ns2:creationId id="{E001C850-62BC-4590-9C06-70472232C1B2}"/>
              </ns1:ext>
            </ns1:extLst>
          </ns0:cNvPr>
          <ns0:cNvSpPr>
            <ns1:spLocks noGrp="1"/>
          </ns0:cNvSpPr>
          <ns0:nvPr/>
        </ns0:nvSpPr>
        <ns0:spPr>
          <ns1:xfrm>
            <ns1:off x="9982200" y="6296025"/>
            <ns1:ext cx="5238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4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案件条件により効果は変動する</ns1:t>
            </ns1:r>
          </ns1:p>
        </ns0:txBody>
      </ns0:sp>
      <ns0:sp>
        <ns0:nvSpPr>
          <ns0:cNvPr id="114" name="trace:KPI:content.auto.98">
            <ns1:extLst>
              <ns1:ext uri="{FF2B5EF4-FFF2-40B4-BE49-F238E27FC236}">
                <ns2:creationId id="{6AAC9EE4-5EAB-433E-BAB9-6F8D4A4857CC}"/>
              </ns1:ext>
            </ns1:extLst>
          </ns0:cNvPr>
          <ns0:cNvSpPr>
            <ns1:spLocks noGrp="1"/>
          </ns0:cNvSpPr>
          <ns0:nvPr/>
        </ns0:nvSpPr>
        <ns0:spPr>
          <ns1:xfrm>
            <ns1:off x="9982200" y="6572250"/>
            <ns1:ext cx="5334000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125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rPr>
              <ns1:t>業界・案件規模・提案内容などの条件により、効果は変動する点に留意が必要です。</ns1:t>
            </ns1:r>
          </ns1:p>
        </ns0:txBody>
      </ns0:sp>
      <ns0:sp>
        <ns0:nvSpPr>
          <ns0:cNvPr id="115" name="trace:KPI:content.auto.99">
            <ns1:extLst>
              <ns1:ext uri="{FF2B5EF4-FFF2-40B4-BE49-F238E27FC236}">
                <ns2:creationId id="{43FBA507-F0E3-4F86-914E-9ADBAACC6CCF}"/>
              </ns1:ext>
            </ns1:extLst>
          </ns0:cNvPr>
          <ns0:cNvSpPr>
            <ns1:spLocks noGrp="1"/>
          </ns0:cNvSpPr>
          <ns0:nvPr/>
        </ns0:nvSpPr>
        <ns0:spPr>
          <ns1:xfrm>
            <ns1:off x="9691688" y="7043738"/>
            <ns1:ext cx="142875" cy="142875"/>
          </ns1:xfrm>
          <ns1:prstGeom prst="ellipse">
            <ns1:avLst/>
          </ns1:prstGeom>
          <ns1:solidFill>
            <ns1:srgbClr val="E30606"/>
          </ns1:solidFill>
          <ns1:ln w="0">
            <ns1:noFill/>
          </ns1:ln>
        </ns0:spPr>
      </ns0:sp>
      <ns0:sp>
        <ns0:nvSpPr>
          <ns0:cNvPr id="116" name="trace:KPI:content.auto.100">
            <ns1:extLst>
              <ns1:ext uri="{FF2B5EF4-FFF2-40B4-BE49-F238E27FC236}">
                <ns2:creationId id="{D2ADA3B8-7768-4CF6-BD1A-BB15ABBF966E}"/>
              </ns1:ext>
            </ns1:extLst>
          </ns0:cNvPr>
          <ns0:cNvSpPr>
            <ns1:spLocks noGrp="1"/>
          </ns0:cNvSpPr>
          <ns0:nvPr/>
        </ns0:nvSpPr>
        <ns0:spPr>
          <ns1:xfrm>
            <ns1:off x="9982200" y="6905625"/>
            <ns1:ext cx="5238750" cy="2667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4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425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月次で改善サイクルを回す</ns1:t>
            </ns1:r>
          </ns1:p>
        </ns0:txBody>
      </ns0:sp>
      <ns0:sp>
        <ns0:nvSpPr>
          <ns0:cNvPr id="117" name="trace:KPI:content.auto.101">
            <ns1:extLst>
              <ns1:ext uri="{FF2B5EF4-FFF2-40B4-BE49-F238E27FC236}">
                <ns2:creationId id="{23A46A6B-D2C7-403B-9123-B671B6859EF3}"/>
              </ns1:ext>
            </ns1:extLst>
          </ns0:cNvPr>
          <ns0:cNvSpPr>
            <ns1:spLocks noGrp="1"/>
          </ns0:cNvSpPr>
          <ns0:nvPr/>
        </ns0:nvSpPr>
        <ns0:spPr>
          <ns1:xfrm>
            <ns1:off x="9982200" y="7181850"/>
            <ns1:ext cx="5334000" cy="257175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125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125" b="0">
                <ns1:solidFill>
                  <ns1:srgbClr val="5E6267"/>
                </ns1:solidFill>
                <ns1:latin typeface="Yu Gothic UI"/>
                <ns1:ea typeface="Yu Gothic UI"/>
                <ns1:cs typeface="Yu Gothic UI"/>
              </ns1:rPr>
              <ns1:t>KPIの進捗を定期的に確認し、施策の見直し・改善を継続的に行います。</ns1:t>
            </ns1:r>
          </ns1:p>
        </ns0:txBody>
      </ns0:sp>
      <ns0:sp>
        <ns0:nvSpPr>
          <ns0:cNvPr id="118" name="trace:KPI:content.auto.102">
            <ns1:extLst>
              <ns1:ext uri="{FF2B5EF4-FFF2-40B4-BE49-F238E27FC236}">
                <ns2:creationId id="{06198C2D-949D-42C4-A863-D54A84EC138F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6257925"/>
            <ns1:ext cx="5715000" cy="0"/>
          </ns1:xfrm>
          <ns1:prstGeom prst="line">
            <ns1:avLst/>
          </ns1:prstGeom>
          <ns1:noFill/>
          <ns1:ln w="9525">
            <ns1:solidFill>
              <ns1:srgbClr val="D5D9DD"/>
            </ns1:solidFill>
            <ns1:prstDash val="solid"/>
          </ns1:ln>
        </ns0:spPr>
      </ns0:sp>
      <ns0:sp>
        <ns0:nvSpPr>
          <ns0:cNvPr id="119" name="trace:KPI:content.auto.103">
            <ns1:extLst>
              <ns1:ext uri="{FF2B5EF4-FFF2-40B4-BE49-F238E27FC236}">
                <ns2:creationId id="{01AD1C11-6878-437F-B282-DE3F09BCFDBB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6858000"/>
            <ns1:ext cx="5715000" cy="0"/>
          </ns1:xfrm>
          <ns1:prstGeom prst="line">
            <ns1:avLst/>
          </ns1:prstGeom>
          <ns1:noFill/>
          <ns1:ln w="9525">
            <ns1:solidFill>
              <ns1:srgbClr val="D5D9DD"/>
            </ns1:solidFill>
            <ns1:prstDash val="solid"/>
          </ns1:ln>
        </ns0:spPr>
      </ns0:sp>
      <ns0:sp>
        <ns0:nvSpPr>
          <ns0:cNvPr id="120" name="trace:KPI:content.auto.104">
            <ns1:extLst>
              <ns1:ext uri="{FF2B5EF4-FFF2-40B4-BE49-F238E27FC236}">
                <ns2:creationId id="{C4ED1B53-6479-4993-9600-D461C5E1254F}"/>
              </ns1:ext>
            </ns1:extLst>
          </ns0:cNvPr>
          <ns0:cNvSpPr>
            <ns1:spLocks noGrp="1"/>
          </ns0:cNvSpPr>
          <ns0:nvPr/>
        </ns0:nvSpPr>
        <ns0:spPr>
          <ns1:xfrm>
            <ns1:off x="342900" y="7677150"/>
            <ns1:ext cx="15259050" cy="685800"/>
          </ns1:xfrm>
          <ns1:prstGeom prst="rect">
            <ns1:avLst/>
          </ns1:prstGeom>
          <ns1:solidFill>
            <ns1:srgbClr val="E30606"/>
          </ns1:solidFill>
          <ns1:ln w="0">
            <ns1:noFill/>
          </ns1:ln>
        </ns0:spPr>
      </ns0:sp>
      <ns0:sp>
        <ns0:nvSpPr>
          <ns0:cNvPr id="121" name="trace:KPI:content.auto.105">
            <ns1:extLst>
              <ns1:ext uri="{FF2B5EF4-FFF2-40B4-BE49-F238E27FC236}">
                <ns2:creationId id="{79EC67FE-55EC-4E5C-B513-2E285F8A432E}"/>
              </ns1:ext>
            </ns1:extLst>
          </ns0:cNvPr>
          <ns0:cNvSpPr>
            <ns1:spLocks noGrp="1"/>
          </ns0:cNvSpPr>
          <ns0:nvPr/>
        </ns0:nvSpPr>
        <ns0:spPr>
          <ns1:xfrm>
            <ns1:off x="581025" y="7820025"/>
            <ns1:ext cx="57150" cy="400050"/>
          </ns1:xfrm>
          <ns1:prstGeom prst="rect">
            <ns1:avLst/>
          </ns1:prstGeom>
          <ns1:solidFill>
            <ns1:srgbClr val="FFFFFF"/>
          </ns1:solidFill>
          <ns1:ln w="0">
            <ns1:noFill/>
          </ns1:ln>
        </ns0:spPr>
      </ns0:sp>
      <ns0:sp>
        <ns0:nvSpPr>
          <ns0:cNvPr id="122" name="trace:KPI:content.auto.106">
            <ns1:extLst>
              <ns1:ext uri="{FF2B5EF4-FFF2-40B4-BE49-F238E27FC236}">
                <ns2:creationId id="{F6D0020F-5DC4-4F2C-B0FD-10A87A71F77D}"/>
              </ns1:ext>
            </ns1:extLst>
          </ns0:cNvPr>
          <ns0:cNvSpPr>
            <ns1:spLocks noGrp="1"/>
          </ns0:cNvSpPr>
          <ns0:nvPr/>
        </ns0:nvSpPr>
        <ns0:spPr>
          <ns1:xfrm>
            <ns1:off x="885825" y="7772400"/>
            <ns1:ext cx="180975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20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2025" b="1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判断基準</ns1:t>
            </ns1:r>
          </ns1:p>
        </ns0:txBody>
      </ns0:sp>
      <ns0:sp>
        <ns0:nvSpPr>
          <ns0:cNvPr id="123" name="trace:KPI:content.auto.107">
            <ns1:extLst>
              <ns1:ext uri="{FF2B5EF4-FFF2-40B4-BE49-F238E27FC236}">
                <ns2:creationId id="{7BBB1463-4534-4A9F-B7AF-C77BC237663D}"/>
              </ns1:ext>
            </ns1:extLst>
          </ns0:cNvPr>
          <ns0:cNvSpPr>
            <ns1:spLocks noGrp="1"/>
          </ns0:cNvSpPr>
          <ns0:nvPr/>
        </ns0:nvSpPr>
        <ns0:spPr>
          <ns1:xfrm>
            <ns1:off x="2895600" y="7820025"/>
            <ns1:ext cx="0" cy="400050"/>
          </ns1:xfrm>
          <ns1:prstGeom prst="line">
            <ns1:avLst/>
          </ns1:prstGeom>
          <ns1:noFill/>
          <ns1:ln w="19050">
            <ns1:solidFill>
              <ns1:srgbClr val="FFFFFF"/>
            </ns1:solidFill>
            <ns1:prstDash val="solid"/>
          </ns1:ln>
        </ns0:spPr>
      </ns0:sp>
      <ns0:sp>
        <ns0:nvSpPr>
          <ns0:cNvPr id="124" name="trace:KPI:content.auto.108">
            <ns1:extLst>
              <ns1:ext uri="{FF2B5EF4-FFF2-40B4-BE49-F238E27FC236}">
                <ns2:creationId id="{B4E30824-15A1-4D02-8EB6-25FF9F355A8D}"/>
              </ns1:ext>
            </ns1:extLst>
          </ns0:cNvPr>
          <ns0:cNvSpPr>
            <ns1:spLocks noGrp="1"/>
          </ns0:cNvSpPr>
          <ns0:nvPr/>
        </ns0:nvSpPr>
        <ns0:spPr>
          <ns1:xfrm>
            <ns1:off x="3705225" y="7772400"/>
            <ns1:ext cx="11430000" cy="4953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875" b="0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875" b="0">
                <ns1:solidFill>
                  <ns1:srgbClr val="FFFFFF"/>
                </ns1:solidFill>
                <ns1:latin typeface="Yu Gothic UI"/>
                <ns1:ea typeface="Yu Gothic UI"/>
                <ns1:cs typeface="Yu Gothic UI"/>
              </ns1:rPr>
              <ns1:t>KPIを定期的に確認し、効果が出ている施策へ投資を集中します。</ns1:t>
            </ns1:r>
          </ns1:p>
        </ns0:txBody>
      </ns0:sp>
      <ns0:sp>
        <ns0:nvSpPr>
          <ns0:cNvPr id="125" name="trace:KPI:content.auto.109">
            <ns1:extLst>
              <ns1:ext uri="{FF2B5EF4-FFF2-40B4-BE49-F238E27FC236}">
                <ns2:creationId id="{B329183C-084A-4A1F-8BB6-39F4F9206B9B}"/>
              </ns1:ext>
            </ns1:extLst>
          </ns0:cNvPr>
          <ns0:cNvSpPr>
            <ns1:spLocks noGrp="1"/>
          </ns0:cNvSpPr>
          <ns0:nvPr/>
        </ns0:nvSpPr>
        <ns0:spPr>
          <ns1:xfrm>
            <ns1:off x="342900" y="8534400"/>
            <ns1:ext cx="15259050" cy="0"/>
          </ns1:xfrm>
          <ns1:prstGeom prst="line">
            <ns1:avLst/>
          </ns1:prstGeom>
          <ns1:noFill/>
          <ns1:ln w="9525">
            <ns1:solidFill>
              <ns1:srgbClr val="D5D9DD"/>
            </ns1:solidFill>
            <ns1:prstDash val="solid"/>
          </ns1:ln>
        </ns0:spPr>
      </ns0:sp>
      <ns0:sp>
        <ns0:nvSpPr>
          <ns0:cNvPr id="126" name="trace:KPI:content.auto.110">
            <ns1:extLst>
              <ns1:ext uri="{FF2B5EF4-FFF2-40B4-BE49-F238E27FC236}">
                <ns2:creationId id="{06A287BD-234D-427D-862A-DE45F5F4EC56}"/>
              </ns1:ext>
            </ns1:extLst>
          </ns0:cNvPr>
          <ns0:cNvSpPr>
            <ns1:spLocks noGrp="1"/>
          </ns0:cNvSpPr>
          <ns0:nvPr/>
        </ns0:nvSpPr>
        <ns0:spPr>
          <ns1:xfrm>
            <ns1:off x="352425" y="8591550"/>
            <ns1:ext cx="28575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0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08</ns1:t>
            </ns1:r>
          </ns1:p>
        </ns0:txBody>
      </ns0:sp>
      <ns0:sp>
        <ns0:nvSpPr>
          <ns0:cNvPr id="127" name="trace:KPI:content.auto.111">
            <ns1:extLst>
              <ns1:ext uri="{FF2B5EF4-FFF2-40B4-BE49-F238E27FC236}">
                <ns2:creationId id="{1E52F81F-AB1E-4C31-A0EF-B851377CFD80}"/>
              </ns1:ext>
            </ns1:extLst>
          </ns0:cNvPr>
          <ns0:cNvSpPr>
            <ns1:spLocks noGrp="1"/>
          </ns0:cNvSpPr>
          <ns0:nvPr/>
        </ns0:nvSpPr>
        <ns0:spPr>
          <ns1:xfrm>
            <ns1:off x="733425" y="8591550"/>
            <ns1:ext cx="0" cy="209550"/>
          </ns1:xfrm>
          <ns1:prstGeom prst="line">
            <ns1:avLst/>
          </ns1:prstGeom>
          <ns1:noFill/>
          <ns1:ln w="9525">
            <ns1:solidFill>
              <ns1:srgbClr val="111111"/>
            </ns1:solidFill>
            <ns1:prstDash val="solid"/>
          </ns1:ln>
        </ns0:spPr>
      </ns0:sp>
      <ns0:sp>
        <ns0:nvSpPr>
          <ns0:cNvPr id="128" name="trace:KPI:footer.brand">
            <ns1:extLst>
              <ns1:ext uri="{FF2B5EF4-FFF2-40B4-BE49-F238E27FC236}">
                <ns2:creationId id="{EE77074F-55AD-4FD2-B278-88D2215BB273}"/>
              </ns1:ext>
            </ns1:extLst>
          </ns0:cNvPr>
          <ns0:cNvSpPr>
            <ns1:spLocks noGrp="1"/>
          </ns0:cNvSpPr>
          <ns0:nvPr/>
        </ns0:nvSpPr>
        <ns0:spPr>
          <ns1:xfrm>
            <ns1:off x="866775" y="8591550"/>
            <ns1:ext cx="1714500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l">
              <ns1:lnSpc>
                <ns1:spcPct val="100000"/>
              </ns1:lnSpc>
              <ns1:buNone/>
              <ns1:defRPr sz="10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0" b="1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提案クエスト</ns1:t>
            </ns1:r>
          </ns1:p>
        </ns0:txBody>
      </ns0:sp>
      <ns0:sp>
        <ns0:nvSpPr>
          <ns0:cNvPr id="129" name="trace:KPI:footer.brand.2">
            <ns1:extLst>
              <ns1:ext uri="{FF2B5EF4-FFF2-40B4-BE49-F238E27FC236}">
                <ns2:creationId id="{4D70853D-2D50-4E88-9924-201C89A54369}"/>
              </ns1:ext>
            </ns1:extLst>
          </ns0:cNvPr>
          <ns0:cNvSpPr>
            <ns1:spLocks noGrp="1"/>
          </ns0:cNvSpPr>
          <ns0:nvPr/>
        </ns0:nvSpPr>
        <ns0:spPr>
          <ns1:xfrm>
            <ns1:off x="12096750" y="8591550"/>
            <ns1:ext cx="3495675" cy="228600"/>
          </ns1:xfrm>
          <ns1:prstGeom prst="rect">
            <ns1:avLst/>
          </ns1:prstGeom>
          <ns1:noFill/>
          <ns1:ln w="0">
            <ns1:noFill/>
          </ns1:ln>
        </ns0:spPr>
        <ns0:txBody>
          <ns1:bodyPr wrap="square" lIns="0" tIns="0" rIns="0" bIns="0" anchor="ctr">
            <ns1:noAutofit/>
          </ns1:bodyPr>
          <ns1:lstStyle/>
          <ns1:p>
            <ns1:pPr algn="r">
              <ns1:lnSpc>
                <ns1:spcPct val="100000"/>
              </ns1:lnSpc>
              <ns1:buNone/>
              <ns1:defRPr sz="1050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defRPr>
            </ns1:pPr>
            <ns1:r>
              <ns1:rPr sz="1050" b="0">
                <ns1:solidFill>
                  <ns1:srgbClr val="111111"/>
                </ns1:solidFill>
                <ns1:latin typeface="Yu Gothic UI"/>
                <ns1:ea typeface="Yu Gothic UI"/>
                <ns1:cs typeface="Yu Gothic UI"/>
              </ns1:rPr>
              <ns1:t>© 2026 提案クエスト Inc. All Rights Reserved.</ns1:t>
            </ns1:r>
          </ns1:p>
        </ns0:txBody>
      </ns0:sp>
      <ns0:sp>
        <ns0:nvSpPr>
          <ns0:cNvPr id="132" name="trace:KPI:content.auto.112">
            <ns1:extLst>
              <ns1:ext uri="{FF2B5EF4-FFF2-40B4-BE49-F238E27FC236}">
                <ns2:creationId id="{6276F79E-59B0-4706-821A-1DA8C78A86C4}"/>
              </ns1:ext>
            </ns1:extLst>
          </ns0:cNvPr>
          <ns0:cNvSpPr>
            <ns1:spLocks noGrp="1"/>
          </ns0:cNvSpPr>
          <ns0:nvPr/>
        </ns0:nvSpPr>
        <ns0:spPr>
          <ns1:xfrm>
            <ns1:off x="732473" y="6669977"/>
            <ns1:ext cx="497205" cy="497205"/>
          </ns1:xfrm>
          <ns1:custGeom>
            <ns1:pathLst>
              <ns1:path w="497205" h="497205">
                <ns1:moveTo>
                  <ns1:pt x="64294" y="85725"/>
                </ns1:moveTo>
                <ns1:lnTo>
                  <ns1:pt x="42863" y="300038"/>
                </ns1:lnTo>
                <ns1:lnTo>
                  <ns1:pt x="182166" y="439341"/>
                </ns1:lnTo>
                <ns1:moveTo>
                  <ns1:pt x="64294" y="85725"/>
                </ns1:moveTo>
                <ns1:lnTo>
                  <ns1:pt x="235744" y="85725"/>
                </ns1:lnTo>
                <ns1:moveTo>
                  <ns1:pt x="450056" y="64294"/>
                </ns1:moveTo>
                <ns1:lnTo>
                  <ns1:pt x="471488" y="300038"/>
                </ns1:lnTo>
                <ns1:lnTo>
                  <ns1:pt x="428625" y="300038"/>
                </ns1:lnTo>
                <ns1:moveTo>
                  <ns1:pt x="450056" y="85725"/>
                </ns1:moveTo>
                <ns1:lnTo>
                  <ns1:pt x="396478" y="107156"/>
                </ns1:lnTo>
                <ns1:moveTo>
                  <ns1:pt x="235744" y="192881"/>
                </ns1:moveTo>
                <ns1:lnTo>
                  <ns1:pt x="214313" y="214313"/>
                </ns1:lnTo>
                <ns1:lnTo>
                  <ns1:pt x="150019" y="278606"/>
                </ns1:lnTo>
                <ns1:moveTo>
                  <ns1:pt x="278606" y="214313"/>
                </ns1:moveTo>
                <ns1:lnTo>
                  <ns1:pt x="342900" y="278606"/>
                </ns1:lnTo>
                <ns1:lnTo>
                  <ns1:pt x="417909" y="353616"/>
                </ns1:lnTo>
                <ns1:lnTo>
                  <ns1:pt x="375047" y="396478"/>
                </ns1:lnTo>
                <ns1:lnTo>
                  <ns1:pt x="300038" y="321469"/>
                </ns1:lnTo>
                <ns1:moveTo>
                  <ns1:pt x="300038" y="321469"/>
                </ns1:moveTo>
                <ns1:lnTo>
                  <ns1:pt x="257175" y="364331"/>
                </ns1:lnTo>
                <ns1:lnTo>
                  <ns1:pt x="321469" y="428625"/>
                </ns1:lnTo>
                <ns1:lnTo>
                  <ns1:pt x="375047" y="396478"/>
                </ns1:lnTo>
                <ns1:moveTo>
                  <ns1:pt x="235744" y="364331"/>
                </ns1:moveTo>
                <ns1:lnTo>
                  <ns1:pt x="278606" y="407194"/>
                </ns1:lnTo>
                <ns1:lnTo>
                  <ns1:pt x="321469" y="428625"/>
                </ns1:lnTo>
              </ns1:path>
            </ns1:pathLst>
          </ns1:custGeom>
          <ns1:noFill/>
          <ns1:ln w="28575">
            <ns1:solidFill>
              <ns1:srgbClr val="111111"/>
            </ns1:solidFill>
            <ns1:prstDash val="solid"/>
          </ns1:ln>
        </ns0:spPr>
      </ns0:sp>
    </ns0:spTree>
    <ns0:extLst>
      <ns0:ext uri="{BB962C8B-B14F-4D97-AF65-F5344CB8AC3E}">
        <ns3:creationId val="946926804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2026-09-17T22:55:40.2560000Z</dcterms:created>
  <dcterms:modified xsi:type="dcterms:W3CDTF">2026-09-17T22:55:40.2570000Z</dcterms:modified>
</coreProperties>
</file>