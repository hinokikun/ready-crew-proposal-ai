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1fd95a9964fdc" /><Relationship Type="http://schemas.openxmlformats.org/officeDocument/2006/relationships/extended-properties" Target="/docProps/app.xml" Id="Ra9f00f7a4d404df2" /><Relationship Type="http://schemas.openxmlformats.org/officeDocument/2006/relationships/officeDocument" Target="/ppt/presentation.xml" Id="R4a91d09efcd64a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d87b22c4194085"/>
  </p:sldMasterIdLst>
  <p:notesMasterIdLst>
    <p:notesMasterId xmlns:r="http://schemas.openxmlformats.org/officeDocument/2006/relationships" r:id="R46d3a47809734fc4"/>
  </p:notesMasterIdLst>
  <p:sldIdLst>
    <p:sldId xmlns:r="http://schemas.openxmlformats.org/officeDocument/2006/relationships" id="256" r:id="Rd3595b90c1204420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67be645aaf43ed" /><Relationship Type="http://schemas.openxmlformats.org/officeDocument/2006/relationships/slideMaster" Target="/ppt/slideMasters/slideMaster1.xml" Id="Rf3d87b22c4194085" /><Relationship Type="http://schemas.openxmlformats.org/officeDocument/2006/relationships/notesMaster" Target="/ppt/notesMasters/notesMaster1.xml" Id="R46d3a47809734fc4" /><Relationship Type="http://schemas.openxmlformats.org/officeDocument/2006/relationships/presProps" Target="/ppt/presProps.xml" Id="Re2ee38c6287e4508" /><Relationship Type="http://schemas.openxmlformats.org/officeDocument/2006/relationships/tableStyles" Target="/ppt/tableStyles.xml" Id="R041cc7f7ab7548ce" /><Relationship Type="http://schemas.openxmlformats.org/officeDocument/2006/relationships/slide" Target="/ppt/slides/slide1.xml" Id="Rd3595b90c12044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057a5a0a7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251bf1f6894f58" /><Relationship Type="http://schemas.openxmlformats.org/officeDocument/2006/relationships/notesMaster" Target="/ppt/notesMasters/notesMaster1.xml" Id="R1e4cfa42344147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8083f8f2d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a592cbc56425a" /><Relationship Type="http://schemas.openxmlformats.org/officeDocument/2006/relationships/slideLayout" Target="/ppt/slideLayouts/slideLayout1.xml" Id="R1b4d67f2508f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4d67f2508f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18292241d43fb" /><Relationship Type="http://schemas.openxmlformats.org/officeDocument/2006/relationships/notesSlide" Target="/ppt/notesSlides/notesSlide1.xml" Id="Reb923d5f429346a3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49" name="trace:S03:content.auto">
            <ns1:extLst>
              <ns1:ext uri="{FF2B5EF4-FFF2-40B4-BE49-F238E27FC236}">
                <ns2:creationId id="{D7BF7847-E088-4808-86D9-4BE88D59070C}"/>
              </ns1:ext>
            </ns1:extLst>
          </ns0:cNvPr>
          <ns0:cNvSpPr>
            <ns1:spLocks noGrp="1"/>
          </ns0:cNvSpPr>
          <ns0:nvPr/>
        </ns0:nvSpPr>
        <ns0:spPr>
          <ns1:xfrm>
            <ns1:off x="428625" y="266700"/>
            <ns1:ext cx="4000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1">
                <ns1:solidFill>
                  <ns1:srgbClr val="101820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820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2" name="trace:S03:content.auto.2">
            <ns1:extLst>
              <ns1:ext uri="{FF2B5EF4-FFF2-40B4-BE49-F238E27FC236}">
                <ns2:creationId id="{A57288D7-0B4D-4229-BEB1-6EDD7EF4202D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257175"/>
            <ns1:ext cx="1714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0">
                <ns1:solidFill>
                  <ns1:srgbClr val="101820"/>
                </ns1:solidFill>
                <ns1:latin typeface="Arial"/>
                <ns1:ea typeface="Arial"/>
                <ns1:cs typeface="Arial"/>
              </ns1:defRPr>
            </ns1:pPr>
            <ns1:r>
              <ns1:rPr sz="1575" b="0">
                <ns1:solidFill>
                  <ns1:srgbClr val="101820"/>
                </ns1:solidFill>
                <ns1:latin typeface="Arial"/>
                <ns1:ea typeface="Arial"/>
                <ns1:cs typeface="Arial"/>
              </ns1:rPr>
              <ns1:t>│</ns1:t>
            </ns1:r>
          </ns1:p>
        </ns0:txBody>
      </ns0:sp>
      <ns0:sp>
        <ns0:nvSpPr>
          <ns0:cNvPr id="3" name="trace:S03:content.auto.3">
            <ns1:extLst>
              <ns1:ext uri="{FF2B5EF4-FFF2-40B4-BE49-F238E27FC236}">
                <ns2:creationId id="{5AB738AD-43CB-44DF-A934-A1086CB82972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257175"/>
            <ns1:ext cx="10953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現状理解</ns1:t>
            </ns1:r>
          </ns1:p>
        </ns0:txBody>
      </ns0:sp>
      <ns0:sp>
        <ns0:nvSpPr>
          <ns0:cNvPr id="4" name="trace:S03:content.auto.4">
            <ns1:extLst>
              <ns1:ext uri="{FF2B5EF4-FFF2-40B4-BE49-F238E27FC236}">
                <ns2:creationId id="{3F180059-B8F6-4E96-85AC-419462B4BE73}"/>
              </ns1:ext>
            </ns1:extLst>
          </ns0:cNvPr>
          <ns0:cNvSpPr>
            <ns1:spLocks noGrp="1"/>
          </ns0:cNvSpPr>
          <ns0:nvPr/>
        </ns0:nvSpPr>
        <ns0:spPr>
          <ns1:xfrm>
            <ns1:off x="2076450" y="409575"/>
            <ns1:ext cx="12401550" cy="95"/>
          </ns1:xfrm>
          <ns1:custGeom>
            <ns1:pathLst>
              <ns1:path w="12401550" h="95">
                <ns1:moveTo>
                  <ns1:pt x="0" y="0"/>
                </ns1:moveTo>
                <ns1:lnTo>
                  <ns1:pt x="12401550" y="0"/>
                </ns1:lnTo>
              </ns1:path>
            </ns1:pathLst>
          </ns1:custGeom>
          <ns1:noFill/>
          <ns1:ln w="9525">
            <ns1:solidFill>
              <ns1:srgbClr val="33404A"/>
            </ns1:solidFill>
            <ns1:prstDash val="solid"/>
          </ns1:ln>
        </ns0:spPr>
      </ns0:sp>
      <ns0:sp>
        <ns0:nvSpPr>
          <ns0:cNvPr id="5" name="trace:S03:footer.date">
            <ns1:extLst>
              <ns1:ext uri="{FF2B5EF4-FFF2-40B4-BE49-F238E27FC236}">
                <ns2:creationId id="{877D5D87-4F64-4E9B-9E9B-90B27C9D744D}"/>
              </ns1:ext>
            </ns1:extLst>
          </ns0:cNvPr>
          <ns0:cNvSpPr>
            <ns1:spLocks noGrp="1"/>
          </ns0:cNvSpPr>
          <ns0:nvPr/>
        </ns0:nvSpPr>
        <ns0:spPr>
          <ns1:xfrm>
            <ns1:off x="14668500" y="266700"/>
            <ns1:ext cx="10001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buNone/>
              <ns1:defRPr sz="1350" b="0">
                <ns1:solidFill>
                  <ns1:srgbClr val="33404A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33404A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1" name="trace:S03:content.auto.5">
            <ns1:extLst>
              <ns1:ext uri="{FF2B5EF4-FFF2-40B4-BE49-F238E27FC236}">
                <ns2:creationId id="{2FFA3EB8-72C3-4638-8BB5-3B53F0C69B6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419350"/>
            <ns1:ext cx="457200" cy="476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2" name="trace:S03:title.primary">
            <ns1:extLst>
              <ns1:ext uri="{FF2B5EF4-FFF2-40B4-BE49-F238E27FC236}">
                <ns2:creationId id="{F690B7E4-0FD5-415D-B637-D1066C74F3D6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2352675"/>
            <ns1:ext cx="2667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現在の提案業務フロー</ns1:t>
            </ns1:r>
          </ns1:p>
        </ns0:txBody>
      </ns0:sp>
      <ns0:sp>
        <ns0:nvSpPr>
          <ns0:cNvPr id="13" name="trace:S03:content.auto.6">
            <ns1:extLst>
              <ns1:ext uri="{FF2B5EF4-FFF2-40B4-BE49-F238E27FC236}">
                <ns2:creationId id="{4AE77838-3A7B-4832-9664-5DD80D81D06B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800350"/>
            <ns1:ext cx="2476500" cy="1428750"/>
          </ns1:xfrm>
          <ns1:custGeom>
            <ns1:pathLst>
              <ns1:path w="2476500" h="1428750">
                <ns1:moveTo>
                  <ns1:pt x="0" y="0"/>
                </ns1:moveTo>
                <ns1:lnTo>
                  <ns1:pt x="2152650" y="0"/>
                </ns1:lnTo>
                <ns1:lnTo>
                  <ns1:pt x="2476500" y="714375"/>
                </ns1:lnTo>
                <ns1:lnTo>
                  <ns1:pt x="2152650" y="1428750"/>
                </ns1:lnTo>
                <ns1:lnTo>
                  <ns1:pt x="0" y="1428750"/>
                </ns1:lnTo>
                <ns1:lnTo>
                  <ns1:pt x="209550" y="714375"/>
                </ns1:lnTo>
                <ns1:close/>
              </ns1:path>
            </ns1:pathLst>
          </ns1:custGeom>
          <ns1:solidFill>
            <ns1:srgbClr val="F2F5F8"/>
          </ns1:solidFill>
          <ns1:ln w="0">
            <ns1:noFill/>
            <ns1:prstDash val="solid"/>
          </ns1:ln>
        </ns0:spPr>
      </ns0:sp>
      <ns0:sp>
        <ns0:nvSpPr>
          <ns0:cNvPr id="14" name="trace:S03:content.auto.7">
            <ns1:extLst>
              <ns1:ext uri="{FF2B5EF4-FFF2-40B4-BE49-F238E27FC236}">
                <ns2:creationId id="{298C123F-40AC-4926-8B2E-DB8F2F03FA7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914650"/>
            <ns1:ext cx="323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15" name="trace:S03:content.auto.8">
            <ns1:extLst>
              <ns1:ext uri="{FF2B5EF4-FFF2-40B4-BE49-F238E27FC236}">
                <ns2:creationId id="{02953586-DA88-4C98-8576-23F6DD4F29E3}"/>
              </ns1:ext>
            </ns1:extLst>
          </ns0:cNvPr>
          <ns0:cNvSpPr>
            <ns1:spLocks noGrp="1"/>
          </ns0:cNvSpPr>
          <ns0:nvPr/>
        </ns0:nvSpPr>
        <ns0:spPr>
          <ns1:xfrm>
            <ns1:off x="1533525" y="3040856"/>
            <ns1:ext cx="342900" cy="242888"/>
          </ns1:xfrm>
          <ns1:prstGeom prst="rect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6" name="trace:S03:content.auto.9">
            <ns1:extLst>
              <ns1:ext uri="{FF2B5EF4-FFF2-40B4-BE49-F238E27FC236}">
                <ns2:creationId id="{75588600-0FB6-4812-B3F2-71B132EE83B2}"/>
              </ns1:ext>
            </ns1:extLst>
          </ns0:cNvPr>
          <ns0:cNvSpPr>
            <ns1:spLocks noGrp="1"/>
          </ns0:cNvSpPr>
          <ns0:nvPr/>
        </ns0:nvSpPr>
        <ns0:spPr>
          <ns1:xfrm>
            <ns1:off x="1533525" y="3040856"/>
            <ns1:ext cx="171450" cy="157163"/>
          </ns1:xfrm>
          <ns1:custGeom>
            <ns1:pathLst>
              <ns1:path w="171450" h="157163">
                <ns1:moveTo>
                  <ns1:pt x="0" y="0"/>
                </ns1:moveTo>
                <ns1:lnTo>
                  <ns1:pt x="171450" y="157163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7" name="trace:S03:content.auto.10">
            <ns1:extLst>
              <ns1:ext uri="{FF2B5EF4-FFF2-40B4-BE49-F238E27FC236}">
                <ns2:creationId id="{B01B122A-AF61-4BBB-B2A1-ADF2598EC751}"/>
              </ns1:ext>
            </ns1:extLst>
          </ns0:cNvPr>
          <ns0:cNvSpPr>
            <ns1:spLocks noGrp="1"/>
          </ns0:cNvSpPr>
          <ns0:nvPr/>
        </ns0:nvSpPr>
        <ns0:spPr>
          <ns1:xfrm>
            <ns1:off x="1704975" y="3040856"/>
            <ns1:ext cx="171450" cy="157163"/>
          </ns1:xfrm>
          <ns1:custGeom>
            <ns1:pathLst>
              <ns1:path w="171450" h="157163">
                <ns1:moveTo>
                  <ns1:pt x="171450" y="0"/>
                </ns1:moveTo>
                <ns1:lnTo>
                  <ns1:pt x="0" y="157163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8" name="trace:S03:content.auto.11">
            <ns1:extLst>
              <ns1:ext uri="{FF2B5EF4-FFF2-40B4-BE49-F238E27FC236}">
                <ns2:creationId id="{4EB86062-A3E0-4F2F-BA20-A1E425C7FE9C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3600450"/>
            <ns1:ext cx="2000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案件受領</ns1:t>
            </ns1:r>
          </ns1:p>
        </ns0:txBody>
      </ns0:sp>
      <ns0:sp>
        <ns0:nvSpPr>
          <ns0:cNvPr id="19" name="trace:S03:lead">
            <ns1:extLst>
              <ns1:ext uri="{FF2B5EF4-FFF2-40B4-BE49-F238E27FC236}">
                <ns2:creationId id="{0C1730FB-0FEF-444C-813C-5B7F0C46A6E4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4210050"/>
            <ns1:ext cx="2266950" cy="628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営業からの依頼を受け、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提案の前提・要件を確認します。</ns1:t>
            </ns1:r>
          </ns1:p>
        </ns0:txBody>
      </ns0:sp>
      <ns0:sp>
        <ns0:nvSpPr>
          <ns0:cNvPr id="20" name="trace:S03:content.auto.12">
            <ns1:extLst>
              <ns1:ext uri="{FF2B5EF4-FFF2-40B4-BE49-F238E27FC236}">
                <ns2:creationId id="{2C1B0650-A563-42B7-AD84-81454A655236}"/>
              </ns1:ext>
            </ns1:extLst>
          </ns0:cNvPr>
          <ns0:cNvSpPr>
            <ns1:spLocks noGrp="1"/>
          </ns0:cNvSpPr>
          <ns0:nvPr/>
        </ns0:nvSpPr>
        <ns0:spPr>
          <ns1:xfrm>
            <ns1:off x="2876550" y="2800350"/>
            <ns1:ext cx="2476500" cy="1428750"/>
          </ns1:xfrm>
          <ns1:custGeom>
            <ns1:pathLst>
              <ns1:path w="2476500" h="1428750">
                <ns1:moveTo>
                  <ns1:pt x="0" y="0"/>
                </ns1:moveTo>
                <ns1:lnTo>
                  <ns1:pt x="2152650" y="0"/>
                </ns1:lnTo>
                <ns1:lnTo>
                  <ns1:pt x="2476500" y="714375"/>
                </ns1:lnTo>
                <ns1:lnTo>
                  <ns1:pt x="2152650" y="1428750"/>
                </ns1:lnTo>
                <ns1:lnTo>
                  <ns1:pt x="0" y="1428750"/>
                </ns1:lnTo>
                <ns1:lnTo>
                  <ns1:pt x="209550" y="714375"/>
                </ns1:lnTo>
                <ns1:close/>
              </ns1:path>
            </ns1:pathLst>
          </ns1:custGeom>
          <ns1:solidFill>
            <ns1:srgbClr val="F2F5F8"/>
          </ns1:solidFill>
          <ns1:ln w="0">
            <ns1:noFill/>
            <ns1:prstDash val="solid"/>
          </ns1:ln>
        </ns0:spPr>
      </ns0:sp>
      <ns0:sp>
        <ns0:nvSpPr>
          <ns0:cNvPr id="21" name="trace:S03:content.auto.13">
            <ns1:extLst>
              <ns1:ext uri="{FF2B5EF4-FFF2-40B4-BE49-F238E27FC236}">
                <ns2:creationId id="{0A01F5ED-E010-4773-9F5D-A6C86F991A5D}"/>
              </ns1:ext>
            </ns1:extLst>
          </ns0:cNvPr>
          <ns0:cNvSpPr>
            <ns1:spLocks noGrp="1"/>
          </ns0:cNvSpPr>
          <ns0:nvPr/>
        </ns0:nvSpPr>
        <ns0:spPr>
          <ns1:xfrm>
            <ns1:off x="3076575" y="2914650"/>
            <ns1:ext cx="323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22" name="trace:S03:content.auto.14">
            <ns1:extLst>
              <ns1:ext uri="{FF2B5EF4-FFF2-40B4-BE49-F238E27FC236}">
                <ns2:creationId id="{69A587C3-FA04-4A40-BCF2-5D2F2B2FB190}"/>
              </ns1:ext>
            </ns1:extLst>
          </ns0:cNvPr>
          <ns0:cNvSpPr>
            <ns1:spLocks noGrp="1"/>
          </ns0:cNvSpPr>
          <ns0:nvPr/>
        </ns0:nvSpPr>
        <ns0:spPr>
          <ns1:xfrm>
            <ns1:off x="3986213" y="2987278"/>
            <ns1:ext cx="257175" cy="350044"/>
          </ns1:xfrm>
          <ns1:prstGeom prst="rect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23" name="trace:S03:content.auto.15">
            <ns1:extLst>
              <ns1:ext uri="{FF2B5EF4-FFF2-40B4-BE49-F238E27FC236}">
                <ns2:creationId id="{C1483725-A071-4269-A9A6-C90DF733C534}"/>
              </ns1:ext>
            </ns1:extLst>
          </ns0:cNvPr>
          <ns0:cNvSpPr>
            <ns1:spLocks noGrp="1"/>
          </ns0:cNvSpPr>
          <ns0:nvPr/>
        </ns0:nvSpPr>
        <ns0:spPr>
          <ns1:xfrm>
            <ns1:off x="4143375" y="2987278"/>
            <ns1:ext cx="100013" cy="85725"/>
          </ns1:xfrm>
          <ns1:custGeom>
            <ns1:pathLst>
              <ns1:path w="100013" h="85725">
                <ns1:moveTo>
                  <ns1:pt x="0" y="0"/>
                </ns1:moveTo>
                <ns1:lnTo>
                  <ns1:pt x="100013" y="85725"/>
                </ns1:lnTo>
                <ns1:lnTo>
                  <ns1:pt x="0" y="85725"/>
                </ns1:lnTo>
                <ns1:close/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24" name="trace:S03:content.auto.16">
            <ns1:extLst>
              <ns1:ext uri="{FF2B5EF4-FFF2-40B4-BE49-F238E27FC236}">
                <ns2:creationId id="{2CEE8D4A-8C14-4AA9-8A04-6737D2EDA162}"/>
              </ns1:ext>
            </ns1:extLst>
          </ns0:cNvPr>
          <ns0:cNvSpPr>
            <ns1:spLocks noGrp="1"/>
          </ns0:cNvSpPr>
          <ns0:nvPr/>
        </ns0:nvSpPr>
        <ns0:spPr>
          <ns1:xfrm>
            <ns1:off x="4029075" y="3148013"/>
            <ns1:ext cx="171450" cy="95"/>
          </ns1:xfrm>
          <ns1:custGeom>
            <ns1:pathLst>
              <ns1:path w="171450" h="95">
                <ns1:moveTo>
                  <ns1:pt x="0" y="0"/>
                </ns1:moveTo>
                <ns1:lnTo>
                  <ns1:pt x="17145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25" name="trace:S03:content.auto.17">
            <ns1:extLst>
              <ns1:ext uri="{FF2B5EF4-FFF2-40B4-BE49-F238E27FC236}">
                <ns2:creationId id="{44EA588C-5CA0-4BF6-A5B0-2DC860D51CF5}"/>
              </ns1:ext>
            </ns1:extLst>
          </ns0:cNvPr>
          <ns0:cNvSpPr>
            <ns1:spLocks noGrp="1"/>
          </ns0:cNvSpPr>
          <ns0:nvPr/>
        </ns0:nvSpPr>
        <ns0:spPr>
          <ns1:xfrm>
            <ns1:off x="4029075" y="3226594"/>
            <ns1:ext cx="171450" cy="95"/>
          </ns1:xfrm>
          <ns1:custGeom>
            <ns1:pathLst>
              <ns1:path w="171450" h="95">
                <ns1:moveTo>
                  <ns1:pt x="0" y="0"/>
                </ns1:moveTo>
                <ns1:lnTo>
                  <ns1:pt x="17145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26" name="trace:S03:content.auto.18">
            <ns1:extLst>
              <ns1:ext uri="{FF2B5EF4-FFF2-40B4-BE49-F238E27FC236}">
                <ns2:creationId id="{E1FF87AC-98FB-4E0C-AA2B-7546A65C4EFB}"/>
              </ns1:ext>
            </ns1:extLst>
          </ns0:cNvPr>
          <ns0:cNvSpPr>
            <ns1:spLocks noGrp="1"/>
          </ns0:cNvSpPr>
          <ns0:nvPr/>
        </ns0:nvSpPr>
        <ns0:spPr>
          <ns1:xfrm>
            <ns1:off x="3105150" y="3600450"/>
            <ns1:ext cx="2000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情報整理</ns1:t>
            </ns1:r>
          </ns1:p>
        </ns0:txBody>
      </ns0:sp>
      <ns0:sp>
        <ns0:nvSpPr>
          <ns0:cNvPr id="27" name="trace:S03:lead.2">
            <ns1:extLst>
              <ns1:ext uri="{FF2B5EF4-FFF2-40B4-BE49-F238E27FC236}">
                <ns2:creationId id="{AE1EDB70-8C0A-4908-8D85-85624E1C0A22}"/>
              </ns1:ext>
            </ns1:extLst>
          </ns0:cNvPr>
          <ns0:cNvSpPr>
            <ns1:spLocks noGrp="1"/>
          </ns0:cNvSpPr>
          <ns0:nvPr/>
        </ns0:nvSpPr>
        <ns0:spPr>
          <ns1:xfrm>
            <ns1:off x="2990850" y="4210050"/>
            <ns1:ext cx="2266950" cy="628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過去提案・顧客情報・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市場情報などを収集し、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必要な情報を整理します。</ns1:t>
            </ns1:r>
          </ns1:p>
        </ns0:txBody>
      </ns0:sp>
      <ns0:sp>
        <ns0:nvSpPr>
          <ns0:cNvPr id="28" name="trace:S03:content.auto.19">
            <ns1:extLst>
              <ns1:ext uri="{FF2B5EF4-FFF2-40B4-BE49-F238E27FC236}">
                <ns2:creationId id="{1512F5EF-05D0-4E3B-B9E6-5746C37A937A}"/>
              </ns1:ext>
            </ns1:extLst>
          </ns0:cNvPr>
          <ns0:cNvSpPr>
            <ns1:spLocks noGrp="1"/>
          </ns0:cNvSpPr>
          <ns0:nvPr/>
        </ns0:nvSpPr>
        <ns0:spPr>
          <ns1:xfrm>
            <ns1:off x="5286375" y="2800350"/>
            <ns1:ext cx="2476500" cy="1428750"/>
          </ns1:xfrm>
          <ns1:custGeom>
            <ns1:pathLst>
              <ns1:path w="2476500" h="1428750">
                <ns1:moveTo>
                  <ns1:pt x="0" y="0"/>
                </ns1:moveTo>
                <ns1:lnTo>
                  <ns1:pt x="2152650" y="0"/>
                </ns1:lnTo>
                <ns1:lnTo>
                  <ns1:pt x="2476500" y="714375"/>
                </ns1:lnTo>
                <ns1:lnTo>
                  <ns1:pt x="2152650" y="1428750"/>
                </ns1:lnTo>
                <ns1:lnTo>
                  <ns1:pt x="0" y="1428750"/>
                </ns1:lnTo>
                <ns1:lnTo>
                  <ns1:pt x="209550" y="714375"/>
                </ns1:lnTo>
                <ns1:close/>
              </ns1:path>
            </ns1:pathLst>
          </ns1:custGeom>
          <ns1:solidFill>
            <ns1:srgbClr val="F2F5F8"/>
          </ns1:solidFill>
          <ns1:ln w="0">
            <ns1:noFill/>
            <ns1:prstDash val="solid"/>
          </ns1:ln>
        </ns0:spPr>
      </ns0:sp>
      <ns0:sp>
        <ns0:nvSpPr>
          <ns0:cNvPr id="29" name="trace:S03:content.auto.20">
            <ns1:extLst>
              <ns1:ext uri="{FF2B5EF4-FFF2-40B4-BE49-F238E27FC236}">
                <ns2:creationId id="{033BF8BF-51E3-458A-98A6-D1B393A1A44E}"/>
              </ns1:ext>
            </ns1:extLst>
          </ns0:cNvPr>
          <ns0:cNvSpPr>
            <ns1:spLocks noGrp="1"/>
          </ns0:cNvSpPr>
          <ns0:nvPr/>
        </ns0:nvSpPr>
        <ns0:spPr>
          <ns1:xfrm>
            <ns1:off x="5486400" y="2914650"/>
            <ns1:ext cx="323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30" name="trace:S03:content.auto.21">
            <ns1:extLst>
              <ns1:ext uri="{FF2B5EF4-FFF2-40B4-BE49-F238E27FC236}">
                <ns2:creationId id="{2828A037-9034-4336-8D4D-B66F705E6B61}"/>
              </ns1:ext>
            </ns1:extLst>
          </ns0:cNvPr>
          <ns0:cNvSpPr>
            <ns1:spLocks noGrp="1"/>
          </ns0:cNvSpPr>
          <ns0:nvPr/>
        </ns0:nvSpPr>
        <ns0:spPr>
          <ns1:xfrm>
            <ns1:off x="6353175" y="2990850"/>
            <ns1:ext cx="314325" cy="328613"/>
          </ns1:xfrm>
          <ns1:custGeom>
            <ns1:pathLst>
              <ns1:path w="314325" h="328613">
                <ns1:moveTo>
                  <ns1:pt x="0" y="328613"/>
                </ns1:moveTo>
                <ns1:lnTo>
                  <ns1:pt x="100013" y="0"/>
                </ns1:lnTo>
                <ns1:lnTo>
                  <ns1:pt x="314325" y="164306"/>
                </ns1:lnTo>
                <ns1:lnTo>
                  <ns1:pt x="207169" y="292894"/>
                </ns1:lnTo>
                <ns1:close/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31" name="trace:S03:content.auto.22">
            <ns1:extLst>
              <ns1:ext uri="{FF2B5EF4-FFF2-40B4-BE49-F238E27FC236}">
                <ns2:creationId id="{6B217E9A-A3AB-498C-8829-78F6109827D0}"/>
              </ns1:ext>
            </ns1:extLst>
          </ns0:cNvPr>
          <ns0:cNvSpPr>
            <ns1:spLocks noGrp="1"/>
          </ns0:cNvSpPr>
          <ns0:nvPr/>
        </ns0:nvSpPr>
        <ns0:spPr>
          <ns1:xfrm>
            <ns1:off x="6453188" y="2990850"/>
            <ns1:ext cx="107156" cy="100013"/>
          </ns1:xfrm>
          <ns1:custGeom>
            <ns1:pathLst>
              <ns1:path w="107156" h="100013">
                <ns1:moveTo>
                  <ns1:pt x="0" y="0"/>
                </ns1:moveTo>
                <ns1:lnTo>
                  <ns1:pt x="107156" y="100013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32" name="trace:S03:content.auto.23">
            <ns1:extLst>
              <ns1:ext uri="{FF2B5EF4-FFF2-40B4-BE49-F238E27FC236}">
                <ns2:creationId id="{F3D9359A-1B98-4EE7-B173-BC527030D0F1}"/>
              </ns1:ext>
            </ns1:extLst>
          </ns0:cNvPr>
          <ns0:cNvSpPr>
            <ns1:spLocks noGrp="1"/>
          </ns0:cNvSpPr>
          <ns0:nvPr/>
        </ns0:nvSpPr>
        <ns0:spPr>
          <ns1:xfrm>
            <ns1:off x="6381750" y="3355181"/>
            <ns1:ext cx="228600" cy="95"/>
          </ns1:xfrm>
          <ns1:custGeom>
            <ns1:pathLst>
              <ns1:path w="228600" h="95">
                <ns1:moveTo>
                  <ns1:pt x="0" y="0"/>
                </ns1:moveTo>
                <ns1:lnTo>
                  <ns1:pt x="22860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33" name="trace:S03:content.auto.24">
            <ns1:extLst>
              <ns1:ext uri="{FF2B5EF4-FFF2-40B4-BE49-F238E27FC236}">
                <ns2:creationId id="{0D26A68D-7D40-4F5E-B85F-854281B0BD09}"/>
              </ns1:ext>
            </ns1:extLst>
          </ns0:cNvPr>
          <ns0:cNvSpPr>
            <ns1:spLocks noGrp="1"/>
          </ns0:cNvSpPr>
          <ns0:nvPr/>
        </ns0:nvSpPr>
        <ns0:spPr>
          <ns1:xfrm>
            <ns1:off x="5514975" y="3600450"/>
            <ns1:ext cx="2000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提案作成</ns1:t>
            </ns1:r>
          </ns1:p>
        </ns0:txBody>
      </ns0:sp>
      <ns0:sp>
        <ns0:nvSpPr>
          <ns0:cNvPr id="34" name="trace:S03:lead.3">
            <ns1:extLst>
              <ns1:ext uri="{FF2B5EF4-FFF2-40B4-BE49-F238E27FC236}">
                <ns2:creationId id="{D92CB49A-B530-4CE7-A1B9-CEEBD27FDC99}"/>
              </ns1:ext>
            </ns1:extLst>
          </ns0:cNvPr>
          <ns0:cNvSpPr>
            <ns1:spLocks noGrp="1"/>
          </ns0:cNvSpPr>
          <ns0:nvPr/>
        </ns0:nvSpPr>
        <ns0:spPr>
          <ns1:xfrm>
            <ns1:off x="5400675" y="4210050"/>
            <ns1:ext cx="2266950" cy="628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構成検討・資料作成・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デザイン調整を行い、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提案書を作成します。</ns1:t>
            </ns1:r>
          </ns1:p>
        </ns0:txBody>
      </ns0:sp>
      <ns0:sp>
        <ns0:nvSpPr>
          <ns0:cNvPr id="35" name="trace:S03:content.auto.25">
            <ns1:extLst>
              <ns1:ext uri="{FF2B5EF4-FFF2-40B4-BE49-F238E27FC236}">
                <ns2:creationId id="{F3B9E2AA-3D71-4E08-9F40-528F003928F4}"/>
              </ns1:ext>
            </ns1:extLst>
          </ns0:cNvPr>
          <ns0:cNvSpPr>
            <ns1:spLocks noGrp="1"/>
          </ns0:cNvSpPr>
          <ns0:nvPr/>
        </ns0:nvSpPr>
        <ns0:spPr>
          <ns1:xfrm>
            <ns1:off x="7696200" y="2800350"/>
            <ns1:ext cx="2476500" cy="1428750"/>
          </ns1:xfrm>
          <ns1:custGeom>
            <ns1:pathLst>
              <ns1:path w="2476500" h="1428750">
                <ns1:moveTo>
                  <ns1:pt x="0" y="0"/>
                </ns1:moveTo>
                <ns1:lnTo>
                  <ns1:pt x="2152650" y="0"/>
                </ns1:lnTo>
                <ns1:lnTo>
                  <ns1:pt x="2476500" y="714375"/>
                </ns1:lnTo>
                <ns1:lnTo>
                  <ns1:pt x="2152650" y="1428750"/>
                </ns1:lnTo>
                <ns1:lnTo>
                  <ns1:pt x="0" y="1428750"/>
                </ns1:lnTo>
                <ns1:lnTo>
                  <ns1:pt x="209550" y="714375"/>
                </ns1:lnTo>
                <ns1:close/>
              </ns1:path>
            </ns1:pathLst>
          </ns1:custGeom>
          <ns1:solidFill>
            <ns1:srgbClr val="F2F5F8"/>
          </ns1:solidFill>
          <ns1:ln w="0">
            <ns1:noFill/>
            <ns1:prstDash val="solid"/>
          </ns1:ln>
        </ns0:spPr>
      </ns0:sp>
      <ns0:sp>
        <ns0:nvSpPr>
          <ns0:cNvPr id="36" name="trace:S03:content.auto.26">
            <ns1:extLst>
              <ns1:ext uri="{FF2B5EF4-FFF2-40B4-BE49-F238E27FC236}">
                <ns2:creationId id="{E512FDDD-1241-484C-B263-2B51F80A4405}"/>
              </ns1:ext>
            </ns1:extLst>
          </ns0:cNvPr>
          <ns0:cNvSpPr>
            <ns1:spLocks noGrp="1"/>
          </ns0:cNvSpPr>
          <ns0:nvPr/>
        </ns0:nvSpPr>
        <ns0:spPr>
          <ns1:xfrm>
            <ns1:off x="7896225" y="2914650"/>
            <ns1:ext cx="323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8795A5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37" name="trace:S03:content.auto.27">
            <ns1:extLst>
              <ns1:ext uri="{FF2B5EF4-FFF2-40B4-BE49-F238E27FC236}">
                <ns2:creationId id="{4CE588D4-8966-49C5-BDF4-713AAEC01DAC}"/>
              </ns1:ext>
            </ns1:extLst>
          </ns0:cNvPr>
          <ns0:cNvSpPr>
            <ns1:spLocks noGrp="1"/>
          </ns0:cNvSpPr>
          <ns0:nvPr/>
        </ns0:nvSpPr>
        <ns0:spPr>
          <ns1:xfrm>
            <ns1:off x="8734425" y="2976563"/>
            <ns1:ext cx="421481" cy="392906"/>
          </ns1:xfrm>
          <ns1:custGeom>
            <ns1:pathLst>
              <ns1:path w="421481" h="392906">
                <ns1:moveTo>
                  <ns1:pt x="0" y="157163"/>
                </ns1:moveTo>
                <ns1:lnTo>
                  <ns1:pt x="421481" y="0"/>
                </ns1:lnTo>
                <ns1:lnTo>
                  <ns1:pt x="257175" y="392906"/>
                </ns1:lnTo>
                <ns1:lnTo>
                  <ns1:pt x="192881" y="235744"/>
                </ns1:lnTo>
                <ns1:close/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38" name="trace:S03:content.auto.28">
            <ns1:extLst>
              <ns1:ext uri="{FF2B5EF4-FFF2-40B4-BE49-F238E27FC236}">
                <ns2:creationId id="{BB0233E8-933E-475A-B759-70BD172F50F6}"/>
              </ns1:ext>
            </ns1:extLst>
          </ns0:cNvPr>
          <ns0:cNvSpPr>
            <ns1:spLocks noGrp="1"/>
          </ns0:cNvSpPr>
          <ns0:nvPr/>
        </ns0:nvSpPr>
        <ns0:spPr>
          <ns1:xfrm>
            <ns1:off x="8927306" y="2976563"/>
            <ns1:ext cx="228600" cy="235744"/>
          </ns1:xfrm>
          <ns1:custGeom>
            <ns1:pathLst>
              <ns1:path w="228600" h="235744">
                <ns1:moveTo>
                  <ns1:pt x="0" y="235744"/>
                </ns1:moveTo>
                <ns1:lnTo>
                  <ns1:pt x="22860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39" name="trace:S03:title.primary.2">
            <ns1:extLst>
              <ns1:ext uri="{FF2B5EF4-FFF2-40B4-BE49-F238E27FC236}">
                <ns2:creationId id="{463ED5F7-7667-4302-92A7-E88456244330}"/>
              </ns1:ext>
            </ns1:extLst>
          </ns0:cNvPr>
          <ns0:cNvSpPr>
            <ns1:spLocks noGrp="1"/>
          </ns0:cNvSpPr>
          <ns0:nvPr/>
        </ns0:nvSpPr>
        <ns0:spPr>
          <ns1:xfrm>
            <ns1:off x="7924800" y="3600450"/>
            <ns1:ext cx="2000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提出・振り返り</ns1:t>
            </ns1:r>
          </ns1:p>
        </ns0:txBody>
      </ns0:sp>
      <ns0:sp>
        <ns0:nvSpPr>
          <ns0:cNvPr id="40" name="trace:S03:lead.4">
            <ns1:extLst>
              <ns1:ext uri="{FF2B5EF4-FFF2-40B4-BE49-F238E27FC236}">
                <ns2:creationId id="{EC3AF015-4AE5-487C-85CD-5073DD877543}"/>
              </ns1:ext>
            </ns1:extLst>
          </ns0:cNvPr>
          <ns0:cNvSpPr>
            <ns1:spLocks noGrp="1"/>
          </ns0:cNvSpPr>
          <ns0:nvPr/>
        </ns0:nvSpPr>
        <ns0:spPr>
          <ns1:xfrm>
            <ns1:off x="7810500" y="4210050"/>
            <ns1:ext cx="2266950" cy="628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顧客へ提出し、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フィードバックを受けて</ns1:t>
            </ns1:r>
          </ns1:p>
          <ns1:p>
            <ns1:pPr algn="ctr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次回に向けた改善を行います。</ns1:t>
            </ns1:r>
          </ns1:p>
        </ns0:txBody>
      </ns0:sp>
      <ns0:sp>
        <ns0:nvSpPr>
          <ns0:cNvPr id="41" name="trace:S03:content.auto.29">
            <ns1:extLst>
              <ns1:ext uri="{FF2B5EF4-FFF2-40B4-BE49-F238E27FC236}">
                <ns2:creationId id="{078B660B-3DE9-4610-945D-56B54E6B8428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4762500"/>
            <ns1:ext cx="9715500" cy="952500"/>
          </ns1:xfrm>
          <ns1:custGeom>
            <ns1:pathLst>
              <ns1:path w="9715500" h="952500">
                <ns1:moveTo>
                  <ns1:pt x="0" y="695325"/>
                </ns1:moveTo>
                <ns1:lnTo>
                  <ns1:pt x="4857750" y="0"/>
                </ns1:lnTo>
                <ns1:lnTo>
                  <ns1:pt x="9715500" y="695325"/>
                </ns1:lnTo>
                <ns1:lnTo>
                  <ns1:pt x="9715500" y="952500"/>
                </ns1:lnTo>
                <ns1:lnTo>
                  <ns1:pt x="0" y="952500"/>
                </ns1:lnTo>
                <ns1:close/>
              </ns1:path>
            </ns1:pathLst>
          </ns1:custGeom>
          <ns1:solidFill>
            <ns1:srgbClr val="FDEBEC"/>
          </ns1:solidFill>
          <ns1:ln w="0">
            <ns1:noFill/>
            <ns1:prstDash val="solid"/>
          </ns1:ln>
        </ns0:spPr>
      </ns0:sp>
      <ns0:sp>
        <ns0:nvSpPr>
          <ns0:cNvPr id="42" name="trace:S03:content.auto.30">
            <ns1:extLst>
              <ns1:ext uri="{FF2B5EF4-FFF2-40B4-BE49-F238E27FC236}">
                <ns2:creationId id="{68BABE96-2B04-4642-A96D-21A6E1279C88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5133975"/>
            <ns1:ext cx="5334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各プロセスにおいて、以下の課題が顕在化</ns1:t>
            </ns1:r>
          </ns1:p>
        </ns0:txBody>
      </ns0:sp>
      <ns0:sp>
        <ns0:nvSpPr>
          <ns0:cNvPr id="43" name="trace:S03:content.auto.31">
            <ns1:extLst>
              <ns1:ext uri="{FF2B5EF4-FFF2-40B4-BE49-F238E27FC236}">
                <ns2:creationId id="{51622576-BD48-4F20-A47B-E183BC809BD3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5543550"/>
            <ns1:ext cx="3009900" cy="1695450"/>
          </ns1:xfrm>
          <ns1:prstGeom prst="rect">
            <ns1:avLst/>
          </ns1:prstGeom>
          <ns1:solidFill>
            <ns1:srgbClr val="FDEBEC"/>
          </ns1:solidFill>
          <ns1:ln w="0">
            <ns1:noFill/>
            <ns1:prstDash val="solid"/>
          </ns1:ln>
        </ns0:spPr>
      </ns0:sp>
      <ns0:sp>
        <ns0:nvSpPr>
          <ns0:cNvPr id="44" name="trace:S03:content.auto.32">
            <ns1:extLst>
              <ns1:ext uri="{FF2B5EF4-FFF2-40B4-BE49-F238E27FC236}">
                <ns2:creationId id="{08EF0F0C-8A5A-4EFC-A9AB-BA408DFD6C9B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5734050"/>
            <ns1:ext cx="895350" cy="89535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45" name="trace:S03:content.auto.33">
            <ns1:extLst>
              <ns1:ext uri="{FF2B5EF4-FFF2-40B4-BE49-F238E27FC236}">
                <ns2:creationId id="{6C66DD62-E3AC-445C-A73B-CF817FAE466E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5981700"/>
            <ns1:ext cx="171450" cy="17145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46" name="trace:S03:content.auto.34">
            <ns1:extLst>
              <ns1:ext uri="{FF2B5EF4-FFF2-40B4-BE49-F238E27FC236}">
                <ns2:creationId id="{E59006DF-2AF6-49DD-96CB-A2AA12FA7868}"/>
              </ns1:ext>
            </ns1:extLst>
          </ns0:cNvPr>
          <ns0:cNvSpPr>
            <ns1:spLocks noGrp="1"/>
          </ns0:cNvSpPr>
          <ns0:nvPr/>
        </ns0:nvSpPr>
        <ns0:spPr>
          <ns1:xfrm>
            <ns1:off x="785813" y="6053138"/>
            <ns1:ext cx="114300" cy="11430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47" name="trace:S03:content.auto.35">
            <ns1:extLst>
              <ns1:ext uri="{FF2B5EF4-FFF2-40B4-BE49-F238E27FC236}">
                <ns2:creationId id="{CB416E52-65E7-4263-B5AC-288BA1C8DD37}"/>
              </ns1:ext>
            </ns1:extLst>
          </ns0:cNvPr>
          <ns0:cNvSpPr>
            <ns1:spLocks noGrp="1"/>
          </ns0:cNvSpPr>
          <ns0:nvPr/>
        </ns0:nvSpPr>
        <ns0:spPr>
          <ns1:xfrm>
            <ns1:off x="1271588" y="6053138"/>
            <ns1:ext cx="114300" cy="114300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48" name="trace:S03:content.auto.36">
            <ns1:extLst>
              <ns1:ext uri="{FF2B5EF4-FFF2-40B4-BE49-F238E27FC236}">
                <ns2:creationId id="{F8CE0562-D9DC-4C65-A81E-70DE65C23EE8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196013"/>
            <ns1:ext cx="95" cy="185738"/>
          </ns1:xfrm>
          <ns1:custGeom>
            <ns1:pathLst>
              <ns1:path w="95" h="185738">
                <ns1:moveTo>
                  <ns1:pt x="0" y="0"/>
                </ns1:moveTo>
                <ns1:lnTo>
                  <ns1:pt x="0" y="185738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49" name="trace:S03:content.auto.37">
            <ns1:extLst>
              <ns1:ext uri="{FF2B5EF4-FFF2-40B4-BE49-F238E27FC236}">
                <ns2:creationId id="{417CA835-78F6-42DB-B2F6-1F635A1DF704}"/>
              </ns1:ext>
            </ns1:extLst>
          </ns0:cNvPr>
          <ns0:cNvSpPr>
            <ns1:spLocks noGrp="1"/>
          </ns0:cNvSpPr>
          <ns0:nvPr/>
        </ns0:nvSpPr>
        <ns0:spPr>
          <ns1:xfrm>
            <ns1:off x="850106" y="6224588"/>
            <ns1:ext cx="150019" cy="142875"/>
          </ns1:xfrm>
          <ns1:custGeom>
            <ns1:pathLst>
              <ns1:path w="150019" h="142875">
                <ns1:moveTo>
                  <ns1:pt x="150019" y="0"/>
                </ns1:moveTo>
                <ns1:lnTo>
                  <ns1:pt x="0" y="142875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0" name="trace:S03:content.auto.38">
            <ns1:extLst>
              <ns1:ext uri="{FF2B5EF4-FFF2-40B4-BE49-F238E27FC236}">
                <ns2:creationId id="{3E7759A1-A879-4631-A6BF-B432DD64BAD2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" y="6224588"/>
            <ns1:ext cx="157163" cy="142875"/>
          </ns1:xfrm>
          <ns1:custGeom>
            <ns1:pathLst>
              <ns1:path w="157163" h="142875">
                <ns1:moveTo>
                  <ns1:pt x="0" y="0"/>
                </ns1:moveTo>
                <ns1:lnTo>
                  <ns1:pt x="157163" y="142875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1" name="trace:S03:content.auto.39">
            <ns1:extLst>
              <ns1:ext uri="{FF2B5EF4-FFF2-40B4-BE49-F238E27FC236}">
                <ns2:creationId id="{9B013EF0-895F-402D-87AB-A95EE3229BA4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6367463"/>
            <ns1:ext cx="57150" cy="64294"/>
          </ns1:xfrm>
          <ns1:custGeom>
            <ns1:pathLst>
              <ns1:path w="57150" h="64294">
                <ns1:moveTo>
                  <ns1:pt x="57150" y="0"/>
                </ns1:moveTo>
                <ns1:lnTo>
                  <ns1:pt x="0" y="64294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2" name="trace:S03:content.auto.40">
            <ns1:extLst>
              <ns1:ext uri="{FF2B5EF4-FFF2-40B4-BE49-F238E27FC236}">
                <ns2:creationId id="{4600F0D8-F0ED-4462-A7D9-96C5BC0A082A}"/>
              </ns1:ext>
            </ns1:extLst>
          </ns0:cNvPr>
          <ns0:cNvSpPr>
            <ns1:spLocks noGrp="1"/>
          </ns0:cNvSpPr>
          <ns0:nvPr/>
        </ns0:nvSpPr>
        <ns0:spPr>
          <ns1:xfrm>
            <ns1:off x="1157288" y="6367463"/>
            <ns1:ext cx="71438" cy="64294"/>
          </ns1:xfrm>
          <ns1:custGeom>
            <ns1:pathLst>
              <ns1:path w="71438" h="64294">
                <ns1:moveTo>
                  <ns1:pt x="0" y="0"/>
                </ns1:moveTo>
                <ns1:lnTo>
                  <ns1:pt x="71438" y="64294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3" name="trace:S03:content.auto.41">
            <ns1:extLst>
              <ns1:ext uri="{FF2B5EF4-FFF2-40B4-BE49-F238E27FC236}">
                <ns2:creationId id="{5FE95C55-8A0A-4390-A538-4B4CADCB071F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5895975"/>
            <ns1:ext cx="1524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02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属人化</ns1:t>
            </ns1:r>
          </ns1:p>
        </ns0:txBody>
      </ns0:sp>
      <ns0:sp>
        <ns0:nvSpPr>
          <ns0:cNvPr id="54" name="trace:S03:content.auto.42">
            <ns1:extLst>
              <ns1:ext uri="{FF2B5EF4-FFF2-40B4-BE49-F238E27FC236}">
                <ns2:creationId id="{CAC02EE7-EEC0-4F8F-BD89-647D239D1994}"/>
              </ns1:ext>
            </ns1:extLst>
          </ns0:cNvPr>
          <ns0:cNvSpPr>
            <ns1:spLocks noGrp="1"/>
          </ns0:cNvSpPr>
          <ns0:nvPr/>
        </ns0:nvSpPr>
        <ns0:spPr>
          <ns1:xfrm>
            <ns1:off x="1724025" y="6343650"/>
            <ns1:ext cx="165735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ノウハウや良い提案が</ns1:t>
            </ns1:r>
          </ns1:p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特定のメンバーに依存し、</ns1:t>
            </ns1:r>
          </ns1:p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組織として蓄積されない。</ns1:t>
            </ns1:r>
          </ns1:p>
        </ns0:txBody>
      </ns0:sp>
      <ns0:sp>
        <ns0:nvSpPr>
          <ns0:cNvPr id="55" name="trace:S03:content.auto.43">
            <ns1:extLst>
              <ns1:ext uri="{FF2B5EF4-FFF2-40B4-BE49-F238E27FC236}">
                <ns2:creationId id="{DAE5A368-4DDA-4259-A491-46DD9CF021BF}"/>
              </ns1:ext>
            </ns1:extLst>
          </ns0:cNvPr>
          <ns0:cNvSpPr>
            <ns1:spLocks noGrp="1"/>
          </ns0:cNvSpPr>
          <ns0:nvPr/>
        </ns0:nvSpPr>
        <ns0:spPr>
          <ns1:xfrm>
            <ns1:off x="3876675" y="5543550"/>
            <ns1:ext cx="3009900" cy="1695450"/>
          </ns1:xfrm>
          <ns1:prstGeom prst="rect">
            <ns1:avLst/>
          </ns1:prstGeom>
          <ns1:solidFill>
            <ns1:srgbClr val="FDEBEC"/>
          </ns1:solidFill>
          <ns1:ln w="0">
            <ns1:noFill/>
            <ns1:prstDash val="solid"/>
          </ns1:ln>
        </ns0:spPr>
      </ns0:sp>
      <ns0:sp>
        <ns0:nvSpPr>
          <ns0:cNvPr id="56" name="trace:S03:content.auto.44">
            <ns1:extLst>
              <ns1:ext uri="{FF2B5EF4-FFF2-40B4-BE49-F238E27FC236}">
                <ns2:creationId id="{2641E51C-FD75-4CF6-AD31-AE935004B92C}"/>
              </ns1:ext>
            </ns1:extLst>
          </ns0:cNvPr>
          <ns0:cNvSpPr>
            <ns1:spLocks noGrp="1"/>
          </ns0:cNvSpPr>
          <ns0:nvPr/>
        </ns0:nvSpPr>
        <ns0:spPr>
          <ns1:xfrm>
            <ns1:off x="4048125" y="5734050"/>
            <ns1:ext cx="895350" cy="89535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57" name="trace:S03:content.auto.45">
            <ns1:extLst>
              <ns1:ext uri="{FF2B5EF4-FFF2-40B4-BE49-F238E27FC236}">
                <ns2:creationId id="{20DD82F1-47F9-4A3C-8C6B-26698C2D5627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5967413"/>
            <ns1:ext cx="342900" cy="128588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8" name="trace:S03:content.auto.46">
            <ns1:extLst>
              <ns1:ext uri="{FF2B5EF4-FFF2-40B4-BE49-F238E27FC236}">
                <ns2:creationId id="{5B56ACBF-640A-4B60-9DF7-E435FA018543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6031706"/>
            <ns1:ext cx="342900" cy="300038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59" name="trace:S03:content.auto.47">
            <ns1:extLst>
              <ns1:ext uri="{FF2B5EF4-FFF2-40B4-BE49-F238E27FC236}">
                <ns2:creationId id="{743F8730-7559-4689-942A-D768264056FF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6267450"/>
            <ns1:ext cx="342900" cy="128588"/>
          </ns1:xfrm>
          <ns1:prstGeom prst="ellipse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0" name="trace:S03:content.auto.48">
            <ns1:extLst>
              <ns1:ext uri="{FF2B5EF4-FFF2-40B4-BE49-F238E27FC236}">
                <ns2:creationId id="{461CFDDD-5428-40ED-A9F5-FB8137CD84CC}"/>
              </ns1:ext>
            </ns1:extLst>
          </ns0:cNvPr>
          <ns0:cNvSpPr>
            <ns1:spLocks noGrp="1"/>
          </ns0:cNvSpPr>
          <ns0:nvPr/>
        </ns0:nvSpPr>
        <ns0:spPr>
          <ns1:xfrm>
            <ns1:off x="4324350" y="6031706"/>
            <ns1:ext cx="95" cy="300038"/>
          </ns1:xfrm>
          <ns1:custGeom>
            <ns1:pathLst>
              <ns1:path w="95" h="300038">
                <ns1:moveTo>
                  <ns1:pt x="0" y="0"/>
                </ns1:moveTo>
                <ns1:lnTo>
                  <ns1:pt x="0" y="300038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1" name="trace:S03:content.auto.49">
            <ns1:extLst>
              <ns1:ext uri="{FF2B5EF4-FFF2-40B4-BE49-F238E27FC236}">
                <ns2:creationId id="{A305E225-79AB-4C96-B44E-3CB5556699B9}"/>
              </ns1:ext>
            </ns1:extLst>
          </ns0:cNvPr>
          <ns0:cNvSpPr>
            <ns1:spLocks noGrp="1"/>
          </ns0:cNvSpPr>
          <ns0:nvPr/>
        </ns0:nvSpPr>
        <ns0:spPr>
          <ns1:xfrm>
            <ns1:off x="4667250" y="6031706"/>
            <ns1:ext cx="95" cy="300038"/>
          </ns1:xfrm>
          <ns1:custGeom>
            <ns1:pathLst>
              <ns1:path w="95" h="300038">
                <ns1:moveTo>
                  <ns1:pt x="0" y="0"/>
                </ns1:moveTo>
                <ns1:lnTo>
                  <ns1:pt x="0" y="300038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2" name="trace:S03:content.auto.50">
            <ns1:extLst>
              <ns1:ext uri="{FF2B5EF4-FFF2-40B4-BE49-F238E27FC236}">
                <ns2:creationId id="{359244E8-6D19-4D64-BE9E-ED24B9FBF316}"/>
              </ns1:ext>
            </ns1:extLst>
          </ns0:cNvPr>
          <ns0:cNvSpPr>
            <ns1:spLocks noGrp="1"/>
          </ns0:cNvSpPr>
          <ns0:nvPr/>
        </ns0:nvSpPr>
        <ns0:spPr>
          <ns1:xfrm>
            <ns1:off x="5133975" y="5895975"/>
            <ns1:ext cx="1524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02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情報分散</ns1:t>
            </ns1:r>
          </ns1:p>
        </ns0:txBody>
      </ns0:sp>
      <ns0:sp>
        <ns0:nvSpPr>
          <ns0:cNvPr id="63" name="trace:S03:content.auto.51">
            <ns1:extLst>
              <ns1:ext uri="{FF2B5EF4-FFF2-40B4-BE49-F238E27FC236}">
                <ns2:creationId id="{4C131D61-AC88-45D6-A308-BFF8760933B1}"/>
              </ns1:ext>
            </ns1:extLst>
          </ns0:cNvPr>
          <ns0:cNvSpPr>
            <ns1:spLocks noGrp="1"/>
          </ns0:cNvSpPr>
          <ns0:nvPr/>
        </ns0:nvSpPr>
        <ns0:spPr>
          <ns1:xfrm>
            <ns1:off x="5133975" y="6343650"/>
            <ns1:ext cx="165735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提案に必要な情報が</ns1:t>
            </ns1:r>
          </ns1:p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社内の様々な場所に分散し、</ns1:t>
            </ns1:r>
          </ns1:p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探す・集める工数が発生。</ns1:t>
            </ns1:r>
          </ns1:p>
        </ns0:txBody>
      </ns0:sp>
      <ns0:sp>
        <ns0:nvSpPr>
          <ns0:cNvPr id="64" name="trace:S03:content.auto.52">
            <ns1:extLst>
              <ns1:ext uri="{FF2B5EF4-FFF2-40B4-BE49-F238E27FC236}">
                <ns2:creationId id="{974F5640-AD25-4EE9-B536-F6E484C48D84}"/>
              </ns1:ext>
            </ns1:extLst>
          </ns0:cNvPr>
          <ns0:cNvSpPr>
            <ns1:spLocks noGrp="1"/>
          </ns0:cNvSpPr>
          <ns0:nvPr/>
        </ns0:nvSpPr>
        <ns0:spPr>
          <ns1:xfrm>
            <ns1:off x="7210425" y="5543550"/>
            <ns1:ext cx="3009900" cy="1695450"/>
          </ns1:xfrm>
          <ns1:prstGeom prst="rect">
            <ns1:avLst/>
          </ns1:prstGeom>
          <ns1:solidFill>
            <ns1:srgbClr val="FDEBEC"/>
          </ns1:solidFill>
          <ns1:ln w="0">
            <ns1:noFill/>
            <ns1:prstDash val="solid"/>
          </ns1:ln>
        </ns0:spPr>
      </ns0:sp>
      <ns0:sp>
        <ns0:nvSpPr>
          <ns0:cNvPr id="65" name="trace:S03:content.auto.53">
            <ns1:extLst>
              <ns1:ext uri="{FF2B5EF4-FFF2-40B4-BE49-F238E27FC236}">
                <ns2:creationId id="{8D0F9BDE-F91E-40C5-98FA-D142C4AB1945}"/>
              </ns1:ext>
            </ns1:extLst>
          </ns0:cNvPr>
          <ns0:cNvSpPr>
            <ns1:spLocks noGrp="1"/>
          </ns0:cNvSpPr>
          <ns0:nvPr/>
        </ns0:nvSpPr>
        <ns0:spPr>
          <ns1:xfrm>
            <ns1:off x="7381875" y="5734050"/>
            <ns1:ext cx="895350" cy="89535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66" name="trace:S03:content.auto.54">
            <ns1:extLst>
              <ns1:ext uri="{FF2B5EF4-FFF2-40B4-BE49-F238E27FC236}">
                <ns2:creationId id="{C5022C94-03CC-4142-8ED4-53863BBB92F6}"/>
              </ns1:ext>
            </ns1:extLst>
          </ns0:cNvPr>
          <ns0:cNvSpPr>
            <ns1:spLocks noGrp="1"/>
          </ns0:cNvSpPr>
          <ns0:nvPr/>
        </ns0:nvSpPr>
        <ns0:spPr>
          <ns1:xfrm>
            <ns1:off x="7700963" y="6006703"/>
            <ns1:ext cx="257175" cy="350044"/>
          </ns1:xfrm>
          <ns1:prstGeom prst="rect">
            <ns1:avLst/>
          </ns1:pr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7" name="trace:S03:content.auto.55">
            <ns1:extLst>
              <ns1:ext uri="{FF2B5EF4-FFF2-40B4-BE49-F238E27FC236}">
                <ns2:creationId id="{27CDB892-41E9-44B1-9392-0AA952340155}"/>
              </ns1:ext>
            </ns1:extLst>
          </ns0:cNvPr>
          <ns0:cNvSpPr>
            <ns1:spLocks noGrp="1"/>
          </ns0:cNvSpPr>
          <ns0:nvPr/>
        </ns0:nvSpPr>
        <ns0:spPr>
          <ns1:xfrm>
            <ns1:off x="7858125" y="6006703"/>
            <ns1:ext cx="100013" cy="85725"/>
          </ns1:xfrm>
          <ns1:custGeom>
            <ns1:pathLst>
              <ns1:path w="100013" h="85725">
                <ns1:moveTo>
                  <ns1:pt x="0" y="0"/>
                </ns1:moveTo>
                <ns1:lnTo>
                  <ns1:pt x="100013" y="85725"/>
                </ns1:lnTo>
                <ns1:lnTo>
                  <ns1:pt x="0" y="85725"/>
                </ns1:lnTo>
                <ns1:close/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8" name="trace:S03:content.auto.56">
            <ns1:extLst>
              <ns1:ext uri="{FF2B5EF4-FFF2-40B4-BE49-F238E27FC236}">
                <ns2:creationId id="{20C4A0CF-7E8B-454F-A1E5-808EBA8D9B52}"/>
              </ns1:ext>
            </ns1:extLst>
          </ns0:cNvPr>
          <ns0:cNvSpPr>
            <ns1:spLocks noGrp="1"/>
          </ns0:cNvSpPr>
          <ns0:nvPr/>
        </ns0:nvSpPr>
        <ns0:spPr>
          <ns1:xfrm>
            <ns1:off x="7743825" y="6167438"/>
            <ns1:ext cx="171450" cy="95"/>
          </ns1:xfrm>
          <ns1:custGeom>
            <ns1:pathLst>
              <ns1:path w="171450" h="95">
                <ns1:moveTo>
                  <ns1:pt x="0" y="0"/>
                </ns1:moveTo>
                <ns1:lnTo>
                  <ns1:pt x="171450" y="0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69" name="trace:S03:content.auto.57">
            <ns1:extLst>
              <ns1:ext uri="{FF2B5EF4-FFF2-40B4-BE49-F238E27FC236}">
                <ns2:creationId id="{1D467791-EBD8-4B4E-A709-6F5418BE9ECD}"/>
              </ns1:ext>
            </ns1:extLst>
          </ns0:cNvPr>
          <ns0:cNvSpPr>
            <ns1:spLocks noGrp="1"/>
          </ns0:cNvSpPr>
          <ns0:nvPr/>
        </ns0:nvSpPr>
        <ns0:spPr>
          <ns1:xfrm>
            <ns1:off x="7743825" y="6246019"/>
            <ns1:ext cx="171450" cy="95"/>
          </ns1:xfrm>
          <ns1:custGeom>
            <ns1:pathLst>
              <ns1:path w="171450" h="95">
                <ns1:moveTo>
                  <ns1:pt x="0" y="0"/>
                </ns1:moveTo>
                <ns1:lnTo>
                  <ns1:pt x="171450" y="0"/>
                </ns1:lnTo>
              </ns1:path>
            </ns1:pathLst>
          </ns1:custGeom>
          <ns1:noFill/>
          <ns1:ln w="28575">
            <ns1:solidFill>
              <ns1:srgbClr val="FFFFFF"/>
            </ns1:solidFill>
            <ns1:prstDash val="solid"/>
          </ns1:ln>
        </ns0:spPr>
      </ns0:sp>
      <ns0:sp>
        <ns0:nvSpPr>
          <ns0:cNvPr id="70" name="trace:S03:content.auto.58">
            <ns1:extLst>
              <ns1:ext uri="{FF2B5EF4-FFF2-40B4-BE49-F238E27FC236}">
                <ns2:creationId id="{06DF2C8C-F726-47D2-9BAB-11E781341359}"/>
              </ns1:ext>
            </ns1:extLst>
          </ns0:cNvPr>
          <ns0:cNvSpPr>
            <ns1:spLocks noGrp="1"/>
          </ns0:cNvSpPr>
          <ns0:nvPr/>
        </ns0:nvSpPr>
        <ns0:spPr>
          <ns1:xfrm>
            <ns1:off x="8467725" y="5895975"/>
            <ns1:ext cx="15240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202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作成負荷</ns1:t>
            </ns1:r>
          </ns1:p>
        </ns0:txBody>
      </ns0:sp>
      <ns0:sp>
        <ns0:nvSpPr>
          <ns0:cNvPr id="71" name="trace:S03:content.auto.59">
            <ns1:extLst>
              <ns1:ext uri="{FF2B5EF4-FFF2-40B4-BE49-F238E27FC236}">
                <ns2:creationId id="{4B5049F3-D3C8-4A9E-A862-7D9EFB464B60}"/>
              </ns1:ext>
            </ns1:extLst>
          </ns0:cNvPr>
          <ns0:cNvSpPr>
            <ns1:spLocks noGrp="1"/>
          </ns0:cNvSpPr>
          <ns0:nvPr/>
        </ns0:nvSpPr>
        <ns0:spPr>
          <ns1:xfrm>
            <ns1:off x="8467725" y="6343650"/>
            <ns1:ext cx="1657350" cy="781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ゼロベースでの資料作成が</ns1:t>
            </ns1:r>
          </ns1:p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多く、構成検討・デザイン</ns1:t>
            </ns1:r>
          </ns1:p>
          <ns1:p>
            <ns1:pPr algn="l">
              <ns1:buNone/>
              <ns1:def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調整に多くの時間を要する。</ns1:t>
            </ns1:r>
          </ns1:p>
        </ns0:txBody>
      </ns0:sp>
      <ns0:sp>
        <ns0:nvSpPr>
          <ns0:cNvPr id="74" name="trace:S03:content.auto.60">
            <ns1:extLst>
              <ns1:ext uri="{FF2B5EF4-FFF2-40B4-BE49-F238E27FC236}">
                <ns2:creationId id="{78F958E1-9A34-4B0E-A501-01CC9151E800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0" y="904875"/>
            <ns1:ext cx="19050" cy="6572250"/>
          </ns1:xfrm>
          <ns1:prstGeom prst="rect">
            <ns1:avLst/>
          </ns1:prstGeom>
          <ns1:solidFill>
            <ns1:srgbClr val="D5DEE7"/>
          </ns1:solidFill>
          <ns1:ln w="0">
            <ns1:noFill/>
            <ns1:prstDash val="solid"/>
          </ns1:ln>
        </ns0:spPr>
      </ns0:sp>
      <ns0:sp>
        <ns0:nvSpPr>
          <ns0:cNvPr id="75" name="trace:S03:content.auto.61">
            <ns1:extLst>
              <ns1:ext uri="{FF2B5EF4-FFF2-40B4-BE49-F238E27FC236}">
                <ns2:creationId id="{C913F31F-FF89-4527-80B8-22A4DF9FF1AE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1019175"/>
            <ns1:ext cx="457200" cy="476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76" name="trace:S03:title.primary.3">
            <ns1:extLst>
              <ns1:ext uri="{FF2B5EF4-FFF2-40B4-BE49-F238E27FC236}">
                <ns2:creationId id="{6260806A-5E79-4D96-B480-5DC1145BFE84}"/>
              </ns1:ext>
            </ns1:extLst>
          </ns0:cNvPr>
          <ns0:cNvSpPr>
            <ns1:spLocks noGrp="1"/>
          </ns0:cNvSpPr>
          <ns0:nvPr/>
        </ns0:nvSpPr>
        <ns0:spPr>
          <ns1:xfrm>
            <ns1:off x="11249025" y="942975"/>
            <ns1:ext cx="2190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主なボトルネック</ns1:t>
            </ns1:r>
          </ns1:p>
        </ns0:txBody>
      </ns0:sp>
      <ns0:sp>
        <ns0:nvSpPr>
          <ns0:cNvPr id="77" name="trace:S03:content.auto.62">
            <ns1:extLst>
              <ns1:ext uri="{FF2B5EF4-FFF2-40B4-BE49-F238E27FC236}">
                <ns2:creationId id="{FACB7DB4-F567-4065-8260-2D62D9E4526B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1295400"/>
            <ns1:ext cx="4895850" cy="781050"/>
          </ns1:xfrm>
          <ns1:prstGeom prst="rect">
            <ns1:avLst/>
          </ns1:prstGeom>
          <ns1:solidFill>
            <ns1:srgbClr val="F5F7F9"/>
          </ns1:solidFill>
          <ns1:ln w="0">
            <ns1:noFill/>
            <ns1:prstDash val="solid"/>
          </ns1:ln>
        </ns0:spPr>
      </ns0:sp>
      <ns0:sp>
        <ns0:nvSpPr>
          <ns0:cNvPr id="78" name="trace:S03:content.auto.63">
            <ns1:extLst>
              <ns1:ext uri="{FF2B5EF4-FFF2-40B4-BE49-F238E27FC236}">
                <ns2:creationId id="{39500657-998F-43A0-B513-CD0CCB446257}"/>
              </ns1:ext>
            </ns1:extLst>
          </ns0:cNvPr>
          <ns0:cNvSpPr>
            <ns1:spLocks noGrp="1"/>
          </ns0:cNvSpPr>
          <ns0:nvPr/>
        </ns0:nvSpPr>
        <ns0:spPr>
          <ns1:xfrm>
            <ns1:off x="10810875" y="1447800"/>
            <ns1:ext cx="523875" cy="523875"/>
          </ns1:xfrm>
          <ns1:prstGeom prst="ellipse">
            <ns1:avLst/>
          </ns1:prstGeom>
          <ns1:solidFill>
            <ns1:srgbClr val="E8EEF4"/>
          </ns1:solidFill>
          <ns1:ln w="0">
            <ns1:noFill/>
            <ns1:prstDash val="solid"/>
          </ns1:ln>
        </ns0:spPr>
      </ns0:sp>
      <ns0:sp>
        <ns0:nvSpPr>
          <ns0:cNvPr id="79" name="trace:S03:content.auto.64">
            <ns1:extLst>
              <ns1:ext uri="{FF2B5EF4-FFF2-40B4-BE49-F238E27FC236}">
                <ns2:creationId id="{DB0E0869-2B1F-46CC-96D0-0131016DF369}"/>
              </ns1:ext>
            </ns1:extLst>
          </ns0:cNvPr>
          <ns0:cNvSpPr>
            <ns1:spLocks noGrp="1"/>
          </ns0:cNvSpPr>
          <ns0:nvPr/>
        </ns0:nvSpPr>
        <ns0:spPr>
          <ns1:xfrm>
            <ns1:off x="10915650" y="1571625"/>
            <ns1:ext cx="3238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80" name="trace:S03:title.primary.4">
            <ns1:extLst>
              <ns1:ext uri="{FF2B5EF4-FFF2-40B4-BE49-F238E27FC236}">
                <ns2:creationId id="{24897D0D-3D85-4FB9-BC65-5CBBC12C14BB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1419225"/>
            <ns1:ext cx="3524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情報の探索に時間がかかる</ns1:t>
            </ns1:r>
          </ns1:p>
        </ns0:txBody>
      </ns0:sp>
      <ns0:sp>
        <ns0:nvSpPr>
          <ns0:cNvPr id="81" name="trace:S03:title.primary.5">
            <ns1:extLst>
              <ns1:ext uri="{FF2B5EF4-FFF2-40B4-BE49-F238E27FC236}">
                <ns2:creationId id="{0106C52C-A4F6-4ACE-9429-1164CD788792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1704975"/>
            <ns1:ext cx="3619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過去提案・事例・テンプレートが散在し、目的の情報に</ns1:t>
            </ns1:r>
          </ns1:p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たどり着くまでに時間を要する。</ns1:t>
            </ns1:r>
          </ns1:p>
        </ns0:txBody>
      </ns0:sp>
      <ns0:sp>
        <ns0:nvSpPr>
          <ns0:cNvPr id="82" name="trace:S03:content.auto.65">
            <ns1:extLst>
              <ns1:ext uri="{FF2B5EF4-FFF2-40B4-BE49-F238E27FC236}">
                <ns2:creationId id="{C6764092-DDD4-40B1-9AB3-EB99FDBF8C4C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2162175"/>
            <ns1:ext cx="4895850" cy="781050"/>
          </ns1:xfrm>
          <ns1:prstGeom prst="rect">
            <ns1:avLst/>
          </ns1:prstGeom>
          <ns1:solidFill>
            <ns1:srgbClr val="F5F7F9"/>
          </ns1:solidFill>
          <ns1:ln w="0">
            <ns1:noFill/>
            <ns1:prstDash val="solid"/>
          </ns1:ln>
        </ns0:spPr>
      </ns0:sp>
      <ns0:sp>
        <ns0:nvSpPr>
          <ns0:cNvPr id="83" name="trace:S03:content.auto.66">
            <ns1:extLst>
              <ns1:ext uri="{FF2B5EF4-FFF2-40B4-BE49-F238E27FC236}">
                <ns2:creationId id="{2ACE4042-AFF8-4E2E-81CD-F02C5F0DC8EE}"/>
              </ns1:ext>
            </ns1:extLst>
          </ns0:cNvPr>
          <ns0:cNvSpPr>
            <ns1:spLocks noGrp="1"/>
          </ns0:cNvSpPr>
          <ns0:nvPr/>
        </ns0:nvSpPr>
        <ns0:spPr>
          <ns1:xfrm>
            <ns1:off x="10810875" y="2314575"/>
            <ns1:ext cx="523875" cy="523875"/>
          </ns1:xfrm>
          <ns1:prstGeom prst="ellipse">
            <ns1:avLst/>
          </ns1:prstGeom>
          <ns1:solidFill>
            <ns1:srgbClr val="E8EEF4"/>
          </ns1:solidFill>
          <ns1:ln w="0">
            <ns1:noFill/>
            <ns1:prstDash val="solid"/>
          </ns1:ln>
        </ns0:spPr>
      </ns0:sp>
      <ns0:sp>
        <ns0:nvSpPr>
          <ns0:cNvPr id="84" name="trace:S03:content.auto.67">
            <ns1:extLst>
              <ns1:ext uri="{FF2B5EF4-FFF2-40B4-BE49-F238E27FC236}">
                <ns2:creationId id="{D829B4DC-2272-40E0-9F66-3FD6FCED5AE5}"/>
              </ns1:ext>
            </ns1:extLst>
          </ns0:cNvPr>
          <ns0:cNvSpPr>
            <ns1:spLocks noGrp="1"/>
          </ns0:cNvSpPr>
          <ns0:nvPr/>
        </ns0:nvSpPr>
        <ns0:spPr>
          <ns1:xfrm>
            <ns1:off x="10915650" y="2438400"/>
            <ns1:ext cx="3238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85" name="trace:S03:title.primary.6">
            <ns1:extLst>
              <ns1:ext uri="{FF2B5EF4-FFF2-40B4-BE49-F238E27FC236}">
                <ns2:creationId id="{0B4EB4F8-8D28-46CC-8CAF-73B6AEEECE01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2286000"/>
            <ns1:ext cx="3524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提案ノウハウの共有が不十分</ns1:t>
            </ns1:r>
          </ns1:p>
        </ns0:txBody>
      </ns0:sp>
      <ns0:sp>
        <ns0:nvSpPr>
          <ns0:cNvPr id="86" name="trace:S03:title.primary.7">
            <ns1:extLst>
              <ns1:ext uri="{FF2B5EF4-FFF2-40B4-BE49-F238E27FC236}">
                <ns2:creationId id="{27E60D36-A8C7-4F4C-B3A3-02117859067E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2571750"/>
            <ns1:ext cx="3619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優れた提案事例やナレッジが個人に留まり、</ns1:t>
            </ns1:r>
          </ns1:p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組織的に活用されていない。</ns1:t>
            </ns1:r>
          </ns1:p>
        </ns0:txBody>
      </ns0:sp>
      <ns0:sp>
        <ns0:nvSpPr>
          <ns0:cNvPr id="87" name="trace:S03:content.auto.68">
            <ns1:extLst>
              <ns1:ext uri="{FF2B5EF4-FFF2-40B4-BE49-F238E27FC236}">
                <ns2:creationId id="{0EA65A4B-8479-4CC7-B160-0AAD59C30834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3028950"/>
            <ns1:ext cx="4895850" cy="781050"/>
          </ns1:xfrm>
          <ns1:prstGeom prst="rect">
            <ns1:avLst/>
          </ns1:prstGeom>
          <ns1:solidFill>
            <ns1:srgbClr val="F5F7F9"/>
          </ns1:solidFill>
          <ns1:ln w="0">
            <ns1:noFill/>
            <ns1:prstDash val="solid"/>
          </ns1:ln>
        </ns0:spPr>
      </ns0:sp>
      <ns0:sp>
        <ns0:nvSpPr>
          <ns0:cNvPr id="88" name="trace:S03:content.auto.69">
            <ns1:extLst>
              <ns1:ext uri="{FF2B5EF4-FFF2-40B4-BE49-F238E27FC236}">
                <ns2:creationId id="{164B8896-2A14-48D5-BE5F-33615815ED0A}"/>
              </ns1:ext>
            </ns1:extLst>
          </ns0:cNvPr>
          <ns0:cNvSpPr>
            <ns1:spLocks noGrp="1"/>
          </ns0:cNvSpPr>
          <ns0:nvPr/>
        </ns0:nvSpPr>
        <ns0:spPr>
          <ns1:xfrm>
            <ns1:off x="10810875" y="3181350"/>
            <ns1:ext cx="523875" cy="523875"/>
          </ns1:xfrm>
          <ns1:prstGeom prst="ellipse">
            <ns1:avLst/>
          </ns1:prstGeom>
          <ns1:solidFill>
            <ns1:srgbClr val="E8EEF4"/>
          </ns1:solidFill>
          <ns1:ln w="0">
            <ns1:noFill/>
            <ns1:prstDash val="solid"/>
          </ns1:ln>
        </ns0:spPr>
      </ns0:sp>
      <ns0:sp>
        <ns0:nvSpPr>
          <ns0:cNvPr id="89" name="trace:S03:content.auto.70">
            <ns1:extLst>
              <ns1:ext uri="{FF2B5EF4-FFF2-40B4-BE49-F238E27FC236}">
                <ns2:creationId id="{0B8A65F6-0D75-4721-8863-CADAB33714F2}"/>
              </ns1:ext>
            </ns1:extLst>
          </ns0:cNvPr>
          <ns0:cNvSpPr>
            <ns1:spLocks noGrp="1"/>
          </ns0:cNvSpPr>
          <ns0:nvPr/>
        </ns0:nvSpPr>
        <ns0:spPr>
          <ns1:xfrm>
            <ns1:off x="10915650" y="3305175"/>
            <ns1:ext cx="3238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90" name="trace:S03:title.primary.8">
            <ns1:extLst>
              <ns1:ext uri="{FF2B5EF4-FFF2-40B4-BE49-F238E27FC236}">
                <ns2:creationId id="{70A97D55-6603-45E2-BFCD-EF628C0DCD3F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3152775"/>
            <ns1:ext cx="3524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資料作成の工数が大きい</ns1:t>
            </ns1:r>
          </ns1:p>
        </ns0:txBody>
      </ns0:sp>
      <ns0:sp>
        <ns0:nvSpPr>
          <ns0:cNvPr id="91" name="trace:S03:title.primary.9">
            <ns1:extLst>
              <ns1:ext uri="{FF2B5EF4-FFF2-40B4-BE49-F238E27FC236}">
                <ns2:creationId id="{124703FF-6888-4125-9D44-DBB04E91DADA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3438525"/>
            <ns1:ext cx="3619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毎回ゼロベースでの作成が多く、構成・デザイン・</ns1:t>
            </ns1:r>
          </ns1:p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推敲に多くの時間がかかる。</ns1:t>
            </ns1:r>
          </ns1:p>
        </ns0:txBody>
      </ns0:sp>
      <ns0:sp>
        <ns0:nvSpPr>
          <ns0:cNvPr id="92" name="trace:S03:content.auto.71">
            <ns1:extLst>
              <ns1:ext uri="{FF2B5EF4-FFF2-40B4-BE49-F238E27FC236}">
                <ns2:creationId id="{A8C69E85-3287-4EF9-94D5-666BCF7C90D7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3895725"/>
            <ns1:ext cx="4895850" cy="781050"/>
          </ns1:xfrm>
          <ns1:prstGeom prst="rect">
            <ns1:avLst/>
          </ns1:prstGeom>
          <ns1:solidFill>
            <ns1:srgbClr val="F5F7F9"/>
          </ns1:solidFill>
          <ns1:ln w="0">
            <ns1:noFill/>
            <ns1:prstDash val="solid"/>
          </ns1:ln>
        </ns0:spPr>
      </ns0:sp>
      <ns0:sp>
        <ns0:nvSpPr>
          <ns0:cNvPr id="93" name="trace:S03:content.auto.72">
            <ns1:extLst>
              <ns1:ext uri="{FF2B5EF4-FFF2-40B4-BE49-F238E27FC236}">
                <ns2:creationId id="{0C6F4881-003B-44AE-8ACB-64F10BEC8CBE}"/>
              </ns1:ext>
            </ns1:extLst>
          </ns0:cNvPr>
          <ns0:cNvSpPr>
            <ns1:spLocks noGrp="1"/>
          </ns0:cNvSpPr>
          <ns0:nvPr/>
        </ns0:nvSpPr>
        <ns0:spPr>
          <ns1:xfrm>
            <ns1:off x="10810875" y="4048125"/>
            <ns1:ext cx="523875" cy="523875"/>
          </ns1:xfrm>
          <ns1:prstGeom prst="ellipse">
            <ns1:avLst/>
          </ns1:prstGeom>
          <ns1:solidFill>
            <ns1:srgbClr val="E8EEF4"/>
          </ns1:solidFill>
          <ns1:ln w="0">
            <ns1:noFill/>
            <ns1:prstDash val="solid"/>
          </ns1:ln>
        </ns0:spPr>
      </ns0:sp>
      <ns0:sp>
        <ns0:nvSpPr>
          <ns0:cNvPr id="94" name="trace:S03:content.auto.73">
            <ns1:extLst>
              <ns1:ext uri="{FF2B5EF4-FFF2-40B4-BE49-F238E27FC236}">
                <ns2:creationId id="{49D83546-39A7-40BB-A926-9603C6875B6B}"/>
              </ns1:ext>
            </ns1:extLst>
          </ns0:cNvPr>
          <ns0:cNvSpPr>
            <ns1:spLocks noGrp="1"/>
          </ns0:cNvSpPr>
          <ns0:nvPr/>
        </ns0:nvSpPr>
        <ns0:spPr>
          <ns1:xfrm>
            <ns1:off x="10915650" y="4171950"/>
            <ns1:ext cx="3238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233D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95" name="trace:S03:content.auto.74">
            <ns1:extLst>
              <ns1:ext uri="{FF2B5EF4-FFF2-40B4-BE49-F238E27FC236}">
                <ns2:creationId id="{CDF641FD-ABAC-4592-87A2-B319A5E5DD03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4019550"/>
            <ns1:ext cx="3524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フィードバックの活用が限定的</ns1:t>
            </ns1:r>
          </ns1:p>
        </ns0:txBody>
      </ns0:sp>
      <ns0:sp>
        <ns0:nvSpPr>
          <ns0:cNvPr id="96" name="trace:S03:lead.5">
            <ns1:extLst>
              <ns1:ext uri="{FF2B5EF4-FFF2-40B4-BE49-F238E27FC236}">
                <ns2:creationId id="{A9260F1B-7D17-4946-A724-92A48244F474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4305300"/>
            <ns1:ext cx="36195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提出後のフィードバックが十分に蓄積・分析されず、</ns1:t>
            </ns1:r>
          </ns1:p>
          <ns1:p>
            <ns1:pPr algn="l">
              <ns1:buNone/>
              <ns1:def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次の提案に活かしきれていない。</ns1:t>
            </ns1:r>
          </ns1:p>
        </ns0:txBody>
      </ns0:sp>
      <ns0:sp>
        <ns0:nvSpPr>
          <ns0:cNvPr id="97" name="trace:S03:content.auto.75">
            <ns1:extLst>
              <ns1:ext uri="{FF2B5EF4-FFF2-40B4-BE49-F238E27FC236}">
                <ns2:creationId id="{287029F2-2E93-455E-A13E-2399750A38A1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4991100"/>
            <ns1:ext cx="457200" cy="476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8" name="trace:S03:content.auto.76">
            <ns1:extLst>
              <ns1:ext uri="{FF2B5EF4-FFF2-40B4-BE49-F238E27FC236}">
                <ns2:creationId id="{D3E7BB6E-C710-44B2-A7A0-D1BA6CDA459A}"/>
              </ns1:ext>
            </ns1:extLst>
          </ns0:cNvPr>
          <ns0:cNvSpPr>
            <ns1:spLocks noGrp="1"/>
          </ns0:cNvSpPr>
          <ns0:nvPr/>
        </ns0:nvSpPr>
        <ns0:spPr>
          <ns1:xfrm>
            <ns1:off x="11249025" y="4914900"/>
            <ns1:ext cx="2190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業務への影響</ns1:t>
            </ns1:r>
          </ns1:p>
        </ns0:txBody>
      </ns0:sp>
      <ns0:sp>
        <ns0:nvSpPr>
          <ns0:cNvPr id="99" name="trace:S03:content.auto.77">
            <ns1:extLst>
              <ns1:ext uri="{FF2B5EF4-FFF2-40B4-BE49-F238E27FC236}">
                <ns2:creationId id="{F5F02275-C843-4945-A1C5-1C0268536034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5457825"/>
            <ns1:ext cx="4895850" cy="6381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00" name="trace:S03:content.auto.78">
            <ns1:extLst>
              <ns1:ext uri="{FF2B5EF4-FFF2-40B4-BE49-F238E27FC236}">
                <ns2:creationId id="{87DBE5DD-4CA3-4F8E-9F35-B68B4E94DCA8}"/>
              </ns1:ext>
            </ns1:extLst>
          </ns0:cNvPr>
          <ns0:cNvSpPr>
            <ns1:spLocks noGrp="1"/>
          </ns0:cNvSpPr>
          <ns0:nvPr/>
        </ns0:nvSpPr>
        <ns0:spPr>
          <ns1:xfrm>
            <ns1:off x="10893743" y="5635943"/>
            <ns1:ext cx="272415" cy="272415"/>
          </ns1:xfrm>
          <ns1:prstGeom prst="ellipse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01" name="trace:S03:content.auto.79">
            <ns1:extLst>
              <ns1:ext uri="{FF2B5EF4-FFF2-40B4-BE49-F238E27FC236}">
                <ns2:creationId id="{8B4E4EAB-390C-4489-8FB6-FF8ACBCEF465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5697855"/>
            <ns1:ext cx="95" cy="74295"/>
          </ns1:xfrm>
          <ns1:custGeom>
            <ns1:pathLst>
              <ns1:path w="95" h="74295">
                <ns1:moveTo>
                  <ns1:pt x="0" y="74295"/>
                </ns1:moveTo>
                <ns1:lnTo>
                  <ns1:pt x="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02" name="trace:S03:content.auto.80">
            <ns1:extLst>
              <ns1:ext uri="{FF2B5EF4-FFF2-40B4-BE49-F238E27FC236}">
                <ns2:creationId id="{46829F5F-3D3B-4B72-916F-641B2AF9B2A4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5772150"/>
            <ns1:ext cx="61913" cy="43339"/>
          </ns1:xfrm>
          <ns1:custGeom>
            <ns1:pathLst>
              <ns1:path w="61913" h="43339">
                <ns1:moveTo>
                  <ns1:pt x="0" y="0"/>
                </ns1:moveTo>
                <ns1:lnTo>
                  <ns1:pt x="61913" y="43339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03" name="trace:S03:content.auto.81">
            <ns1:extLst>
              <ns1:ext uri="{FF2B5EF4-FFF2-40B4-BE49-F238E27FC236}">
                <ns2:creationId id="{2D0A7309-8F7B-4007-B931-3A8F81F54451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5553075"/>
            <ns1:ext cx="1857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作成時間が長い</ns1:t>
            </ns1:r>
          </ns1:p>
        </ns0:txBody>
      </ns0:sp>
      <ns0:sp>
        <ns0:nvSpPr>
          <ns0:cNvPr id="104" name="trace:S03:content.auto.82">
            <ns1:extLst>
              <ns1:ext uri="{FF2B5EF4-FFF2-40B4-BE49-F238E27FC236}">
                <ns2:creationId id="{70AE60F9-DD23-41F9-9CE8-5F078B73A6D8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5810250"/>
            <ns1:ext cx="1809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97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1案件あたりの作成時間</ns1:t>
            </ns1:r>
          </ns1:p>
        </ns0:txBody>
      </ns0:sp>
      <ns0:sp>
        <ns0:nvSpPr>
          <ns0:cNvPr id="105" name="trace:S03:content.auto.83">
            <ns1:extLst>
              <ns1:ext uri="{FF2B5EF4-FFF2-40B4-BE49-F238E27FC236}">
                <ns2:creationId id="{C310D410-7C24-4BF5-B61C-B396A93496D9}"/>
              </ns1:ext>
            </ns1:extLst>
          </ns0:cNvPr>
          <ns0:cNvSpPr>
            <ns1:spLocks noGrp="1"/>
          </ns0:cNvSpPr>
          <ns0:nvPr/>
        </ns0:nvSpPr>
        <ns0:spPr>
          <ns1:xfrm>
            <ns1:off x="13411200" y="5543550"/>
            <ns1:ext cx="95" cy="466725"/>
          </ns1:xfrm>
          <ns1:custGeom>
            <ns1:pathLst>
              <ns1:path w="9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06" name="trace:S03:content.auto.84">
            <ns1:extLst>
              <ns1:ext uri="{FF2B5EF4-FFF2-40B4-BE49-F238E27FC236}">
                <ns2:creationId id="{DF877773-E110-4F44-887E-509544059483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5553075"/>
            <ns1:ext cx="1238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約60%増</ns1:t>
            </ns1:r>
          </ns1:p>
        </ns0:txBody>
      </ns0:sp>
      <ns0:sp>
        <ns0:nvSpPr>
          <ns0:cNvPr id="107" name="trace:S03:content.auto.85">
            <ns1:extLst>
              <ns1:ext uri="{FF2B5EF4-FFF2-40B4-BE49-F238E27FC236}">
                <ns2:creationId id="{0D253E28-C886-4948-BF47-3B313B8D80D8}"/>
              </ns1:ext>
            </ns1:extLst>
          </ns0:cNvPr>
          <ns0:cNvSpPr>
            <ns1:spLocks noGrp="1"/>
          </ns0:cNvSpPr>
          <ns0:nvPr/>
        </ns0:nvSpPr>
        <ns0:spPr>
          <ns1:xfrm>
            <ns1:off x="13735050" y="5838825"/>
            <ns1:ext cx="1571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9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（理想と比較）</ns1:t>
            </ns1:r>
          </ns1:p>
        </ns0:txBody>
      </ns0:sp>
      <ns0:sp>
        <ns0:nvSpPr>
          <ns0:cNvPr id="108" name="trace:S03:content.auto.86">
            <ns1:extLst>
              <ns1:ext uri="{FF2B5EF4-FFF2-40B4-BE49-F238E27FC236}">
                <ns2:creationId id="{81670CEF-5725-4091-A906-62C715F99BCD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6210300"/>
            <ns1:ext cx="4895850" cy="6381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09" name="trace:S03:content.auto.87">
            <ns1:extLst>
              <ns1:ext uri="{FF2B5EF4-FFF2-40B4-BE49-F238E27FC236}">
                <ns2:creationId id="{AF2D67D9-2D81-47FF-A352-05FDEF4113A0}"/>
              </ns1:ext>
            </ns1:extLst>
          </ns0:cNvPr>
          <ns0:cNvSpPr>
            <ns1:spLocks noGrp="1"/>
          </ns0:cNvSpPr>
          <ns0:nvPr/>
        </ns0:nvSpPr>
        <ns0:spPr>
          <ns1:xfrm>
            <ns1:off x="10875169" y="6388418"/>
            <ns1:ext cx="95" cy="278606"/>
          </ns1:xfrm>
          <ns1:custGeom>
            <ns1:pathLst>
              <ns1:path w="95" h="278606">
                <ns1:moveTo>
                  <ns1:pt x="0" y="278606"/>
                </ns1:moveTo>
                <ns1:lnTo>
                  <ns1:pt x="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10" name="trace:S03:content.auto.88">
            <ns1:extLst>
              <ns1:ext uri="{FF2B5EF4-FFF2-40B4-BE49-F238E27FC236}">
                <ns2:creationId id="{A67A7FC5-7468-489F-820C-C39F564F8578}"/>
              </ns1:ext>
            </ns1:extLst>
          </ns0:cNvPr>
          <ns0:cNvSpPr>
            <ns1:spLocks noGrp="1"/>
          </ns0:cNvSpPr>
          <ns0:nvPr/>
        </ns0:nvSpPr>
        <ns0:spPr>
          <ns1:xfrm>
            <ns1:off x="10875169" y="6667024"/>
            <ns1:ext cx="328136" cy="95"/>
          </ns1:xfrm>
          <ns1:custGeom>
            <ns1:pathLst>
              <ns1:path w="328136" h="95">
                <ns1:moveTo>
                  <ns1:pt x="0" y="0"/>
                </ns1:moveTo>
                <ns1:lnTo>
                  <ns1:pt x="328136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11" name="trace:S03:content.auto.89">
            <ns1:extLst>
              <ns1:ext uri="{FF2B5EF4-FFF2-40B4-BE49-F238E27FC236}">
                <ns2:creationId id="{A3F98D98-A482-408D-8FCC-C5EFC4BF72F5}"/>
              </ns1:ext>
            </ns1:extLst>
          </ns0:cNvPr>
          <ns0:cNvSpPr>
            <ns1:spLocks noGrp="1"/>
          </ns0:cNvSpPr>
          <ns0:nvPr/>
        </ns0:nvSpPr>
        <ns0:spPr>
          <ns1:xfrm>
            <ns1:off x="10949464" y="6555581"/>
            <ns1:ext cx="49530" cy="111443"/>
          </ns1:xfrm>
          <ns1:prstGeom prst="rect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12" name="trace:S03:content.auto.90">
            <ns1:extLst>
              <ns1:ext uri="{FF2B5EF4-FFF2-40B4-BE49-F238E27FC236}">
                <ns2:creationId id="{CC09F410-E3F8-4E9E-AF7E-73D0C0B3D8C8}"/>
              </ns1:ext>
            </ns1:extLst>
          </ns0:cNvPr>
          <ns0:cNvSpPr>
            <ns1:spLocks noGrp="1"/>
          </ns0:cNvSpPr>
          <ns0:nvPr/>
        </ns0:nvSpPr>
        <ns0:spPr>
          <ns1:xfrm>
            <ns1:off x="11029950" y="6487478"/>
            <ns1:ext cx="49530" cy="179546"/>
          </ns1:xfrm>
          <ns1:prstGeom prst="rect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13" name="trace:S03:content.auto.91">
            <ns1:extLst>
              <ns1:ext uri="{FF2B5EF4-FFF2-40B4-BE49-F238E27FC236}">
                <ns2:creationId id="{39336F72-3D53-42F8-87C6-BE9A52C72BDD}"/>
              </ns1:ext>
            </ns1:extLst>
          </ns0:cNvPr>
          <ns0:cNvSpPr>
            <ns1:spLocks noGrp="1"/>
          </ns0:cNvSpPr>
          <ns0:nvPr/>
        </ns0:nvSpPr>
        <ns0:spPr>
          <ns1:xfrm>
            <ns1:off x="11110436" y="6394609"/>
            <ns1:ext cx="49530" cy="272415"/>
          </ns1:xfrm>
          <ns1:prstGeom prst="rect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14" name="trace:S03:content.auto.92">
            <ns1:extLst>
              <ns1:ext uri="{FF2B5EF4-FFF2-40B4-BE49-F238E27FC236}">
                <ns2:creationId id="{AF9D9958-63BC-4A64-9CEE-BCA7758D1FB3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305550"/>
            <ns1:ext cx="1857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提案品質にばらつき</ns1:t>
            </ns1:r>
          </ns1:p>
        </ns0:txBody>
      </ns0:sp>
      <ns0:sp>
        <ns0:nvSpPr>
          <ns0:cNvPr id="115" name="trace:S03:content.auto.93">
            <ns1:extLst>
              <ns1:ext uri="{FF2B5EF4-FFF2-40B4-BE49-F238E27FC236}">
                <ns2:creationId id="{5AF1B1C1-BDEC-46DD-91B1-50E94A4B6B33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6562725"/>
            <ns1:ext cx="1809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97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社内レビューでの指摘件数</ns1:t>
            </ns1:r>
          </ns1:p>
        </ns0:txBody>
      </ns0:sp>
      <ns0:sp>
        <ns0:nvSpPr>
          <ns0:cNvPr id="116" name="trace:S03:content.auto.94">
            <ns1:extLst>
              <ns1:ext uri="{FF2B5EF4-FFF2-40B4-BE49-F238E27FC236}">
                <ns2:creationId id="{DC86BEBD-53DA-479D-A148-9650FAFD2386}"/>
              </ns1:ext>
            </ns1:extLst>
          </ns0:cNvPr>
          <ns0:cNvSpPr>
            <ns1:spLocks noGrp="1"/>
          </ns0:cNvSpPr>
          <ns0:nvPr/>
        </ns0:nvSpPr>
        <ns0:spPr>
          <ns1:xfrm>
            <ns1:off x="13411200" y="6296025"/>
            <ns1:ext cx="95" cy="466725"/>
          </ns1:xfrm>
          <ns1:custGeom>
            <ns1:pathLst>
              <ns1:path w="9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17" name="trace:S03:content.auto.95">
            <ns1:extLst>
              <ns1:ext uri="{FF2B5EF4-FFF2-40B4-BE49-F238E27FC236}">
                <ns2:creationId id="{4E22051D-926B-4F54-B31C-4448CC232C5C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6305550"/>
            <ns1:ext cx="1238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約1.8倍</ns1:t>
            </ns1:r>
          </ns1:p>
        </ns0:txBody>
      </ns0:sp>
      <ns0:sp>
        <ns0:nvSpPr>
          <ns0:cNvPr id="118" name="trace:S03:content.auto.96">
            <ns1:extLst>
              <ns1:ext uri="{FF2B5EF4-FFF2-40B4-BE49-F238E27FC236}">
                <ns2:creationId id="{2F94997E-7EE2-460D-8DC5-8622424957E6}"/>
              </ns1:ext>
            </ns1:extLst>
          </ns0:cNvPr>
          <ns0:cNvSpPr>
            <ns1:spLocks noGrp="1"/>
          </ns0:cNvSpPr>
          <ns0:nvPr/>
        </ns0:nvSpPr>
        <ns0:spPr>
          <ns1:xfrm>
            <ns1:off x="13735050" y="6591300"/>
            <ns1:ext cx="1571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9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（メンバー間の比較）</ns1:t>
            </ns1:r>
          </ns1:p>
        </ns0:txBody>
      </ns0:sp>
      <ns0:sp>
        <ns0:nvSpPr>
          <ns0:cNvPr id="119" name="trace:S03:content.auto.97">
            <ns1:extLst>
              <ns1:ext uri="{FF2B5EF4-FFF2-40B4-BE49-F238E27FC236}">
                <ns2:creationId id="{B6AF0168-BB17-43D5-9BE6-65A7F459E8CD}"/>
              </ns1:ext>
            </ns1:extLst>
          </ns0:cNvPr>
          <ns0:cNvSpPr>
            <ns1:spLocks noGrp="1"/>
          </ns0:cNvSpPr>
          <ns0:nvPr/>
        </ns0:nvSpPr>
        <ns0:spPr>
          <ns1:xfrm>
            <ns1:off x="10648950" y="6962775"/>
            <ns1:ext cx="4895850" cy="6381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20" name="trace:S03:content.auto.98">
            <ns1:extLst>
              <ns1:ext uri="{FF2B5EF4-FFF2-40B4-BE49-F238E27FC236}">
                <ns2:creationId id="{ACAB0A9A-03A2-4ECF-B475-CD1EDD77C77F}"/>
              </ns1:ext>
            </ns1:extLst>
          </ns0:cNvPr>
          <ns0:cNvSpPr>
            <ns1:spLocks noGrp="1"/>
          </ns0:cNvSpPr>
          <ns0:nvPr/>
        </ns0:nvSpPr>
        <ns0:spPr>
          <ns1:xfrm>
            <ns1:off x="10918508" y="7125414"/>
            <ns1:ext cx="222885" cy="303371"/>
          </ns1:xfrm>
          <ns1:prstGeom prst="rect">
            <ns1:avLst/>
          </ns1:pr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21" name="trace:S03:content.auto.99">
            <ns1:extLst>
              <ns1:ext uri="{FF2B5EF4-FFF2-40B4-BE49-F238E27FC236}">
                <ns2:creationId id="{BBA64FA9-14B3-4F4D-822F-1E27B6E27E62}"/>
              </ns1:ext>
            </ns1:extLst>
          </ns0:cNvPr>
          <ns0:cNvSpPr>
            <ns1:spLocks noGrp="1"/>
          </ns0:cNvSpPr>
          <ns0:nvPr/>
        </ns0:nvSpPr>
        <ns0:spPr>
          <ns1:xfrm>
            <ns1:off x="11054715" y="7125414"/>
            <ns1:ext cx="86678" cy="74295"/>
          </ns1:xfrm>
          <ns1:custGeom>
            <ns1:pathLst>
              <ns1:path w="86678" h="74295">
                <ns1:moveTo>
                  <ns1:pt x="0" y="0"/>
                </ns1:moveTo>
                <ns1:lnTo>
                  <ns1:pt x="86678" y="74295"/>
                </ns1:lnTo>
                <ns1:lnTo>
                  <ns1:pt x="0" y="74295"/>
                </ns1:lnTo>
                <ns1:close/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22" name="trace:S03:content.auto.100">
            <ns1:extLst>
              <ns1:ext uri="{FF2B5EF4-FFF2-40B4-BE49-F238E27FC236}">
                <ns2:creationId id="{192AD475-4219-4CDC-B8C1-5CA12CF8C1BD}"/>
              </ns1:ext>
            </ns1:extLst>
          </ns0:cNvPr>
          <ns0:cNvSpPr>
            <ns1:spLocks noGrp="1"/>
          </ns0:cNvSpPr>
          <ns0:nvPr/>
        </ns0:nvSpPr>
        <ns0:spPr>
          <ns1:xfrm>
            <ns1:off x="10955655" y="7264718"/>
            <ns1:ext cx="148590" cy="95"/>
          </ns1:xfrm>
          <ns1:custGeom>
            <ns1:pathLst>
              <ns1:path w="148590" h="95">
                <ns1:moveTo>
                  <ns1:pt x="0" y="0"/>
                </ns1:moveTo>
                <ns1:lnTo>
                  <ns1:pt x="14859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23" name="trace:S03:content.auto.101">
            <ns1:extLst>
              <ns1:ext uri="{FF2B5EF4-FFF2-40B4-BE49-F238E27FC236}">
                <ns2:creationId id="{8BF3CFF1-FE68-4E2C-B092-E5ED3AE09568}"/>
              </ns1:ext>
            </ns1:extLst>
          </ns0:cNvPr>
          <ns0:cNvSpPr>
            <ns1:spLocks noGrp="1"/>
          </ns0:cNvSpPr>
          <ns0:nvPr/>
        </ns0:nvSpPr>
        <ns0:spPr>
          <ns1:xfrm>
            <ns1:off x="10955655" y="7332821"/>
            <ns1:ext cx="148590" cy="95"/>
          </ns1:xfrm>
          <ns1:custGeom>
            <ns1:pathLst>
              <ns1:path w="148590" h="95">
                <ns1:moveTo>
                  <ns1:pt x="0" y="0"/>
                </ns1:moveTo>
                <ns1:lnTo>
                  <ns1:pt x="148590" y="0"/>
                </ns1:lnTo>
              </ns1:path>
            </ns1:pathLst>
          </ns1:custGeom>
          <ns1:noFill/>
          <ns1:ln w="28575">
            <ns1:solidFill>
              <ns1:srgbClr val="10233D"/>
            </ns1:solidFill>
            <ns1:prstDash val="solid"/>
          </ns1:ln>
        </ns0:spPr>
      </ns0:sp>
      <ns0:sp>
        <ns0:nvSpPr>
          <ns0:cNvPr id="124" name="trace:S03:content.auto.102">
            <ns1:extLst>
              <ns1:ext uri="{FF2B5EF4-FFF2-40B4-BE49-F238E27FC236}">
                <ns2:creationId id="{197C3528-956E-4F9E-88D9-F0010BD6EE6D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7058025"/>
            <ns1:ext cx="1857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再利用率が低い</ns1:t>
            </ns1:r>
          </ns1:p>
        </ns0:txBody>
      </ns0:sp>
      <ns0:sp>
        <ns0:nvSpPr>
          <ns0:cNvPr id="125" name="trace:S03:content.auto.103">
            <ns1:extLst>
              <ns1:ext uri="{FF2B5EF4-FFF2-40B4-BE49-F238E27FC236}">
                <ns2:creationId id="{897B76C4-88EB-4B93-B0AB-6E5DDEBE79EE}"/>
              </ns1:ext>
            </ns1:extLst>
          </ns0:cNvPr>
          <ns0:cNvSpPr>
            <ns1:spLocks noGrp="1"/>
          </ns0:cNvSpPr>
          <ns0:nvPr/>
        </ns0:nvSpPr>
        <ns0:spPr>
          <ns1:xfrm>
            <ns1:off x="11477625" y="7315200"/>
            <ns1:ext cx="1809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97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過去資料の再利用率</ns1:t>
            </ns1:r>
          </ns1:p>
        </ns0:txBody>
      </ns0:sp>
      <ns0:sp>
        <ns0:nvSpPr>
          <ns0:cNvPr id="126" name="trace:S03:content.auto.104">
            <ns1:extLst>
              <ns1:ext uri="{FF2B5EF4-FFF2-40B4-BE49-F238E27FC236}">
                <ns2:creationId id="{FE5E205B-C97E-44B4-8422-0483C8CDA13E}"/>
              </ns1:ext>
            </ns1:extLst>
          </ns0:cNvPr>
          <ns0:cNvSpPr>
            <ns1:spLocks noGrp="1"/>
          </ns0:cNvSpPr>
          <ns0:nvPr/>
        </ns0:nvSpPr>
        <ns0:spPr>
          <ns1:xfrm>
            <ns1:off x="13411200" y="7048500"/>
            <ns1:ext cx="95" cy="466725"/>
          </ns1:xfrm>
          <ns1:custGeom>
            <ns1:pathLst>
              <ns1:path w="95" h="466725">
                <ns1:moveTo>
                  <ns1:pt x="0" y="0"/>
                </ns1:moveTo>
                <ns1:lnTo>
                  <ns1:pt x="0" y="466725"/>
                </ns1:lnTo>
              </ns1:path>
            </ns1:pathLst>
          </ns1:custGeom>
          <ns1:noFill/>
          <ns1:ln w="9525">
            <ns1:solidFill>
              <ns1:srgbClr val="D5DEE7"/>
            </ns1:solidFill>
            <ns1:prstDash val="solid"/>
          </ns1:ln>
        </ns0:spPr>
      </ns0:sp>
      <ns0:sp>
        <ns0:nvSpPr>
          <ns0:cNvPr id="127" name="trace:S03:content.auto.105">
            <ns1:extLst>
              <ns1:ext uri="{FF2B5EF4-FFF2-40B4-BE49-F238E27FC236}">
                <ns2:creationId id="{23AC9490-6971-43BF-ADB0-1D5F6A758DA6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0" y="7058025"/>
            <ns1:ext cx="1238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約20%</ns1:t>
            </ns1:r>
          </ns1:p>
        </ns0:txBody>
      </ns0:sp>
      <ns0:sp>
        <ns0:nvSpPr>
          <ns0:cNvPr id="128" name="trace:S03:content.auto.106">
            <ns1:extLst>
              <ns1:ext uri="{FF2B5EF4-FFF2-40B4-BE49-F238E27FC236}">
                <ns2:creationId id="{72AF263C-97FD-4EA3-B9AD-B448BBFE44FA}"/>
              </ns1:ext>
            </ns1:extLst>
          </ns0:cNvPr>
          <ns0:cNvSpPr>
            <ns1:spLocks noGrp="1"/>
          </ns0:cNvSpPr>
          <ns0:nvPr/>
        </ns0:nvSpPr>
        <ns0:spPr>
          <ns1:xfrm>
            <ns1:off x="13735050" y="7343775"/>
            <ns1:ext cx="157162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9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（全提案資料に占める割合）</ns1:t>
            </ns1:r>
          </ns1:p>
        </ns0:txBody>
      </ns0:sp>
      <ns0:sp>
        <ns0:nvSpPr>
          <ns0:cNvPr id="129" name="trace:S03:content.auto.107">
            <ns1:extLst>
              <ns1:ext uri="{FF2B5EF4-FFF2-40B4-BE49-F238E27FC236}">
                <ns2:creationId id="{5E0DFFF3-FEEB-4042-A271-70E09BF7AE83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591425"/>
            <ns1:ext cx="1847850" cy="5429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30" name="trace:S03:content.auto.108">
            <ns1:extLst>
              <ns1:ext uri="{FF2B5EF4-FFF2-40B4-BE49-F238E27FC236}">
                <ns2:creationId id="{8E4FD8DB-2DDE-4F2A-9501-E01C5A95B3F3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591425"/>
            <ns1:ext cx="752475" cy="542925"/>
          </ns1:xfrm>
          <ns1:custGeom>
            <ns1:pathLst>
              <ns1:path w="752475" h="542925">
                <ns1:moveTo>
                  <ns1:pt x="0" y="0"/>
                </ns1:moveTo>
                <ns1:lnTo>
                  <ns1:pt x="504825" y="0"/>
                </ns1:lnTo>
                <ns1:lnTo>
                  <ns1:pt x="752475" y="266700"/>
                </ns1:lnTo>
                <ns1:lnTo>
                  <ns1:pt x="504825" y="542925"/>
                </ns1:lnTo>
                <ns1:lnTo>
                  <ns1:pt x="0" y="542925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31" name="trace:S03:content.auto.109">
            <ns1:extLst>
              <ns1:ext uri="{FF2B5EF4-FFF2-40B4-BE49-F238E27FC236}">
                <ns2:creationId id="{D87BBA70-6585-4598-A449-3BA081FFB2AE}"/>
              </ns1:ext>
            </ns1:extLst>
          </ns0:cNvPr>
          <ns0:cNvSpPr>
            <ns1:spLocks noGrp="1"/>
          </ns0:cNvSpPr>
          <ns0:nvPr/>
        </ns0:nvSpPr>
        <ns0:spPr>
          <ns1:xfrm>
            <ns1:off x="1381125" y="7715250"/>
            <ns1:ext cx="762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18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示唆</ns1:t>
            </ns1:r>
          </ns1:p>
        </ns0:txBody>
      </ns0:sp>
      <ns0:sp>
        <ns0:nvSpPr>
          <ns0:cNvPr id="132" name="trace:S03:content.auto.110">
            <ns1:extLst>
              <ns1:ext uri="{FF2B5EF4-FFF2-40B4-BE49-F238E27FC236}">
                <ns2:creationId id="{67890FA1-C633-4BF1-B9E4-8BFCE77775FA}"/>
              </ns1:ext>
            </ns1:extLst>
          </ns0:cNvPr>
          <ns0:cNvSpPr>
            <ns1:spLocks noGrp="1"/>
          </ns0:cNvSpPr>
          <ns0:nvPr/>
        </ns0:nvSpPr>
        <ns0:spPr>
          <ns1:xfrm>
            <ns1:off x="2314575" y="7591425"/>
            <ns1:ext cx="10382250" cy="542925"/>
          </ns1:xfrm>
          <ns1:prstGeom prst="rect">
            <ns1:avLst/>
          </ns1:prstGeom>
          <ns1:solidFill>
            <ns1:srgbClr val="FDEBEC"/>
          </ns1:solidFill>
          <ns1:ln w="0">
            <ns1:noFill/>
            <ns1:prstDash val="solid"/>
          </ns1:ln>
        </ns0:spPr>
      </ns0:sp>
      <ns0:sp>
        <ns0:nvSpPr>
          <ns0:cNvPr id="133" name="trace:S03:content.auto.111">
            <ns1:extLst>
              <ns1:ext uri="{FF2B5EF4-FFF2-40B4-BE49-F238E27FC236}">
                <ns2:creationId id="{20B040D3-4AA4-482A-8FDF-544D6085D015}"/>
              </ns1:ext>
            </ns1:extLst>
          </ns0:cNvPr>
          <ns0:cNvSpPr>
            <ns1:spLocks noGrp="1"/>
          </ns0:cNvSpPr>
          <ns0:nvPr/>
        </ns0:nvSpPr>
        <ns0:spPr>
          <ns1:xfrm>
            <ns1:off x="2790825" y="7696200"/>
            <ns1:ext cx="14287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提案業務の</ns1:t>
            </ns1:r>
          </ns1:p>
        </ns0:txBody>
      </ns0:sp>
      <ns0:sp>
        <ns0:nvSpPr>
          <ns0:cNvPr id="134" name="trace:S03:content.auto.112">
            <ns1:extLst>
              <ns1:ext uri="{FF2B5EF4-FFF2-40B4-BE49-F238E27FC236}">
                <ns2:creationId id="{2EB56445-2837-4715-BCBC-0457D1CA9D34}"/>
              </ns1:ext>
            </ns1:extLst>
          </ns0:cNvPr>
          <ns0:cNvSpPr>
            <ns1:spLocks noGrp="1"/>
          </ns0:cNvSpPr>
          <ns0:nvPr/>
        </ns0:nvSpPr>
        <ns0:spPr>
          <ns1:xfrm>
            <ns1:off x="4171950" y="7696200"/>
            <ns1:ext cx="11906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標準化</ns1:t>
            </ns1:r>
          </ns1:p>
        </ns0:txBody>
      </ns0:sp>
      <ns0:sp>
        <ns0:nvSpPr>
          <ns0:cNvPr id="135" name="trace:S03:content.auto.113">
            <ns1:extLst>
              <ns1:ext uri="{FF2B5EF4-FFF2-40B4-BE49-F238E27FC236}">
                <ns2:creationId id="{EA45A653-8ECB-4F59-B6E4-1671B13C9933}"/>
              </ns1:ext>
            </ns1:extLst>
          </ns0:cNvPr>
          <ns0:cNvSpPr>
            <ns1:spLocks noGrp="1"/>
          </ns0:cNvSpPr>
          <ns0:nvPr/>
        </ns0:nvSpPr>
        <ns0:spPr>
          <ns1:xfrm>
            <ns1:off x="5334000" y="7696200"/>
            <ns1:ext cx="2667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と</ns1:t>
            </ns1:r>
          </ns1:p>
        </ns0:txBody>
      </ns0:sp>
      <ns0:sp>
        <ns0:nvSpPr>
          <ns0:cNvPr id="136" name="trace:S03:content.auto.114">
            <ns1:extLst>
              <ns1:ext uri="{FF2B5EF4-FFF2-40B4-BE49-F238E27FC236}">
                <ns2:creationId id="{73FA563E-051B-483E-8530-DDF49FEC8E00}"/>
              </ns1:ext>
            </ns1:extLst>
          </ns0:cNvPr>
          <ns0:cNvSpPr>
            <ns1:spLocks noGrp="1"/>
          </ns0:cNvSpPr>
          <ns0:nvPr/>
        </ns0:nvSpPr>
        <ns0:spPr>
          <ns1:xfrm>
            <ns1:off x="5572125" y="7696200"/>
            <ns1:ext cx="2143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再利用基盤の整備</ns1:t>
            </ns1:r>
          </ns1:p>
        </ns0:txBody>
      </ns0:sp>
      <ns0:sp>
        <ns0:nvSpPr>
          <ns0:cNvPr id="137" name="trace:S03:content.auto.115">
            <ns1:extLst>
              <ns1:ext uri="{FF2B5EF4-FFF2-40B4-BE49-F238E27FC236}">
                <ns2:creationId id="{32504054-B06A-49DC-A2D0-CB32345B8D69}"/>
              </ns1:ext>
            </ns1:extLst>
          </ns0:cNvPr>
          <ns0:cNvSpPr>
            <ns1:spLocks noGrp="1"/>
          </ns0:cNvSpPr>
          <ns0:nvPr/>
        </ns0:nvSpPr>
        <ns0:spPr>
          <ns1:xfrm>
            <ns1:off x="7753350" y="7696200"/>
            <ns1:ext cx="4810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72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が、品質向上とスピード向上の起点となります。</ns1:t>
            </ns1:r>
          </ns1:p>
        </ns0:txBody>
      </ns0:sp>
      <ns0:sp>
        <ns0:nvSpPr>
          <ns0:cNvPr id="138" name="trace:S03:content.auto.116">
            <ns1:extLst>
              <ns1:ext uri="{FF2B5EF4-FFF2-40B4-BE49-F238E27FC236}">
                <ns2:creationId id="{BF5275D9-4EFF-4F87-ACE6-FA25F65C569A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429500"/>
            <ns1:ext cx="3352800" cy="1533525"/>
          </ns1:xfrm>
          <ns1:custGeom>
            <ns1:pathLst>
              <ns1:path w="3352800" h="1533525">
                <ns1:moveTo>
                  <ns1:pt x="0" y="1533525"/>
                </ns1:moveTo>
                <ns1:lnTo>
                  <ns1:pt x="3352800" y="0"/>
                </ns1:lnTo>
                <ns1:lnTo>
                  <ns1:pt x="3352800" y="1533525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39" name="trace:S03:content.auto.117">
            <ns1:extLst>
              <ns1:ext uri="{FF2B5EF4-FFF2-40B4-BE49-F238E27FC236}">
                <ns2:creationId id="{142122DD-D0E3-4187-8119-703F137C4CC4}"/>
              </ns1:ext>
            </ns1:extLst>
          </ns0:cNvPr>
          <ns0:cNvSpPr>
            <ns1:spLocks noGrp="1"/>
          </ns0:cNvSpPr>
          <ns0:nvPr/>
        </ns0:nvSpPr>
        <ns0:spPr>
          <ns1:xfrm>
            <ns1:off x="13658850" y="7924800"/>
            <ns1:ext cx="2266950" cy="1038225"/>
          </ns1:xfrm>
          <ns1:custGeom>
            <ns1:pathLst>
              <ns1:path w="2266950" h="1038225">
                <ns1:moveTo>
                  <ns1:pt x="0" y="1038225"/>
                </ns1:moveTo>
                <ns1:lnTo>
                  <ns1:pt x="2266950" y="0"/>
                </ns1:lnTo>
                <ns1:lnTo>
                  <ns1:pt x="2266950" y="1038225"/>
                </ns1:lnTo>
                <ns1:close/>
              </ns1:path>
            </ns1:pathLst>
          </ns1:custGeom>
          <ns1:solidFill>
            <ns1:srgbClr val="C8102E"/>
          </ns1:solidFill>
          <ns1:ln w="0">
            <ns1:noFill/>
            <ns1:prstDash val="solid"/>
          </ns1:ln>
        </ns0:spPr>
      </ns0:sp>
      <ns0:sp>
        <ns0:nvSpPr>
          <ns0:cNvPr id="140" name="trace:S03:content.auto.118">
            <ns1:extLst>
              <ns1:ext uri="{FF2B5EF4-FFF2-40B4-BE49-F238E27FC236}">
                <ns2:creationId id="{9C71DD8A-F225-4B74-82DA-8C8A11EEDA7D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8391525"/>
            <ns1:ext cx="12249150" cy="95"/>
          </ns1:xfrm>
          <ns1:custGeom>
            <ns1:pathLst>
              <ns1:path w="12249150" h="95">
                <ns1:moveTo>
                  <ns1:pt x="0" y="0"/>
                </ns1:moveTo>
                <ns1:lnTo>
                  <ns1:pt x="12249150" y="0"/>
                </ns1:lnTo>
              </ns1:path>
            </ns1:pathLst>
          </ns1:custGeom>
          <ns1:noFill/>
          <ns1:ln w="19050">
            <ns1:solidFill>
              <ns1:srgbClr val="E31B23"/>
            </ns1:solidFill>
            <ns1:prstDash val="solid"/>
          </ns1:ln>
        </ns0:spPr>
      </ns0:sp>
      <ns0:sp>
        <ns0:nvSpPr>
          <ns0:cNvPr id="141" name="trace:S03:content.auto.119">
            <ns1:extLst>
              <ns1:ext uri="{FF2B5EF4-FFF2-40B4-BE49-F238E27FC236}">
                <ns2:creationId id="{1A9A41A1-A978-4322-A8D7-090D7EA69642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8505825"/>
            <ns1:ext cx="3238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1">
                <ns1:solidFill>
                  <ns1:srgbClr val="101820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101820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142" name="trace:S03:content.auto.120">
            <ns1:extLst>
              <ns1:ext uri="{FF2B5EF4-FFF2-40B4-BE49-F238E27FC236}">
                <ns2:creationId id="{8CEF4288-BC86-4B8B-9D01-1C6065472585}"/>
              </ns1:ext>
            </ns1:extLst>
          </ns0:cNvPr>
          <ns0:cNvSpPr>
            <ns1:spLocks noGrp="1"/>
          </ns0:cNvSpPr>
          <ns0:nvPr/>
        </ns0:nvSpPr>
        <ns0:spPr>
          <ns1:xfrm>
            <ns1:off x="828675" y="8486775"/>
            <ns1:ext cx="1714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500" b="0">
                <ns1:solidFill>
                  <ns1:srgbClr val="101820"/>
                </ns1:solidFill>
                <ns1:latin typeface="Arial"/>
                <ns1:ea typeface="Arial"/>
                <ns1:cs typeface="Arial"/>
              </ns1:defRPr>
            </ns1:pPr>
            <ns1:r>
              <ns1:rPr sz="1500" b="0">
                <ns1:solidFill>
                  <ns1:srgbClr val="101820"/>
                </ns1:solidFill>
                <ns1:latin typeface="Arial"/>
                <ns1:ea typeface="Arial"/>
                <ns1:cs typeface="Arial"/>
              </ns1:rPr>
              <ns1:t>│</ns1:t>
            </ns1:r>
          </ns1:p>
        </ns0:txBody>
      </ns0:sp>
      <ns0:sp>
        <ns0:nvSpPr>
          <ns0:cNvPr id="143" name="trace:S03:footer.brand">
            <ns1:extLst>
              <ns1:ext uri="{FF2B5EF4-FFF2-40B4-BE49-F238E27FC236}">
                <ns2:creationId id="{B433FD4C-2085-423B-8225-30FE87ACE96A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" y="8505825"/>
            <ns1:ext cx="1476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44" name="trace:S03:content.auto.121">
            <ns1:extLst>
              <ns1:ext uri="{FF2B5EF4-FFF2-40B4-BE49-F238E27FC236}">
                <ns2:creationId id="{E0119316-9189-4DCB-ABD6-E49F7A6E8DD7}"/>
              </ns1:ext>
            </ns1:extLst>
          </ns0:cNvPr>
          <ns0:cNvSpPr>
            <ns1:spLocks noGrp="1"/>
          </ns0:cNvSpPr>
          <ns0:nvPr/>
        </ns0:nvSpPr>
        <ns0:spPr>
          <ns1:xfrm>
            <ns1:off x="2847975" y="8467725"/>
            <ns1:ext cx="95" cy="342900"/>
          </ns1:xfrm>
          <ns1:custGeom>
            <ns1:pathLst>
              <ns1:path w="95" h="342900">
                <ns1:moveTo>
                  <ns1:pt x="0" y="0"/>
                </ns1:moveTo>
                <ns1:lnTo>
                  <ns1:pt x="0" y="342900"/>
                </ns1:lnTo>
              </ns1:path>
            </ns1:pathLst>
          </ns1:custGeom>
          <ns1:noFill/>
          <ns1:ln w="9525">
            <ns1:solidFill>
              <ns1:srgbClr val="33404A"/>
            </ns1:solidFill>
            <ns1:prstDash val="solid"/>
          </ns1:ln>
        </ns0:spPr>
      </ns0:sp>
      <ns0:sp>
        <ns0:nvSpPr>
          <ns0:cNvPr id="145" name="trace:S03:footer.tagline.jp">
            <ns1:extLst>
              <ns1:ext uri="{FF2B5EF4-FFF2-40B4-BE49-F238E27FC236}">
                <ns2:creationId id="{0375D4A2-82FB-4696-8C19-597243A8CEF3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8486775"/>
            <ns1:ext cx="3333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05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0">
                <ns1:solidFill>
                  <ns1:srgbClr val="33404A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</ns0:txBody>
      </ns0:sp>
      <ns0:sp>
        <ns0:nvSpPr>
          <ns0:cNvPr id="146" name="trace:S03:footer.tagline.en">
            <ns1:extLst>
              <ns1:ext uri="{FF2B5EF4-FFF2-40B4-BE49-F238E27FC236}">
                <ns2:creationId id="{48E08A88-2AAA-4FE1-AD94-0891D2D68E1B}"/>
              </ns1:ext>
            </ns1:extLst>
          </ns0:cNvPr>
          <ns0:cNvSpPr>
            <ns1:spLocks noGrp="1"/>
          </ns0:cNvSpPr>
          <ns0:nvPr/>
        </ns0:nvSpPr>
        <ns0:spPr>
          <ns1:xfrm>
            <ns1:off x="3048000" y="8696325"/>
            <ns1:ext cx="33337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buNone/>
              <ns1:defRPr sz="1050" b="0">
                <ns1:solidFill>
                  <ns1:srgbClr val="33404A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33404A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47" name="trace:S03:content.auto.122">
            <ns1:extLst>
              <ns1:ext uri="{FF2B5EF4-FFF2-40B4-BE49-F238E27FC236}">
                <ns2:creationId id="{955026E7-5965-4A2B-A404-19B14C10C922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8334375"/>
            <ns1:ext cx="1381125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buNone/>
              <ns1:defRPr sz="825" b="0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T H I N K   T O G E T H E R .</ns1:t>
            </ns1:r>
          </ns1:p>
          <ns1:p>
            <ns1:pPr algn="ctr">
              <ns1:buNone/>
              <ns1:defRPr sz="825" b="0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C R E A T E   T H E   N E X T .</ns1:t>
            </ns1:r>
          </ns1:p>
        </ns0:txBody>
      </ns0:sp>
      <ns0:sp>
        <ns0:nvSpPr>
          <ns0:cNvPr id="148" name="trace:S03:content.auto.123">
            <ns1:extLst>
              <ns1:ext uri="{FF2B5EF4-FFF2-40B4-BE49-F238E27FC236}">
                <ns2:creationId id="{DADD753F-6403-4D21-87BF-83186A64973D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8763000"/>
            <ns1:ext cx="1333500" cy="95"/>
          </ns1:xfrm>
          <ns1:custGeom>
            <ns1:pathLst>
              <ns1:path w="1333500" h="95">
                <ns1:moveTo>
                  <ns1:pt x="0" y="0"/>
                </ns1:moveTo>
                <ns1:lnTo>
                  <ns1:pt x="1333500" y="0"/>
                </ns1:lnTo>
              </ns1:path>
            </ns1:pathLst>
          </ns1:custGeom>
          <ns1:noFill/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55" name="trace:S03:content.auto.124">
            <ns1:extLst>
              <ns1:ext uri="{FF2B5EF4-FFF2-40B4-BE49-F238E27FC236}">
                <ns2:creationId id="{D3A2E056-BB88-45DC-B089-96FBE97A92E7}"/>
              </ns1:ext>
            </ns1:extLst>
          </ns0:cNvPr>
          <ns0:cNvSpPr>
            <ns1:spLocks noGrp="1"/>
          </ns0:cNvSpPr>
          <ns0:nvPr/>
        </ns0:nvSpPr>
        <ns0:spPr>
          <ns1:xfrm>
            <ns1:off x="3524250" y="6172200"/>
            <ns1:ext cx="2095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2100" b="0">
                <ns1:solidFill>
                  <ns1:srgbClr val="9EA8B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9EA8B3"/>
                </ns1:solidFill>
                <ns1:latin typeface="Arial"/>
                <ns1:ea typeface="Arial"/>
                <ns1:cs typeface="Arial"/>
              </ns1:rPr>
              <ns1:t>×</ns1:t>
            </ns1:r>
          </ns1:p>
        </ns0:txBody>
      </ns0:sp>
      <ns0:sp>
        <ns0:nvSpPr>
          <ns0:cNvPr id="156" name="trace:S03:content.auto.125">
            <ns1:extLst>
              <ns1:ext uri="{FF2B5EF4-FFF2-40B4-BE49-F238E27FC236}">
                <ns2:creationId id="{BF941BEA-7734-445F-A522-ABB7B9C20D24}"/>
              </ns1:ext>
            </ns1:extLst>
          </ns0:cNvPr>
          <ns0:cNvSpPr>
            <ns1:spLocks noGrp="1"/>
          </ns0:cNvSpPr>
          <ns0:nvPr/>
        </ns0:nvSpPr>
        <ns0:spPr>
          <ns1:xfrm>
            <ns1:off x="6934200" y="6172200"/>
            <ns1:ext cx="2095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ctr">
              <ns1:buNone/>
              <ns1:defRPr sz="2100" b="0">
                <ns1:solidFill>
                  <ns1:srgbClr val="9EA8B3"/>
                </ns1:solidFill>
                <ns1:latin typeface="Arial"/>
                <ns1:ea typeface="Arial"/>
                <ns1:cs typeface="Arial"/>
              </ns1:defRPr>
            </ns1:pPr>
            <ns1:r>
              <ns1:rPr sz="2100" b="0">
                <ns1:solidFill>
                  <ns1:srgbClr val="9EA8B3"/>
                </ns1:solidFill>
                <ns1:latin typeface="Arial"/>
                <ns1:ea typeface="Arial"/>
                <ns1:cs typeface="Arial"/>
              </ns1:rPr>
              <ns1:t>×</ns1:t>
            </ns1:r>
          </ns1:p>
        </ns0:txBody>
      </ns0:sp>
      <ns0:sp>
        <ns0:nvSpPr>
          <ns0:cNvPr id="157" name="trace:S03:content.auto.126">
            <ns1:extLst>
              <ns1:ext uri="{FF2B5EF4-FFF2-40B4-BE49-F238E27FC236}">
                <ns2:creationId id="{582858BF-8318-4806-A8EE-5362DBDDE9FA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790575"/>
            <ns1:ext cx="3048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57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7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現状理解</ns1:t>
            </ns1:r>
          </ns1:p>
        </ns0:txBody>
      </ns0:sp>
      <ns0:sp>
        <ns0:nvSpPr>
          <ns0:cNvPr id="158" name="trace:S03:content.auto.127">
            <ns1:extLst>
              <ns1:ext uri="{FF2B5EF4-FFF2-40B4-BE49-F238E27FC236}">
                <ns2:creationId id="{C88AEE6F-971C-42B6-90C1-0F44329BDEC2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790575"/>
            <ns1:ext cx="4953000" cy="8763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54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475" b="1">
                <ns1:solidFill>
                  <ns1:srgbClr val="101820"/>
                </ns1:solidFill>
                <ns1:latin typeface="Yu Gothic"/>
                <ns1:ea typeface="Yu Gothic"/>
                <ns1:cs typeface="Yu Gothic"/>
              </ns1:rPr>
              <ns1:t>と課題整理</ns1:t>
            </ns1:r>
          </ns1:p>
        </ns0:txBody>
      </ns0:sp>
      <ns0:sp>
        <ns0:nvSpPr>
          <ns0:cNvPr id="159" name="trace:S03:title.primary.10">
            <ns1:extLst>
              <ns1:ext uri="{FF2B5EF4-FFF2-40B4-BE49-F238E27FC236}">
                <ns2:creationId id="{49F15422-3442-422C-BA0E-906F7BBEBB31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1695450"/>
            <ns1:ext cx="3429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20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02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現行の提案業務フローを整理し、</ns1:t>
            </ns1:r>
          </ns1:p>
        </ns0:txBody>
      </ns0:sp>
      <ns0:sp>
        <ns0:nvSpPr>
          <ns0:cNvPr id="160" name="trace:S03:title.primary.11">
            <ns1:extLst>
              <ns1:ext uri="{FF2B5EF4-FFF2-40B4-BE49-F238E27FC236}">
                <ns2:creationId id="{9C1AAFEB-011C-4417-9722-A93F243225E1}"/>
              </ns1:ext>
            </ns1:extLst>
          </ns0:cNvPr>
          <ns0:cNvSpPr>
            <ns1:spLocks noGrp="1"/>
          </ns0:cNvSpPr>
          <ns0:nvPr/>
        </ns0:nvSpPr>
        <ns0:spPr>
          <ns1:xfrm>
            <ns1:off x="3857625" y="1695450"/>
            <ns1:ext cx="57150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提案品質・速度・再現性を下げている主要因を明確化</ns1:t>
            </ns1:r>
          </ns1:p>
        </ns0:txBody>
      </ns0:sp>
      <ns0:sp>
        <ns0:nvSpPr>
          <ns0:cNvPr id="161" name="trace:S03:content.auto.128">
            <ns1:extLst>
              <ns1:ext uri="{FF2B5EF4-FFF2-40B4-BE49-F238E27FC236}">
                <ns2:creationId id="{C779DF04-8B22-4848-972D-0A8F68E37000}"/>
              </ns1:ext>
            </ns1:extLst>
          </ns0:cNvPr>
          <ns0:cNvSpPr>
            <ns1:spLocks noGrp="1"/>
          </ns0:cNvSpPr>
          <ns0:nvPr/>
        </ns0:nvSpPr>
        <ns0:spPr>
          <ns1:xfrm>
            <ns1:off x="9477375" y="1695450"/>
            <ns1:ext cx="6858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buNone/>
              <ns1:defRPr sz="18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0">
                <ns1:solidFill>
                  <ns1:srgbClr val="10233D"/>
                </ns1:solidFill>
                <ns1:latin typeface="Yu Gothic"/>
                <ns1:ea typeface="Yu Gothic"/>
                <ns1:cs typeface="Yu Gothic"/>
              </ns1:rPr>
              <ns1:t>します。</ns1:t>
            </ns1:r>
          </ns1:p>
        </ns0:txBody>
      </ns0:sp>
    </ns0:spTree>
    <ns0:extLst>
      <ns0:ext uri="{BB962C8B-B14F-4D97-AF65-F5344CB8AC3E}">
        <ns3:creationId val="101870527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2026-09-20T23:21:33.8380000Z</dcterms:created>
  <dcterms:modified xsi:type="dcterms:W3CDTF">2026-09-20T23:21:33.8380000Z</dcterms:modified>
</coreProperties>
</file>