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6039a6a1041b6" /><Relationship Type="http://schemas.openxmlformats.org/officeDocument/2006/relationships/extended-properties" Target="/docProps/app.xml" Id="Rf12e7227542942a1" /><Relationship Type="http://schemas.openxmlformats.org/officeDocument/2006/relationships/officeDocument" Target="/ppt/presentation.xml" Id="Rae4e81fba721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a8cce11fbd48ad"/>
  </p:sldMasterIdLst>
  <p:notesMasterIdLst>
    <p:notesMasterId xmlns:r="http://schemas.openxmlformats.org/officeDocument/2006/relationships" r:id="Rdd80e7f5e62e4ad6"/>
  </p:notesMasterIdLst>
  <p:sldIdLst>
    <p:sldId xmlns:r="http://schemas.openxmlformats.org/officeDocument/2006/relationships" id="256" r:id="Re6fe6e94e3bf4fa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32a37c4c84fc5" /><Relationship Type="http://schemas.openxmlformats.org/officeDocument/2006/relationships/slideMaster" Target="/ppt/slideMasters/slideMaster1.xml" Id="R21a8cce11fbd48ad" /><Relationship Type="http://schemas.openxmlformats.org/officeDocument/2006/relationships/notesMaster" Target="/ppt/notesMasters/notesMaster1.xml" Id="Rdd80e7f5e62e4ad6" /><Relationship Type="http://schemas.openxmlformats.org/officeDocument/2006/relationships/presProps" Target="/ppt/presProps.xml" Id="R2abecc5397fc4994" /><Relationship Type="http://schemas.openxmlformats.org/officeDocument/2006/relationships/tableStyles" Target="/ppt/tableStyles.xml" Id="Re81098c943c9441e" /><Relationship Type="http://schemas.openxmlformats.org/officeDocument/2006/relationships/slide" Target="/ppt/slides/slide1.xml" Id="Re6fe6e94e3bf4f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38a86eb4554f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f40b918924d21" /><Relationship Type="http://schemas.openxmlformats.org/officeDocument/2006/relationships/notesMaster" Target="/ppt/notesMasters/notesMaster1.xml" Id="R09217a428aa3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e17cf736f46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bb62b12e6432e" /><Relationship Type="http://schemas.openxmlformats.org/officeDocument/2006/relationships/slideLayout" Target="/ppt/slideLayouts/slideLayout1.xml" Id="R7d193a0286b6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93a0286b6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d3feb82a847ad" /><Relationship Type="http://schemas.openxmlformats.org/officeDocument/2006/relationships/notesSlide" Target="/ppt/notesSlides/notesSlide1.xml" Id="Re1d5575777f2491e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4" name="trace:ESTIMATE:content.auto">
            <ns1:extLst>
              <ns1:ext uri="{FF2B5EF4-FFF2-40B4-BE49-F238E27FC236}">
                <ns2:creationId id="{68B6A22A-D237-4866-BF34-35C58901293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63690" y="114911"/>
            <ns1:ext cx="325407" cy="25854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356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06</ns1:t>
            </ns1:r>
          </ns1:p>
        </ns0:txBody>
      </ns0:sp>
      <ns0:sp>
        <ns0:nvSpPr>
          <ns0:cNvPr id="2" name="trace:ESTIMATE:content.auto.2">
            <ns1:extLst>
              <ns1:ext uri="{FF2B5EF4-FFF2-40B4-BE49-F238E27FC236}">
                <ns2:creationId id="{BB1AB999-D35F-4168-8993-A9561E7A7B8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69956" y="143638"/>
            <ns1:ext cx="0" cy="229821"/>
          </ns1:xfrm>
          <ns1:prstGeom prst="line">
            <ns1:avLst/>
          </ns1:prstGeom>
          <ns1:noFill/>
          <ns1:ln w="19050">
            <ns1:solidFill>
              <ns1:srgbClr val="E30606"/>
            </ns1:solidFill>
          </ns1:ln>
        </ns0:spPr>
      </ns0:sp>
      <ns0:sp>
        <ns0:nvSpPr>
          <ns0:cNvPr id="3" name="trace:ESTIMATE:title.primary">
            <ns1:extLst>
              <ns1:ext uri="{FF2B5EF4-FFF2-40B4-BE49-F238E27FC236}">
                <ns2:creationId id="{EC7B0252-4E39-4392-871A-6BB59CDC9D0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03947" y="114911"/>
            <ns1:ext cx="435471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20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組織を変える、AI活用の進め方</ns1:t>
            </ns1:r>
          </ns1:p>
        </ns0:txBody>
      </ns0:sp>
      <ns0:sp>
        <ns0:nvSpPr>
          <ns0:cNvPr id="4" name="trace:ESTIMATE:footer.date">
            <ns1:extLst>
              <ns1:ext uri="{FF2B5EF4-FFF2-40B4-BE49-F238E27FC236}">
                <ns2:creationId id="{D65F8597-1320-4E62-B396-E01C6BCF868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935075" y="124486"/>
            <ns1:ext cx="1646176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r">
              <ns1:defRPr sz="1055" b="0">
                <ns1:solidFill>
                  <ns1:srgbClr val="6D747A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6D747A"/>
                </ns1:solidFill>
                <ns1:latin typeface="Yu Gothic UI"/>
                <ns1:ea typeface="Yu Gothic UI"/>
                <ns1:cs typeface="Yu Gothic UI"/>
              </ns1:rPr>
              <ns1:t>2026.06.22</ns1:t>
            </ns1:r>
          </ns1:p>
        </ns0:txBody>
      </ns0:sp>
      <ns0:sp>
        <ns0:nvSpPr>
          <ns0:cNvPr id="5" name="trace:ESTIMATE:content.auto.3">
            <ns1:extLst>
              <ns1:ext uri="{FF2B5EF4-FFF2-40B4-BE49-F238E27FC236}">
                <ns2:creationId id="{D41F4358-9DA0-4F02-990A-CF0821B7791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54119" y="478794"/>
            <ns1:ext cx="7656635" cy="0"/>
          </ns1:xfrm>
          <ns1:prstGeom prst="line">
            <ns1:avLst/>
          </ns1:prstGeom>
          <ns1:noFill/>
          <ns1:ln w="28575">
            <ns1:solidFill>
              <ns1:srgbClr val="E30606"/>
            </ns1:solidFill>
          </ns1:ln>
        </ns0:spPr>
      </ns0:sp>
      <ns0:sp>
        <ns0:nvSpPr>
          <ns0:cNvPr id="6" name="trace:ESTIMATE:content.auto.4">
            <ns1:extLst>
              <ns1:ext uri="{FF2B5EF4-FFF2-40B4-BE49-F238E27FC236}">
                <ns2:creationId id="{1A77D284-D5AD-426B-82A0-8B2B259C61B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010754" y="478794"/>
            <ns1:ext cx="7570497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</ns1:ln>
        </ns0:spPr>
      </ns0:sp>
      <ns0:sp>
        <ns0:nvSpPr>
          <ns0:cNvPr id="7" name="trace:ESTIMATE:title.primary.2">
            <ns1:extLst>
              <ns1:ext uri="{FF2B5EF4-FFF2-40B4-BE49-F238E27FC236}">
                <ns2:creationId id="{81264B55-8491-47C4-BB71-D3168A7D5D73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82832" y="727767"/>
            <ns1:ext cx="7848050" cy="574553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b">
            <ns1:normAutofit fontScale="100000"/>
          </ns1:bodyPr>
          <ns1:lstStyle/>
          <ns1:p>
            <ns1:pPr algn="l">
              <ns1:defRPr sz="354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354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概算見積と判断条件</ns1:t>
            </ns1:r>
          </ns1:p>
        </ns0:txBody>
      </ns0:sp>
      <ns0:sp>
        <ns0:nvSpPr>
          <ns0:cNvPr id="8" name="trace:ESTIMATE:title.primary.3">
            <ns1:extLst>
              <ns1:ext uri="{FF2B5EF4-FFF2-40B4-BE49-F238E27FC236}">
                <ns2:creationId id="{1B0F7240-BF0A-4695-BC50-2E333E23355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82832" y="1331048"/>
            <ns1:ext cx="8900838" cy="35430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658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658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費用の透明性を確保し、判断に必要な前提・範囲・除外事項・支払条件を明確にします。</ns1:t>
            </ns1:r>
          </ns1:p>
        </ns0:txBody>
      </ns0:sp>
      <ns0:graphicFrame>
        <ns0:nvGraphicFramePr>
          <ns0:cNvPr id="152" name="trace:ESTIMATE:title.primary.4"/>
          <ns0:cNvGraphicFramePr/>
          <ns0:nvPr/>
        </ns0:nvGraphicFramePr>
        <ns0:xfrm>
          <ns1:off x="382832" y="1848145"/>
          <ns1:ext cx="8565860" cy="5352918"/>
        </ns0:xfrm>
        <ns1:graphic>
          <ns1:graphicData uri="http://schemas.openxmlformats.org/drawingml/2006/table">
            <ns1:tbl>
              <ns1:tblPr/>
              <ns1:tblGrid>
                <ns1:gridCol w="4038875"/>
                <ns1:gridCol w="1110212"/>
                <ns1:gridCol w="1100641"/>
                <ns1:gridCol w="2316132"/>
              </ns1:tblGrid>
              <ns1:tr h="411763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500" b="1">
                          <ns1:solidFill>
                            <ns1:srgbClr val="FFFFFF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項目</ns1:t>
                      </ns1:r>
                    </ns1:p>
                  </ns1:txBody>
                  <ns1:tcPr marL="76200" marR="76200" marT="0" marB="0">
                    <ns1:solidFill>
                      <ns1:srgbClr val="111111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500" b="1">
                          <ns1:solidFill>
                            <ns1:srgbClr val="FFFFFF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単位</ns1:t>
                      </ns1:r>
                    </ns1:p>
                  </ns1:txBody>
                  <ns1:tcPr marL="76200" marR="76200" marT="0" marB="0">
                    <ns1:solidFill>
                      <ns1:srgbClr val="111111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500" b="1">
                          <ns1:solidFill>
                            <ns1:srgbClr val="FFFFFF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数量</ns1:t>
                      </ns1:r>
                    </ns1:p>
                  </ns1:txBody>
                  <ns1:tcPr marL="76200" marR="76200" marT="0" marB="0">
                    <ns1:solidFill>
                      <ns1:srgbClr val="111111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500" b="1">
                          <ns1:solidFill>
                            <ns1:srgbClr val="FFFFFF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概算金額（税別）</ns1:t>
                      </ns1:r>
                    </ns1:p>
                  </ns1:txBody>
                  <ns1:tcPr marL="76200" marR="76200" marT="0" marB="0">
                    <ns1:solidFill>
                      <ns1:srgbClr val="111111"/>
                    </ns1:solidFill>
                  </ns1:tcPr>
                </ns1:tc>
              </ns1:tr>
              <ns1:tr h="699039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￥1,500,000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  <ns1:tr h="699039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￥1,200,000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  <ns1:tr h="708615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￥2,000,000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  <ns1:tr h="718191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￥2,000,000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  <ns1:tr h="699039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￥1,200,000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  <ns1:tr h="708615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￥800,000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  <ns1:tr h="708615"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/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式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/>
                    <ns1:lstStyle/>
                    <ns1:p>
                      <ns1:pPr algn="ctr"/>
                      <ns1:r>
                        <ns1:rPr sz="1275">
                          <ns1:solidFill>
                            <ns1:srgbClr val="2D343B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</ns1:t>
                      </ns1:r>
                    </ns1:p>
                  </ns1:txBody>
                  <ns1:tcPr marL="76200" marR="76200" marT="0" marB="0">
                    <ns1:solidFill>
                      <ns1:srgbClr val="FFFFFF"/>
                    </ns1:solidFill>
                  </ns1:tcPr>
                </ns1:tc>
                <ns1:tc>
                  <ns1:txBody>
                    <ns1:bodyPr anchor="ctr">
                      <ns1:normAutofit/>
                    </ns1:bodyPr>
                    <ns1:lstStyle/>
                    <ns1:p>
                      <ns1:pPr algn="r"/>
                      <ns1:r>
                        <ns1:rPr sz="1500" b="1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￥800,000</ns1:t>
                      </ns1:r>
                    </ns1:p>
                  </ns1:txBody>
                  <ns1:tcPr marL="76200" marR="285750" marT="0" marB="0" anchor="ctr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0" name="trace:ESTIMATE:content.auto.5">
            <ns1:extLst>
              <ns1:ext uri="{FF2B5EF4-FFF2-40B4-BE49-F238E27FC236}">
                <ns2:creationId id="{1A441619-29CB-4738-8B2E-4154F5336B1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2279060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11" name="trace:ESTIMATE:content.auto.6">
            <ns1:extLst>
              <ns1:ext uri="{FF2B5EF4-FFF2-40B4-BE49-F238E27FC236}">
                <ns2:creationId id="{9DD3D8E3-C628-4660-BF57-78D6F2E49DF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98668" y="2432274"/>
            <ns1:ext cx="248841" cy="344732"/>
          </ns1:xfrm>
          <ns1:prstGeom prst="rect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</ns1:ln>
        </ns0:spPr>
      </ns0:sp>
      <ns0:sp>
        <ns0:nvSpPr>
          <ns0:cNvPr id="12" name="trace:ESTIMATE:content.auto.7">
            <ns1:extLst>
              <ns1:ext uri="{FF2B5EF4-FFF2-40B4-BE49-F238E27FC236}">
                <ns2:creationId id="{5DB2BB8A-B467-4D44-A836-7B25A92186D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51801" y="2432274"/>
            <ns1:ext cx="95708" cy="95759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13" name="trace:ESTIMATE:content.auto.8">
            <ns1:extLst>
              <ns1:ext uri="{FF2B5EF4-FFF2-40B4-BE49-F238E27FC236}">
                <ns2:creationId id="{72E476D6-A2A4-46A8-BAF1-FCE6E0BA4EA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51801" y="2432274"/>
            <ns1:ext cx="0" cy="95759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14" name="trace:ESTIMATE:content.auto.9">
            <ns1:extLst>
              <ns1:ext uri="{FF2B5EF4-FFF2-40B4-BE49-F238E27FC236}">
                <ns2:creationId id="{C3E88782-A60C-46CA-BF1B-6F61FA5C69D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756093" y="2642943"/>
            <ns1:ext cx="133991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15" name="trace:ESTIMATE:content.auto.10">
            <ns1:extLst>
              <ns1:ext uri="{FF2B5EF4-FFF2-40B4-BE49-F238E27FC236}">
                <ns2:creationId id="{AA76272D-A694-4923-85F3-03B225D9C0F3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756093" y="2700399"/>
            <ns1:ext cx="133991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16" name="trace:ESTIMATE:content.auto.11">
            <ns1:extLst>
              <ns1:ext uri="{FF2B5EF4-FFF2-40B4-BE49-F238E27FC236}">
                <ns2:creationId id="{0F834EB8-C716-40C9-BC15-D851F7B8785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2336515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企画設計</ns1:t>
            </ns1:r>
          </ns1:p>
        </ns0:txBody>
      </ns0:sp>
      <ns0:sp>
        <ns0:nvSpPr>
          <ns0:cNvPr id="17" name="trace:ESTIMATE:title.primary.5">
            <ns1:extLst>
              <ns1:ext uri="{FF2B5EF4-FFF2-40B4-BE49-F238E27FC236}">
                <ns2:creationId id="{887D6CC4-43A8-4EEF-8580-4FF51BBC427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2633367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ゴール設定・要件整理・コンセプト設計</ns1:t>
            </ns1:r>
          </ns1:p>
        </ns0:txBody>
      </ns0:sp>
      <ns0:sp>
        <ns0:nvSpPr>
          <ns0:cNvPr id="18" name="trace:ESTIMATE:content.auto.12">
            <ns1:extLst>
              <ns1:ext uri="{FF2B5EF4-FFF2-40B4-BE49-F238E27FC236}">
                <ns2:creationId id="{C49D3E26-C9B2-43F2-B445-81BB1CAD2EF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2978099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19" name="trace:ESTIMATE:content.auto.13">
            <ns1:extLst>
              <ns1:ext uri="{FF2B5EF4-FFF2-40B4-BE49-F238E27FC236}">
                <ns2:creationId id="{CC47DD64-57DB-4F94-9395-74A66453EA0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765663" y="3112161"/>
            <ns1:ext cx="114850" cy="114911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</ns1:ln>
        </ns0:spPr>
      </ns0:sp>
      <ns0:sp>
        <ns0:nvSpPr>
          <ns0:cNvPr id="20" name="trace:ESTIMATE:content.auto.14">
            <ns1:extLst>
              <ns1:ext uri="{FF2B5EF4-FFF2-40B4-BE49-F238E27FC236}">
                <ns2:creationId id="{C8AB0EC6-4E51-4294-AF7A-DD6506A0C14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727380" y="3227072"/>
            <ns1:ext cx="191416" cy="114911"/>
          </ns1:xfrm>
          <ns1:prstGeom prst="roundRect">
            <ns1:avLst>
              <ns1:gd name="adj" fmla="val 50000"/>
            </ns1:avLst>
          </ns1:prstGeom>
          <ns1:solidFill>
            <ns1:srgbClr val="FFFFFF"/>
          </ns1:solidFill>
          <ns1:ln w="19050">
            <ns1:solidFill>
              <ns1:srgbClr val="111111"/>
            </ns1:solidFill>
          </ns1:ln>
        </ns0:spPr>
      </ns0:sp>
      <ns0:sp>
        <ns0:nvSpPr>
          <ns0:cNvPr id="21" name="trace:ESTIMATE:content.auto.15">
            <ns1:extLst>
              <ns1:ext uri="{FF2B5EF4-FFF2-40B4-BE49-F238E27FC236}">
                <ns2:creationId id="{99442E00-A366-4772-B6B0-36DC23E85E20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660385" y="3341983"/>
            <ns1:ext cx="105279" cy="95759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22" name="trace:ESTIMATE:content.auto.16">
            <ns1:extLst>
              <ns1:ext uri="{FF2B5EF4-FFF2-40B4-BE49-F238E27FC236}">
                <ns2:creationId id="{3EF96471-928A-427D-8F41-ED65B637AD9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80513" y="3341983"/>
            <ns1:ext cx="105279" cy="95759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23" name="trace:ESTIMATE:content.auto.17">
            <ns1:extLst>
              <ns1:ext uri="{FF2B5EF4-FFF2-40B4-BE49-F238E27FC236}">
                <ns2:creationId id="{CC07529C-F653-469A-99C0-2F7D3FA93DF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22102" y="3399438"/>
            <ns1:ext cx="76566" cy="76607"/>
          </ns1:xfrm>
          <ns1:prstGeom prst="ellipse">
            <ns1:avLst/>
          </ns1:prstGeom>
          <ns1:solidFill>
            <ns1:srgbClr val="FFFFFF"/>
          </ns1:solidFill>
          <ns1:ln w="14288">
            <ns1:solidFill>
              <ns1:srgbClr val="111111"/>
            </ns1:solidFill>
          </ns1:ln>
        </ns0:spPr>
      </ns0:sp>
      <ns0:sp>
        <ns0:nvSpPr>
          <ns0:cNvPr id="24" name="trace:ESTIMATE:content.auto.18">
            <ns1:extLst>
              <ns1:ext uri="{FF2B5EF4-FFF2-40B4-BE49-F238E27FC236}">
                <ns2:creationId id="{27A884E5-A6E2-4C04-BD43-545909F1631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47509" y="3399438"/>
            <ns1:ext cx="76566" cy="76607"/>
          </ns1:xfrm>
          <ns1:prstGeom prst="ellipse">
            <ns1:avLst/>
          </ns1:prstGeom>
          <ns1:solidFill>
            <ns1:srgbClr val="FFFFFF"/>
          </ns1:solidFill>
          <ns1:ln w="14288">
            <ns1:solidFill>
              <ns1:srgbClr val="111111"/>
            </ns1:solidFill>
          </ns1:ln>
        </ns0:spPr>
      </ns0:sp>
      <ns0:sp>
        <ns0:nvSpPr>
          <ns0:cNvPr id="25" name="trace:ESTIMATE:content.auto.19">
            <ns1:extLst>
              <ns1:ext uri="{FF2B5EF4-FFF2-40B4-BE49-F238E27FC236}">
                <ns2:creationId id="{F7BB19C0-8A1C-4833-8DE2-2CAA7D30CE5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3035554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情報設計</ns1:t>
            </ns1:r>
          </ns1:p>
        </ns0:txBody>
      </ns0:sp>
      <ns0:sp>
        <ns0:nvSpPr>
          <ns0:cNvPr id="26" name="trace:ESTIMATE:title.primary.6">
            <ns1:extLst>
              <ns1:ext uri="{FF2B5EF4-FFF2-40B4-BE49-F238E27FC236}">
                <ns2:creationId id="{8B0DCC27-6441-4C88-84B4-EC690F0D130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3332407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コンテンツ構成・導線設計・ワイヤーフレーム</ns1:t>
            </ns1:r>
          </ns1:p>
        </ns0:txBody>
      </ns0:sp>
      <ns0:sp>
        <ns0:nvSpPr>
          <ns0:cNvPr id="27" name="trace:ESTIMATE:content.auto.20">
            <ns1:extLst>
              <ns1:ext uri="{FF2B5EF4-FFF2-40B4-BE49-F238E27FC236}">
                <ns2:creationId id="{8694F0B5-DF70-4FDE-848E-8017BC9BCB7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3677138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28" name="trace:ESTIMATE:content.auto.21">
            <ns1:extLst>
              <ns1:ext uri="{FF2B5EF4-FFF2-40B4-BE49-F238E27FC236}">
                <ns2:creationId id="{D1CE60AB-B0D2-4C86-B7FC-F9B6E7BC7BF4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698668" y="3878232"/>
            <ns1:ext cx="248841" cy="248973"/>
          </ns1:xfrm>
          <ns1:prstGeom prst="line">
            <ns1:avLst/>
          </ns1:prstGeom>
          <ns1:noFill/>
          <ns1:ln w="28575">
            <ns1:solidFill>
              <ns1:srgbClr val="111111"/>
            </ns1:solidFill>
          </ns1:ln>
        </ns0:spPr>
      </ns0:sp>
      <ns0:sp>
        <ns0:nvSpPr>
          <ns0:cNvPr id="29" name="trace:ESTIMATE:content.auto.22">
            <ns1:extLst>
              <ns1:ext uri="{FF2B5EF4-FFF2-40B4-BE49-F238E27FC236}">
                <ns2:creationId id="{9C55F953-3E7F-4541-8908-6214FFBBE18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90084" y="3830353"/>
            <ns1:ext cx="86137" cy="86183"/>
          </ns1:xfrm>
          <ns1:prstGeom prst="ellipse">
            <ns1:avLst/>
          </ns1:prstGeom>
          <ns1:solidFill>
            <ns1:srgbClr val="FFFFFF"/>
          </ns1:solidFill>
          <ns1:ln w="14288">
            <ns1:solidFill>
              <ns1:srgbClr val="111111"/>
            </ns1:solidFill>
          </ns1:ln>
        </ns0:spPr>
      </ns0:sp>
      <ns0:sp>
        <ns0:nvSpPr>
          <ns0:cNvPr id="30" name="trace:ESTIMATE:content.auto.23">
            <ns1:extLst>
              <ns1:ext uri="{FF2B5EF4-FFF2-40B4-BE49-F238E27FC236}">
                <ns2:creationId id="{24312042-2C3F-4A36-8DD9-2F8551A7C01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79526" y="4127205"/>
            <ns1:ext cx="95708" cy="0"/>
          </ns1:xfrm>
          <ns1:prstGeom prst="line">
            <ns1:avLst/>
          </ns1:prstGeom>
          <ns1:noFill/>
          <ns1:ln w="17145">
            <ns1:solidFill>
              <ns1:srgbClr val="111111"/>
            </ns1:solidFill>
          </ns1:ln>
        </ns0:spPr>
      </ns0:sp>
      <ns0:sp>
        <ns0:nvSpPr>
          <ns0:cNvPr id="31" name="trace:ESTIMATE:content.auto.24">
            <ns1:extLst>
              <ns1:ext uri="{FF2B5EF4-FFF2-40B4-BE49-F238E27FC236}">
                <ns2:creationId id="{E755AE87-13B7-42DA-AB98-C8991AF17A8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3734594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デザイン</ns1:t>
            </ns1:r>
          </ns1:p>
        </ns0:txBody>
      </ns0:sp>
      <ns0:sp>
        <ns0:nvSpPr>
          <ns0:cNvPr id="32" name="trace:ESTIMATE:lead">
            <ns1:extLst>
              <ns1:ext uri="{FF2B5EF4-FFF2-40B4-BE49-F238E27FC236}">
                <ns2:creationId id="{7E549D89-403D-4377-A668-8A1406DB2B9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4031446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アートディレクション・画面デザイン・UI設計</ns1:t>
            </ns1:r>
          </ns1:p>
        </ns0:txBody>
      </ns0:sp>
      <ns0:sp>
        <ns0:nvSpPr>
          <ns0:cNvPr id="33" name="trace:ESTIMATE:content.auto.25">
            <ns1:extLst>
              <ns1:ext uri="{FF2B5EF4-FFF2-40B4-BE49-F238E27FC236}">
                <ns2:creationId id="{2E754CFA-154A-40B0-ABE6-73B66013A90B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4385754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34" name="trace:ESTIMATE:content.auto.26">
            <ns1:extLst>
              <ns1:ext uri="{FF2B5EF4-FFF2-40B4-BE49-F238E27FC236}">
                <ns2:creationId id="{14FB3128-6A00-41C7-9AEA-855AE2A799A5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679526" y="4586847"/>
            <ns1:ext cx="105279" cy="124486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35" name="trace:ESTIMATE:content.auto.27">
            <ns1:extLst>
              <ns1:ext uri="{FF2B5EF4-FFF2-40B4-BE49-F238E27FC236}">
                <ns2:creationId id="{F6647C3D-4256-4BE5-9773-49951452A0B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79526" y="4711334"/>
            <ns1:ext cx="105279" cy="124486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36" name="trace:ESTIMATE:content.auto.28">
            <ns1:extLst>
              <ns1:ext uri="{FF2B5EF4-FFF2-40B4-BE49-F238E27FC236}">
                <ns2:creationId id="{57AA6B09-BE1D-42F9-AC87-88F51292CF6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61371" y="4586847"/>
            <ns1:ext cx="105279" cy="124486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37" name="trace:ESTIMATE:content.auto.29">
            <ns1:extLst>
              <ns1:ext uri="{FF2B5EF4-FFF2-40B4-BE49-F238E27FC236}">
                <ns2:creationId id="{6B9BF3AA-DF20-430A-86A1-D0779C81F4FC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861371" y="4711334"/>
            <ns1:ext cx="105279" cy="124486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38" name="trace:ESTIMATE:content.auto.30">
            <ns1:extLst>
              <ns1:ext uri="{FF2B5EF4-FFF2-40B4-BE49-F238E27FC236}">
                <ns2:creationId id="{E5E2A7FE-0246-438A-BF49-203D0C5D6E3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4443209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フロントエンド開発</ns1:t>
            </ns1:r>
          </ns1:p>
        </ns0:txBody>
      </ns0:sp>
      <ns0:sp>
        <ns0:nvSpPr>
          <ns0:cNvPr id="39" name="trace:ESTIMATE:lead.2">
            <ns1:extLst>
              <ns1:ext uri="{FF2B5EF4-FFF2-40B4-BE49-F238E27FC236}">
                <ns2:creationId id="{61AAA3C6-6F9D-410F-B005-AB1C08FE5D4B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4740061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静的コーディング・インタラクション実装</ns1:t>
            </ns1:r>
          </ns1:p>
        </ns0:txBody>
      </ns0:sp>
      <ns0:sp>
        <ns0:nvSpPr>
          <ns0:cNvPr id="40" name="trace:ESTIMATE:content.auto.31">
            <ns1:extLst>
              <ns1:ext uri="{FF2B5EF4-FFF2-40B4-BE49-F238E27FC236}">
                <ns2:creationId id="{4071211F-7A05-477E-8910-BF2B799E325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5103945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41" name="trace:ESTIMATE:content.auto.32">
            <ns1:extLst>
              <ns1:ext uri="{FF2B5EF4-FFF2-40B4-BE49-F238E27FC236}">
                <ns2:creationId id="{3C7FA7BF-056F-4AD2-8723-AB39DB3E7D1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98668" y="5305038"/>
            <ns1:ext cx="248841" cy="86183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</ns1:ln>
        </ns0:spPr>
      </ns0:sp>
      <ns0:sp>
        <ns0:nvSpPr>
          <ns0:cNvPr id="42" name="trace:ESTIMATE:content.auto.33">
            <ns1:extLst>
              <ns1:ext uri="{FF2B5EF4-FFF2-40B4-BE49-F238E27FC236}">
                <ns2:creationId id="{6E1B682F-F5C0-4066-9723-0174947229B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98668" y="5352918"/>
            <ns1:ext cx="248841" cy="201094"/>
          </ns1:xfrm>
          <ns1:prstGeom prst="rect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</ns1:ln>
        </ns0:spPr>
      </ns0:sp>
      <ns0:sp>
        <ns0:nvSpPr>
          <ns0:cNvPr id="43" name="trace:ESTIMATE:content.auto.34">
            <ns1:extLst>
              <ns1:ext uri="{FF2B5EF4-FFF2-40B4-BE49-F238E27FC236}">
                <ns2:creationId id="{0529BDC2-8727-4E65-9F94-F4A3832DB421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98668" y="5506132"/>
            <ns1:ext cx="248841" cy="86183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</ns1:ln>
        </ns0:spPr>
      </ns0:sp>
      <ns0:sp>
        <ns0:nvSpPr>
          <ns0:cNvPr id="44" name="trace:ESTIMATE:content.auto.35">
            <ns1:extLst>
              <ns1:ext uri="{FF2B5EF4-FFF2-40B4-BE49-F238E27FC236}">
                <ns2:creationId id="{B5119BEF-003C-4DE7-9990-45D46F0D629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5161400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CMS実装</ns1:t>
            </ns1:r>
          </ns1:p>
        </ns0:txBody>
      </ns0:sp>
      <ns0:sp>
        <ns0:nvSpPr>
          <ns0:cNvPr id="45" name="trace:ESTIMATE:content.auto.36">
            <ns1:extLst>
              <ns1:ext uri="{FF2B5EF4-FFF2-40B4-BE49-F238E27FC236}">
                <ns2:creationId id="{77A7CE62-5A1C-4D1A-A971-FEB26F8A7B4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5458252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CMS構築・テンプレート実装・初期設定</ns1:t>
            </ns1:r>
          </ns1:p>
        </ns0:txBody>
      </ns0:sp>
      <ns0:sp>
        <ns0:nvSpPr>
          <ns0:cNvPr id="46" name="trace:ESTIMATE:content.auto.37">
            <ns1:extLst>
              <ns1:ext uri="{FF2B5EF4-FFF2-40B4-BE49-F238E27FC236}">
                <ns2:creationId id="{58ED2677-5668-4080-9A34-580C2A36F72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5802984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47" name="trace:ESTIMATE:content.auto.38">
            <ns1:extLst>
              <ns1:ext uri="{FF2B5EF4-FFF2-40B4-BE49-F238E27FC236}">
                <ns2:creationId id="{C528F0C3-2840-472A-9645-1780E5CCF68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50814" y="5956198"/>
            <ns1:ext cx="344549" cy="344732"/>
          </ns1:xfrm>
          <ns1:prstGeom prst="ellipse">
            <ns1:avLst/>
          </ns1:prstGeom>
          <ns1:solidFill>
            <ns1:srgbClr val="FFFFFF"/>
          </ns1:solidFill>
          <ns1:ln w="23813">
            <ns1:solidFill>
              <ns1:srgbClr val="111111"/>
            </ns1:solidFill>
          </ns1:ln>
        </ns0:spPr>
      </ns0:sp>
      <ns0:sp>
        <ns0:nvSpPr>
          <ns0:cNvPr id="48" name="trace:ESTIMATE:content.auto.39">
            <ns1:extLst>
              <ns1:ext uri="{FF2B5EF4-FFF2-40B4-BE49-F238E27FC236}">
                <ns2:creationId id="{199BBF7E-7F4C-49EB-A881-77AB45ABE5D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756093" y="6061533"/>
            <ns1:ext cx="133991" cy="134062"/>
          </ns1:xfrm>
          <ns1:prstGeom prst="ellipse">
            <ns1:avLst/>
          </ns1:prstGeom>
          <ns1:solidFill>
            <ns1:srgbClr val="FBE5E6"/>
          </ns1:solidFill>
          <ns1:ln w="19050">
            <ns1:solidFill>
              <ns1:srgbClr val="111111"/>
            </ns1:solidFill>
          </ns1:ln>
        </ns0:spPr>
      </ns0:sp>
      <ns0:sp>
        <ns0:nvSpPr>
          <ns0:cNvPr id="49" name="trace:ESTIMATE:content.auto.40">
            <ns1:extLst>
              <ns1:ext uri="{FF2B5EF4-FFF2-40B4-BE49-F238E27FC236}">
                <ns2:creationId id="{D5AD67CA-DC10-4327-81D3-AD30E94D615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23088" y="5889167"/>
            <ns1:ext cx="0" cy="67031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0" name="trace:ESTIMATE:content.auto.41">
            <ns1:extLst>
              <ns1:ext uri="{FF2B5EF4-FFF2-40B4-BE49-F238E27FC236}">
                <ns2:creationId id="{9BE96306-D5CD-4826-B60E-CEA7A8CFCD4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23088" y="6300930"/>
            <ns1:ext cx="0" cy="67031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1" name="trace:ESTIMATE:content.auto.42">
            <ns1:extLst>
              <ns1:ext uri="{FF2B5EF4-FFF2-40B4-BE49-F238E27FC236}">
                <ns2:creationId id="{9AA3FB1D-B6CD-4675-8345-536460EE4BC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583818" y="6128564"/>
            <ns1:ext cx="66996" cy="0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2" name="trace:ESTIMATE:content.auto.43">
            <ns1:extLst>
              <ns1:ext uri="{FF2B5EF4-FFF2-40B4-BE49-F238E27FC236}">
                <ns2:creationId id="{B43695D8-C8BD-49D9-BAC9-49F87620ABB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95363" y="6128564"/>
            <ns1:ext cx="66996" cy="0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3" name="trace:ESTIMATE:content.auto.44">
            <ns1:extLst>
              <ns1:ext uri="{FF2B5EF4-FFF2-40B4-BE49-F238E27FC236}">
                <ns2:creationId id="{AD4DA93F-66FB-4452-9EA0-FF015F6D133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41243" y="5946622"/>
            <ns1:ext cx="57425" cy="57455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4" name="trace:ESTIMATE:content.auto.45">
            <ns1:extLst>
              <ns1:ext uri="{FF2B5EF4-FFF2-40B4-BE49-F238E27FC236}">
                <ns2:creationId id="{93EC185D-97D9-4E01-AF9B-792D31189CF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47509" y="6253051"/>
            <ns1:ext cx="57425" cy="57455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5" name="trace:ESTIMATE:content.auto.46">
            <ns1:extLst>
              <ns1:ext uri="{FF2B5EF4-FFF2-40B4-BE49-F238E27FC236}">
                <ns2:creationId id="{1155403A-F98B-43C0-8F43-BF24C03C2FD0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947509" y="5946622"/>
            <ns1:ext cx="57425" cy="57455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6" name="trace:ESTIMATE:content.auto.47">
            <ns1:extLst>
              <ns1:ext uri="{FF2B5EF4-FFF2-40B4-BE49-F238E27FC236}">
                <ns2:creationId id="{72A6A633-1E34-46B7-8B50-88B40DC43E44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641243" y="6253051"/>
            <ns1:ext cx="57425" cy="57455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57" name="trace:ESTIMATE:content.auto.48">
            <ns1:extLst>
              <ns1:ext uri="{FF2B5EF4-FFF2-40B4-BE49-F238E27FC236}">
                <ns2:creationId id="{77B60806-8D82-4DBF-82A1-DAFC84D48C9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5860439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テスト・公開支援</ns1:t>
            </ns1:r>
          </ns1:p>
        </ns0:txBody>
      </ns0:sp>
      <ns0:sp>
        <ns0:nvSpPr>
          <ns0:cNvPr id="58" name="trace:ESTIMATE:content.auto.49">
            <ns1:extLst>
              <ns1:ext uri="{FF2B5EF4-FFF2-40B4-BE49-F238E27FC236}">
                <ns2:creationId id="{428BCDBC-EB31-4F11-A9B5-592BB0E6169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6157292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動作検証・修正対応・公開作業支援</ns1:t>
            </ns1:r>
          </ns1:p>
        </ns0:txBody>
      </ns0:sp>
      <ns0:sp>
        <ns0:nvSpPr>
          <ns0:cNvPr id="59" name="trace:ESTIMATE:content.auto.50">
            <ns1:extLst>
              <ns1:ext uri="{FF2B5EF4-FFF2-40B4-BE49-F238E27FC236}">
                <ns2:creationId id="{03BBBBD2-716C-4481-A7F3-51B4749DA9A3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" y="6511599"/>
            <ns1:ext cx="650814" cy="65116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60" name="trace:ESTIMATE:content.auto.51">
            <ns1:extLst>
              <ns1:ext uri="{FF2B5EF4-FFF2-40B4-BE49-F238E27FC236}">
                <ns2:creationId id="{E397B224-262C-47F9-9661-48DEE703FFD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89097" y="6971242"/>
            <ns1:ext cx="277553" cy="0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61" name="trace:ESTIMATE:content.auto.52">
            <ns1:extLst>
              <ns1:ext uri="{FF2B5EF4-FFF2-40B4-BE49-F238E27FC236}">
                <ns2:creationId id="{7B3B84C1-D469-4B92-8BE8-265DD95ABCD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98668" y="6846755"/>
            <ns1:ext cx="57425" cy="124486"/>
          </ns1:xfrm>
          <ns1:prstGeom prst="rect">
            <ns1:avLst/>
          </ns1:prstGeom>
          <ns1:solidFill>
            <ns1:srgbClr val="111111"/>
          </ns1:solidFill>
          <ns1:ln w="0">
            <ns1:noFill/>
          </ns1:ln>
        </ns0:spPr>
      </ns0:sp>
      <ns0:sp>
        <ns0:nvSpPr>
          <ns0:cNvPr id="62" name="trace:ESTIMATE:content.auto.53">
            <ns1:extLst>
              <ns1:ext uri="{FF2B5EF4-FFF2-40B4-BE49-F238E27FC236}">
                <ns2:creationId id="{79C9D3E7-E2C3-411F-ACC4-B8ED2758EA11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794376" y="6760572"/>
            <ns1:ext cx="57425" cy="210669"/>
          </ns1:xfrm>
          <ns1:prstGeom prst="rect">
            <ns1:avLst/>
          </ns1:prstGeom>
          <ns1:solidFill>
            <ns1:srgbClr val="111111"/>
          </ns1:solidFill>
          <ns1:ln w="0">
            <ns1:noFill/>
          </ns1:ln>
        </ns0:spPr>
      </ns0:sp>
      <ns0:sp>
        <ns0:nvSpPr>
          <ns0:cNvPr id="63" name="trace:ESTIMATE:content.auto.54">
            <ns1:extLst>
              <ns1:ext uri="{FF2B5EF4-FFF2-40B4-BE49-F238E27FC236}">
                <ns2:creationId id="{E4CBD615-B68D-4FF0-A54A-14346FA05CA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90084" y="6683965"/>
            <ns1:ext cx="57425" cy="287276"/>
          </ns1:xfrm>
          <ns1:prstGeom prst="rect">
            <ns1:avLst/>
          </ns1:prstGeom>
          <ns1:solidFill>
            <ns1:srgbClr val="111111"/>
          </ns1:solidFill>
          <ns1:ln w="0">
            <ns1:noFill/>
          </ns1:ln>
        </ns0:spPr>
      </ns0:sp>
      <ns0:sp>
        <ns0:nvSpPr>
          <ns0:cNvPr id="64" name="trace:ESTIMATE:content.auto.55">
            <ns1:extLst>
              <ns1:ext uri="{FF2B5EF4-FFF2-40B4-BE49-F238E27FC236}">
                <ns2:creationId id="{A4AAB238-90D6-4581-8CF5-70C96D67C21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6569055"/>
            <ns1:ext cx="2660681" cy="268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32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プロジェクト管理</ns1:t>
            </ns1:r>
          </ns1:p>
        </ns0:txBody>
      </ns0:sp>
      <ns0:sp>
        <ns0:nvSpPr>
          <ns0:cNvPr id="65" name="trace:ESTIMATE:content.auto.56">
            <ns1:extLst>
              <ns1:ext uri="{FF2B5EF4-FFF2-40B4-BE49-F238E27FC236}">
                <ns2:creationId id="{BAFE1111-6755-48F9-970D-9ACA554D357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349482" y="6865907"/>
            <ns1:ext cx="2660681" cy="239397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04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進行管理・品質管理・定例ミーティング</ns1:t>
            </ns1:r>
          </ns1:p>
        </ns0:txBody>
      </ns0:sp>
      <ns0:sp>
        <ns0:nvSpPr>
          <ns0:cNvPr id="66" name="trace:ESTIMATE:content.auto.57">
            <ns1:extLst>
              <ns1:ext uri="{FF2B5EF4-FFF2-40B4-BE49-F238E27FC236}">
                <ns2:creationId id="{14799EB3-9A87-4872-9037-708028B0894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82832" y="7201063"/>
            <ns1:ext cx="8565860" cy="737343"/>
          </ns1:xfrm>
          <ns1:prstGeom prst="rect">
            <ns1:avLst/>
          </ns1:prstGeom>
          <ns1:solidFill>
            <ns1:srgbClr val="E30606"/>
          </ns1:solidFill>
          <ns1:ln w="9525">
            <ns1:solidFill>
              <ns1:srgbClr val="E30606"/>
            </ns1:solidFill>
          </ns1:ln>
        </ns0:spPr>
      </ns0:sp>
      <ns0:sp>
        <ns0:nvSpPr>
          <ns0:cNvPr id="67" name="trace:ESTIMATE:content.auto.58">
            <ns1:extLst>
              <ns1:ext uri="{FF2B5EF4-FFF2-40B4-BE49-F238E27FC236}">
                <ns2:creationId id="{3CA95E1B-5758-4BE7-99C3-98C8F2CB7E7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421706" y="7201063"/>
            <ns1:ext cx="0" cy="737343"/>
          </ns1:xfrm>
          <ns1:prstGeom prst="line">
            <ns1:avLst/>
          </ns1:prstGeom>
          <ns1:noFill/>
          <ns1:ln w="14288">
            <ns1:solidFill>
              <ns1:srgbClr val="FFFFFF"/>
            </ns1:solidFill>
          </ns1:ln>
        </ns0:spPr>
      </ns0:sp>
      <ns0:sp>
        <ns0:nvSpPr>
          <ns0:cNvPr id="68" name="trace:ESTIMATE:content.auto.59">
            <ns1:extLst>
              <ns1:ext uri="{FF2B5EF4-FFF2-40B4-BE49-F238E27FC236}">
                <ns2:creationId id="{456EA1CE-29B1-4DAA-A434-E0E5E87F5A8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02960" y="7296822"/>
            <ns1:ext cx="3254070" cy="5458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203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203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概算総額（税別）</ns1:t>
            </ns1:r>
          </ns1:p>
        </ns0:txBody>
      </ns0:sp>
      <ns0:sp>
        <ns0:nvSpPr>
          <ns0:cNvPr id="69" name="trace:ESTIMATE:content.auto.60">
            <ns1:extLst>
              <ns1:ext uri="{FF2B5EF4-FFF2-40B4-BE49-F238E27FC236}">
                <ns2:creationId id="{E1F282DE-1916-48C8-BEF6-02D9006F6F1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976813" y="7239366"/>
            <ns1:ext cx="3684755" cy="63200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r">
              <ns1:defRPr sz="3542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3542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￥10,500,000</ns1:t>
            </ns1:r>
          </ns1:p>
        </ns0:txBody>
      </ns0:sp>
      <ns0:sp>
        <ns0:nvSpPr>
          <ns0:cNvPr id="70" name="trace:ESTIMATE:content.auto.61">
            <ns1:extLst>
              <ns1:ext uri="{FF2B5EF4-FFF2-40B4-BE49-F238E27FC236}">
                <ns2:creationId id="{C2CA7BC5-A20E-4CE7-A038-1C1A5200E5E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92403" y="8024589"/>
            <ns1:ext cx="8374444" cy="22024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※ 概算金額です。詳細見積は要件確定後に改めてご提示します。</ns1:t>
            </ns1:r>
          </ns1:p>
        </ns0:txBody>
      </ns0:sp>
      <ns0:sp>
        <ns0:nvSpPr>
          <ns0:cNvPr id="71" name="trace:ESTIMATE:content.auto.62">
            <ns1:extLst>
              <ns1:ext uri="{FF2B5EF4-FFF2-40B4-BE49-F238E27FC236}">
                <ns2:creationId id="{5D5B32B7-B194-4714-8F11-7D061A01379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130537" y="1848145"/>
            <ns1:ext cx="6508139" cy="5199704"/>
          </ns1:xfrm>
          <ns1:prstGeom prst="rect">
            <ns1:avLst/>
          </ns1:prstGeom>
          <ns1:solidFill>
            <ns1:srgbClr val="FAFAFA"/>
          </ns1:solidFill>
          <ns1:ln w="9525">
            <ns1:solidFill>
              <ns1:srgbClr val="D5D9DD"/>
            </ns1:solidFill>
          </ns1:ln>
        </ns0:spPr>
      </ns0:sp>
      <ns0:sp>
        <ns0:nvSpPr>
          <ns0:cNvPr id="72" name="trace:ESTIMATE:content.auto.63">
            <ns1:extLst>
              <ns1:ext uri="{FF2B5EF4-FFF2-40B4-BE49-F238E27FC236}">
                <ns2:creationId id="{80AC0723-DD1E-41E9-A766-BCA8992CBC5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31523" y="1982207"/>
            <ns1:ext cx="267982" cy="344732"/>
          </ns1:xfrm>
          <ns1:prstGeom prst="rect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73" name="trace:ESTIMATE:content.auto.64">
            <ns1:extLst>
              <ns1:ext uri="{FF2B5EF4-FFF2-40B4-BE49-F238E27FC236}">
                <ns2:creationId id="{FA748407-8B6C-46B7-B1D7-534E8918190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494227" y="1982207"/>
            <ns1:ext cx="105279" cy="105335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74" name="trace:ESTIMATE:content.auto.65">
            <ns1:extLst>
              <ns1:ext uri="{FF2B5EF4-FFF2-40B4-BE49-F238E27FC236}">
                <ns2:creationId id="{C2791B2C-B3B9-4EB0-8A60-C6E92C8A8E2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494227" y="1982207"/>
            <ns1:ext cx="0" cy="105335"/>
          </ns1:xfrm>
          <ns1:prstGeom prst="lin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75" name="trace:ESTIMATE:content.auto.66">
            <ns1:extLst>
              <ns1:ext uri="{FF2B5EF4-FFF2-40B4-BE49-F238E27FC236}">
                <ns2:creationId id="{422DAB87-59C5-4A45-B806-DEAA6FA33681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98519" y="2202453"/>
            <ns1:ext cx="133991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76" name="trace:ESTIMATE:content.auto.67">
            <ns1:extLst>
              <ns1:ext uri="{FF2B5EF4-FFF2-40B4-BE49-F238E27FC236}">
                <ns2:creationId id="{E2F332C6-74A7-4423-AE10-78E08507E88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98519" y="2250332"/>
            <ns1:ext cx="133991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77" name="trace:ESTIMATE:content.auto.68">
            <ns1:extLst>
              <ns1:ext uri="{FF2B5EF4-FFF2-40B4-BE49-F238E27FC236}">
                <ns2:creationId id="{0FAFB8F8-E40B-42B1-A731-66FE156AE4E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810063" y="2154573"/>
            <ns1:ext cx="1339911" cy="30642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前提条件</ns1:t>
            </ns1:r>
          </ns1:p>
        </ns0:txBody>
      </ns0:sp>
      <ns0:sp>
        <ns0:nvSpPr>
          <ns0:cNvPr id="78" name="trace:ESTIMATE:content.auto.69">
            <ns1:extLst>
              <ns1:ext uri="{FF2B5EF4-FFF2-40B4-BE49-F238E27FC236}">
                <ns2:creationId id="{7D513836-2392-4D06-9D33-917971F88D7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2020511"/>
            <ns1:ext cx="153133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79" name="trace:ESTIMATE:title.primary.7">
            <ns1:extLst>
              <ns1:ext uri="{FF2B5EF4-FFF2-40B4-BE49-F238E27FC236}">
                <ns2:creationId id="{988A6E30-8795-49F9-B4AA-DD91CF168AD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2020511"/>
            <ns1:ext cx="3971879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本見積は、2026年6月時点の想定に基づく概算です。</ns1:t>
            </ns1:r>
          </ns1:p>
        </ns0:txBody>
      </ns0:sp>
      <ns0:sp>
        <ns0:nvSpPr>
          <ns0:cNvPr id="80" name="trace:ESTIMATE:content.auto.70">
            <ns1:extLst>
              <ns1:ext uri="{FF2B5EF4-FFF2-40B4-BE49-F238E27FC236}">
                <ns2:creationId id="{080C7FDC-6EC9-40B9-9727-67F056F3178B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2231180"/>
            <ns1:ext cx="153133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1" name="trace:ESTIMATE:title.primary.8">
            <ns1:extLst>
              <ns1:ext uri="{FF2B5EF4-FFF2-40B4-BE49-F238E27FC236}">
                <ns2:creationId id="{658E75C0-6943-482A-8660-00B6672DA12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2231180"/>
            <ns1:ext cx="3971879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対象はコーポレートサイト（日本語・1サイト）とします。</ns1:t>
            </ns1:r>
          </ns1:p>
        </ns0:txBody>
      </ns0:sp>
      <ns0:sp>
        <ns0:nvSpPr>
          <ns0:cNvPr id="82" name="trace:ESTIMATE:content.auto.71">
            <ns1:extLst>
              <ns1:ext uri="{FF2B5EF4-FFF2-40B4-BE49-F238E27FC236}">
                <ns2:creationId id="{F5605341-6D95-4293-A930-830DC223DBF1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2441850"/>
            <ns1:ext cx="153133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3" name="trace:ESTIMATE:title.primary.9">
            <ns1:extLst>
              <ns1:ext uri="{FF2B5EF4-FFF2-40B4-BE49-F238E27FC236}">
                <ns2:creationId id="{4C9183BD-7E73-4EF7-B802-9AB65A90D891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2441850"/>
            <ns1:ext cx="3971879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ページ数・機能・コンテンツ量は現時点の想定に基づきます。</ns1:t>
            </ns1:r>
          </ns1:p>
        </ns0:txBody>
      </ns0:sp>
      <ns0:sp>
        <ns0:nvSpPr>
          <ns0:cNvPr id="84" name="trace:ESTIMATE:content.auto.72">
            <ns1:extLst>
              <ns1:ext uri="{FF2B5EF4-FFF2-40B4-BE49-F238E27FC236}">
                <ns2:creationId id="{D57481CA-64FD-47F0-BA89-2C274E2DC04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2652519"/>
            <ns1:ext cx="153133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85" name="trace:ESTIMATE:title.primary.10">
            <ns1:extLst>
              <ns1:ext uri="{FF2B5EF4-FFF2-40B4-BE49-F238E27FC236}">
                <ns2:creationId id="{9BE00570-BAA8-4A0A-88F6-991B16644AE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2652519"/>
            <ns1:ext cx="3971879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要件の変更がある場合は、再見積いたします。</ns1:t>
            </ns1:r>
          </ns1:p>
        </ns0:txBody>
      </ns0:sp>
      <ns0:sp>
        <ns0:nvSpPr>
          <ns0:cNvPr id="86" name="trace:ESTIMATE:content.auto.73">
            <ns1:extLst>
              <ns1:ext uri="{FF2B5EF4-FFF2-40B4-BE49-F238E27FC236}">
                <ns2:creationId id="{ADD8E21B-4315-4CD1-A7D9-9DC13D6B155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98519" y="3121737"/>
            <ns1:ext cx="5991317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</ns1:ln>
        </ns0:spPr>
      </ns0:sp>
      <ns0:sp>
        <ns0:nvSpPr>
          <ns0:cNvPr id="87" name="trace:ESTIMATE:content.auto.74">
            <ns1:extLst>
              <ns1:ext uri="{FF2B5EF4-FFF2-40B4-BE49-F238E27FC236}">
                <ns2:creationId id="{74F3383C-601B-44CC-BEF4-4E1E720D8CA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293240" y="3236648"/>
            <ns1:ext cx="344549" cy="344732"/>
          </ns1:xfrm>
          <ns1:prstGeom prst="ellips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88" name="trace:ESTIMATE:content.auto.75">
            <ns1:extLst>
              <ns1:ext uri="{FF2B5EF4-FFF2-40B4-BE49-F238E27FC236}">
                <ns2:creationId id="{78939CDA-48C1-43FE-88DD-EBB15053B14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98519" y="3341983"/>
            <ns1:ext cx="133991" cy="134062"/>
          </ns1:xfrm>
          <ns1:prstGeom prst="ellips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89" name="trace:ESTIMATE:content.auto.76">
            <ns1:extLst>
              <ns1:ext uri="{FF2B5EF4-FFF2-40B4-BE49-F238E27FC236}">
                <ns2:creationId id="{B294D65E-FD55-468E-A153-995AB256521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274099" y="3409014"/>
            <ns1:ext cx="382832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90" name="trace:ESTIMATE:content.auto.77">
            <ns1:extLst>
              <ns1:ext uri="{FF2B5EF4-FFF2-40B4-BE49-F238E27FC236}">
                <ns2:creationId id="{DDEB9DE3-D89D-4FAC-ACDA-D52D375552D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465515" y="3217496"/>
            <ns1:ext cx="0" cy="383035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91" name="trace:ESTIMATE:content.auto.78">
            <ns1:extLst>
              <ns1:ext uri="{FF2B5EF4-FFF2-40B4-BE49-F238E27FC236}">
                <ns2:creationId id="{8C0F1325-477C-44FD-91EA-2D505FB1540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810063" y="3332407"/>
            <ns1:ext cx="1339911" cy="30642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提供範囲</ns1:t>
            </ns1:r>
          </ns1:p>
        </ns0:txBody>
      </ns0:sp>
      <ns0:sp>
        <ns0:nvSpPr>
          <ns0:cNvPr id="92" name="trace:ESTIMATE:content.auto.79">
            <ns1:extLst>
              <ns1:ext uri="{FF2B5EF4-FFF2-40B4-BE49-F238E27FC236}">
                <ns2:creationId id="{A0743DCA-3BA9-44D1-857E-50088F8121D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3255800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93" name="trace:ESTIMATE:title.primary.11">
            <ns1:extLst>
              <ns1:ext uri="{FF2B5EF4-FFF2-40B4-BE49-F238E27FC236}">
                <ns2:creationId id="{5EA40445-0C89-4022-914D-5DD6EF9D920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3255800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企画・要件定義から公開までの制作・開発業務</ns1:t>
            </ns1:r>
          </ns1:p>
        </ns0:txBody>
      </ns0:sp>
      <ns0:sp>
        <ns0:nvSpPr>
          <ns0:cNvPr id="94" name="trace:ESTIMATE:content.auto.80">
            <ns1:extLst>
              <ns1:ext uri="{FF2B5EF4-FFF2-40B4-BE49-F238E27FC236}">
                <ns2:creationId id="{DE40CB20-7B16-4829-A08C-20CAC5D7015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3456893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95" name="trace:ESTIMATE:title.primary.12">
            <ns1:extLst>
              <ns1:ext uri="{FF2B5EF4-FFF2-40B4-BE49-F238E27FC236}">
                <ns2:creationId id="{C7CFD4D3-8496-4F62-97C0-F89D674502D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3456893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デザイン（PC・スマートフォン）</ns1:t>
            </ns1:r>
          </ns1:p>
        </ns0:txBody>
      </ns0:sp>
      <ns0:sp>
        <ns0:nvSpPr>
          <ns0:cNvPr id="96" name="trace:ESTIMATE:content.auto.81">
            <ns1:extLst>
              <ns1:ext uri="{FF2B5EF4-FFF2-40B4-BE49-F238E27FC236}">
                <ns2:creationId id="{6F501BE4-0B3F-483E-9924-F6A3B437154E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3657987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97" name="trace:ESTIMATE:title.primary.13">
            <ns1:extLst>
              <ns1:ext uri="{FF2B5EF4-FFF2-40B4-BE49-F238E27FC236}">
                <ns2:creationId id="{38A0F31B-1E98-4039-8917-2597E84BDB7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3657987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CMS（基本機能）の実装</ns1:t>
            </ns1:r>
          </ns1:p>
        </ns0:txBody>
      </ns0:sp>
      <ns0:sp>
        <ns0:nvSpPr>
          <ns0:cNvPr id="98" name="trace:ESTIMATE:content.auto.82">
            <ns1:extLst>
              <ns1:ext uri="{FF2B5EF4-FFF2-40B4-BE49-F238E27FC236}">
                <ns2:creationId id="{A2262716-38EA-4618-82C5-95793CEDD7E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3859080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99" name="trace:ESTIMATE:lead.3">
            <ns1:extLst>
              <ns1:ext uri="{FF2B5EF4-FFF2-40B4-BE49-F238E27FC236}">
                <ns2:creationId id="{FDAF80C6-9C43-4902-A24C-7C70DF038AA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3859080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基本的なSEO設定・アクセス解析タグの設置</ns1:t>
            </ns1:r>
          </ns1:p>
        </ns0:txBody>
      </ns0:sp>
      <ns0:sp>
        <ns0:nvSpPr>
          <ns0:cNvPr id="100" name="trace:ESTIMATE:content.auto.83">
            <ns1:extLst>
              <ns1:ext uri="{FF2B5EF4-FFF2-40B4-BE49-F238E27FC236}">
                <ns2:creationId id="{B90F0953-0E93-4DE3-8E75-2140DC7A844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4060174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01" name="trace:ESTIMATE:lead.4">
            <ns1:extLst>
              <ns1:ext uri="{FF2B5EF4-FFF2-40B4-BE49-F238E27FC236}">
                <ns2:creationId id="{BB167F23-987E-404D-B213-786FF554A5E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4060174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公開に向けたテスト・技術サポート</ns1:t>
            </ns1:r>
          </ns1:p>
        </ns0:txBody>
      </ns0:sp>
      <ns0:sp>
        <ns0:nvSpPr>
          <ns0:cNvPr id="102" name="trace:ESTIMATE:content.auto.84">
            <ns1:extLst>
              <ns1:ext uri="{FF2B5EF4-FFF2-40B4-BE49-F238E27FC236}">
                <ns2:creationId id="{B3127A80-3288-48AC-9052-C3FDCCB372C3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98519" y="4596423"/>
            <ns1:ext cx="5991317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</ns1:ln>
        </ns0:spPr>
      </ns0:sp>
      <ns0:sp>
        <ns0:nvSpPr>
          <ns0:cNvPr id="103" name="trace:ESTIMATE:content.auto.85">
            <ns1:extLst>
              <ns1:ext uri="{FF2B5EF4-FFF2-40B4-BE49-F238E27FC236}">
                <ns2:creationId id="{AF107129-4205-45F1-A64B-488A08612EB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293240" y="4711334"/>
            <ns1:ext cx="344549" cy="344732"/>
          </ns1:xfrm>
          <ns1:prstGeom prst="ellips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104" name="trace:ESTIMATE:content.auto.86">
            <ns1:extLst>
              <ns1:ext uri="{FF2B5EF4-FFF2-40B4-BE49-F238E27FC236}">
                <ns2:creationId id="{62B32568-15C5-48E3-9957-53BC9C97274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69807" y="4883700"/>
            <ns1:ext cx="191416" cy="0"/>
          </ns1:xfrm>
          <ns1:prstGeom prst="line">
            <ns1:avLst/>
          </ns1:prstGeom>
          <ns1:noFill/>
          <ns1:ln w="23813">
            <ns1:solidFill>
              <ns1:srgbClr val="111111"/>
            </ns1:solidFill>
          </ns1:ln>
        </ns0:spPr>
      </ns0:sp>
      <ns0:sp>
        <ns0:nvSpPr>
          <ns0:cNvPr id="105" name="trace:ESTIMATE:content.auto.87">
            <ns1:extLst>
              <ns1:ext uri="{FF2B5EF4-FFF2-40B4-BE49-F238E27FC236}">
                <ns2:creationId id="{DD149431-7476-41EF-94B1-BCE7B7E40BB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810063" y="4807092"/>
            <ns1:ext cx="1339911" cy="30642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除外事項</ns1:t>
            </ns1:r>
          </ns1:p>
        </ns0:txBody>
      </ns0:sp>
      <ns0:sp>
        <ns0:nvSpPr>
          <ns0:cNvPr id="106" name="trace:ESTIMATE:content.auto.88">
            <ns1:extLst>
              <ns1:ext uri="{FF2B5EF4-FFF2-40B4-BE49-F238E27FC236}">
                <ns2:creationId id="{CFA86FD6-4ACA-457C-AF0E-792E2C935F9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4730485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07" name="trace:ESTIMATE:lead.5">
            <ns1:extLst>
              <ns1:ext uri="{FF2B5EF4-FFF2-40B4-BE49-F238E27FC236}">
                <ns2:creationId id="{521DB910-C889-43F8-B940-670889C2E0B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4730485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写真・動画などの素材制作（別途見積）</ns1:t>
            </ns1:r>
          </ns1:p>
        </ns0:txBody>
      </ns0:sp>
      <ns0:sp>
        <ns0:nvSpPr>
          <ns0:cNvPr id="108" name="trace:ESTIMATE:content.auto.89">
            <ns1:extLst>
              <ns1:ext uri="{FF2B5EF4-FFF2-40B4-BE49-F238E27FC236}">
                <ns2:creationId id="{E7304252-384F-4C08-8E98-4B440759CF1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4931579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09" name="trace:ESTIMATE:content.auto.90">
            <ns1:extLst>
              <ns1:ext uri="{FF2B5EF4-FFF2-40B4-BE49-F238E27FC236}">
                <ns2:creationId id="{9B5C5177-278B-45F9-86B3-F877D72D8CD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4931579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多言語対応（別途見積）</ns1:t>
            </ns1:r>
          </ns1:p>
        </ns0:txBody>
      </ns0:sp>
      <ns0:sp>
        <ns0:nvSpPr>
          <ns0:cNvPr id="110" name="trace:ESTIMATE:content.auto.91">
            <ns1:extLst>
              <ns1:ext uri="{FF2B5EF4-FFF2-40B4-BE49-F238E27FC236}">
                <ns2:creationId id="{4329FE75-73EA-44E2-880E-E43D9A504939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5132672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11" name="trace:ESTIMATE:content.auto.92">
            <ns1:extLst>
              <ns1:ext uri="{FF2B5EF4-FFF2-40B4-BE49-F238E27FC236}">
                <ns2:creationId id="{D8842138-5417-4D86-9ED5-D722D5431F0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5132672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外部システムとの連携開発（別途見積）</ns1:t>
            </ns1:r>
          </ns1:p>
        </ns0:txBody>
      </ns0:sp>
      <ns0:sp>
        <ns0:nvSpPr>
          <ns0:cNvPr id="112" name="trace:ESTIMATE:content.auto.93">
            <ns1:extLst>
              <ns1:ext uri="{FF2B5EF4-FFF2-40B4-BE49-F238E27FC236}">
                <ns2:creationId id="{65A291D3-7760-4943-873A-68FA7B4B8A3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5333766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13" name="trace:ESTIMATE:content.auto.94">
            <ns1:extLst>
              <ns1:ext uri="{FF2B5EF4-FFF2-40B4-BE49-F238E27FC236}">
                <ns2:creationId id="{182A7EE8-F1D0-4276-83AF-D3E67E3E3128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5333766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公開後の運用・保守（別途見積）</ns1:t>
            </ns1:r>
          </ns1:p>
        </ns0:txBody>
      </ns0:sp>
      <ns0:sp>
        <ns0:nvSpPr>
          <ns0:cNvPr id="114" name="trace:ESTIMATE:content.auto.95">
            <ns1:extLst>
              <ns1:ext uri="{FF2B5EF4-FFF2-40B4-BE49-F238E27FC236}">
                <ns2:creationId id="{DF2D7D76-9441-4101-A608-6692275FE77B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5534859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15" name="trace:ESTIMATE:content.auto.96">
            <ns1:extLst>
              <ns1:ext uri="{FF2B5EF4-FFF2-40B4-BE49-F238E27FC236}">
                <ns2:creationId id="{C48F3AFB-9CA5-4434-9AE1-EEE766BEC186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5534859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サーバー・ドメイン費用（実費、別途）</ns1:t>
            </ns1:r>
          </ns1:p>
        </ns0:txBody>
      </ns0:sp>
      <ns0:sp>
        <ns0:nvSpPr>
          <ns0:cNvPr id="116" name="trace:ESTIMATE:content.auto.97">
            <ns1:extLst>
              <ns1:ext uri="{FF2B5EF4-FFF2-40B4-BE49-F238E27FC236}">
                <ns2:creationId id="{B8E06394-4B48-4695-8F9D-0470D716662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98519" y="6061533"/>
            <ns1:ext cx="5991317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</ns1:ln>
        </ns0:spPr>
      </ns0:sp>
      <ns0:sp>
        <ns0:nvSpPr>
          <ns0:cNvPr id="117" name="trace:ESTIMATE:content.auto.98">
            <ns1:extLst>
              <ns1:ext uri="{FF2B5EF4-FFF2-40B4-BE49-F238E27FC236}">
                <ns2:creationId id="{33FFA44C-9C9E-4E85-BF4A-E4824EBF914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293240" y="6195595"/>
            <ns1:ext cx="344549" cy="344732"/>
          </ns1:xfrm>
          <ns1:prstGeom prst="ellipse">
            <ns1:avLst/>
          </ns1:prstGeom>
          <ns1:noFill/>
          <ns1:ln w="19050">
            <ns1:solidFill>
              <ns1:srgbClr val="111111"/>
            </ns1:solidFill>
          </ns1:ln>
        </ns0:spPr>
      </ns0:sp>
      <ns0:sp>
        <ns0:nvSpPr>
          <ns0:cNvPr id="118" name="trace:ESTIMATE:content.auto.99">
            <ns1:extLst>
              <ns1:ext uri="{FF2B5EF4-FFF2-40B4-BE49-F238E27FC236}">
                <ns2:creationId id="{42A3FCA9-3A25-4C55-878A-FB01A119C7E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79377" y="6272202"/>
            <ns1:ext cx="86137" cy="86183"/>
          </ns1:xfrm>
          <ns1:prstGeom prst="line">
            <ns1:avLst/>
          </ns1:prstGeom>
          <ns1:noFill/>
          <ns1:ln w="17145">
            <ns1:solidFill>
              <ns1:srgbClr val="111111"/>
            </ns1:solidFill>
          </ns1:ln>
        </ns0:spPr>
      </ns0:sp>
      <ns0:sp>
        <ns0:nvSpPr>
          <ns0:cNvPr id="119" name="trace:ESTIMATE:content.auto.100">
            <ns1:extLst>
              <ns1:ext uri="{FF2B5EF4-FFF2-40B4-BE49-F238E27FC236}">
                <ns2:creationId id="{C6206CE3-444E-4F17-B0D0-C714E3A2844A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9465515" y="6272202"/>
            <ns1:ext cx="86137" cy="86183"/>
          </ns1:xfrm>
          <ns1:prstGeom prst="line">
            <ns1:avLst/>
          </ns1:prstGeom>
          <ns1:noFill/>
          <ns1:ln w="17145">
            <ns1:solidFill>
              <ns1:srgbClr val="111111"/>
            </ns1:solidFill>
          </ns1:ln>
        </ns0:spPr>
      </ns0:sp>
      <ns0:sp>
        <ns0:nvSpPr>
          <ns0:cNvPr id="120" name="trace:ESTIMATE:content.auto.101">
            <ns1:extLst>
              <ns1:ext uri="{FF2B5EF4-FFF2-40B4-BE49-F238E27FC236}">
                <ns2:creationId id="{4D46CB4A-C185-49D8-BBFA-984C4856D46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79377" y="6358385"/>
            <ns1:ext cx="172274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121" name="trace:ESTIMATE:content.auto.102">
            <ns1:extLst>
              <ns1:ext uri="{FF2B5EF4-FFF2-40B4-BE49-F238E27FC236}">
                <ns2:creationId id="{9980B0B8-267C-4E69-BB9B-2E796172934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79377" y="6415841"/>
            <ns1:ext cx="172274" cy="0"/>
          </ns1:xfrm>
          <ns1:prstGeom prst="line">
            <ns1:avLst/>
          </ns1:prstGeom>
          <ns1:noFill/>
          <ns1:ln w="14288">
            <ns1:solidFill>
              <ns1:srgbClr val="111111"/>
            </ns1:solidFill>
          </ns1:ln>
        </ns0:spPr>
      </ns0:sp>
      <ns0:sp>
        <ns0:nvSpPr>
          <ns0:cNvPr id="122" name="trace:ESTIMATE:content.auto.103">
            <ns1:extLst>
              <ns1:ext uri="{FF2B5EF4-FFF2-40B4-BE49-F238E27FC236}">
                <ns2:creationId id="{33ECE765-AA80-4F6B-9B8D-B89C4DA098D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465515" y="6358385"/>
            <ns1:ext cx="0" cy="134062"/>
          </ns1:xfrm>
          <ns1:prstGeom prst="line">
            <ns1:avLst/>
          </ns1:prstGeom>
          <ns1:noFill/>
          <ns1:ln w="17145">
            <ns1:solidFill>
              <ns1:srgbClr val="111111"/>
            </ns1:solidFill>
          </ns1:ln>
        </ns0:spPr>
      </ns0:sp>
      <ns0:sp>
        <ns0:nvSpPr>
          <ns0:cNvPr id="123" name="trace:ESTIMATE:content.auto.104">
            <ns1:extLst>
              <ns1:ext uri="{FF2B5EF4-FFF2-40B4-BE49-F238E27FC236}">
                <ns2:creationId id="{1AE3C4F6-8F41-4169-AC0B-91399E08FAA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810063" y="6291354"/>
            <ns1:ext cx="1531327" cy="30642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支払タイミング</ns1:t>
            </ns1:r>
          </ns1:p>
        </ns0:txBody>
      </ns0:sp>
      <ns0:sp>
        <ns0:nvSpPr>
          <ns0:cNvPr id="124" name="trace:ESTIMATE:content.auto.105">
            <ns1:extLst>
              <ns1:ext uri="{FF2B5EF4-FFF2-40B4-BE49-F238E27FC236}">
                <ns2:creationId id="{808C6E26-2C00-4091-8C2B-06A359AC3B6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6243475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25" name="trace:ESTIMATE:content.auto.106">
            <ns1:extLst>
              <ns1:ext uri="{FF2B5EF4-FFF2-40B4-BE49-F238E27FC236}">
                <ns2:creationId id="{4E93560B-074D-427E-BB9E-ED6F362A2863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6243475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ご発注時 ： 50%</ns1:t>
            </ns1:r>
          </ns1:p>
        </ns0:txBody>
      </ns0:sp>
      <ns0:sp>
        <ns0:nvSpPr>
          <ns0:cNvPr id="126" name="trace:ESTIMATE:content.auto.107">
            <ns1:extLst>
              <ns1:ext uri="{FF2B5EF4-FFF2-40B4-BE49-F238E27FC236}">
                <ns2:creationId id="{ED27ABBE-3381-47DB-BAA7-3C7A83A7EBA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6444568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27" name="trace:ESTIMATE:content.auto.108">
            <ns1:extLst>
              <ns1:ext uri="{FF2B5EF4-FFF2-40B4-BE49-F238E27FC236}">
                <ns2:creationId id="{4CABF80C-FE2D-4285-B03F-F9BF2708AAD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6444568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中間納品時：30%（デザイン・開発完了時）</ns1:t>
            </ns1:r>
          </ns1:p>
        </ns0:txBody>
      </ns0:sp>
      <ns0:sp>
        <ns0:nvSpPr>
          <ns0:cNvPr id="128" name="trace:ESTIMATE:content.auto.109">
            <ns1:extLst>
              <ns1:ext uri="{FF2B5EF4-FFF2-40B4-BE49-F238E27FC236}">
                <ns2:creationId id="{A750FE74-EB43-4886-B652-BB1C57EFC14B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159545" y="6645662"/>
            <ns1:ext cx="153133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3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•</ns1:t>
            </ns1:r>
          </ns1:p>
        </ns0:txBody>
      </ns0:sp>
      <ns0:sp>
        <ns0:nvSpPr>
          <ns0:cNvPr id="129" name="trace:ESTIMATE:content.auto.110">
            <ns1:extLst>
              <ns1:ext uri="{FF2B5EF4-FFF2-40B4-BE49-F238E27FC236}">
                <ns2:creationId id="{F2DA6455-AC8D-46F0-A47B-C831BA6DE617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1350961" y="6645662"/>
            <ns1:ext cx="3971879" cy="201094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最終納品時：20%（公開後1か月以内）</ns1:t>
            </ns1:r>
          </ns1:p>
        </ns0:txBody>
      </ns0:sp>
      <ns0:sp>
        <ns0:nvSpPr>
          <ns0:cNvPr id="130" name="trace:ESTIMATE:content.auto.111">
            <ns1:extLst>
              <ns1:ext uri="{FF2B5EF4-FFF2-40B4-BE49-F238E27FC236}">
                <ns2:creationId id="{BAAFA38A-BDCF-4223-84D8-57049CFB4F1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130537" y="7181911"/>
            <ns1:ext cx="6508139" cy="1034195"/>
          </ns1:xfrm>
          <ns1:prstGeom prst="rect">
            <ns1:avLst/>
          </ns1:prstGeom>
          <ns1:solidFill>
            <ns1:srgbClr val="FFF1F1"/>
          </ns1:solidFill>
          <ns1:ln w="9525">
            <ns1:solidFill>
              <ns1:srgbClr val="E30606"/>
            </ns1:solidFill>
          </ns1:ln>
        </ns0:spPr>
      </ns0:sp>
      <ns0:sp>
        <ns0:nvSpPr>
          <ns0:cNvPr id="131" name="trace:ESTIMATE:content.auto.112">
            <ns1:extLst>
              <ns1:ext uri="{FF2B5EF4-FFF2-40B4-BE49-F238E27FC236}">
                <ns2:creationId id="{28B6AEE4-FE67-4BE8-9A4D-5E933C87B9A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9331523" y="7325549"/>
            <ns1:ext cx="1196349" cy="632008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ご判断までの</ns1:t>
            </ns1:r>
          </ns1:p>
          <ns1:p>
            <ns1:pPr algn="l">
              <ns1:def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583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ステップ</ns1:t>
            </ns1:r>
          </ns1:p>
        </ns0:txBody>
      </ns0:sp>
      <ns0:sp>
        <ns0:nvSpPr>
          <ns0:cNvPr id="132" name="trace:ESTIMATE:content.auto.113">
            <ns1:extLst>
              <ns1:ext uri="{FF2B5EF4-FFF2-40B4-BE49-F238E27FC236}">
                <ns2:creationId id="{751CE17D-1865-47BD-B220-D0B2E8C5375C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0719288" y="7296822"/>
            <ns1:ext cx="1780168" cy="536249"/>
          </ns1:xfrm>
          <ns1:prstGeom prst="rightArrow">
            <ns1:avLst/>
          </ns1:prstGeom>
          <ns1:solidFill>
            <ns1:srgbClr val="F8D7D9"/>
          </ns1:solidFill>
          <ns1:ln w="19050">
            <ns1:solidFill>
              <ns1:srgbClr val="FFFFFF"/>
            </ns1:solidFill>
          </ns1:ln>
        </ns0:spPr>
      </ns0:sp>
      <ns0:sp>
        <ns0:nvSpPr>
          <ns0:cNvPr id="133" name="trace:ESTIMATE:content.auto.114">
            <ns1:extLst>
              <ns1:ext uri="{FF2B5EF4-FFF2-40B4-BE49-F238E27FC236}">
                <ns2:creationId id="{83E6DCA6-40B6-4A91-AE6C-E95F5141A74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2509027" y="7296822"/>
            <ns1:ext cx="1684460" cy="536249"/>
          </ns1:xfrm>
          <ns1:prstGeom prst="rightArrow">
            <ns1:avLst/>
          </ns1:prstGeom>
          <ns1:solidFill>
            <ns1:srgbClr val="F8D7D9"/>
          </ns1:solidFill>
          <ns1:ln w="19050">
            <ns1:solidFill>
              <ns1:srgbClr val="FFFFFF"/>
            </ns1:solidFill>
          </ns1:ln>
        </ns0:spPr>
      </ns0:sp>
      <ns0:sp>
        <ns0:nvSpPr>
          <ns0:cNvPr id="134" name="trace:ESTIMATE:content.auto.115">
            <ns1:extLst>
              <ns1:ext uri="{FF2B5EF4-FFF2-40B4-BE49-F238E27FC236}">
                <ns2:creationId id="{D034B54F-0AAC-44B0-BE7C-59EC22FC871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4203057" y="7296822"/>
            <ns1:ext cx="1186778" cy="536249"/>
          </ns1:xfrm>
          <ns1:prstGeom prst="rightArrow">
            <ns1:avLst/>
          </ns1:prstGeom>
          <ns1:solidFill>
            <ns1:srgbClr val="E30606"/>
          </ns1:solidFill>
          <ns1:ln w="19050">
            <ns1:solidFill>
              <ns1:srgbClr val="FFFFFF"/>
            </ns1:solidFill>
          </ns1:ln>
        </ns0:spPr>
      </ns0:sp>
      <ns0:sp>
        <ns0:nvSpPr>
          <ns0:cNvPr id="135" name="trace:ESTIMATE:content.auto.116">
            <ns1:extLst>
              <ns1:ext uri="{FF2B5EF4-FFF2-40B4-BE49-F238E27FC236}">
                <ns2:creationId id="{BA212EED-0674-4A97-840F-02600C92CBB0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0719288" y="7296822"/>
            <ns1:ext cx="1579181" cy="53624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01</ns1:t>
            </ns1:r>
          </ns1:p>
          <ns1:p>
            <ns1:pPr algn="ctr">
              <ns1:def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前提確認</ns1:t>
            </ns1:r>
          </ns1:p>
        </ns0:txBody>
      </ns0:sp>
      <ns0:sp>
        <ns0:nvSpPr>
          <ns0:cNvPr id="136" name="trace:ESTIMATE:content.auto.117">
            <ns1:extLst>
              <ns1:ext uri="{FF2B5EF4-FFF2-40B4-BE49-F238E27FC236}">
                <ns2:creationId id="{7FB21437-048D-434B-B524-3D98F75109DA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2509027" y="7296822"/>
            <ns1:ext cx="1483473" cy="53624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  <ns1:p>
            <ns1:pPr algn="ctr">
              <ns1:def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金額確定</ns1:t>
            </ns1:r>
          </ns1:p>
        </ns0:txBody>
      </ns0:sp>
      <ns0:sp>
        <ns0:nvSpPr>
          <ns0:cNvPr id="137" name="trace:ESTIMATE:content.auto.118">
            <ns1:extLst>
              <ns1:ext uri="{FF2B5EF4-FFF2-40B4-BE49-F238E27FC236}">
                <ns2:creationId id="{B7489AD2-D4E0-49A5-A7EB-AFB8FFA2084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4203057" y="7296822"/>
            <ns1:ext cx="1052787" cy="53624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ctr">
              <ns1:defRPr sz="1356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  <ns1:p>
            <ns1:pPr algn="ctr">
              <ns1:defRPr sz="1356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6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発注判断</ns1:t>
            </ns1:r>
          </ns1:p>
        </ns0:txBody>
      </ns0:sp>
      <ns0:sp>
        <ns0:nvSpPr>
          <ns0:cNvPr id="138" name="trace:ESTIMATE:content.auto.119">
            <ns1:extLst>
              <ns1:ext uri="{FF2B5EF4-FFF2-40B4-BE49-F238E27FC236}">
                <ns2:creationId id="{636E7126-6A86-4A0F-947B-B7B1B21535EB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0719288" y="7900102"/>
            <ns1:ext cx="4593981" cy="210669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rmAutofit fontScale="100000"/>
          </ns1:bodyPr>
          <ns1:lstStyle/>
          <ns1:p>
            <ns1:pPr algn="l">
              <ns1:defRPr sz="980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980" b="0">
                <ns1:solidFill>
                  <ns1:srgbClr val="2D343B"/>
                </ns1:solidFill>
                <ns1:latin typeface="Yu Gothic UI"/>
                <ns1:ea typeface="Yu Gothic UI"/>
                <ns1:cs typeface="Yu Gothic UI"/>
              </ns1:rPr>
              <ns1:t>前提の合意から、スムーズなご判断をサポートします。</ns1:t>
            </ns1:r>
          </ns1:p>
        </ns0:txBody>
      </ns0:sp>
      <ns0:sp>
        <ns0:nvSpPr>
          <ns0:cNvPr id="139" name="trace:ESTIMATE:content.auto.120">
            <ns1:extLst>
              <ns1:ext uri="{FF2B5EF4-FFF2-40B4-BE49-F238E27FC236}">
                <ns2:creationId id="{60F661E6-3C31-4C1D-A149-D9BD0AEFFA22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54119" y="8436352"/>
            <ns1:ext cx="15227132" cy="0"/>
          </ns1:xfrm>
          <ns1:prstGeom prst="line">
            <ns1:avLst/>
          </ns1:prstGeom>
          <ns1:noFill/>
          <ns1:ln w="28575">
            <ns1:solidFill>
              <ns1:srgbClr val="E30606"/>
            </ns1:solidFill>
          </ns1:ln>
        </ns0:spPr>
      </ns0:sp>
      <ns0:sp>
        <ns0:nvSpPr>
          <ns0:cNvPr id="140" name="trace:ESTIMATE:content.auto.121">
            <ns1:extLst>
              <ns1:ext uri="{FF2B5EF4-FFF2-40B4-BE49-F238E27FC236}">
                <ns2:creationId id="{A99E5F0A-0E6C-409C-98F2-DB3A89ED146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392403" y="8560838"/>
            <ns1:ext cx="239270" cy="248973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20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06</ns1:t>
            </ns1:r>
          </ns1:p>
        </ns0:txBody>
      </ns0:sp>
      <ns0:sp>
        <ns0:nvSpPr>
          <ns0:cNvPr id="141" name="trace:ESTIMATE:content.auto.122">
            <ns1:extLst>
              <ns1:ext uri="{FF2B5EF4-FFF2-40B4-BE49-F238E27FC236}">
                <ns2:creationId id="{54941003-978A-46B6-AD3B-003B4A90C2A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669956" y="8551262"/>
            <ns1:ext cx="0" cy="268125"/>
          </ns1:xfrm>
          <ns1:prstGeom prst="line">
            <ns1:avLst/>
          </ns1:prstGeom>
          <ns1:noFill/>
          <ns1:ln w="19050">
            <ns1:solidFill>
              <ns1:srgbClr val="E30606"/>
            </ns1:solidFill>
          </ns1:ln>
        </ns0:spPr>
      </ns0:sp>
      <ns0:sp>
        <ns0:nvSpPr>
          <ns0:cNvPr id="142" name="trace:ESTIMATE:footer.brand">
            <ns1:extLst>
              <ns1:ext uri="{FF2B5EF4-FFF2-40B4-BE49-F238E27FC236}">
                <ns2:creationId id="{C31EE0FE-527D-4407-8BEC-DF522F373CCD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803947" y="8560838"/>
            <ns1:ext cx="2105575" cy="248973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l">
              <ns1:defRPr sz="120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6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提案クエスト</ns1:t>
            </ns1:r>
          </ns1:p>
        </ns0:txBody>
      </ns0:sp>
      <ns0:sp>
        <ns0:nvSpPr>
          <ns0:cNvPr id="143" name="trace:ESTIMATE:footer.brand.2">
            <ns1:extLst>
              <ns1:ext uri="{FF2B5EF4-FFF2-40B4-BE49-F238E27FC236}">
                <ns2:creationId id="{35B51B38-4406-4074-BE09-7E7BF37CAA8F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12824863" y="8560838"/>
            <ns1:ext cx="2756388" cy="248973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rmAutofit fontScale="100000"/>
          </ns1:bodyPr>
          <ns1:lstStyle/>
          <ns1:p>
            <ns1:pPr algn="r">
              <ns1:defRPr sz="1055" b="0">
                <ns1:solidFill>
                  <ns1:srgbClr val="6D747A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5" b="0">
                <ns1:solidFill>
                  <ns1:srgbClr val="6D747A"/>
                </ns1:solidFill>
                <ns1:latin typeface="Yu Gothic UI"/>
                <ns1:ea typeface="Yu Gothic UI"/>
                <ns1:cs typeface="Yu Gothic UI"/>
              </ns1:rPr>
              <ns1:t>© 2026 提案クエスト</ns1:t>
            </ns1:r>
          </ns1:p>
        </ns0:txBody>
      </ns0:sp>
    </ns0:spTree>
    <ns0:extLst>
      <ns0:ext uri="{BB962C8B-B14F-4D97-AF65-F5344CB8AC3E}">
        <ns3:creationId val="78342615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2026-09-17T21:33:48.4540000Z</dcterms:created>
  <dcterms:modified xsi:type="dcterms:W3CDTF">2026-09-17T21:33:48.4550000Z</dcterms:modified>
</coreProperties>
</file>