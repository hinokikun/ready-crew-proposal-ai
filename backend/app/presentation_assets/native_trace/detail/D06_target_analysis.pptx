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8090632d6427a" /><Relationship Type="http://schemas.openxmlformats.org/officeDocument/2006/relationships/extended-properties" Target="/docProps/app.xml" Id="R8213ed21ef2644e7" /><Relationship Type="http://schemas.openxmlformats.org/officeDocument/2006/relationships/officeDocument" Target="/ppt/presentation.xml" Id="R4485bca9ed13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47b9a4aeb4966"/>
  </p:sldMasterIdLst>
  <p:notesMasterIdLst>
    <p:notesMasterId xmlns:r="http://schemas.openxmlformats.org/officeDocument/2006/relationships" r:id="Rd4893cb1728246f2"/>
  </p:notesMasterIdLst>
  <p:sldIdLst>
    <p:sldId xmlns:r="http://schemas.openxmlformats.org/officeDocument/2006/relationships" id="256" r:id="Rbb3d9a97947d4da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e0a17c0184965" /><Relationship Type="http://schemas.openxmlformats.org/officeDocument/2006/relationships/slideMaster" Target="/ppt/slideMasters/slideMaster1.xml" Id="R38f47b9a4aeb4966" /><Relationship Type="http://schemas.openxmlformats.org/officeDocument/2006/relationships/notesMaster" Target="/ppt/notesMasters/notesMaster1.xml" Id="Rd4893cb1728246f2" /><Relationship Type="http://schemas.openxmlformats.org/officeDocument/2006/relationships/presProps" Target="/ppt/presProps.xml" Id="R02f03691420441cd" /><Relationship Type="http://schemas.openxmlformats.org/officeDocument/2006/relationships/tableStyles" Target="/ppt/tableStyles.xml" Id="Rc5be9ba2a15c4b47" /><Relationship Type="http://schemas.openxmlformats.org/officeDocument/2006/relationships/slide" Target="/ppt/slides/slide1.xml" Id="Rbb3d9a97947d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a9fd1971e40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eda62d8c04a4e" /><Relationship Type="http://schemas.openxmlformats.org/officeDocument/2006/relationships/notesMaster" Target="/ppt/notesMasters/notesMaster1.xml" Id="R6b226196a753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D06 target-analysis replacement native trace. Canonical image is the sole visual authority; all visible structure is editable native text and shapes. No full-slide raster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fba31184a47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8dd76b56d4a05" /><Relationship Type="http://schemas.openxmlformats.org/officeDocument/2006/relationships/slideLayout" Target="/ppt/slideLayouts/slideLayout1.xml" Id="R81351b024055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51b024055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049b000f4463d" /><Relationship Type="http://schemas.openxmlformats.org/officeDocument/2006/relationships/notesSlide" Target="/ppt/notesSlides/notesSlide1.xml" Id="R47c7dde04fbe48fd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2" name="trace:D06:content.auto">
            <ns1:extLst>
              <ns1:ext uri="{FF2B5EF4-FFF2-40B4-BE49-F238E27FC236}">
                <ns2:creationId id="{046700F4-1523-4F8F-B64E-74919AE12430}"/>
              </ns1:ext>
            </ns1:extLst>
          </ns0:cNvPr>
          <ns0:cNvSpPr>
            <ns1:spLocks noGrp="1"/>
          </ns0:cNvSpPr>
          <ns0:nvPr/>
        </ns0:nvSpPr>
        <ns0:spPr>
          <ns1:xfrm>
            <ns1:off x="10839450" y="0"/>
            <ns1:ext cx="2838450" cy="4410075"/>
          </ns1:xfrm>
          <ns1:custGeom>
            <ns1:pathLst>
              <ns1:path w="2838450" h="4410075">
                <ns1:moveTo>
                  <ns1:pt x="1638300" y="0"/>
                </ns1:moveTo>
                <ns1:lnTo>
                  <ns1:pt x="2838450" y="0"/>
                </ns1:lnTo>
                <ns1:lnTo>
                  <ns1:pt x="1209675" y="4410075"/>
                </ns1:lnTo>
                <ns1:lnTo>
                  <ns1:pt x="0" y="44100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" name="trace:D06:content.auto.2">
            <ns1:extLst>
              <ns1:ext uri="{FF2B5EF4-FFF2-40B4-BE49-F238E27FC236}">
                <ns2:creationId id="{C0A5C6B3-0223-4D1F-A587-489E4971611C}"/>
              </ns1:ext>
            </ns1:extLst>
          </ns0:cNvPr>
          <ns0:cNvSpPr>
            <ns1:spLocks noGrp="1"/>
          </ns0:cNvSpPr>
          <ns0:nvPr/>
        </ns0:nvSpPr>
        <ns0:spPr>
          <ns1:xfrm>
            <ns1:off x="10420350" y="0"/>
            <ns1:ext cx="2057400" cy="4410075"/>
          </ns1:xfrm>
          <ns1:custGeom>
            <ns1:pathLst>
              <ns1:path w="2057400" h="4410075">
                <ns1:moveTo>
                  <ns1:pt x="1628775" y="0"/>
                </ns1:moveTo>
                <ns1:lnTo>
                  <ns1:pt x="2057400" y="0"/>
                </ns1:lnTo>
                <ns1:lnTo>
                  <ns1:pt x="419100" y="4410075"/>
                </ns1:lnTo>
                <ns1:lnTo>
                  <ns1:pt x="0" y="4410075"/>
                </ns1:lnTo>
                <ns1:close/>
              </ns1:path>
            </ns1:pathLst>
          </ns1:custGeom>
          <ns1:solidFill>
            <ns1:srgbClr val="F6E8EA"/>
          </ns1:solidFill>
          <ns1:ln w="0">
            <ns1:noFill/>
            <ns1:prstDash val="solid"/>
          </ns1:ln>
        </ns0:spPr>
      </ns0:sp>
      <ns0:sp>
        <ns0:nvSpPr>
          <ns0:cNvPr id="3" name="trace:D06:content.auto.3">
            <ns1:extLst>
              <ns1:ext uri="{FF2B5EF4-FFF2-40B4-BE49-F238E27FC236}">
                <ns2:creationId id="{06CD1CD7-8E4A-43E1-A7C0-03720B1FF747}"/>
              </ns1:ext>
            </ns1:extLst>
          </ns0:cNvPr>
          <ns0:cNvSpPr>
            <ns1:spLocks noGrp="1"/>
          </ns0:cNvSpPr>
          <ns0:nvPr/>
        </ns0:nvSpPr>
        <ns0:spPr>
          <ns1:xfrm>
            <ns1:off x="12306300" y="7067550"/>
            <ns1:ext cx="3619500" cy="1895475"/>
          </ns1:xfrm>
          <ns1:custGeom>
            <ns1:pathLst>
              <ns1:path w="3619500" h="1895475">
                <ns1:moveTo>
                  <ns1:pt x="0" y="1895475"/>
                </ns1:moveTo>
                <ns1:lnTo>
                  <ns1:pt x="3619500" y="0"/>
                </ns1:lnTo>
                <ns1:lnTo>
                  <ns1:pt x="3619500" y="18954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06:content.auto.4">
            <ns1:extLst>
              <ns1:ext uri="{FF2B5EF4-FFF2-40B4-BE49-F238E27FC236}">
                <ns2:creationId id="{7C15167F-A264-40BF-94E2-A46E3F8A6500}"/>
              </ns1:ext>
            </ns1:extLst>
          </ns0:cNvPr>
          <ns0:cNvSpPr>
            <ns1:spLocks noGrp="1"/>
          </ns0:cNvSpPr>
          <ns0:nvPr/>
        </ns0:nvSpPr>
        <ns0:spPr>
          <ns1:xfrm>
            <ns1:off x="13287375" y="7762875"/>
            <ns1:ext cx="2638425" cy="1200150"/>
          </ns1:xfrm>
          <ns1:custGeom>
            <ns1:pathLst>
              <ns1:path w="2638425" h="1200150">
                <ns1:moveTo>
                  <ns1:pt x="0" y="1200150"/>
                </ns1:moveTo>
                <ns1:lnTo>
                  <ns1:pt x="2638425" y="0"/>
                </ns1:lnTo>
                <ns1:lnTo>
                  <ns1:pt x="2638425" y="120015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5" name="trace:D06:content.auto.5">
            <ns1:extLst>
              <ns1:ext uri="{FF2B5EF4-FFF2-40B4-BE49-F238E27FC236}">
                <ns2:creationId id="{F845381C-3D9A-4542-89D5-BC903C97D0B7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D06</ns1:t>
            </ns1:r>
          </ns1:p>
        </ns0:txBody>
      </ns0:sp>
      <ns0:sp>
        <ns0:nvSpPr>
          <ns0:cNvPr id="6" name="trace:D06:title.primary">
            <ns1:extLst>
              <ns1:ext uri="{FF2B5EF4-FFF2-40B4-BE49-F238E27FC236}">
                <ns2:creationId id="{F1945721-417B-4906-817A-025AA5644AE5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285750"/>
            <ns1:ext cx="2667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02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ターゲット分析</ns1:t>
            </ns1:r>
          </ns1:p>
        </ns0:txBody>
      </ns0:sp>
      <ns0:sp>
        <ns0:nvSpPr>
          <ns0:cNvPr id="7" name="trace:D06:header.brand">
            <ns1:extLst>
              <ns1:ext uri="{FF2B5EF4-FFF2-40B4-BE49-F238E27FC236}">
                <ns2:creationId id="{14619633-0D04-4566-8B1E-582AE32D0D00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295275"/>
            <ns1:ext cx="195262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210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8" name="trace:D06:header.tagline">
            <ns1:extLst>
              <ns1:ext uri="{FF2B5EF4-FFF2-40B4-BE49-F238E27FC236}">
                <ns2:creationId id="{A4AD33E8-1684-448F-AEF7-D3D6B6A05D9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638175"/>
            <ns1:ext cx="238125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9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9" name="trace:D06:header.message">
            <ns1:extLst>
              <ns1:ext uri="{FF2B5EF4-FFF2-40B4-BE49-F238E27FC236}">
                <ns2:creationId id="{8E97E76C-4912-49E8-9924-F5C5DCAF530C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409575"/>
            <ns1:ext cx="18097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20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0" name="trace:D06:content.auto.6">
            <ns1:extLst>
              <ns1:ext uri="{FF2B5EF4-FFF2-40B4-BE49-F238E27FC236}">
                <ns2:creationId id="{A82CB626-8474-48E0-A8C5-4D6A55235F88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904875"/>
            <ns1:ext cx="1476375" cy="9525"/>
          </ns1:xfrm>
          <ns1:prstGeom prst="line">
            <ns1:avLst/>
          </ns1:prstGeom>
          <ns1:noFill/>
          <ns1:ln w="9525">
            <ns1:solidFill>
              <ns1:srgbClr val="151E27"/>
            </ns1:solidFill>
            <ns1:prstDash val="solid"/>
          </ns1:ln>
        </ns0:spPr>
      </ns0:sp>
      <ns0:sp>
        <ns0:nvSpPr>
          <ns0:cNvPr id="11" name="trace:D06:content.auto.7">
            <ns1:extLst>
              <ns1:ext uri="{FF2B5EF4-FFF2-40B4-BE49-F238E27FC236}">
                <ns2:creationId id="{5A8E9B4A-02E1-411E-AE33-81EEEB86C04C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2" name="trace:D06:title.primary.2">
            <ns1:extLst>
              <ns1:ext uri="{FF2B5EF4-FFF2-40B4-BE49-F238E27FC236}">
                <ns2:creationId id="{30541C45-3783-4241-BEE6-B00E4CF0E11A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981075"/>
            <ns1:ext cx="7239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435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435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ターゲット市場と優先顧客像</ns1:t>
            </ns1:r>
          </ns1:p>
        </ns0:txBody>
      </ns0:sp>
      <ns0:sp>
        <ns0:nvSpPr>
          <ns0:cNvPr id="13" name="trace:D06:title.primary.3">
            <ns1:extLst>
              <ns1:ext uri="{FF2B5EF4-FFF2-40B4-BE49-F238E27FC236}">
                <ns2:creationId id="{AF25681D-8393-44F1-A7AF-E28206A20B5E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1600200"/>
            <ns1:ext cx="9239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導入効果が出やすい顧客セグメントと意思決定者を整理し、優先すべき対象を明確化します。</ns1:t>
            </ns1:r>
          </ns1:p>
        </ns0:txBody>
      </ns0:sp>
      <ns0:sp>
        <ns0:nvSpPr>
          <ns0:cNvPr id="14" name="trace:D06:content.auto.8">
            <ns1:extLst>
              <ns1:ext uri="{FF2B5EF4-FFF2-40B4-BE49-F238E27FC236}">
                <ns2:creationId id="{A6998FA1-5583-43BF-BE93-868D6C1088D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095500"/>
            <ns1:ext cx="4381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5" name="trace:D06:title.primary.4">
            <ns1:extLst>
              <ns1:ext uri="{FF2B5EF4-FFF2-40B4-BE49-F238E27FC236}">
                <ns2:creationId id="{C3C3FBAC-DF82-409D-9B28-3A6F860C9859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2009775"/>
            <ns1:ext cx="2952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ターゲット市場のセグメント</ns1:t>
            </ns1:r>
          </ns1:p>
        </ns0:txBody>
      </ns0:sp>
      <ns0:sp>
        <ns0:nvSpPr>
          <ns0:cNvPr id="16" name="trace:D06:content.auto.9">
            <ns1:extLst>
              <ns1:ext uri="{FF2B5EF4-FFF2-40B4-BE49-F238E27FC236}">
                <ns2:creationId id="{4AE8D106-2866-4BEA-96FE-7E0D542115AB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2400300"/>
            <ns1:ext cx="3333750" cy="1381125"/>
          </ns1:xfrm>
          <ns1:prstGeom prst="roundRect">
            <ns1:avLst>
              <ns1:gd name="adj" fmla="val 8276"/>
            </ns1:avLst>
          </ns1:prstGeom>
          <ns1:solidFill>
            <ns1:srgbClr val="F8FAFC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17" name="trace:D06:content.auto.10">
            <ns1:extLst>
              <ns1:ext uri="{FF2B5EF4-FFF2-40B4-BE49-F238E27FC236}">
                <ns2:creationId id="{C472CCB7-2EB1-4FD6-8543-47E7F459E98E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571750"/>
            <ns1:ext cx="457200" cy="457200"/>
          </ns1:xfrm>
          <ns1:prstGeom prst="ellipse">
            <ns1:avLst/>
          </ns1:prstGeom>
          <ns1:solidFill>
            <ns1:srgbClr val="536071"/>
          </ns1:solidFill>
          <ns1:ln w="0">
            <ns1:noFill/>
            <ns1:prstDash val="solid"/>
          </ns1:ln>
        </ns0:spPr>
      </ns0:sp>
      <ns0:sp>
        <ns0:nvSpPr>
          <ns0:cNvPr id="18" name="trace:D06:content.auto.11">
            <ns1:extLst>
              <ns1:ext uri="{FF2B5EF4-FFF2-40B4-BE49-F238E27FC236}">
                <ns2:creationId id="{F334E909-C37E-45B3-A23F-81E41632F04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695575"/>
            <ns1:ext cx="4572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19" name="trace:D06:content.auto.12">
            <ns1:extLst>
              <ns1:ext uri="{FF2B5EF4-FFF2-40B4-BE49-F238E27FC236}">
                <ns2:creationId id="{540501C7-EBD3-4C96-A0B6-E7AABD481096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2609850"/>
            <ns1:ext cx="2286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大企業</ns1:t>
            </ns1:r>
          </ns1:p>
        </ns0:txBody>
      </ns0:sp>
      <ns0:sp>
        <ns0:nvSpPr>
          <ns0:cNvPr id="20" name="trace:D06:title.primary.5">
            <ns1:extLst>
              <ns1:ext uri="{FF2B5EF4-FFF2-40B4-BE49-F238E27FC236}">
                <ns2:creationId id="{0B6BB8A9-C2C6-43D3-9363-0AA51FCB3ED1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2962275"/>
            <ns1:ext cx="22669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提案量が多く、複数部門で</ns1:t>
            </ns1:r>
          </ns1:p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提案品質の標準化が課題</ns1:t>
            </ns1:r>
          </ns1:p>
        </ns0:txBody>
      </ns0:sp>
      <ns0:sp>
        <ns0:nvSpPr>
          <ns0:cNvPr id="21" name="trace:D06:content.auto.13">
            <ns1:extLst>
              <ns1:ext uri="{FF2B5EF4-FFF2-40B4-BE49-F238E27FC236}">
                <ns2:creationId id="{8C0BBF1D-BD26-483F-824C-1FA081FC1FD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429000"/>
            <ns1:ext cx="1562100" cy="247650"/>
          </ns1:xfrm>
          <ns1:prstGeom prst="roundRect">
            <ns1:avLst>
              <ns1:gd name="adj" fmla="val 46154"/>
            </ns1:avLst>
          </ns1:prstGeom>
          <ns1:solidFill>
            <ns1:srgbClr val="FCE0E2"/>
          </ns1:solidFill>
          <ns1:ln w="0">
            <ns1:noFill/>
            <ns1:prstDash val="solid"/>
          </ns1:ln>
        </ns0:spPr>
      </ns0:sp>
      <ns0:sp>
        <ns0:nvSpPr>
          <ns0:cNvPr id="22" name="trace:D06:content.auto.14">
            <ns1:extLst>
              <ns1:ext uri="{FF2B5EF4-FFF2-40B4-BE49-F238E27FC236}">
                <ns2:creationId id="{79C652BA-8F8F-420D-952C-C2E77EC2756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486150"/>
            <ns1:ext cx="15621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高い導入効果</ns1:t>
            </ns1:r>
          </ns1:p>
        </ns0:txBody>
      </ns0:sp>
      <ns0:sp>
        <ns0:nvSpPr>
          <ns0:cNvPr id="23" name="trace:D06:content.auto.15">
            <ns1:extLst>
              <ns1:ext uri="{FF2B5EF4-FFF2-40B4-BE49-F238E27FC236}">
                <ns2:creationId id="{CCC2D15A-74C5-41E3-BC36-00AFA93C083D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3924300"/>
            <ns1:ext cx="3333750" cy="1381125"/>
          </ns1:xfrm>
          <ns1:prstGeom prst="roundRect">
            <ns1:avLst>
              <ns1:gd name="adj" fmla="val 8276"/>
            </ns1:avLst>
          </ns1:prstGeom>
          <ns1:solidFill>
            <ns1:srgbClr val="FFF5F6"/>
          </ns1:solidFill>
          <ns1:ln w="9525">
            <ns1:solidFill>
              <ns1:srgbClr val="ED8C92"/>
            </ns1:solidFill>
            <ns1:prstDash val="solid"/>
          </ns1:ln>
        </ns0:spPr>
      </ns0:sp>
      <ns0:sp>
        <ns0:nvSpPr>
          <ns0:cNvPr id="24" name="trace:D06:content.auto.16">
            <ns1:extLst>
              <ns1:ext uri="{FF2B5EF4-FFF2-40B4-BE49-F238E27FC236}">
                <ns2:creationId id="{BF46CF4D-5B91-4DCE-A5C1-2149CC1EB83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095750"/>
            <ns1:ext cx="457200" cy="4572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5" name="trace:D06:content.auto.17">
            <ns1:extLst>
              <ns1:ext uri="{FF2B5EF4-FFF2-40B4-BE49-F238E27FC236}">
                <ns2:creationId id="{68EF7F9B-7B51-42FD-AEEB-7D1B4A0F2AB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219575"/>
            <ns1:ext cx="4572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26" name="trace:D06:content.auto.18">
            <ns1:extLst>
              <ns1:ext uri="{FF2B5EF4-FFF2-40B4-BE49-F238E27FC236}">
                <ns2:creationId id="{6972AB30-15D3-4C4D-8C85-78ACDD3A7776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133850"/>
            <ns1:ext cx="2286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中堅企業</ns1:t>
            </ns1:r>
          </ns1:p>
        </ns0:txBody>
      </ns0:sp>
      <ns0:sp>
        <ns0:nvSpPr>
          <ns0:cNvPr id="27" name="trace:D06:lead">
            <ns1:extLst>
              <ns1:ext uri="{FF2B5EF4-FFF2-40B4-BE49-F238E27FC236}">
                <ns2:creationId id="{B16202EC-DCCB-4AED-B9DA-FA21B4F2100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486275"/>
            <ns1:ext cx="22669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営業組織の成長に対して</ns1:t>
            </ns1:r>
          </ns1:p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資料作成負荷が増大</ns1:t>
            </ns1:r>
          </ns1:p>
        </ns0:txBody>
      </ns0:sp>
      <ns0:sp>
        <ns0:nvSpPr>
          <ns0:cNvPr id="28" name="trace:D06:content.auto.19">
            <ns1:extLst>
              <ns1:ext uri="{FF2B5EF4-FFF2-40B4-BE49-F238E27FC236}">
                <ns2:creationId id="{016D5A40-3182-4EBB-8F00-03CC897D60A8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953000"/>
            <ns1:ext cx="1571625" cy="247650"/>
          </ns1:xfrm>
          <ns1:prstGeom prst="roundRect">
            <ns1:avLst>
              <ns1:gd name="adj" fmla="val 46154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9" name="trace:D06:content.auto.20">
            <ns1:extLst>
              <ns1:ext uri="{FF2B5EF4-FFF2-40B4-BE49-F238E27FC236}">
                <ns2:creationId id="{01445D5A-1E49-4540-9349-DC23A6D511BA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010150"/>
            <ns1:ext cx="157162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最優先ターゲット</ns1:t>
            </ns1:r>
          </ns1:p>
        </ns0:txBody>
      </ns0:sp>
      <ns0:sp>
        <ns0:nvSpPr>
          <ns0:cNvPr id="30" name="trace:D06:content.auto.21">
            <ns1:extLst>
              <ns1:ext uri="{FF2B5EF4-FFF2-40B4-BE49-F238E27FC236}">
                <ns2:creationId id="{17F5192F-0EDB-4CFD-91E2-602386D5A79C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5448300"/>
            <ns1:ext cx="3333750" cy="1381125"/>
          </ns1:xfrm>
          <ns1:prstGeom prst="roundRect">
            <ns1:avLst>
              <ns1:gd name="adj" fmla="val 8276"/>
            </ns1:avLst>
          </ns1:prstGeom>
          <ns1:solidFill>
            <ns1:srgbClr val="F8FAFC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31" name="trace:D06:content.auto.22">
            <ns1:extLst>
              <ns1:ext uri="{FF2B5EF4-FFF2-40B4-BE49-F238E27FC236}">
                <ns2:creationId id="{930F9137-7AAE-4457-BA96-ECFD7A39A5A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619750"/>
            <ns1:ext cx="457200" cy="457200"/>
          </ns1:xfrm>
          <ns1:prstGeom prst="ellipse">
            <ns1:avLst/>
          </ns1:prstGeom>
          <ns1:solidFill>
            <ns1:srgbClr val="536071"/>
          </ns1:solidFill>
          <ns1:ln w="0">
            <ns1:noFill/>
            <ns1:prstDash val="solid"/>
          </ns1:ln>
        </ns0:spPr>
      </ns0:sp>
      <ns0:sp>
        <ns0:nvSpPr>
          <ns0:cNvPr id="32" name="trace:D06:content.auto.23">
            <ns1:extLst>
              <ns1:ext uri="{FF2B5EF4-FFF2-40B4-BE49-F238E27FC236}">
                <ns2:creationId id="{8B4FDF9F-0C6B-4F2B-98CE-6A8E9C041B72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743575"/>
            <ns1:ext cx="4572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33" name="trace:D06:content.auto.24">
            <ns1:extLst>
              <ns1:ext uri="{FF2B5EF4-FFF2-40B4-BE49-F238E27FC236}">
                <ns2:creationId id="{3D5CF0F8-75B0-4308-94F2-FBF597AB1957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657850"/>
            <ns1:ext cx="2286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7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中小企業</ns1:t>
            </ns1:r>
          </ns1:p>
        </ns0:txBody>
      </ns0:sp>
      <ns0:sp>
        <ns0:nvSpPr>
          <ns0:cNvPr id="34" name="trace:D06:content.auto.25">
            <ns1:extLst>
              <ns1:ext uri="{FF2B5EF4-FFF2-40B4-BE49-F238E27FC236}">
                <ns2:creationId id="{4AEDBB97-F023-445E-BC7D-C28EADB9FA41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6010275"/>
            <ns1:ext cx="226695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少人数で営業を担い、</ns1:t>
            </ns1:r>
          </ns1:p>
          <ns1:p>
            <ns1:pPr algn="l">
              <ns1:def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提案作成の効率化ニーズが高い</ns1:t>
            </ns1:r>
          </ns1:p>
        </ns0:txBody>
      </ns0:sp>
      <ns0:sp>
        <ns0:nvSpPr>
          <ns0:cNvPr id="35" name="trace:D06:content.auto.26">
            <ns1:extLst>
              <ns1:ext uri="{FF2B5EF4-FFF2-40B4-BE49-F238E27FC236}">
                <ns2:creationId id="{F9BBC59A-1382-43DF-A4DC-A98C85874987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6477000"/>
            <ns1:ext cx="1562100" cy="247650"/>
          </ns1:xfrm>
          <ns1:prstGeom prst="roundRect">
            <ns1:avLst>
              <ns1:gd name="adj" fmla="val 46154"/>
            </ns1:avLst>
          </ns1:prstGeom>
          <ns1:solidFill>
            <ns1:srgbClr val="FCE0E2"/>
          </ns1:solidFill>
          <ns1:ln w="0">
            <ns1:noFill/>
            <ns1:prstDash val="solid"/>
          </ns1:ln>
        </ns0:spPr>
      </ns0:sp>
      <ns0:sp>
        <ns0:nvSpPr>
          <ns0:cNvPr id="36" name="trace:D06:content.auto.27">
            <ns1:extLst>
              <ns1:ext uri="{FF2B5EF4-FFF2-40B4-BE49-F238E27FC236}">
                <ns2:creationId id="{9650871D-8617-4B80-8692-C90AF6BC5F6C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6534150"/>
            <ns1:ext cx="15621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導入容易性が高い</ns1:t>
            </ns1:r>
          </ns1:p>
        </ns0:txBody>
      </ns0:sp>
      <ns0:sp>
        <ns0:nvSpPr>
          <ns0:cNvPr id="37" name="trace:D06:content.auto.28">
            <ns1:extLst>
              <ns1:ext uri="{FF2B5EF4-FFF2-40B4-BE49-F238E27FC236}">
                <ns2:creationId id="{96E47D92-D565-48B7-B6A1-C725BDA61BDB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2400300"/>
            <ns1:ext cx="6477000" cy="4438650"/>
          </ns1:xfrm>
          <ns1:prstGeom prst="roundRect">
            <ns1:avLst>
              <ns1:gd name="adj" fmla="val 2575"/>
            </ns1:avLst>
          </ns1:prstGeom>
          <ns1:solidFill>
            <ns1:srgbClr val="FFF8F8"/>
          </ns1:solidFill>
          <ns1:ln w="9525">
            <ns1:solidFill>
              <ns1:srgbClr val="ED9DA1"/>
            </ns1:solidFill>
            <ns1:prstDash val="solid"/>
          </ns1:ln>
        </ns0:spPr>
      </ns0:sp>
      <ns0:sp>
        <ns0:nvSpPr>
          <ns0:cNvPr id="38" name="trace:D06:title.primary.6">
            <ns1:extLst>
              <ns1:ext uri="{FF2B5EF4-FFF2-40B4-BE49-F238E27FC236}">
                <ns2:creationId id="{BBDCDD62-D87B-45ED-9EB1-5C601EF69802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2628900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80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最優先ターゲット像</ns1:t>
            </ns1:r>
          </ns1:p>
        </ns0:txBody>
      </ns0:sp>
      <ns0:sp>
        <ns0:nvSpPr>
          <ns0:cNvPr id="39" name="trace:D06:content.auto.29">
            <ns1:extLst>
              <ns1:ext uri="{FF2B5EF4-FFF2-40B4-BE49-F238E27FC236}">
                <ns2:creationId id="{933A1035-2131-4349-BAED-B42572CD0812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2952750"/>
            <ns1:ext cx="6096000" cy="666750"/>
          </ns1:xfrm>
          <ns1:prstGeom prst="roundRect">
            <ns1:avLst>
              <ns1:gd name="adj" fmla="val 17143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0" name="trace:D06:title.primary.7">
            <ns1:extLst>
              <ns1:ext uri="{FF2B5EF4-FFF2-40B4-BE49-F238E27FC236}">
                <ns2:creationId id="{463FA6B2-7CF5-491F-8612-7E08DF62139F}"/>
              </ns1:ext>
            </ns1:extLst>
          </ns0:cNvPr>
          <ns0:cNvSpPr>
            <ns1:spLocks noGrp="1"/>
          </ns0:cNvSpPr>
          <ns0:nvPr/>
        </ns0:nvSpPr>
        <ns0:spPr>
          <ns1:xfrm>
            <ns1:off x="4467225" y="3152775"/>
            <ns1:ext cx="37147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中堅〜大企業の営業・提案部門</ns1:t>
            </ns1:r>
          </ns1:p>
        </ns0:txBody>
      </ns0:sp>
      <ns0:sp>
        <ns0:nvSpPr>
          <ns0:cNvPr id="41" name="trace:D06:title.primary.8">
            <ns1:extLst>
              <ns1:ext uri="{FF2B5EF4-FFF2-40B4-BE49-F238E27FC236}">
                <ns2:creationId id="{A4C5D0D9-CA27-49B4-BEB4-DCA5A82818CF}"/>
              </ns1:ext>
            </ns1:extLst>
          </ns0:cNvPr>
          <ns0:cNvSpPr>
            <ns1:spLocks noGrp="1"/>
          </ns0:cNvSpPr>
          <ns0:nvPr/>
        </ns0:nvSpPr>
        <ns0:spPr>
          <ns1:xfrm>
            <ns1:off x="7972425" y="3190875"/>
            <ns1:ext cx="22193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提案件数が多く、標準化・再利用ニーズが高い</ns1:t>
            </ns1:r>
          </ns1:p>
        </ns0:txBody>
      </ns0:sp>
      <ns0:sp>
        <ns0:nvSpPr>
          <ns0:cNvPr id="42" name="trace:D06:content.auto.30">
            <ns1:extLst>
              <ns1:ext uri="{FF2B5EF4-FFF2-40B4-BE49-F238E27FC236}">
                <ns2:creationId id="{229D31BF-3F6F-4456-B096-DD449F758861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3838575"/>
            <ns1:ext cx="2857500" cy="1133475"/>
          </ns1:xfrm>
          <ns1:prstGeom prst="roundRect">
            <ns1:avLst>
              <ns1:gd name="adj" fmla="val 10084"/>
            </ns1:avLst>
          </ns1:prstGeom>
          <ns1:solidFill>
            <ns1:srgbClr val="FFFFFF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43" name="trace:D06:content.auto.31">
            <ns1:extLst>
              <ns1:ext uri="{FF2B5EF4-FFF2-40B4-BE49-F238E27FC236}">
                <ns2:creationId id="{8DF6CAAB-0140-4116-8867-5D443CDBD5DD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4000500"/>
            <ns1:ext cx="2571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企業規模</ns1:t>
            </ns1:r>
          </ns1:p>
        </ns0:txBody>
      </ns0:sp>
      <ns0:sp>
        <ns0:nvSpPr>
          <ns0:cNvPr id="44" name="trace:D06:lead.2">
            <ns1:extLst>
              <ns1:ext uri="{FF2B5EF4-FFF2-40B4-BE49-F238E27FC236}">
                <ns2:creationId id="{B568DA12-F2F7-4770-B43F-078FF873FBE0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4333875"/>
            <ns1:ext cx="2571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従業員100〜1,000名規模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複数の営業担当・提案案件を保有</ns1:t>
            </ns1:r>
          </ns1:p>
        </ns0:txBody>
      </ns0:sp>
      <ns0:sp>
        <ns0:nvSpPr>
          <ns0:cNvPr id="45" name="trace:D06:content.auto.32">
            <ns1:extLst>
              <ns1:ext uri="{FF2B5EF4-FFF2-40B4-BE49-F238E27FC236}">
                <ns2:creationId id="{930C3204-0DFC-451D-A8AC-B89C7D5B3E2F}"/>
              </ns1:ext>
            </ns1:extLst>
          </ns0:cNvPr>
          <ns0:cNvSpPr>
            <ns1:spLocks noGrp="1"/>
          </ns0:cNvSpPr>
          <ns0:nvPr/>
        </ns0:nvSpPr>
        <ns0:spPr>
          <ns1:xfrm>
            <ns1:off x="7334250" y="3838575"/>
            <ns1:ext cx="2857500" cy="1133475"/>
          </ns1:xfrm>
          <ns1:prstGeom prst="roundRect">
            <ns1:avLst>
              <ns1:gd name="adj" fmla="val 10084"/>
            </ns1:avLst>
          </ns1:prstGeom>
          <ns1:solidFill>
            <ns1:srgbClr val="FFFFFF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46" name="trace:D06:content.auto.33">
            <ns1:extLst>
              <ns1:ext uri="{FF2B5EF4-FFF2-40B4-BE49-F238E27FC236}">
                <ns2:creationId id="{31AEF532-2F2E-4BCA-86F7-3BFA6CEBAFDE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4000500"/>
            <ns1:ext cx="2571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業務特性</ns1:t>
            </ns1:r>
          </ns1:p>
        </ns0:txBody>
      </ns0:sp>
      <ns0:sp>
        <ns0:nvSpPr>
          <ns0:cNvPr id="47" name="trace:D06:lead.3">
            <ns1:extLst>
              <ns1:ext uri="{FF2B5EF4-FFF2-40B4-BE49-F238E27FC236}">
                <ns2:creationId id="{8F727B92-47A8-4C99-9D5C-58E4C0282FC1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4333875"/>
            <ns1:ext cx="2571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提案書・見積・競合比較を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繰り返し作成する業務が多い</ns1:t>
            </ns1:r>
          </ns1:p>
        </ns0:txBody>
      </ns0:sp>
      <ns0:sp>
        <ns0:nvSpPr>
          <ns0:cNvPr id="48" name="trace:D06:content.auto.34">
            <ns1:extLst>
              <ns1:ext uri="{FF2B5EF4-FFF2-40B4-BE49-F238E27FC236}">
                <ns2:creationId id="{B1E59D9B-7854-4CD9-B067-1F575FE01119}"/>
              </ns1:ext>
            </ns1:extLst>
          </ns0:cNvPr>
          <ns0:cNvSpPr>
            <ns1:spLocks noGrp="1"/>
          </ns0:cNvSpPr>
          <ns0:nvPr/>
        </ns0:nvSpPr>
        <ns0:spPr>
          <ns1:xfrm>
            <ns1:off x="4286250" y="5162550"/>
            <ns1:ext cx="2857500" cy="1133475"/>
          </ns1:xfrm>
          <ns1:prstGeom prst="roundRect">
            <ns1:avLst>
              <ns1:gd name="adj" fmla="val 10084"/>
            </ns1:avLst>
          </ns1:prstGeom>
          <ns1:solidFill>
            <ns1:srgbClr val="FFFFFF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49" name="trace:D06:content.auto.35">
            <ns1:extLst>
              <ns1:ext uri="{FF2B5EF4-FFF2-40B4-BE49-F238E27FC236}">
                <ns2:creationId id="{A4FC1702-B1DC-46F7-81C6-29DF316A68C5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5324475"/>
            <ns1:ext cx="2571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主な課題</ns1:t>
            </ns1:r>
          </ns1:p>
        </ns0:txBody>
      </ns0:sp>
      <ns0:sp>
        <ns0:nvSpPr>
          <ns0:cNvPr id="50" name="trace:D06:content.auto.36">
            <ns1:extLst>
              <ns1:ext uri="{FF2B5EF4-FFF2-40B4-BE49-F238E27FC236}">
                <ns2:creationId id="{01D83A5E-69BF-4F74-8C7E-C8581318E3E3}"/>
              </ns1:ext>
            </ns1:extLst>
          </ns0:cNvPr>
          <ns0:cNvSpPr>
            <ns1:spLocks noGrp="1"/>
          </ns0:cNvSpPr>
          <ns0:nvPr/>
        </ns0:nvSpPr>
        <ns0:spPr>
          <ns1:xfrm>
            <ns1:off x="4438650" y="5657850"/>
            <ns1:ext cx="2571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資料作成負荷／品質ばらつき／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ナレッジ分散／レビュー工数</ns1:t>
            </ns1:r>
          </ns1:p>
        </ns0:txBody>
      </ns0:sp>
      <ns0:sp>
        <ns0:nvSpPr>
          <ns0:cNvPr id="51" name="trace:D06:content.auto.37">
            <ns1:extLst>
              <ns1:ext uri="{FF2B5EF4-FFF2-40B4-BE49-F238E27FC236}">
                <ns2:creationId id="{55D48426-2EFA-4F69-8C59-0D6EEA69B969}"/>
              </ns1:ext>
            </ns1:extLst>
          </ns0:cNvPr>
          <ns0:cNvSpPr>
            <ns1:spLocks noGrp="1"/>
          </ns0:cNvSpPr>
          <ns0:nvPr/>
        </ns0:nvSpPr>
        <ns0:spPr>
          <ns1:xfrm>
            <ns1:off x="7334250" y="5162550"/>
            <ns1:ext cx="2857500" cy="1133475"/>
          </ns1:xfrm>
          <ns1:prstGeom prst="roundRect">
            <ns1:avLst>
              <ns1:gd name="adj" fmla="val 10084"/>
            </ns1:avLst>
          </ns1:prstGeom>
          <ns1:solidFill>
            <ns1:srgbClr val="FFFFFF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52" name="trace:D06:content.auto.38">
            <ns1:extLst>
              <ns1:ext uri="{FF2B5EF4-FFF2-40B4-BE49-F238E27FC236}">
                <ns2:creationId id="{2D725B31-F5B5-4EC9-A6D8-ABF7DA4D77BB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5324475"/>
            <ns1:ext cx="2571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導入期待</ns1:t>
            </ns1:r>
          </ns1:p>
        </ns0:txBody>
      </ns0:sp>
      <ns0:sp>
        <ns0:nvSpPr>
          <ns0:cNvPr id="53" name="trace:D06:content.auto.39">
            <ns1:extLst>
              <ns1:ext uri="{FF2B5EF4-FFF2-40B4-BE49-F238E27FC236}">
                <ns2:creationId id="{88AC67C2-6851-44CA-AFCB-C5F42F4038B5}"/>
              </ns1:ext>
            </ns1:extLst>
          </ns0:cNvPr>
          <ns0:cNvSpPr>
            <ns1:spLocks noGrp="1"/>
          </ns0:cNvSpPr>
          <ns0:nvPr/>
        </ns0:nvSpPr>
        <ns0:spPr>
          <ns1:xfrm>
            <ns1:off x="7486650" y="5657850"/>
            <ns1:ext cx="257175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作成時間短縮／受注率向上／</ns1:t>
            </ns1:r>
          </ns1:p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提案品質の標準化</ns1:t>
            </ns1:r>
          </ns1:p>
        </ns0:txBody>
      </ns0:sp>
      <ns0:sp>
        <ns0:nvSpPr>
          <ns0:cNvPr id="54" name="trace:D06:content.auto.40">
            <ns1:extLst>
              <ns1:ext uri="{FF2B5EF4-FFF2-40B4-BE49-F238E27FC236}">
                <ns2:creationId id="{17F62E3C-CF5B-4056-901E-C82F0EA49F36}"/>
              </ns1:ext>
            </ns1:extLst>
          </ns0:cNvPr>
          <ns0:cNvSpPr>
            <ns1:spLocks noGrp="1"/>
          </ns0:cNvSpPr>
          <ns0:nvPr/>
        </ns0:nvSpPr>
        <ns0:spPr>
          <ns1:xfrm>
            <ns1:off x="4400550" y="6477000"/>
            <ns1:ext cx="13525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27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主な意思決定者：</ns1:t>
            </ns1:r>
          </ns1:p>
        </ns0:txBody>
      </ns0:sp>
      <ns0:sp>
        <ns0:nvSpPr>
          <ns0:cNvPr id="55" name="trace:D06:content.auto.41">
            <ns1:extLst>
              <ns1:ext uri="{FF2B5EF4-FFF2-40B4-BE49-F238E27FC236}">
                <ns2:creationId id="{55DB8CA1-15CF-4538-83DD-405BC7E5DDE5}"/>
              </ns1:ext>
            </ns1:extLst>
          </ns0:cNvPr>
          <ns0:cNvSpPr>
            <ns1:spLocks noGrp="1"/>
          </ns0:cNvSpPr>
          <ns0:nvPr/>
        </ns0:nvSpPr>
        <ns0:spPr>
          <ns1:xfrm>
            <ns1:off x="5753100" y="6477000"/>
            <ns1:ext cx="50006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営業責任者　／　事業部長　／　DX・企画責任者　／　経営層</ns1:t>
            </ns1:r>
          </ns1:p>
        </ns0:txBody>
      </ns0:sp>
      <ns0:sp>
        <ns0:nvSpPr>
          <ns0:cNvPr id="56" name="trace:D06:content.auto.42">
            <ns1:extLst>
              <ns1:ext uri="{FF2B5EF4-FFF2-40B4-BE49-F238E27FC236}">
                <ns2:creationId id="{364DB584-4D1B-4966-8A89-7BF39BCE0875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00300"/>
            <ns1:ext cx="4572000" cy="4438650"/>
          </ns1:xfrm>
          <ns1:prstGeom prst="roundRect">
            <ns1:avLst>
              <ns1:gd name="adj" fmla="val 2575"/>
            </ns1:avLst>
          </ns1:prstGeom>
          <ns1:solidFill>
            <ns1:srgbClr val="F8FAFC"/>
          </ns1:solidFill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57" name="trace:D06:content.auto.43">
            <ns1:extLst>
              <ns1:ext uri="{FF2B5EF4-FFF2-40B4-BE49-F238E27FC236}">
                <ns2:creationId id="{C483321E-764F-4F2B-89AA-F175741C3DCC}"/>
              </ns1:ext>
            </ns1:extLst>
          </ns0:cNvPr>
          <ns0:cNvSpPr>
            <ns1:spLocks noGrp="1"/>
          </ns0:cNvSpPr>
          <ns0:nvPr/>
        </ns0:nvSpPr>
        <ns0:spPr>
          <ns1:xfrm>
            <ns1:off x="11068050" y="2647950"/>
            <ns1:ext cx="4000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58" name="trace:D06:title.primary.9">
            <ns1:extLst>
              <ns1:ext uri="{FF2B5EF4-FFF2-40B4-BE49-F238E27FC236}">
                <ns2:creationId id="{FE0E48A3-DB1A-4977-898F-976376921C28}"/>
              </ns1:ext>
            </ns1:extLst>
          </ns0:cNvPr>
          <ns0:cNvSpPr>
            <ns1:spLocks noGrp="1"/>
          </ns0:cNvSpPr>
          <ns0:nvPr/>
        </ns0:nvSpPr>
        <ns0:spPr>
          <ns1:xfrm>
            <ns1:off x="11639550" y="2552700"/>
            <ns1:ext cx="3333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意思決定者が重視するポイント</ns1:t>
            </ns1:r>
          </ns1:p>
        </ns0:txBody>
      </ns0:sp>
      <ns0:sp>
        <ns0:nvSpPr>
          <ns0:cNvPr id="59" name="trace:D06:content.auto.44">
            <ns1:extLst>
              <ns1:ext uri="{FF2B5EF4-FFF2-40B4-BE49-F238E27FC236}">
                <ns2:creationId id="{6BCABF5E-F479-4D4F-BDA0-85077A2EEAAA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2914650"/>
            <ns1:ext cx="4229100" cy="762000"/>
          </ns1:xfrm>
          <ns1:prstGeom prst="roundRect">
            <ns1:avLst>
              <ns1:gd name="adj" fmla="val 15000"/>
            </ns1:avLst>
          </ns1:prstGeom>
          <ns1:solidFill>
            <ns1:srgbClr val="FFFFFF"/>
          </ns1:solidFill>
          <ns1:ln w="9525">
            <ns1:solidFill>
              <ns1:srgbClr val="E1E5E9"/>
            </ns1:solidFill>
            <ns1:prstDash val="solid"/>
          </ns1:ln>
        </ns0:spPr>
      </ns0:sp>
      <ns0:sp>
        <ns0:nvSpPr>
          <ns0:cNvPr id="60" name="trace:D06:content.auto.45">
            <ns1:extLst>
              <ns1:ext uri="{FF2B5EF4-FFF2-40B4-BE49-F238E27FC236}">
                <ns2:creationId id="{074860AF-21FD-4F2F-8476-6C365E69B370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3076575"/>
            <ns1:ext cx="438150" cy="4381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1" name="trace:D06:content.auto.46">
            <ns1:extLst>
              <ns1:ext uri="{FF2B5EF4-FFF2-40B4-BE49-F238E27FC236}">
                <ns2:creationId id="{B0D1AB9B-C60B-4A28-A3FA-C8D62B629916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3209925"/>
            <ns1:ext cx="4381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62" name="trace:D06:title.primary.10">
            <ns1:extLst>
              <ns1:ext uri="{FF2B5EF4-FFF2-40B4-BE49-F238E27FC236}">
                <ns2:creationId id="{0D36EF17-1ABF-4621-A7A5-F78CA18FEE0C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3048000"/>
            <ns1:ext cx="3238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短期間で効果が見える</ns1:t>
            </ns1:r>
          </ns1:p>
        </ns0:txBody>
      </ns0:sp>
      <ns0:sp>
        <ns0:nvSpPr>
          <ns0:cNvPr id="63" name="trace:D06:title.primary.11">
            <ns1:extLst>
              <ns1:ext uri="{FF2B5EF4-FFF2-40B4-BE49-F238E27FC236}">
                <ns2:creationId id="{3405AA87-990E-4EF8-A23E-3248C22A1EEB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3333750"/>
            <ns1:ext cx="32861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PoCから始め、効果を確認しながら導入したい</ns1:t>
            </ns1:r>
          </ns1:p>
        </ns0:txBody>
      </ns0:sp>
      <ns0:sp>
        <ns0:nvSpPr>
          <ns0:cNvPr id="64" name="trace:D06:content.auto.47">
            <ns1:extLst>
              <ns1:ext uri="{FF2B5EF4-FFF2-40B4-BE49-F238E27FC236}">
                <ns2:creationId id="{80CF8EF5-C867-41AC-8FDC-09A19A8231E0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3790950"/>
            <ns1:ext cx="4229100" cy="762000"/>
          </ns1:xfrm>
          <ns1:prstGeom prst="roundRect">
            <ns1:avLst>
              <ns1:gd name="adj" fmla="val 15000"/>
            </ns1:avLst>
          </ns1:prstGeom>
          <ns1:solidFill>
            <ns1:srgbClr val="FFFFFF"/>
          </ns1:solidFill>
          <ns1:ln w="9525">
            <ns1:solidFill>
              <ns1:srgbClr val="E1E5E9"/>
            </ns1:solidFill>
            <ns1:prstDash val="solid"/>
          </ns1:ln>
        </ns0:spPr>
      </ns0:sp>
      <ns0:sp>
        <ns0:nvSpPr>
          <ns0:cNvPr id="65" name="trace:D06:content.auto.48">
            <ns1:extLst>
              <ns1:ext uri="{FF2B5EF4-FFF2-40B4-BE49-F238E27FC236}">
                <ns2:creationId id="{EDC2A6C0-30A5-43D3-BD6A-7BB870FE43F2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3952875"/>
            <ns1:ext cx="438150" cy="4381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6" name="trace:D06:content.auto.49">
            <ns1:extLst>
              <ns1:ext uri="{FF2B5EF4-FFF2-40B4-BE49-F238E27FC236}">
                <ns2:creationId id="{69D353A0-04DA-4C6C-BB66-FD4DE028FBCD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4086225"/>
            <ns1:ext cx="4381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67" name="trace:D06:content.auto.50">
            <ns1:extLst>
              <ns1:ext uri="{FF2B5EF4-FFF2-40B4-BE49-F238E27FC236}">
                <ns2:creationId id="{194059CB-793B-41B2-BBDD-B02AD8A61F9E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3924300"/>
            <ns1:ext cx="3238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現場負担が少ない</ns1:t>
            </ns1:r>
          </ns1:p>
        </ns0:txBody>
      </ns0:sp>
      <ns0:sp>
        <ns0:nvSpPr>
          <ns0:cNvPr id="68" name="trace:D06:lead.4">
            <ns1:extLst>
              <ns1:ext uri="{FF2B5EF4-FFF2-40B4-BE49-F238E27FC236}">
                <ns2:creationId id="{C6E99096-9EB2-42BB-85B4-5BCAE60A0243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4210050"/>
            <ns1:ext cx="32861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既存業務を大きく変えずに使い始めたい</ns1:t>
            </ns1:r>
          </ns1:p>
        </ns0:txBody>
      </ns0:sp>
      <ns0:sp>
        <ns0:nvSpPr>
          <ns0:cNvPr id="69" name="trace:D06:content.auto.51">
            <ns1:extLst>
              <ns1:ext uri="{FF2B5EF4-FFF2-40B4-BE49-F238E27FC236}">
                <ns2:creationId id="{4EB9D811-C7E7-43C7-B4F1-CDC13D37123B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4667250"/>
            <ns1:ext cx="4229100" cy="762000"/>
          </ns1:xfrm>
          <ns1:prstGeom prst="roundRect">
            <ns1:avLst>
              <ns1:gd name="adj" fmla="val 15000"/>
            </ns1:avLst>
          </ns1:prstGeom>
          <ns1:solidFill>
            <ns1:srgbClr val="FFFFFF"/>
          </ns1:solidFill>
          <ns1:ln w="9525">
            <ns1:solidFill>
              <ns1:srgbClr val="E1E5E9"/>
            </ns1:solidFill>
            <ns1:prstDash val="solid"/>
          </ns1:ln>
        </ns0:spPr>
      </ns0:sp>
      <ns0:sp>
        <ns0:nvSpPr>
          <ns0:cNvPr id="70" name="trace:D06:content.auto.52">
            <ns1:extLst>
              <ns1:ext uri="{FF2B5EF4-FFF2-40B4-BE49-F238E27FC236}">
                <ns2:creationId id="{7FFF952A-54BA-4C2F-9925-2AE826014453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4829175"/>
            <ns1:ext cx="438150" cy="4381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1" name="trace:D06:content.auto.53">
            <ns1:extLst>
              <ns1:ext uri="{FF2B5EF4-FFF2-40B4-BE49-F238E27FC236}">
                <ns2:creationId id="{04190904-59CC-4C83-B451-CE6767E02733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4962525"/>
            <ns1:ext cx="4381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72" name="trace:D06:content.auto.54">
            <ns1:extLst>
              <ns1:ext uri="{FF2B5EF4-FFF2-40B4-BE49-F238E27FC236}">
                <ns2:creationId id="{E9DEA1AC-8C8A-44AC-9A3E-F8E768A8B383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4800600"/>
            <ns1:ext cx="3238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品質を標準化できる</ns1:t>
            </ns1:r>
          </ns1:p>
        </ns0:txBody>
      </ns0:sp>
      <ns0:sp>
        <ns0:nvSpPr>
          <ns0:cNvPr id="73" name="trace:D06:content.auto.55">
            <ns1:extLst>
              <ns1:ext uri="{FF2B5EF4-FFF2-40B4-BE49-F238E27FC236}">
                <ns2:creationId id="{2C1B2D3A-FD29-4D79-88AC-60F4849BF7D2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5086350"/>
            <ns1:ext cx="32861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担当者によらず一定品質の提案を実現したい</ns1:t>
            </ns1:r>
          </ns1:p>
        </ns0:txBody>
      </ns0:sp>
      <ns0:sp>
        <ns0:nvSpPr>
          <ns0:cNvPr id="74" name="trace:D06:content.auto.56">
            <ns1:extLst>
              <ns1:ext uri="{FF2B5EF4-FFF2-40B4-BE49-F238E27FC236}">
                <ns2:creationId id="{33850D10-68F0-46AC-A30C-0AB0AB37455E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5543550"/>
            <ns1:ext cx="4229100" cy="762000"/>
          </ns1:xfrm>
          <ns1:prstGeom prst="roundRect">
            <ns1:avLst>
              <ns1:gd name="adj" fmla="val 15000"/>
            </ns1:avLst>
          </ns1:prstGeom>
          <ns1:solidFill>
            <ns1:srgbClr val="FFFFFF"/>
          </ns1:solidFill>
          <ns1:ln w="9525">
            <ns1:solidFill>
              <ns1:srgbClr val="E1E5E9"/>
            </ns1:solidFill>
            <ns1:prstDash val="solid"/>
          </ns1:ln>
        </ns0:spPr>
      </ns0:sp>
      <ns0:sp>
        <ns0:nvSpPr>
          <ns0:cNvPr id="75" name="trace:D06:content.auto.57">
            <ns1:extLst>
              <ns1:ext uri="{FF2B5EF4-FFF2-40B4-BE49-F238E27FC236}">
                <ns2:creationId id="{C4F50B0F-2A3D-465D-A07A-A4D5E77706EA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5705475"/>
            <ns1:ext cx="438150" cy="43815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6" name="trace:D06:content.auto.58">
            <ns1:extLst>
              <ns1:ext uri="{FF2B5EF4-FFF2-40B4-BE49-F238E27FC236}">
                <ns2:creationId id="{8185A38A-9546-4D22-9846-8D2D0FACF635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5838825"/>
            <ns1:ext cx="4381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77" name="trace:D06:content.auto.59">
            <ns1:extLst>
              <ns1:ext uri="{FF2B5EF4-FFF2-40B4-BE49-F238E27FC236}">
                <ns2:creationId id="{2262B87E-E58C-4A0B-AB4D-FDD39C2228BE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5676900"/>
            <ns1:ext cx="3238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費用対効果が明確</ns1:t>
            </ns1:r>
          </ns1:p>
        </ns0:txBody>
      </ns0:sp>
      <ns0:sp>
        <ns0:nvSpPr>
          <ns0:cNvPr id="78" name="trace:D06:content.auto.60">
            <ns1:extLst>
              <ns1:ext uri="{FF2B5EF4-FFF2-40B4-BE49-F238E27FC236}">
                <ns2:creationId id="{AA47C297-49B5-4262-A157-688A27B3F5E5}"/>
              </ns1:ext>
            </ns1:extLst>
          </ns0:cNvPr>
          <ns0:cNvSpPr>
            <ns1:spLocks noGrp="1"/>
          </ns0:cNvSpPr>
          <ns0:nvPr/>
        </ns0:nvSpPr>
        <ns0:spPr>
          <ns1:xfrm>
            <ns1:off x="11753850" y="5962650"/>
            <ns1:ext cx="32861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投資に対する業務削減・売上効果を判断したい</ns1:t>
            </ns1:r>
          </ns1:p>
        </ns0:txBody>
      </ns0:sp>
      <ns0:sp>
        <ns0:nvSpPr>
          <ns0:cNvPr id="79" name="trace:D06:content.auto.61">
            <ns1:extLst>
              <ns1:ext uri="{FF2B5EF4-FFF2-40B4-BE49-F238E27FC236}">
                <ns2:creationId id="{347E3088-F6F3-48F7-A144-E8F374EF4814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153275"/>
            <ns1:ext cx="438150" cy="9525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80" name="trace:D06:content.auto.62">
            <ns1:extLst>
              <ns1:ext uri="{FF2B5EF4-FFF2-40B4-BE49-F238E27FC236}">
                <ns2:creationId id="{729E6504-C66C-4365-9C77-17A583A469F2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7067550"/>
            <ns1:ext cx="29527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ターゲット分析からの示唆</ns1:t>
            </ns1:r>
          </ns1:p>
        </ns0:txBody>
      </ns0:sp>
      <ns0:sp>
        <ns0:nvSpPr>
          <ns0:cNvPr id="81" name="trace:D06:content.auto.63">
            <ns1:extLst>
              <ns1:ext uri="{FF2B5EF4-FFF2-40B4-BE49-F238E27FC236}">
                <ns2:creationId id="{79F40492-FC43-4730-9273-D1BF5057D1AA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429500"/>
            <ns1:ext cx="4724400" cy="685800"/>
          </ns1:xfrm>
          <ns1:prstGeom prst="roundRect">
            <ns1:avLst>
              <ns1:gd name="adj" fmla="val 1666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2" name="trace:D06:content.auto.64">
            <ns1:extLst>
              <ns1:ext uri="{FF2B5EF4-FFF2-40B4-BE49-F238E27FC236}">
                <ns2:creationId id="{E0DDE228-EDC5-45C3-85BE-369CE7AF66D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572375"/>
            <ns1:ext cx="419100" cy="4191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3" name="trace:D06:content.auto.65">
            <ns1:extLst>
              <ns1:ext uri="{FF2B5EF4-FFF2-40B4-BE49-F238E27FC236}">
                <ns2:creationId id="{9BDAA0B4-5EB3-44DD-8A08-C681A7BA145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705725"/>
            <ns1:ext cx="4191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84" name="trace:D06:content.auto.66">
            <ns1:extLst>
              <ns1:ext uri="{FF2B5EF4-FFF2-40B4-BE49-F238E27FC236}">
                <ns2:creationId id="{5A124C99-1A24-4300-8017-0FE6069BD8BB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7572375"/>
            <ns1:ext cx="3667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中堅〜大企業を優先</ns1:t>
            </ns1:r>
          </ns1:p>
        </ns0:txBody>
      </ns0:sp>
      <ns0:sp>
        <ns0:nvSpPr>
          <ns0:cNvPr id="85" name="trace:D06:content.auto.67">
            <ns1:extLst>
              <ns1:ext uri="{FF2B5EF4-FFF2-40B4-BE49-F238E27FC236}">
                <ns2:creationId id="{1E1D4DF1-F9E9-4290-BBB2-DDE20BC70BA2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" y="7848600"/>
            <ns1:ext cx="3714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提案件数が多く、効率化・標準化の効果が出やすい。</ns1:t>
            </ns1:r>
          </ns1:p>
        </ns0:txBody>
      </ns0:sp>
      <ns0:sp>
        <ns0:nvSpPr>
          <ns0:cNvPr id="86" name="trace:D06:content.auto.68">
            <ns1:extLst>
              <ns1:ext uri="{FF2B5EF4-FFF2-40B4-BE49-F238E27FC236}">
                <ns2:creationId id="{9159BDA7-EAE5-4FBB-A49A-B42FD6E939BD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7429500"/>
            <ns1:ext cx="4724400" cy="685800"/>
          </ns1:xfrm>
          <ns1:prstGeom prst="roundRect">
            <ns1:avLst>
              <ns1:gd name="adj" fmla="val 16667"/>
            </ns1:avLst>
          </ns1:prstGeom>
          <ns1:solidFill>
            <ns1:srgbClr val="F3F6F9"/>
          </ns1:solidFill>
          <ns1:ln w="0">
            <ns1:noFill/>
            <ns1:prstDash val="solid"/>
          </ns1:ln>
        </ns0:spPr>
      </ns0:sp>
      <ns0:sp>
        <ns0:nvSpPr>
          <ns0:cNvPr id="87" name="trace:D06:content.auto.69">
            <ns1:extLst>
              <ns1:ext uri="{FF2B5EF4-FFF2-40B4-BE49-F238E27FC236}">
                <ns2:creationId id="{A40E9B73-4B0C-4AC5-BE5B-4B5B14ED67B3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7572375"/>
            <ns1:ext cx="419100" cy="4191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8" name="trace:D06:content.auto.70">
            <ns1:extLst>
              <ns1:ext uri="{FF2B5EF4-FFF2-40B4-BE49-F238E27FC236}">
                <ns2:creationId id="{27A9115C-9C79-492A-9917-6F58E3F00593}"/>
              </ns1:ext>
            </ns1:extLst>
          </ns0:cNvPr>
          <ns0:cNvSpPr>
            <ns1:spLocks noGrp="1"/>
          </ns0:cNvSpPr>
          <ns0:nvPr/>
        </ns0:nvSpPr>
        <ns0:spPr>
          <ns1:xfrm>
            <ns1:off x="5457825" y="7705725"/>
            <ns1:ext cx="4191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89" name="trace:D06:content.auto.71">
            <ns1:extLst>
              <ns1:ext uri="{FF2B5EF4-FFF2-40B4-BE49-F238E27FC236}">
                <ns2:creationId id="{67929BAF-5C0F-42F0-ADA7-B806F8E6D021}"/>
              </ns1:ext>
            </ns1:extLst>
          </ns0:cNvPr>
          <ns0:cNvSpPr>
            <ns1:spLocks noGrp="1"/>
          </ns0:cNvSpPr>
          <ns0:nvPr/>
        </ns0:nvSpPr>
        <ns0:spPr>
          <ns1:xfrm>
            <ns1:off x="6029325" y="7572375"/>
            <ns1:ext cx="3667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営業責任者への訴求が重要</ns1:t>
            </ns1:r>
          </ns1:p>
        </ns0:txBody>
      </ns0:sp>
      <ns0:sp>
        <ns0:nvSpPr>
          <ns0:cNvPr id="90" name="trace:D06:content.auto.72">
            <ns1:extLst>
              <ns1:ext uri="{FF2B5EF4-FFF2-40B4-BE49-F238E27FC236}">
                <ns2:creationId id="{F4470E74-AD3B-41CF-907D-9BC91C8FC22E}"/>
              </ns1:ext>
            </ns1:extLst>
          </ns0:cNvPr>
          <ns0:cNvSpPr>
            <ns1:spLocks noGrp="1"/>
          </ns0:cNvSpPr>
          <ns0:nvPr/>
        </ns0:nvSpPr>
        <ns0:spPr>
          <ns1:xfrm>
            <ns1:off x="6029325" y="7848600"/>
            <ns1:ext cx="3714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時間削減だけでなく、提案品質・受注率への寄与を示す。</ns1:t>
            </ns1:r>
          </ns1:p>
        </ns0:txBody>
      </ns0:sp>
      <ns0:sp>
        <ns0:nvSpPr>
          <ns0:cNvPr id="91" name="trace:D06:content.auto.73">
            <ns1:extLst>
              <ns1:ext uri="{FF2B5EF4-FFF2-40B4-BE49-F238E27FC236}">
                <ns2:creationId id="{EFAAB5ED-80B6-497E-9BD5-11E8FD0D1EC6}"/>
              </ns1:ext>
            </ns1:extLst>
          </ns0:cNvPr>
          <ns0:cNvSpPr>
            <ns1:spLocks noGrp="1"/>
          </ns0:cNvSpPr>
          <ns0:nvPr/>
        </ns0:nvSpPr>
        <ns0:spPr>
          <ns1:xfrm>
            <ns1:off x="10153650" y="7429500"/>
            <ns1:ext cx="4724400" cy="685800"/>
          </ns1:xfrm>
          <ns1:prstGeom prst="roundRect">
            <ns1:avLst>
              <ns1:gd name="adj" fmla="val 1666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92" name="trace:D06:content.auto.74">
            <ns1:extLst>
              <ns1:ext uri="{FF2B5EF4-FFF2-40B4-BE49-F238E27FC236}">
                <ns2:creationId id="{C87F1165-C57A-4F24-B10A-E1922BB4CC97}"/>
              </ns1:ext>
            </ns1:extLst>
          </ns0:cNvPr>
          <ns0:cNvSpPr>
            <ns1:spLocks noGrp="1"/>
          </ns0:cNvSpPr>
          <ns0:nvPr/>
        </ns0:nvSpPr>
        <ns0:spPr>
          <ns1:xfrm>
            <ns1:off x="10306050" y="7572375"/>
            <ns1:ext cx="419100" cy="4191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3" name="trace:D06:content.auto.75">
            <ns1:extLst>
              <ns1:ext uri="{FF2B5EF4-FFF2-40B4-BE49-F238E27FC236}">
                <ns2:creationId id="{3D9DA755-58AD-4D4A-8B97-C65E0E969529}"/>
              </ns1:ext>
            </ns1:extLst>
          </ns0:cNvPr>
          <ns0:cNvSpPr>
            <ns1:spLocks noGrp="1"/>
          </ns0:cNvSpPr>
          <ns0:nvPr/>
        </ns0:nvSpPr>
        <ns0:spPr>
          <ns1:xfrm>
            <ns1:off x="10306050" y="7705725"/>
            <ns1:ext cx="4191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def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94" name="trace:D06:content.auto.76">
            <ns1:extLst>
              <ns1:ext uri="{FF2B5EF4-FFF2-40B4-BE49-F238E27FC236}">
                <ns2:creationId id="{CE3BD385-FCF5-4A1A-A1A2-863E3FB95751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7572375"/>
            <ns1:ext cx="3667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PoCから始める</ns1:t>
            </ns1:r>
          </ns1:p>
        </ns0:txBody>
      </ns0:sp>
      <ns0:sp>
        <ns0:nvSpPr>
          <ns0:cNvPr id="95" name="trace:D06:content.auto.77">
            <ns1:extLst>
              <ns1:ext uri="{FF2B5EF4-FFF2-40B4-BE49-F238E27FC236}">
                <ns2:creationId id="{C3627E23-1170-456D-9A39-2F32EFDBCF81}"/>
              </ns1:ext>
            </ns1:extLst>
          </ns0:cNvPr>
          <ns0:cNvSpPr>
            <ns1:spLocks noGrp="1"/>
          </ns0:cNvSpPr>
          <ns0:nvPr/>
        </ns0:nvSpPr>
        <ns0:spPr>
          <ns1:xfrm>
            <ns1:off x="10877550" y="7848600"/>
            <ns1:ext cx="3714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小さく始めて効果を可視化し、全社展開につなげる。</ns1:t>
            </ns1:r>
          </ns1:p>
        </ns0:txBody>
      </ns0:sp>
      <ns0:sp>
        <ns0:nvSpPr>
          <ns0:cNvPr id="96" name="trace:D06:footer.brand">
            <ns1:extLst>
              <ns1:ext uri="{FF2B5EF4-FFF2-40B4-BE49-F238E27FC236}">
                <ns2:creationId id="{5EBCDD95-1518-4375-9FCE-71CC52AFF80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334375"/>
            <ns1:ext cx="19526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575" b="1">
                <ns1:solidFill>
                  <ns1:srgbClr val="151E27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51E27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97" name="trace:D06:content.auto.78">
            <ns1:extLst>
              <ns1:ext uri="{FF2B5EF4-FFF2-40B4-BE49-F238E27FC236}">
                <ns2:creationId id="{3F89C00A-58D3-42F0-A9FD-E63B47DF7602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267700"/>
            <ns1:ext cx="9525" cy="438150"/>
          </ns1:xfrm>
          <ns1:prstGeom prst="line">
            <ns1:avLst/>
          </ns1:prstGeom>
          <ns1:noFill/>
          <ns1:ln w="9525">
            <ns1:solidFill>
              <ns1:srgbClr val="D4DAE0"/>
            </ns1:solidFill>
            <ns1:prstDash val="solid"/>
          </ns1:ln>
        </ns0:spPr>
      </ns0:sp>
      <ns0:sp>
        <ns0:nvSpPr>
          <ns0:cNvPr id="98" name="trace:D06:footer.tagline.jp">
            <ns1:extLst>
              <ns1:ext uri="{FF2B5EF4-FFF2-40B4-BE49-F238E27FC236}">
                <ns2:creationId id="{5296F5F9-B385-49F5-B338-510A0954D6F7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5817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99" name="trace:D06:footer.tagline.en">
            <ns1:extLst>
              <ns1:ext uri="{FF2B5EF4-FFF2-40B4-BE49-F238E27FC236}">
                <ns2:creationId id="{2071B63B-F1C3-4EEF-85A4-345B47A1FCC8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47725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def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36071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00" name="trace:D06:footer.date">
            <ns1:extLst>
              <ns1:ext uri="{FF2B5EF4-FFF2-40B4-BE49-F238E27FC236}">
                <ns2:creationId id="{E56273AB-8BA0-44C5-A494-B6EB03382111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343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01" name="trace:D06:content.auto.79">
            <ns1:extLst>
              <ns1:ext uri="{FF2B5EF4-FFF2-40B4-BE49-F238E27FC236}">
                <ns2:creationId id="{83A13301-2BB5-4895-8BD4-1904F236E795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105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3:creationId val="1311146660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2026-09-20T10:27:54.0250000Z</dcterms:created>
  <dcterms:modified xsi:type="dcterms:W3CDTF">2026-09-20T10:27:54.0250000Z</dcterms:modified>
</coreProperties>
</file>