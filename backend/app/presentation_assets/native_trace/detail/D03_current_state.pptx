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b4c09893e34720" /><Relationship Type="http://schemas.openxmlformats.org/officeDocument/2006/relationships/extended-properties" Target="/docProps/app.xml" Id="Rfe9b6f14a4164027" /><Relationship Type="http://schemas.openxmlformats.org/officeDocument/2006/relationships/officeDocument" Target="/ppt/presentation.xml" Id="Rfdbf2009ebcf46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c06363365540be"/>
  </p:sldMasterIdLst>
  <p:notesMasterIdLst>
    <p:notesMasterId xmlns:r="http://schemas.openxmlformats.org/officeDocument/2006/relationships" r:id="R065e491a94ae4766"/>
  </p:notesMasterIdLst>
  <p:sldIdLst>
    <p:sldId xmlns:r="http://schemas.openxmlformats.org/officeDocument/2006/relationships" id="256" r:id="R3d0887a77c844e35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824135cdb24a01" /><Relationship Type="http://schemas.openxmlformats.org/officeDocument/2006/relationships/slideMaster" Target="/ppt/slideMasters/slideMaster1.xml" Id="R61c06363365540be" /><Relationship Type="http://schemas.openxmlformats.org/officeDocument/2006/relationships/notesMaster" Target="/ppt/notesMasters/notesMaster1.xml" Id="R065e491a94ae4766" /><Relationship Type="http://schemas.openxmlformats.org/officeDocument/2006/relationships/presProps" Target="/ppt/presProps.xml" Id="Rbfb27cc2f5b54cee" /><Relationship Type="http://schemas.openxmlformats.org/officeDocument/2006/relationships/tableStyles" Target="/ppt/tableStyles.xml" Id="R959dac869ac946f1" /><Relationship Type="http://schemas.openxmlformats.org/officeDocument/2006/relationships/slide" Target="/ppt/slides/slide1.xml" Id="R3d0887a77c844e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115327683e41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0bb752d096455b" /><Relationship Type="http://schemas.openxmlformats.org/officeDocument/2006/relationships/notesMaster" Target="/ppt/notesMasters/notesMaster1.xml" Id="Ra58907ae80fb41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D03 current-state detail replacement native trace. Canonical image is the sole visual authority; all visible content is recreated with native text and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5ed02ebbf648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2c65982a6c4b0a" /><Relationship Type="http://schemas.openxmlformats.org/officeDocument/2006/relationships/slideLayout" Target="/ppt/slideLayouts/slideLayout1.xml" Id="Rd485f8d8c5fa4a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5f8d8c5fa4a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0efba32f443fc" /><Relationship Type="http://schemas.openxmlformats.org/officeDocument/2006/relationships/notesSlide" Target="/ppt/notesSlides/notesSlide1.xml" Id="R46851662ee174f2b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0" name="trace:D03:content.auto">
            <ns1:extLst>
              <ns1:ext uri="{FF2B5EF4-FFF2-40B4-BE49-F238E27FC236}">
                <ns2:creationId id="{2DEBC5C9-7183-4A35-AD31-1684BDDBAA38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0" y="0"/>
            <ns1:ext cx="2428875" cy="4476750"/>
          </ns1:xfrm>
          <ns1:custGeom>
            <ns1:pathLst>
              <ns1:path w="2428875" h="4476750">
                <ns1:moveTo>
                  <ns1:pt x="1638300" y="0"/>
                </ns1:moveTo>
                <ns1:lnTo>
                  <ns1:pt x="2428875" y="0"/>
                </ns1:lnTo>
                <ns1:lnTo>
                  <ns1:pt x="762000" y="4476750"/>
                </ns1:lnTo>
                <ns1:lnTo>
                  <ns1:pt x="0" y="44767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" name="trace:D03:content.auto.2">
            <ns1:extLst>
              <ns1:ext uri="{FF2B5EF4-FFF2-40B4-BE49-F238E27FC236}">
                <ns2:creationId id="{3214AA73-9501-4B11-A51A-D27578B641BF}"/>
              </ns1:ext>
            </ns1:extLst>
          </ns0:cNvPr>
          <ns0:cNvSpPr>
            <ns1:spLocks noGrp="1"/>
          </ns0:cNvSpPr>
          <ns0:nvPr/>
        </ns0:nvSpPr>
        <ns0:spPr>
          <ns1:xfrm>
            <ns1:off x="10820400" y="0"/>
            <ns1:ext cx="2152650" cy="4476750"/>
          </ns1:xfrm>
          <ns1:custGeom>
            <ns1:pathLst>
              <ns1:path w="2152650" h="4476750">
                <ns1:moveTo>
                  <ns1:pt x="1638300" y="0"/>
                </ns1:moveTo>
                <ns1:lnTo>
                  <ns1:pt x="2152650" y="0"/>
                </ns1:lnTo>
                <ns1:lnTo>
                  <ns1:pt x="514350" y="4476750"/>
                </ns1:lnTo>
                <ns1:lnTo>
                  <ns1:pt x="0" y="4476750"/>
                </ns1:lnTo>
                <ns1:close/>
              </ns1:path>
            </ns1:pathLst>
          </ns1:custGeom>
          <ns1:solidFill>
            <ns1:srgbClr val="F7E9EB"/>
          </ns1:solidFill>
          <ns1:ln w="0">
            <ns1:noFill/>
            <ns1:prstDash val="solid"/>
          </ns1:ln>
        </ns0:spPr>
      </ns0:sp>
      <ns0:sp>
        <ns0:nvSpPr>
          <ns0:cNvPr id="3" name="trace:D03:content.auto.3">
            <ns1:extLst>
              <ns1:ext uri="{FF2B5EF4-FFF2-40B4-BE49-F238E27FC236}">
                <ns2:creationId id="{0426EBB3-AC79-474E-B14E-89DA6AD76FFA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0" y="7000875"/>
            <ns1:ext cx="3733800" cy="1962150"/>
          </ns1:xfrm>
          <ns1:custGeom>
            <ns1:pathLst>
              <ns1:path w="3733800" h="1962150">
                <ns1:moveTo>
                  <ns1:pt x="0" y="1962150"/>
                </ns1:moveTo>
                <ns1:lnTo>
                  <ns1:pt x="3733800" y="0"/>
                </ns1:lnTo>
                <ns1:lnTo>
                  <ns1:pt x="3733800" y="19621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" name="trace:D03:content.auto.4">
            <ns1:extLst>
              <ns1:ext uri="{FF2B5EF4-FFF2-40B4-BE49-F238E27FC236}">
                <ns2:creationId id="{36B0A664-93D3-47FB-B35C-B03422E0862B}"/>
              </ns1:ext>
            </ns1:extLst>
          </ns0:cNvPr>
          <ns0:cNvSpPr>
            <ns1:spLocks noGrp="1"/>
          </ns0:cNvSpPr>
          <ns0:nvPr/>
        </ns0:nvSpPr>
        <ns0:spPr>
          <ns1:xfrm>
            <ns1:off x="13382625" y="7696200"/>
            <ns1:ext cx="2543175" cy="1266825"/>
          </ns1:xfrm>
          <ns1:custGeom>
            <ns1:pathLst>
              <ns1:path w="2543175" h="1266825">
                <ns1:moveTo>
                  <ns1:pt x="0" y="1266825"/>
                </ns1:moveTo>
                <ns1:lnTo>
                  <ns1:pt x="2543175" y="0"/>
                </ns1:lnTo>
                <ns1:lnTo>
                  <ns1:pt x="2543175" y="1266825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5" name="trace:D03:content.auto.5">
            <ns1:extLst>
              <ns1:ext uri="{FF2B5EF4-FFF2-40B4-BE49-F238E27FC236}">
                <ns2:creationId id="{CCA1495C-1894-46E4-82AD-DD693204522D}"/>
              </ns1:ext>
            </ns1:extLst>
          </ns0:cNvPr>
          <ns0:cNvSpPr>
            <ns1:spLocks noGrp="1"/>
          </ns0:cNvSpPr>
          <ns0:nvPr/>
        </ns0:nvSpPr>
        <ns0:spPr>
          <ns1:xfrm>
            <ns1:off x="295275" y="295275"/>
            <ns1:ext cx="666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025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D03</ns1:t>
            </ns1:r>
          </ns1:p>
        </ns0:txBody>
      </ns0:sp>
      <ns0:sp>
        <ns0:nvSpPr>
          <ns0:cNvPr id="6" name="trace:D03:title.primary">
            <ns1:extLst>
              <ns1:ext uri="{FF2B5EF4-FFF2-40B4-BE49-F238E27FC236}">
                <ns2:creationId id="{577BA535-474B-455B-89A6-2C6AB4EC411A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" y="295275"/>
            <ns1:ext cx="31432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025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現状理解（詳細版）</ns1:t>
            </ns1:r>
          </ns1:p>
        </ns0:txBody>
      </ns0:sp>
      <ns0:sp>
        <ns0:nvSpPr>
          <ns0:cNvPr id="7" name="trace:D03:header.brand">
            <ns1:extLst>
              <ns1:ext uri="{FF2B5EF4-FFF2-40B4-BE49-F238E27FC236}">
                <ns2:creationId id="{5D4857DB-7378-4BCC-A311-A492D153A3FE}"/>
              </ns1:ext>
            </ns1:extLst>
          </ns0:cNvPr>
          <ns0:cNvSpPr>
            <ns1:spLocks noGrp="1"/>
          </ns0:cNvSpPr>
          <ns0:nvPr/>
        </ns0:nvSpPr>
        <ns0:spPr>
          <ns1:xfrm>
            <ns1:off x="9867900" y="304800"/>
            <ns1:ext cx="195262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10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8" name="trace:D03:header.tagline">
            <ns1:extLst>
              <ns1:ext uri="{FF2B5EF4-FFF2-40B4-BE49-F238E27FC236}">
                <ns2:creationId id="{E5CB855B-3B76-4559-B542-D44B6EE8981A}"/>
              </ns1:ext>
            </ns1:extLst>
          </ns0:cNvPr>
          <ns0:cNvSpPr>
            <ns1:spLocks noGrp="1"/>
          </ns0:cNvSpPr>
          <ns0:nvPr/>
        </ns0:nvSpPr>
        <ns0:spPr>
          <ns1:xfrm>
            <ns1:off x="9886950" y="647700"/>
            <ns1:ext cx="2857500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9" name="trace:D03:header.message">
            <ns1:extLst>
              <ns1:ext uri="{FF2B5EF4-FFF2-40B4-BE49-F238E27FC236}">
                <ns2:creationId id="{82E02D0F-F032-4083-8B6B-A2B22B35A165}"/>
              </ns1:ext>
            </ns1:extLst>
          </ns0:cNvPr>
          <ns0:cNvSpPr>
            <ns1:spLocks noGrp="1"/>
          </ns0:cNvSpPr>
          <ns0:nvPr/>
        </ns0:nvSpPr>
        <ns0:spPr>
          <ns1:xfrm>
            <ns1:off x="13630275" y="400050"/>
            <ns1:ext cx="19050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THINK TOGETHER,</ns1:t>
            </ns1:r>
          </ns1:p>
          <ns1:p>
            <ns1:pPr algn="l">
              <ns1:def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CREATE THE NEXT.</ns1:t>
            </ns1:r>
          </ns1:p>
        </ns0:txBody>
      </ns0:sp>
      <ns0:sp>
        <ns0:nvSpPr>
          <ns0:cNvPr id="10" name="trace:D03:content.auto.6">
            <ns1:extLst>
              <ns1:ext uri="{FF2B5EF4-FFF2-40B4-BE49-F238E27FC236}">
                <ns2:creationId id="{8A010B36-D4C3-45EC-BC63-4C1D76FCEADD}"/>
              </ns1:ext>
            </ns1:extLst>
          </ns0:cNvPr>
          <ns0:cNvSpPr>
            <ns1:spLocks noGrp="1"/>
          </ns0:cNvSpPr>
          <ns0:nvPr/>
        </ns0:nvSpPr>
        <ns0:spPr>
          <ns1:xfrm>
            <ns1:off x="13630275" y="904875"/>
            <ns1:ext cx="1533525" cy="9525"/>
          </ns1:xfrm>
          <ns1:prstGeom prst="line">
            <ns1:avLst/>
          </ns1:prstGeom>
          <ns1:noFill/>
          <ns1:ln w="9525">
            <ns1:solidFill>
              <ns1:srgbClr val="1A2027"/>
            </ns1:solidFill>
            <ns1:prstDash val="solid"/>
          </ns1:ln>
        </ns0:spPr>
      </ns0:sp>
      <ns0:sp>
        <ns0:nvSpPr>
          <ns0:cNvPr id="11" name="trace:D03:content.auto.7">
            <ns1:extLst>
              <ns1:ext uri="{FF2B5EF4-FFF2-40B4-BE49-F238E27FC236}">
                <ns2:creationId id="{B1FCFE72-47F5-4FA3-B098-EFA0063B8C0C}"/>
              </ns1:ext>
            </ns1:extLst>
          </ns0:cNvPr>
          <ns0:cNvSpPr>
            <ns1:spLocks noGrp="1"/>
          </ns0:cNvSpPr>
          <ns0:nvPr/>
        </ns0:nvSpPr>
        <ns0:spPr>
          <ns1:xfrm>
            <ns1:off x="13630275" y="904875"/>
            <ns1:ext cx="333375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2" name="trace:D03:title.primary.2">
            <ns1:extLst>
              <ns1:ext uri="{FF2B5EF4-FFF2-40B4-BE49-F238E27FC236}">
                <ns2:creationId id="{C6FEAD68-A2F3-4E65-B9BF-C67363890E8F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1066800"/>
            <ns1:ext cx="619125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975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3975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現状の業務と課題構造</ns1:t>
            </ns1:r>
          </ns1:p>
        </ns0:txBody>
      </ns0:sp>
      <ns0:sp>
        <ns0:nvSpPr>
          <ns0:cNvPr id="13" name="trace:D03:title.primary.3">
            <ns1:extLst>
              <ns1:ext uri="{FF2B5EF4-FFF2-40B4-BE49-F238E27FC236}">
                <ns2:creationId id="{0F59DDF4-7D88-4D6A-8A1F-6D871CF4F8A1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1666875"/>
            <ns1:ext cx="9239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575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業務・組織・データの観点から現状を整理し、改善すべきボトルネックを明確化します。</ns1:t>
            </ns1:r>
          </ns1:p>
        </ns0:txBody>
      </ns0:sp>
      <ns0:sp>
        <ns0:nvSpPr>
          <ns0:cNvPr id="14" name="trace:D03:content.auto.8">
            <ns1:extLst>
              <ns1:ext uri="{FF2B5EF4-FFF2-40B4-BE49-F238E27FC236}">
                <ns2:creationId id="{A9D4FF50-EE61-4580-A43D-BCA1FCC7878A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2152650"/>
            <ns1:ext cx="428625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5" name="trace:D03:title.primary.4">
            <ns1:extLst>
              <ns1:ext uri="{FF2B5EF4-FFF2-40B4-BE49-F238E27FC236}">
                <ns2:creationId id="{0D3B4844-72FF-4F65-A18E-3A13B628A3E2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2047875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現在の業務フロー</ns1:t>
            </ns1:r>
          </ns1:p>
        </ns0:txBody>
      </ns0:sp>
      <ns0:sp>
        <ns0:nvSpPr>
          <ns0:cNvPr id="16" name="trace:D03:content.auto.9">
            <ns1:extLst>
              <ns1:ext uri="{FF2B5EF4-FFF2-40B4-BE49-F238E27FC236}">
                <ns2:creationId id="{50E85499-1492-474C-9866-5D4BCEC6FDD0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2438400"/>
            <ns1:ext cx="2381250" cy="1533525"/>
          </ns1:xfrm>
          <ns1:prstGeom prst="roundRect">
            <ns1:avLst>
              <ns1:gd name="adj" fmla="val 7453"/>
            </ns1:avLst>
          </ns1:prstGeom>
          <ns1:solidFill>
            <ns1:srgbClr val="F7F8FA"/>
          </ns1:solidFill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17" name="trace:D03:content.auto.10">
            <ns1:extLst>
              <ns1:ext uri="{FF2B5EF4-FFF2-40B4-BE49-F238E27FC236}">
                <ns2:creationId id="{2B114333-A1EF-49C1-87DD-4C22683C04A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2619375"/>
            <ns1:ext cx="342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7B8591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B8591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18" name="trace:D03:content.auto.11">
            <ns1:extLst>
              <ns1:ext uri="{FF2B5EF4-FFF2-40B4-BE49-F238E27FC236}">
                <ns2:creationId id="{EF7B2BDE-8129-4AE3-A103-53091847B055}"/>
              </ns1:ext>
            </ns1:extLst>
          </ns0:cNvPr>
          <ns0:cNvSpPr>
            <ns1:spLocks noGrp="1"/>
          </ns0:cNvSpPr>
          <ns0:nvPr/>
        </ns0:nvSpPr>
        <ns0:spPr>
          <ns1:xfrm>
            <ns1:off x="704850" y="2857500"/>
            <ns1:ext cx="400050" cy="400050"/>
          </ns1:xfrm>
          <ns1:prstGeom prst="ellipse">
            <ns1:avLst/>
          </ns1:prstGeom>
          <ns1:solidFill>
            <ns1:srgbClr val="FFF4F4"/>
          </ns1:solidFill>
          <ns1:ln w="0">
            <ns1:noFill/>
            <ns1:prstDash val="solid"/>
          </ns1:ln>
        </ns0:spPr>
      </ns0:sp>
      <ns0:sp>
        <ns0:nvSpPr>
          <ns0:cNvPr id="19" name="trace:D03:content.auto.12">
            <ns1:extLst>
              <ns1:ext uri="{FF2B5EF4-FFF2-40B4-BE49-F238E27FC236}">
                <ns2:creationId id="{9F21C3D8-3F0A-422D-AA2B-8FF0E71F0198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2886075"/>
            <ns1:ext cx="381000" cy="381000"/>
          </ns1:xfrm>
          <ns1:prstGeom prst="ellipse">
            <ns1:avLst/>
          </ns1:prstGeom>
          <ns1:noFill/>
          <ns1:ln w="19050">
            <ns1:solidFill>
              <ns1:srgbClr val="1A2027"/>
            </ns1:solidFill>
            <ns1:prstDash val="solid"/>
          </ns1:ln>
        </ns0:spPr>
      </ns0:sp>
      <ns0:sp>
        <ns0:nvSpPr>
          <ns0:cNvPr id="20" name="trace:D03:content.auto.13">
            <ns1:extLst>
              <ns1:ext uri="{FF2B5EF4-FFF2-40B4-BE49-F238E27FC236}">
                <ns2:creationId id="{A3A39DB2-30C0-4659-8E50-A80AB89D939C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962275"/>
            <ns1:ext cx="304800" cy="219075"/>
          </ns1:xfrm>
          <ns1:prstGeom prst="rect">
            <ns1:avLst/>
          </ns1:prstGeom>
          <ns1:noFill/>
          <ns1:ln w="19050">
            <ns1:solidFill>
              <ns1:srgbClr val="1A2027"/>
            </ns1:solidFill>
            <ns1:prstDash val="solid"/>
          </ns1:ln>
        </ns0:spPr>
      </ns0:sp>
      <ns0:sp>
        <ns0:nvSpPr>
          <ns0:cNvPr id="21" name="trace:D03:content.auto.14">
            <ns1:extLst>
              <ns1:ext uri="{FF2B5EF4-FFF2-40B4-BE49-F238E27FC236}">
                <ns2:creationId id="{AA945B53-FD59-49D9-970B-FC79AA8BBF2B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981325"/>
            <ns1:ext cx="133350" cy="104775"/>
          </ns1:xfrm>
          <ns1:prstGeom prst="line">
            <ns1:avLst/>
          </ns1:prstGeom>
          <ns1:noFill/>
          <ns1:ln w="19050">
            <ns1:solidFill>
              <ns1:srgbClr val="1A2027"/>
            </ns1:solidFill>
            <ns1:prstDash val="solid"/>
          </ns1:ln>
        </ns0:spPr>
      </ns0:sp>
      <ns0:sp>
        <ns0:nvSpPr>
          <ns0:cNvPr id="22" name="trace:D03:content.auto.15">
            <ns1:extLst>
              <ns1:ext uri="{FF2B5EF4-FFF2-40B4-BE49-F238E27FC236}">
                <ns2:creationId id="{6ECD3FB6-A61A-4CD4-A3DB-DB12F7707BFD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981325"/>
            <ns1:ext cx="133350" cy="104775"/>
          </ns1:xfrm>
          <ns1:prstGeom prst="line">
            <ns1:avLst/>
          </ns1:prstGeom>
          <ns1:noFill/>
          <ns1:ln w="19050">
            <ns1:solidFill>
              <ns1:srgbClr val="1A2027"/>
            </ns1:solidFill>
            <ns1:prstDash val="solid"/>
          </ns1:ln>
        </ns0:spPr>
      </ns0:sp>
      <ns0:sp>
        <ns0:nvSpPr>
          <ns0:cNvPr id="23" name="trace:D03:content.auto.16">
            <ns1:extLst>
              <ns1:ext uri="{FF2B5EF4-FFF2-40B4-BE49-F238E27FC236}">
                <ns2:creationId id="{D0BF5EE6-6F21-4EEA-9A32-0FE85F6384CA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" y="2838450"/>
            <ns1:ext cx="1524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案件受領</ns1:t>
            </ns1:r>
          </ns1:p>
        </ns0:txBody>
      </ns0:sp>
      <ns0:sp>
        <ns0:nvSpPr>
          <ns0:cNvPr id="24" name="trace:D03:title.primary.5">
            <ns1:extLst>
              <ns1:ext uri="{FF2B5EF4-FFF2-40B4-BE49-F238E27FC236}">
                <ns2:creationId id="{C30A1C06-7DD9-4856-9CF4-B135641B069F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3343275"/>
            <ns1:ext cx="20574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依頼内容・要件を確認し、</ns1:t>
            </ns1:r>
          </ns1:p>
          <ns1:p>
            <ns1:pPr algn="l">
              <ns1:def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情報不足があれば追加確認</ns1:t>
            </ns1:r>
          </ns1:p>
        </ns0:txBody>
      </ns0:sp>
      <ns0:sp>
        <ns0:nvSpPr>
          <ns0:cNvPr id="25" name="trace:D03:content.auto.17">
            <ns1:extLst>
              <ns1:ext uri="{FF2B5EF4-FFF2-40B4-BE49-F238E27FC236}">
                <ns2:creationId id="{0DB65B19-33B0-40A5-873C-C6E7CEB3F8EB}"/>
              </ns1:ext>
            </ns1:extLst>
          </ns0:cNvPr>
          <ns0:cNvSpPr>
            <ns1:spLocks noGrp="1"/>
          </ns0:cNvSpPr>
          <ns0:nvPr/>
        </ns0:nvSpPr>
        <ns0:spPr>
          <ns1:xfrm>
            <ns1:off x="2981325" y="2438400"/>
            <ns1:ext cx="2381250" cy="1533525"/>
          </ns1:xfrm>
          <ns1:prstGeom prst="roundRect">
            <ns1:avLst>
              <ns1:gd name="adj" fmla="val 7453"/>
            </ns1:avLst>
          </ns1:prstGeom>
          <ns1:solidFill>
            <ns1:srgbClr val="F7F8FA"/>
          </ns1:solidFill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26" name="trace:D03:content.auto.18">
            <ns1:extLst>
              <ns1:ext uri="{FF2B5EF4-FFF2-40B4-BE49-F238E27FC236}">
                <ns2:creationId id="{CC986214-1E0E-472B-847C-CFC6CC545ABD}"/>
              </ns1:ext>
            </ns1:extLst>
          </ns0:cNvPr>
          <ns0:cNvSpPr>
            <ns1:spLocks noGrp="1"/>
          </ns0:cNvSpPr>
          <ns0:nvPr/>
        </ns0:nvSpPr>
        <ns0:spPr>
          <ns1:xfrm>
            <ns1:off x="3143250" y="2619375"/>
            <ns1:ext cx="342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7B8591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B8591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27" name="trace:D03:content.auto.19">
            <ns1:extLst>
              <ns1:ext uri="{FF2B5EF4-FFF2-40B4-BE49-F238E27FC236}">
                <ns2:creationId id="{21B7C295-EE87-411E-8F7E-8D69912F565F}"/>
              </ns1:ext>
            </ns1:extLst>
          </ns0:cNvPr>
          <ns0:cNvSpPr>
            <ns1:spLocks noGrp="1"/>
          </ns0:cNvSpPr>
          <ns0:nvPr/>
        </ns0:nvSpPr>
        <ns0:spPr>
          <ns1:xfrm>
            <ns1:off x="3219450" y="2857500"/>
            <ns1:ext cx="400050" cy="400050"/>
          </ns1:xfrm>
          <ns1:prstGeom prst="ellipse">
            <ns1:avLst/>
          </ns1:prstGeom>
          <ns1:solidFill>
            <ns1:srgbClr val="FFF4F4"/>
          </ns1:solidFill>
          <ns1:ln w="0">
            <ns1:noFill/>
            <ns1:prstDash val="solid"/>
          </ns1:ln>
        </ns0:spPr>
      </ns0:sp>
      <ns0:sp>
        <ns0:nvSpPr>
          <ns0:cNvPr id="28" name="trace:D03:content.auto.20">
            <ns1:extLst>
              <ns1:ext uri="{FF2B5EF4-FFF2-40B4-BE49-F238E27FC236}">
                <ns2:creationId id="{97E702FD-A740-4A34-A51D-BA04B7E0F676}"/>
              </ns1:ext>
            </ns1:extLst>
          </ns0:cNvPr>
          <ns0:cNvSpPr>
            <ns1:spLocks noGrp="1"/>
          </ns0:cNvSpPr>
          <ns0:nvPr/>
        </ns0:nvSpPr>
        <ns0:spPr>
          <ns1:xfrm>
            <ns1:off x="3238500" y="2886075"/>
            <ns1:ext cx="333375" cy="333375"/>
          </ns1:xfrm>
          <ns1:prstGeom prst="ellips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29" name="trace:D03:content.auto.21">
            <ns1:extLst>
              <ns1:ext uri="{FF2B5EF4-FFF2-40B4-BE49-F238E27FC236}">
                <ns2:creationId id="{BD05E07E-2B18-4F18-B4CC-C112A99D1BDF}"/>
              </ns1:ext>
            </ns1:extLst>
          </ns0:cNvPr>
          <ns0:cNvSpPr>
            <ns1:spLocks noGrp="1"/>
          </ns0:cNvSpPr>
          <ns0:nvPr/>
        </ns0:nvSpPr>
        <ns0:spPr>
          <ns1:xfrm>
            <ns1:off x="3295650" y="2943225"/>
            <ns1:ext cx="219075" cy="219075"/>
          </ns1:xfrm>
          <ns1:prstGeom prst="ellipse">
            <ns1:avLst/>
          </ns1:prstGeom>
          <ns1:noFill/>
          <ns1:ln w="19050">
            <ns1:solidFill>
              <ns1:srgbClr val="1A2027"/>
            </ns1:solidFill>
            <ns1:prstDash val="solid"/>
          </ns1:ln>
        </ns0:spPr>
      </ns0:sp>
      <ns0:sp>
        <ns0:nvSpPr>
          <ns0:cNvPr id="30" name="trace:D03:content.auto.22">
            <ns1:extLst>
              <ns1:ext uri="{FF2B5EF4-FFF2-40B4-BE49-F238E27FC236}">
                <ns2:creationId id="{504CEDC8-E9A8-49CC-A600-AB8149A027EE}"/>
              </ns1:ext>
            </ns1:extLst>
          </ns0:cNvPr>
          <ns0:cNvSpPr>
            <ns1:spLocks noGrp="1"/>
          </ns0:cNvSpPr>
          <ns0:nvPr/>
        </ns0:nvSpPr>
        <ns0:spPr>
          <ns1:xfrm>
            <ns1:off x="3476625" y="3124200"/>
            <ns1:ext cx="142875" cy="142875"/>
          </ns1:xfrm>
          <ns1:prstGeom prst="line">
            <ns1:avLst/>
          </ns1:prstGeom>
          <ns1:noFill/>
          <ns1:ln w="28575">
            <ns1:solidFill>
              <ns1:srgbClr val="1A2027"/>
            </ns1:solidFill>
            <ns1:prstDash val="solid"/>
          </ns1:ln>
        </ns0:spPr>
      </ns0:sp>
      <ns0:sp>
        <ns0:nvSpPr>
          <ns0:cNvPr id="31" name="trace:D03:content.auto.23">
            <ns1:extLst>
              <ns1:ext uri="{FF2B5EF4-FFF2-40B4-BE49-F238E27FC236}">
                <ns2:creationId id="{6151D1AE-26BF-44E1-BC0D-B57B30B65C17}"/>
              </ns1:ext>
            </ns1:extLst>
          </ns0:cNvPr>
          <ns0:cNvSpPr>
            <ns1:spLocks noGrp="1"/>
          </ns0:cNvSpPr>
          <ns0:nvPr/>
        </ns0:nvSpPr>
        <ns0:spPr>
          <ns1:xfrm>
            <ns1:off x="3695700" y="2838450"/>
            <ns1:ext cx="1524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情報収集</ns1:t>
            </ns1:r>
          </ns1:p>
        </ns0:txBody>
      </ns0:sp>
      <ns0:sp>
        <ns0:nvSpPr>
          <ns0:cNvPr id="32" name="trace:D03:title.primary.6">
            <ns1:extLst>
              <ns1:ext uri="{FF2B5EF4-FFF2-40B4-BE49-F238E27FC236}">
                <ns2:creationId id="{B7E3A1D5-D581-4FFE-B805-D9EE823C7AE9}"/>
              </ns1:ext>
            </ns1:extLst>
          </ns0:cNvPr>
          <ns0:cNvSpPr>
            <ns1:spLocks noGrp="1"/>
          </ns0:cNvSpPr>
          <ns0:nvPr/>
        </ns0:nvSpPr>
        <ns0:spPr>
          <ns1:xfrm>
            <ns1:off x="3143250" y="3343275"/>
            <ns1:ext cx="20574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過去提案・顧客情報・</ns1:t>
            </ns1:r>
          </ns1:p>
          <ns1:p>
            <ns1:pPr algn="l">
              <ns1:def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市場情報を複数箇所から探索</ns1:t>
            </ns1:r>
          </ns1:p>
        </ns0:txBody>
      </ns0:sp>
      <ns0:sp>
        <ns0:nvSpPr>
          <ns0:cNvPr id="33" name="trace:D03:content.auto.24">
            <ns1:extLst>
              <ns1:ext uri="{FF2B5EF4-FFF2-40B4-BE49-F238E27FC236}">
                <ns2:creationId id="{6AAFD79B-70A2-48B4-9BC7-70B5F4DB0178}"/>
              </ns1:ext>
            </ns1:extLst>
          </ns0:cNvPr>
          <ns0:cNvSpPr>
            <ns1:spLocks noGrp="1"/>
          </ns0:cNvSpPr>
          <ns0:nvPr/>
        </ns0:nvSpPr>
        <ns0:spPr>
          <ns1:xfrm>
            <ns1:off x="5495925" y="2438400"/>
            <ns1:ext cx="2381250" cy="1533525"/>
          </ns1:xfrm>
          <ns1:prstGeom prst="roundRect">
            <ns1:avLst>
              <ns1:gd name="adj" fmla="val 7453"/>
            </ns1:avLst>
          </ns1:prstGeom>
          <ns1:solidFill>
            <ns1:srgbClr val="F7F8FA"/>
          </ns1:solidFill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34" name="trace:D03:content.auto.25">
            <ns1:extLst>
              <ns1:ext uri="{FF2B5EF4-FFF2-40B4-BE49-F238E27FC236}">
                <ns2:creationId id="{45A38A24-3910-4E8F-BE12-52F70E682EC3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2619375"/>
            <ns1:ext cx="342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7B8591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B8591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35" name="trace:D03:content.auto.26">
            <ns1:extLst>
              <ns1:ext uri="{FF2B5EF4-FFF2-40B4-BE49-F238E27FC236}">
                <ns2:creationId id="{458F7BB1-5422-4662-AE17-55389226585C}"/>
              </ns1:ext>
            </ns1:extLst>
          </ns0:cNvPr>
          <ns0:cNvSpPr>
            <ns1:spLocks noGrp="1"/>
          </ns0:cNvSpPr>
          <ns0:nvPr/>
        </ns0:nvSpPr>
        <ns0:spPr>
          <ns1:xfrm>
            <ns1:off x="5734050" y="2857500"/>
            <ns1:ext cx="400050" cy="400050"/>
          </ns1:xfrm>
          <ns1:prstGeom prst="ellipse">
            <ns1:avLst/>
          </ns1:prstGeom>
          <ns1:solidFill>
            <ns1:srgbClr val="FFF4F4"/>
          </ns1:solidFill>
          <ns1:ln w="0">
            <ns1:noFill/>
            <ns1:prstDash val="solid"/>
          </ns1:ln>
        </ns0:spPr>
      </ns0:sp>
      <ns0:sp>
        <ns0:nvSpPr>
          <ns0:cNvPr id="36" name="trace:D03:content.auto.27">
            <ns1:extLst>
              <ns1:ext uri="{FF2B5EF4-FFF2-40B4-BE49-F238E27FC236}">
                <ns2:creationId id="{0E66AEFA-1E91-4CA3-9588-6D9F45E367FD}"/>
              </ns1:ext>
            </ns1:extLst>
          </ns0:cNvPr>
          <ns0:cNvSpPr>
            <ns1:spLocks noGrp="1"/>
          </ns0:cNvSpPr>
          <ns0:nvPr/>
        </ns0:nvSpPr>
        <ns0:spPr>
          <ns1:xfrm>
            <ns1:off x="5819775" y="2914650"/>
            <ns1:ext cx="266700" cy="333375"/>
          </ns1:xfrm>
          <ns1:prstGeom prst="rect">
            <ns1:avLst/>
          </ns1:prstGeom>
          <ns1:noFill/>
          <ns1:ln w="19050">
            <ns1:solidFill>
              <ns1:srgbClr val="1A2027"/>
            </ns1:solidFill>
            <ns1:prstDash val="solid"/>
          </ns1:ln>
        </ns0:spPr>
      </ns0:sp>
      <ns0:sp>
        <ns0:nvSpPr>
          <ns0:cNvPr id="37" name="trace:D03:content.auto.28">
            <ns1:extLst>
              <ns1:ext uri="{FF2B5EF4-FFF2-40B4-BE49-F238E27FC236}">
                <ns2:creationId id="{2DF8E19C-9A42-4D90-8F67-D8845D637C4E}"/>
              </ns1:ext>
            </ns1:extLst>
          </ns0:cNvPr>
          <ns0:cNvSpPr>
            <ns1:spLocks noGrp="1"/>
          </ns0:cNvSpPr>
          <ns0:nvPr/>
        </ns0:nvSpPr>
        <ns0:spPr>
          <ns1:xfrm>
            <ns1:off x="5981700" y="2914650"/>
            <ns1:ext cx="104775" cy="104775"/>
          </ns1:xfrm>
          <ns1:prstGeom prst="line">
            <ns1:avLst/>
          </ns1:prstGeom>
          <ns1:noFill/>
          <ns1:ln w="19050">
            <ns1:solidFill>
              <ns1:srgbClr val="1A2027"/>
            </ns1:solidFill>
            <ns1:prstDash val="solid"/>
          </ns1:ln>
        </ns0:spPr>
      </ns0:sp>
      <ns0:sp>
        <ns0:nvSpPr>
          <ns0:cNvPr id="38" name="trace:D03:content.auto.29">
            <ns1:extLst>
              <ns1:ext uri="{FF2B5EF4-FFF2-40B4-BE49-F238E27FC236}">
                <ns2:creationId id="{1C5FAA2A-95A7-4521-B85E-6D1881BA6E5F}"/>
              </ns1:ext>
            </ns1:extLst>
          </ns0:cNvPr>
          <ns0:cNvSpPr>
            <ns1:spLocks noGrp="1"/>
          </ns0:cNvSpPr>
          <ns0:nvPr/>
        </ns0:nvSpPr>
        <ns0:spPr>
          <ns1:xfrm>
            <ns1:off x="5876925" y="3028950"/>
            <ns1:ext cx="152400" cy="9525"/>
          </ns1:xfrm>
          <ns1:prstGeom prst="line">
            <ns1:avLst/>
          </ns1:prstGeom>
          <ns1:noFill/>
          <ns1:ln w="19050">
            <ns1:solidFill>
              <ns1:srgbClr val="1A2027"/>
            </ns1:solidFill>
            <ns1:prstDash val="solid"/>
          </ns1:ln>
        </ns0:spPr>
      </ns0:sp>
      <ns0:sp>
        <ns0:nvSpPr>
          <ns0:cNvPr id="39" name="trace:D03:content.auto.30">
            <ns1:extLst>
              <ns1:ext uri="{FF2B5EF4-FFF2-40B4-BE49-F238E27FC236}">
                <ns2:creationId id="{2F210C93-D343-4AD8-87A5-4A932B153DE4}"/>
              </ns1:ext>
            </ns1:extLst>
          </ns0:cNvPr>
          <ns0:cNvSpPr>
            <ns1:spLocks noGrp="1"/>
          </ns0:cNvSpPr>
          <ns0:nvPr/>
        </ns0:nvSpPr>
        <ns0:spPr>
          <ns1:xfrm>
            <ns1:off x="5876925" y="3105150"/>
            <ns1:ext cx="152400" cy="9525"/>
          </ns1:xfrm>
          <ns1:prstGeom prst="line">
            <ns1:avLst/>
          </ns1:prstGeom>
          <ns1:noFill/>
          <ns1:ln w="19050">
            <ns1:solidFill>
              <ns1:srgbClr val="1A2027"/>
            </ns1:solidFill>
            <ns1:prstDash val="solid"/>
          </ns1:ln>
        </ns0:spPr>
      </ns0:sp>
      <ns0:sp>
        <ns0:nvSpPr>
          <ns0:cNvPr id="40" name="trace:D03:content.auto.31">
            <ns1:extLst>
              <ns1:ext uri="{FF2B5EF4-FFF2-40B4-BE49-F238E27FC236}">
                <ns2:creationId id="{B25ACC5D-643B-43F2-9D05-C477C686A8CE}"/>
              </ns1:ext>
            </ns1:extLst>
          </ns0:cNvPr>
          <ns0:cNvSpPr>
            <ns1:spLocks noGrp="1"/>
          </ns0:cNvSpPr>
          <ns0:nvPr/>
        </ns0:nvSpPr>
        <ns0:spPr>
          <ns1:xfrm>
            <ns1:off x="5876925" y="3181350"/>
            <ns1:ext cx="133350" cy="9525"/>
          </ns1:xfrm>
          <ns1:prstGeom prst="line">
            <ns1:avLst/>
          </ns1:prstGeom>
          <ns1:noFill/>
          <ns1:ln w="19050">
            <ns1:solidFill>
              <ns1:srgbClr val="1A2027"/>
            </ns1:solidFill>
            <ns1:prstDash val="solid"/>
          </ns1:ln>
        </ns0:spPr>
      </ns0:sp>
      <ns0:sp>
        <ns0:nvSpPr>
          <ns0:cNvPr id="41" name="trace:D03:title.primary.7">
            <ns1:extLst>
              <ns1:ext uri="{FF2B5EF4-FFF2-40B4-BE49-F238E27FC236}">
                <ns2:creationId id="{2E404BEE-6D05-4E21-9ED8-6CCB7367CF02}"/>
              </ns1:ext>
            </ns1:extLst>
          </ns0:cNvPr>
          <ns0:cNvSpPr>
            <ns1:spLocks noGrp="1"/>
          </ns0:cNvSpPr>
          <ns0:nvPr/>
        </ns0:nvSpPr>
        <ns0:spPr>
          <ns1:xfrm>
            <ns1:off x="6210300" y="2838450"/>
            <ns1:ext cx="1524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構成・資料作成</ns1:t>
            </ns1:r>
          </ns1:p>
        </ns0:txBody>
      </ns0:sp>
      <ns0:sp>
        <ns0:nvSpPr>
          <ns0:cNvPr id="42" name="trace:D03:title.primary.8">
            <ns1:extLst>
              <ns1:ext uri="{FF2B5EF4-FFF2-40B4-BE49-F238E27FC236}">
                <ns2:creationId id="{528EDD2B-A772-429F-8342-620F114601CF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3343275"/>
            <ns1:ext cx="20574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提案ストーリーを整理し、</ns1:t>
            </ns1:r>
          </ns1:p>
          <ns1:p>
            <ns1:pPr algn="l">
              <ns1:def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資料・見積を個別に作成</ns1:t>
            </ns1:r>
          </ns1:p>
        </ns0:txBody>
      </ns0:sp>
      <ns0:sp>
        <ns0:nvSpPr>
          <ns0:cNvPr id="43" name="trace:D03:content.auto.32">
            <ns1:extLst>
              <ns1:ext uri="{FF2B5EF4-FFF2-40B4-BE49-F238E27FC236}">
                <ns2:creationId id="{3F469224-ADFB-4D44-9A45-65930531148A}"/>
              </ns1:ext>
            </ns1:extLst>
          </ns0:cNvPr>
          <ns0:cNvSpPr>
            <ns1:spLocks noGrp="1"/>
          </ns0:cNvSpPr>
          <ns0:nvPr/>
        </ns0:nvSpPr>
        <ns0:spPr>
          <ns1:xfrm>
            <ns1:off x="8010525" y="2438400"/>
            <ns1:ext cx="2381250" cy="1533525"/>
          </ns1:xfrm>
          <ns1:prstGeom prst="roundRect">
            <ns1:avLst>
              <ns1:gd name="adj" fmla="val 7453"/>
            </ns1:avLst>
          </ns1:prstGeom>
          <ns1:solidFill>
            <ns1:srgbClr val="FFF4F4"/>
          </ns1:solidFill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44" name="trace:D03:content.auto.33">
            <ns1:extLst>
              <ns1:ext uri="{FF2B5EF4-FFF2-40B4-BE49-F238E27FC236}">
                <ns2:creationId id="{E07110BD-AF10-4F12-9624-1031EE0607FC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2619375"/>
            <ns1:ext cx="342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7B8591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B8591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45" name="trace:D03:content.auto.34">
            <ns1:extLst>
              <ns1:ext uri="{FF2B5EF4-FFF2-40B4-BE49-F238E27FC236}">
                <ns2:creationId id="{23021B91-B663-4705-A8E2-9939322BDBA7}"/>
              </ns1:ext>
            </ns1:extLst>
          </ns0:cNvPr>
          <ns0:cNvSpPr>
            <ns1:spLocks noGrp="1"/>
          </ns0:cNvSpPr>
          <ns0:nvPr/>
        </ns0:nvSpPr>
        <ns0:spPr>
          <ns1:xfrm>
            <ns1:off x="8248650" y="2857500"/>
            <ns1:ext cx="400050" cy="400050"/>
          </ns1:xfrm>
          <ns1:prstGeom prst="ellipse">
            <ns1:avLst/>
          </ns1:prstGeom>
          <ns1:solidFill>
            <ns1:srgbClr val="FFF4F4"/>
          </ns1:solidFill>
          <ns1:ln w="0">
            <ns1:noFill/>
            <ns1:prstDash val="solid"/>
          </ns1:ln>
        </ns0:spPr>
      </ns0:sp>
      <ns0:sp>
        <ns0:nvSpPr>
          <ns0:cNvPr id="46" name="trace:D03:content.auto.35">
            <ns1:extLst>
              <ns1:ext uri="{FF2B5EF4-FFF2-40B4-BE49-F238E27FC236}">
                <ns2:creationId id="{BAA96BEE-F942-4652-847B-C7B3153462C1}"/>
              </ns1:ext>
            </ns1:extLst>
          </ns0:cNvPr>
          <ns0:cNvSpPr>
            <ns1:spLocks noGrp="1"/>
          </ns0:cNvSpPr>
          <ns0:nvPr/>
        </ns0:nvSpPr>
        <ns0:spPr>
          <ns1:xfrm>
            <ns1:off x="8277225" y="2895600"/>
            <ns1:ext cx="342900" cy="342900"/>
          </ns1:xfrm>
          <ns1:prstGeom prst="ellips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47" name="trace:D03:content.auto.36">
            <ns1:extLst>
              <ns1:ext uri="{FF2B5EF4-FFF2-40B4-BE49-F238E27FC236}">
                <ns2:creationId id="{CF8B41E9-7746-4766-AD03-B382BF6665C7}"/>
              </ns1:ext>
            </ns1:extLst>
          </ns0:cNvPr>
          <ns0:cNvSpPr>
            <ns1:spLocks noGrp="1"/>
          </ns0:cNvSpPr>
          <ns0:nvPr/>
        </ns0:nvSpPr>
        <ns0:spPr>
          <ns1:xfrm>
            <ns1:off x="8353425" y="2990850"/>
            <ns1:ext cx="219075" cy="180975"/>
          </ns1:xfrm>
          <ns1:custGeom>
            <ns1:pathLst>
              <ns1:path w="219075" h="180975">
                <ns1:moveTo>
                  <ns1:pt x="0" y="85725"/>
                </ns1:moveTo>
                <ns1:lnTo>
                  <ns1:pt x="38100" y="47625"/>
                </ns1:lnTo>
                <ns1:lnTo>
                  <ns1:pt x="85725" y="104775"/>
                </ns1:lnTo>
                <ns1:lnTo>
                  <ns1:pt x="180975" y="0"/>
                </ns1:lnTo>
                <ns1:lnTo>
                  <ns1:pt x="219075" y="28575"/>
                </ns1:lnTo>
                <ns1:lnTo>
                  <ns1:pt x="85725" y="1809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8" name="trace:D03:title.primary.9">
            <ns1:extLst>
              <ns1:ext uri="{FF2B5EF4-FFF2-40B4-BE49-F238E27FC236}">
                <ns2:creationId id="{36653A81-5B89-4A02-B601-24470A79B3EA}"/>
              </ns1:ext>
            </ns1:extLst>
          </ns0:cNvPr>
          <ns0:cNvSpPr>
            <ns1:spLocks noGrp="1"/>
          </ns0:cNvSpPr>
          <ns0:nvPr/>
        </ns0:nvSpPr>
        <ns0:spPr>
          <ns1:xfrm>
            <ns1:off x="8724900" y="2838450"/>
            <ns1:ext cx="1524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レビュー・提出</ns1:t>
            </ns1:r>
          </ns1:p>
        </ns0:txBody>
      </ns0:sp>
      <ns0:sp>
        <ns0:nvSpPr>
          <ns0:cNvPr id="49" name="trace:D03:title.primary.10">
            <ns1:extLst>
              <ns1:ext uri="{FF2B5EF4-FFF2-40B4-BE49-F238E27FC236}">
                <ns2:creationId id="{97ADC0F0-3D23-4446-8255-C8EEEEB2CD2B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3343275"/>
            <ns1:ext cx="20574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社内レビュー・修正を経て、</ns1:t>
            </ns1:r>
          </ns1:p>
          <ns1:p>
            <ns1:pPr algn="l">
              <ns1:def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顧客へ提出・振り返り</ns1:t>
            </ns1:r>
          </ns1:p>
        </ns0:txBody>
      </ns0:sp>
      <ns0:sp>
        <ns0:nvSpPr>
          <ns0:cNvPr id="50" name="trace:D03:content.auto.37">
            <ns1:extLst>
              <ns1:ext uri="{FF2B5EF4-FFF2-40B4-BE49-F238E27FC236}">
                <ns2:creationId id="{8EB6FDBC-0F3C-462A-B10E-6EAD068C0C2C}"/>
              </ns1:ext>
            </ns1:extLst>
          </ns0:cNvPr>
          <ns0:cNvSpPr>
            <ns1:spLocks noGrp="1"/>
          </ns0:cNvSpPr>
          <ns0:nvPr/>
        </ns0:nvSpPr>
        <ns0:spPr>
          <ns1:xfrm>
            <ns1:off x="2838450" y="3086100"/>
            <ns1:ext cx="266700" cy="295275"/>
          </ns1:xfrm>
          <ns1:prstGeom prst="rightArrow">
            <ns1:avLst/>
          </ns1:prstGeom>
          <ns1:solidFill>
            <ns1:srgbClr val="C9CED3"/>
          </ns1:solidFill>
          <ns1:ln w="0">
            <ns1:noFill/>
            <ns1:prstDash val="solid"/>
          </ns1:ln>
        </ns0:spPr>
      </ns0:sp>
      <ns0:sp>
        <ns0:nvSpPr>
          <ns0:cNvPr id="51" name="trace:D03:content.auto.38">
            <ns1:extLst>
              <ns1:ext uri="{FF2B5EF4-FFF2-40B4-BE49-F238E27FC236}">
                <ns2:creationId id="{0DC5AF12-8EC5-4F37-85C9-0109C9AE1D11}"/>
              </ns1:ext>
            </ns1:extLst>
          </ns0:cNvPr>
          <ns0:cNvSpPr>
            <ns1:spLocks noGrp="1"/>
          </ns0:cNvSpPr>
          <ns0:nvPr/>
        </ns0:nvSpPr>
        <ns0:spPr>
          <ns1:xfrm>
            <ns1:off x="5353050" y="3086100"/>
            <ns1:ext cx="266700" cy="295275"/>
          </ns1:xfrm>
          <ns1:prstGeom prst="rightArrow">
            <ns1:avLst/>
          </ns1:prstGeom>
          <ns1:solidFill>
            <ns1:srgbClr val="C9CED3"/>
          </ns1:solidFill>
          <ns1:ln w="0">
            <ns1:noFill/>
            <ns1:prstDash val="solid"/>
          </ns1:ln>
        </ns0:spPr>
      </ns0:sp>
      <ns0:sp>
        <ns0:nvSpPr>
          <ns0:cNvPr id="52" name="trace:D03:content.auto.39">
            <ns1:extLst>
              <ns1:ext uri="{FF2B5EF4-FFF2-40B4-BE49-F238E27FC236}">
                <ns2:creationId id="{304906BA-26EA-4755-ACDE-0CFE0D1E8001}"/>
              </ns1:ext>
            </ns1:extLst>
          </ns0:cNvPr>
          <ns0:cNvSpPr>
            <ns1:spLocks noGrp="1"/>
          </ns0:cNvSpPr>
          <ns0:nvPr/>
        </ns0:nvSpPr>
        <ns0:spPr>
          <ns1:xfrm>
            <ns1:off x="7867650" y="3086100"/>
            <ns1:ext cx="266700" cy="295275"/>
          </ns1:xfrm>
          <ns1:prstGeom prst="rightArrow">
            <ns1:avLst/>
          </ns1:prstGeom>
          <ns1:solidFill>
            <ns1:srgbClr val="C9CED3"/>
          </ns1:solidFill>
          <ns1:ln w="0">
            <ns1:noFill/>
            <ns1:prstDash val="solid"/>
          </ns1:ln>
        </ns0:spPr>
      </ns0:sp>
      <ns0:sp>
        <ns0:nvSpPr>
          <ns0:cNvPr id="53" name="trace:D03:content.auto.40">
            <ns1:extLst>
              <ns1:ext uri="{FF2B5EF4-FFF2-40B4-BE49-F238E27FC236}">
                <ns2:creationId id="{6548CCEC-1B10-47DE-97B9-0D77BFD8845A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4343400"/>
            <ns1:ext cx="428625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54" name="trace:D03:content.auto.41">
            <ns1:extLst>
              <ns1:ext uri="{FF2B5EF4-FFF2-40B4-BE49-F238E27FC236}">
                <ns2:creationId id="{BEE2FB0C-1E44-4FEB-BA10-52039869AC72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4238625"/>
            <ns1:ext cx="1714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課題構造</ns1:t>
            </ns1:r>
          </ns1:p>
        </ns0:txBody>
      </ns0:sp>
      <ns0:sp>
        <ns0:nvSpPr>
          <ns0:cNvPr id="55" name="trace:D03:content.auto.42">
            <ns1:extLst>
              <ns1:ext uri="{FF2B5EF4-FFF2-40B4-BE49-F238E27FC236}">
                <ns2:creationId id="{B6294A78-ADFE-470C-A3AF-05E8AA42D658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4638675"/>
            <ns1:ext cx="4667250" cy="1038225"/>
          </ns1:xfrm>
          <ns1:prstGeom prst="roundRect">
            <ns1:avLst>
              <ns1:gd name="adj" fmla="val 11009"/>
            </ns1:avLst>
          </ns1:prstGeom>
          <ns1:solidFill>
            <ns1:srgbClr val="FAFBFC"/>
          </ns1:solidFill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56" name="trace:D03:content.auto.43">
            <ns1:extLst>
              <ns1:ext uri="{FF2B5EF4-FFF2-40B4-BE49-F238E27FC236}">
                <ns2:creationId id="{4B9EF18C-7CF6-4647-8ED0-C263FF68763A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4752975"/>
            <ns1:ext cx="762000" cy="352425"/>
          </ns1:xfrm>
          <ns1:prstGeom prst="roundRect">
            <ns1:avLst>
              <ns1:gd name="adj" fmla="val 32432"/>
            </ns1:avLst>
          </ns1:prstGeom>
          <ns1:solidFill>
            <ns1:srgbClr val="37414D"/>
          </ns1:solidFill>
          <ns1:ln w="0">
            <ns1:noFill/>
            <ns1:prstDash val="solid"/>
          </ns1:ln>
        </ns0:spPr>
      </ns0:sp>
      <ns0:sp>
        <ns0:nvSpPr>
          <ns0:cNvPr id="57" name="trace:D03:content.auto.44">
            <ns1:extLst>
              <ns1:ext uri="{FF2B5EF4-FFF2-40B4-BE49-F238E27FC236}">
                <ns2:creationId id="{AEE07F05-C05B-4B1A-AB14-9E43ED430D7B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4810125"/>
            <ns1:ext cx="762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業務</ns1:t>
            </ns1:r>
          </ns1:p>
        </ns0:txBody>
      </ns0:sp>
      <ns0:sp>
        <ns0:nvSpPr>
          <ns0:cNvPr id="58" name="trace:D03:content.auto.45">
            <ns1:extLst>
              <ns1:ext uri="{FF2B5EF4-FFF2-40B4-BE49-F238E27FC236}">
                <ns2:creationId id="{4695BB73-2204-4C94-97F8-EFBD704E8F13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4800600"/>
            <ns1:ext cx="3333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手作業・重複作業が多い</ns1:t>
            </ns1:r>
          </ns1:p>
        </ns0:txBody>
      </ns0:sp>
      <ns0:sp>
        <ns0:nvSpPr>
          <ns0:cNvPr id="59" name="trace:D03:content.auto.46">
            <ns1:extLst>
              <ns1:ext uri="{FF2B5EF4-FFF2-40B4-BE49-F238E27FC236}">
                <ns2:creationId id="{8474B6F5-E8FB-44F1-B129-DBF2637DF68F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5153025"/>
            <ns1:ext cx="333375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情報収集や資料作成に時間がかかり、コア業務へ集中しづらい。</ns1:t>
            </ns1:r>
          </ns1:p>
        </ns0:txBody>
      </ns0:sp>
      <ns0:sp>
        <ns0:nvSpPr>
          <ns0:cNvPr id="60" name="trace:D03:content.auto.47">
            <ns1:extLst>
              <ns1:ext uri="{FF2B5EF4-FFF2-40B4-BE49-F238E27FC236}">
                <ns2:creationId id="{24223F28-A7F9-40E1-9C31-7B17D66C305D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5781675"/>
            <ns1:ext cx="4667250" cy="1038225"/>
          </ns1:xfrm>
          <ns1:prstGeom prst="roundRect">
            <ns1:avLst>
              <ns1:gd name="adj" fmla="val 11009"/>
            </ns1:avLst>
          </ns1:prstGeom>
          <ns1:solidFill>
            <ns1:srgbClr val="FAFBFC"/>
          </ns1:solidFill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61" name="trace:D03:content.auto.48">
            <ns1:extLst>
              <ns1:ext uri="{FF2B5EF4-FFF2-40B4-BE49-F238E27FC236}">
                <ns2:creationId id="{22DA9AF5-5C17-4D08-91AB-7831AEC3B030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895975"/>
            <ns1:ext cx="762000" cy="352425"/>
          </ns1:xfrm>
          <ns1:prstGeom prst="roundRect">
            <ns1:avLst>
              <ns1:gd name="adj" fmla="val 32432"/>
            </ns1:avLst>
          </ns1:prstGeom>
          <ns1:solidFill>
            <ns1:srgbClr val="37414D"/>
          </ns1:solidFill>
          <ns1:ln w="0">
            <ns1:noFill/>
            <ns1:prstDash val="solid"/>
          </ns1:ln>
        </ns0:spPr>
      </ns0:sp>
      <ns0:sp>
        <ns0:nvSpPr>
          <ns0:cNvPr id="62" name="trace:D03:content.auto.49">
            <ns1:extLst>
              <ns1:ext uri="{FF2B5EF4-FFF2-40B4-BE49-F238E27FC236}">
                <ns2:creationId id="{B8CCE170-AE85-4B73-916C-29B44F3C2A1A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953125"/>
            <ns1:ext cx="762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組織</ns1:t>
            </ns1:r>
          </ns1:p>
        </ns0:txBody>
      </ns0:sp>
      <ns0:sp>
        <ns0:nvSpPr>
          <ns0:cNvPr id="63" name="trace:D03:content.auto.50">
            <ns1:extLst>
              <ns1:ext uri="{FF2B5EF4-FFF2-40B4-BE49-F238E27FC236}">
                <ns2:creationId id="{379C0CDB-E2E9-4E0E-991D-33010100DD7F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5943600"/>
            <ns1:ext cx="3333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属人化・ノウハウ偏在</ns1:t>
            </ns1:r>
          </ns1:p>
        </ns0:txBody>
      </ns0:sp>
      <ns0:sp>
        <ns0:nvSpPr>
          <ns0:cNvPr id="64" name="trace:D03:content.auto.51">
            <ns1:extLst>
              <ns1:ext uri="{FF2B5EF4-FFF2-40B4-BE49-F238E27FC236}">
                <ns2:creationId id="{F311FB22-0646-4AB7-B1BD-FFBDDF807FCD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6296025"/>
            <ns1:ext cx="333375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担当者ごとに進め方が異なり、提案品質や再現性にばらつきがある。</ns1:t>
            </ns1:r>
          </ns1:p>
        </ns0:txBody>
      </ns0:sp>
      <ns0:sp>
        <ns0:nvSpPr>
          <ns0:cNvPr id="65" name="trace:D03:content.auto.52">
            <ns1:extLst>
              <ns1:ext uri="{FF2B5EF4-FFF2-40B4-BE49-F238E27FC236}">
                <ns2:creationId id="{D2C0F1FB-044B-4F61-B9FD-EE7388B22C01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6924675"/>
            <ns1:ext cx="4667250" cy="1038225"/>
          </ns1:xfrm>
          <ns1:prstGeom prst="roundRect">
            <ns1:avLst>
              <ns1:gd name="adj" fmla="val 11009"/>
            </ns1:avLst>
          </ns1:prstGeom>
          <ns1:solidFill>
            <ns1:srgbClr val="FAFBFC"/>
          </ns1:solidFill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66" name="trace:D03:content.auto.53">
            <ns1:extLst>
              <ns1:ext uri="{FF2B5EF4-FFF2-40B4-BE49-F238E27FC236}">
                <ns2:creationId id="{41519BEB-A3F0-412C-83F3-0FB401877778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7038975"/>
            <ns1:ext cx="762000" cy="352425"/>
          </ns1:xfrm>
          <ns1:prstGeom prst="roundRect">
            <ns1:avLst>
              <ns1:gd name="adj" fmla="val 32432"/>
            </ns1:avLst>
          </ns1:prstGeom>
          <ns1:solidFill>
            <ns1:srgbClr val="37414D"/>
          </ns1:solidFill>
          <ns1:ln w="0">
            <ns1:noFill/>
            <ns1:prstDash val="solid"/>
          </ns1:ln>
        </ns0:spPr>
      </ns0:sp>
      <ns0:sp>
        <ns0:nvSpPr>
          <ns0:cNvPr id="67" name="trace:D03:content.auto.54">
            <ns1:extLst>
              <ns1:ext uri="{FF2B5EF4-FFF2-40B4-BE49-F238E27FC236}">
                <ns2:creationId id="{B44688D4-FB19-400E-9346-46FFCB70845C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7096125"/>
            <ns1:ext cx="762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データ</ns1:t>
            </ns1:r>
          </ns1:p>
        </ns0:txBody>
      </ns0:sp>
      <ns0:sp>
        <ns0:nvSpPr>
          <ns0:cNvPr id="68" name="trace:D03:content.auto.55">
            <ns1:extLst>
              <ns1:ext uri="{FF2B5EF4-FFF2-40B4-BE49-F238E27FC236}">
                <ns2:creationId id="{11CDCE9C-37F9-4D6E-8178-9DC73E0ABEDE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7086600"/>
            <ns1:ext cx="3333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情報が分散・再利用困難</ns1:t>
            </ns1:r>
          </ns1:p>
        </ns0:txBody>
      </ns0:sp>
      <ns0:sp>
        <ns0:nvSpPr>
          <ns0:cNvPr id="69" name="trace:D03:content.auto.56">
            <ns1:extLst>
              <ns1:ext uri="{FF2B5EF4-FFF2-40B4-BE49-F238E27FC236}">
                <ns2:creationId id="{CFD227C9-57EF-4924-97FC-B66FFB50F67D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7439025"/>
            <ns1:ext cx="333375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過去資料・顧客情報・実績が点在し、検索と再利用に工数がかかる。</ns1:t>
            </ns1:r>
          </ns1:p>
        </ns0:txBody>
      </ns0:sp>
      <ns0:sp>
        <ns0:nvSpPr>
          <ns0:cNvPr id="70" name="trace:D03:content.auto.57">
            <ns1:extLst>
              <ns1:ext uri="{FF2B5EF4-FFF2-40B4-BE49-F238E27FC236}">
                <ns2:creationId id="{A90B675A-0F5E-4B66-9231-4056E70CB1E5}"/>
              </ns1:ext>
            </ns1:extLst>
          </ns0:cNvPr>
          <ns0:cNvSpPr>
            <ns1:spLocks noGrp="1"/>
          </ns0:cNvSpPr>
          <ns0:nvPr/>
        </ns0:nvSpPr>
        <ns0:spPr>
          <ns1:xfrm>
            <ns1:off x="5486400" y="4638675"/>
            <ns1:ext cx="5229225" cy="3238500"/>
          </ns1:xfrm>
          <ns1:prstGeom prst="roundRect">
            <ns1:avLst>
              <ns1:gd name="adj" fmla="val 3529"/>
            </ns1:avLst>
          </ns1:prstGeom>
          <ns1:solidFill>
            <ns1:srgbClr val="FFF7F7"/>
          </ns1:solidFill>
          <ns1:ln w="9525">
            <ns1:solidFill>
              <ns1:srgbClr val="F3A6AA"/>
            </ns1:solidFill>
            <ns1:prstDash val="solid"/>
          </ns1:ln>
        </ns0:spPr>
      </ns0:sp>
      <ns0:sp>
        <ns0:nvSpPr>
          <ns0:cNvPr id="71" name="trace:D03:content.auto.58">
            <ns1:extLst>
              <ns1:ext uri="{FF2B5EF4-FFF2-40B4-BE49-F238E27FC236}">
                <ns2:creationId id="{4696313F-D477-4993-8A98-1AFF1C1F995A}"/>
              </ns1:ext>
            </ns1:extLst>
          </ns0:cNvPr>
          <ns0:cNvSpPr>
            <ns1:spLocks noGrp="1"/>
          </ns0:cNvSpPr>
          <ns0:nvPr/>
        </ns0:nvSpPr>
        <ns0:spPr>
          <ns1:xfrm>
            <ns1:off x="5686425" y="4819650"/>
            <ns1:ext cx="2857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主なボトルネック</ns1:t>
            </ns1:r>
          </ns1:p>
        </ns0:txBody>
      </ns0:sp>
      <ns0:sp>
        <ns0:nvSpPr>
          <ns0:cNvPr id="72" name="trace:D03:content.auto.59">
            <ns1:extLst>
              <ns1:ext uri="{FF2B5EF4-FFF2-40B4-BE49-F238E27FC236}">
                <ns2:creationId id="{F99F656B-5B65-4A33-89FD-A62AF62F1BDC}"/>
              </ns1:ext>
            </ns1:extLst>
          </ns0:cNvPr>
          <ns0:cNvSpPr>
            <ns1:spLocks noGrp="1"/>
          </ns0:cNvSpPr>
          <ns0:nvPr/>
        </ns0:nvSpPr>
        <ns0:spPr>
          <ns1:xfrm>
            <ns1:off x="5876925" y="5353050"/>
            <ns1:ext cx="9525" cy="1676400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73" name="trace:D03:content.auto.60">
            <ns1:extLst>
              <ns1:ext uri="{FF2B5EF4-FFF2-40B4-BE49-F238E27FC236}">
                <ns2:creationId id="{1CBA4C03-2A28-4D71-AB4E-DC9269BE5823}"/>
              </ns1:ext>
            </ns1:extLst>
          </ns0:cNvPr>
          <ns0:cNvSpPr>
            <ns1:spLocks noGrp="1"/>
          </ns0:cNvSpPr>
          <ns0:nvPr/>
        </ns0:nvSpPr>
        <ns0:spPr>
          <ns1:xfrm>
            <ns1:off x="5686425" y="5219700"/>
            <ns1:ext cx="381000" cy="38100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4" name="trace:D03:content.auto.61">
            <ns1:extLst>
              <ns1:ext uri="{FF2B5EF4-FFF2-40B4-BE49-F238E27FC236}">
                <ns2:creationId id="{2E00A79A-C211-4420-87FC-C26D92EEDD31}"/>
              </ns1:ext>
            </ns1:extLst>
          </ns0:cNvPr>
          <ns0:cNvSpPr>
            <ns1:spLocks noGrp="1"/>
          </ns0:cNvSpPr>
          <ns0:nvPr/>
        </ns0:nvSpPr>
        <ns0:spPr>
          <ns1:xfrm>
            <ns1:off x="5686425" y="5305425"/>
            <ns1:ext cx="381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75" name="trace:D03:content.auto.62">
            <ns1:extLst>
              <ns1:ext uri="{FF2B5EF4-FFF2-40B4-BE49-F238E27FC236}">
                <ns2:creationId id="{9080C402-D55A-43A9-9375-EE0AA1E17C8E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5229225"/>
            <ns1:ext cx="39052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情報探索に時間がかかる</ns1:t>
            </ns1:r>
          </ns1:p>
        </ns0:txBody>
      </ns0:sp>
      <ns0:sp>
        <ns0:nvSpPr>
          <ns0:cNvPr id="76" name="trace:D03:content.auto.63">
            <ns1:extLst>
              <ns1:ext uri="{FF2B5EF4-FFF2-40B4-BE49-F238E27FC236}">
                <ns2:creationId id="{4274E280-C9C6-493F-B9A8-31206EB7B3D3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5486400"/>
            <ns1:ext cx="3905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複数フォルダ・担当者・外部サイトを横断</ns1:t>
            </ns1:r>
          </ns1:p>
        </ns0:txBody>
      </ns0:sp>
      <ns0:sp>
        <ns0:nvSpPr>
          <ns0:cNvPr id="77" name="trace:D03:content.auto.64">
            <ns1:extLst>
              <ns1:ext uri="{FF2B5EF4-FFF2-40B4-BE49-F238E27FC236}">
                <ns2:creationId id="{514D850D-60A8-4377-9D76-95C9ACADCF22}"/>
              </ns1:ext>
            </ns1:extLst>
          </ns0:cNvPr>
          <ns0:cNvSpPr>
            <ns1:spLocks noGrp="1"/>
          </ns0:cNvSpPr>
          <ns0:nvPr/>
        </ns0:nvSpPr>
        <ns0:spPr>
          <ns1:xfrm>
            <ns1:off x="5686425" y="5695950"/>
            <ns1:ext cx="381000" cy="38100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8" name="trace:D03:content.auto.65">
            <ns1:extLst>
              <ns1:ext uri="{FF2B5EF4-FFF2-40B4-BE49-F238E27FC236}">
                <ns2:creationId id="{51EC7C1B-458D-4A8F-AB5C-EB5742687DFC}"/>
              </ns1:ext>
            </ns1:extLst>
          </ns0:cNvPr>
          <ns0:cNvSpPr>
            <ns1:spLocks noGrp="1"/>
          </ns0:cNvSpPr>
          <ns0:nvPr/>
        </ns0:nvSpPr>
        <ns0:spPr>
          <ns1:xfrm>
            <ns1:off x="5686425" y="5781675"/>
            <ns1:ext cx="381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79" name="trace:D03:content.auto.66">
            <ns1:extLst>
              <ns1:ext uri="{FF2B5EF4-FFF2-40B4-BE49-F238E27FC236}">
                <ns2:creationId id="{CDCFDEF4-AA15-452D-8403-A0DDBC0BF007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5705475"/>
            <ns1:ext cx="39052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ゼロベース作成が多い</ns1:t>
            </ns1:r>
          </ns1:p>
        </ns0:txBody>
      </ns0:sp>
      <ns0:sp>
        <ns0:nvSpPr>
          <ns0:cNvPr id="80" name="trace:D03:content.auto.67">
            <ns1:extLst>
              <ns1:ext uri="{FF2B5EF4-FFF2-40B4-BE49-F238E27FC236}">
                <ns2:creationId id="{D1573F1B-34AD-4D41-90DA-84261712A4A9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5962650"/>
            <ns1:ext cx="3905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毎回、構成・表現・根拠を作り直している</ns1:t>
            </ns1:r>
          </ns1:p>
        </ns0:txBody>
      </ns0:sp>
      <ns0:sp>
        <ns0:nvSpPr>
          <ns0:cNvPr id="81" name="trace:D03:content.auto.68">
            <ns1:extLst>
              <ns1:ext uri="{FF2B5EF4-FFF2-40B4-BE49-F238E27FC236}">
                <ns2:creationId id="{0F657C5E-C391-4784-8A3C-328B0E4380D9}"/>
              </ns1:ext>
            </ns1:extLst>
          </ns0:cNvPr>
          <ns0:cNvSpPr>
            <ns1:spLocks noGrp="1"/>
          </ns0:cNvSpPr>
          <ns0:nvPr/>
        </ns0:nvSpPr>
        <ns0:spPr>
          <ns1:xfrm>
            <ns1:off x="5686425" y="6172200"/>
            <ns1:ext cx="381000" cy="38100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2" name="trace:D03:content.auto.69">
            <ns1:extLst>
              <ns1:ext uri="{FF2B5EF4-FFF2-40B4-BE49-F238E27FC236}">
                <ns2:creationId id="{8A0F63B0-7BB0-4B75-90BA-64B09A54110B}"/>
              </ns1:ext>
            </ns1:extLst>
          </ns0:cNvPr>
          <ns0:cNvSpPr>
            <ns1:spLocks noGrp="1"/>
          </ns0:cNvSpPr>
          <ns0:nvPr/>
        </ns0:nvSpPr>
        <ns0:spPr>
          <ns1:xfrm>
            <ns1:off x="5686425" y="6257925"/>
            <ns1:ext cx="381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83" name="trace:D03:content.auto.70">
            <ns1:extLst>
              <ns1:ext uri="{FF2B5EF4-FFF2-40B4-BE49-F238E27FC236}">
                <ns2:creationId id="{823B9332-6F00-4771-ACE4-C5A30905DBE5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6181725"/>
            <ns1:ext cx="39052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レビュー修正が多い</ns1:t>
            </ns1:r>
          </ns1:p>
        </ns0:txBody>
      </ns0:sp>
      <ns0:sp>
        <ns0:nvSpPr>
          <ns0:cNvPr id="84" name="trace:D03:content.auto.71">
            <ns1:extLst>
              <ns1:ext uri="{FF2B5EF4-FFF2-40B4-BE49-F238E27FC236}">
                <ns2:creationId id="{EAD2A3F2-DDB9-4634-BD06-929497532CAB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6438900"/>
            <ns1:ext cx="3905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判断基準が共有されず手戻りが発生</ns1:t>
            </ns1:r>
          </ns1:p>
        </ns0:txBody>
      </ns0:sp>
      <ns0:sp>
        <ns0:nvSpPr>
          <ns0:cNvPr id="85" name="trace:D03:content.auto.72">
            <ns1:extLst>
              <ns1:ext uri="{FF2B5EF4-FFF2-40B4-BE49-F238E27FC236}">
                <ns2:creationId id="{B7BA6AC6-F080-4B86-AF79-85BDB72B554F}"/>
              </ns1:ext>
            </ns1:extLst>
          </ns0:cNvPr>
          <ns0:cNvSpPr>
            <ns1:spLocks noGrp="1"/>
          </ns0:cNvSpPr>
          <ns0:nvPr/>
        </ns0:nvSpPr>
        <ns0:spPr>
          <ns1:xfrm>
            <ns1:off x="5686425" y="6648450"/>
            <ns1:ext cx="381000" cy="38100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6" name="trace:D03:content.auto.73">
            <ns1:extLst>
              <ns1:ext uri="{FF2B5EF4-FFF2-40B4-BE49-F238E27FC236}">
                <ns2:creationId id="{3B9FE023-11E4-482A-8DEA-895E515547BB}"/>
              </ns1:ext>
            </ns1:extLst>
          </ns0:cNvPr>
          <ns0:cNvSpPr>
            <ns1:spLocks noGrp="1"/>
          </ns0:cNvSpPr>
          <ns0:nvPr/>
        </ns0:nvSpPr>
        <ns0:spPr>
          <ns1:xfrm>
            <ns1:off x="5686425" y="6734175"/>
            <ns1:ext cx="381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87" name="trace:D03:content.auto.74">
            <ns1:extLst>
              <ns1:ext uri="{FF2B5EF4-FFF2-40B4-BE49-F238E27FC236}">
                <ns2:creationId id="{5467E393-35DD-4074-93AD-26A6F62BCEC5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6657975"/>
            <ns1:ext cx="39052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振り返りが資産化されない</ns1:t>
            </ns1:r>
          </ns1:p>
        </ns0:txBody>
      </ns0:sp>
      <ns0:sp>
        <ns0:nvSpPr>
          <ns0:cNvPr id="88" name="trace:D03:content.auto.75">
            <ns1:extLst>
              <ns1:ext uri="{FF2B5EF4-FFF2-40B4-BE49-F238E27FC236}">
                <ns2:creationId id="{5E1575CD-A005-477B-B9BD-C784ED2F590E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6915150"/>
            <ns1:ext cx="3905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成功・失注要因が次回提案へ十分反映されない</ns1:t>
            </ns1:r>
          </ns1:p>
        </ns0:txBody>
      </ns0:sp>
      <ns0:sp>
        <ns0:nvSpPr>
          <ns0:cNvPr id="89" name="trace:D03:content.auto.76">
            <ns1:extLst>
              <ns1:ext uri="{FF2B5EF4-FFF2-40B4-BE49-F238E27FC236}">
                <ns2:creationId id="{3CEC1B91-2490-4E8C-9DAE-748ECF4F7DC1}"/>
              </ns1:ext>
            </ns1:extLst>
          </ns0:cNvPr>
          <ns0:cNvSpPr>
            <ns1:spLocks noGrp="1"/>
          </ns0:cNvSpPr>
          <ns0:nvPr/>
        </ns0:nvSpPr>
        <ns0:spPr>
          <ns1:xfrm>
            <ns1:off x="11001375" y="4638675"/>
            <ns1:ext cx="4419600" cy="3238500"/>
          </ns1:xfrm>
          <ns1:prstGeom prst="roundRect">
            <ns1:avLst>
              <ns1:gd name="adj" fmla="val 3529"/>
            </ns1:avLst>
          </ns1:prstGeom>
          <ns1:solidFill>
            <ns1:srgbClr val="FAFBFC"/>
          </ns1:solidFill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90" name="trace:D03:content.auto.77">
            <ns1:extLst>
              <ns1:ext uri="{FF2B5EF4-FFF2-40B4-BE49-F238E27FC236}">
                <ns2:creationId id="{A2A370A9-3458-4334-B8BE-1270750A6814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4857750"/>
            <ns1:ext cx="41910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91" name="trace:D03:content.auto.78">
            <ns1:extLst>
              <ns1:ext uri="{FF2B5EF4-FFF2-40B4-BE49-F238E27FC236}">
                <ns2:creationId id="{5E548B84-B3C6-45A0-96EA-147C133EABC0}"/>
              </ns1:ext>
            </ns1:extLst>
          </ns0:cNvPr>
          <ns0:cNvSpPr>
            <ns1:spLocks noGrp="1"/>
          </ns0:cNvSpPr>
          <ns0:nvPr/>
        </ns0:nvSpPr>
        <ns0:spPr>
          <ns1:xfrm>
            <ns1:off x="11763375" y="4762500"/>
            <ns1:ext cx="2381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725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業務への影響</ns1:t>
            </ns1:r>
          </ns1:p>
        </ns0:txBody>
      </ns0:sp>
      <ns0:sp>
        <ns0:nvSpPr>
          <ns0:cNvPr id="92" name="trace:D03:content.auto.79">
            <ns1:extLst>
              <ns1:ext uri="{FF2B5EF4-FFF2-40B4-BE49-F238E27FC236}">
                <ns2:creationId id="{D30B498A-21E4-4A07-811A-086CB53A0C3E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5219700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作成時間</ns1:t>
            </ns1:r>
          </ns1:p>
        </ns0:txBody>
      </ns0:sp>
      <ns0:sp>
        <ns0:nvSpPr>
          <ns0:cNvPr id="93" name="trace:D03:content.auto.80">
            <ns1:extLst>
              <ns1:ext uri="{FF2B5EF4-FFF2-40B4-BE49-F238E27FC236}">
                <ns2:creationId id="{349B939A-7993-4032-BDAC-2CE808CBE9B2}"/>
              </ns1:ext>
            </ns1:extLst>
          </ns0:cNvPr>
          <ns0:cNvSpPr>
            <ns1:spLocks noGrp="1"/>
          </ns0:cNvSpPr>
          <ns0:nvPr/>
        </ns0:nvSpPr>
        <ns0:spPr>
          <ns1:xfrm>
            <ns1:off x="12430125" y="5181600"/>
            <ns1:ext cx="1524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長時間化</ns1:t>
            </ns1:r>
          </ns1:p>
        </ns0:txBody>
      </ns0:sp>
      <ns0:sp>
        <ns0:nvSpPr>
          <ns0:cNvPr id="94" name="trace:D03:content.auto.81">
            <ns1:extLst>
              <ns1:ext uri="{FF2B5EF4-FFF2-40B4-BE49-F238E27FC236}">
                <ns2:creationId id="{D7719CCC-280D-4E7A-8A7E-0C37FB58796F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5476875"/>
            <ns1:ext cx="3143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案件対応数が伸びにくい</ns1:t>
            </ns1:r>
          </ns1:p>
        </ns0:txBody>
      </ns0:sp>
      <ns0:sp>
        <ns0:nvSpPr>
          <ns0:cNvPr id="95" name="trace:D03:content.auto.82">
            <ns1:extLst>
              <ns1:ext uri="{FF2B5EF4-FFF2-40B4-BE49-F238E27FC236}">
                <ns2:creationId id="{66810CA3-5B96-4F61-8F2A-7D6C7D20803E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5705475"/>
            <ns1:ext cx="3971925" cy="9525"/>
          </ns1:xfrm>
          <ns1:prstGeom prst="line">
            <ns1:avLst/>
          </ns1:prstGeom>
          <ns1:noFill/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96" name="trace:D03:content.auto.83">
            <ns1:extLst>
              <ns1:ext uri="{FF2B5EF4-FFF2-40B4-BE49-F238E27FC236}">
                <ns2:creationId id="{9E01644D-08FC-4A1B-BCC5-BC94600E8EE1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5819775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提案品質</ns1:t>
            </ns1:r>
          </ns1:p>
        </ns0:txBody>
      </ns0:sp>
      <ns0:sp>
        <ns0:nvSpPr>
          <ns0:cNvPr id="97" name="trace:D03:content.auto.84">
            <ns1:extLst>
              <ns1:ext uri="{FF2B5EF4-FFF2-40B4-BE49-F238E27FC236}">
                <ns2:creationId id="{FFD93FCE-1AF1-4C0F-88C0-77F3E236B961}"/>
              </ns1:ext>
            </ns1:extLst>
          </ns0:cNvPr>
          <ns0:cNvSpPr>
            <ns1:spLocks noGrp="1"/>
          </ns0:cNvSpPr>
          <ns0:nvPr/>
        </ns0:nvSpPr>
        <ns0:spPr>
          <ns1:xfrm>
            <ns1:off x="12430125" y="5781675"/>
            <ns1:ext cx="1524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ばらつき</ns1:t>
            </ns1:r>
          </ns1:p>
        </ns0:txBody>
      </ns0:sp>
      <ns0:sp>
        <ns0:nvSpPr>
          <ns0:cNvPr id="98" name="trace:D03:content.auto.85">
            <ns1:extLst>
              <ns1:ext uri="{FF2B5EF4-FFF2-40B4-BE49-F238E27FC236}">
                <ns2:creationId id="{8510B6BE-AE02-4E02-B836-F11329471941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6076950"/>
            <ns1:ext cx="3143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担当者差が成果へ影響</ns1:t>
            </ns1:r>
          </ns1:p>
        </ns0:txBody>
      </ns0:sp>
      <ns0:sp>
        <ns0:nvSpPr>
          <ns0:cNvPr id="99" name="trace:D03:content.auto.86">
            <ns1:extLst>
              <ns1:ext uri="{FF2B5EF4-FFF2-40B4-BE49-F238E27FC236}">
                <ns2:creationId id="{94C6EED1-02A8-46D0-B264-7D50EE0BA827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6305550"/>
            <ns1:ext cx="3971925" cy="9525"/>
          </ns1:xfrm>
          <ns1:prstGeom prst="line">
            <ns1:avLst/>
          </ns1:prstGeom>
          <ns1:noFill/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100" name="trace:D03:content.auto.87">
            <ns1:extLst>
              <ns1:ext uri="{FF2B5EF4-FFF2-40B4-BE49-F238E27FC236}">
                <ns2:creationId id="{B16778B4-4D1B-4D91-AAB7-7920C2E7ECCB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6419850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再利用率</ns1:t>
            </ns1:r>
          </ns1:p>
        </ns0:txBody>
      </ns0:sp>
      <ns0:sp>
        <ns0:nvSpPr>
          <ns0:cNvPr id="101" name="trace:D03:content.auto.88">
            <ns1:extLst>
              <ns1:ext uri="{FF2B5EF4-FFF2-40B4-BE49-F238E27FC236}">
                <ns2:creationId id="{188798E3-9FEB-47F1-942E-F56F9B2CAD57}"/>
              </ns1:ext>
            </ns1:extLst>
          </ns0:cNvPr>
          <ns0:cNvSpPr>
            <ns1:spLocks noGrp="1"/>
          </ns0:cNvSpPr>
          <ns0:nvPr/>
        </ns0:nvSpPr>
        <ns0:spPr>
          <ns1:xfrm>
            <ns1:off x="12430125" y="6381750"/>
            <ns1:ext cx="1524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低い</ns1:t>
            </ns1:r>
          </ns1:p>
        </ns0:txBody>
      </ns0:sp>
      <ns0:sp>
        <ns0:nvSpPr>
          <ns0:cNvPr id="102" name="trace:D03:content.auto.89">
            <ns1:extLst>
              <ns1:ext uri="{FF2B5EF4-FFF2-40B4-BE49-F238E27FC236}">
                <ns2:creationId id="{AE5512B1-473A-49B6-ACB7-A55075667BA3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6677025"/>
            <ns1:ext cx="3143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ナレッジ蓄積が進まない</ns1:t>
            </ns1:r>
          </ns1:p>
        </ns0:txBody>
      </ns0:sp>
      <ns0:sp>
        <ns0:nvSpPr>
          <ns0:cNvPr id="103" name="trace:D03:content.auto.90">
            <ns1:extLst>
              <ns1:ext uri="{FF2B5EF4-FFF2-40B4-BE49-F238E27FC236}">
                <ns2:creationId id="{A2E84337-603D-48FD-9028-2AF06941771E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6905625"/>
            <ns1:ext cx="3971925" cy="9525"/>
          </ns1:xfrm>
          <ns1:prstGeom prst="line">
            <ns1:avLst/>
          </ns1:prstGeom>
          <ns1:noFill/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104" name="trace:D03:content.auto.91">
            <ns1:extLst>
              <ns1:ext uri="{FF2B5EF4-FFF2-40B4-BE49-F238E27FC236}">
                <ns2:creationId id="{885D3572-4359-4FB9-9C62-8EDA0A641739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7019925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意思決定</ns1:t>
            </ns1:r>
          </ns1:p>
        </ns0:txBody>
      </ns0:sp>
      <ns0:sp>
        <ns0:nvSpPr>
          <ns0:cNvPr id="105" name="trace:D03:content.auto.92">
            <ns1:extLst>
              <ns1:ext uri="{FF2B5EF4-FFF2-40B4-BE49-F238E27FC236}">
                <ns2:creationId id="{964AF702-C954-4F8E-BDC8-97921136ED4B}"/>
              </ns1:ext>
            </ns1:extLst>
          </ns0:cNvPr>
          <ns0:cNvSpPr>
            <ns1:spLocks noGrp="1"/>
          </ns0:cNvSpPr>
          <ns0:nvPr/>
        </ns0:nvSpPr>
        <ns0:spPr>
          <ns1:xfrm>
            <ns1:off x="12430125" y="6981825"/>
            <ns1:ext cx="1524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遅い</ns1:t>
            </ns1:r>
          </ns1:p>
        </ns0:txBody>
      </ns0:sp>
      <ns0:sp>
        <ns0:nvSpPr>
          <ns0:cNvPr id="106" name="trace:D03:content.auto.93">
            <ns1:extLst>
              <ns1:ext uri="{FF2B5EF4-FFF2-40B4-BE49-F238E27FC236}">
                <ns2:creationId id="{040D4EC6-39F7-4314-BFE9-938876EC4A4E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7277100"/>
            <ns1:ext cx="3143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データ不足で判断に時間</ns1:t>
            </ns1:r>
          </ns1:p>
        </ns0:txBody>
      </ns0:sp>
      <ns0:sp>
        <ns0:nvSpPr>
          <ns0:cNvPr id="107" name="trace:D03:content.auto.94">
            <ns1:extLst>
              <ns1:ext uri="{FF2B5EF4-FFF2-40B4-BE49-F238E27FC236}">
                <ns2:creationId id="{12C52F32-7DFC-41BD-ACE2-27F396B4D87F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8029575"/>
            <ns1:ext cx="11010900" cy="514350"/>
          </ns1:xfrm>
          <ns1:prstGeom prst="roundRect">
            <ns1:avLst>
              <ns1:gd name="adj" fmla="val 22222"/>
            </ns1:avLst>
          </ns1:prstGeom>
          <ns1:solidFill>
            <ns1:srgbClr val="FFEFF0"/>
          </ns1:solidFill>
          <ns1:ln w="0">
            <ns1:noFill/>
            <ns1:prstDash val="solid"/>
          </ns1:ln>
        </ns0:spPr>
      </ns0:sp>
      <ns0:sp>
        <ns0:nvSpPr>
          <ns0:cNvPr id="108" name="trace:D03:content.auto.95">
            <ns1:extLst>
              <ns1:ext uri="{FF2B5EF4-FFF2-40B4-BE49-F238E27FC236}">
                <ns2:creationId id="{E63DB9A5-2FFB-45D7-A30A-C34F8BFEFC0F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8096250"/>
            <ns1:ext cx="666750" cy="361950"/>
          </ns1:xfrm>
          <ns1:prstGeom prst="roundRect">
            <ns1:avLst>
              <ns1:gd name="adj" fmla="val 31579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09" name="trace:D03:content.auto.96">
            <ns1:extLst>
              <ns1:ext uri="{FF2B5EF4-FFF2-40B4-BE49-F238E27FC236}">
                <ns2:creationId id="{F9A82AC4-B1D7-49EE-AB3C-9D152BD48DF9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8162925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示唆</ns1:t>
            </ns1:r>
          </ns1:p>
        </ns0:txBody>
      </ns0:sp>
      <ns0:sp>
        <ns0:nvSpPr>
          <ns0:cNvPr id="110" name="trace:D03:content.auto.97">
            <ns1:extLst>
              <ns1:ext uri="{FF2B5EF4-FFF2-40B4-BE49-F238E27FC236}">
                <ns2:creationId id="{ABC84287-ECEA-4C64-8A0A-CFDB7E450185}"/>
              </ns1:ext>
            </ns1:extLst>
          </ns0:cNvPr>
          <ns0:cNvSpPr>
            <ns1:spLocks noGrp="1"/>
          </ns0:cNvSpPr>
          <ns0:nvPr/>
        </ns0:nvSpPr>
        <ns0:spPr>
          <ns1:xfrm>
            <ns1:off x="1400175" y="8105775"/>
            <ns1:ext cx="96202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標準化・再利用・データ活用を同時に進めることが、</ns1:t>
            </ns1:r>
          </ns1:p>
          <ns1:p>
            <ns1:pPr algn="l">
              <ns1:defRPr sz="135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提案品質とスピード向上の起点です。</ns1:t>
            </ns1:r>
          </ns1:p>
        </ns0:txBody>
      </ns0:sp>
      <ns0:sp>
        <ns0:nvSpPr>
          <ns0:cNvPr id="111" name="trace:D03:content.auto.98">
            <ns1:extLst>
              <ns1:ext uri="{FF2B5EF4-FFF2-40B4-BE49-F238E27FC236}">
                <ns2:creationId id="{964E78C9-52D7-41D7-90D8-E170E26DA3EC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8648700"/>
            <ns1:ext cx="238125" cy="133350"/>
          </ns1:xfrm>
          <ns1:custGeom>
            <ns1:pathLst>
              <ns1:path w="238125" h="133350">
                <ns1:moveTo>
                  <ns1:pt x="0" y="66675"/>
                </ns1:moveTo>
                <ns1:lnTo>
                  <ns1:pt x="114300" y="0"/>
                </ns1:lnTo>
                <ns1:lnTo>
                  <ns1:pt x="238125" y="66675"/>
                </ns1:lnTo>
                <ns1:lnTo>
                  <ns1:pt x="114300" y="1333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12" name="trace:D03:content.auto.99">
            <ns1:extLst>
              <ns1:ext uri="{FF2B5EF4-FFF2-40B4-BE49-F238E27FC236}">
                <ns2:creationId id="{8104495C-6205-491E-B402-4EEF7116ED62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8715375"/>
            <ns1:ext cx="114300" cy="209550"/>
          </ns1:xfrm>
          <ns1:custGeom>
            <ns1:pathLst>
              <ns1:path w="114300" h="209550">
                <ns1:moveTo>
                  <ns1:pt x="0" y="0"/>
                </ns1:moveTo>
                <ns1:lnTo>
                  <ns1:pt x="114300" y="66675"/>
                </ns1:lnTo>
                <ns1:lnTo>
                  <ns1:pt x="114300" y="209550"/>
                </ns1:lnTo>
                <ns1:lnTo>
                  <ns1:pt x="0" y="142875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113" name="trace:D03:content.auto.100">
            <ns1:extLst>
              <ns1:ext uri="{FF2B5EF4-FFF2-40B4-BE49-F238E27FC236}">
                <ns2:creationId id="{05758A69-1408-4628-84BB-C1644FD0CB55}"/>
              </ns1:ext>
            </ns1:extLst>
          </ns0:cNvPr>
          <ns0:cNvSpPr>
            <ns1:spLocks noGrp="1"/>
          </ns0:cNvSpPr>
          <ns0:nvPr/>
        </ns0:nvSpPr>
        <ns0:spPr>
          <ns1:xfrm>
            <ns1:off x="581025" y="8715375"/>
            <ns1:ext cx="123825" cy="209550"/>
          </ns1:xfrm>
          <ns1:custGeom>
            <ns1:pathLst>
              <ns1:path w="123825" h="209550">
                <ns1:moveTo>
                  <ns1:pt x="0" y="66675"/>
                </ns1:moveTo>
                <ns1:lnTo>
                  <ns1:pt x="123825" y="0"/>
                </ns1:lnTo>
                <ns1:lnTo>
                  <ns1:pt x="123825" y="142875"/>
                </ns1:lnTo>
                <ns1:lnTo>
                  <ns1:pt x="0" y="209550"/>
                </ns1:lnTo>
                <ns1:close/>
              </ns1:path>
            </ns1:pathLst>
          </ns1:custGeom>
          <ns1:solidFill>
            <ns1:srgbClr val="1A2027"/>
          </ns1:solidFill>
          <ns1:ln w="0">
            <ns1:noFill/>
            <ns1:prstDash val="solid"/>
          </ns1:ln>
        </ns0:spPr>
      </ns0:sp>
      <ns0:sp>
        <ns0:nvSpPr>
          <ns0:cNvPr id="114" name="trace:D03:footer.brand">
            <ns1:extLst>
              <ns1:ext uri="{FF2B5EF4-FFF2-40B4-BE49-F238E27FC236}">
                <ns2:creationId id="{6609B7DA-1CE5-4F6A-883D-BBCDF760FC5D}"/>
              </ns1:ext>
            </ns1:extLst>
          </ns0:cNvPr>
          <ns0:cNvSpPr>
            <ns1:spLocks noGrp="1"/>
          </ns0:cNvSpPr>
          <ns0:nvPr/>
        </ns0:nvSpPr>
        <ns0:spPr>
          <ns1:xfrm>
            <ns1:off x="866775" y="8648700"/>
            <ns1:ext cx="166687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1A2027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1A2027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115" name="trace:D03:content.auto.101">
            <ns1:extLst>
              <ns1:ext uri="{FF2B5EF4-FFF2-40B4-BE49-F238E27FC236}">
                <ns2:creationId id="{7F464185-6EE2-45F0-A842-51E163740F1E}"/>
              </ns1:ext>
            </ns1:extLst>
          </ns0:cNvPr>
          <ns0:cNvSpPr>
            <ns1:spLocks noGrp="1"/>
          </ns0:cNvSpPr>
          <ns0:nvPr/>
        </ns0:nvSpPr>
        <ns0:spPr>
          <ns1:xfrm>
            <ns1:off x="2619375" y="8572500"/>
            <ns1:ext cx="9525" cy="371475"/>
          </ns1:xfrm>
          <ns1:prstGeom prst="line">
            <ns1:avLst/>
          </ns1:prstGeom>
          <ns1:noFill/>
          <ns1:ln w="9525">
            <ns1:solidFill>
              <ns1:srgbClr val="D3D8DE"/>
            </ns1:solidFill>
            <ns1:prstDash val="solid"/>
          </ns1:ln>
        </ns0:spPr>
      </ns0:sp>
      <ns0:sp>
        <ns0:nvSpPr>
          <ns0:cNvPr id="116" name="trace:D03:footer.tagline.jp">
            <ns1:extLst>
              <ns1:ext uri="{FF2B5EF4-FFF2-40B4-BE49-F238E27FC236}">
                <ns2:creationId id="{7F45A4FC-272F-4D2B-B7FD-B4CDDD3E066C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562975"/>
            <ns1:ext cx="3238500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117" name="trace:D03:footer.tagline.en">
            <ns1:extLst>
              <ns1:ext uri="{FF2B5EF4-FFF2-40B4-BE49-F238E27FC236}">
                <ns2:creationId id="{EBF0123A-20B8-46A4-A18F-AB8E724319FE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772525"/>
            <ns1:ext cx="3238500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6717E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18" name="trace:D03:footer.date">
            <ns1:extLst>
              <ns1:ext uri="{FF2B5EF4-FFF2-40B4-BE49-F238E27FC236}">
                <ns2:creationId id="{20B6646D-0896-45FE-983A-9E8AFCA6C92B}"/>
              </ns1:ext>
            </ns1:extLst>
          </ns0:cNvPr>
          <ns0:cNvSpPr>
            <ns1:spLocks noGrp="1"/>
          </ns0:cNvSpPr>
          <ns0:nvPr/>
        </ns0:nvSpPr>
        <ns0:spPr>
          <ns1:xfrm>
            <ns1:off x="14268450" y="8639175"/>
            <ns1:ext cx="1143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119" name="trace:D03:content.auto.102">
            <ns1:extLst>
              <ns1:ext uri="{FF2B5EF4-FFF2-40B4-BE49-F238E27FC236}">
                <ns2:creationId id="{0331D534-28BF-4B3D-A151-B593176E14AE}"/>
              </ns1:ext>
            </ns1:extLst>
          </ns0:cNvPr>
          <ns0:cNvSpPr>
            <ns1:spLocks noGrp="1"/>
          </ns0:cNvSpPr>
          <ns0:nvPr/>
        </ns0:nvSpPr>
        <ns0:spPr>
          <ns1:xfrm>
            <ns1:off x="15497175" y="8715375"/>
            <ns1:ext cx="333375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</ns0:spTree>
    <ns0:extLst>
      <ns0:ext uri="{BB962C8B-B14F-4D97-AF65-F5344CB8AC3E}">
        <ns3:creationId val="1954657734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2026-09-19T22:08:42.7650000Z</dcterms:created>
  <dcterms:modified xsi:type="dcterms:W3CDTF">2026-09-19T22:08:42.7650000Z</dcterms:modified>
</coreProperties>
</file>