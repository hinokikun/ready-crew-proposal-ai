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0a72fbbfd748cc" /><Relationship Type="http://schemas.openxmlformats.org/officeDocument/2006/relationships/extended-properties" Target="/docProps/app.xml" Id="R502d82d3241c4205" /><Relationship Type="http://schemas.openxmlformats.org/officeDocument/2006/relationships/officeDocument" Target="/ppt/presentation.xml" Id="Rf4335ac5f6ba4d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602b3c76924264"/>
  </p:sldMasterIdLst>
  <p:notesMasterIdLst>
    <p:notesMasterId xmlns:r="http://schemas.openxmlformats.org/officeDocument/2006/relationships" r:id="Racbee9ae63d84be9"/>
  </p:notesMasterIdLst>
  <p:sldIdLst>
    <p:sldId xmlns:r="http://schemas.openxmlformats.org/officeDocument/2006/relationships" id="256" r:id="R9e8cbd718cf84e22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d0f2e9f44c4799" /><Relationship Type="http://schemas.openxmlformats.org/officeDocument/2006/relationships/slideMaster" Target="/ppt/slideMasters/slideMaster1.xml" Id="R7a602b3c76924264" /><Relationship Type="http://schemas.openxmlformats.org/officeDocument/2006/relationships/notesMaster" Target="/ppt/notesMasters/notesMaster1.xml" Id="Racbee9ae63d84be9" /><Relationship Type="http://schemas.openxmlformats.org/officeDocument/2006/relationships/presProps" Target="/ppt/presProps.xml" Id="Rc801c9fbaa26486d" /><Relationship Type="http://schemas.openxmlformats.org/officeDocument/2006/relationships/tableStyles" Target="/ppt/tableStyles.xml" Id="R87882024e23f4a29" /><Relationship Type="http://schemas.openxmlformats.org/officeDocument/2006/relationships/slide" Target="/ppt/slides/slide1.xml" Id="R9e8cbd718cf84e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5b2d1e23de4b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6cdf4656cc43a1" /><Relationship Type="http://schemas.openxmlformats.org/officeDocument/2006/relationships/notesMaster" Target="/ppt/notesMasters/notesMaster1.xml" Id="Reb3f5999224442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D12 ROI /導入効果 replacement native trace. Canonical image is the sole visual authority. Charts, cards, chevrons, icons, typography, and connectors are native/editable; only the right-side photo is a limited crop. Canonical numbers are trace-only sample content, not production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f454ba22fd40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a1465b07014b57" /><Relationship Type="http://schemas.openxmlformats.org/officeDocument/2006/relationships/slideLayout" Target="/ppt/slideLayouts/slideLayout1.xml" Id="Rf51d0c8583a84f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1d0c8583a84f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950ebafc04ce5" /><Relationship Type="http://schemas.openxmlformats.org/officeDocument/2006/relationships/image" Target="/ppt/media/image.png" Id="Rf0a4c8b653b549ae" /><Relationship Type="http://schemas.openxmlformats.org/officeDocument/2006/relationships/notesSlide" Target="/ppt/notesSlides/notesSlide1.xml" Id="Reb93a702715443a6" 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 xmlns:ns4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pic>
        <ns0:nvPicPr>
          <ns0:cNvPr id="181" name="trace:D12:image.1"/>
          <ns0:cNvPicPr>
            <ns1:picLocks noChangeAspect="1"/>
          </ns0:cNvPicPr>
          <ns0:nvPr/>
        </ns0:nvPicPr>
        <ns0:blipFill>
          <ns1:blip ns2:embed="Rf0a4c8b653b549ae"/>
          <ns1:srcRect l="0" t="0" r="0" b="0"/>
          <ns1:stretch>
            <ns1:fillRect l="0" t="0" r="0" b="0"/>
          </ns1:stretch>
        </ns0:blipFill>
        <ns0:spPr>
          <ns1:xfrm>
            <ns1:off x="13620750" y="0"/>
            <ns1:ext cx="2305050" cy="6791325"/>
          </ns1:xfrm>
          <ns1:prstGeom prst="rect">
            <ns1:avLst/>
          </ns1:prstGeom>
        </ns0:spPr>
      </ns0:pic>
      <ns0:sp>
        <ns0:nvSpPr>
          <ns0:cNvPr id="2" name="trace:D12:content.auto">
            <ns1:extLst>
              <ns1:ext uri="{FF2B5EF4-FFF2-40B4-BE49-F238E27FC236}">
                <ns3:creationId id="{AA9AAA97-8038-4D1C-9DCF-6C2CDAA53D24}"/>
              </ns1:ext>
            </ns1:extLst>
          </ns0:cNvPr>
          <ns0:cNvSpPr>
            <ns1:spLocks noGrp="1"/>
          </ns0:cNvSpPr>
          <ns0:nvPr/>
        </ns0:nvSpPr>
        <ns0:spPr>
          <ns1:xfrm>
            <ns1:off x="13620750" y="0"/>
            <ns1:ext cx="2305050" cy="106680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3" name="trace:D12:content.auto.2">
            <ns1:extLst>
              <ns1:ext uri="{FF2B5EF4-FFF2-40B4-BE49-F238E27FC236}">
                <ns3:creationId id="{9B45D650-005C-4B61-BCA5-72CE89441B65}"/>
              </ns1:ext>
            </ns1:extLst>
          </ns0:cNvPr>
          <ns0:cNvSpPr>
            <ns1:spLocks noGrp="1"/>
          </ns0:cNvSpPr>
          <ns0:nvPr/>
        </ns0:nvSpPr>
        <ns0:spPr>
          <ns1:xfrm>
            <ns1:off x="10572750" y="0"/>
            <ns1:ext cx="2781300" cy="4953000"/>
          </ns1:xfrm>
          <ns1:custGeom>
            <ns1:pathLst>
              <ns1:path w="2781300" h="4953000">
                <ns1:moveTo>
                  <ns1:pt x="1543050" y="0"/>
                </ns1:moveTo>
                <ns1:lnTo>
                  <ns1:pt x="2781300" y="0"/>
                </ns1:lnTo>
                <ns1:lnTo>
                  <ns1:pt x="1238250" y="4953000"/>
                </ns1:lnTo>
                <ns1:lnTo>
                  <ns1:pt x="0" y="495300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4" name="trace:D12:content.auto.3">
            <ns1:extLst>
              <ns1:ext uri="{FF2B5EF4-FFF2-40B4-BE49-F238E27FC236}">
                <ns3:creationId id="{18D1C8B3-42C3-435C-A7AC-9EDD652240C0}"/>
              </ns1:ext>
            </ns1:extLst>
          </ns0:cNvPr>
          <ns0:cNvSpPr>
            <ns1:spLocks noGrp="1"/>
          </ns0:cNvSpPr>
          <ns0:nvPr/>
        </ns0:nvSpPr>
        <ns0:spPr>
          <ns1:xfrm>
            <ns1:off x="11734800" y="0"/>
            <ns1:ext cx="1866900" cy="4953000"/>
          </ns1:xfrm>
          <ns1:custGeom>
            <ns1:pathLst>
              <ns1:path w="1866900" h="4953000">
                <ns1:moveTo>
                  <ns1:pt x="1619250" y="0"/>
                </ns1:moveTo>
                <ns1:lnTo>
                  <ns1:pt x="1866900" y="0"/>
                </ns1:lnTo>
                <ns1:lnTo>
                  <ns1:pt x="266700" y="4953000"/>
                </ns1:lnTo>
                <ns1:lnTo>
                  <ns1:pt x="0" y="4953000"/>
                </ns1:lnTo>
                <ns1:close/>
              </ns1:path>
            </ns1:pathLst>
          </ns1:cu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5" name="trace:D12:content.auto.4">
            <ns1:extLst>
              <ns1:ext uri="{FF2B5EF4-FFF2-40B4-BE49-F238E27FC236}">
                <ns3:creationId id="{0711FAE0-85C4-4757-B867-C95139D80B7B}"/>
              </ns1:ext>
            </ns1:extLst>
          </ns0:cNvPr>
          <ns0:cNvSpPr>
            <ns1:spLocks noGrp="1"/>
          </ns0:cNvSpPr>
          <ns0:nvPr/>
        </ns0:nvSpPr>
        <ns0:spPr>
          <ns1:xfrm>
            <ns1:off x="12001500" y="0"/>
            <ns1:ext cx="1809750" cy="4953000"/>
          </ns1:xfrm>
          <ns1:custGeom>
            <ns1:pathLst>
              <ns1:path w="1809750" h="4953000">
                <ns1:moveTo>
                  <ns1:pt x="1600200" y="0"/>
                </ns1:moveTo>
                <ns1:lnTo>
                  <ns1:pt x="1809750" y="0"/>
                </ns1:lnTo>
                <ns1:lnTo>
                  <ns1:pt x="209550" y="4953000"/>
                </ns1:lnTo>
                <ns1:lnTo>
                  <ns1:pt x="0" y="4953000"/>
                </ns1:lnTo>
                <ns1:close/>
              </ns1:path>
            </ns1:pathLst>
          </ns1:custGeom>
          <ns1:solidFill>
            <ns1:srgbClr val="E9EFF4"/>
          </ns1:solidFill>
          <ns1:ln w="0">
            <ns1:noFill/>
            <ns1:prstDash val="solid"/>
          </ns1:ln>
        </ns0:spPr>
      </ns0:sp>
      <ns0:sp>
        <ns0:nvSpPr>
          <ns0:cNvPr id="6" name="trace:D12:content.auto.5">
            <ns1:extLst>
              <ns1:ext uri="{FF2B5EF4-FFF2-40B4-BE49-F238E27FC236}">
                <ns3:creationId id="{33D8B5BC-B49B-4FC2-81B0-C8499DAD31DB}"/>
              </ns1:ext>
            </ns1:extLst>
          </ns0:cNvPr>
          <ns0:cNvSpPr>
            <ns1:spLocks noGrp="1"/>
          </ns0:cNvSpPr>
          <ns0:nvPr/>
        </ns0:nvSpPr>
        <ns0:spPr>
          <ns1:xfrm>
            <ns1:off x="12573000" y="7000875"/>
            <ns1:ext cx="3352800" cy="1962150"/>
          </ns1:xfrm>
          <ns1:custGeom>
            <ns1:pathLst>
              <ns1:path w="3352800" h="1962150">
                <ns1:moveTo>
                  <ns1:pt x="0" y="1962150"/>
                </ns1:moveTo>
                <ns1:lnTo>
                  <ns1:pt x="3352800" y="0"/>
                </ns1:lnTo>
                <ns1:lnTo>
                  <ns1:pt x="3352800" y="196215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7" name="trace:D12:content.auto.6">
            <ns1:extLst>
              <ns1:ext uri="{FF2B5EF4-FFF2-40B4-BE49-F238E27FC236}">
                <ns3:creationId id="{D97B04C9-8145-4C69-A5B0-B39C3332252E}"/>
              </ns1:ext>
            </ns1:extLst>
          </ns0:cNvPr>
          <ns0:cNvSpPr>
            <ns1:spLocks noGrp="1"/>
          </ns0:cNvSpPr>
          <ns0:nvPr/>
        </ns0:nvSpPr>
        <ns0:spPr>
          <ns1:xfrm>
            <ns1:off x="13620750" y="7743825"/>
            <ns1:ext cx="2305050" cy="1219200"/>
          </ns1:xfrm>
          <ns1:custGeom>
            <ns1:pathLst>
              <ns1:path w="2305050" h="1219200">
                <ns1:moveTo>
                  <ns1:pt x="0" y="1219200"/>
                </ns1:moveTo>
                <ns1:lnTo>
                  <ns1:pt x="2305050" y="0"/>
                </ns1:lnTo>
                <ns1:lnTo>
                  <ns1:pt x="2305050" y="1219200"/>
                </ns1:lnTo>
                <ns1:close/>
              </ns1:path>
            </ns1:pathLst>
          </ns1:custGeom>
          <ns1:solidFill>
            <ns1:srgbClr val="C90817"/>
          </ns1:solidFill>
          <ns1:ln w="0">
            <ns1:noFill/>
            <ns1:prstDash val="solid"/>
          </ns1:ln>
        </ns0:spPr>
      </ns0:sp>
      <ns0:sp>
        <ns0:nvSpPr>
          <ns0:cNvPr id="8" name="trace:D12:content.auto.7">
            <ns1:extLst>
              <ns1:ext uri="{FF2B5EF4-FFF2-40B4-BE49-F238E27FC236}">
                <ns3:creationId id="{6A82F08A-167C-46F2-AC90-B6F9D323E1B7}"/>
              </ns1:ext>
            </ns1:extLst>
          </ns0:cNvPr>
          <ns0:cNvSpPr>
            <ns1:spLocks noGrp="1"/>
          </ns0:cNvSpPr>
          <ns0:nvPr/>
        </ns0:nvSpPr>
        <ns0:spPr>
          <ns1:xfrm>
            <ns1:off x="285750" y="285750"/>
            <ns1:ext cx="6667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D12</ns1:t>
            </ns1:r>
          </ns1:p>
        </ns0:txBody>
      </ns0:sp>
      <ns0:sp>
        <ns0:nvSpPr>
          <ns0:cNvPr id="9" name="trace:D12:title.primary">
            <ns1:extLst>
              <ns1:ext uri="{FF2B5EF4-FFF2-40B4-BE49-F238E27FC236}">
                <ns3:creationId id="{E0417D0B-2321-4A4C-B2DD-5B324CB3ADD7}"/>
              </ns1:ext>
            </ns1:extLst>
          </ns0:cNvPr>
          <ns0:cNvSpPr>
            <ns1:spLocks noGrp="1"/>
          </ns0:cNvSpPr>
          <ns0:nvPr/>
        </ns0:nvSpPr>
        <ns0:spPr>
          <ns1:xfrm>
            <ns1:off x="962025" y="285750"/>
            <ns1:ext cx="25717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ROI / 導入効果</ns1:t>
            </ns1:r>
          </ns1:p>
        </ns0:txBody>
      </ns0:sp>
      <ns0:sp>
        <ns0:nvSpPr>
          <ns0:cNvPr id="10" name="trace:D12:header.brand">
            <ns1:extLst>
              <ns1:ext uri="{FF2B5EF4-FFF2-40B4-BE49-F238E27FC236}">
                <ns3:creationId id="{0BEF6EF4-04C8-4B21-B421-14B7071EAE4C}"/>
              </ns1:ext>
            </ns1:extLst>
          </ns0:cNvPr>
          <ns0:cNvSpPr>
            <ns1:spLocks noGrp="1"/>
          </ns0:cNvSpPr>
          <ns0:nvPr/>
        </ns0:nvSpPr>
        <ns0:spPr>
          <ns1:xfrm>
            <ns1:off x="9906000" y="285750"/>
            <ns1:ext cx="21717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210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>
                <ns1:solidFill>
                  <ns1:srgbClr val="E71926"/>
                </ns1:solidFill>
              </ns1:rPr>
              <ns1:t>提案</ns1:t>
            </ns1:r>
            <ns1:r>
              <ns1:t>クエスト</ns1:t>
            </ns1:r>
          </ns1:p>
        </ns0:txBody>
      </ns0:sp>
      <ns0:sp>
        <ns0:nvSpPr>
          <ns0:cNvPr id="11" name="trace:D12:header.tagline">
            <ns1:extLst>
              <ns1:ext uri="{FF2B5EF4-FFF2-40B4-BE49-F238E27FC236}">
                <ns3:creationId id="{2599B21E-A4E2-42B7-BF2D-0A08F8854A8A}"/>
              </ns1:ext>
            </ns1:extLst>
          </ns0:cNvPr>
          <ns0:cNvSpPr>
            <ns1:spLocks noGrp="1"/>
          </ns0:cNvSpPr>
          <ns0:nvPr/>
        </ns0:nvSpPr>
        <ns0:spPr>
          <ns1:xfrm>
            <ns1:off x="9906000" y="638175"/>
            <ns1:ext cx="2333625" cy="1809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9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9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AIで、提案をもっと速く、もっと強く。</ns1:t>
            </ns1:r>
          </ns1:p>
        </ns0:txBody>
      </ns0:sp>
      <ns0:sp>
        <ns0:nvSpPr>
          <ns0:cNvPr id="12" name="trace:D12:header.message">
            <ns1:extLst>
              <ns1:ext uri="{FF2B5EF4-FFF2-40B4-BE49-F238E27FC236}">
                <ns3:creationId id="{E4430302-7869-4D60-98DD-088A616B2E73}"/>
              </ns1:ext>
            </ns1:extLst>
          </ns0:cNvPr>
          <ns0:cNvSpPr>
            <ns1:spLocks noGrp="1"/>
          </ns0:cNvSpPr>
          <ns0:nvPr/>
        </ns0:nvSpPr>
        <ns0:spPr>
          <ns1:xfrm>
            <ns1:off x="13963650" y="400050"/>
            <ns1:ext cx="1638300" cy="514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THINK TOGETHER,</ns1:t>
            </ns1:r>
          </ns1:p>
          <ns1:p>
            <ns1:pPr algn="l">
              <ns1:def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CREATE THE NEXT.</ns1:t>
            </ns1:r>
          </ns1:p>
        </ns0:txBody>
      </ns0:sp>
      <ns0:sp>
        <ns0:nvSpPr>
          <ns0:cNvPr id="13" name="trace:D12:content.auto.8">
            <ns1:extLst>
              <ns1:ext uri="{FF2B5EF4-FFF2-40B4-BE49-F238E27FC236}">
                <ns3:creationId id="{253B1648-180E-491F-89F6-CB890B141A71}"/>
              </ns1:ext>
            </ns1:extLst>
          </ns0:cNvPr>
          <ns0:cNvSpPr>
            <ns1:spLocks noGrp="1"/>
          </ns0:cNvSpPr>
          <ns0:nvPr/>
        </ns0:nvSpPr>
        <ns0:spPr>
          <ns1:xfrm>
            <ns1:off x="13963650" y="904875"/>
            <ns1:ext cx="1314450" cy="9525"/>
          </ns1:xfrm>
          <ns1:prstGeom prst="line">
            <ns1:avLst/>
          </ns1:prstGeom>
          <ns1:noFill/>
          <ns1:ln w="9525">
            <ns1:solidFill>
              <ns1:srgbClr val="101D28"/>
            </ns1:solidFill>
            <ns1:prstDash val="solid"/>
          </ns1:ln>
        </ns0:spPr>
      </ns0:sp>
      <ns0:sp>
        <ns0:nvSpPr>
          <ns0:cNvPr id="14" name="trace:D12:content.auto.9">
            <ns1:extLst>
              <ns1:ext uri="{FF2B5EF4-FFF2-40B4-BE49-F238E27FC236}">
                <ns3:creationId id="{21442943-934B-4D26-AA02-58ABDE794931}"/>
              </ns1:ext>
            </ns1:extLst>
          </ns0:cNvPr>
          <ns0:cNvSpPr>
            <ns1:spLocks noGrp="1"/>
          </ns0:cNvSpPr>
          <ns0:nvPr/>
        </ns0:nvSpPr>
        <ns0:spPr>
          <ns1:xfrm>
            <ns1:off x="13963650" y="904875"/>
            <ns1:ext cx="323850" cy="952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5" name="trace:D12:title.primary.2">
            <ns1:extLst>
              <ns1:ext uri="{FF2B5EF4-FFF2-40B4-BE49-F238E27FC236}">
                <ns3:creationId id="{441221B2-A9D6-41BE-8942-A380D2492755}"/>
              </ns1:ext>
            </ns1:extLst>
          </ns0:cNvPr>
          <ns0:cNvSpPr>
            <ns1:spLocks noGrp="1"/>
          </ns0:cNvSpPr>
          <ns0:nvPr/>
        </ns0:nvSpPr>
        <ns0:spPr>
          <ns1:xfrm>
            <ns1:off x="514350" y="781050"/>
            <ns1:ext cx="9525000" cy="666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37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>
                <ns1:solidFill>
                  <ns1:srgbClr val="101D28"/>
                </ns1:solidFill>
              </ns1:rPr>
              <ns1:t>投資以上の</ns1:t>
            </ns1:r>
            <ns1:r>
              <ns1:rPr>
                <ns1:solidFill>
                  <ns1:srgbClr val="E71926"/>
                </ns1:solidFill>
              </ns1:rPr>
              <ns1:t>成果</ns1:t>
            </ns1:r>
            <ns1:r>
              <ns1:rPr>
                <ns1:solidFill>
                  <ns1:srgbClr val="101D28"/>
                </ns1:solidFill>
              </ns1:rPr>
              <ns1:t>を、</ns1:t>
            </ns1:r>
            <ns1:r>
              <ns1:rPr>
                <ns1:solidFill>
                  <ns1:srgbClr val="E71926"/>
                </ns1:solidFill>
              </ns1:rPr>
              <ns1:t>短期間</ns1:t>
            </ns1:r>
            <ns1:r>
              <ns1:rPr>
                <ns1:solidFill>
                  <ns1:srgbClr val="101D28"/>
                </ns1:solidFill>
              </ns1:rPr>
              <ns1:t>で</ns1:t>
            </ns1:r>
            <ns1:r>
              <ns1:rPr>
                <ns1:solidFill>
                  <ns1:srgbClr val="E71926"/>
                </ns1:solidFill>
              </ns1:rPr>
              <ns1:t>実現</ns1:t>
            </ns1:r>
          </ns1:p>
        </ns0:txBody>
      </ns0:sp>
      <ns0:sp>
        <ns0:nvSpPr>
          <ns0:cNvPr id="16" name="trace:D12:header.brand.2">
            <ns1:extLst>
              <ns1:ext uri="{FF2B5EF4-FFF2-40B4-BE49-F238E27FC236}">
                <ns3:creationId id="{A4EC627D-D242-4623-A331-0C3F2B8189FE}"/>
              </ns1:ext>
            </ns1:extLst>
          </ns0:cNvPr>
          <ns0:cNvSpPr>
            <ns1:spLocks noGrp="1"/>
          </ns0:cNvSpPr>
          <ns0:nvPr/>
        </ns0:nvSpPr>
        <ns0:spPr>
          <ns1:xfrm>
            <ns1:off x="552450" y="1647825"/>
            <ns1:ext cx="98107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65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65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提案クエストの導入により、提案業務の効率化・品質向上・受注増加を同時に実現し、</ns1:t>
            </ns1:r>
          </ns1:p>
        </ns0:txBody>
      </ns0:sp>
      <ns0:sp>
        <ns0:nvSpPr>
          <ns0:cNvPr id="17" name="trace:D12:title.primary.3">
            <ns1:extLst>
              <ns1:ext uri="{FF2B5EF4-FFF2-40B4-BE49-F238E27FC236}">
                <ns3:creationId id="{804CDA65-FC00-48C2-8373-7A7B9A98A618}"/>
              </ns1:ext>
            </ns1:extLst>
          </ns0:cNvPr>
          <ns0:cNvSpPr>
            <ns1:spLocks noGrp="1"/>
          </ns0:cNvSpPr>
          <ns0:nvPr/>
        </ns0:nvSpPr>
        <ns0:spPr>
          <ns1:xfrm>
            <ns1:off x="552450" y="1971675"/>
            <ns1:ext cx="89535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>
                <ns1:solidFill>
                  <ns1:srgbClr val="E71926"/>
                </ns1:solidFill>
              </ns1:rPr>
              <ns1:t>投資対効果の高いソリューション</ns1:t>
            </ns1:r>
            <ns1:r>
              <ns1:rPr>
                <ns1:solidFill>
                  <ns1:srgbClr val="20324B"/>
                </ns1:solidFill>
              </ns1:rPr>
              <ns1:t>として、</ns1:t>
            </ns1:r>
            <ns1:r>
              <ns1:rPr>
                <ns1:solidFill>
                  <ns1:srgbClr val="E71926"/>
                </ns1:solidFill>
              </ns1:rPr>
              <ns1:t>早期に成果を創出</ns1:t>
            </ns1:r>
            <ns1:r>
              <ns1:rPr>
                <ns1:solidFill>
                  <ns1:srgbClr val="20324B"/>
                </ns1:solidFill>
              </ns1:rPr>
              <ns1:t>します。</ns1:t>
            </ns1:r>
          </ns1:p>
        </ns0:txBody>
      </ns0:sp>
      <ns0:sp>
        <ns0:nvSpPr>
          <ns0:cNvPr id="18" name="trace:D12:content.auto.10">
            <ns1:extLst>
              <ns1:ext uri="{FF2B5EF4-FFF2-40B4-BE49-F238E27FC236}">
                <ns3:creationId id="{3778C0B1-8669-4A0E-9ED2-51DB15D00B0B}"/>
              </ns1:ext>
            </ns1:extLst>
          </ns0:cNvPr>
          <ns0:cNvSpPr>
            <ns1:spLocks noGrp="1"/>
          </ns0:cNvSpPr>
          <ns0:nvPr/>
        </ns0:nvSpPr>
        <ns0:spPr>
          <ns1:xfrm>
            <ns1:off x="333375" y="2447925"/>
            <ns1:ext cx="4953000" cy="4324350"/>
          </ns1:xfrm>
          <ns1:prstGeom prst="roundRect">
            <ns1:avLst>
              <ns1:gd name="adj" fmla="val 2643"/>
            </ns1:avLst>
          </ns1:prstGeom>
          <ns1:solidFill>
            <ns1:srgbClr val="F7FAFC"/>
          </ns1:solidFill>
          <ns1:ln w="0">
            <ns1:noFill/>
            <ns1:prstDash val="solid"/>
          </ns1:ln>
        </ns0:spPr>
      </ns0:sp>
      <ns0:sp>
        <ns0:nvSpPr>
          <ns0:cNvPr id="19" name="trace:D12:content.auto.11">
            <ns1:extLst>
              <ns1:ext uri="{FF2B5EF4-FFF2-40B4-BE49-F238E27FC236}">
                <ns3:creationId id="{0503F530-B42D-4FE5-9599-285962660D4A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2552700"/>
            <ns1:ext cx="885825" cy="714375"/>
          </ns1:xfrm>
          <ns1:custGeom>
            <ns1:pathLst>
              <ns1:path w="885825" h="714375">
                <ns1:moveTo>
                  <ns1:pt x="0" y="0"/>
                </ns1:moveTo>
                <ns1:lnTo>
                  <ns1:pt x="771525" y="0"/>
                </ns1:lnTo>
                <ns1:lnTo>
                  <ns1:pt x="885825" y="361950"/>
                </ns1:lnTo>
                <ns1:lnTo>
                  <ns1:pt x="771525" y="714375"/>
                </ns1:lnTo>
                <ns1:lnTo>
                  <ns1:pt x="0" y="714375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20" name="trace:D12:content.auto.12">
            <ns1:extLst>
              <ns1:ext uri="{FF2B5EF4-FFF2-40B4-BE49-F238E27FC236}">
                <ns3:creationId id="{767189F5-F147-4263-B581-D1A1B4124AEE}"/>
              </ns1:ext>
            </ns1:extLst>
          </ns0:cNvPr>
          <ns0:cNvSpPr>
            <ns1:spLocks noGrp="1"/>
          </ns0:cNvSpPr>
          <ns0:nvPr/>
        </ns0:nvSpPr>
        <ns0:spPr>
          <ns1:xfrm>
            <ns1:off x="581025" y="2705100"/>
            <ns1:ext cx="6477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210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210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01</ns1:t>
            </ns1:r>
          </ns1:p>
        </ns0:txBody>
      </ns0:sp>
      <ns0:sp>
        <ns0:nvSpPr>
          <ns0:cNvPr id="21" name="trace:D12:content.auto.13">
            <ns1:extLst>
              <ns1:ext uri="{FF2B5EF4-FFF2-40B4-BE49-F238E27FC236}">
                <ns3:creationId id="{F923FCA6-6E1B-4AC7-8437-CCC30853A38F}"/>
              </ns1:ext>
            </ns1:extLst>
          </ns0:cNvPr>
          <ns0:cNvSpPr>
            <ns1:spLocks noGrp="1"/>
          </ns0:cNvSpPr>
          <ns0:nvPr/>
        </ns0:nvSpPr>
        <ns0:spPr>
          <ns1:xfrm>
            <ns1:off x="1571625" y="2647950"/>
            <ns1:ext cx="35242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87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87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業務効率化</ns1:t>
            </ns1:r>
          </ns1:p>
        </ns0:txBody>
      </ns0:sp>
      <ns0:sp>
        <ns0:nvSpPr>
          <ns0:cNvPr id="22" name="trace:D12:title.primary.4">
            <ns1:extLst>
              <ns1:ext uri="{FF2B5EF4-FFF2-40B4-BE49-F238E27FC236}">
                <ns3:creationId id="{10F74ED6-8148-4BB6-A9A7-48EEBD3AA622}"/>
              </ns1:ext>
            </ns1:extLst>
          </ns0:cNvPr>
          <ns0:cNvSpPr>
            <ns1:spLocks noGrp="1"/>
          </ns0:cNvSpPr>
          <ns0:nvPr/>
        </ns0:nvSpPr>
        <ns0:spPr>
          <ns1:xfrm>
            <ns1:off x="1571625" y="3028950"/>
            <ns1:ext cx="3524250" cy="4667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提案資料作成にかかる時間を大幅に削減し、</ns1:t>
            </ns1:r>
          </ns1:p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より多くの案件に対応できます。</ns1:t>
            </ns1:r>
          </ns1:p>
        </ns0:txBody>
      </ns0:sp>
      <ns0:sp>
        <ns0:nvSpPr>
          <ns0:cNvPr id="23" name="trace:D12:content.auto.14">
            <ns1:extLst>
              <ns1:ext uri="{FF2B5EF4-FFF2-40B4-BE49-F238E27FC236}">
                <ns3:creationId id="{D5B80EDB-A3D2-4AB9-AF05-F197FAC6DDC8}"/>
              </ns1:ext>
            </ns1:extLst>
          </ns0:cNvPr>
          <ns0:cNvSpPr>
            <ns1:spLocks noGrp="1"/>
          </ns0:cNvSpPr>
          <ns0:nvPr/>
        </ns0:nvSpPr>
        <ns0:spPr>
          <ns1:xfrm>
            <ns1:off x="5353050" y="2447925"/>
            <ns1:ext cx="4953000" cy="4324350"/>
          </ns1:xfrm>
          <ns1:prstGeom prst="roundRect">
            <ns1:avLst>
              <ns1:gd name="adj" fmla="val 2643"/>
            </ns1:avLst>
          </ns1:prstGeom>
          <ns1:solidFill>
            <ns1:srgbClr val="F7FAFC"/>
          </ns1:solidFill>
          <ns1:ln w="0">
            <ns1:noFill/>
            <ns1:prstDash val="solid"/>
          </ns1:ln>
        </ns0:spPr>
      </ns0:sp>
      <ns0:sp>
        <ns0:nvSpPr>
          <ns0:cNvPr id="24" name="trace:D12:content.auto.15">
            <ns1:extLst>
              <ns1:ext uri="{FF2B5EF4-FFF2-40B4-BE49-F238E27FC236}">
                <ns3:creationId id="{31F7E2D5-3601-4652-9A0F-714EC3A944C8}"/>
              </ns1:ext>
            </ns1:extLst>
          </ns0:cNvPr>
          <ns0:cNvSpPr>
            <ns1:spLocks noGrp="1"/>
          </ns0:cNvSpPr>
          <ns0:nvPr/>
        </ns0:nvSpPr>
        <ns0:spPr>
          <ns1:xfrm>
            <ns1:off x="5543550" y="2552700"/>
            <ns1:ext cx="885825" cy="714375"/>
          </ns1:xfrm>
          <ns1:custGeom>
            <ns1:pathLst>
              <ns1:path w="885825" h="714375">
                <ns1:moveTo>
                  <ns1:pt x="0" y="0"/>
                </ns1:moveTo>
                <ns1:lnTo>
                  <ns1:pt x="771525" y="0"/>
                </ns1:lnTo>
                <ns1:lnTo>
                  <ns1:pt x="885825" y="361950"/>
                </ns1:lnTo>
                <ns1:lnTo>
                  <ns1:pt x="771525" y="714375"/>
                </ns1:lnTo>
                <ns1:lnTo>
                  <ns1:pt x="0" y="714375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25" name="trace:D12:content.auto.16">
            <ns1:extLst>
              <ns1:ext uri="{FF2B5EF4-FFF2-40B4-BE49-F238E27FC236}">
                <ns3:creationId id="{9CC37661-1CB9-4A36-B9B4-78BD76E7FFE5}"/>
              </ns1:ext>
            </ns1:extLst>
          </ns0:cNvPr>
          <ns0:cNvSpPr>
            <ns1:spLocks noGrp="1"/>
          </ns0:cNvSpPr>
          <ns0:nvPr/>
        </ns0:nvSpPr>
        <ns0:spPr>
          <ns1:xfrm>
            <ns1:off x="5600700" y="2705100"/>
            <ns1:ext cx="6477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210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210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02</ns1:t>
            </ns1:r>
          </ns1:p>
        </ns0:txBody>
      </ns0:sp>
      <ns0:sp>
        <ns0:nvSpPr>
          <ns0:cNvPr id="26" name="trace:D12:content.auto.17">
            <ns1:extLst>
              <ns1:ext uri="{FF2B5EF4-FFF2-40B4-BE49-F238E27FC236}">
                <ns3:creationId id="{29F83C49-B6E4-45A9-8DF1-DA27C155E1A7}"/>
              </ns1:ext>
            </ns1:extLst>
          </ns0:cNvPr>
          <ns0:cNvSpPr>
            <ns1:spLocks noGrp="1"/>
          </ns0:cNvSpPr>
          <ns0:nvPr/>
        </ns0:nvSpPr>
        <ns0:spPr>
          <ns1:xfrm>
            <ns1:off x="6591300" y="2647950"/>
            <ns1:ext cx="35242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87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87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コスト削減</ns1:t>
            </ns1:r>
          </ns1:p>
        </ns0:txBody>
      </ns0:sp>
      <ns0:sp>
        <ns0:nvSpPr>
          <ns0:cNvPr id="27" name="trace:D12:title.primary.5">
            <ns1:extLst>
              <ns1:ext uri="{FF2B5EF4-FFF2-40B4-BE49-F238E27FC236}">
                <ns3:creationId id="{DB2D44EA-B547-4B16-B0E7-657F02E40868}"/>
              </ns1:ext>
            </ns1:extLst>
          </ns0:cNvPr>
          <ns0:cNvSpPr>
            <ns1:spLocks noGrp="1"/>
          </ns0:cNvSpPr>
          <ns0:nvPr/>
        </ns0:nvSpPr>
        <ns0:spPr>
          <ns1:xfrm>
            <ns1:off x="6591300" y="3028950"/>
            <ns1:ext cx="3524250" cy="4667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提案業務の効率化により、</ns1:t>
            </ns1:r>
          </ns1:p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人件費・外注費などのコストを削減できます。</ns1:t>
            </ns1:r>
          </ns1:p>
        </ns0:txBody>
      </ns0:sp>
      <ns0:sp>
        <ns0:nvSpPr>
          <ns0:cNvPr id="28" name="trace:D12:content.auto.18">
            <ns1:extLst>
              <ns1:ext uri="{FF2B5EF4-FFF2-40B4-BE49-F238E27FC236}">
                <ns3:creationId id="{8BA77D76-44BF-4B7C-BB79-3554E252622E}"/>
              </ns1:ext>
            </ns1:extLst>
          </ns0:cNvPr>
          <ns0:cNvSpPr>
            <ns1:spLocks noGrp="1"/>
          </ns0:cNvSpPr>
          <ns0:nvPr/>
        </ns0:nvSpPr>
        <ns0:spPr>
          <ns1:xfrm>
            <ns1:off x="10372725" y="2447925"/>
            <ns1:ext cx="5219700" cy="4324350"/>
          </ns1:xfrm>
          <ns1:prstGeom prst="roundRect">
            <ns1:avLst>
              <ns1:gd name="adj" fmla="val 2643"/>
            </ns1:avLst>
          </ns1:prstGeom>
          <ns1:solidFill>
            <ns1:srgbClr val="F7FAFC"/>
          </ns1:solidFill>
          <ns1:ln w="0">
            <ns1:noFill/>
            <ns1:prstDash val="solid"/>
          </ns1:ln>
        </ns0:spPr>
      </ns0:sp>
      <ns0:sp>
        <ns0:nvSpPr>
          <ns0:cNvPr id="29" name="trace:D12:content.auto.19">
            <ns1:extLst>
              <ns1:ext uri="{FF2B5EF4-FFF2-40B4-BE49-F238E27FC236}">
                <ns3:creationId id="{35250F7A-E100-4C51-B3F3-7FDC66EFFFA1}"/>
              </ns1:ext>
            </ns1:extLst>
          </ns0:cNvPr>
          <ns0:cNvSpPr>
            <ns1:spLocks noGrp="1"/>
          </ns0:cNvSpPr>
          <ns0:nvPr/>
        </ns0:nvSpPr>
        <ns0:spPr>
          <ns1:xfrm>
            <ns1:off x="10563225" y="2552700"/>
            <ns1:ext cx="885825" cy="714375"/>
          </ns1:xfrm>
          <ns1:custGeom>
            <ns1:pathLst>
              <ns1:path w="885825" h="714375">
                <ns1:moveTo>
                  <ns1:pt x="0" y="0"/>
                </ns1:moveTo>
                <ns1:lnTo>
                  <ns1:pt x="771525" y="0"/>
                </ns1:lnTo>
                <ns1:lnTo>
                  <ns1:pt x="885825" y="361950"/>
                </ns1:lnTo>
                <ns1:lnTo>
                  <ns1:pt x="771525" y="714375"/>
                </ns1:lnTo>
                <ns1:lnTo>
                  <ns1:pt x="0" y="714375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30" name="trace:D12:content.auto.20">
            <ns1:extLst>
              <ns1:ext uri="{FF2B5EF4-FFF2-40B4-BE49-F238E27FC236}">
                <ns3:creationId id="{4F02BBBE-B579-42C2-A0E4-4FCBB4BD25D8}"/>
              </ns1:ext>
            </ns1:extLst>
          </ns0:cNvPr>
          <ns0:cNvSpPr>
            <ns1:spLocks noGrp="1"/>
          </ns0:cNvSpPr>
          <ns0:nvPr/>
        </ns0:nvSpPr>
        <ns0:spPr>
          <ns1:xfrm>
            <ns1:off x="10620375" y="2705100"/>
            <ns1:ext cx="6477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210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210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03</ns1:t>
            </ns1:r>
          </ns1:p>
        </ns0:txBody>
      </ns0:sp>
      <ns0:sp>
        <ns0:nvSpPr>
          <ns0:cNvPr id="31" name="trace:D12:title.primary.6">
            <ns1:extLst>
              <ns1:ext uri="{FF2B5EF4-FFF2-40B4-BE49-F238E27FC236}">
                <ns3:creationId id="{142C2A6B-48C1-45CB-A17D-6BB289D7A2AF}"/>
              </ns1:ext>
            </ns1:extLst>
          </ns0:cNvPr>
          <ns0:cNvSpPr>
            <ns1:spLocks noGrp="1"/>
          </ns0:cNvSpPr>
          <ns0:nvPr/>
        </ns0:nvSpPr>
        <ns0:spPr>
          <ns1:xfrm>
            <ns1:off x="11610975" y="2647950"/>
            <ns1:ext cx="37909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87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87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売上・受注の向上</ns1:t>
            </ns1:r>
          </ns1:p>
        </ns0:txBody>
      </ns0:sp>
      <ns0:sp>
        <ns0:nvSpPr>
          <ns0:cNvPr id="32" name="trace:D12:title.primary.7">
            <ns1:extLst>
              <ns1:ext uri="{FF2B5EF4-FFF2-40B4-BE49-F238E27FC236}">
                <ns3:creationId id="{264B22D9-ABD4-467D-866F-54809DA1BF00}"/>
              </ns1:ext>
            </ns1:extLst>
          </ns0:cNvPr>
          <ns0:cNvSpPr>
            <ns1:spLocks noGrp="1"/>
          </ns0:cNvSpPr>
          <ns0:nvPr/>
        </ns0:nvSpPr>
        <ns0:spPr>
          <ns1:xfrm>
            <ns1:off x="11610975" y="3028950"/>
            <ns1:ext cx="3790950" cy="4667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提案数の増加と提案品質の向上により、</ns1:t>
            </ns1:r>
          </ns1:p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受注率が向上し、売上拡大につながります。</ns1:t>
            </ns1:r>
          </ns1:p>
        </ns0:txBody>
      </ns0:sp>
      <ns0:sp>
        <ns0:nvSpPr>
          <ns0:cNvPr id="33" name="trace:D12:title.primary.8">
            <ns1:extLst>
              <ns1:ext uri="{FF2B5EF4-FFF2-40B4-BE49-F238E27FC236}">
                <ns3:creationId id="{3A6097D4-394B-44AC-BF5E-533DAAE7E2B3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3752850"/>
            <ns1:ext cx="404812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提案資料作成時間（1件あたり）</ns1:t>
            </ns1:r>
          </ns1:p>
        </ns0:txBody>
      </ns0:sp>
      <ns0:sp>
        <ns0:nvSpPr>
          <ns0:cNvPr id="34" name="trace:D12:content.auto.21">
            <ns1:extLst>
              <ns1:ext uri="{FF2B5EF4-FFF2-40B4-BE49-F238E27FC236}">
                <ns3:creationId id="{EF94C2F1-9E84-4DAD-9286-49A91EA0B092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3752850"/>
            <ns1:ext cx="57150" cy="9525"/>
          </ns1:xfrm>
          <ns1:prstGeom prst="line">
            <ns1:avLst/>
          </ns1:prstGeom>
          <ns1:noFill/>
          <ns1:ln w="47625">
            <ns1:solidFill>
              <ns1:srgbClr val="E71926"/>
            </ns1:solidFill>
            <ns1:prstDash val="solid"/>
          </ns1:ln>
        </ns0:spPr>
      </ns0:sp>
      <ns0:sp>
        <ns0:nvSpPr>
          <ns0:cNvPr id="35" name="trace:D12:content.auto.22">
            <ns1:extLst>
              <ns1:ext uri="{FF2B5EF4-FFF2-40B4-BE49-F238E27FC236}">
                <ns3:creationId id="{FD5A54DD-C583-4C82-B17E-6D536F13BC9F}"/>
              </ns1:ext>
            </ns1:extLst>
          </ns0:cNvPr>
          <ns0:cNvSpPr>
            <ns1:spLocks noGrp="1"/>
          </ns0:cNvSpPr>
          <ns0:nvPr/>
        </ns0:nvSpPr>
        <ns0:spPr>
          <ns1:xfrm>
            <ns1:off x="1133475" y="4257675"/>
            <ns1:ext cx="3571875" cy="9525"/>
          </ns1:xfrm>
          <ns1:prstGeom prst="line">
            <ns1:avLst/>
          </ns1:prstGeom>
          <ns1:noFill/>
          <ns1:ln w="9525">
            <ns1:solidFill>
              <ns1:srgbClr val="C8D3DF"/>
            </ns1:solidFill>
            <ns1:prstDash val="solid"/>
          </ns1:ln>
        </ns0:spPr>
      </ns0:sp>
      <ns0:sp>
        <ns0:nvSpPr>
          <ns0:cNvPr id="36" name="trace:D12:content.auto.23">
            <ns1:extLst>
              <ns1:ext uri="{FF2B5EF4-FFF2-40B4-BE49-F238E27FC236}">
                <ns3:creationId id="{7C674A5A-1D14-4F59-B8F1-CBBF9E70C574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4162425"/>
            <ns1:ext cx="5524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def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10時間</ns1:t>
            </ns1:r>
          </ns1:p>
        </ns0:txBody>
      </ns0:sp>
      <ns0:sp>
        <ns0:nvSpPr>
          <ns0:cNvPr id="37" name="trace:D12:content.auto.24">
            <ns1:extLst>
              <ns1:ext uri="{FF2B5EF4-FFF2-40B4-BE49-F238E27FC236}">
                <ns3:creationId id="{0C8AE4C8-4598-46AE-B90E-4B61A337163A}"/>
              </ns1:ext>
            </ns1:extLst>
          </ns0:cNvPr>
          <ns0:cNvSpPr>
            <ns1:spLocks noGrp="1"/>
          </ns0:cNvSpPr>
          <ns0:nvPr/>
        </ns0:nvSpPr>
        <ns0:spPr>
          <ns1:xfrm>
            <ns1:off x="1133475" y="4495800"/>
            <ns1:ext cx="3571875" cy="9525"/>
          </ns1:xfrm>
          <ns1:prstGeom prst="line">
            <ns1:avLst/>
          </ns1:prstGeom>
          <ns1:noFill/>
          <ns1:ln w="9525">
            <ns1:solidFill>
              <ns1:srgbClr val="C8D3DF"/>
            </ns1:solidFill>
            <ns1:prstDash val="solid"/>
          </ns1:ln>
        </ns0:spPr>
      </ns0:sp>
      <ns0:sp>
        <ns0:nvSpPr>
          <ns0:cNvPr id="38" name="trace:D12:content.auto.25">
            <ns1:extLst>
              <ns1:ext uri="{FF2B5EF4-FFF2-40B4-BE49-F238E27FC236}">
                <ns3:creationId id="{FF63ABB5-A983-46E3-A251-799B8E7E4744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4400550"/>
            <ns1:ext cx="5524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def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8時間</ns1:t>
            </ns1:r>
          </ns1:p>
        </ns0:txBody>
      </ns0:sp>
      <ns0:sp>
        <ns0:nvSpPr>
          <ns0:cNvPr id="39" name="trace:D12:content.auto.26">
            <ns1:extLst>
              <ns1:ext uri="{FF2B5EF4-FFF2-40B4-BE49-F238E27FC236}">
                <ns3:creationId id="{6D1B282B-55C2-454F-8747-A97D4CB0EB1E}"/>
              </ns1:ext>
            </ns1:extLst>
          </ns0:cNvPr>
          <ns0:cNvSpPr>
            <ns1:spLocks noGrp="1"/>
          </ns0:cNvSpPr>
          <ns0:nvPr/>
        </ns0:nvSpPr>
        <ns0:spPr>
          <ns1:xfrm>
            <ns1:off x="1133475" y="4733925"/>
            <ns1:ext cx="3571875" cy="9525"/>
          </ns1:xfrm>
          <ns1:prstGeom prst="line">
            <ns1:avLst/>
          </ns1:prstGeom>
          <ns1:noFill/>
          <ns1:ln w="9525">
            <ns1:solidFill>
              <ns1:srgbClr val="C8D3DF"/>
            </ns1:solidFill>
            <ns1:prstDash val="solid"/>
          </ns1:ln>
        </ns0:spPr>
      </ns0:sp>
      <ns0:sp>
        <ns0:nvSpPr>
          <ns0:cNvPr id="40" name="trace:D12:content.auto.27">
            <ns1:extLst>
              <ns1:ext uri="{FF2B5EF4-FFF2-40B4-BE49-F238E27FC236}">
                <ns3:creationId id="{27751B41-1924-4F1D-9606-EA25A4771EF7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4638675"/>
            <ns1:ext cx="5524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def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6時間</ns1:t>
            </ns1:r>
          </ns1:p>
        </ns0:txBody>
      </ns0:sp>
      <ns0:sp>
        <ns0:nvSpPr>
          <ns0:cNvPr id="41" name="trace:D12:content.auto.28">
            <ns1:extLst>
              <ns1:ext uri="{FF2B5EF4-FFF2-40B4-BE49-F238E27FC236}">
                <ns3:creationId id="{E7D9C7A9-8ABF-42E8-A6E6-81A4DFD37FB3}"/>
              </ns1:ext>
            </ns1:extLst>
          </ns0:cNvPr>
          <ns0:cNvSpPr>
            <ns1:spLocks noGrp="1"/>
          </ns0:cNvSpPr>
          <ns0:nvPr/>
        </ns0:nvSpPr>
        <ns0:spPr>
          <ns1:xfrm>
            <ns1:off x="1133475" y="4972050"/>
            <ns1:ext cx="3571875" cy="9525"/>
          </ns1:xfrm>
          <ns1:prstGeom prst="line">
            <ns1:avLst/>
          </ns1:prstGeom>
          <ns1:noFill/>
          <ns1:ln w="9525">
            <ns1:solidFill>
              <ns1:srgbClr val="C8D3DF"/>
            </ns1:solidFill>
            <ns1:prstDash val="solid"/>
          </ns1:ln>
        </ns0:spPr>
      </ns0:sp>
      <ns0:sp>
        <ns0:nvSpPr>
          <ns0:cNvPr id="42" name="trace:D12:content.auto.29">
            <ns1:extLst>
              <ns1:ext uri="{FF2B5EF4-FFF2-40B4-BE49-F238E27FC236}">
                <ns3:creationId id="{667A38EB-A7A3-427B-9AB0-7553B41DD785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4876800"/>
            <ns1:ext cx="5524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def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4時間</ns1:t>
            </ns1:r>
          </ns1:p>
        </ns0:txBody>
      </ns0:sp>
      <ns0:sp>
        <ns0:nvSpPr>
          <ns0:cNvPr id="43" name="trace:D12:content.auto.30">
            <ns1:extLst>
              <ns1:ext uri="{FF2B5EF4-FFF2-40B4-BE49-F238E27FC236}">
                <ns3:creationId id="{16E3F0C6-24BA-43F9-B6CF-2BFCC1826E5B}"/>
              </ns1:ext>
            </ns1:extLst>
          </ns0:cNvPr>
          <ns0:cNvSpPr>
            <ns1:spLocks noGrp="1"/>
          </ns0:cNvSpPr>
          <ns0:nvPr/>
        </ns0:nvSpPr>
        <ns0:spPr>
          <ns1:xfrm>
            <ns1:off x="1133475" y="5210175"/>
            <ns1:ext cx="3571875" cy="9525"/>
          </ns1:xfrm>
          <ns1:prstGeom prst="line">
            <ns1:avLst/>
          </ns1:prstGeom>
          <ns1:noFill/>
          <ns1:ln w="9525">
            <ns1:solidFill>
              <ns1:srgbClr val="C8D3DF"/>
            </ns1:solidFill>
            <ns1:prstDash val="solid"/>
          </ns1:ln>
        </ns0:spPr>
      </ns0:sp>
      <ns0:sp>
        <ns0:nvSpPr>
          <ns0:cNvPr id="44" name="trace:D12:content.auto.31">
            <ns1:extLst>
              <ns1:ext uri="{FF2B5EF4-FFF2-40B4-BE49-F238E27FC236}">
                <ns3:creationId id="{08AFBE26-AE71-49CF-9BC5-11F5D02C1618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5114925"/>
            <ns1:ext cx="5524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def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2時間</ns1:t>
            </ns1:r>
          </ns1:p>
        </ns0:txBody>
      </ns0:sp>
      <ns0:sp>
        <ns0:nvSpPr>
          <ns0:cNvPr id="45" name="trace:D12:content.auto.32">
            <ns1:extLst>
              <ns1:ext uri="{FF2B5EF4-FFF2-40B4-BE49-F238E27FC236}">
                <ns3:creationId id="{58384583-5705-4B33-BE0A-CDE6B15F9F9D}"/>
              </ns1:ext>
            </ns1:extLst>
          </ns0:cNvPr>
          <ns0:cNvSpPr>
            <ns1:spLocks noGrp="1"/>
          </ns0:cNvSpPr>
          <ns0:nvPr/>
        </ns0:nvSpPr>
        <ns0:spPr>
          <ns1:xfrm>
            <ns1:off x="1133475" y="4257675"/>
            <ns1:ext cx="9525" cy="1190625"/>
          </ns1:xfrm>
          <ns1:prstGeom prst="line">
            <ns1:avLst/>
          </ns1:prstGeom>
          <ns1:noFill/>
          <ns1:ln w="9525">
            <ns1:solidFill>
              <ns1:srgbClr val="AAB7C5"/>
            </ns1:solidFill>
            <ns1:prstDash val="solid"/>
          </ns1:ln>
        </ns0:spPr>
      </ns0:sp>
      <ns0:sp>
        <ns0:nvSpPr>
          <ns0:cNvPr id="46" name="trace:D12:content.auto.33">
            <ns1:extLst>
              <ns1:ext uri="{FF2B5EF4-FFF2-40B4-BE49-F238E27FC236}">
                <ns3:creationId id="{974D6EAA-2801-46EB-8A2D-124FAFE05776}"/>
              </ns1:ext>
            </ns1:extLst>
          </ns0:cNvPr>
          <ns0:cNvSpPr>
            <ns1:spLocks noGrp="1"/>
          </ns0:cNvSpPr>
          <ns0:nvPr/>
        </ns0:nvSpPr>
        <ns0:spPr>
          <ns1:xfrm>
            <ns1:off x="1133475" y="5448300"/>
            <ns1:ext cx="3571875" cy="9525"/>
          </ns1:xfrm>
          <ns1:prstGeom prst="line">
            <ns1:avLst/>
          </ns1:prstGeom>
          <ns1:noFill/>
          <ns1:ln w="9525">
            <ns1:solidFill>
              <ns1:srgbClr val="AAB7C5"/>
            </ns1:solidFill>
            <ns1:prstDash val="solid"/>
          </ns1:ln>
        </ns0:spPr>
      </ns0:sp>
      <ns0:sp>
        <ns0:nvSpPr>
          <ns0:cNvPr id="47" name="trace:D12:content.auto.34">
            <ns1:extLst>
              <ns1:ext uri="{FF2B5EF4-FFF2-40B4-BE49-F238E27FC236}">
                <ns3:creationId id="{B37B9BEA-12AC-458A-A565-768F752011CB}"/>
              </ns1:ext>
            </ns1:extLst>
          </ns0:cNvPr>
          <ns0:cNvSpPr>
            <ns1:spLocks noGrp="1"/>
          </ns0:cNvSpPr>
          <ns0:nvPr/>
        </ns0:nvSpPr>
        <ns0:spPr>
          <ns1:xfrm>
            <ns1:off x="1600200" y="4524375"/>
            <ns1:ext cx="762000" cy="923925"/>
          </ns1:xfrm>
          <ns1:prstGeom prst="rect">
            <ns1:avLst/>
          </ns1:prstGeom>
          <ns1:solidFill>
            <ns1:srgbClr val="C7D0DA"/>
          </ns1:solidFill>
          <ns1:ln w="0">
            <ns1:noFill/>
            <ns1:prstDash val="solid"/>
          </ns1:ln>
        </ns0:spPr>
      </ns0:sp>
      <ns0:sp>
        <ns0:nvSpPr>
          <ns0:cNvPr id="48" name="trace:D12:content.auto.35">
            <ns1:extLst>
              <ns1:ext uri="{FF2B5EF4-FFF2-40B4-BE49-F238E27FC236}">
                <ns3:creationId id="{DBDB836D-FA57-43B0-AB76-25C6646F3F69}"/>
              </ns1:ext>
            </ns1:extLst>
          </ns0:cNvPr>
          <ns0:cNvSpPr>
            <ns1:spLocks noGrp="1"/>
          </ns0:cNvSpPr>
          <ns0:nvPr/>
        </ns0:nvSpPr>
        <ns0:spPr>
          <ns1:xfrm>
            <ns1:off x="3333750" y="5153025"/>
            <ns1:ext cx="876300" cy="295275"/>
          </ns1:xfrm>
          <ns1:prstGeom prst="rect">
            <ns1:avLst/>
          </ns1:prstGeom>
          <ns1:solidFill>
            <ns1:srgbClr val="F24750"/>
          </ns1:solidFill>
          <ns1:ln w="0">
            <ns1:noFill/>
            <ns1:prstDash val="solid"/>
          </ns1:ln>
        </ns0:spPr>
      </ns0:sp>
      <ns0:sp>
        <ns0:nvSpPr>
          <ns0:cNvPr id="49" name="trace:D12:content.auto.36">
            <ns1:extLst>
              <ns1:ext uri="{FF2B5EF4-FFF2-40B4-BE49-F238E27FC236}">
                <ns3:creationId id="{567942EF-0DCF-428E-8ADE-53CB7A0555E7}"/>
              </ns1:ext>
            </ns1:extLst>
          </ns0:cNvPr>
          <ns0:cNvSpPr>
            <ns1:spLocks noGrp="1"/>
          </ns0:cNvSpPr>
          <ns0:nvPr/>
        </ns0:nvSpPr>
        <ns0:spPr>
          <ns1:xfrm>
            <ns1:off x="1533525" y="4286250"/>
            <ns1:ext cx="9144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8時間</ns1:t>
            </ns1:r>
          </ns1:p>
        </ns0:txBody>
      </ns0:sp>
      <ns0:sp>
        <ns0:nvSpPr>
          <ns0:cNvPr id="50" name="trace:D12:content.auto.37">
            <ns1:extLst>
              <ns1:ext uri="{FF2B5EF4-FFF2-40B4-BE49-F238E27FC236}">
                <ns3:creationId id="{741B24F0-A12F-4F41-8D7A-E3750FADF4DE}"/>
              </ns1:ext>
            </ns1:extLst>
          </ns0:cNvPr>
          <ns0:cNvSpPr>
            <ns1:spLocks noGrp="1"/>
          </ns0:cNvSpPr>
          <ns0:nvPr/>
        </ns0:nvSpPr>
        <ns0:spPr>
          <ns1:xfrm>
            <ns1:off x="3257550" y="4876800"/>
            <ns1:ext cx="104775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2時間</ns1:t>
            </ns1:r>
          </ns1:p>
        </ns0:txBody>
      </ns0:sp>
      <ns0:sp>
        <ns0:nvSpPr>
          <ns0:cNvPr id="51" name="trace:D12:content.auto.38">
            <ns1:extLst>
              <ns1:ext uri="{FF2B5EF4-FFF2-40B4-BE49-F238E27FC236}">
                <ns3:creationId id="{38C26D4D-0F03-413D-B6D8-A8AC46C76ED1}"/>
              </ns1:ext>
            </ns1:extLst>
          </ns0:cNvPr>
          <ns0:cNvSpPr>
            <ns1:spLocks noGrp="1"/>
          </ns0:cNvSpPr>
          <ns0:nvPr/>
        </ns0:nvSpPr>
        <ns0:spPr>
          <ns1:xfrm>
            <ns1:off x="1457325" y="5514975"/>
            <ns1:ext cx="104775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20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導入前</ns1:t>
            </ns1:r>
          </ns1:p>
          <ns1:p>
            <ns1:pPr algn="ctr">
              <ns1:defRPr sz="120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（手作業）</ns1:t>
            </ns1:r>
          </ns1:p>
        </ns0:txBody>
      </ns0:sp>
      <ns0:sp>
        <ns0:nvSpPr>
          <ns0:cNvPr id="52" name="trace:D12:content.auto.39">
            <ns1:extLst>
              <ns1:ext uri="{FF2B5EF4-FFF2-40B4-BE49-F238E27FC236}">
                <ns3:creationId id="{1412B0D5-6C42-49C2-9031-8E119B2DC435}"/>
              </ns1:ext>
            </ns1:extLst>
          </ns0:cNvPr>
          <ns0:cNvSpPr>
            <ns1:spLocks noGrp="1"/>
          </ns0:cNvSpPr>
          <ns0:nvPr/>
        </ns0:nvSpPr>
        <ns0:spPr>
          <ns1:xfrm>
            <ns1:off x="3228975" y="5514975"/>
            <ns1:ext cx="1095375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20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導入後</ns1:t>
            </ns1:r>
          </ns1:p>
          <ns1:p>
            <ns1:pPr algn="ctr">
              <ns1:defRPr sz="120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（AI活用）</ns1:t>
            </ns1:r>
          </ns1:p>
        </ns0:txBody>
      </ns0:sp>
      <ns0:sp>
        <ns0:nvSpPr>
          <ns0:cNvPr id="53" name="trace:D12:content.auto.40">
            <ns1:extLst>
              <ns1:ext uri="{FF2B5EF4-FFF2-40B4-BE49-F238E27FC236}">
                <ns3:creationId id="{BC8B4C99-81D1-43E0-8535-506DB8410C57}"/>
              </ns1:ext>
            </ns1:extLst>
          </ns0:cNvPr>
          <ns0:cNvSpPr>
            <ns1:spLocks noGrp="1"/>
          </ns0:cNvSpPr>
          <ns0:nvPr/>
        </ns0:nvSpPr>
        <ns0:spPr>
          <ns1:xfrm>
            <ns1:off x="3486150" y="4105275"/>
            <ns1:ext cx="1200150" cy="666750"/>
          </ns1:xfrm>
          <ns1:prstGeom prst="roundRect">
            <ns1:avLst>
              <ns1:gd name="adj" fmla="val 17143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54" name="trace:D12:content.auto.41">
            <ns1:extLst>
              <ns1:ext uri="{FF2B5EF4-FFF2-40B4-BE49-F238E27FC236}">
                <ns3:creationId id="{B6AF279F-1678-4C3B-825E-95F1D3FC4F82}"/>
              </ns1:ext>
            </ns1:extLst>
          </ns0:cNvPr>
          <ns0:cNvSpPr>
            <ns1:spLocks noGrp="1"/>
          </ns0:cNvSpPr>
          <ns0:nvPr/>
        </ns0:nvSpPr>
        <ns0:spPr>
          <ns1:xfrm>
            <ns1:off x="3543300" y="4238625"/>
            <ns1:ext cx="108585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4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約70%</ns1:t>
            </ns1:r>
          </ns1:p>
          <ns1:p>
            <ns1:pPr algn="ctr">
              <ns1:defRPr sz="14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削減</ns1:t>
            </ns1:r>
          </ns1:p>
        </ns0:txBody>
      </ns0:sp>
      <ns0:sp>
        <ns0:nvSpPr>
          <ns0:cNvPr id="55" name="trace:D12:content.auto.42">
            <ns1:extLst>
              <ns1:ext uri="{FF2B5EF4-FFF2-40B4-BE49-F238E27FC236}">
                <ns3:creationId id="{C35893ED-AC9E-404C-AB45-3C6C09F0D283}"/>
              </ns1:ext>
            </ns1:extLst>
          </ns0:cNvPr>
          <ns0:cNvSpPr>
            <ns1:spLocks noGrp="1"/>
          </ns0:cNvSpPr>
          <ns0:nvPr/>
        </ns0:nvSpPr>
        <ns0:spPr>
          <ns1:xfrm>
            <ns1:off x="2419350" y="4505325"/>
            <ns1:ext cx="914400" cy="628650"/>
          </ns1:xfrm>
          <ns1:custGeom>
            <ns1:pathLst>
              <ns1:path w="914400" h="628650">
                <ns1:moveTo>
                  <ns1:pt x="104775" y="0"/>
                </ns1:moveTo>
                <ns1:lnTo>
                  <ns1:pt x="638175" y="238125"/>
                </ns1:lnTo>
                <ns1:lnTo>
                  <ns1:pt x="914400" y="571500"/>
                </ns1:lnTo>
                <ns1:lnTo>
                  <ns1:pt x="752475" y="628650"/>
                </ns1:lnTo>
                <ns1:lnTo>
                  <ns1:pt x="533400" y="409575"/>
                </ns1:lnTo>
                <ns1:lnTo>
                  <ns1:pt x="0" y="171450"/>
                </ns1:lnTo>
                <ns1:close/>
              </ns1:path>
            </ns1:pathLst>
          </ns1:custGeom>
          <ns1:solidFill>
            <ns1:srgbClr val="F24750"/>
          </ns1:solidFill>
          <ns1:ln w="0">
            <ns1:noFill/>
            <ns1:prstDash val="solid"/>
          </ns1:ln>
        </ns0:spPr>
      </ns0:sp>
      <ns0:sp>
        <ns0:nvSpPr>
          <ns0:cNvPr id="56" name="trace:D12:content.auto.43">
            <ns1:extLst>
              <ns1:ext uri="{FF2B5EF4-FFF2-40B4-BE49-F238E27FC236}">
                <ns3:creationId id="{EE0D7035-2C4E-42FD-9386-15BD08B0812E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6019800"/>
            <ns1:ext cx="4476750" cy="666750"/>
          </ns1:xfrm>
          <ns1:prstGeom prst="roundRect">
            <ns1:avLst>
              <ns1:gd name="adj" fmla="val 17143"/>
            </ns1:avLst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57" name="trace:D12:content.auto.44">
            <ns1:extLst>
              <ns1:ext uri="{FF2B5EF4-FFF2-40B4-BE49-F238E27FC236}">
                <ns3:creationId id="{6F65C3C9-B7B1-466F-AD44-010C5B2F641B}"/>
              </ns1:ext>
            </ns1:extLst>
          </ns0:cNvPr>
          <ns0:cNvSpPr>
            <ns1:spLocks noGrp="1"/>
          </ns0:cNvSpPr>
          <ns0:nvPr/>
        </ns0:nvSpPr>
        <ns0:spPr>
          <ns1:xfrm>
            <ns1:off x="744474" y="6173724"/>
            <ns1:ext cx="386334" cy="386334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58" name="trace:D12:content.auto.45">
            <ns1:extLst>
              <ns1:ext uri="{FF2B5EF4-FFF2-40B4-BE49-F238E27FC236}">
                <ns3:creationId id="{9D316877-83E5-4670-B247-7F8B4E2FF41D}"/>
              </ns1:ext>
            </ns1:extLst>
          </ns0:cNvPr>
          <ns0:cNvSpPr>
            <ns1:spLocks noGrp="1"/>
          </ns0:cNvSpPr>
          <ns0:nvPr/>
        </ns0:nvSpPr>
        <ns0:spPr>
          <ns1:xfrm>
            <ns1:off x="937641" y="6248019"/>
            <ns1:ext cx="9525" cy="118872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59" name="trace:D12:content.auto.46">
            <ns1:extLst>
              <ns1:ext uri="{FF2B5EF4-FFF2-40B4-BE49-F238E27FC236}">
                <ns3:creationId id="{F5A4EB77-A5D1-4F21-A9FA-E5447CD01EDC}"/>
              </ns1:ext>
            </ns1:extLst>
          </ns0:cNvPr>
          <ns0:cNvSpPr>
            <ns1:spLocks noGrp="1"/>
          </ns0:cNvSpPr>
          <ns0:nvPr/>
        </ns0:nvSpPr>
        <ns0:spPr>
          <ns1:xfrm>
            <ns1:off x="937641" y="6366891"/>
            <ns1:ext cx="104013" cy="59436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60" name="trace:D12:content.auto.47">
            <ns1:extLst>
              <ns1:ext uri="{FF2B5EF4-FFF2-40B4-BE49-F238E27FC236}">
                <ns3:creationId id="{EE4F0662-5361-4B4A-93A8-F0245EF4D7F4}"/>
              </ns1:ext>
            </ns1:extLst>
          </ns0:cNvPr>
          <ns0:cNvSpPr>
            <ns1:spLocks noGrp="1"/>
          </ns0:cNvSpPr>
          <ns0:nvPr/>
        </ns0:nvSpPr>
        <ns0:spPr>
          <ns1:xfrm>
            <ns1:off x="1514475" y="6134100"/>
            <ns1:ext cx="3190875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浮いた時間で、</ns1:t>
            </ns1:r>
          </ns1:p>
          <ns1:p>
            <ns1:pPr algn="l">
              <ns1:defRPr sz="13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より多くの顧客対応が可能に</ns1:t>
            </ns1:r>
          </ns1:p>
        </ns0:txBody>
      </ns0:sp>
      <ns0:sp>
        <ns0:nvSpPr>
          <ns0:cNvPr id="61" name="trace:D12:title.primary.9">
            <ns1:extLst>
              <ns1:ext uri="{FF2B5EF4-FFF2-40B4-BE49-F238E27FC236}">
                <ns3:creationId id="{E558AAE1-F0EE-4CD6-A54C-56AFAECDF431}"/>
              </ns1:ext>
            </ns1:extLst>
          </ns0:cNvPr>
          <ns0:cNvSpPr>
            <ns1:spLocks noGrp="1"/>
          </ns0:cNvSpPr>
          <ns0:nvPr/>
        </ns0:nvSpPr>
        <ns0:spPr>
          <ns1:xfrm>
            <ns1:off x="5638800" y="3752850"/>
            <ns1:ext cx="4048125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年間コスト（提案業務関連）</ns1:t>
            </ns1:r>
          </ns1:p>
        </ns0:txBody>
      </ns0:sp>
      <ns0:sp>
        <ns0:nvSpPr>
          <ns0:cNvPr id="62" name="trace:D12:content.auto.48">
            <ns1:extLst>
              <ns1:ext uri="{FF2B5EF4-FFF2-40B4-BE49-F238E27FC236}">
                <ns3:creationId id="{6D59E3EA-60F2-42A3-8D29-6987AAA0E5BE}"/>
              </ns1:ext>
            </ns1:extLst>
          </ns0:cNvPr>
          <ns0:cNvSpPr>
            <ns1:spLocks noGrp="1"/>
          </ns0:cNvSpPr>
          <ns0:nvPr/>
        </ns0:nvSpPr>
        <ns0:spPr>
          <ns1:xfrm>
            <ns1:off x="5638800" y="3752850"/>
            <ns1:ext cx="57150" cy="9525"/>
          </ns1:xfrm>
          <ns1:prstGeom prst="line">
            <ns1:avLst/>
          </ns1:prstGeom>
          <ns1:noFill/>
          <ns1:ln w="47625">
            <ns1:solidFill>
              <ns1:srgbClr val="E71926"/>
            </ns1:solidFill>
            <ns1:prstDash val="solid"/>
          </ns1:ln>
        </ns0:spPr>
      </ns0:sp>
      <ns0:sp>
        <ns0:nvSpPr>
          <ns0:cNvPr id="63" name="trace:D12:content.auto.49">
            <ns1:extLst>
              <ns1:ext uri="{FF2B5EF4-FFF2-40B4-BE49-F238E27FC236}">
                <ns3:creationId id="{152D0DA1-7F25-4D25-A522-79B2CF5999E8}"/>
              </ns1:ext>
            </ns1:extLst>
          </ns0:cNvPr>
          <ns0:cNvSpPr>
            <ns1:spLocks noGrp="1"/>
          </ns0:cNvSpPr>
          <ns0:nvPr/>
        </ns0:nvSpPr>
        <ns0:spPr>
          <ns1:xfrm>
            <ns1:off x="6210300" y="4257675"/>
            <ns1:ext cx="3143250" cy="9525"/>
          </ns1:xfrm>
          <ns1:prstGeom prst="line">
            <ns1:avLst/>
          </ns1:prstGeom>
          <ns1:noFill/>
          <ns1:ln w="9525">
            <ns1:solidFill>
              <ns1:srgbClr val="C8D3DF"/>
            </ns1:solidFill>
            <ns1:prstDash val="solid"/>
          </ns1:ln>
        </ns0:spPr>
      </ns0:sp>
      <ns0:sp>
        <ns0:nvSpPr>
          <ns0:cNvPr id="64" name="trace:D12:content.auto.50">
            <ns1:extLst>
              <ns1:ext uri="{FF2B5EF4-FFF2-40B4-BE49-F238E27FC236}">
                <ns3:creationId id="{4FB3EA73-9B40-4294-8004-374AC131F7BB}"/>
              </ns1:ext>
            </ns1:extLst>
          </ns0:cNvPr>
          <ns0:cNvSpPr>
            <ns1:spLocks noGrp="1"/>
          </ns0:cNvSpPr>
          <ns0:nvPr/>
        </ns0:nvSpPr>
        <ns0:spPr>
          <ns1:xfrm>
            <ns1:off x="5495925" y="4162425"/>
            <ns1:ext cx="6667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def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1600</ns1:t>
            </ns1:r>
          </ns1:p>
        </ns0:txBody>
      </ns0:sp>
      <ns0:sp>
        <ns0:nvSpPr>
          <ns0:cNvPr id="65" name="trace:D12:content.auto.51">
            <ns1:extLst>
              <ns1:ext uri="{FF2B5EF4-FFF2-40B4-BE49-F238E27FC236}">
                <ns3:creationId id="{CED4103B-4509-436F-9D77-9F049BA5F1AF}"/>
              </ns1:ext>
            </ns1:extLst>
          </ns0:cNvPr>
          <ns0:cNvSpPr>
            <ns1:spLocks noGrp="1"/>
          </ns0:cNvSpPr>
          <ns0:nvPr/>
        </ns0:nvSpPr>
        <ns0:spPr>
          <ns1:xfrm>
            <ns1:off x="6210300" y="4562475"/>
            <ns1:ext cx="3143250" cy="9525"/>
          </ns1:xfrm>
          <ns1:prstGeom prst="line">
            <ns1:avLst/>
          </ns1:prstGeom>
          <ns1:noFill/>
          <ns1:ln w="9525">
            <ns1:solidFill>
              <ns1:srgbClr val="C8D3DF"/>
            </ns1:solidFill>
            <ns1:prstDash val="solid"/>
          </ns1:ln>
        </ns0:spPr>
      </ns0:sp>
      <ns0:sp>
        <ns0:nvSpPr>
          <ns0:cNvPr id="66" name="trace:D12:content.auto.52">
            <ns1:extLst>
              <ns1:ext uri="{FF2B5EF4-FFF2-40B4-BE49-F238E27FC236}">
                <ns3:creationId id="{6BBCBD54-74D7-4439-A929-1C99CF292F2C}"/>
              </ns1:ext>
            </ns1:extLst>
          </ns0:cNvPr>
          <ns0:cNvSpPr>
            <ns1:spLocks noGrp="1"/>
          </ns0:cNvSpPr>
          <ns0:nvPr/>
        </ns0:nvSpPr>
        <ns0:spPr>
          <ns1:xfrm>
            <ns1:off x="5495925" y="4467225"/>
            <ns1:ext cx="6667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def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1200</ns1:t>
            </ns1:r>
          </ns1:p>
        </ns0:txBody>
      </ns0:sp>
      <ns0:sp>
        <ns0:nvSpPr>
          <ns0:cNvPr id="67" name="trace:D12:content.auto.53">
            <ns1:extLst>
              <ns1:ext uri="{FF2B5EF4-FFF2-40B4-BE49-F238E27FC236}">
                <ns3:creationId id="{7EA050C0-75D2-402E-9EDF-56DC2A7394ED}"/>
              </ns1:ext>
            </ns1:extLst>
          </ns0:cNvPr>
          <ns0:cNvSpPr>
            <ns1:spLocks noGrp="1"/>
          </ns0:cNvSpPr>
          <ns0:nvPr/>
        </ns0:nvSpPr>
        <ns0:spPr>
          <ns1:xfrm>
            <ns1:off x="6210300" y="4867275"/>
            <ns1:ext cx="3143250" cy="9525"/>
          </ns1:xfrm>
          <ns1:prstGeom prst="line">
            <ns1:avLst/>
          </ns1:prstGeom>
          <ns1:noFill/>
          <ns1:ln w="9525">
            <ns1:solidFill>
              <ns1:srgbClr val="C8D3DF"/>
            </ns1:solidFill>
            <ns1:prstDash val="solid"/>
          </ns1:ln>
        </ns0:spPr>
      </ns0:sp>
      <ns0:sp>
        <ns0:nvSpPr>
          <ns0:cNvPr id="68" name="trace:D12:content.auto.54">
            <ns1:extLst>
              <ns1:ext uri="{FF2B5EF4-FFF2-40B4-BE49-F238E27FC236}">
                <ns3:creationId id="{0D13FB04-C258-44A3-8402-1513FEB15056}"/>
              </ns1:ext>
            </ns1:extLst>
          </ns0:cNvPr>
          <ns0:cNvSpPr>
            <ns1:spLocks noGrp="1"/>
          </ns0:cNvSpPr>
          <ns0:nvPr/>
        </ns0:nvSpPr>
        <ns0:spPr>
          <ns1:xfrm>
            <ns1:off x="5495925" y="4772025"/>
            <ns1:ext cx="6667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def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800</ns1:t>
            </ns1:r>
          </ns1:p>
        </ns0:txBody>
      </ns0:sp>
      <ns0:sp>
        <ns0:nvSpPr>
          <ns0:cNvPr id="69" name="trace:D12:content.auto.55">
            <ns1:extLst>
              <ns1:ext uri="{FF2B5EF4-FFF2-40B4-BE49-F238E27FC236}">
                <ns3:creationId id="{CD90A612-EC9E-4E84-ACFF-00ED6A5E0290}"/>
              </ns1:ext>
            </ns1:extLst>
          </ns0:cNvPr>
          <ns0:cNvSpPr>
            <ns1:spLocks noGrp="1"/>
          </ns0:cNvSpPr>
          <ns0:nvPr/>
        </ns0:nvSpPr>
        <ns0:spPr>
          <ns1:xfrm>
            <ns1:off x="6210300" y="5172075"/>
            <ns1:ext cx="3143250" cy="9525"/>
          </ns1:xfrm>
          <ns1:prstGeom prst="line">
            <ns1:avLst/>
          </ns1:prstGeom>
          <ns1:noFill/>
          <ns1:ln w="9525">
            <ns1:solidFill>
              <ns1:srgbClr val="C8D3DF"/>
            </ns1:solidFill>
            <ns1:prstDash val="solid"/>
          </ns1:ln>
        </ns0:spPr>
      </ns0:sp>
      <ns0:sp>
        <ns0:nvSpPr>
          <ns0:cNvPr id="70" name="trace:D12:content.auto.56">
            <ns1:extLst>
              <ns1:ext uri="{FF2B5EF4-FFF2-40B4-BE49-F238E27FC236}">
                <ns3:creationId id="{02B53ECC-3CEE-40C6-B6E8-45EBB3767295}"/>
              </ns1:ext>
            </ns1:extLst>
          </ns0:cNvPr>
          <ns0:cNvSpPr>
            <ns1:spLocks noGrp="1"/>
          </ns0:cNvSpPr>
          <ns0:nvPr/>
        </ns0:nvSpPr>
        <ns0:spPr>
          <ns1:xfrm>
            <ns1:off x="5495925" y="5076825"/>
            <ns1:ext cx="6667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def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400</ns1:t>
            </ns1:r>
          </ns1:p>
        </ns0:txBody>
      </ns0:sp>
      <ns0:sp>
        <ns0:nvSpPr>
          <ns0:cNvPr id="71" name="trace:D12:content.auto.57">
            <ns1:extLst>
              <ns1:ext uri="{FF2B5EF4-FFF2-40B4-BE49-F238E27FC236}">
                <ns3:creationId id="{CD539D52-5556-43B8-947E-5D82CA93E180}"/>
              </ns1:ext>
            </ns1:extLst>
          </ns0:cNvPr>
          <ns0:cNvSpPr>
            <ns1:spLocks noGrp="1"/>
          </ns0:cNvSpPr>
          <ns0:nvPr/>
        </ns0:nvSpPr>
        <ns0:spPr>
          <ns1:xfrm>
            <ns1:off x="6210300" y="5476875"/>
            <ns1:ext cx="3143250" cy="9525"/>
          </ns1:xfrm>
          <ns1:prstGeom prst="line">
            <ns1:avLst/>
          </ns1:prstGeom>
          <ns1:noFill/>
          <ns1:ln w="9525">
            <ns1:solidFill>
              <ns1:srgbClr val="C8D3DF"/>
            </ns1:solidFill>
            <ns1:prstDash val="solid"/>
          </ns1:ln>
        </ns0:spPr>
      </ns0:sp>
      <ns0:sp>
        <ns0:nvSpPr>
          <ns0:cNvPr id="72" name="trace:D12:content.auto.58">
            <ns1:extLst>
              <ns1:ext uri="{FF2B5EF4-FFF2-40B4-BE49-F238E27FC236}">
                <ns3:creationId id="{F7B07EB2-A39A-4430-9792-84FCD545FBF6}"/>
              </ns1:ext>
            </ns1:extLst>
          </ns0:cNvPr>
          <ns0:cNvSpPr>
            <ns1:spLocks noGrp="1"/>
          </ns0:cNvSpPr>
          <ns0:nvPr/>
        </ns0:nvSpPr>
        <ns0:spPr>
          <ns1:xfrm>
            <ns1:off x="5495925" y="5381625"/>
            <ns1:ext cx="66675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def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0</ns1:t>
            </ns1:r>
          </ns1:p>
        </ns0:txBody>
      </ns0:sp>
      <ns0:sp>
        <ns0:nvSpPr>
          <ns0:cNvPr id="73" name="trace:D12:content.auto.59">
            <ns1:extLst>
              <ns1:ext uri="{FF2B5EF4-FFF2-40B4-BE49-F238E27FC236}">
                <ns3:creationId id="{0FB4FC47-4EF3-4FE4-8302-D828F626A389}"/>
              </ns1:ext>
            </ns1:extLst>
          </ns0:cNvPr>
          <ns0:cNvSpPr>
            <ns1:spLocks noGrp="1"/>
          </ns0:cNvSpPr>
          <ns0:nvPr/>
        </ns0:nvSpPr>
        <ns0:spPr>
          <ns1:xfrm>
            <ns1:off x="6210300" y="4257675"/>
            <ns1:ext cx="9525" cy="1219200"/>
          </ns1:xfrm>
          <ns1:prstGeom prst="line">
            <ns1:avLst/>
          </ns1:prstGeom>
          <ns1:noFill/>
          <ns1:ln w="9525">
            <ns1:solidFill>
              <ns1:srgbClr val="AAB7C5"/>
            </ns1:solidFill>
            <ns1:prstDash val="solid"/>
          </ns1:ln>
        </ns0:spPr>
      </ns0:sp>
      <ns0:sp>
        <ns0:nvSpPr>
          <ns0:cNvPr id="74" name="trace:D12:content.auto.60">
            <ns1:extLst>
              <ns1:ext uri="{FF2B5EF4-FFF2-40B4-BE49-F238E27FC236}">
                <ns3:creationId id="{FD52F71A-8912-4501-AD59-5C888F94DCCE}"/>
              </ns1:ext>
            </ns1:extLst>
          </ns0:cNvPr>
          <ns0:cNvSpPr>
            <ns1:spLocks noGrp="1"/>
          </ns0:cNvSpPr>
          <ns0:nvPr/>
        </ns0:nvSpPr>
        <ns0:spPr>
          <ns1:xfrm>
            <ns1:off x="6210300" y="5476875"/>
            <ns1:ext cx="3143250" cy="9525"/>
          </ns1:xfrm>
          <ns1:prstGeom prst="line">
            <ns1:avLst/>
          </ns1:prstGeom>
          <ns1:noFill/>
          <ns1:ln w="9525">
            <ns1:solidFill>
              <ns1:srgbClr val="AAB7C5"/>
            </ns1:solidFill>
            <ns1:prstDash val="solid"/>
          </ns1:ln>
        </ns0:spPr>
      </ns0:sp>
      <ns0:sp>
        <ns0:nvSpPr>
          <ns0:cNvPr id="75" name="trace:D12:content.auto.61">
            <ns1:extLst>
              <ns1:ext uri="{FF2B5EF4-FFF2-40B4-BE49-F238E27FC236}">
                <ns3:creationId id="{D6153707-A4C9-427D-B3DF-C813DDB59196}"/>
              </ns1:ext>
            </ns1:extLst>
          </ns0:cNvPr>
          <ns0:cNvSpPr>
            <ns1:spLocks noGrp="1"/>
          </ns0:cNvSpPr>
          <ns0:nvPr/>
        </ns0:nvSpPr>
        <ns0:spPr>
          <ns1:xfrm>
            <ns1:off x="6553200" y="4572000"/>
            <ns1:ext cx="809625" cy="904875"/>
          </ns1:xfrm>
          <ns1:prstGeom prst="rect">
            <ns1:avLst/>
          </ns1:prstGeom>
          <ns1:solidFill>
            <ns1:srgbClr val="C7D0DA"/>
          </ns1:solidFill>
          <ns1:ln w="0">
            <ns1:noFill/>
            <ns1:prstDash val="solid"/>
          </ns1:ln>
        </ns0:spPr>
      </ns0:sp>
      <ns0:sp>
        <ns0:nvSpPr>
          <ns0:cNvPr id="76" name="trace:D12:content.auto.62">
            <ns1:extLst>
              <ns1:ext uri="{FF2B5EF4-FFF2-40B4-BE49-F238E27FC236}">
                <ns3:creationId id="{6ADEF3AB-4438-421E-A8D5-09980C795B1E}"/>
              </ns1:ext>
            </ns1:extLst>
          </ns0:cNvPr>
          <ns0:cNvSpPr>
            <ns1:spLocks noGrp="1"/>
          </ns0:cNvSpPr>
          <ns0:nvPr/>
        </ns0:nvSpPr>
        <ns0:spPr>
          <ns1:xfrm>
            <ns1:off x="8277225" y="4943475"/>
            <ns1:ext cx="866775" cy="533400"/>
          </ns1:xfrm>
          <ns1:prstGeom prst="rect">
            <ns1:avLst/>
          </ns1:prstGeom>
          <ns1:solidFill>
            <ns1:srgbClr val="F24750"/>
          </ns1:solidFill>
          <ns1:ln w="0">
            <ns1:noFill/>
            <ns1:prstDash val="solid"/>
          </ns1:ln>
        </ns0:spPr>
      </ns0:sp>
      <ns0:sp>
        <ns0:nvSpPr>
          <ns0:cNvPr id="77" name="trace:D12:content.auto.63">
            <ns1:extLst>
              <ns1:ext uri="{FF2B5EF4-FFF2-40B4-BE49-F238E27FC236}">
                <ns3:creationId id="{78E830C3-E9D9-4D4F-B080-CB1EE3D38DD0}"/>
              </ns1:ext>
            </ns1:extLst>
          </ns0:cNvPr>
          <ns0:cNvSpPr>
            <ns1:spLocks noGrp="1"/>
          </ns0:cNvSpPr>
          <ns0:nvPr/>
        </ns0:nvSpPr>
        <ns0:spPr>
          <ns1:xfrm>
            <ns1:off x="6410325" y="4295775"/>
            <ns1:ext cx="1095375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1,200万円</ns1:t>
            </ns1:r>
          </ns1:p>
        </ns0:txBody>
      </ns0:sp>
      <ns0:sp>
        <ns0:nvSpPr>
          <ns0:cNvPr id="78" name="trace:D12:content.auto.64">
            <ns1:extLst>
              <ns1:ext uri="{FF2B5EF4-FFF2-40B4-BE49-F238E27FC236}">
                <ns3:creationId id="{78F7CE31-35C3-4796-AE34-45443D4D6EE6}"/>
              </ns1:ext>
            </ns1:extLst>
          </ns0:cNvPr>
          <ns0:cNvSpPr>
            <ns1:spLocks noGrp="1"/>
          </ns0:cNvSpPr>
          <ns0:nvPr/>
        </ns0:nvSpPr>
        <ns0:spPr>
          <ns1:xfrm>
            <ns1:off x="8143875" y="4648200"/>
            <ns1:ext cx="11430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3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720万円</ns1:t>
            </ns1:r>
          </ns1:p>
        </ns0:txBody>
      </ns0:sp>
      <ns0:sp>
        <ns0:nvSpPr>
          <ns0:cNvPr id="79" name="trace:D12:content.auto.65">
            <ns1:extLst>
              <ns1:ext uri="{FF2B5EF4-FFF2-40B4-BE49-F238E27FC236}">
                <ns3:creationId id="{26A689C3-CB0B-486E-88B6-F81911E25EE0}"/>
              </ns1:ext>
            </ns1:extLst>
          </ns0:cNvPr>
          <ns0:cNvSpPr>
            <ns1:spLocks noGrp="1"/>
          </ns0:cNvSpPr>
          <ns0:nvPr/>
        </ns0:nvSpPr>
        <ns0:spPr>
          <ns1:xfrm>
            <ns1:off x="6486525" y="5524500"/>
            <ns1:ext cx="9525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20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導入前</ns1:t>
            </ns1:r>
          </ns1:p>
        </ns0:txBody>
      </ns0:sp>
      <ns0:sp>
        <ns0:nvSpPr>
          <ns0:cNvPr id="80" name="trace:D12:content.auto.66">
            <ns1:extLst>
              <ns1:ext uri="{FF2B5EF4-FFF2-40B4-BE49-F238E27FC236}">
                <ns3:creationId id="{81D0A5E7-B18A-4DE9-BA68-07EA2CCCE210}"/>
              </ns1:ext>
            </ns1:extLst>
          </ns0:cNvPr>
          <ns0:cNvSpPr>
            <ns1:spLocks noGrp="1"/>
          </ns0:cNvSpPr>
          <ns0:nvPr/>
        </ns0:nvSpPr>
        <ns0:spPr>
          <ns1:xfrm>
            <ns1:off x="8191500" y="5524500"/>
            <ns1:ext cx="104775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20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20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導入後</ns1:t>
            </ns1:r>
          </ns1:p>
        </ns0:txBody>
      </ns0:sp>
      <ns0:sp>
        <ns0:nvSpPr>
          <ns0:cNvPr id="81" name="trace:D12:content.auto.67">
            <ns1:extLst>
              <ns1:ext uri="{FF2B5EF4-FFF2-40B4-BE49-F238E27FC236}">
                <ns3:creationId id="{69A52B49-1A3A-485C-948B-0B6EA9903D87}"/>
              </ns1:ext>
            </ns1:extLst>
          </ns0:cNvPr>
          <ns0:cNvSpPr>
            <ns1:spLocks noGrp="1"/>
          </ns0:cNvSpPr>
          <ns0:nvPr/>
        </ns0:nvSpPr>
        <ns0:spPr>
          <ns1:xfrm>
            <ns1:off x="7972425" y="4000500"/>
            <ns1:ext cx="1200150" cy="666750"/>
          </ns1:xfrm>
          <ns1:prstGeom prst="roundRect">
            <ns1:avLst>
              <ns1:gd name="adj" fmla="val 17143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82" name="trace:D12:content.auto.68">
            <ns1:extLst>
              <ns1:ext uri="{FF2B5EF4-FFF2-40B4-BE49-F238E27FC236}">
                <ns3:creationId id="{BBB8845E-223F-40B2-87F8-4AAC7E73DC19}"/>
              </ns1:ext>
            </ns1:extLst>
          </ns0:cNvPr>
          <ns0:cNvSpPr>
            <ns1:spLocks noGrp="1"/>
          </ns0:cNvSpPr>
          <ns0:nvPr/>
        </ns0:nvSpPr>
        <ns0:spPr>
          <ns1:xfrm>
            <ns1:off x="8029575" y="4133850"/>
            <ns1:ext cx="108585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4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約40%</ns1:t>
            </ns1:r>
          </ns1:p>
          <ns1:p>
            <ns1:pPr algn="ctr">
              <ns1:defRPr sz="14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4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削減</ns1:t>
            </ns1:r>
          </ns1:p>
        </ns0:txBody>
      </ns0:sp>
      <ns0:sp>
        <ns0:nvSpPr>
          <ns0:cNvPr id="83" name="trace:D12:content.auto.69">
            <ns1:extLst>
              <ns1:ext uri="{FF2B5EF4-FFF2-40B4-BE49-F238E27FC236}">
                <ns3:creationId id="{6B8198BE-4F9B-4003-A631-27F3BFA35A89}"/>
              </ns1:ext>
            </ns1:extLst>
          </ns0:cNvPr>
          <ns0:cNvSpPr>
            <ns1:spLocks noGrp="1"/>
          </ns0:cNvSpPr>
          <ns0:nvPr/>
        </ns0:nvSpPr>
        <ns0:spPr>
          <ns1:xfrm>
            <ns1:off x="7353300" y="4448175"/>
            <ns1:ext cx="914400" cy="571500"/>
          </ns1:xfrm>
          <ns1:custGeom>
            <ns1:pathLst>
              <ns1:path w="914400" h="571500">
                <ns1:moveTo>
                  <ns1:pt x="47625" y="0"/>
                </ns1:moveTo>
                <ns1:lnTo>
                  <ns1:pt x="619125" y="257175"/>
                </ns1:lnTo>
                <ns1:lnTo>
                  <ns1:pt x="914400" y="504825"/>
                </ns1:lnTo>
                <ns1:lnTo>
                  <ns1:pt x="771525" y="571500"/>
                </ns1:lnTo>
                <ns1:lnTo>
                  <ns1:pt x="533400" y="381000"/>
                </ns1:lnTo>
                <ns1:lnTo>
                  <ns1:pt x="0" y="161925"/>
                </ns1:lnTo>
                <ns1:close/>
              </ns1:path>
            </ns1:pathLst>
          </ns1:custGeom>
          <ns1:solidFill>
            <ns1:srgbClr val="F24750"/>
          </ns1:solidFill>
          <ns1:ln w="0">
            <ns1:noFill/>
            <ns1:prstDash val="solid"/>
          </ns1:ln>
        </ns0:spPr>
      </ns0:sp>
      <ns0:sp>
        <ns0:nvSpPr>
          <ns0:cNvPr id="84" name="trace:D12:content.auto.70">
            <ns1:extLst>
              <ns1:ext uri="{FF2B5EF4-FFF2-40B4-BE49-F238E27FC236}">
                <ns3:creationId id="{8F84493B-3B13-4682-B766-644EDD07F42F}"/>
              </ns1:ext>
            </ns1:extLst>
          </ns0:cNvPr>
          <ns0:cNvSpPr>
            <ns1:spLocks noGrp="1"/>
          </ns0:cNvSpPr>
          <ns0:nvPr/>
        </ns0:nvSpPr>
        <ns0:spPr>
          <ns1:xfrm>
            <ns1:off x="5591175" y="6019800"/>
            <ns1:ext cx="4476750" cy="666750"/>
          </ns1:xfrm>
          <ns1:prstGeom prst="roundRect">
            <ns1:avLst>
              <ns1:gd name="adj" fmla="val 17143"/>
            </ns1:avLst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85" name="trace:D12:content.auto.71">
            <ns1:extLst>
              <ns1:ext uri="{FF2B5EF4-FFF2-40B4-BE49-F238E27FC236}">
                <ns3:creationId id="{0FE0FA03-F1FA-4C4D-8606-8C7A9EFF4478}"/>
              </ns1:ext>
            </ns1:extLst>
          </ns0:cNvPr>
          <ns0:cNvSpPr>
            <ns1:spLocks noGrp="1"/>
          </ns0:cNvSpPr>
          <ns0:nvPr/>
        </ns0:nvSpPr>
        <ns0:spPr>
          <ns1:xfrm>
            <ns1:off x="5788533" y="6167247"/>
            <ns1:ext cx="405384" cy="96012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86" name="trace:D12:content.auto.72">
            <ns1:extLst>
              <ns1:ext uri="{FF2B5EF4-FFF2-40B4-BE49-F238E27FC236}">
                <ns3:creationId id="{B859AB5B-0F27-4B1C-A214-1A23E19B5CBB}"/>
              </ns1:ext>
            </ns1:extLst>
          </ns0:cNvPr>
          <ns0:cNvSpPr>
            <ns1:spLocks noGrp="1"/>
          </ns0:cNvSpPr>
          <ns0:nvPr/>
        </ns0:nvSpPr>
        <ns0:spPr>
          <ns1:xfrm>
            <ns1:off x="5788533" y="6215253"/>
            <ns1:ext cx="9525" cy="293370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87" name="trace:D12:content.auto.73">
            <ns1:extLst>
              <ns1:ext uri="{FF2B5EF4-FFF2-40B4-BE49-F238E27FC236}">
                <ns3:creationId id="{AB0DCF96-3044-4E3D-8D4A-AFC6732D5F86}"/>
              </ns1:ext>
            </ns1:extLst>
          </ns0:cNvPr>
          <ns0:cNvSpPr>
            <ns1:spLocks noGrp="1"/>
          </ns0:cNvSpPr>
          <ns0:nvPr/>
        </ns0:nvSpPr>
        <ns0:spPr>
          <ns1:xfrm>
            <ns1:off x="6193917" y="6215253"/>
            <ns1:ext cx="9525" cy="293370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88" name="trace:D12:content.auto.74">
            <ns1:extLst>
              <ns1:ext uri="{FF2B5EF4-FFF2-40B4-BE49-F238E27FC236}">
                <ns3:creationId id="{4DC840B8-2DEC-4639-BAF9-EE1D6CB7C7E2}"/>
              </ns1:ext>
            </ns1:extLst>
          </ns0:cNvPr>
          <ns0:cNvSpPr>
            <ns1:spLocks noGrp="1"/>
          </ns0:cNvSpPr>
          <ns0:nvPr/>
        </ns0:nvSpPr>
        <ns0:spPr>
          <ns1:xfrm>
            <ns1:off x="5788533" y="6455283"/>
            <ns1:ext cx="405384" cy="96012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89" name="trace:D12:content.auto.75">
            <ns1:extLst>
              <ns1:ext uri="{FF2B5EF4-FFF2-40B4-BE49-F238E27FC236}">
                <ns3:creationId id="{D7D52E5D-FFD8-4243-8B39-4D8E5BA8448F}"/>
              </ns1:ext>
            </ns1:extLst>
          </ns0:cNvPr>
          <ns0:cNvSpPr>
            <ns1:spLocks noGrp="1"/>
          </ns0:cNvSpPr>
          <ns0:nvPr/>
        </ns0:nvSpPr>
        <ns0:spPr>
          <ns1:xfrm>
            <ns1:off x="6534150" y="6134100"/>
            <ns1:ext cx="35242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年間 約480万円のコスト削減</ns1:t>
            </ns1:r>
          </ns1:p>
        </ns0:txBody>
      </ns0:sp>
      <ns0:sp>
        <ns0:nvSpPr>
          <ns0:cNvPr id="90" name="trace:D12:content.auto.76">
            <ns1:extLst>
              <ns1:ext uri="{FF2B5EF4-FFF2-40B4-BE49-F238E27FC236}">
                <ns3:creationId id="{D7078D7E-3539-40BA-90D0-D2426D719312}"/>
              </ns1:ext>
            </ns1:extLst>
          </ns0:cNvPr>
          <ns0:cNvSpPr>
            <ns1:spLocks noGrp="1"/>
          </ns0:cNvSpPr>
          <ns0:nvPr/>
        </ns0:nvSpPr>
        <ns0:spPr>
          <ns1:xfrm>
            <ns1:off x="6534150" y="6381750"/>
            <ns1:ext cx="30480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（1チーム5名の場合の試算）</ns1:t>
            </ns1:r>
          </ns1:p>
        </ns0:txBody>
      </ns0:sp>
      <ns0:sp>
        <ns0:nvSpPr>
          <ns0:cNvPr id="91" name="trace:D12:content.auto.77">
            <ns1:extLst>
              <ns1:ext uri="{FF2B5EF4-FFF2-40B4-BE49-F238E27FC236}">
                <ns3:creationId id="{4EB169BC-2558-41FD-8A3D-CC3752D3244F}"/>
              </ns1:ext>
            </ns1:extLst>
          </ns0:cNvPr>
          <ns0:cNvSpPr>
            <ns1:spLocks noGrp="1"/>
          </ns0:cNvSpPr>
          <ns0:nvPr/>
        </ns0:nvSpPr>
        <ns0:spPr>
          <ns1:xfrm>
            <ns1:off x="10658475" y="3752850"/>
            <ns1:ext cx="20002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年間提案件数</ns1:t>
            </ns1:r>
          </ns1:p>
        </ns0:txBody>
      </ns0:sp>
      <ns0:sp>
        <ns0:nvSpPr>
          <ns0:cNvPr id="92" name="trace:D12:content.auto.78">
            <ns1:extLst>
              <ns1:ext uri="{FF2B5EF4-FFF2-40B4-BE49-F238E27FC236}">
                <ns3:creationId id="{4601F051-7E58-429B-B3CA-D638C41E0838}"/>
              </ns1:ext>
            </ns1:extLst>
          </ns0:cNvPr>
          <ns0:cNvSpPr>
            <ns1:spLocks noGrp="1"/>
          </ns0:cNvSpPr>
          <ns0:nvPr/>
        </ns0:nvSpPr>
        <ns0:spPr>
          <ns1:xfrm>
            <ns1:off x="13230225" y="3752850"/>
            <ns1:ext cx="18097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受注率</ns1:t>
            </ns1:r>
          </ns1:p>
        </ns0:txBody>
      </ns0:sp>
      <ns0:sp>
        <ns0:nvSpPr>
          <ns0:cNvPr id="93" name="trace:D12:content.auto.79">
            <ns1:extLst>
              <ns1:ext uri="{FF2B5EF4-FFF2-40B4-BE49-F238E27FC236}">
                <ns3:creationId id="{661E47D2-A7BC-45D7-92D8-C0A679853D54}"/>
              </ns1:ext>
            </ns1:extLst>
          </ns0:cNvPr>
          <ns0:cNvSpPr>
            <ns1:spLocks noGrp="1"/>
          </ns0:cNvSpPr>
          <ns0:nvPr/>
        </ns0:nvSpPr>
        <ns0:spPr>
          <ns1:xfrm>
            <ns1:off x="10658475" y="3752850"/>
            <ns1:ext cx="57150" cy="9525"/>
          </ns1:xfrm>
          <ns1:prstGeom prst="line">
            <ns1:avLst/>
          </ns1:prstGeom>
          <ns1:noFill/>
          <ns1:ln w="47625">
            <ns1:solidFill>
              <ns1:srgbClr val="E71926"/>
            </ns1:solidFill>
            <ns1:prstDash val="solid"/>
          </ns1:ln>
        </ns0:spPr>
      </ns0:sp>
      <ns0:sp>
        <ns0:nvSpPr>
          <ns0:cNvPr id="94" name="trace:D12:content.auto.80">
            <ns1:extLst>
              <ns1:ext uri="{FF2B5EF4-FFF2-40B4-BE49-F238E27FC236}">
                <ns3:creationId id="{3C096C63-9ADF-49F2-8C5C-7509FF73F61C}"/>
              </ns1:ext>
            </ns1:extLst>
          </ns0:cNvPr>
          <ns0:cNvSpPr>
            <ns1:spLocks noGrp="1"/>
          </ns0:cNvSpPr>
          <ns0:nvPr/>
        </ns0:nvSpPr>
        <ns0:spPr>
          <ns1:xfrm>
            <ns1:off x="13230225" y="3752850"/>
            <ns1:ext cx="57150" cy="9525"/>
          </ns1:xfrm>
          <ns1:prstGeom prst="line">
            <ns1:avLst/>
          </ns1:prstGeom>
          <ns1:noFill/>
          <ns1:ln w="47625">
            <ns1:solidFill>
              <ns1:srgbClr val="E71926"/>
            </ns1:solidFill>
            <ns1:prstDash val="solid"/>
          </ns1:ln>
        </ns0:spPr>
      </ns0:sp>
      <ns0:sp>
        <ns0:nvSpPr>
          <ns0:cNvPr id="95" name="trace:D12:content.auto.81">
            <ns1:extLst>
              <ns1:ext uri="{FF2B5EF4-FFF2-40B4-BE49-F238E27FC236}">
                <ns3:creationId id="{75B4D520-C0F3-4FE2-9F6E-926885D719EC}"/>
              </ns1:ext>
            </ns1:extLst>
          </ns0:cNvPr>
          <ns0:cNvSpPr>
            <ns1:spLocks noGrp="1"/>
          </ns0:cNvSpPr>
          <ns0:nvPr/>
        </ns0:nvSpPr>
        <ns0:spPr>
          <ns1:xfrm>
            <ns1:off x="11058525" y="4267200"/>
            <ns1:ext cx="1600200" cy="9525"/>
          </ns1:xfrm>
          <ns1:prstGeom prst="line">
            <ns1:avLst/>
          </ns1:prstGeom>
          <ns1:noFill/>
          <ns1:ln w="9525">
            <ns1:solidFill>
              <ns1:srgbClr val="C8D3DF"/>
            </ns1:solidFill>
            <ns1:prstDash val="solid"/>
          </ns1:ln>
        </ns0:spPr>
      </ns0:sp>
      <ns0:sp>
        <ns0:nvSpPr>
          <ns0:cNvPr id="96" name="trace:D12:content.auto.82">
            <ns1:extLst>
              <ns1:ext uri="{FF2B5EF4-FFF2-40B4-BE49-F238E27FC236}">
                <ns3:creationId id="{E4A67B3E-FB24-4614-8425-0CB44431106F}"/>
              </ns1:ext>
            </ns1:extLst>
          </ns0:cNvPr>
          <ns0:cNvSpPr>
            <ns1:spLocks noGrp="1"/>
          </ns0:cNvSpPr>
          <ns0:nvPr/>
        </ns0:nvSpPr>
        <ns0:spPr>
          <ns1:xfrm>
            <ns1:off x="10591800" y="4171950"/>
            <ns1:ext cx="40957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def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250</ns1:t>
            </ns1:r>
          </ns1:p>
        </ns0:txBody>
      </ns0:sp>
      <ns0:sp>
        <ns0:nvSpPr>
          <ns0:cNvPr id="97" name="trace:D12:content.auto.83">
            <ns1:extLst>
              <ns1:ext uri="{FF2B5EF4-FFF2-40B4-BE49-F238E27FC236}">
                <ns3:creationId id="{6D5D58A7-2A9B-4096-BB1B-FE085E591D94}"/>
              </ns1:ext>
            </ns1:extLst>
          </ns0:cNvPr>
          <ns0:cNvSpPr>
            <ns1:spLocks noGrp="1"/>
          </ns0:cNvSpPr>
          <ns0:nvPr/>
        </ns0:nvSpPr>
        <ns0:spPr>
          <ns1:xfrm>
            <ns1:off x="11058525" y="4505325"/>
            <ns1:ext cx="1600200" cy="9525"/>
          </ns1:xfrm>
          <ns1:prstGeom prst="line">
            <ns1:avLst/>
          </ns1:prstGeom>
          <ns1:noFill/>
          <ns1:ln w="9525">
            <ns1:solidFill>
              <ns1:srgbClr val="C8D3DF"/>
            </ns1:solidFill>
            <ns1:prstDash val="solid"/>
          </ns1:ln>
        </ns0:spPr>
      </ns0:sp>
      <ns0:sp>
        <ns0:nvSpPr>
          <ns0:cNvPr id="98" name="trace:D12:content.auto.84">
            <ns1:extLst>
              <ns1:ext uri="{FF2B5EF4-FFF2-40B4-BE49-F238E27FC236}">
                <ns3:creationId id="{8316B1FA-1D10-4414-A36B-ED6161076294}"/>
              </ns1:ext>
            </ns1:extLst>
          </ns0:cNvPr>
          <ns0:cNvSpPr>
            <ns1:spLocks noGrp="1"/>
          </ns0:cNvSpPr>
          <ns0:nvPr/>
        </ns0:nvSpPr>
        <ns0:spPr>
          <ns1:xfrm>
            <ns1:off x="10591800" y="4410075"/>
            <ns1:ext cx="40957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def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200</ns1:t>
            </ns1:r>
          </ns1:p>
        </ns0:txBody>
      </ns0:sp>
      <ns0:sp>
        <ns0:nvSpPr>
          <ns0:cNvPr id="99" name="trace:D12:content.auto.85">
            <ns1:extLst>
              <ns1:ext uri="{FF2B5EF4-FFF2-40B4-BE49-F238E27FC236}">
                <ns3:creationId id="{6F0F1C6D-433A-4EB3-A356-9CC21132CCA9}"/>
              </ns1:ext>
            </ns1:extLst>
          </ns0:cNvPr>
          <ns0:cNvSpPr>
            <ns1:spLocks noGrp="1"/>
          </ns0:cNvSpPr>
          <ns0:nvPr/>
        </ns0:nvSpPr>
        <ns0:spPr>
          <ns1:xfrm>
            <ns1:off x="11058525" y="4743450"/>
            <ns1:ext cx="1600200" cy="9525"/>
          </ns1:xfrm>
          <ns1:prstGeom prst="line">
            <ns1:avLst/>
          </ns1:prstGeom>
          <ns1:noFill/>
          <ns1:ln w="9525">
            <ns1:solidFill>
              <ns1:srgbClr val="C8D3DF"/>
            </ns1:solidFill>
            <ns1:prstDash val="solid"/>
          </ns1:ln>
        </ns0:spPr>
      </ns0:sp>
      <ns0:sp>
        <ns0:nvSpPr>
          <ns0:cNvPr id="100" name="trace:D12:content.auto.86">
            <ns1:extLst>
              <ns1:ext uri="{FF2B5EF4-FFF2-40B4-BE49-F238E27FC236}">
                <ns3:creationId id="{3C1DB017-FD49-4EA7-92DA-D397E46A87D0}"/>
              </ns1:ext>
            </ns1:extLst>
          </ns0:cNvPr>
          <ns0:cNvSpPr>
            <ns1:spLocks noGrp="1"/>
          </ns0:cNvSpPr>
          <ns0:nvPr/>
        </ns0:nvSpPr>
        <ns0:spPr>
          <ns1:xfrm>
            <ns1:off x="10591800" y="4648200"/>
            <ns1:ext cx="40957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def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150</ns1:t>
            </ns1:r>
          </ns1:p>
        </ns0:txBody>
      </ns0:sp>
      <ns0:sp>
        <ns0:nvSpPr>
          <ns0:cNvPr id="101" name="trace:D12:content.auto.87">
            <ns1:extLst>
              <ns1:ext uri="{FF2B5EF4-FFF2-40B4-BE49-F238E27FC236}">
                <ns3:creationId id="{A64D205F-13D4-4331-BEE5-0CC228012342}"/>
              </ns1:ext>
            </ns1:extLst>
          </ns0:cNvPr>
          <ns0:cNvSpPr>
            <ns1:spLocks noGrp="1"/>
          </ns0:cNvSpPr>
          <ns0:nvPr/>
        </ns0:nvSpPr>
        <ns0:spPr>
          <ns1:xfrm>
            <ns1:off x="11058525" y="4981575"/>
            <ns1:ext cx="1600200" cy="9525"/>
          </ns1:xfrm>
          <ns1:prstGeom prst="line">
            <ns1:avLst/>
          </ns1:prstGeom>
          <ns1:noFill/>
          <ns1:ln w="9525">
            <ns1:solidFill>
              <ns1:srgbClr val="C8D3DF"/>
            </ns1:solidFill>
            <ns1:prstDash val="solid"/>
          </ns1:ln>
        </ns0:spPr>
      </ns0:sp>
      <ns0:sp>
        <ns0:nvSpPr>
          <ns0:cNvPr id="102" name="trace:D12:content.auto.88">
            <ns1:extLst>
              <ns1:ext uri="{FF2B5EF4-FFF2-40B4-BE49-F238E27FC236}">
                <ns3:creationId id="{39FA2EAA-098B-4DBF-9264-589D02271D84}"/>
              </ns1:ext>
            </ns1:extLst>
          </ns0:cNvPr>
          <ns0:cNvSpPr>
            <ns1:spLocks noGrp="1"/>
          </ns0:cNvSpPr>
          <ns0:nvPr/>
        </ns0:nvSpPr>
        <ns0:spPr>
          <ns1:xfrm>
            <ns1:off x="10591800" y="4886325"/>
            <ns1:ext cx="40957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def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100</ns1:t>
            </ns1:r>
          </ns1:p>
        </ns0:txBody>
      </ns0:sp>
      <ns0:sp>
        <ns0:nvSpPr>
          <ns0:cNvPr id="103" name="trace:D12:content.auto.89">
            <ns1:extLst>
              <ns1:ext uri="{FF2B5EF4-FFF2-40B4-BE49-F238E27FC236}">
                <ns3:creationId id="{C3544B35-0FE3-4EC7-9648-28E7E549135C}"/>
              </ns1:ext>
            </ns1:extLst>
          </ns0:cNvPr>
          <ns0:cNvSpPr>
            <ns1:spLocks noGrp="1"/>
          </ns0:cNvSpPr>
          <ns0:nvPr/>
        </ns0:nvSpPr>
        <ns0:spPr>
          <ns1:xfrm>
            <ns1:off x="11058525" y="5219700"/>
            <ns1:ext cx="1600200" cy="9525"/>
          </ns1:xfrm>
          <ns1:prstGeom prst="line">
            <ns1:avLst/>
          </ns1:prstGeom>
          <ns1:noFill/>
          <ns1:ln w="9525">
            <ns1:solidFill>
              <ns1:srgbClr val="C8D3DF"/>
            </ns1:solidFill>
            <ns1:prstDash val="solid"/>
          </ns1:ln>
        </ns0:spPr>
      </ns0:sp>
      <ns0:sp>
        <ns0:nvSpPr>
          <ns0:cNvPr id="104" name="trace:D12:content.auto.90">
            <ns1:extLst>
              <ns1:ext uri="{FF2B5EF4-FFF2-40B4-BE49-F238E27FC236}">
                <ns3:creationId id="{BEE02D9F-3688-416E-93C8-977D83414FDA}"/>
              </ns1:ext>
            </ns1:extLst>
          </ns0:cNvPr>
          <ns0:cNvSpPr>
            <ns1:spLocks noGrp="1"/>
          </ns0:cNvSpPr>
          <ns0:nvPr/>
        </ns0:nvSpPr>
        <ns0:spPr>
          <ns1:xfrm>
            <ns1:off x="10591800" y="5124450"/>
            <ns1:ext cx="40957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def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50</ns1:t>
            </ns1:r>
          </ns1:p>
        </ns0:txBody>
      </ns0:sp>
      <ns0:sp>
        <ns0:nvSpPr>
          <ns0:cNvPr id="105" name="trace:D12:content.auto.91">
            <ns1:extLst>
              <ns1:ext uri="{FF2B5EF4-FFF2-40B4-BE49-F238E27FC236}">
                <ns3:creationId id="{DEF5CAF6-C3AC-4E97-A026-8794D7FEEE0D}"/>
              </ns1:ext>
            </ns1:extLst>
          </ns0:cNvPr>
          <ns0:cNvSpPr>
            <ns1:spLocks noGrp="1"/>
          </ns0:cNvSpPr>
          <ns0:nvPr/>
        </ns0:nvSpPr>
        <ns0:spPr>
          <ns1:xfrm>
            <ns1:off x="13639800" y="4267200"/>
            <ns1:ext cx="1600200" cy="9525"/>
          </ns1:xfrm>
          <ns1:prstGeom prst="line">
            <ns1:avLst/>
          </ns1:prstGeom>
          <ns1:noFill/>
          <ns1:ln w="9525">
            <ns1:solidFill>
              <ns1:srgbClr val="C8D3DF"/>
            </ns1:solidFill>
            <ns1:prstDash val="solid"/>
          </ns1:ln>
        </ns0:spPr>
      </ns0:sp>
      <ns0:sp>
        <ns0:nvSpPr>
          <ns0:cNvPr id="106" name="trace:D12:content.auto.92">
            <ns1:extLst>
              <ns1:ext uri="{FF2B5EF4-FFF2-40B4-BE49-F238E27FC236}">
                <ns3:creationId id="{2AC4E6BF-B8A7-4B42-AA46-8DCDA1F54D0D}"/>
              </ns1:ext>
            </ns1:extLst>
          </ns0:cNvPr>
          <ns0:cNvSpPr>
            <ns1:spLocks noGrp="1"/>
          </ns0:cNvSpPr>
          <ns0:nvPr/>
        </ns0:nvSpPr>
        <ns0:spPr>
          <ns1:xfrm>
            <ns1:off x="13106400" y="4171950"/>
            <ns1:ext cx="40957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def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40%</ns1:t>
            </ns1:r>
          </ns1:p>
        </ns0:txBody>
      </ns0:sp>
      <ns0:sp>
        <ns0:nvSpPr>
          <ns0:cNvPr id="107" name="trace:D12:content.auto.93">
            <ns1:extLst>
              <ns1:ext uri="{FF2B5EF4-FFF2-40B4-BE49-F238E27FC236}">
                <ns3:creationId id="{412BE3AA-8235-40EA-8FE9-9A6D8F4BE83B}"/>
              </ns1:ext>
            </ns1:extLst>
          </ns0:cNvPr>
          <ns0:cNvSpPr>
            <ns1:spLocks noGrp="1"/>
          </ns0:cNvSpPr>
          <ns0:nvPr/>
        </ns0:nvSpPr>
        <ns0:spPr>
          <ns1:xfrm>
            <ns1:off x="13639800" y="4505325"/>
            <ns1:ext cx="1600200" cy="9525"/>
          </ns1:xfrm>
          <ns1:prstGeom prst="line">
            <ns1:avLst/>
          </ns1:prstGeom>
          <ns1:noFill/>
          <ns1:ln w="9525">
            <ns1:solidFill>
              <ns1:srgbClr val="C8D3DF"/>
            </ns1:solidFill>
            <ns1:prstDash val="solid"/>
          </ns1:ln>
        </ns0:spPr>
      </ns0:sp>
      <ns0:sp>
        <ns0:nvSpPr>
          <ns0:cNvPr id="108" name="trace:D12:content.auto.94">
            <ns1:extLst>
              <ns1:ext uri="{FF2B5EF4-FFF2-40B4-BE49-F238E27FC236}">
                <ns3:creationId id="{F45D4A4E-5F78-4BB4-923C-E84643A3DD4B}"/>
              </ns1:ext>
            </ns1:extLst>
          </ns0:cNvPr>
          <ns0:cNvSpPr>
            <ns1:spLocks noGrp="1"/>
          </ns0:cNvSpPr>
          <ns0:nvPr/>
        </ns0:nvSpPr>
        <ns0:spPr>
          <ns1:xfrm>
            <ns1:off x="13106400" y="4410075"/>
            <ns1:ext cx="40957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def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30%</ns1:t>
            </ns1:r>
          </ns1:p>
        </ns0:txBody>
      </ns0:sp>
      <ns0:sp>
        <ns0:nvSpPr>
          <ns0:cNvPr id="109" name="trace:D12:content.auto.95">
            <ns1:extLst>
              <ns1:ext uri="{FF2B5EF4-FFF2-40B4-BE49-F238E27FC236}">
                <ns3:creationId id="{BD1073A5-D0D2-47C8-A94A-16E7B61D0440}"/>
              </ns1:ext>
            </ns1:extLst>
          </ns0:cNvPr>
          <ns0:cNvSpPr>
            <ns1:spLocks noGrp="1"/>
          </ns0:cNvSpPr>
          <ns0:nvPr/>
        </ns0:nvSpPr>
        <ns0:spPr>
          <ns1:xfrm>
            <ns1:off x="13639800" y="4743450"/>
            <ns1:ext cx="1600200" cy="9525"/>
          </ns1:xfrm>
          <ns1:prstGeom prst="line">
            <ns1:avLst/>
          </ns1:prstGeom>
          <ns1:noFill/>
          <ns1:ln w="9525">
            <ns1:solidFill>
              <ns1:srgbClr val="C8D3DF"/>
            </ns1:solidFill>
            <ns1:prstDash val="solid"/>
          </ns1:ln>
        </ns0:spPr>
      </ns0:sp>
      <ns0:sp>
        <ns0:nvSpPr>
          <ns0:cNvPr id="110" name="trace:D12:content.auto.96">
            <ns1:extLst>
              <ns1:ext uri="{FF2B5EF4-FFF2-40B4-BE49-F238E27FC236}">
                <ns3:creationId id="{FFC67D20-6CA2-4D34-82EC-8787C76EDA46}"/>
              </ns1:ext>
            </ns1:extLst>
          </ns0:cNvPr>
          <ns0:cNvSpPr>
            <ns1:spLocks noGrp="1"/>
          </ns0:cNvSpPr>
          <ns0:nvPr/>
        </ns0:nvSpPr>
        <ns0:spPr>
          <ns1:xfrm>
            <ns1:off x="13106400" y="4648200"/>
            <ns1:ext cx="40957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def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20%</ns1:t>
            </ns1:r>
          </ns1:p>
        </ns0:txBody>
      </ns0:sp>
      <ns0:sp>
        <ns0:nvSpPr>
          <ns0:cNvPr id="111" name="trace:D12:content.auto.97">
            <ns1:extLst>
              <ns1:ext uri="{FF2B5EF4-FFF2-40B4-BE49-F238E27FC236}">
                <ns3:creationId id="{804234A7-87FF-432D-9542-4EBA6FE706AA}"/>
              </ns1:ext>
            </ns1:extLst>
          </ns0:cNvPr>
          <ns0:cNvSpPr>
            <ns1:spLocks noGrp="1"/>
          </ns0:cNvSpPr>
          <ns0:nvPr/>
        </ns0:nvSpPr>
        <ns0:spPr>
          <ns1:xfrm>
            <ns1:off x="13639800" y="4981575"/>
            <ns1:ext cx="1600200" cy="9525"/>
          </ns1:xfrm>
          <ns1:prstGeom prst="line">
            <ns1:avLst/>
          </ns1:prstGeom>
          <ns1:noFill/>
          <ns1:ln w="9525">
            <ns1:solidFill>
              <ns1:srgbClr val="C8D3DF"/>
            </ns1:solidFill>
            <ns1:prstDash val="solid"/>
          </ns1:ln>
        </ns0:spPr>
      </ns0:sp>
      <ns0:sp>
        <ns0:nvSpPr>
          <ns0:cNvPr id="112" name="trace:D12:content.auto.98">
            <ns1:extLst>
              <ns1:ext uri="{FF2B5EF4-FFF2-40B4-BE49-F238E27FC236}">
                <ns3:creationId id="{17B3D076-DFBD-418F-A84E-AD03BB48A517}"/>
              </ns1:ext>
            </ns1:extLst>
          </ns0:cNvPr>
          <ns0:cNvSpPr>
            <ns1:spLocks noGrp="1"/>
          </ns0:cNvSpPr>
          <ns0:nvPr/>
        </ns0:nvSpPr>
        <ns0:spPr>
          <ns1:xfrm>
            <ns1:off x="13106400" y="4886325"/>
            <ns1:ext cx="40957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def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10%</ns1:t>
            </ns1:r>
          </ns1:p>
        </ns0:txBody>
      </ns0:sp>
      <ns0:sp>
        <ns0:nvSpPr>
          <ns0:cNvPr id="113" name="trace:D12:content.auto.99">
            <ns1:extLst>
              <ns1:ext uri="{FF2B5EF4-FFF2-40B4-BE49-F238E27FC236}">
                <ns3:creationId id="{B01F883E-260A-4892-A8AE-944034F61488}"/>
              </ns1:ext>
            </ns1:extLst>
          </ns0:cNvPr>
          <ns0:cNvSpPr>
            <ns1:spLocks noGrp="1"/>
          </ns0:cNvSpPr>
          <ns0:nvPr/>
        </ns0:nvSpPr>
        <ns0:spPr>
          <ns1:xfrm>
            <ns1:off x="13639800" y="5219700"/>
            <ns1:ext cx="1600200" cy="9525"/>
          </ns1:xfrm>
          <ns1:prstGeom prst="line">
            <ns1:avLst/>
          </ns1:prstGeom>
          <ns1:noFill/>
          <ns1:ln w="9525">
            <ns1:solidFill>
              <ns1:srgbClr val="C8D3DF"/>
            </ns1:solidFill>
            <ns1:prstDash val="solid"/>
          </ns1:ln>
        </ns0:spPr>
      </ns0:sp>
      <ns0:sp>
        <ns0:nvSpPr>
          <ns0:cNvPr id="114" name="trace:D12:content.auto.100">
            <ns1:extLst>
              <ns1:ext uri="{FF2B5EF4-FFF2-40B4-BE49-F238E27FC236}">
                <ns3:creationId id="{52A2EDD9-473F-4153-B1FD-44053D77231E}"/>
              </ns1:ext>
            </ns1:extLst>
          </ns0:cNvPr>
          <ns0:cNvSpPr>
            <ns1:spLocks noGrp="1"/>
          </ns0:cNvSpPr>
          <ns0:nvPr/>
        </ns0:nvSpPr>
        <ns0:spPr>
          <ns1:xfrm>
            <ns1:off x="13106400" y="5124450"/>
            <ns1:ext cx="40957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def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975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0%</ns1:t>
            </ns1:r>
          </ns1:p>
        </ns0:txBody>
      </ns0:sp>
      <ns0:sp>
        <ns0:nvSpPr>
          <ns0:cNvPr id="115" name="trace:D12:content.auto.101">
            <ns1:extLst>
              <ns1:ext uri="{FF2B5EF4-FFF2-40B4-BE49-F238E27FC236}">
                <ns3:creationId id="{E0B1A2D4-4249-4AFD-9635-62D9451A8750}"/>
              </ns1:ext>
            </ns1:extLst>
          </ns0:cNvPr>
          <ns0:cNvSpPr>
            <ns1:spLocks noGrp="1"/>
          </ns0:cNvSpPr>
          <ns0:nvPr/>
        </ns0:nvSpPr>
        <ns0:spPr>
          <ns1:xfrm>
            <ns1:off x="11058525" y="4267200"/>
            <ns1:ext cx="9525" cy="952500"/>
          </ns1:xfrm>
          <ns1:prstGeom prst="line">
            <ns1:avLst/>
          </ns1:prstGeom>
          <ns1:noFill/>
          <ns1:ln w="9525">
            <ns1:solidFill>
              <ns1:srgbClr val="AAB7C5"/>
            </ns1:solidFill>
            <ns1:prstDash val="solid"/>
          </ns1:ln>
        </ns0:spPr>
      </ns0:sp>
      <ns0:sp>
        <ns0:nvSpPr>
          <ns0:cNvPr id="116" name="trace:D12:content.auto.102">
            <ns1:extLst>
              <ns1:ext uri="{FF2B5EF4-FFF2-40B4-BE49-F238E27FC236}">
                <ns3:creationId id="{1AF18EE9-5C57-4284-BD59-2EDABC7656E0}"/>
              </ns1:ext>
            </ns1:extLst>
          </ns0:cNvPr>
          <ns0:cNvSpPr>
            <ns1:spLocks noGrp="1"/>
          </ns0:cNvSpPr>
          <ns0:nvPr/>
        </ns0:nvSpPr>
        <ns0:spPr>
          <ns1:xfrm>
            <ns1:off x="11058525" y="5219700"/>
            <ns1:ext cx="1600200" cy="9525"/>
          </ns1:xfrm>
          <ns1:prstGeom prst="line">
            <ns1:avLst/>
          </ns1:prstGeom>
          <ns1:noFill/>
          <ns1:ln w="9525">
            <ns1:solidFill>
              <ns1:srgbClr val="AAB7C5"/>
            </ns1:solidFill>
            <ns1:prstDash val="solid"/>
          </ns1:ln>
        </ns0:spPr>
      </ns0:sp>
      <ns0:sp>
        <ns0:nvSpPr>
          <ns0:cNvPr id="117" name="trace:D12:content.auto.103">
            <ns1:extLst>
              <ns1:ext uri="{FF2B5EF4-FFF2-40B4-BE49-F238E27FC236}">
                <ns3:creationId id="{5990D5BD-72D1-4214-B81F-3982134CFF17}"/>
              </ns1:ext>
            </ns1:extLst>
          </ns0:cNvPr>
          <ns0:cNvSpPr>
            <ns1:spLocks noGrp="1"/>
          </ns0:cNvSpPr>
          <ns0:nvPr/>
        </ns0:nvSpPr>
        <ns0:spPr>
          <ns1:xfrm>
            <ns1:off x="13639800" y="4267200"/>
            <ns1:ext cx="9525" cy="952500"/>
          </ns1:xfrm>
          <ns1:prstGeom prst="line">
            <ns1:avLst/>
          </ns1:prstGeom>
          <ns1:noFill/>
          <ns1:ln w="9525">
            <ns1:solidFill>
              <ns1:srgbClr val="AAB7C5"/>
            </ns1:solidFill>
            <ns1:prstDash val="solid"/>
          </ns1:ln>
        </ns0:spPr>
      </ns0:sp>
      <ns0:sp>
        <ns0:nvSpPr>
          <ns0:cNvPr id="118" name="trace:D12:content.auto.104">
            <ns1:extLst>
              <ns1:ext uri="{FF2B5EF4-FFF2-40B4-BE49-F238E27FC236}">
                <ns3:creationId id="{CDA36AE8-A2A5-40C9-BBC7-BB14D1A3EB9E}"/>
              </ns1:ext>
            </ns1:extLst>
          </ns0:cNvPr>
          <ns0:cNvSpPr>
            <ns1:spLocks noGrp="1"/>
          </ns0:cNvSpPr>
          <ns0:nvPr/>
        </ns0:nvSpPr>
        <ns0:spPr>
          <ns1:xfrm>
            <ns1:off x="13639800" y="5219700"/>
            <ns1:ext cx="1600200" cy="9525"/>
          </ns1:xfrm>
          <ns1:prstGeom prst="line">
            <ns1:avLst/>
          </ns1:prstGeom>
          <ns1:noFill/>
          <ns1:ln w="9525">
            <ns1:solidFill>
              <ns1:srgbClr val="AAB7C5"/>
            </ns1:solidFill>
            <ns1:prstDash val="solid"/>
          </ns1:ln>
        </ns0:spPr>
      </ns0:sp>
      <ns0:sp>
        <ns0:nvSpPr>
          <ns0:cNvPr id="119" name="trace:D12:content.auto.105">
            <ns1:extLst>
              <ns1:ext uri="{FF2B5EF4-FFF2-40B4-BE49-F238E27FC236}">
                <ns3:creationId id="{51E612BC-6FAC-4BC3-859E-48C6BEBD3C13}"/>
              </ns1:ext>
            </ns1:extLst>
          </ns0:cNvPr>
          <ns0:cNvSpPr>
            <ns1:spLocks noGrp="1"/>
          </ns0:cNvSpPr>
          <ns0:nvPr/>
        </ns0:nvSpPr>
        <ns0:spPr>
          <ns1:xfrm>
            <ns1:off x="11306175" y="4943475"/>
            <ns1:ext cx="523875" cy="276225"/>
          </ns1:xfrm>
          <ns1:prstGeom prst="rect">
            <ns1:avLst/>
          </ns1:prstGeom>
          <ns1:solidFill>
            <ns1:srgbClr val="C7D0DA"/>
          </ns1:solidFill>
          <ns1:ln w="0">
            <ns1:noFill/>
            <ns1:prstDash val="solid"/>
          </ns1:ln>
        </ns0:spPr>
      </ns0:sp>
      <ns0:sp>
        <ns0:nvSpPr>
          <ns0:cNvPr id="120" name="trace:D12:content.auto.106">
            <ns1:extLst>
              <ns1:ext uri="{FF2B5EF4-FFF2-40B4-BE49-F238E27FC236}">
                <ns3:creationId id="{7C0BEE7D-467D-4A84-AD3F-BE8BE517A133}"/>
              </ns1:ext>
            </ns1:extLst>
          </ns0:cNvPr>
          <ns0:cNvSpPr>
            <ns1:spLocks noGrp="1"/>
          </ns0:cNvSpPr>
          <ns0:nvPr/>
        </ns0:nvSpPr>
        <ns0:spPr>
          <ns1:xfrm>
            <ns1:off x="12134850" y="4543425"/>
            <ns1:ext cx="523875" cy="676275"/>
          </ns1:xfrm>
          <ns1:prstGeom prst="rect">
            <ns1:avLst/>
          </ns1:prstGeom>
          <ns1:solidFill>
            <ns1:srgbClr val="F24750"/>
          </ns1:solidFill>
          <ns1:ln w="0">
            <ns1:noFill/>
            <ns1:prstDash val="solid"/>
          </ns1:ln>
        </ns0:spPr>
      </ns0:sp>
      <ns0:sp>
        <ns0:nvSpPr>
          <ns0:cNvPr id="121" name="trace:D12:content.auto.107">
            <ns1:extLst>
              <ns1:ext uri="{FF2B5EF4-FFF2-40B4-BE49-F238E27FC236}">
                <ns3:creationId id="{7C61F13D-7D33-41E5-9E27-F1B689C27B2F}"/>
              </ns1:ext>
            </ns1:extLst>
          </ns0:cNvPr>
          <ns0:cNvSpPr>
            <ns1:spLocks noGrp="1"/>
          </ns0:cNvSpPr>
          <ns0:nvPr/>
        </ns0:nvSpPr>
        <ns0:spPr>
          <ns1:xfrm>
            <ns1:off x="13877925" y="4914900"/>
            <ns1:ext cx="523875" cy="304800"/>
          </ns1:xfrm>
          <ns1:prstGeom prst="rect">
            <ns1:avLst/>
          </ns1:prstGeom>
          <ns1:solidFill>
            <ns1:srgbClr val="C7D0DA"/>
          </ns1:solidFill>
          <ns1:ln w="0">
            <ns1:noFill/>
            <ns1:prstDash val="solid"/>
          </ns1:ln>
        </ns0:spPr>
      </ns0:sp>
      <ns0:sp>
        <ns0:nvSpPr>
          <ns0:cNvPr id="122" name="trace:D12:content.auto.108">
            <ns1:extLst>
              <ns1:ext uri="{FF2B5EF4-FFF2-40B4-BE49-F238E27FC236}">
                <ns3:creationId id="{841DD089-7761-4F86-9699-A00DCAC52B94}"/>
              </ns1:ext>
            </ns1:extLst>
          </ns0:cNvPr>
          <ns0:cNvSpPr>
            <ns1:spLocks noGrp="1"/>
          </ns0:cNvSpPr>
          <ns0:nvPr/>
        </ns0:nvSpPr>
        <ns0:spPr>
          <ns1:xfrm>
            <ns1:off x="14706600" y="4676775"/>
            <ns1:ext cx="523875" cy="542925"/>
          </ns1:xfrm>
          <ns1:prstGeom prst="rect">
            <ns1:avLst/>
          </ns1:prstGeom>
          <ns1:solidFill>
            <ns1:srgbClr val="F24750"/>
          </ns1:solidFill>
          <ns1:ln w="0">
            <ns1:noFill/>
            <ns1:prstDash val="solid"/>
          </ns1:ln>
        </ns0:spPr>
      </ns0:sp>
      <ns0:sp>
        <ns0:nvSpPr>
          <ns0:cNvPr id="123" name="trace:D12:content.auto.109">
            <ns1:extLst>
              <ns1:ext uri="{FF2B5EF4-FFF2-40B4-BE49-F238E27FC236}">
                <ns3:creationId id="{81F395B0-1059-44F5-8609-E9D8D7C774D3}"/>
              </ns1:ext>
            </ns1:extLst>
          </ns0:cNvPr>
          <ns0:cNvSpPr>
            <ns1:spLocks noGrp="1"/>
          </ns0:cNvSpPr>
          <ns0:nvPr/>
        </ns0:nvSpPr>
        <ns0:spPr>
          <ns1:xfrm>
            <ns1:off x="11191875" y="4610100"/>
            <ns1:ext cx="762000" cy="2190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27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27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100件</ns1:t>
            </ns1:r>
          </ns1:p>
        </ns0:txBody>
      </ns0:sp>
      <ns0:sp>
        <ns0:nvSpPr>
          <ns0:cNvPr id="124" name="trace:D12:content.auto.110">
            <ns1:extLst>
              <ns1:ext uri="{FF2B5EF4-FFF2-40B4-BE49-F238E27FC236}">
                <ns3:creationId id="{D6EB2FFB-3677-466B-AEFC-0DAA94E4C4C9}"/>
              </ns1:ext>
            </ns1:extLst>
          </ns0:cNvPr>
          <ns0:cNvSpPr>
            <ns1:spLocks noGrp="1"/>
          </ns0:cNvSpPr>
          <ns0:nvPr/>
        </ns0:nvSpPr>
        <ns0:spPr>
          <ns1:xfrm>
            <ns1:off x="12030075" y="4610100"/>
            <ns1:ext cx="781050" cy="2190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27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27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200件</ns1:t>
            </ns1:r>
          </ns1:p>
        </ns0:txBody>
      </ns0:sp>
      <ns0:sp>
        <ns0:nvSpPr>
          <ns0:cNvPr id="125" name="trace:D12:content.auto.111">
            <ns1:extLst>
              <ns1:ext uri="{FF2B5EF4-FFF2-40B4-BE49-F238E27FC236}">
                <ns3:creationId id="{032631DE-C931-418A-ACBF-5E9EB7BD6B90}"/>
              </ns1:ext>
            </ns1:extLst>
          </ns0:cNvPr>
          <ns0:cNvSpPr>
            <ns1:spLocks noGrp="1"/>
          </ns0:cNvSpPr>
          <ns0:nvPr/>
        </ns0:nvSpPr>
        <ns0:spPr>
          <ns1:xfrm>
            <ns1:off x="13754100" y="4581525"/>
            <ns1:ext cx="762000" cy="2190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27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27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15%</ns1:t>
            </ns1:r>
          </ns1:p>
        </ns0:txBody>
      </ns0:sp>
      <ns0:sp>
        <ns0:nvSpPr>
          <ns0:cNvPr id="126" name="trace:D12:content.auto.112">
            <ns1:extLst>
              <ns1:ext uri="{FF2B5EF4-FFF2-40B4-BE49-F238E27FC236}">
                <ns3:creationId id="{BF3A7015-96DB-4D7F-A8B0-B284DD23E16B}"/>
              </ns1:ext>
            </ns1:extLst>
          </ns0:cNvPr>
          <ns0:cNvSpPr>
            <ns1:spLocks noGrp="1"/>
          </ns0:cNvSpPr>
          <ns0:nvPr/>
        </ns0:nvSpPr>
        <ns0:spPr>
          <ns1:xfrm>
            <ns1:off x="14582775" y="4610100"/>
            <ns1:ext cx="762000" cy="2190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27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27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30%</ns1:t>
            </ns1:r>
          </ns1:p>
        </ns0:txBody>
      </ns0:sp>
      <ns0:sp>
        <ns0:nvSpPr>
          <ns0:cNvPr id="127" name="trace:D12:content.auto.113">
            <ns1:extLst>
              <ns1:ext uri="{FF2B5EF4-FFF2-40B4-BE49-F238E27FC236}">
                <ns3:creationId id="{A00DADE3-CF67-4602-B49F-C8AEC8EE2379}"/>
              </ns1:ext>
            </ns1:extLst>
          </ns0:cNvPr>
          <ns0:cNvSpPr>
            <ns1:spLocks noGrp="1"/>
          </ns0:cNvSpPr>
          <ns0:nvPr/>
        </ns0:nvSpPr>
        <ns0:spPr>
          <ns1:xfrm>
            <ns1:off x="11163300" y="5286375"/>
            <ns1:ext cx="7620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導入前</ns1:t>
            </ns1:r>
          </ns1:p>
        </ns0:txBody>
      </ns0:sp>
      <ns0:sp>
        <ns0:nvSpPr>
          <ns0:cNvPr id="128" name="trace:D12:content.auto.114">
            <ns1:extLst>
              <ns1:ext uri="{FF2B5EF4-FFF2-40B4-BE49-F238E27FC236}">
                <ns3:creationId id="{8522001A-8E84-4E68-9C24-A174D0531AF4}"/>
              </ns1:ext>
            </ns1:extLst>
          </ns0:cNvPr>
          <ns0:cNvSpPr>
            <ns1:spLocks noGrp="1"/>
          </ns0:cNvSpPr>
          <ns0:nvPr/>
        </ns0:nvSpPr>
        <ns0:spPr>
          <ns1:xfrm>
            <ns1:off x="12001500" y="5286375"/>
            <ns1:ext cx="7620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導入後</ns1:t>
            </ns1:r>
          </ns1:p>
        </ns0:txBody>
      </ns0:sp>
      <ns0:sp>
        <ns0:nvSpPr>
          <ns0:cNvPr id="129" name="trace:D12:content.auto.115">
            <ns1:extLst>
              <ns1:ext uri="{FF2B5EF4-FFF2-40B4-BE49-F238E27FC236}">
                <ns3:creationId id="{0DBC3898-54D2-488C-A929-DFE761C9B74C}"/>
              </ns1:ext>
            </ns1:extLst>
          </ns0:cNvPr>
          <ns0:cNvSpPr>
            <ns1:spLocks noGrp="1"/>
          </ns0:cNvSpPr>
          <ns0:nvPr/>
        </ns0:nvSpPr>
        <ns0:spPr>
          <ns1:xfrm>
            <ns1:off x="13735050" y="5286375"/>
            <ns1:ext cx="7620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導入前</ns1:t>
            </ns1:r>
          </ns1:p>
        </ns0:txBody>
      </ns0:sp>
      <ns0:sp>
        <ns0:nvSpPr>
          <ns0:cNvPr id="130" name="trace:D12:content.auto.116">
            <ns1:extLst>
              <ns1:ext uri="{FF2B5EF4-FFF2-40B4-BE49-F238E27FC236}">
                <ns3:creationId id="{BAA8EF2A-D3A7-4461-90EA-91D7C3FEA3BA}"/>
              </ns1:ext>
            </ns1:extLst>
          </ns0:cNvPr>
          <ns0:cNvSpPr>
            <ns1:spLocks noGrp="1"/>
          </ns0:cNvSpPr>
          <ns0:nvPr/>
        </ns0:nvSpPr>
        <ns0:spPr>
          <ns1:xfrm>
            <ns1:off x="14573250" y="5286375"/>
            <ns1:ext cx="762000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導入後</ns1:t>
            </ns1:r>
          </ns1:p>
        </ns0:txBody>
      </ns0:sp>
      <ns0:sp>
        <ns0:nvSpPr>
          <ns0:cNvPr id="131" name="trace:D12:content.auto.117">
            <ns1:extLst>
              <ns1:ext uri="{FF2B5EF4-FFF2-40B4-BE49-F238E27FC236}">
                <ns3:creationId id="{66F425CC-76BE-4742-B187-F9CB14ED48E5}"/>
              </ns1:ext>
            </ns1:extLst>
          </ns0:cNvPr>
          <ns0:cNvSpPr>
            <ns1:spLocks noGrp="1"/>
          </ns0:cNvSpPr>
          <ns0:nvPr/>
        </ns0:nvSpPr>
        <ns0:spPr>
          <ns1:xfrm>
            <ns1:off x="12058650" y="4010025"/>
            <ns1:ext cx="1066800" cy="590550"/>
          </ns1:xfrm>
          <ns1:prstGeom prst="roundRect">
            <ns1:avLst>
              <ns1:gd name="adj" fmla="val 19355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32" name="trace:D12:content.auto.118">
            <ns1:extLst>
              <ns1:ext uri="{FF2B5EF4-FFF2-40B4-BE49-F238E27FC236}">
                <ns3:creationId id="{5524B786-D8F7-4811-8D8F-4C1116B206C5}"/>
              </ns1:ext>
            </ns1:extLst>
          </ns0:cNvPr>
          <ns0:cNvSpPr>
            <ns1:spLocks noGrp="1"/>
          </ns0:cNvSpPr>
          <ns0:nvPr/>
        </ns0:nvSpPr>
        <ns0:spPr>
          <ns1:xfrm>
            <ns1:off x="12125325" y="4171950"/>
            <ns1:ext cx="9334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35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約2倍</ns1:t>
            </ns1:r>
          </ns1:p>
        </ns0:txBody>
      </ns0:sp>
      <ns0:sp>
        <ns0:nvSpPr>
          <ns0:cNvPr id="133" name="trace:D12:content.auto.119">
            <ns1:extLst>
              <ns1:ext uri="{FF2B5EF4-FFF2-40B4-BE49-F238E27FC236}">
                <ns3:creationId id="{8F5B13CF-9F56-4135-BE98-1E2BB71BB5D5}"/>
              </ns1:ext>
            </ns1:extLst>
          </ns0:cNvPr>
          <ns0:cNvSpPr>
            <ns1:spLocks noGrp="1"/>
          </ns0:cNvSpPr>
          <ns0:nvPr/>
        </ns0:nvSpPr>
        <ns0:spPr>
          <ns1:xfrm>
            <ns1:off x="14611350" y="4010025"/>
            <ns1:ext cx="1066800" cy="590550"/>
          </ns1:xfrm>
          <ns1:prstGeom prst="roundRect">
            <ns1:avLst>
              <ns1:gd name="adj" fmla="val 19355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34" name="trace:D12:content.auto.120">
            <ns1:extLst>
              <ns1:ext uri="{FF2B5EF4-FFF2-40B4-BE49-F238E27FC236}">
                <ns3:creationId id="{C271AF16-ABDB-4ABD-9F1D-EE9CED05FC1A}"/>
              </ns1:ext>
            </ns1:extLst>
          </ns0:cNvPr>
          <ns0:cNvSpPr>
            <ns1:spLocks noGrp="1"/>
          </ns0:cNvSpPr>
          <ns0:nvPr/>
        </ns0:nvSpPr>
        <ns0:spPr>
          <ns1:xfrm>
            <ns1:off x="14678025" y="4171950"/>
            <ns1:ext cx="9334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350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約2倍</ns1:t>
            </ns1:r>
          </ns1:p>
        </ns0:txBody>
      </ns0:sp>
      <ns0:sp>
        <ns0:nvSpPr>
          <ns0:cNvPr id="135" name="trace:D12:content.auto.121">
            <ns1:extLst>
              <ns1:ext uri="{FF2B5EF4-FFF2-40B4-BE49-F238E27FC236}">
                <ns3:creationId id="{2412DD10-2287-43A5-BE92-A4D91F3EDCA0}"/>
              </ns1:ext>
            </ns1:extLst>
          </ns0:cNvPr>
          <ns0:cNvSpPr>
            <ns1:spLocks noGrp="1"/>
          </ns0:cNvSpPr>
          <ns0:nvPr/>
        </ns0:nvSpPr>
        <ns0:spPr>
          <ns1:xfrm>
            <ns1:off x="11715750" y="4552950"/>
            <ns1:ext cx="466725" cy="257175"/>
          </ns1:xfrm>
          <ns1:custGeom>
            <ns1:pathLst>
              <ns1:path w="466725" h="257175">
                <ns1:moveTo>
                  <ns1:pt x="0" y="209550"/>
                </ns1:moveTo>
                <ns1:lnTo>
                  <ns1:pt x="314325" y="0"/>
                </ns1:lnTo>
                <ns1:lnTo>
                  <ns1:pt x="466725" y="19050"/>
                </ns1:lnTo>
                <ns1:lnTo>
                  <ns1:pt x="247650" y="257175"/>
                </ns1:lnTo>
                <ns1:close/>
              </ns1:path>
            </ns1:pathLst>
          </ns1:custGeom>
          <ns1:solidFill>
            <ns1:srgbClr val="F24750"/>
          </ns1:solidFill>
          <ns1:ln w="0">
            <ns1:noFill/>
            <ns1:prstDash val="solid"/>
          </ns1:ln>
        </ns0:spPr>
      </ns0:sp>
      <ns0:sp>
        <ns0:nvSpPr>
          <ns0:cNvPr id="136" name="trace:D12:content.auto.122">
            <ns1:extLst>
              <ns1:ext uri="{FF2B5EF4-FFF2-40B4-BE49-F238E27FC236}">
                <ns3:creationId id="{4EB5AEBE-DFB4-4908-9C0F-A8E9EFEE1CE7}"/>
              </ns1:ext>
            </ns1:extLst>
          </ns0:cNvPr>
          <ns0:cNvSpPr>
            <ns1:spLocks noGrp="1"/>
          </ns0:cNvSpPr>
          <ns0:nvPr/>
        </ns0:nvSpPr>
        <ns0:spPr>
          <ns1:xfrm>
            <ns1:off x="14287500" y="4619625"/>
            <ns1:ext cx="466725" cy="323850"/>
          </ns1:xfrm>
          <ns1:custGeom>
            <ns1:pathLst>
              <ns1:path w="466725" h="323850">
                <ns1:moveTo>
                  <ns1:pt x="0" y="238125"/>
                </ns1:moveTo>
                <ns1:lnTo>
                  <ns1:pt x="323850" y="0"/>
                </ns1:lnTo>
                <ns1:lnTo>
                  <ns1:pt x="466725" y="47625"/>
                </ns1:lnTo>
                <ns1:lnTo>
                  <ns1:pt x="238125" y="323850"/>
                </ns1:lnTo>
                <ns1:close/>
              </ns1:path>
            </ns1:pathLst>
          </ns1:custGeom>
          <ns1:solidFill>
            <ns1:srgbClr val="F24750"/>
          </ns1:solidFill>
          <ns1:ln w="0">
            <ns1:noFill/>
            <ns1:prstDash val="solid"/>
          </ns1:ln>
        </ns0:spPr>
      </ns0:sp>
      <ns0:sp>
        <ns0:nvSpPr>
          <ns0:cNvPr id="137" name="trace:D12:content.auto.123">
            <ns1:extLst>
              <ns1:ext uri="{FF2B5EF4-FFF2-40B4-BE49-F238E27FC236}">
                <ns3:creationId id="{40A4257A-A078-4A30-8EBB-FCC39CE9E504}"/>
              </ns1:ext>
            </ns1:extLst>
          </ns0:cNvPr>
          <ns0:cNvSpPr>
            <ns1:spLocks noGrp="1"/>
          </ns0:cNvSpPr>
          <ns0:nvPr/>
        </ns0:nvSpPr>
        <ns0:spPr>
          <ns1:xfrm>
            <ns1:off x="10610850" y="6019800"/>
            <ns1:ext cx="4743450" cy="666750"/>
          </ns1:xfrm>
          <ns1:prstGeom prst="roundRect">
            <ns1:avLst>
              <ns1:gd name="adj" fmla="val 17143"/>
            </ns1:avLst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138" name="trace:D12:content.auto.124">
            <ns1:extLst>
              <ns1:ext uri="{FF2B5EF4-FFF2-40B4-BE49-F238E27FC236}">
                <ns3:creationId id="{66379315-9623-4DC4-8747-76797D3719FC}"/>
              </ns1:ext>
            </ns1:extLst>
          </ns0:cNvPr>
          <ns0:cNvSpPr>
            <ns1:spLocks noGrp="1"/>
          </ns0:cNvSpPr>
          <ns0:nvPr/>
        </ns0:nvSpPr>
        <ns0:spPr>
          <ns1:xfrm>
            <ns1:off x="10788968" y="6571107"/>
            <ns1:ext cx="434340" cy="9525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39" name="trace:D12:content.auto.125">
            <ns1:extLst>
              <ns1:ext uri="{FF2B5EF4-FFF2-40B4-BE49-F238E27FC236}">
                <ns3:creationId id="{6D39B6BC-CF47-42D0-BB15-D254C07B14CC}"/>
              </ns1:ext>
            </ns1:extLst>
          </ns0:cNvPr>
          <ns0:cNvSpPr>
            <ns1:spLocks noGrp="1"/>
          </ns0:cNvSpPr>
          <ns0:nvPr/>
        </ns0:nvSpPr>
        <ns0:spPr>
          <ns1:xfrm>
            <ns1:off x="10821543" y="6191060"/>
            <ns1:ext cx="9525" cy="380047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40" name="trace:D12:content.auto.126">
            <ns1:extLst>
              <ns1:ext uri="{FF2B5EF4-FFF2-40B4-BE49-F238E27FC236}">
                <ns3:creationId id="{3E60116C-FF39-4BDD-9EB5-038FD421CBFC}"/>
              </ns1:ext>
            </ns1:extLst>
          </ns0:cNvPr>
          <ns0:cNvSpPr>
            <ns1:spLocks noGrp="1"/>
          </ns0:cNvSpPr>
          <ns0:nvPr/>
        </ns0:nvSpPr>
        <ns0:spPr>
          <ns1:xfrm>
            <ns1:off x="10886694" y="6413659"/>
            <ns1:ext cx="65151" cy="157448"/>
          </ns1:xfrm>
          <ns1:prstGeom prst="rect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41" name="trace:D12:content.auto.127">
            <ns1:extLst>
              <ns1:ext uri="{FF2B5EF4-FFF2-40B4-BE49-F238E27FC236}">
                <ns3:creationId id="{8189A5EE-D26D-48AE-8079-2FA1A8CE2EBA}"/>
              </ns1:ext>
            </ns1:extLst>
          </ns0:cNvPr>
          <ns0:cNvSpPr>
            <ns1:spLocks noGrp="1"/>
          </ns0:cNvSpPr>
          <ns0:nvPr/>
        </ns0:nvSpPr>
        <ns0:spPr>
          <ns1:xfrm>
            <ns1:off x="10984421" y="6326791"/>
            <ns1:ext cx="65151" cy="244316"/>
          </ns1:xfrm>
          <ns1:prstGeom prst="rect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42" name="trace:D12:content.auto.128">
            <ns1:extLst>
              <ns1:ext uri="{FF2B5EF4-FFF2-40B4-BE49-F238E27FC236}">
                <ns3:creationId id="{4332BDE4-F218-4262-B8AB-42B06AAAF3AD}"/>
              </ns1:ext>
            </ns1:extLst>
          </ns0:cNvPr>
          <ns0:cNvSpPr>
            <ns1:spLocks noGrp="1"/>
          </ns0:cNvSpPr>
          <ns0:nvPr/>
        </ns0:nvSpPr>
        <ns0:spPr>
          <ns1:xfrm>
            <ns1:off x="11082147" y="6234494"/>
            <ns1:ext cx="65151" cy="336613"/>
          </ns1:xfrm>
          <ns1:prstGeom prst="rect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43" name="trace:D12:content.auto.129">
            <ns1:extLst>
              <ns1:ext uri="{FF2B5EF4-FFF2-40B4-BE49-F238E27FC236}">
                <ns3:creationId id="{F9F8A8EE-C250-443C-8FFB-AB939119371D}"/>
              </ns1:ext>
            </ns1:extLst>
          </ns0:cNvPr>
          <ns0:cNvSpPr>
            <ns1:spLocks noGrp="1"/>
          </ns0:cNvSpPr>
          <ns0:nvPr/>
        </ns0:nvSpPr>
        <ns0:spPr>
          <ns1:xfrm>
            <ns1:off x="10886694" y="6147626"/>
            <ns1:ext cx="304038" cy="157448"/>
          </ns1:xfrm>
          <ns1:custGeom>
            <ns1:pathLst>
              <ns1:path w="304038" h="157448">
                <ns1:moveTo>
                  <ns1:pt x="0" y="157448"/>
                </ns1:moveTo>
                <ns1:lnTo>
                  <ns1:pt x="92297" y="103156"/>
                </ns1:lnTo>
                <ns1:lnTo>
                  <ns1:pt x="173736" y="59722"/>
                </ns1:lnTo>
                <ns1:lnTo>
                  <ns1:pt x="304038" y="0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44" name="trace:D12:content.auto.130">
            <ns1:extLst>
              <ns1:ext uri="{FF2B5EF4-FFF2-40B4-BE49-F238E27FC236}">
                <ns3:creationId id="{8A764E83-804E-43CB-8A70-F3599B8CEC7F}"/>
              </ns1:ext>
            </ns1:extLst>
          </ns0:cNvPr>
          <ns0:cNvSpPr>
            <ns1:spLocks noGrp="1"/>
          </ns0:cNvSpPr>
          <ns0:nvPr/>
        </ns0:nvSpPr>
        <ns0:spPr>
          <ns1:xfrm>
            <ns1:off x="11553825" y="6124575"/>
            <ns1:ext cx="3667125" cy="4381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提案数の増加 × 受注率の向上で</ns1:t>
            </ns1:r>
          </ns1:p>
          <ns1:p>
            <ns1:pPr algn="l">
              <ns1:defRPr sz="13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事業の持続的な成長を実現</ns1:t>
            </ns1:r>
          </ns1:p>
        </ns0:txBody>
      </ns0:sp>
      <ns0:sp>
        <ns0:nvSpPr>
          <ns0:cNvPr id="145" name="trace:D12:content.auto.131">
            <ns1:extLst>
              <ns1:ext uri="{FF2B5EF4-FFF2-40B4-BE49-F238E27FC236}">
                <ns3:creationId id="{BA18E038-76DB-4478-8B70-1720D20E2913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7067550"/>
            <ns1:ext cx="200025" cy="9525"/>
          </ns1:xfrm>
          <ns1:prstGeom prst="line">
            <ns1:avLst/>
          </ns1:prstGeom>
          <ns1:noFill/>
          <ns1:ln w="47625">
            <ns1:solidFill>
              <ns1:srgbClr val="E71926"/>
            </ns1:solidFill>
            <ns1:prstDash val="solid"/>
          </ns1:ln>
        </ns0:spPr>
      </ns0:sp>
      <ns0:sp>
        <ns0:nvSpPr>
          <ns0:cNvPr id="146" name="trace:D12:content.auto.132">
            <ns1:extLst>
              <ns1:ext uri="{FF2B5EF4-FFF2-40B4-BE49-F238E27FC236}">
                <ns3:creationId id="{9F12634B-0DE8-405B-875E-82E2F4D09D81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6962775"/>
            <ns1:ext cx="285750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投資回収期間（目安）</ns1:t>
            </ns1:r>
          </ns1:p>
        </ns0:txBody>
      </ns0:sp>
      <ns0:sp>
        <ns0:nvSpPr>
          <ns0:cNvPr id="147" name="trace:D12:content.auto.133">
            <ns1:extLst>
              <ns1:ext uri="{FF2B5EF4-FFF2-40B4-BE49-F238E27FC236}">
                <ns3:creationId id="{2248845B-5630-4052-903B-F2B7EB35FF03}"/>
              </ns1:ext>
            </ns1:extLst>
          </ns0:cNvPr>
          <ns0:cNvSpPr>
            <ns1:spLocks noGrp="1"/>
          </ns0:cNvSpPr>
          <ns0:nvPr/>
        </ns0:nvSpPr>
        <ns0:spPr>
          <ns1:xfrm>
            <ns1:off x="333375" y="7229475"/>
            <ns1:ext cx="4762500" cy="952500"/>
          </ns1:xfrm>
          <ns1:custGeom>
            <ns1:pathLst>
              <ns1:path w="4762500" h="952500">
                <ns1:moveTo>
                  <ns1:pt x="0" y="0"/>
                </ns1:moveTo>
                <ns1:lnTo>
                  <ns1:pt x="4495800" y="0"/>
                </ns1:lnTo>
                <ns1:lnTo>
                  <ns1:pt x="4762500" y="476250"/>
                </ns1:lnTo>
                <ns1:lnTo>
                  <ns1:pt x="4495800" y="952500"/>
                </ns1:lnTo>
                <ns1:lnTo>
                  <ns1:pt x="0" y="952500"/>
                </ns1:lnTo>
                <ns1:lnTo>
                  <ns1:pt x="266700" y="476250"/>
                </ns1:lnTo>
                <ns1:close/>
              </ns1:path>
            </ns1:pathLst>
          </ns1:custGeom>
          <ns1:solidFill>
            <ns1:srgbClr val="EEF4FA"/>
          </ns1:solidFill>
          <ns1:ln w="0">
            <ns1:noFill/>
            <ns1:prstDash val="solid"/>
          </ns1:ln>
        </ns0:spPr>
      </ns0:sp>
      <ns0:sp>
        <ns0:nvSpPr>
          <ns0:cNvPr id="148" name="trace:D12:content.auto.134">
            <ns1:extLst>
              <ns1:ext uri="{FF2B5EF4-FFF2-40B4-BE49-F238E27FC236}">
                <ns3:creationId id="{351AFCAD-70D9-4949-B7E6-9E0857990EB6}"/>
              </ns1:ext>
            </ns1:extLst>
          </ns0:cNvPr>
          <ns0:cNvSpPr>
            <ns1:spLocks noGrp="1"/>
          </ns0:cNvSpPr>
          <ns0:nvPr/>
        </ns0:nvSpPr>
        <ns0:spPr>
          <ns1:xfrm>
            <ns1:off x="954786" y="7552944"/>
            <ns1:ext cx="414528" cy="388620"/>
          </ns1:xfrm>
          <ns1:custGeom>
            <ns1:pathLst>
              <ns1:path w="414528" h="388620">
                <ns1:moveTo>
                  <ns1:pt x="90678" y="0"/>
                </ns1:moveTo>
                <ns1:lnTo>
                  <ns1:pt x="323850" y="0"/>
                </ns1:lnTo>
                <ns1:lnTo>
                  <ns1:pt x="414528" y="388620"/>
                </ns1:lnTo>
                <ns1:lnTo>
                  <ns1:pt x="0" y="388620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49" name="trace:D12:content.auto.135">
            <ns1:extLst>
              <ns1:ext uri="{FF2B5EF4-FFF2-40B4-BE49-F238E27FC236}">
                <ns3:creationId id="{E5E26CB4-2260-48E6-90B6-DA74F9C66C3B}"/>
              </ns1:ext>
            </ns1:extLst>
          </ns0:cNvPr>
          <ns0:cNvSpPr>
            <ns1:spLocks noGrp="1"/>
          </ns0:cNvSpPr>
          <ns0:nvPr/>
        </ns0:nvSpPr>
        <ns0:spPr>
          <ns1:xfrm>
            <ns1:off x="1077849" y="7462266"/>
            <ns1:ext cx="168402" cy="90678"/>
          </ns1:xfrm>
          <ns1:custGeom>
            <ns1:pathLst>
              <ns1:path w="168402" h="90678">
                <ns1:moveTo>
                  <ns1:pt x="0" y="90678"/>
                </ns1:moveTo>
                <ns1:lnTo>
                  <ns1:pt x="32385" y="0"/>
                </ns1:lnTo>
                <ns1:lnTo>
                  <ns1:pt x="136017" y="0"/>
                </ns1:lnTo>
                <ns1:lnTo>
                  <ns1:pt x="168402" y="90678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50" name="trace:D12:content.auto.136">
            <ns1:extLst>
              <ns1:ext uri="{FF2B5EF4-FFF2-40B4-BE49-F238E27FC236}">
                <ns3:creationId id="{3CB50291-C6CE-4440-AA3B-65C0582E55D1}"/>
              </ns1:ext>
            </ns1:extLst>
          </ns0:cNvPr>
          <ns0:cNvSpPr>
            <ns1:spLocks noGrp="1"/>
          </ns0:cNvSpPr>
          <ns0:nvPr/>
        </ns0:nvSpPr>
        <ns0:spPr>
          <ns1:xfrm>
            <ns1:off x="1051941" y="7643622"/>
            <ns1:ext cx="220218" cy="181356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87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87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¥</ns1:t>
            </ns1:r>
          </ns1:p>
        </ns0:txBody>
      </ns0:sp>
      <ns0:sp>
        <ns0:nvSpPr>
          <ns0:cNvPr id="151" name="trace:D12:content.auto.137">
            <ns1:extLst>
              <ns1:ext uri="{FF2B5EF4-FFF2-40B4-BE49-F238E27FC236}">
                <ns3:creationId id="{EA53C5FD-4EF1-48E1-AF84-3F6A7A9B6363}"/>
              </ns1:ext>
            </ns1:extLst>
          </ns0:cNvPr>
          <ns0:cNvSpPr>
            <ns1:spLocks noGrp="1"/>
          </ns0:cNvSpPr>
          <ns0:nvPr/>
        </ns0:nvSpPr>
        <ns0:spPr>
          <ns1:xfrm>
            <ns1:off x="1819275" y="7391400"/>
            <ns1:ext cx="30480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初期費用 + 年間運用費</ns1:t>
            </ns1:r>
          </ns1:p>
        </ns0:txBody>
      </ns0:sp>
      <ns0:sp>
        <ns0:nvSpPr>
          <ns0:cNvPr id="152" name="trace:D12:content.auto.138">
            <ns1:extLst>
              <ns1:ext uri="{FF2B5EF4-FFF2-40B4-BE49-F238E27FC236}">
                <ns3:creationId id="{21AD582D-AADD-4978-B0CB-977E30D4F712}"/>
              </ns1:ext>
            </ns1:extLst>
          </ns0:cNvPr>
          <ns0:cNvSpPr>
            <ns1:spLocks noGrp="1"/>
          </ns0:cNvSpPr>
          <ns0:nvPr/>
        </ns0:nvSpPr>
        <ns0:spPr>
          <ns1:xfrm>
            <ns1:off x="1819275" y="7667625"/>
            <ns1:ext cx="30480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8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8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約300万円</ns1:t>
            </ns1:r>
          </ns1:p>
        </ns0:txBody>
      </ns0:sp>
      <ns0:sp>
        <ns0:nvSpPr>
          <ns0:cNvPr id="153" name="trace:D12:content.auto.139">
            <ns1:extLst>
              <ns1:ext uri="{FF2B5EF4-FFF2-40B4-BE49-F238E27FC236}">
                <ns3:creationId id="{7CD2829C-2115-4FFD-A108-A19D591A6FBA}"/>
              </ns1:ext>
            </ns1:extLst>
          </ns0:cNvPr>
          <ns0:cNvSpPr>
            <ns1:spLocks noGrp="1"/>
          </ns0:cNvSpPr>
          <ns0:nvPr/>
        </ns0:nvSpPr>
        <ns0:spPr>
          <ns1:xfrm>
            <ns1:off x="4886325" y="7229475"/>
            <ns1:ext cx="4762500" cy="952500"/>
          </ns1:xfrm>
          <ns1:custGeom>
            <ns1:pathLst>
              <ns1:path w="4762500" h="952500">
                <ns1:moveTo>
                  <ns1:pt x="0" y="0"/>
                </ns1:moveTo>
                <ns1:lnTo>
                  <ns1:pt x="4495800" y="0"/>
                </ns1:lnTo>
                <ns1:lnTo>
                  <ns1:pt x="4762500" y="476250"/>
                </ns1:lnTo>
                <ns1:lnTo>
                  <ns1:pt x="4495800" y="952500"/>
                </ns1:lnTo>
                <ns1:lnTo>
                  <ns1:pt x="0" y="952500"/>
                </ns1:lnTo>
                <ns1:lnTo>
                  <ns1:pt x="266700" y="476250"/>
                </ns1:lnTo>
                <ns1:close/>
              </ns1:path>
            </ns1:pathLst>
          </ns1:custGeom>
          <ns1:solidFill>
            <ns1:srgbClr val="EEF4FA"/>
          </ns1:solidFill>
          <ns1:ln w="0">
            <ns1:noFill/>
            <ns1:prstDash val="solid"/>
          </ns1:ln>
        </ns0:spPr>
      </ns0:sp>
      <ns0:sp>
        <ns0:nvSpPr>
          <ns0:cNvPr id="154" name="trace:D12:content.auto.140">
            <ns1:extLst>
              <ns1:ext uri="{FF2B5EF4-FFF2-40B4-BE49-F238E27FC236}">
                <ns3:creationId id="{B767F641-C6CA-470B-B2F5-1C648313B1A6}"/>
              </ns1:ext>
            </ns1:extLst>
          </ns0:cNvPr>
          <ns0:cNvSpPr>
            <ns1:spLocks noGrp="1"/>
          </ns0:cNvSpPr>
          <ns0:nvPr/>
        </ns0:nvSpPr>
        <ns0:spPr>
          <ns1:xfrm>
            <ns1:off x="5526405" y="7562469"/>
            <ns1:ext cx="453390" cy="375666"/>
          </ns1:xfrm>
          <ns1:prstGeom prst="rect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55" name="trace:D12:content.auto.141">
            <ns1:extLst>
              <ns1:ext uri="{FF2B5EF4-FFF2-40B4-BE49-F238E27FC236}">
                <ns3:creationId id="{C8176D54-979B-49E9-8BC2-F6DAF54B78DC}"/>
              </ns1:ext>
            </ns1:extLst>
          </ns0:cNvPr>
          <ns0:cNvSpPr>
            <ns1:spLocks noGrp="1"/>
          </ns0:cNvSpPr>
          <ns0:nvPr/>
        </ns0:nvSpPr>
        <ns0:spPr>
          <ns1:xfrm>
            <ns1:off x="5526405" y="7672578"/>
            <ns1:ext cx="453390" cy="9525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56" name="trace:D12:content.auto.142">
            <ns1:extLst>
              <ns1:ext uri="{FF2B5EF4-FFF2-40B4-BE49-F238E27FC236}">
                <ns3:creationId id="{2A72F4B8-AA05-4900-9541-2234184EACF2}"/>
              </ns1:ext>
            </ns1:extLst>
          </ns0:cNvPr>
          <ns0:cNvSpPr>
            <ns1:spLocks noGrp="1"/>
          </ns0:cNvSpPr>
          <ns0:nvPr/>
        </ns0:nvSpPr>
        <ns0:spPr>
          <ns1:xfrm>
            <ns1:off x="5636514" y="7484745"/>
            <ns1:ext cx="9525" cy="136017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57" name="trace:D12:content.auto.143">
            <ns1:extLst>
              <ns1:ext uri="{FF2B5EF4-FFF2-40B4-BE49-F238E27FC236}">
                <ns3:creationId id="{BCC4BEE7-DB13-4097-ADFB-BE5F7B0F3604}"/>
              </ns1:ext>
            </ns1:extLst>
          </ns0:cNvPr>
          <ns0:cNvSpPr>
            <ns1:spLocks noGrp="1"/>
          </ns0:cNvSpPr>
          <ns0:nvPr/>
        </ns0:nvSpPr>
        <ns0:spPr>
          <ns1:xfrm>
            <ns1:off x="5869686" y="7484745"/>
            <ns1:ext cx="9525" cy="136017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58" name="trace:D12:content.auto.144">
            <ns1:extLst>
              <ns1:ext uri="{FF2B5EF4-FFF2-40B4-BE49-F238E27FC236}">
                <ns3:creationId id="{A74F4B49-E94B-4FC1-ADDC-16C3FF692EA3}"/>
              </ns1:ext>
            </ns1:extLst>
          </ns0:cNvPr>
          <ns0:cNvSpPr>
            <ns1:spLocks noGrp="1"/>
          </ns0:cNvSpPr>
          <ns0:nvPr/>
        </ns0:nvSpPr>
        <ns0:spPr>
          <ns1:xfrm>
            <ns1:off x="6372225" y="7391400"/>
            <ns1:ext cx="30480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投資回収期間</ns1:t>
            </ns1:r>
          </ns1:p>
        </ns0:txBody>
      </ns0:sp>
      <ns0:sp>
        <ns0:nvSpPr>
          <ns0:cNvPr id="159" name="trace:D12:content.auto.145">
            <ns1:extLst>
              <ns1:ext uri="{FF2B5EF4-FFF2-40B4-BE49-F238E27FC236}">
                <ns3:creationId id="{4F822FF8-1CE2-434E-B157-35CF051B3091}"/>
              </ns1:ext>
            </ns1:extLst>
          </ns0:cNvPr>
          <ns0:cNvSpPr>
            <ns1:spLocks noGrp="1"/>
          </ns0:cNvSpPr>
          <ns0:nvPr/>
        </ns0:nvSpPr>
        <ns0:spPr>
          <ns1:xfrm>
            <ns1:off x="6372225" y="7667625"/>
            <ns1:ext cx="30480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8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8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約8ヶ月</ns1:t>
            </ns1:r>
          </ns1:p>
        </ns0:txBody>
      </ns0:sp>
      <ns0:sp>
        <ns0:nvSpPr>
          <ns0:cNvPr id="160" name="trace:D12:content.auto.146">
            <ns1:extLst>
              <ns1:ext uri="{FF2B5EF4-FFF2-40B4-BE49-F238E27FC236}">
                <ns3:creationId id="{15BE28BB-55C5-46E7-B02D-F4FED6AB10C2}"/>
              </ns1:ext>
            </ns1:extLst>
          </ns0:cNvPr>
          <ns0:cNvSpPr>
            <ns1:spLocks noGrp="1"/>
          </ns0:cNvSpPr>
          <ns0:nvPr/>
        </ns0:nvSpPr>
        <ns0:spPr>
          <ns1:xfrm>
            <ns1:off x="6372225" y="7981950"/>
            <ns1:ext cx="28575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975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975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（年間コスト削減 480万円 ÷ 12ヶ月）</ns1:t>
            </ns1:r>
          </ns1:p>
        </ns0:txBody>
      </ns0:sp>
      <ns0:sp>
        <ns0:nvSpPr>
          <ns0:cNvPr id="161" name="trace:D12:content.auto.147">
            <ns1:extLst>
              <ns1:ext uri="{FF2B5EF4-FFF2-40B4-BE49-F238E27FC236}">
                <ns3:creationId id="{BF68DF37-8634-4D56-98D3-09C9BD68BCBD}"/>
              </ns1:ext>
            </ns1:extLst>
          </ns0:cNvPr>
          <ns0:cNvSpPr>
            <ns1:spLocks noGrp="1"/>
          </ns0:cNvSpPr>
          <ns0:nvPr/>
        </ns0:nvSpPr>
        <ns0:spPr>
          <ns1:xfrm>
            <ns1:off x="9296400" y="7229475"/>
            <ns1:ext cx="6286500" cy="952500"/>
          </ns1:xfrm>
          <ns1:custGeom>
            <ns1:pathLst>
              <ns1:path w="6286500" h="952500">
                <ns1:moveTo>
                  <ns1:pt x="0" y="0"/>
                </ns1:moveTo>
                <ns1:lnTo>
                  <ns1:pt x="6019800" y="0"/>
                </ns1:lnTo>
                <ns1:lnTo>
                  <ns1:pt x="6286500" y="476250"/>
                </ns1:lnTo>
                <ns1:lnTo>
                  <ns1:pt x="6019800" y="952500"/>
                </ns1:lnTo>
                <ns1:lnTo>
                  <ns1:pt x="0" y="952500"/>
                </ns1:lnTo>
                <ns1:lnTo>
                  <ns1:pt x="266700" y="476250"/>
                </ns1:lnTo>
                <ns1:close/>
              </ns1:path>
            </ns1:pathLst>
          </ns1:cu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162" name="trace:D12:content.auto.148">
            <ns1:extLst>
              <ns1:ext uri="{FF2B5EF4-FFF2-40B4-BE49-F238E27FC236}">
                <ns3:creationId id="{5B6A28BE-A106-4EFD-A2A7-E58483720CB5}"/>
              </ns1:ext>
            </ns1:extLst>
          </ns0:cNvPr>
          <ns0:cNvSpPr>
            <ns1:spLocks noGrp="1"/>
          </ns0:cNvSpPr>
          <ns0:nvPr/>
        </ns0:nvSpPr>
        <ns0:spPr>
          <ns1:xfrm>
            <ns1:off x="10007346" y="7473696"/>
            <ns1:ext cx="521208" cy="521208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63" name="trace:D12:content.auto.149">
            <ns1:extLst>
              <ns1:ext uri="{FF2B5EF4-FFF2-40B4-BE49-F238E27FC236}">
                <ns3:creationId id="{2B6BCC64-CDF6-4940-B99B-415F208CEFCA}"/>
              </ns1:ext>
            </ns1:extLst>
          </ns0:cNvPr>
          <ns0:cNvSpPr>
            <ns1:spLocks noGrp="1"/>
          </ns0:cNvSpPr>
          <ns0:nvPr/>
        </ns0:nvSpPr>
        <ns0:spPr>
          <ns1:xfrm>
            <ns1:off x="10123932" y="7590282"/>
            <ns1:ext cx="288036" cy="288036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64" name="trace:D12:content.auto.150">
            <ns1:extLst>
              <ns1:ext uri="{FF2B5EF4-FFF2-40B4-BE49-F238E27FC236}">
                <ns3:creationId id="{E8B4DA18-2DD2-479F-825C-8D7138F2D833}"/>
              </ns1:ext>
            </ns1:extLst>
          </ns0:cNvPr>
          <ns0:cNvSpPr>
            <ns1:spLocks noGrp="1"/>
          </ns0:cNvSpPr>
          <ns0:nvPr/>
        </ns0:nvSpPr>
        <ns0:spPr>
          <ns1:xfrm>
            <ns1:off x="10226802" y="7693152"/>
            <ns1:ext cx="82296" cy="82296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65" name="trace:D12:content.auto.151">
            <ns1:extLst>
              <ns1:ext uri="{FF2B5EF4-FFF2-40B4-BE49-F238E27FC236}">
                <ns3:creationId id="{35E14306-A3E7-472F-A44B-70D31EF953EA}"/>
              </ns1:ext>
            </ns1:extLst>
          </ns0:cNvPr>
          <ns0:cNvSpPr>
            <ns1:spLocks noGrp="1"/>
          </ns0:cNvSpPr>
          <ns0:nvPr/>
        </ns0:nvSpPr>
        <ns0:spPr>
          <ns1:xfrm>
            <ns1:off x="10363962" y="7473696"/>
            <ns1:ext cx="192024" cy="130302"/>
          </ns1:xfrm>
          <ns1:custGeom>
            <ns1:pathLst>
              <ns1:path w="192024" h="130302">
                <ns1:moveTo>
                  <ns1:pt x="0" y="0"/>
                </ns1:moveTo>
                <ns1:lnTo>
                  <ns1:pt x="192024" y="0"/>
                </ns1:lnTo>
                <ns1:lnTo>
                  <ns1:pt x="137160" y="130302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66" name="trace:D12:content.auto.152">
            <ns1:extLst>
              <ns1:ext uri="{FF2B5EF4-FFF2-40B4-BE49-F238E27FC236}">
                <ns3:creationId id="{5FB2054F-82C4-4762-BB84-D16025344E6B}"/>
              </ns1:ext>
            </ns1:extLst>
          </ns0:cNvPr>
          <ns0:cNvSpPr>
            <ns1:spLocks noGrp="1"/>
          </ns0:cNvSpPr>
          <ns0:nvPr/>
        </ns0:nvSpPr>
        <ns0:spPr>
          <ns1:xfrm>
            <ns1:off x="10384536" y="7473696"/>
            <ns1:ext cx="171450" cy="164592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67" name="trace:D12:content.auto.153">
            <ns1:extLst>
              <ns1:ext uri="{FF2B5EF4-FFF2-40B4-BE49-F238E27FC236}">
                <ns3:creationId id="{7893A6FE-88E0-4E75-88A1-78BB628E11F1}"/>
              </ns1:ext>
            </ns1:extLst>
          </ns0:cNvPr>
          <ns0:cNvSpPr>
            <ns1:spLocks noGrp="1"/>
          </ns0:cNvSpPr>
          <ns0:nvPr/>
        </ns0:nvSpPr>
        <ns0:spPr>
          <ns1:xfrm>
            <ns1:off x="10782300" y="7391400"/>
            <ns1:ext cx="314325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35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35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3年間の累計効果（試算）</ns1:t>
            </ns1:r>
          </ns1:p>
        </ns0:txBody>
      </ns0:sp>
      <ns0:sp>
        <ns0:nvSpPr>
          <ns0:cNvPr id="168" name="trace:D12:content.auto.154">
            <ns1:extLst>
              <ns1:ext uri="{FF2B5EF4-FFF2-40B4-BE49-F238E27FC236}">
                <ns3:creationId id="{EF9CB11C-2512-4446-BA52-BE6AB56AF1AB}"/>
              </ns1:ext>
            </ns1:extLst>
          </ns0:cNvPr>
          <ns0:cNvSpPr>
            <ns1:spLocks noGrp="1"/>
          </ns0:cNvSpPr>
          <ns0:nvPr/>
        </ns0:nvSpPr>
        <ns0:spPr>
          <ns1:xfrm>
            <ns1:off x="10782300" y="7667625"/>
            <ns1:ext cx="40957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65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約1,140万円のプラス効果</ns1:t>
            </ns1:r>
          </ns1:p>
        </ns0:txBody>
      </ns0:sp>
      <ns0:sp>
        <ns0:nvSpPr>
          <ns0:cNvPr id="169" name="trace:D12:content.auto.155">
            <ns1:extLst>
              <ns1:ext uri="{FF2B5EF4-FFF2-40B4-BE49-F238E27FC236}">
                <ns3:creationId id="{D4E7BDC0-34FF-4E82-AA20-E69880D01E94}"/>
              </ns1:ext>
            </ns1:extLst>
          </ns0:cNvPr>
          <ns0:cNvSpPr>
            <ns1:spLocks noGrp="1"/>
          </ns0:cNvSpPr>
          <ns0:nvPr/>
        </ns0:nvSpPr>
        <ns0:spPr>
          <ns1:xfrm>
            <ns1:off x="10782300" y="7981950"/>
            <ns1:ext cx="31432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975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975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（コスト削減 + 売上増による利益増）</ns1:t>
            </ns1:r>
          </ns1:p>
        </ns0:txBody>
      </ns0:sp>
      <ns0:sp>
        <ns0:nvSpPr>
          <ns0:cNvPr id="170" name="trace:D12:content.auto.156">
            <ns1:extLst>
              <ns1:ext uri="{FF2B5EF4-FFF2-40B4-BE49-F238E27FC236}">
                <ns3:creationId id="{59B75FFB-D31F-4397-9840-31263F8C2C19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8343900"/>
            <ns1:ext cx="262414" cy="135731"/>
          </ns1:xfrm>
          <ns1:custGeom>
            <ns1:pathLst>
              <ns1:path w="262414" h="135731">
                <ns1:moveTo>
                  <ns1:pt x="0" y="63341"/>
                </ns1:moveTo>
                <ns1:lnTo>
                  <ns1:pt x="126682" y="0"/>
                </ns1:lnTo>
                <ns1:lnTo>
                  <ns1:pt x="262414" y="72390"/>
                </ns1:lnTo>
                <ns1:lnTo>
                  <ns1:pt x="135731" y="135731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71" name="trace:D12:content.auto.157">
            <ns1:extLst>
              <ns1:ext uri="{FF2B5EF4-FFF2-40B4-BE49-F238E27FC236}">
                <ns3:creationId id="{30C4A6C9-D4B0-493D-A74E-21889543D502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8407241"/>
            <ns1:ext cx="135731" cy="153829"/>
          </ns1:xfrm>
          <ns1:custGeom>
            <ns1:pathLst>
              <ns1:path w="135731" h="153829">
                <ns1:moveTo>
                  <ns1:pt x="0" y="0"/>
                </ns1:moveTo>
                <ns1:lnTo>
                  <ns1:pt x="135731" y="72390"/>
                </ns1:lnTo>
                <ns1:lnTo>
                  <ns1:pt x="135731" y="153829"/>
                </ns1:lnTo>
                <ns1:lnTo>
                  <ns1:pt x="0" y="81439"/>
                </ns1:lnTo>
                <ns1:close/>
              </ns1:path>
            </ns1:pathLst>
          </ns1:custGeom>
          <ns1:solidFill>
            <ns1:srgbClr val="7B8189"/>
          </ns1:solidFill>
          <ns1:ln w="0">
            <ns1:noFill/>
            <ns1:prstDash val="solid"/>
          </ns1:ln>
        </ns0:spPr>
      </ns0:sp>
      <ns0:sp>
        <ns0:nvSpPr>
          <ns0:cNvPr id="172" name="trace:D12:content.auto.158">
            <ns1:extLst>
              <ns1:ext uri="{FF2B5EF4-FFF2-40B4-BE49-F238E27FC236}">
                <ns3:creationId id="{F05E54A3-3A27-4B34-BA3C-4E3CF670EB2C}"/>
              </ns1:ext>
            </ns1:extLst>
          </ns0:cNvPr>
          <ns0:cNvSpPr>
            <ns1:spLocks noGrp="1"/>
          </ns0:cNvSpPr>
          <ns0:nvPr/>
        </ns0:nvSpPr>
        <ns0:spPr>
          <ns1:xfrm>
            <ns1:off x="659606" y="8416290"/>
            <ns1:ext cx="126682" cy="144780"/>
          </ns1:xfrm>
          <ns1:custGeom>
            <ns1:pathLst>
              <ns1:path w="126682" h="144780">
                <ns1:moveTo>
                  <ns1:pt x="0" y="63341"/>
                </ns1:moveTo>
                <ns1:lnTo>
                  <ns1:pt x="126682" y="0"/>
                </ns1:lnTo>
                <ns1:lnTo>
                  <ns1:pt x="126682" y="72390"/>
                </ns1:lnTo>
                <ns1:lnTo>
                  <ns1:pt x="0" y="144780"/>
                </ns1:lnTo>
                <ns1:close/>
              </ns1:path>
            </ns1:pathLst>
          </ns1:custGeom>
          <ns1:solidFill>
            <ns1:srgbClr val="101D28"/>
          </ns1:solidFill>
          <ns1:ln w="0">
            <ns1:noFill/>
            <ns1:prstDash val="solid"/>
          </ns1:ln>
        </ns0:spPr>
      </ns0:sp>
      <ns0:sp>
        <ns0:nvSpPr>
          <ns0:cNvPr id="173" name="trace:D12:content.auto.159">
            <ns1:extLst>
              <ns1:ext uri="{FF2B5EF4-FFF2-40B4-BE49-F238E27FC236}">
                <ns3:creationId id="{441881E4-32BB-4237-A8CC-3A54841BFD58}"/>
              </ns1:ext>
            </ns1:extLst>
          </ns0:cNvPr>
          <ns0:cNvSpPr>
            <ns1:spLocks noGrp="1"/>
          </ns0:cNvSpPr>
          <ns0:nvPr/>
        </ns0:nvSpPr>
        <ns0:spPr>
          <ns1:xfrm>
            <ns1:off x="523875" y="8488680"/>
            <ns1:ext cx="135731" cy="162877"/>
          </ns1:xfrm>
          <ns1:custGeom>
            <ns1:pathLst>
              <ns1:path w="135731" h="162877">
                <ns1:moveTo>
                  <ns1:pt x="0" y="0"/>
                </ns1:moveTo>
                <ns1:lnTo>
                  <ns1:pt x="135731" y="72390"/>
                </ns1:lnTo>
                <ns1:lnTo>
                  <ns1:pt x="135731" y="162877"/>
                </ns1:lnTo>
                <ns1:lnTo>
                  <ns1:pt x="0" y="90488"/>
                </ns1:lnTo>
                <ns1:close/>
              </ns1:path>
            </ns1:pathLst>
          </ns1:custGeom>
          <ns1:solidFill>
            <ns1:srgbClr val="C90817"/>
          </ns1:solidFill>
          <ns1:ln w="0">
            <ns1:noFill/>
            <ns1:prstDash val="solid"/>
          </ns1:ln>
        </ns0:spPr>
      </ns0:sp>
      <ns0:sp>
        <ns0:nvSpPr>
          <ns0:cNvPr id="174" name="trace:D12:content.auto.160">
            <ns1:extLst>
              <ns1:ext uri="{FF2B5EF4-FFF2-40B4-BE49-F238E27FC236}">
                <ns3:creationId id="{8CDAF84D-2EB9-4816-9E4B-01B7A1978E5C}"/>
              </ns1:ext>
            </ns1:extLst>
          </ns0:cNvPr>
          <ns0:cNvSpPr>
            <ns1:spLocks noGrp="1"/>
          </ns0:cNvSpPr>
          <ns0:nvPr/>
        </ns0:nvSpPr>
        <ns0:spPr>
          <ns1:xfrm>
            <ns1:off x="659606" y="8488680"/>
            <ns1:ext cx="126682" cy="162877"/>
          </ns1:xfrm>
          <ns1:custGeom>
            <ns1:pathLst>
              <ns1:path w="126682" h="162877">
                <ns1:moveTo>
                  <ns1:pt x="0" y="72390"/>
                </ns1:moveTo>
                <ns1:lnTo>
                  <ns1:pt x="126682" y="0"/>
                </ns1:lnTo>
                <ns1:lnTo>
                  <ns1:pt x="126682" y="90488"/>
                </ns1:lnTo>
                <ns1:lnTo>
                  <ns1:pt x="0" y="162877"/>
                </ns1:lnTo>
                <ns1:close/>
              </ns1:path>
            </ns1:pathLst>
          </ns1:custGeom>
          <ns1:solidFill>
            <ns1:srgbClr val="101D28"/>
          </ns1:solidFill>
          <ns1:ln w="0">
            <ns1:noFill/>
            <ns1:prstDash val="solid"/>
          </ns1:ln>
        </ns0:spPr>
      </ns0:sp>
      <ns0:sp>
        <ns0:nvSpPr>
          <ns0:cNvPr id="175" name="trace:D12:footer.brand">
            <ns1:extLst>
              <ns1:ext uri="{FF2B5EF4-FFF2-40B4-BE49-F238E27FC236}">
                <ns3:creationId id="{048A1CD4-135C-45D7-A99B-064454477E91}"/>
              </ns1:ext>
            </ns1:extLst>
          </ns0:cNvPr>
          <ns0:cNvSpPr>
            <ns1:spLocks noGrp="1"/>
          </ns0:cNvSpPr>
          <ns0:nvPr/>
        </ns0:nvSpPr>
        <ns0:spPr>
          <ns1:xfrm>
            <ns1:off x="990600" y="8362950"/>
            <ns1:ext cx="17145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57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57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提案クエスト</ns1:t>
            </ns1:r>
          </ns1:p>
        </ns0:txBody>
      </ns0:sp>
      <ns0:sp>
        <ns0:nvSpPr>
          <ns0:cNvPr id="176" name="trace:D12:content.auto.161">
            <ns1:extLst>
              <ns1:ext uri="{FF2B5EF4-FFF2-40B4-BE49-F238E27FC236}">
                <ns3:creationId id="{4069D50A-D460-40D9-90ED-7292BB70B5F6}"/>
              </ns1:ext>
            </ns1:extLst>
          </ns0:cNvPr>
          <ns0:cNvSpPr>
            <ns1:spLocks noGrp="1"/>
          </ns0:cNvSpPr>
          <ns0:nvPr/>
        </ns0:nvSpPr>
        <ns0:spPr>
          <ns1:xfrm>
            <ns1:off x="2628900" y="8296275"/>
            <ns1:ext cx="9525" cy="428625"/>
          </ns1:xfrm>
          <ns1:prstGeom prst="line">
            <ns1:avLst/>
          </ns1:prstGeom>
          <ns1:noFill/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177" name="trace:D12:footer.tagline.jp">
            <ns1:extLst>
              <ns1:ext uri="{FF2B5EF4-FFF2-40B4-BE49-F238E27FC236}">
                <ns3:creationId id="{B07D0671-DA71-46B8-A282-739ABF33BA5B}"/>
              </ns1:ext>
            </ns1:extLst>
          </ns0:cNvPr>
          <ns0:cNvSpPr>
            <ns1:spLocks noGrp="1"/>
          </ns0:cNvSpPr>
          <ns0:nvPr/>
        </ns0:nvSpPr>
        <ns0:spPr>
          <ns1:xfrm>
            <ns1:off x="2800350" y="8296275"/>
            <ns1:ext cx="34290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人とテクノロジーで、より良い社会をつくる</ns1:t>
            </ns1:r>
          </ns1:p>
        </ns0:txBody>
      </ns0:sp>
      <ns0:sp>
        <ns0:nvSpPr>
          <ns0:cNvPr id="178" name="trace:D12:footer.tagline.en">
            <ns1:extLst>
              <ns1:ext uri="{FF2B5EF4-FFF2-40B4-BE49-F238E27FC236}">
                <ns3:creationId id="{ED0B15AB-D1B4-45A3-9F03-95C2084AE880}"/>
              </ns1:ext>
            </ns1:extLst>
          </ns0:cNvPr>
          <ns0:cNvSpPr>
            <ns1:spLocks noGrp="1"/>
          </ns0:cNvSpPr>
          <ns0:nvPr/>
        </ns0:nvSpPr>
        <ns0:spPr>
          <ns1:xfrm>
            <ns1:off x="2800350" y="8515350"/>
            <ns1:ext cx="34290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Think Together, Create the Next.</ns1:t>
            </ns1:r>
          </ns1:p>
        </ns0:txBody>
      </ns0:sp>
      <ns0:sp>
        <ns0:nvSpPr>
          <ns0:cNvPr id="179" name="trace:D12:footer.date">
            <ns1:extLst>
              <ns1:ext uri="{FF2B5EF4-FFF2-40B4-BE49-F238E27FC236}">
                <ns3:creationId id="{3E759D67-0C6A-452A-9183-345A5A71C271}"/>
              </ns1:ext>
            </ns1:extLst>
          </ns0:cNvPr>
          <ns0:cNvSpPr>
            <ns1:spLocks noGrp="1"/>
          </ns0:cNvSpPr>
          <ns0:nvPr/>
        </ns0:nvSpPr>
        <ns0:spPr>
          <ns1:xfrm>
            <ns1:off x="14268450" y="8362950"/>
            <ns1:ext cx="11430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def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2026.08.26</ns1:t>
            </ns1:r>
          </ns1:p>
        </ns0:txBody>
      </ns0:sp>
      <ns0:sp>
        <ns0:nvSpPr>
          <ns0:cNvPr id="180" name="trace:D12:content.auto.162">
            <ns1:extLst>
              <ns1:ext uri="{FF2B5EF4-FFF2-40B4-BE49-F238E27FC236}">
                <ns3:creationId id="{21DD22B2-CB9C-4384-B3B1-3819C3B00319}"/>
              </ns1:ext>
            </ns1:extLst>
          </ns0:cNvPr>
          <ns0:cNvSpPr>
            <ns1:spLocks noGrp="1"/>
          </ns0:cNvSpPr>
          <ns0:nvPr/>
        </ns0:nvSpPr>
        <ns0:spPr>
          <ns1:xfrm>
            <ns1:off x="15497175" y="8439150"/>
            <ns1:ext cx="333375" cy="9525"/>
          </ns1:xfrm>
          <ns1:prstGeom prst="line">
            <ns1:avLst/>
          </ns1:prstGeom>
          <ns1:noFill/>
          <ns1:ln w="9525">
            <ns1:solidFill>
              <ns1:srgbClr val="FFFFFF"/>
            </ns1:solidFill>
            <ns1:prstDash val="solid"/>
          </ns1:ln>
        </ns0:spPr>
      </ns0:sp>
    </ns0:spTree>
    <ns0:extLst>
      <ns0:ext uri="{BB962C8B-B14F-4D97-AF65-F5344CB8AC3E}">
        <ns4:creationId val="1918112270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2026-09-20T12:39:04.7950000Z</dcterms:created>
  <dcterms:modified xsi:type="dcterms:W3CDTF">2026-09-20T12:39:04.7950000Z</dcterms:modified>
</coreProperties>
</file>