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ce2dbcd3cf4203" /><Relationship Type="http://schemas.openxmlformats.org/officeDocument/2006/relationships/extended-properties" Target="/docProps/app.xml" Id="Rf872893cdcf54789" /><Relationship Type="http://schemas.openxmlformats.org/officeDocument/2006/relationships/officeDocument" Target="/ppt/presentation.xml" Id="Rcb58ef2d067244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151f2990604b28"/>
  </p:sldMasterIdLst>
  <p:notesMasterIdLst>
    <p:notesMasterId xmlns:r="http://schemas.openxmlformats.org/officeDocument/2006/relationships" r:id="R3cbdfe09fdf64c3b"/>
  </p:notesMasterIdLst>
  <p:sldIdLst>
    <p:sldId xmlns:r="http://schemas.openxmlformats.org/officeDocument/2006/relationships" id="256" r:id="Rd3be4def12a54d9d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597ae21fb4702" /><Relationship Type="http://schemas.openxmlformats.org/officeDocument/2006/relationships/slideMaster" Target="/ppt/slideMasters/slideMaster1.xml" Id="Rae151f2990604b28" /><Relationship Type="http://schemas.openxmlformats.org/officeDocument/2006/relationships/notesMaster" Target="/ppt/notesMasters/notesMaster1.xml" Id="R3cbdfe09fdf64c3b" /><Relationship Type="http://schemas.openxmlformats.org/officeDocument/2006/relationships/presProps" Target="/ppt/presProps.xml" Id="R8048a0d560af4146" /><Relationship Type="http://schemas.openxmlformats.org/officeDocument/2006/relationships/tableStyles" Target="/ppt/tableStyles.xml" Id="R9bc6555eba7f47ee" /><Relationship Type="http://schemas.openxmlformats.org/officeDocument/2006/relationships/slide" Target="/ppt/slides/slide1.xml" Id="Rd3be4def12a54d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018f478814c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f068d012ab44c5" /><Relationship Type="http://schemas.openxmlformats.org/officeDocument/2006/relationships/notesMaster" Target="/ppt/notesMasters/notesMaster1.xml" Id="Re6379b39dc09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D17 operating-model replacement native trace. Canonical image is the sole visual authority. Role cards, daily operating flow, review cycle, icons, diagonal geometry, and footer are editable native objects. No full-slide raster and no photo crop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2e3b0827246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cc262cf7324db7" /><Relationship Type="http://schemas.openxmlformats.org/officeDocument/2006/relationships/slideLayout" Target="/ppt/slideLayouts/slideLayout1.xml" Id="R6bfb657fc18a4d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fb657fc18a4d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88b5a3047446d" /><Relationship Type="http://schemas.openxmlformats.org/officeDocument/2006/relationships/notesSlide" Target="/ppt/notesSlides/notesSlide1.xml" Id="Ra93c0b21bb8f4c00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5" name="trace:D17:content.auto">
            <ns1:extLst>
              <ns1:ext uri="{FF2B5EF4-FFF2-40B4-BE49-F238E27FC236}">
                <ns2:creationId id="{4FD8823A-1551-4B5D-9F09-90B9CB3919E1}"/>
              </ns1:ext>
            </ns1:extLst>
          </ns0:cNvPr>
          <ns0:cNvSpPr>
            <ns1:spLocks noGrp="1"/>
          </ns0:cNvSpPr>
          <ns0:nvPr/>
        </ns0:nvSpPr>
        <ns0:spPr>
          <ns1:xfrm>
            <ns1:off x="10696575" y="0"/>
            <ns1:ext cx="2619375" cy="4486275"/>
          </ns1:xfrm>
          <ns1:custGeom>
            <ns1:pathLst>
              <ns1:path w="2619375" h="4486275">
                <ns1:moveTo>
                  <ns1:pt x="1343025" y="0"/>
                </ns1:moveTo>
                <ns1:lnTo>
                  <ns1:pt x="2619375" y="0"/>
                </ns1:lnTo>
                <ns1:lnTo>
                  <ns1:pt x="1304925" y="4486275"/>
                </ns1:lnTo>
                <ns1:lnTo>
                  <ns1:pt x="0" y="4486275"/>
                </ns1:lnTo>
                <ns1:close/>
              </ns1:path>
            </ns1:pathLst>
          </ns1:custGeom>
          <ns1:solidFill>
            <ns1:srgbClr val="F4F6F8"/>
          </ns1:solidFill>
          <ns1:ln w="0">
            <ns1:noFill/>
            <ns1:prstDash val="solid"/>
          </ns1:ln>
        </ns0:spPr>
      </ns0:sp>
      <ns0:sp>
        <ns0:nvSpPr>
          <ns0:cNvPr id="2" name="trace:D17:content.auto.2">
            <ns1:extLst>
              <ns1:ext uri="{FF2B5EF4-FFF2-40B4-BE49-F238E27FC236}">
                <ns2:creationId id="{BF2845F0-2B55-4F6F-A0B8-DFF6A5E3D75C}"/>
              </ns1:ext>
            </ns1:extLst>
          </ns0:cNvPr>
          <ns0:cNvSpPr>
            <ns1:spLocks noGrp="1"/>
          </ns0:cNvSpPr>
          <ns0:nvPr/>
        </ns0:nvSpPr>
        <ns0:spPr>
          <ns1:xfrm>
            <ns1:off x="11058525" y="0"/>
            <ns1:ext cx="2371725" cy="4486275"/>
          </ns1:xfrm>
          <ns1:custGeom>
            <ns1:pathLst>
              <ns1:path w="2371725" h="4486275">
                <ns1:moveTo>
                  <ns1:pt x="1352550" y="0"/>
                </ns1:moveTo>
                <ns1:lnTo>
                  <ns1:pt x="2371725" y="0"/>
                </ns1:lnTo>
                <ns1:lnTo>
                  <ns1:pt x="1038225" y="4486275"/>
                </ns1:lnTo>
                <ns1:lnTo>
                  <ns1:pt x="0" y="4486275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3" name="trace:D17:content.auto.3">
            <ns1:extLst>
              <ns1:ext uri="{FF2B5EF4-FFF2-40B4-BE49-F238E27FC236}">
                <ns2:creationId id="{7A7CA013-9FFC-4EC1-9260-F3B0A2BFD9A2}"/>
              </ns1:ext>
            </ns1:extLst>
          </ns0:cNvPr>
          <ns0:cNvSpPr>
            <ns1:spLocks noGrp="1"/>
          </ns0:cNvSpPr>
          <ns0:nvPr/>
        </ns0:nvSpPr>
        <ns0:spPr>
          <ns1:xfrm>
            <ns1:off x="11572875" y="0"/>
            <ns1:ext cx="2181225" cy="4486275"/>
          </ns1:xfrm>
          <ns1:custGeom>
            <ns1:pathLst>
              <ns1:path w="2181225" h="4486275">
                <ns1:moveTo>
                  <ns1:pt x="1419225" y="0"/>
                </ns1:moveTo>
                <ns1:lnTo>
                  <ns1:pt x="2181225" y="0"/>
                </ns1:lnTo>
                <ns1:lnTo>
                  <ns1:pt x="762000" y="4486275"/>
                </ns1:lnTo>
                <ns1:lnTo>
                  <ns1:pt x="0" y="44862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" name="trace:D17:content.auto.4">
            <ns1:extLst>
              <ns1:ext uri="{FF2B5EF4-FFF2-40B4-BE49-F238E27FC236}">
                <ns2:creationId id="{FE60C747-966F-4D78-BCF4-6CE3470AD779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0" y="7038975"/>
            <ns1:ext cx="3352800" cy="1924050"/>
          </ns1:xfrm>
          <ns1:custGeom>
            <ns1:pathLst>
              <ns1:path w="3352800" h="1924050">
                <ns1:moveTo>
                  <ns1:pt x="0" y="1924050"/>
                </ns1:moveTo>
                <ns1:lnTo>
                  <ns1:pt x="3352800" y="0"/>
                </ns1:lnTo>
                <ns1:lnTo>
                  <ns1:pt x="3352800" y="19240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5" name="trace:D17:content.auto.5">
            <ns1:extLst>
              <ns1:ext uri="{FF2B5EF4-FFF2-40B4-BE49-F238E27FC236}">
                <ns2:creationId id="{02A76EC6-6112-48AE-BD96-152D5A6B9FA1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7781925"/>
            <ns1:ext cx="2305050" cy="1181100"/>
          </ns1:xfrm>
          <ns1:custGeom>
            <ns1:pathLst>
              <ns1:path w="2305050" h="1181100">
                <ns1:moveTo>
                  <ns1:pt x="0" y="1181100"/>
                </ns1:moveTo>
                <ns1:lnTo>
                  <ns1:pt x="2305050" y="0"/>
                </ns1:lnTo>
                <ns1:lnTo>
                  <ns1:pt x="2305050" y="118110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6" name="trace:D17:content.auto.6">
            <ns1:extLst>
              <ns1:ext uri="{FF2B5EF4-FFF2-40B4-BE49-F238E27FC236}">
                <ns2:creationId id="{53E8B233-63F4-4395-AA3A-3BEDAAE5B953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85750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D17</ns1:t>
            </ns1:r>
          </ns1:p>
        </ns0:txBody>
      </ns0:sp>
      <ns0:sp>
        <ns0:nvSpPr>
          <ns0:cNvPr id="7" name="trace:D17:title.primary">
            <ns1:extLst>
              <ns1:ext uri="{FF2B5EF4-FFF2-40B4-BE49-F238E27FC236}">
                <ns2:creationId id="{A28D049A-7FB7-4FDE-8BD2-8B52381D5692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" y="285750"/>
            <ns1:ext cx="4286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運用体制 / Operating Model</ns1:t>
            </ns1:r>
          </ns1:p>
        </ns0:txBody>
      </ns0:sp>
      <ns0:sp>
        <ns0:nvSpPr>
          <ns0:cNvPr id="8" name="trace:D17:header.brand">
            <ns1:extLst>
              <ns1:ext uri="{FF2B5EF4-FFF2-40B4-BE49-F238E27FC236}">
                <ns2:creationId id="{DF19986B-9B8A-45E8-B42F-2947F9C3775D}"/>
              </ns1:ext>
            </ns1:extLst>
          </ns0:cNvPr>
          <ns0:cNvSpPr>
            <ns1:spLocks noGrp="1"/>
          </ns0:cNvSpPr>
          <ns0:nvPr/>
        </ns0:nvSpPr>
        <ns0:spPr>
          <ns1:xfrm>
            <ns1:off x="9858375" y="285750"/>
            <ns1:ext cx="2190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t>提案クエスト</ns1:t>
            </ns1:r>
          </ns1:p>
        </ns0:txBody>
      </ns0:sp>
      <ns0:sp>
        <ns0:nvSpPr>
          <ns0:cNvPr id="9" name="trace:D17:header.tagline">
            <ns1:extLst>
              <ns1:ext uri="{FF2B5EF4-FFF2-40B4-BE49-F238E27FC236}">
                <ns2:creationId id="{1CCCF59C-5DC1-4740-9776-BEB19CFE07FA}"/>
              </ns1:ext>
            </ns1:extLst>
          </ns0:cNvPr>
          <ns0:cNvSpPr>
            <ns1:spLocks noGrp="1"/>
          </ns0:cNvSpPr>
          <ns0:nvPr/>
        </ns0:nvSpPr>
        <ns0:spPr>
          <ns1:xfrm>
            <ns1:off x="9858375" y="638175"/>
            <ns1:ext cx="233362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10" name="trace:D17:header.message">
            <ns1:extLst>
              <ns1:ext uri="{FF2B5EF4-FFF2-40B4-BE49-F238E27FC236}">
                <ns2:creationId id="{71278418-E0A5-4129-89C1-4FDAE4886A7A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400050"/>
            <ns1:ext cx="18097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1" name="trace:D17:content.auto.7">
            <ns1:extLst>
              <ns1:ext uri="{FF2B5EF4-FFF2-40B4-BE49-F238E27FC236}">
                <ns2:creationId id="{8BAC2ABC-C5EA-4FA9-BB54-224E5E959E53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904875"/>
            <ns1:ext cx="1581150" cy="9525"/>
          </ns1:xfrm>
          <ns1:prstGeom prst="line">
            <ns1:avLst/>
          </ns1:prstGeom>
          <ns1:noFill/>
          <ns1:ln w="9525">
            <ns1:solidFill>
              <ns1:srgbClr val="101D28"/>
            </ns1:solidFill>
            <ns1:prstDash val="solid"/>
          </ns1:ln>
        </ns0:spPr>
      </ns0:sp>
      <ns0:sp>
        <ns0:nvSpPr>
          <ns0:cNvPr id="12" name="trace:D17:content.auto.8">
            <ns1:extLst>
              <ns1:ext uri="{FF2B5EF4-FFF2-40B4-BE49-F238E27FC236}">
                <ns2:creationId id="{FCFF6068-3E05-4BF6-9100-FF4A20C79A1F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904875"/>
            <ns1:ext cx="32385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3" name="trace:D17:title.primary.2">
            <ns1:extLst>
              <ns1:ext uri="{FF2B5EF4-FFF2-40B4-BE49-F238E27FC236}">
                <ns2:creationId id="{C5D0395F-D571-40F9-8F34-32F931F195C6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028700"/>
            <ns1:ext cx="6858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5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35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成果を継続させる運用体制</ns1:t>
            </ns1:r>
          </ns1:p>
        </ns0:txBody>
      </ns0:sp>
      <ns0:sp>
        <ns0:nvSpPr>
          <ns0:cNvPr id="14" name="trace:D17:title.primary.3">
            <ns1:extLst>
              <ns1:ext uri="{FF2B5EF4-FFF2-40B4-BE49-F238E27FC236}">
                <ns2:creationId id="{206C9C42-EC03-41F2-BB30-550D969DE3BD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581150"/>
            <ns1:ext cx="885825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7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AIと人の役割を明確にし、定例レビューと改善サイクルで、提案品質を継続的に高めます。</ns1:t>
            </ns1:r>
          </ns1:p>
        </ns0:txBody>
      </ns0:sp>
      <ns0:sp>
        <ns0:nvSpPr>
          <ns0:cNvPr id="15" name="trace:D17:content.auto.9">
            <ns1:extLst>
              <ns1:ext uri="{FF2B5EF4-FFF2-40B4-BE49-F238E27FC236}">
                <ns2:creationId id="{440A9472-626D-400E-84A5-E51A510F29CD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2095500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16" name="trace:D17:title.primary.4">
            <ns1:extLst>
              <ns1:ext uri="{FF2B5EF4-FFF2-40B4-BE49-F238E27FC236}">
                <ns2:creationId id="{3009EAF0-ADBF-4E9F-B03C-62FB10B02D00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1990725"/>
            <ns1:ext cx="3143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役割分担と責任範囲</ns1:t>
            </ns1:r>
          </ns1:p>
        </ns0:txBody>
      </ns0:sp>
      <ns0:sp>
        <ns0:nvSpPr>
          <ns0:cNvPr id="17" name="trace:D17:content.auto.10">
            <ns1:extLst>
              <ns1:ext uri="{FF2B5EF4-FFF2-40B4-BE49-F238E27FC236}">
                <ns2:creationId id="{D4111FCE-175C-48E0-A66D-7D4E7968A75B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2428875"/>
            <ns1:ext cx="2714625" cy="1962150"/>
          </ns1:xfrm>
          <ns1:prstGeom prst="roundRect">
            <ns1:avLst>
              <ns1:gd name="adj" fmla="val 5825"/>
            </ns1:avLst>
          </ns1:prstGeom>
          <ns1:solidFill>
            <ns1:srgbClr val="F7FAFC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8" name="trace:D17:content.auto.11">
            <ns1:extLst>
              <ns1:ext uri="{FF2B5EF4-FFF2-40B4-BE49-F238E27FC236}">
                <ns2:creationId id="{9A04A0E6-BE2E-40FD-ACEA-5963410B72DB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2619375"/>
            <ns1:ext cx="447675" cy="44767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9" name="trace:D17:content.auto.12">
            <ns1:extLst>
              <ns1:ext uri="{FF2B5EF4-FFF2-40B4-BE49-F238E27FC236}">
                <ns2:creationId id="{3BC863E1-A6F0-4609-B72D-08269FAC9E8A}"/>
              </ns1:ext>
            </ns1:extLst>
          </ns0:cNvPr>
          <ns0:cNvSpPr>
            <ns1:spLocks noGrp="1"/>
          </ns0:cNvSpPr>
          <ns0:nvPr/>
        </ns0:nvSpPr>
        <ns0:spPr>
          <ns1:xfrm>
            <ns1:off x="813911" y="2655189"/>
            <ns1:ext cx="134303" cy="111919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0" name="trace:D17:content.auto.13">
            <ns1:extLst>
              <ns1:ext uri="{FF2B5EF4-FFF2-40B4-BE49-F238E27FC236}">
                <ns2:creationId id="{D6B0A6EE-6F2A-4904-AEB2-82093C33C0BD}"/>
              </ns1:ext>
            </ns1:extLst>
          </ns0:cNvPr>
          <ns0:cNvSpPr>
            <ns1:spLocks noGrp="1"/>
          </ns0:cNvSpPr>
          <ns0:nvPr/>
        </ns0:nvSpPr>
        <ns0:spPr>
          <ns1:xfrm>
            <ns1:off x="733330" y="2825306"/>
            <ns1:ext cx="295465" cy="170117"/>
          </ns1:xfrm>
          <ns1:custGeom>
            <ns1:pathLst>
              <ns1:path w="295465" h="170117">
                <ns1:moveTo>
                  <ns1:pt x="0" y="170117"/>
                </ns1:moveTo>
                <ns1:lnTo>
                  <ns1:pt x="31337" y="49244"/>
                </ns1:lnTo>
                <ns1:lnTo>
                  <ns1:pt x="89535" y="0"/>
                </ns1:lnTo>
                <ns1:lnTo>
                  <ns1:pt x="205931" y="0"/>
                </ns1:lnTo>
                <ns1:lnTo>
                  <ns1:pt x="264128" y="49244"/>
                </ns1:lnTo>
                <ns1:lnTo>
                  <ns1:pt x="295465" y="170117"/>
                </ns1:lnTo>
                <ns1:close/>
              </ns1:path>
            </ns1:pathLst>
          </ns1:cu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1" name="trace:D17:content.auto.14">
            <ns1:extLst>
              <ns1:ext uri="{FF2B5EF4-FFF2-40B4-BE49-F238E27FC236}">
                <ns2:creationId id="{AEBCFC1E-D810-4C77-AE17-2F40FF67326A}"/>
              </ns1:ext>
            </ns1:extLst>
          </ns0:cNvPr>
          <ns0:cNvSpPr>
            <ns1:spLocks noGrp="1"/>
          </ns0:cNvSpPr>
          <ns0:nvPr/>
        </ns0:nvSpPr>
        <ns0:spPr>
          <ns1:xfrm>
            <ns1:off x="881063" y="2838736"/>
            <ns1:ext cx="9525" cy="129826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2" name="trace:D17:title.primary.5">
            <ns1:extLst>
              <ns1:ext uri="{FF2B5EF4-FFF2-40B4-BE49-F238E27FC236}">
                <ns2:creationId id="{D5E63414-203E-44D1-8415-8EE98E1233B9}"/>
              </ns1:ext>
            </ns1:extLst>
          </ns0:cNvPr>
          <ns0:cNvSpPr>
            <ns1:spLocks noGrp="1"/>
          </ns0:cNvSpPr>
          <ns0:nvPr/>
        </ns0:nvSpPr>
        <ns0:spPr>
          <ns1:xfrm>
            <ns1:off x="1209675" y="2657475"/>
            <ns1:ext cx="1809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経営・事業責任者</ns1:t>
            </ns1:r>
          </ns1:p>
        </ns0:txBody>
      </ns0:sp>
      <ns0:sp>
        <ns0:nvSpPr>
          <ns0:cNvPr id="23" name="trace:D17:title.primary.6">
            <ns1:extLst>
              <ns1:ext uri="{FF2B5EF4-FFF2-40B4-BE49-F238E27FC236}">
                <ns2:creationId id="{B9A53BC2-EE41-4A1D-BE41-1E3434AEC36F}"/>
              </ns1:ext>
            </ns1:extLst>
          </ns0:cNvPr>
          <ns0:cNvSpPr>
            <ns1:spLocks noGrp="1"/>
          </ns0:cNvSpPr>
          <ns0:nvPr/>
        </ns0:nvSpPr>
        <ns0:spPr>
          <ns1:xfrm>
            <ns1:off x="1209675" y="2933700"/>
            <ns1:ext cx="1809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方針・KPI・投資判断</ns1:t>
            </ns1:r>
          </ns1:p>
        </ns0:txBody>
      </ns0:sp>
      <ns0:sp>
        <ns0:nvSpPr>
          <ns0:cNvPr id="24" name="trace:D17:title.primary.7">
            <ns1:extLst>
              <ns1:ext uri="{FF2B5EF4-FFF2-40B4-BE49-F238E27FC236}">
                <ns2:creationId id="{44357CF6-26FF-4D6D-B6E9-AB288E4092BD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3390900"/>
            <ns1:ext cx="2266950" cy="4476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成果指標の確認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優先テーマの決定</ns1:t>
            </ns1:r>
          </ns1:p>
        </ns0:txBody>
      </ns0:sp>
      <ns0:sp>
        <ns0:nvSpPr>
          <ns0:cNvPr id="25" name="trace:D17:content.auto.15">
            <ns1:extLst>
              <ns1:ext uri="{FF2B5EF4-FFF2-40B4-BE49-F238E27FC236}">
                <ns2:creationId id="{7F87D156-3CFC-4FC6-AF60-16D515931A46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3952875"/>
            <ns1:ext cx="2333625" cy="285750"/>
          </ns1:xfrm>
          <ns1:prstGeom prst="roundRect">
            <ns1:avLst>
              <ns1:gd name="adj" fmla="val 40000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26" name="trace:D17:content.auto.16">
            <ns1:extLst>
              <ns1:ext uri="{FF2B5EF4-FFF2-40B4-BE49-F238E27FC236}">
                <ns2:creationId id="{11B3F4C7-79F1-4C2D-9C6A-866947BD897F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4010025"/>
            <ns1:ext cx="2000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1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最終判断</ns1:t>
            </ns1:r>
          </ns1:p>
        </ns0:txBody>
      </ns0:sp>
      <ns0:sp>
        <ns0:nvSpPr>
          <ns0:cNvPr id="27" name="trace:D17:content.auto.17">
            <ns1:extLst>
              <ns1:ext uri="{FF2B5EF4-FFF2-40B4-BE49-F238E27FC236}">
                <ns2:creationId id="{824F92BB-7CE0-4A22-BB88-12972D43A1C0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2428875"/>
            <ns1:ext cx="2714625" cy="1962150"/>
          </ns1:xfrm>
          <ns1:prstGeom prst="roundRect">
            <ns1:avLst>
              <ns1:gd name="adj" fmla="val 5825"/>
            </ns1:avLst>
          </ns1:prstGeom>
          <ns1:solidFill>
            <ns1:srgbClr val="F7FAFC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28" name="trace:D17:content.auto.18">
            <ns1:extLst>
              <ns1:ext uri="{FF2B5EF4-FFF2-40B4-BE49-F238E27FC236}">
                <ns2:creationId id="{7E0E9169-3BCF-4972-8833-B97377311CD8}"/>
              </ns1:ext>
            </ns1:extLst>
          </ns0:cNvPr>
          <ns0:cNvSpPr>
            <ns1:spLocks noGrp="1"/>
          </ns0:cNvSpPr>
          <ns0:nvPr/>
        </ns0:nvSpPr>
        <ns0:spPr>
          <ns1:xfrm>
            <ns1:off x="3524250" y="2619375"/>
            <ns1:ext cx="447675" cy="44767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9" name="trace:D17:content.auto.19">
            <ns1:extLst>
              <ns1:ext uri="{FF2B5EF4-FFF2-40B4-BE49-F238E27FC236}">
                <ns2:creationId id="{A20788DA-E6AA-4152-B6AC-78A9A1F08EBD}"/>
              </ns1:ext>
            </ns1:extLst>
          </ns0:cNvPr>
          <ns0:cNvSpPr>
            <ns1:spLocks noGrp="1"/>
          </ns0:cNvSpPr>
          <ns0:nvPr/>
        </ns0:nvSpPr>
        <ns0:spPr>
          <ns1:xfrm>
            <ns1:off x="3680936" y="2655189"/>
            <ns1:ext cx="134303" cy="111919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30" name="trace:D17:content.auto.20">
            <ns1:extLst>
              <ns1:ext uri="{FF2B5EF4-FFF2-40B4-BE49-F238E27FC236}">
                <ns2:creationId id="{B82CC596-366C-4211-ABF5-907001E0C964}"/>
              </ns1:ext>
            </ns1:extLst>
          </ns0:cNvPr>
          <ns0:cNvSpPr>
            <ns1:spLocks noGrp="1"/>
          </ns0:cNvSpPr>
          <ns0:nvPr/>
        </ns0:nvSpPr>
        <ns0:spPr>
          <ns1:xfrm>
            <ns1:off x="3600355" y="2825306"/>
            <ns1:ext cx="295465" cy="170117"/>
          </ns1:xfrm>
          <ns1:custGeom>
            <ns1:pathLst>
              <ns1:path w="295465" h="170117">
                <ns1:moveTo>
                  <ns1:pt x="0" y="170117"/>
                </ns1:moveTo>
                <ns1:lnTo>
                  <ns1:pt x="31337" y="49244"/>
                </ns1:lnTo>
                <ns1:lnTo>
                  <ns1:pt x="89535" y="0"/>
                </ns1:lnTo>
                <ns1:lnTo>
                  <ns1:pt x="205931" y="0"/>
                </ns1:lnTo>
                <ns1:lnTo>
                  <ns1:pt x="264128" y="49244"/>
                </ns1:lnTo>
                <ns1:lnTo>
                  <ns1:pt x="295465" y="170117"/>
                </ns1:lnTo>
                <ns1:close/>
              </ns1:path>
            </ns1:pathLst>
          </ns1:cu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31" name="trace:D17:content.auto.21">
            <ns1:extLst>
              <ns1:ext uri="{FF2B5EF4-FFF2-40B4-BE49-F238E27FC236}">
                <ns2:creationId id="{9407C855-A13D-403E-891D-34FB9A51F696}"/>
              </ns1:ext>
            </ns1:extLst>
          </ns0:cNvPr>
          <ns0:cNvSpPr>
            <ns1:spLocks noGrp="1"/>
          </ns0:cNvSpPr>
          <ns0:nvPr/>
        </ns0:nvSpPr>
        <ns0:spPr>
          <ns1:xfrm>
            <ns1:off x="3748088" y="2838736"/>
            <ns1:ext cx="9525" cy="129826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32" name="trace:D17:content.auto.22">
            <ns1:extLst>
              <ns1:ext uri="{FF2B5EF4-FFF2-40B4-BE49-F238E27FC236}">
                <ns2:creationId id="{6CF9F3F2-D4B2-4F36-81A4-9B834DDE0E71}"/>
              </ns1:ext>
            </ns1:extLst>
          </ns0:cNvPr>
          <ns0:cNvSpPr>
            <ns1:spLocks noGrp="1"/>
          </ns0:cNvSpPr>
          <ns0:nvPr/>
        </ns0:nvSpPr>
        <ns0:spPr>
          <ns1:xfrm>
            <ns1:off x="4076700" y="2657475"/>
            <ns1:ext cx="1809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営業責任者</ns1:t>
            </ns1:r>
          </ns1:p>
        </ns0:txBody>
      </ns0:sp>
      <ns0:sp>
        <ns0:nvSpPr>
          <ns0:cNvPr id="33" name="trace:D17:title.primary.8">
            <ns1:extLst>
              <ns1:ext uri="{FF2B5EF4-FFF2-40B4-BE49-F238E27FC236}">
                <ns2:creationId id="{B3E03102-43DB-4FAC-9702-5305987AD0BE}"/>
              </ns1:ext>
            </ns1:extLst>
          </ns0:cNvPr>
          <ns0:cNvSpPr>
            <ns1:spLocks noGrp="1"/>
          </ns0:cNvSpPr>
          <ns0:nvPr/>
        </ns0:nvSpPr>
        <ns0:spPr>
          <ns1:xfrm>
            <ns1:off x="4076700" y="2933700"/>
            <ns1:ext cx="1809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運用責任・品質管理</ns1:t>
            </ns1:r>
          </ns1:p>
        </ns0:txBody>
      </ns0:sp>
      <ns0:sp>
        <ns0:nvSpPr>
          <ns0:cNvPr id="34" name="trace:D17:title.primary.9">
            <ns1:extLst>
              <ns1:ext uri="{FF2B5EF4-FFF2-40B4-BE49-F238E27FC236}">
                <ns2:creationId id="{80F03969-0F3A-468A-A921-9B5DA70151B6}"/>
              </ns1:ext>
            </ns1:extLst>
          </ns0:cNvPr>
          <ns0:cNvSpPr>
            <ns1:spLocks noGrp="1"/>
          </ns0:cNvSpPr>
          <ns0:nvPr/>
        </ns0:nvSpPr>
        <ns0:spPr>
          <ns1:xfrm>
            <ns1:off x="3524250" y="3390900"/>
            <ns1:ext cx="2266950" cy="4476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提案品質の統一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レビュー基準の管理</ns1:t>
            </ns1:r>
          </ns1:p>
        </ns0:txBody>
      </ns0:sp>
      <ns0:sp>
        <ns0:nvSpPr>
          <ns0:cNvPr id="35" name="trace:D17:content.auto.23">
            <ns1:extLst>
              <ns1:ext uri="{FF2B5EF4-FFF2-40B4-BE49-F238E27FC236}">
                <ns2:creationId id="{8DEC1FE0-8AC8-47EC-A71F-AD0589EB39E9}"/>
              </ns1:ext>
            </ns1:extLst>
          </ns0:cNvPr>
          <ns0:cNvSpPr>
            <ns1:spLocks noGrp="1"/>
          </ns0:cNvSpPr>
          <ns0:nvPr/>
        </ns0:nvSpPr>
        <ns0:spPr>
          <ns1:xfrm>
            <ns1:off x="3524250" y="3952875"/>
            <ns1:ext cx="2333625" cy="285750"/>
          </ns1:xfrm>
          <ns1:prstGeom prst="roundRect">
            <ns1:avLst>
              <ns1:gd name="adj" fmla="val 40000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36" name="trace:D17:content.auto.24">
            <ns1:extLst>
              <ns1:ext uri="{FF2B5EF4-FFF2-40B4-BE49-F238E27FC236}">
                <ns2:creationId id="{DEC7D594-2769-450D-98C9-CB16E0948A40}"/>
              </ns1:ext>
            </ns1:extLst>
          </ns0:cNvPr>
          <ns0:cNvSpPr>
            <ns1:spLocks noGrp="1"/>
          </ns0:cNvSpPr>
          <ns0:nvPr/>
        </ns0:nvSpPr>
        <ns0:spPr>
          <ns1:xfrm>
            <ns1:off x="3667125" y="4010025"/>
            <ns1:ext cx="2000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1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運用管理</ns1:t>
            </ns1:r>
          </ns1:p>
        </ns0:txBody>
      </ns0:sp>
      <ns0:sp>
        <ns0:nvSpPr>
          <ns0:cNvPr id="37" name="trace:D17:content.auto.25">
            <ns1:extLst>
              <ns1:ext uri="{FF2B5EF4-FFF2-40B4-BE49-F238E27FC236}">
                <ns2:creationId id="{FECA4423-AF47-4794-8CE1-21CE921FD8F2}"/>
              </ns1:ext>
            </ns1:extLst>
          </ns0:cNvPr>
          <ns0:cNvSpPr>
            <ns1:spLocks noGrp="1"/>
          </ns0:cNvSpPr>
          <ns0:nvPr/>
        </ns0:nvSpPr>
        <ns0:spPr>
          <ns1:xfrm>
            <ns1:off x="6200775" y="2428875"/>
            <ns1:ext cx="2714625" cy="1962150"/>
          </ns1:xfrm>
          <ns1:prstGeom prst="roundRect">
            <ns1:avLst>
              <ns1:gd name="adj" fmla="val 5825"/>
            </ns1:avLst>
          </ns1:prstGeom>
          <ns1:solidFill>
            <ns1:srgbClr val="F7FAFC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38" name="trace:D17:content.auto.26">
            <ns1:extLst>
              <ns1:ext uri="{FF2B5EF4-FFF2-40B4-BE49-F238E27FC236}">
                <ns2:creationId id="{32C1650F-CAA9-42C4-90D8-8E3B1FC222F9}"/>
              </ns1:ext>
            </ns1:extLst>
          </ns0:cNvPr>
          <ns0:cNvSpPr>
            <ns1:spLocks noGrp="1"/>
          </ns0:cNvSpPr>
          <ns0:nvPr/>
        </ns0:nvSpPr>
        <ns0:spPr>
          <ns1:xfrm>
            <ns1:off x="6391275" y="2619375"/>
            <ns1:ext cx="447675" cy="447675"/>
          </ns1:xfrm>
          <ns1:prstGeom prst="ellipse">
            <ns1:avLst/>
          </ns1:prstGeom>
          <ns1:solidFill>
            <ns1:srgbClr val="465364"/>
          </ns1:solidFill>
          <ns1:ln w="0">
            <ns1:noFill/>
            <ns1:prstDash val="solid"/>
          </ns1:ln>
        </ns0:spPr>
      </ns0:sp>
      <ns0:sp>
        <ns0:nvSpPr>
          <ns0:cNvPr id="39" name="trace:D17:content.auto.27">
            <ns1:extLst>
              <ns1:ext uri="{FF2B5EF4-FFF2-40B4-BE49-F238E27FC236}">
                <ns2:creationId id="{42F86402-C803-4C16-9D5F-3B8E2E50A33B}"/>
              </ns1:ext>
            </ns1:extLst>
          </ns0:cNvPr>
          <ns0:cNvSpPr>
            <ns1:spLocks noGrp="1"/>
          </ns0:cNvSpPr>
          <ns0:nvPr/>
        </ns0:nvSpPr>
        <ns0:spPr>
          <ns1:xfrm>
            <ns1:off x="6547961" y="2655189"/>
            <ns1:ext cx="134303" cy="111919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40" name="trace:D17:content.auto.28">
            <ns1:extLst>
              <ns1:ext uri="{FF2B5EF4-FFF2-40B4-BE49-F238E27FC236}">
                <ns2:creationId id="{CB88F0E7-5151-405B-86FA-66CFAA14E2F4}"/>
              </ns1:ext>
            </ns1:extLst>
          </ns0:cNvPr>
          <ns0:cNvSpPr>
            <ns1:spLocks noGrp="1"/>
          </ns0:cNvSpPr>
          <ns0:nvPr/>
        </ns0:nvSpPr>
        <ns0:spPr>
          <ns1:xfrm>
            <ns1:off x="6467380" y="2825306"/>
            <ns1:ext cx="295465" cy="170117"/>
          </ns1:xfrm>
          <ns1:custGeom>
            <ns1:pathLst>
              <ns1:path w="295465" h="170117">
                <ns1:moveTo>
                  <ns1:pt x="0" y="170117"/>
                </ns1:moveTo>
                <ns1:lnTo>
                  <ns1:pt x="31337" y="49244"/>
                </ns1:lnTo>
                <ns1:lnTo>
                  <ns1:pt x="89535" y="0"/>
                </ns1:lnTo>
                <ns1:lnTo>
                  <ns1:pt x="205931" y="0"/>
                </ns1:lnTo>
                <ns1:lnTo>
                  <ns1:pt x="264128" y="49244"/>
                </ns1:lnTo>
                <ns1:lnTo>
                  <ns1:pt x="295465" y="170117"/>
                </ns1:lnTo>
                <ns1:close/>
              </ns1:path>
            </ns1:pathLst>
          </ns1:cu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41" name="trace:D17:content.auto.29">
            <ns1:extLst>
              <ns1:ext uri="{FF2B5EF4-FFF2-40B4-BE49-F238E27FC236}">
                <ns2:creationId id="{86930C54-1C32-4F47-A9B9-B3EE63721951}"/>
              </ns1:ext>
            </ns1:extLst>
          </ns0:cNvPr>
          <ns0:cNvSpPr>
            <ns1:spLocks noGrp="1"/>
          </ns0:cNvSpPr>
          <ns0:nvPr/>
        </ns0:nvSpPr>
        <ns0:spPr>
          <ns1:xfrm>
            <ns1:off x="6615113" y="2838736"/>
            <ns1:ext cx="9525" cy="129826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42" name="trace:D17:content.auto.30">
            <ns1:extLst>
              <ns1:ext uri="{FF2B5EF4-FFF2-40B4-BE49-F238E27FC236}">
                <ns2:creationId id="{38EEA11D-3D69-4B06-BC28-E9232FD2C0B2}"/>
              </ns1:ext>
            </ns1:extLst>
          </ns0:cNvPr>
          <ns0:cNvSpPr>
            <ns1:spLocks noGrp="1"/>
          </ns0:cNvSpPr>
          <ns0:nvPr/>
        </ns0:nvSpPr>
        <ns0:spPr>
          <ns1:xfrm>
            <ns1:off x="6943725" y="2657475"/>
            <ns1:ext cx="1809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利用担当者</ns1:t>
            </ns1:r>
          </ns1:p>
        </ns0:txBody>
      </ns0:sp>
      <ns0:sp>
        <ns0:nvSpPr>
          <ns0:cNvPr id="43" name="trace:D17:title.primary.10">
            <ns1:extLst>
              <ns1:ext uri="{FF2B5EF4-FFF2-40B4-BE49-F238E27FC236}">
                <ns2:creationId id="{32E4E5E2-86C0-4247-A585-01D25D090872}"/>
              </ns1:ext>
            </ns1:extLst>
          </ns0:cNvPr>
          <ns0:cNvSpPr>
            <ns1:spLocks noGrp="1"/>
          </ns0:cNvSpPr>
          <ns0:nvPr/>
        </ns0:nvSpPr>
        <ns0:spPr>
          <ns1:xfrm>
            <ns1:off x="6943725" y="2933700"/>
            <ns1:ext cx="1809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案件入力・確認・活用</ns1:t>
            </ns1:r>
          </ns1:p>
        </ns0:txBody>
      </ns0:sp>
      <ns0:sp>
        <ns0:nvSpPr>
          <ns0:cNvPr id="44" name="trace:D17:title.primary.11">
            <ns1:extLst>
              <ns1:ext uri="{FF2B5EF4-FFF2-40B4-BE49-F238E27FC236}">
                <ns2:creationId id="{A0680F28-4632-4C9C-9CF5-5FB025245E06}"/>
              </ns1:ext>
            </ns1:extLst>
          </ns0:cNvPr>
          <ns0:cNvSpPr>
            <ns1:spLocks noGrp="1"/>
          </ns0:cNvSpPr>
          <ns0:nvPr/>
        </ns0:nvSpPr>
        <ns0:spPr>
          <ns1:xfrm>
            <ns1:off x="6391275" y="3390900"/>
            <ns1:ext cx="2266950" cy="4476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AI生成内容の確認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顧客向け最終調整</ns1:t>
            </ns1:r>
          </ns1:p>
        </ns0:txBody>
      </ns0:sp>
      <ns0:sp>
        <ns0:nvSpPr>
          <ns0:cNvPr id="45" name="trace:D17:content.auto.31">
            <ns1:extLst>
              <ns1:ext uri="{FF2B5EF4-FFF2-40B4-BE49-F238E27FC236}">
                <ns2:creationId id="{836F0C23-83D5-4E4A-8F28-DA360502E714}"/>
              </ns1:ext>
            </ns1:extLst>
          </ns0:cNvPr>
          <ns0:cNvSpPr>
            <ns1:spLocks noGrp="1"/>
          </ns0:cNvSpPr>
          <ns0:nvPr/>
        </ns0:nvSpPr>
        <ns0:spPr>
          <ns1:xfrm>
            <ns1:off x="6391275" y="3952875"/>
            <ns1:ext cx="2333625" cy="285750"/>
          </ns1:xfrm>
          <ns1:prstGeom prst="roundRect">
            <ns1:avLst>
              <ns1:gd name="adj" fmla="val 40000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46" name="trace:D17:content.auto.32">
            <ns1:extLst>
              <ns1:ext uri="{FF2B5EF4-FFF2-40B4-BE49-F238E27FC236}">
                <ns2:creationId id="{1962425C-E517-4D7F-AB79-A86C4747E2CB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4010025"/>
            <ns1:ext cx="2000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1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実行・確認</ns1:t>
            </ns1:r>
          </ns1:p>
        </ns0:txBody>
      </ns0:sp>
      <ns0:sp>
        <ns0:nvSpPr>
          <ns0:cNvPr id="47" name="trace:D17:content.auto.33">
            <ns1:extLst>
              <ns1:ext uri="{FF2B5EF4-FFF2-40B4-BE49-F238E27FC236}">
                <ns2:creationId id="{18DCFD06-4716-4653-B523-26F97364B240}"/>
              </ns1:ext>
            </ns1:extLst>
          </ns0:cNvPr>
          <ns0:cNvSpPr>
            <ns1:spLocks noGrp="1"/>
          </ns0:cNvSpPr>
          <ns0:nvPr/>
        </ns0:nvSpPr>
        <ns0:spPr>
          <ns1:xfrm>
            <ns1:off x="9067800" y="2428875"/>
            <ns1:ext cx="2714625" cy="1962150"/>
          </ns1:xfrm>
          <ns1:prstGeom prst="roundRect">
            <ns1:avLst>
              <ns1:gd name="adj" fmla="val 5825"/>
            </ns1:avLst>
          </ns1:prstGeom>
          <ns1:solidFill>
            <ns1:srgbClr val="FFF0F1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48" name="trace:D17:content.auto.34">
            <ns1:extLst>
              <ns1:ext uri="{FF2B5EF4-FFF2-40B4-BE49-F238E27FC236}">
                <ns2:creationId id="{4EDD2A32-D7CF-4A83-8CED-576E6018593D}"/>
              </ns1:ext>
            </ns1:extLst>
          </ns0:cNvPr>
          <ns0:cNvSpPr>
            <ns1:spLocks noGrp="1"/>
          </ns0:cNvSpPr>
          <ns0:nvPr/>
        </ns0:nvSpPr>
        <ns0:spPr>
          <ns1:xfrm>
            <ns1:off x="9258300" y="2619375"/>
            <ns1:ext cx="447675" cy="44767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9" name="trace:D17:content.auto.35">
            <ns1:extLst>
              <ns1:ext uri="{FF2B5EF4-FFF2-40B4-BE49-F238E27FC236}">
                <ns2:creationId id="{477C7AD2-03B1-487C-BC5B-2C3796DDAAF2}"/>
              </ns1:ext>
            </ns1:extLst>
          </ns0:cNvPr>
          <ns0:cNvSpPr>
            <ns1:spLocks noGrp="1"/>
          </ns0:cNvSpPr>
          <ns0:nvPr/>
        </ns0:nvSpPr>
        <ns0:spPr>
          <ns1:xfrm>
            <ns1:off x="9258300" y="2726817"/>
            <ns1:ext cx="447675" cy="156686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6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AI</ns1:t>
            </ns1:r>
          </ns1:p>
        </ns0:txBody>
      </ns0:sp>
      <ns0:sp>
        <ns0:nvSpPr>
          <ns0:cNvPr id="50" name="trace:D17:title.primary.12">
            <ns1:extLst>
              <ns1:ext uri="{FF2B5EF4-FFF2-40B4-BE49-F238E27FC236}">
                <ns2:creationId id="{E31001AF-7B72-41E2-B0A3-89F06D11AAAC}"/>
              </ns1:ext>
            </ns1:extLst>
          </ns0:cNvPr>
          <ns0:cNvSpPr>
            <ns1:spLocks noGrp="1"/>
          </ns0:cNvSpPr>
          <ns0:nvPr/>
        </ns0:nvSpPr>
        <ns0:spPr>
          <ns1:xfrm>
            <ns1:off x="9810750" y="2657475"/>
            <ns1:ext cx="1809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AI / システム</ns1:t>
            </ns1:r>
          </ns1:p>
        </ns0:txBody>
      </ns0:sp>
      <ns0:sp>
        <ns0:nvSpPr>
          <ns0:cNvPr id="51" name="trace:D17:title.primary.13">
            <ns1:extLst>
              <ns1:ext uri="{FF2B5EF4-FFF2-40B4-BE49-F238E27FC236}">
                <ns2:creationId id="{0E48851F-2F0C-4A66-B404-82F526D229F9}"/>
              </ns1:ext>
            </ns1:extLst>
          </ns0:cNvPr>
          <ns0:cNvSpPr>
            <ns1:spLocks noGrp="1"/>
          </ns0:cNvSpPr>
          <ns0:nvPr/>
        </ns0:nvSpPr>
        <ns0:spPr>
          <ns1:xfrm>
            <ns1:off x="9810750" y="2933700"/>
            <ns1:ext cx="1809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分析・生成・記録</ns1:t>
            </ns1:r>
          </ns1:p>
        </ns0:txBody>
      </ns0:sp>
      <ns0:sp>
        <ns0:nvSpPr>
          <ns0:cNvPr id="52" name="trace:D17:title.primary.14">
            <ns1:extLst>
              <ns1:ext uri="{FF2B5EF4-FFF2-40B4-BE49-F238E27FC236}">
                <ns2:creationId id="{22A35E21-7DDA-4494-9A37-A48A20740C0E}"/>
              </ns1:ext>
            </ns1:extLst>
          </ns0:cNvPr>
          <ns0:cNvSpPr>
            <ns1:spLocks noGrp="1"/>
          </ns0:cNvSpPr>
          <ns0:nvPr/>
        </ns0:nvSpPr>
        <ns0:spPr>
          <ns1:xfrm>
            <ns1:off x="9258300" y="3390900"/>
            <ns1:ext cx="2266950" cy="4476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情報整理・資料生成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ナレッジ蓄積</ns1:t>
            </ns1:r>
          </ns1:p>
        </ns0:txBody>
      </ns0:sp>
      <ns0:sp>
        <ns0:nvSpPr>
          <ns0:cNvPr id="53" name="trace:D17:content.auto.36">
            <ns1:extLst>
              <ns1:ext uri="{FF2B5EF4-FFF2-40B4-BE49-F238E27FC236}">
                <ns2:creationId id="{7B48BEF6-8273-4CA0-96EC-28FDE0AC085B}"/>
              </ns1:ext>
            </ns1:extLst>
          </ns0:cNvPr>
          <ns0:cNvSpPr>
            <ns1:spLocks noGrp="1"/>
          </ns0:cNvSpPr>
          <ns0:nvPr/>
        </ns0:nvSpPr>
        <ns0:spPr>
          <ns1:xfrm>
            <ns1:off x="9258300" y="3952875"/>
            <ns1:ext cx="2333625" cy="285750"/>
          </ns1:xfrm>
          <ns1:prstGeom prst="roundRect">
            <ns1:avLst>
              <ns1:gd name="adj" fmla="val 40000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54" name="trace:D17:content.auto.37">
            <ns1:extLst>
              <ns1:ext uri="{FF2B5EF4-FFF2-40B4-BE49-F238E27FC236}">
                <ns2:creationId id="{10722C1B-91CA-4724-9ADE-4B59FCB58225}"/>
              </ns1:ext>
            </ns1:extLst>
          </ns0:cNvPr>
          <ns0:cNvSpPr>
            <ns1:spLocks noGrp="1"/>
          </ns0:cNvSpPr>
          <ns0:nvPr/>
        </ns0:nvSpPr>
        <ns0:spPr>
          <ns1:xfrm>
            <ns1:off x="9401175" y="4010025"/>
            <ns1:ext cx="2000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1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支援・自動化</ns1:t>
            </ns1:r>
          </ns1:p>
        </ns0:txBody>
      </ns0:sp>
      <ns0:sp>
        <ns0:nvSpPr>
          <ns0:cNvPr id="55" name="trace:D17:content.auto.38">
            <ns1:extLst>
              <ns1:ext uri="{FF2B5EF4-FFF2-40B4-BE49-F238E27FC236}">
                <ns2:creationId id="{78730BF4-B4A6-4491-8443-D8D2E0AB9DC8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4762500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56" name="trace:D17:content.auto.39">
            <ns1:extLst>
              <ns1:ext uri="{FF2B5EF4-FFF2-40B4-BE49-F238E27FC236}">
                <ns2:creationId id="{BCE35EBF-63CD-4168-B0F9-FB9F96A7C460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4657725"/>
            <ns1:ext cx="2476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日常運用フロー</ns1:t>
            </ns1:r>
          </ns1:p>
        </ns0:txBody>
      </ns0:sp>
      <ns0:sp>
        <ns0:nvSpPr>
          <ns0:cNvPr id="57" name="trace:D17:content.auto.40">
            <ns1:extLst>
              <ns1:ext uri="{FF2B5EF4-FFF2-40B4-BE49-F238E27FC236}">
                <ns2:creationId id="{21F63AB6-6561-4CF6-BFC1-B188BB5B214C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5095875"/>
            <ns1:ext cx="2381250" cy="1238250"/>
          </ns1:xfrm>
          <ns1:prstGeom prst="roundRect">
            <ns1:avLst>
              <ns1:gd name="adj" fmla="val 9231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58" name="trace:D17:content.auto.41">
            <ns1:extLst>
              <ns1:ext uri="{FF2B5EF4-FFF2-40B4-BE49-F238E27FC236}">
                <ns2:creationId id="{56187E86-05D1-4959-B9BD-A81F49899A42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248275"/>
            <ns1:ext cx="371475" cy="37147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59" name="trace:D17:content.auto.42">
            <ns1:extLst>
              <ns1:ext uri="{FF2B5EF4-FFF2-40B4-BE49-F238E27FC236}">
                <ns2:creationId id="{CD49CA2B-6585-44C5-8CD1-3EC1C851EF7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334000"/>
            <ns1:ext cx="37147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60" name="trace:D17:content.auto.43">
            <ns1:extLst>
              <ns1:ext uri="{FF2B5EF4-FFF2-40B4-BE49-F238E27FC236}">
                <ns2:creationId id="{BA9C6BC8-211E-4BD7-B31D-D5EAF7732879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" y="5257800"/>
            <ns1:ext cx="16002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案件情報を入力</ns1:t>
            </ns1:r>
          </ns1:p>
        </ns0:txBody>
      </ns0:sp>
      <ns0:sp>
        <ns0:nvSpPr>
          <ns0:cNvPr id="61" name="trace:D17:content.auto.44">
            <ns1:extLst>
              <ns1:ext uri="{FF2B5EF4-FFF2-40B4-BE49-F238E27FC236}">
                <ns2:creationId id="{CFA4E026-3388-42E2-AA72-3705ECA49A76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772150"/>
            <ns1:ext cx="204787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顧客・案件条件を登録</ns1:t>
            </ns1:r>
          </ns1:p>
        </ns0:txBody>
      </ns0:sp>
      <ns0:sp>
        <ns0:nvSpPr>
          <ns0:cNvPr id="62" name="trace:D17:content.auto.45">
            <ns1:extLst>
              <ns1:ext uri="{FF2B5EF4-FFF2-40B4-BE49-F238E27FC236}">
                <ns2:creationId id="{6D37A338-740B-4ECE-8B59-0710EBA53FAD}"/>
              </ns1:ext>
            </ns1:extLst>
          </ns0:cNvPr>
          <ns0:cNvSpPr>
            <ns1:spLocks noGrp="1"/>
          </ns0:cNvSpPr>
          <ns0:nvPr/>
        </ns0:nvSpPr>
        <ns0:spPr>
          <ns1:xfrm>
            <ns1:off x="2847975" y="5562600"/>
            <ns1:ext cx="247650" cy="304800"/>
          </ns1:xfrm>
          <ns1:custGeom>
            <ns1:pathLst>
              <ns1:path w="247650" h="304800">
                <ns1:moveTo>
                  <ns1:pt x="0" y="57150"/>
                </ns1:moveTo>
                <ns1:lnTo>
                  <ns1:pt x="123825" y="57150"/>
                </ns1:lnTo>
                <ns1:lnTo>
                  <ns1:pt x="123825" y="0"/>
                </ns1:lnTo>
                <ns1:lnTo>
                  <ns1:pt x="247650" y="152400"/>
                </ns1:lnTo>
                <ns1:lnTo>
                  <ns1:pt x="123825" y="304800"/>
                </ns1:lnTo>
                <ns1:lnTo>
                  <ns1:pt x="123825" y="247650"/>
                </ns1:lnTo>
                <ns1:lnTo>
                  <ns1:pt x="0" y="2476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3" name="trace:D17:content.auto.46">
            <ns1:extLst>
              <ns1:ext uri="{FF2B5EF4-FFF2-40B4-BE49-F238E27FC236}">
                <ns2:creationId id="{A7CC3239-78F9-4B68-AC9F-3A7767419159}"/>
              </ns1:ext>
            </ns1:extLst>
          </ns0:cNvPr>
          <ns0:cNvSpPr>
            <ns1:spLocks noGrp="1"/>
          </ns0:cNvSpPr>
          <ns0:nvPr/>
        </ns0:nvSpPr>
        <ns0:spPr>
          <ns1:xfrm>
            <ns1:off x="2971800" y="5095875"/>
            <ns1:ext cx="2381250" cy="1238250"/>
          </ns1:xfrm>
          <ns1:prstGeom prst="roundRect">
            <ns1:avLst>
              <ns1:gd name="adj" fmla="val 9231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64" name="trace:D17:content.auto.47">
            <ns1:extLst>
              <ns1:ext uri="{FF2B5EF4-FFF2-40B4-BE49-F238E27FC236}">
                <ns2:creationId id="{7A10F298-8525-4B2A-8256-DEB265A3C8AF}"/>
              </ns1:ext>
            </ns1:extLst>
          </ns0:cNvPr>
          <ns0:cNvSpPr>
            <ns1:spLocks noGrp="1"/>
          </ns0:cNvSpPr>
          <ns0:nvPr/>
        </ns0:nvSpPr>
        <ns0:spPr>
          <ns1:xfrm>
            <ns1:off x="3124200" y="5248275"/>
            <ns1:ext cx="371475" cy="37147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5" name="trace:D17:content.auto.48">
            <ns1:extLst>
              <ns1:ext uri="{FF2B5EF4-FFF2-40B4-BE49-F238E27FC236}">
                <ns2:creationId id="{A7EDC4AB-01B1-4E12-8289-0077A4552002}"/>
              </ns1:ext>
            </ns1:extLst>
          </ns0:cNvPr>
          <ns0:cNvSpPr>
            <ns1:spLocks noGrp="1"/>
          </ns0:cNvSpPr>
          <ns0:nvPr/>
        </ns0:nvSpPr>
        <ns0:spPr>
          <ns1:xfrm>
            <ns1:off x="3124200" y="5334000"/>
            <ns1:ext cx="37147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66" name="trace:D17:content.auto.49">
            <ns1:extLst>
              <ns1:ext uri="{FF2B5EF4-FFF2-40B4-BE49-F238E27FC236}">
                <ns2:creationId id="{FBFA177E-7A85-4672-A696-920A92F80D26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5257800"/>
            <ns1:ext cx="16002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AIが分析・生成</ns1:t>
            </ns1:r>
          </ns1:p>
        </ns0:txBody>
      </ns0:sp>
      <ns0:sp>
        <ns0:nvSpPr>
          <ns0:cNvPr id="67" name="trace:D17:content.auto.50">
            <ns1:extLst>
              <ns1:ext uri="{FF2B5EF4-FFF2-40B4-BE49-F238E27FC236}">
                <ns2:creationId id="{ECD74BF8-6B75-497B-994D-71A705ABEF95}"/>
              </ns1:ext>
            </ns1:extLst>
          </ns0:cNvPr>
          <ns0:cNvSpPr>
            <ns1:spLocks noGrp="1"/>
          </ns0:cNvSpPr>
          <ns0:nvPr/>
        </ns0:nvSpPr>
        <ns0:spPr>
          <ns1:xfrm>
            <ns1:off x="3133725" y="5772150"/>
            <ns1:ext cx="204787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提案書・見積・カンペを作成</ns1:t>
            </ns1:r>
          </ns1:p>
        </ns0:txBody>
      </ns0:sp>
      <ns0:sp>
        <ns0:nvSpPr>
          <ns0:cNvPr id="68" name="trace:D17:content.auto.51">
            <ns1:extLst>
              <ns1:ext uri="{FF2B5EF4-FFF2-40B4-BE49-F238E27FC236}">
                <ns2:creationId id="{330FCB53-D76C-44D3-A68C-5FEBD24EFC0E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5562600"/>
            <ns1:ext cx="247650" cy="304800"/>
          </ns1:xfrm>
          <ns1:custGeom>
            <ns1:pathLst>
              <ns1:path w="247650" h="304800">
                <ns1:moveTo>
                  <ns1:pt x="0" y="57150"/>
                </ns1:moveTo>
                <ns1:lnTo>
                  <ns1:pt x="123825" y="57150"/>
                </ns1:lnTo>
                <ns1:lnTo>
                  <ns1:pt x="123825" y="0"/>
                </ns1:lnTo>
                <ns1:lnTo>
                  <ns1:pt x="247650" y="152400"/>
                </ns1:lnTo>
                <ns1:lnTo>
                  <ns1:pt x="123825" y="304800"/>
                </ns1:lnTo>
                <ns1:lnTo>
                  <ns1:pt x="123825" y="247650"/>
                </ns1:lnTo>
                <ns1:lnTo>
                  <ns1:pt x="0" y="2476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9" name="trace:D17:content.auto.52">
            <ns1:extLst>
              <ns1:ext uri="{FF2B5EF4-FFF2-40B4-BE49-F238E27FC236}">
                <ns2:creationId id="{C44D7577-0DD8-4166-B55F-5C6C6AB68092}"/>
              </ns1:ext>
            </ns1:extLst>
          </ns0:cNvPr>
          <ns0:cNvSpPr>
            <ns1:spLocks noGrp="1"/>
          </ns0:cNvSpPr>
          <ns0:nvPr/>
        </ns0:nvSpPr>
        <ns0:spPr>
          <ns1:xfrm>
            <ns1:off x="5476875" y="5095875"/>
            <ns1:ext cx="2381250" cy="1238250"/>
          </ns1:xfrm>
          <ns1:prstGeom prst="roundRect">
            <ns1:avLst>
              <ns1:gd name="adj" fmla="val 9231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70" name="trace:D17:content.auto.53">
            <ns1:extLst>
              <ns1:ext uri="{FF2B5EF4-FFF2-40B4-BE49-F238E27FC236}">
                <ns2:creationId id="{0C2F1B2E-A883-45EF-AA61-F2AB4DB6CBB7}"/>
              </ns1:ext>
            </ns1:extLst>
          </ns0:cNvPr>
          <ns0:cNvSpPr>
            <ns1:spLocks noGrp="1"/>
          </ns0:cNvSpPr>
          <ns0:nvPr/>
        </ns0:nvSpPr>
        <ns0:spPr>
          <ns1:xfrm>
            <ns1:off x="5629275" y="5248275"/>
            <ns1:ext cx="371475" cy="37147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1" name="trace:D17:content.auto.54">
            <ns1:extLst>
              <ns1:ext uri="{FF2B5EF4-FFF2-40B4-BE49-F238E27FC236}">
                <ns2:creationId id="{797D9A1E-EE81-479E-BF2B-68900A858456}"/>
              </ns1:ext>
            </ns1:extLst>
          </ns0:cNvPr>
          <ns0:cNvSpPr>
            <ns1:spLocks noGrp="1"/>
          </ns0:cNvSpPr>
          <ns0:nvPr/>
        </ns0:nvSpPr>
        <ns0:spPr>
          <ns1:xfrm>
            <ns1:off x="5629275" y="5334000"/>
            <ns1:ext cx="37147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72" name="trace:D17:content.auto.55">
            <ns1:extLst>
              <ns1:ext uri="{FF2B5EF4-FFF2-40B4-BE49-F238E27FC236}">
                <ns2:creationId id="{5A9AD08E-FAB0-4DAF-9F8F-008AA5CB20B9}"/>
              </ns1:ext>
            </ns1:extLst>
          </ns0:cNvPr>
          <ns0:cNvSpPr>
            <ns1:spLocks noGrp="1"/>
          </ns0:cNvSpPr>
          <ns0:nvPr/>
        </ns0:nvSpPr>
        <ns0:spPr>
          <ns1:xfrm>
            <ns1:off x="6105525" y="5257800"/>
            <ns1:ext cx="16002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担当者が確認</ns1:t>
            </ns1:r>
          </ns1:p>
        </ns0:txBody>
      </ns0:sp>
      <ns0:sp>
        <ns0:nvSpPr>
          <ns0:cNvPr id="73" name="trace:D17:content.auto.56">
            <ns1:extLst>
              <ns1:ext uri="{FF2B5EF4-FFF2-40B4-BE49-F238E27FC236}">
                <ns2:creationId id="{C7EA8F03-A0FB-4013-A678-2E90AA2B6570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5772150"/>
            <ns1:ext cx="204787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根拠・表現・条件を調整</ns1:t>
            </ns1:r>
          </ns1:p>
        </ns0:txBody>
      </ns0:sp>
      <ns0:sp>
        <ns0:nvSpPr>
          <ns0:cNvPr id="74" name="trace:D17:content.auto.57">
            <ns1:extLst>
              <ns1:ext uri="{FF2B5EF4-FFF2-40B4-BE49-F238E27FC236}">
                <ns2:creationId id="{02CBF982-2A57-4C3A-96D4-A7EC87EBA68D}"/>
              </ns1:ext>
            </ns1:extLst>
          </ns0:cNvPr>
          <ns0:cNvSpPr>
            <ns1:spLocks noGrp="1"/>
          </ns0:cNvSpPr>
          <ns0:nvPr/>
        </ns0:nvSpPr>
        <ns0:spPr>
          <ns1:xfrm>
            <ns1:off x="7858125" y="5562600"/>
            <ns1:ext cx="247650" cy="304800"/>
          </ns1:xfrm>
          <ns1:custGeom>
            <ns1:pathLst>
              <ns1:path w="247650" h="304800">
                <ns1:moveTo>
                  <ns1:pt x="0" y="57150"/>
                </ns1:moveTo>
                <ns1:lnTo>
                  <ns1:pt x="123825" y="57150"/>
                </ns1:lnTo>
                <ns1:lnTo>
                  <ns1:pt x="123825" y="0"/>
                </ns1:lnTo>
                <ns1:lnTo>
                  <ns1:pt x="247650" y="152400"/>
                </ns1:lnTo>
                <ns1:lnTo>
                  <ns1:pt x="123825" y="304800"/>
                </ns1:lnTo>
                <ns1:lnTo>
                  <ns1:pt x="123825" y="247650"/>
                </ns1:lnTo>
                <ns1:lnTo>
                  <ns1:pt x="0" y="2476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5" name="trace:D17:content.auto.58">
            <ns1:extLst>
              <ns1:ext uri="{FF2B5EF4-FFF2-40B4-BE49-F238E27FC236}">
                <ns2:creationId id="{C943BFEC-A57C-4BE4-A45E-3FBA414D99F8}"/>
              </ns1:ext>
            </ns1:extLst>
          </ns0:cNvPr>
          <ns0:cNvSpPr>
            <ns1:spLocks noGrp="1"/>
          </ns0:cNvSpPr>
          <ns0:nvPr/>
        </ns0:nvSpPr>
        <ns0:spPr>
          <ns1:xfrm>
            <ns1:off x="7991475" y="5095875"/>
            <ns1:ext cx="2381250" cy="1238250"/>
          </ns1:xfrm>
          <ns1:prstGeom prst="roundRect">
            <ns1:avLst>
              <ns1:gd name="adj" fmla="val 9231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76" name="trace:D17:content.auto.59">
            <ns1:extLst>
              <ns1:ext uri="{FF2B5EF4-FFF2-40B4-BE49-F238E27FC236}">
                <ns2:creationId id="{92D460CE-9743-4FC5-B24E-9F4439EEC16F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5248275"/>
            <ns1:ext cx="371475" cy="37147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7" name="trace:D17:content.auto.60">
            <ns1:extLst>
              <ns1:ext uri="{FF2B5EF4-FFF2-40B4-BE49-F238E27FC236}">
                <ns2:creationId id="{51EAB79C-DD36-488B-814C-5E518DF48DF6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5334000"/>
            <ns1:ext cx="37147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78" name="trace:D17:content.auto.61">
            <ns1:extLst>
              <ns1:ext uri="{FF2B5EF4-FFF2-40B4-BE49-F238E27FC236}">
                <ns2:creationId id="{45E6B2FB-41FC-48DC-81D1-4D62F85AA7FB}"/>
              </ns1:ext>
            </ns1:extLst>
          </ns0:cNvPr>
          <ns0:cNvSpPr>
            <ns1:spLocks noGrp="1"/>
          </ns0:cNvSpPr>
          <ns0:nvPr/>
        </ns0:nvSpPr>
        <ns0:spPr>
          <ns1:xfrm>
            <ns1:off x="8620125" y="5257800"/>
            <ns1:ext cx="16002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責任者レビュー</ns1:t>
            </ns1:r>
          </ns1:p>
        </ns0:txBody>
      </ns0:sp>
      <ns0:sp>
        <ns0:nvSpPr>
          <ns0:cNvPr id="79" name="trace:D17:content.auto.62">
            <ns1:extLst>
              <ns1:ext uri="{FF2B5EF4-FFF2-40B4-BE49-F238E27FC236}">
                <ns2:creationId id="{4BA866B5-0AFE-4155-8EA0-DA01686D94F9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5772150"/>
            <ns1:ext cx="204787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品質・リスク・判断条件を確認</ns1:t>
            </ns1:r>
          </ns1:p>
        </ns0:txBody>
      </ns0:sp>
      <ns0:sp>
        <ns0:nvSpPr>
          <ns0:cNvPr id="80" name="trace:D17:content.auto.63">
            <ns1:extLst>
              <ns1:ext uri="{FF2B5EF4-FFF2-40B4-BE49-F238E27FC236}">
                <ns2:creationId id="{0119EEB4-01F3-4364-9D69-65435D8F4647}"/>
              </ns1:ext>
            </ns1:extLst>
          </ns0:cNvPr>
          <ns0:cNvSpPr>
            <ns1:spLocks noGrp="1"/>
          </ns0:cNvSpPr>
          <ns0:nvPr/>
        </ns0:nvSpPr>
        <ns0:spPr>
          <ns1:xfrm>
            <ns1:off x="10372725" y="5562600"/>
            <ns1:ext cx="247650" cy="304800"/>
          </ns1:xfrm>
          <ns1:custGeom>
            <ns1:pathLst>
              <ns1:path w="247650" h="304800">
                <ns1:moveTo>
                  <ns1:pt x="0" y="57150"/>
                </ns1:moveTo>
                <ns1:lnTo>
                  <ns1:pt x="123825" y="57150"/>
                </ns1:lnTo>
                <ns1:lnTo>
                  <ns1:pt x="123825" y="0"/>
                </ns1:lnTo>
                <ns1:lnTo>
                  <ns1:pt x="247650" y="152400"/>
                </ns1:lnTo>
                <ns1:lnTo>
                  <ns1:pt x="123825" y="304800"/>
                </ns1:lnTo>
                <ns1:lnTo>
                  <ns1:pt x="123825" y="247650"/>
                </ns1:lnTo>
                <ns1:lnTo>
                  <ns1:pt x="0" y="2476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1" name="trace:D17:content.auto.64">
            <ns1:extLst>
              <ns1:ext uri="{FF2B5EF4-FFF2-40B4-BE49-F238E27FC236}">
                <ns2:creationId id="{4BE20261-9DDB-45F3-BF1B-3B0B263D21EC}"/>
              </ns1:ext>
            </ns1:extLst>
          </ns0:cNvPr>
          <ns0:cNvSpPr>
            <ns1:spLocks noGrp="1"/>
          </ns0:cNvSpPr>
          <ns0:nvPr/>
        </ns0:nvSpPr>
        <ns0:spPr>
          <ns1:xfrm>
            <ns1:off x="10515600" y="5095875"/>
            <ns1:ext cx="2381250" cy="1238250"/>
          </ns1:xfrm>
          <ns1:prstGeom prst="roundRect">
            <ns1:avLst>
              <ns1:gd name="adj" fmla="val 9231"/>
            </ns1:avLst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82" name="trace:D17:content.auto.65">
            <ns1:extLst>
              <ns1:ext uri="{FF2B5EF4-FFF2-40B4-BE49-F238E27FC236}">
                <ns2:creationId id="{F416AC76-FB78-4517-B963-91CFC4B27AD2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5248275"/>
            <ns1:ext cx="371475" cy="37147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3" name="trace:D17:content.auto.66">
            <ns1:extLst>
              <ns1:ext uri="{FF2B5EF4-FFF2-40B4-BE49-F238E27FC236}">
                <ns2:creationId id="{1E0EE16A-39FE-4EE7-B3FA-8E775D5E2F6B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5334000"/>
            <ns1:ext cx="37147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05</ns1:t>
            </ns1:r>
          </ns1:p>
        </ns0:txBody>
      </ns0:sp>
      <ns0:sp>
        <ns0:nvSpPr>
          <ns0:cNvPr id="84" name="trace:D17:content.auto.67">
            <ns1:extLst>
              <ns1:ext uri="{FF2B5EF4-FFF2-40B4-BE49-F238E27FC236}">
                <ns2:creationId id="{AF1BC3FC-4B66-4ACC-B8EB-4E83761398AF}"/>
              </ns1:ext>
            </ns1:extLst>
          </ns0:cNvPr>
          <ns0:cNvSpPr>
            <ns1:spLocks noGrp="1"/>
          </ns0:cNvSpPr>
          <ns0:nvPr/>
        </ns0:nvSpPr>
        <ns0:spPr>
          <ns1:xfrm>
            <ns1:off x="11144250" y="5257800"/>
            <ns1:ext cx="16002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提案・記録</ns1:t>
            </ns1:r>
          </ns1:p>
        </ns0:txBody>
      </ns0:sp>
      <ns0:sp>
        <ns0:nvSpPr>
          <ns0:cNvPr id="85" name="trace:D17:content.auto.68">
            <ns1:extLst>
              <ns1:ext uri="{FF2B5EF4-FFF2-40B4-BE49-F238E27FC236}">
                <ns2:creationId id="{30653FBF-A30D-4C88-9C5E-5CC28D41C3C2}"/>
              </ns1:ext>
            </ns1:extLst>
          </ns0:cNvPr>
          <ns0:cNvSpPr>
            <ns1:spLocks noGrp="1"/>
          </ns0:cNvSpPr>
          <ns0:nvPr/>
        </ns0:nvSpPr>
        <ns0:spPr>
          <ns1:xfrm>
            <ns1:off x="10677525" y="5772150"/>
            <ns1:ext cx="204787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顧客提案後、結果を蓄積</ns1:t>
            </ns1:r>
          </ns1:p>
        </ns0:txBody>
      </ns0:sp>
      <ns0:sp>
        <ns0:nvSpPr>
          <ns0:cNvPr id="86" name="trace:D17:content.auto.69">
            <ns1:extLst>
              <ns1:ext uri="{FF2B5EF4-FFF2-40B4-BE49-F238E27FC236}">
                <ns2:creationId id="{B40A6EFF-6898-472F-9A9C-B31F641F7692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6677025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87" name="trace:D17:content.auto.70">
            <ns1:extLst>
              <ns1:ext uri="{FF2B5EF4-FFF2-40B4-BE49-F238E27FC236}">
                <ns2:creationId id="{CFBE0CF9-2035-4AFD-BFE1-C17D84933FF5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6572250"/>
            <ns1:ext cx="3619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定例レビューと改善サイクル</ns1:t>
            </ns1:r>
          </ns1:p>
        </ns0:txBody>
      </ns0:sp>
      <ns0:sp>
        <ns0:nvSpPr>
          <ns0:cNvPr id="88" name="trace:D17:content.auto.71">
            <ns1:extLst>
              <ns1:ext uri="{FF2B5EF4-FFF2-40B4-BE49-F238E27FC236}">
                <ns2:creationId id="{E0EC8856-C075-4AED-8558-AA3BE23CD757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6953250"/>
            <ns1:ext cx="3714750" cy="866775"/>
          </ns1:xfrm>
          <ns1:prstGeom prst="roundRect">
            <ns1:avLst>
              <ns1:gd name="adj" fmla="val 13187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89" name="trace:D17:content.auto.72">
            <ns1:extLst>
              <ns1:ext uri="{FF2B5EF4-FFF2-40B4-BE49-F238E27FC236}">
                <ns2:creationId id="{CA71FD6E-5174-4931-B478-1F5AF5FB0767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7115175"/>
            <ns1:ext cx="7143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毎週</ns1:t>
            </ns1:r>
          </ns1:p>
        </ns0:txBody>
      </ns0:sp>
      <ns0:sp>
        <ns0:nvSpPr>
          <ns0:cNvPr id="90" name="trace:D17:content.auto.73">
            <ns1:extLst>
              <ns1:ext uri="{FF2B5EF4-FFF2-40B4-BE49-F238E27FC236}">
                <ns2:creationId id="{FC9D146B-67DE-4B20-9ED6-B97BFAEE5057}"/>
              </ns1:ext>
            </ns1:extLst>
          </ns0:cNvPr>
          <ns0:cNvSpPr>
            <ns1:spLocks noGrp="1"/>
          </ns0:cNvSpPr>
          <ns0:nvPr/>
        </ns0:nvSpPr>
        <ns0:spPr>
          <ns1:xfrm>
            <ns1:off x="1457325" y="7105650"/>
            <ns1:ext cx="20955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案件レビュー</ns1:t>
            </ns1:r>
          </ns1:p>
        </ns0:txBody>
      </ns0:sp>
      <ns0:sp>
        <ns0:nvSpPr>
          <ns0:cNvPr id="91" name="trace:D17:content.auto.74">
            <ns1:extLst>
              <ns1:ext uri="{FF2B5EF4-FFF2-40B4-BE49-F238E27FC236}">
                <ns2:creationId id="{F4152A28-B395-4C1E-97C9-1A5EF910A0EB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7448550"/>
            <ns1:ext cx="33718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生成品質・修正内容・案件進捗を確認</ns1:t>
            </ns1:r>
          </ns1:p>
        </ns0:txBody>
      </ns0:sp>
      <ns0:sp>
        <ns0:nvSpPr>
          <ns0:cNvPr id="92" name="trace:D17:content.auto.75">
            <ns1:extLst>
              <ns1:ext uri="{FF2B5EF4-FFF2-40B4-BE49-F238E27FC236}">
                <ns2:creationId id="{EDBF3FE5-8DDD-4605-BAFF-62E5CB06E031}"/>
              </ns1:ext>
            </ns1:extLst>
          </ns0:cNvPr>
          <ns0:cNvSpPr>
            <ns1:spLocks noGrp="1"/>
          </ns0:cNvSpPr>
          <ns0:nvPr/>
        </ns0:nvSpPr>
        <ns0:spPr>
          <ns1:xfrm>
            <ns1:off x="4333875" y="6953250"/>
            <ns1:ext cx="3714750" cy="866775"/>
          </ns1:xfrm>
          <ns1:prstGeom prst="roundRect">
            <ns1:avLst>
              <ns1:gd name="adj" fmla="val 13187"/>
            </ns1:avLst>
          </ns1:pr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93" name="trace:D17:content.auto.76">
            <ns1:extLst>
              <ns1:ext uri="{FF2B5EF4-FFF2-40B4-BE49-F238E27FC236}">
                <ns2:creationId id="{41A6BAA7-16BB-4BA2-8F87-E62E4DF7B97A}"/>
              </ns1:ext>
            </ns1:extLst>
          </ns0:cNvPr>
          <ns0:cNvSpPr>
            <ns1:spLocks noGrp="1"/>
          </ns0:cNvSpPr>
          <ns0:nvPr/>
        </ns0:nvSpPr>
        <ns0:spPr>
          <ns1:xfrm>
            <ns1:off x="4505325" y="7115175"/>
            <ns1:ext cx="7143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毎月</ns1:t>
            </ns1:r>
          </ns1:p>
        </ns0:txBody>
      </ns0:sp>
      <ns0:sp>
        <ns0:nvSpPr>
          <ns0:cNvPr id="94" name="trace:D17:content.auto.77">
            <ns1:extLst>
              <ns1:ext uri="{FF2B5EF4-FFF2-40B4-BE49-F238E27FC236}">
                <ns2:creationId id="{5A9F5C76-CE7C-4771-9308-A1A8674A4F04}"/>
              </ns1:ext>
            </ns1:extLst>
          </ns0:cNvPr>
          <ns0:cNvSpPr>
            <ns1:spLocks noGrp="1"/>
          </ns0:cNvSpPr>
          <ns0:nvPr/>
        </ns0:nvSpPr>
        <ns0:spPr>
          <ns1:xfrm>
            <ns1:off x="5324475" y="7105650"/>
            <ns1:ext cx="20955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KPIレビュー</ns1:t>
            </ns1:r>
          </ns1:p>
        </ns0:txBody>
      </ns0:sp>
      <ns0:sp>
        <ns0:nvSpPr>
          <ns0:cNvPr id="95" name="trace:D17:content.auto.78">
            <ns1:extLst>
              <ns1:ext uri="{FF2B5EF4-FFF2-40B4-BE49-F238E27FC236}">
                <ns2:creationId id="{30FE6DAB-A7C0-4835-A1A6-18A1F0BE986A}"/>
              </ns1:ext>
            </ns1:extLst>
          </ns0:cNvPr>
          <ns0:cNvSpPr>
            <ns1:spLocks noGrp="1"/>
          </ns0:cNvSpPr>
          <ns0:nvPr/>
        </ns0:nvSpPr>
        <ns0:spPr>
          <ns1:xfrm>
            <ns1:off x="4505325" y="7448550"/>
            <ns1:ext cx="33718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作成時間・提案件数・受注率などを確認</ns1:t>
            </ns1:r>
          </ns1:p>
        </ns0:txBody>
      </ns0:sp>
      <ns0:sp>
        <ns0:nvSpPr>
          <ns0:cNvPr id="96" name="trace:D17:content.auto.79">
            <ns1:extLst>
              <ns1:ext uri="{FF2B5EF4-FFF2-40B4-BE49-F238E27FC236}">
                <ns2:creationId id="{1625EA93-F788-4216-8F25-581C7164B4CC}"/>
              </ns1:ext>
            </ns1:extLst>
          </ns0:cNvPr>
          <ns0:cNvSpPr>
            <ns1:spLocks noGrp="1"/>
          </ns0:cNvSpPr>
          <ns0:nvPr/>
        </ns0:nvSpPr>
        <ns0:spPr>
          <ns1:xfrm>
            <ns1:off x="8191500" y="6953250"/>
            <ns1:ext cx="3714750" cy="866775"/>
          </ns1:xfrm>
          <ns1:prstGeom prst="roundRect">
            <ns1:avLst>
              <ns1:gd name="adj" fmla="val 13187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97" name="trace:D17:content.auto.80">
            <ns1:extLst>
              <ns1:ext uri="{FF2B5EF4-FFF2-40B4-BE49-F238E27FC236}">
                <ns2:creationId id="{69C164FA-64F7-41D9-9057-7712CBA88DBD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7115175"/>
            <ns1:ext cx="7143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四半期</ns1:t>
            </ns1:r>
          </ns1:p>
        </ns0:txBody>
      </ns0:sp>
      <ns0:sp>
        <ns0:nvSpPr>
          <ns0:cNvPr id="98" name="trace:D17:content.auto.81">
            <ns1:extLst>
              <ns1:ext uri="{FF2B5EF4-FFF2-40B4-BE49-F238E27FC236}">
                <ns2:creationId id="{DC5C2D77-92E0-4065-84A8-6EC4CFC9C537}"/>
              </ns1:ext>
            </ns1:extLst>
          </ns0:cNvPr>
          <ns0:cNvSpPr>
            <ns1:spLocks noGrp="1"/>
          </ns0:cNvSpPr>
          <ns0:nvPr/>
        </ns0:nvSpPr>
        <ns0:spPr>
          <ns1:xfrm>
            <ns1:off x="9182100" y="7105650"/>
            <ns1:ext cx="20955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運用改善</ns1:t>
            </ns1:r>
          </ns1:p>
        </ns0:txBody>
      </ns0:sp>
      <ns0:sp>
        <ns0:nvSpPr>
          <ns0:cNvPr id="99" name="trace:D17:content.auto.82">
            <ns1:extLst>
              <ns1:ext uri="{FF2B5EF4-FFF2-40B4-BE49-F238E27FC236}">
                <ns2:creationId id="{C5B92963-6B1C-4087-8355-EE2DFAB77206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7448550"/>
            <ns1:ext cx="33718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テンプレート・ルール・活用範囲を更新</ns1:t>
            </ns1:r>
          </ns1:p>
        </ns0:txBody>
      </ns0:sp>
      <ns0:sp>
        <ns0:nvSpPr>
          <ns0:cNvPr id="100" name="trace:D17:content.auto.83">
            <ns1:extLst>
              <ns1:ext uri="{FF2B5EF4-FFF2-40B4-BE49-F238E27FC236}">
                <ns2:creationId id="{E15FB6BC-2E86-416A-9B85-8D1700ABC392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6953250"/>
            <ns1:ext cx="3476625" cy="866775"/>
          </ns1:xfrm>
          <ns1:prstGeom prst="roundRect">
            <ns1:avLst>
              <ns1:gd name="adj" fmla="val 13187"/>
            </ns1:avLst>
          </ns1:prstGeom>
          <ns1:solidFill>
            <ns1:srgbClr val="F7FAFC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01" name="trace:D17:content.auto.84">
            <ns1:extLst>
              <ns1:ext uri="{FF2B5EF4-FFF2-40B4-BE49-F238E27FC236}">
                <ns2:creationId id="{AAF06B7B-B5AC-46B5-98C3-660D936093A5}"/>
              </ns1:ext>
            </ns1:extLst>
          </ns0:cNvPr>
          <ns0:cNvSpPr>
            <ns1:spLocks noGrp="1"/>
          </ns0:cNvSpPr>
          <ns0:nvPr/>
        </ns0:nvSpPr>
        <ns0:spPr>
          <ns1:xfrm>
            <ns1:off x="12125325" y="7105650"/>
            <ns1:ext cx="2667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改善サイクル</ns1:t>
            </ns1:r>
          </ns1:p>
        </ns0:txBody>
      </ns0:sp>
      <ns0:sp>
        <ns0:nvSpPr>
          <ns0:cNvPr id="102" name="trace:D17:content.auto.85">
            <ns1:extLst>
              <ns1:ext uri="{FF2B5EF4-FFF2-40B4-BE49-F238E27FC236}">
                <ns2:creationId id="{EE5D5A75-AC8F-454B-AA4B-9925966B2CD4}"/>
              </ns1:ext>
            </ns1:extLst>
          </ns0:cNvPr>
          <ns0:cNvSpPr>
            <ns1:spLocks noGrp="1"/>
          </ns0:cNvSpPr>
          <ns0:nvPr/>
        </ns0:nvSpPr>
        <ns0:spPr>
          <ns1:xfrm>
            <ns1:off x="12125325" y="7419975"/>
            <ns1:ext cx="30003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記録 → 分析 → 改善 → 再利用</ns1:t>
            </ns1:r>
          </ns1:p>
        </ns0:txBody>
      </ns0:sp>
      <ns0:sp>
        <ns0:nvSpPr>
          <ns0:cNvPr id="103" name="trace:D17:content.auto.86">
            <ns1:extLst>
              <ns1:ext uri="{FF2B5EF4-FFF2-40B4-BE49-F238E27FC236}">
                <ns2:creationId id="{83A3B712-D162-4664-851E-F89A5CB2E962}"/>
              </ns1:ext>
            </ns1:extLst>
          </ns0:cNvPr>
          <ns0:cNvSpPr>
            <ns1:spLocks noGrp="1"/>
          </ns0:cNvSpPr>
          <ns0:nvPr/>
        </ns0:nvSpPr>
        <ns0:spPr>
          <ns1:xfrm>
            <ns1:off x="12125325" y="7658100"/>
            <ns1:ext cx="2857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学習結果を次の提案へ反映</ns1:t>
            </ns1:r>
          </ns1:p>
        </ns0:txBody>
      </ns0:sp>
      <ns0:sp>
        <ns0:nvSpPr>
          <ns0:cNvPr id="104" name="trace:D17:content.auto.87">
            <ns1:extLst>
              <ns1:ext uri="{FF2B5EF4-FFF2-40B4-BE49-F238E27FC236}">
                <ns2:creationId id="{314640DB-8C69-43C8-A9AD-B0FFF3DDAFD4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8401050"/>
            <ns1:ext cx="257175" cy="102870"/>
          </ns1:xfrm>
          <ns1:custGeom>
            <ns1:pathLst>
              <ns1:path w="257175" h="102870">
                <ns1:moveTo>
                  <ns1:pt x="0" y="42863"/>
                </ns1:moveTo>
                <ns1:lnTo>
                  <ns1:pt x="128588" y="0"/>
                </ns1:lnTo>
                <ns1:lnTo>
                  <ns1:pt x="257175" y="51435"/>
                </ns1:lnTo>
                <ns1:lnTo>
                  <ns1:pt x="128588" y="10287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05" name="trace:D17:content.auto.88">
            <ns1:extLst>
              <ns1:ext uri="{FF2B5EF4-FFF2-40B4-BE49-F238E27FC236}">
                <ns2:creationId id="{4977D746-6B44-4B81-B03B-5049C0CB4B74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8452485"/>
            <ns1:ext cx="128588" cy="111443"/>
          </ns1:xfrm>
          <ns1:custGeom>
            <ns1:pathLst>
              <ns1:path w="128588" h="111443">
                <ns1:moveTo>
                  <ns1:pt x="0" y="51435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111443"/>
                </ns1:lnTo>
                <ns1:close/>
              </ns1:path>
            </ns1:pathLst>
          </ns1:custGeom>
          <ns1:solidFill>
            <ns1:srgbClr val="6F7882"/>
          </ns1:solidFill>
          <ns1:ln w="0">
            <ns1:noFill/>
            <ns1:prstDash val="solid"/>
          </ns1:ln>
        </ns0:spPr>
      </ns0:sp>
      <ns0:sp>
        <ns0:nvSpPr>
          <ns0:cNvPr id="106" name="trace:D17:content.auto.89">
            <ns1:extLst>
              <ns1:ext uri="{FF2B5EF4-FFF2-40B4-BE49-F238E27FC236}">
                <ns2:creationId id="{73006583-0BB6-4C27-B2F9-CAA2A33C333D}"/>
              </ns1:ext>
            </ns1:extLst>
          </ns0:cNvPr>
          <ns0:cNvSpPr>
            <ns1:spLocks noGrp="1"/>
          </ns0:cNvSpPr>
          <ns0:nvPr/>
        </ns0:nvSpPr>
        <ns0:spPr>
          <ns1:xfrm>
            <ns1:off x="604838" y="8452485"/>
            <ns1:ext cx="128588" cy="60008"/>
          </ns1:xfrm>
          <ns1:custGeom>
            <ns1:pathLst>
              <ns1:path w="128588" h="60008">
                <ns1:moveTo>
                  <ns1:pt x="0" y="0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60008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07" name="trace:D17:content.auto.90">
            <ns1:extLst>
              <ns1:ext uri="{FF2B5EF4-FFF2-40B4-BE49-F238E27FC236}">
                <ns2:creationId id="{216182A7-5AA0-4B9C-816B-C7FBB85EDED8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8512493"/>
            <ns1:ext cx="128588" cy="111442"/>
          </ns1:xfrm>
          <ns1:custGeom>
            <ns1:pathLst>
              <ns1:path w="128588" h="111442">
                <ns1:moveTo>
                  <ns1:pt x="0" y="51435"/>
                </ns1:moveTo>
                <ns1:lnTo>
                  <ns1:pt x="128588" y="0"/>
                </ns1:lnTo>
                <ns1:lnTo>
                  <ns1:pt x="128588" y="60007"/>
                </ns1:lnTo>
                <ns1:lnTo>
                  <ns1:pt x="0" y="111442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08" name="trace:D17:content.auto.91">
            <ns1:extLst>
              <ns1:ext uri="{FF2B5EF4-FFF2-40B4-BE49-F238E27FC236}">
                <ns2:creationId id="{35D3A6D5-7C6F-4A30-A56F-B05315307B06}"/>
              </ns1:ext>
            </ns1:extLst>
          </ns0:cNvPr>
          <ns0:cNvSpPr>
            <ns1:spLocks noGrp="1"/>
          </ns0:cNvSpPr>
          <ns0:nvPr/>
        </ns0:nvSpPr>
        <ns0:spPr>
          <ns1:xfrm>
            <ns1:off x="604838" y="8512493"/>
            <ns1:ext cx="128588" cy="111442"/>
          </ns1:xfrm>
          <ns1:custGeom>
            <ns1:pathLst>
              <ns1:path w="128588" h="111442">
                <ns1:moveTo>
                  <ns1:pt x="0" y="0"/>
                </ns1:moveTo>
                <ns1:lnTo>
                  <ns1:pt x="128588" y="0"/>
                </ns1:lnTo>
                <ns1:lnTo>
                  <ns1:pt x="128588" y="60007"/>
                </ns1:lnTo>
                <ns1:lnTo>
                  <ns1:pt x="0" y="111442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109" name="trace:D17:footer.brand">
            <ns1:extLst>
              <ns1:ext uri="{FF2B5EF4-FFF2-40B4-BE49-F238E27FC236}">
                <ns2:creationId id="{0A41CBF4-A28D-4231-9799-677F7344AAB5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8410575"/>
            <ns1:ext cx="16573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10" name="trace:D17:content.auto.92">
            <ns1:extLst>
              <ns1:ext uri="{FF2B5EF4-FFF2-40B4-BE49-F238E27FC236}">
                <ns2:creationId id="{DAFD11A0-2709-4099-8E0A-11A358E1881F}"/>
              </ns1:ext>
            </ns1:extLst>
          </ns0:cNvPr>
          <ns0:cNvSpPr>
            <ns1:spLocks noGrp="1"/>
          </ns0:cNvSpPr>
          <ns0:nvPr/>
        </ns0:nvSpPr>
        <ns0:spPr>
          <ns1:xfrm>
            <ns1:off x="2619375" y="8334375"/>
            <ns1:ext cx="9525" cy="390525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11" name="trace:D17:footer.tagline.jp">
            <ns1:extLst>
              <ns1:ext uri="{FF2B5EF4-FFF2-40B4-BE49-F238E27FC236}">
                <ns2:creationId id="{6803E5CE-48F6-4592-9BED-16C58F60FB6E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334375"/>
            <ns1:ext cx="3429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12" name="trace:D17:footer.tagline.en">
            <ns1:extLst>
              <ns1:ext uri="{FF2B5EF4-FFF2-40B4-BE49-F238E27FC236}">
                <ns2:creationId id="{B033C5D2-0812-4A00-98E6-54FE21AE4B6D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553450"/>
            <ns1:ext cx="3429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13" name="trace:D17:footer.date">
            <ns1:extLst>
              <ns1:ext uri="{FF2B5EF4-FFF2-40B4-BE49-F238E27FC236}">
                <ns2:creationId id="{FD915CD9-F777-422F-853F-92ECA028D87C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410575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14" name="trace:D17:content.auto.93">
            <ns1:extLst>
              <ns1:ext uri="{FF2B5EF4-FFF2-40B4-BE49-F238E27FC236}">
                <ns2:creationId id="{CE010C5E-B8CA-429B-B6D8-18A402CA284B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486775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3:creationId val="1874865509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2026-09-20T12:57:05.4180000Z</dcterms:created>
  <dcterms:modified xsi:type="dcterms:W3CDTF">2026-09-20T12:57:05.4180000Z</dcterms:modified>
</coreProperties>
</file>