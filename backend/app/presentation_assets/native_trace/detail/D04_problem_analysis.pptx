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5cb371c4246cf" /><Relationship Type="http://schemas.openxmlformats.org/officeDocument/2006/relationships/extended-properties" Target="/docProps/app.xml" Id="Rc985606831e4469b" /><Relationship Type="http://schemas.openxmlformats.org/officeDocument/2006/relationships/officeDocument" Target="/ppt/presentation.xml" Id="R628d3bcc6d3b47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0c9109ab44ac7"/>
  </p:sldMasterIdLst>
  <p:notesMasterIdLst>
    <p:notesMasterId xmlns:r="http://schemas.openxmlformats.org/officeDocument/2006/relationships" r:id="Rea6d0afbc0c54cad"/>
  </p:notesMasterIdLst>
  <p:sldIdLst>
    <p:sldId xmlns:r="http://schemas.openxmlformats.org/officeDocument/2006/relationships" id="256" r:id="R2e32f935bf994a0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188a7f81e4134" /><Relationship Type="http://schemas.openxmlformats.org/officeDocument/2006/relationships/slideMaster" Target="/ppt/slideMasters/slideMaster1.xml" Id="Rb800c9109ab44ac7" /><Relationship Type="http://schemas.openxmlformats.org/officeDocument/2006/relationships/notesMaster" Target="/ppt/notesMasters/notesMaster1.xml" Id="Rea6d0afbc0c54cad" /><Relationship Type="http://schemas.openxmlformats.org/officeDocument/2006/relationships/presProps" Target="/ppt/presProps.xml" Id="R2cf292efcbab46e4" /><Relationship Type="http://schemas.openxmlformats.org/officeDocument/2006/relationships/tableStyles" Target="/ppt/tableStyles.xml" Id="R89e9c9f76b864444" /><Relationship Type="http://schemas.openxmlformats.org/officeDocument/2006/relationships/slide" Target="/ppt/slides/slide1.xml" Id="R2e32f935bf994a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a81d60c9843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fb557296d47fd" /><Relationship Type="http://schemas.openxmlformats.org/officeDocument/2006/relationships/notesMaster" Target="/ppt/notesMasters/notesMaster1.xml" Id="Rafdc0ce74e06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D04 problem-analysis detail replacement native trace. Canonical image is the sole visual authority; visible content uses editable native text, shapes, connectors, and icons.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02efa81fb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efea6ad344919" /><Relationship Type="http://schemas.openxmlformats.org/officeDocument/2006/relationships/slideLayout" Target="/ppt/slideLayouts/slideLayout1.xml" Id="R27f57b51f5c4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f57b51f5c4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ca6d8d734ba5" /><Relationship Type="http://schemas.openxmlformats.org/officeDocument/2006/relationships/notesSlide" Target="/ppt/notesSlides/notesSlide1.xml" Id="R2d28f0c8c5e44b3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85" name="trace:D04:content.auto">
            <ns1:extLst>
              <ns1:ext uri="{FF2B5EF4-FFF2-40B4-BE49-F238E27FC236}">
                <ns2:creationId id="{76C13137-38BE-414E-854E-A2CB79396089}"/>
              </ns1:ext>
            </ns1:extLst>
          </ns0:cNvPr>
          <ns0:cNvSpPr>
            <ns1:spLocks noGrp="1"/>
          </ns0:cNvSpPr>
          <ns0:nvPr/>
        </ns0:nvSpPr>
        <ns0:spPr>
          <ns1:xfrm>
            <ns1:off x="10810875" y="0"/>
            <ns1:ext cx="2857500" cy="4476750"/>
          </ns1:xfrm>
          <ns1:custGeom>
            <ns1:pathLst>
              <ns1:path w="2857500" h="4476750">
                <ns1:moveTo>
                  <ns1:pt x="1666875" y="0"/>
                </ns1:moveTo>
                <ns1:lnTo>
                  <ns1:pt x="2857500" y="0"/>
                </ns1:lnTo>
                <ns1:lnTo>
                  <ns1:pt x="1190625" y="4476750"/>
                </ns1:lnTo>
                <ns1:lnTo>
                  <ns1:pt x="0" y="44767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" name="trace:D04:content.auto.2">
            <ns1:extLst>
              <ns1:ext uri="{FF2B5EF4-FFF2-40B4-BE49-F238E27FC236}">
                <ns2:creationId id="{CD979128-71B6-4356-BDEF-C4ED6F6C8797}"/>
              </ns1:ext>
            </ns1:extLst>
          </ns0:cNvPr>
          <ns0:cNvSpPr>
            <ns1:spLocks noGrp="1"/>
          </ns0:cNvSpPr>
          <ns0:nvPr/>
        </ns0:nvSpPr>
        <ns0:spPr>
          <ns1:xfrm>
            <ns1:off x="10372725" y="0"/>
            <ns1:ext cx="2105025" cy="4476750"/>
          </ns1:xfrm>
          <ns1:custGeom>
            <ns1:pathLst>
              <ns1:path w="2105025" h="4476750">
                <ns1:moveTo>
                  <ns1:pt x="1666875" y="0"/>
                </ns1:moveTo>
                <ns1:lnTo>
                  <ns1:pt x="2105025" y="0"/>
                </ns1:lnTo>
                <ns1:lnTo>
                  <ns1:pt x="438150" y="4476750"/>
                </ns1:lnTo>
                <ns1:lnTo>
                  <ns1:pt x="0" y="4476750"/>
                </ns1:lnTo>
                <ns1:close/>
              </ns1:path>
            </ns1:pathLst>
          </ns1:custGeom>
          <ns1:solidFill>
            <ns1:srgbClr val="F8E9EB"/>
          </ns1:solidFill>
          <ns1:ln w="0">
            <ns1:noFill/>
            <ns1:prstDash val="solid"/>
          </ns1:ln>
        </ns0:spPr>
      </ns0:sp>
      <ns0:sp>
        <ns0:nvSpPr>
          <ns0:cNvPr id="3" name="trace:D04:content.auto.3">
            <ns1:extLst>
              <ns1:ext uri="{FF2B5EF4-FFF2-40B4-BE49-F238E27FC236}">
                <ns2:creationId id="{B33988AB-F0C2-4A2B-8A81-5784B295818E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0" y="7067550"/>
            <ns1:ext cx="3733800" cy="1895475"/>
          </ns1:xfrm>
          <ns1:custGeom>
            <ns1:pathLst>
              <ns1:path w="3733800" h="1895475">
                <ns1:moveTo>
                  <ns1:pt x="0" y="1895475"/>
                </ns1:moveTo>
                <ns1:lnTo>
                  <ns1:pt x="3733800" y="0"/>
                </ns1:lnTo>
                <ns1:lnTo>
                  <ns1:pt x="3733800" y="18954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04:content.auto.4">
            <ns1:extLst>
              <ns1:ext uri="{FF2B5EF4-FFF2-40B4-BE49-F238E27FC236}">
                <ns2:creationId id="{40E34440-40A2-4D77-82E9-FFD198DB14C1}"/>
              </ns1:ext>
            </ns1:extLst>
          </ns0:cNvPr>
          <ns0:cNvSpPr>
            <ns1:spLocks noGrp="1"/>
          </ns0:cNvSpPr>
          <ns0:nvPr/>
        </ns0:nvSpPr>
        <ns0:spPr>
          <ns1:xfrm>
            <ns1:off x="13430250" y="7772400"/>
            <ns1:ext cx="2495550" cy="1190625"/>
          </ns1:xfrm>
          <ns1:custGeom>
            <ns1:pathLst>
              <ns1:path w="2495550" h="1190625">
                <ns1:moveTo>
                  <ns1:pt x="0" y="1190625"/>
                </ns1:moveTo>
                <ns1:lnTo>
                  <ns1:pt x="2495550" y="0"/>
                </ns1:lnTo>
                <ns1:lnTo>
                  <ns1:pt x="2495550" y="119062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5" name="trace:D04:content.auto.5">
            <ns1:extLst>
              <ns1:ext uri="{FF2B5EF4-FFF2-40B4-BE49-F238E27FC236}">
                <ns2:creationId id="{E8360254-95FC-4715-ACE7-5E8503CD00A5}"/>
              </ns1:ext>
            </ns1:extLst>
          </ns0:cNvPr>
          <ns0:cNvSpPr>
            <ns1:spLocks noGrp="1"/>
          </ns0:cNvSpPr>
          <ns0:nvPr/>
        </ns0:nvSpPr>
        <ns0:spPr>
          <ns1:xfrm>
            <ns1:off x="295275" y="295275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D04</ns1:t>
            </ns1:r>
          </ns1:p>
        </ns0:txBody>
      </ns0:sp>
      <ns0:sp>
        <ns0:nvSpPr>
          <ns0:cNvPr id="6" name="trace:D04:title.primary">
            <ns1:extLst>
              <ns1:ext uri="{FF2B5EF4-FFF2-40B4-BE49-F238E27FC236}">
                <ns2:creationId id="{8447F932-BE43-487C-9661-62410367DDDA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295275"/>
            <ns1:ext cx="3143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主要課題（詳細版）</ns1:t>
            </ns1:r>
          </ns1:p>
        </ns0:txBody>
      </ns0:sp>
      <ns0:sp>
        <ns0:nvSpPr>
          <ns0:cNvPr id="7" name="trace:D04:header.brand">
            <ns1:extLst>
              <ns1:ext uri="{FF2B5EF4-FFF2-40B4-BE49-F238E27FC236}">
                <ns2:creationId id="{E70DB5E1-7712-4D37-8827-894A449A3979}"/>
              </ns1:ext>
            </ns1:extLst>
          </ns0:cNvPr>
          <ns0:cNvSpPr>
            <ns1:spLocks noGrp="1"/>
          </ns0:cNvSpPr>
          <ns0:nvPr/>
        </ns0:nvSpPr>
        <ns0:spPr>
          <ns1:xfrm>
            <ns1:off x="9877425" y="295275"/>
            <ns1:ext cx="19526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10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8" name="trace:D04:header.tagline">
            <ns1:extLst>
              <ns1:ext uri="{FF2B5EF4-FFF2-40B4-BE49-F238E27FC236}">
                <ns2:creationId id="{AD48FD78-EADE-44A5-85B1-AAFE59B8E148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638175"/>
            <ns1:ext cx="285750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9" name="trace:D04:header.message">
            <ns1:extLst>
              <ns1:ext uri="{FF2B5EF4-FFF2-40B4-BE49-F238E27FC236}">
                <ns2:creationId id="{5334FBB8-18F3-489D-BCEA-FEDE7F4596B1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409575"/>
            <ns1:ext cx="18097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0" name="trace:D04:content.auto.6">
            <ns1:extLst>
              <ns1:ext uri="{FF2B5EF4-FFF2-40B4-BE49-F238E27FC236}">
                <ns2:creationId id="{F41DF74F-BC9C-4FE8-A85D-0FDB52F837D8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904875"/>
            <ns1:ext cx="1476375" cy="9525"/>
          </ns1:xfrm>
          <ns1:prstGeom prst="line">
            <ns1:avLst/>
          </ns1:prstGeom>
          <ns1:noFill/>
          <ns1:ln w="9525">
            <ns1:solidFill>
              <ns1:srgbClr val="1B222A"/>
            </ns1:solidFill>
            <ns1:prstDash val="solid"/>
          </ns1:ln>
        </ns0:spPr>
      </ns0:sp>
      <ns0:sp>
        <ns0:nvSpPr>
          <ns0:cNvPr id="11" name="trace:D04:content.auto.7">
            <ns1:extLst>
              <ns1:ext uri="{FF2B5EF4-FFF2-40B4-BE49-F238E27FC236}">
                <ns2:creationId id="{D33C32C4-66E5-4ED3-B813-5DBF64A65B54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" name="trace:D04:content.auto.8">
            <ns1:extLst>
              <ns1:ext uri="{FF2B5EF4-FFF2-40B4-BE49-F238E27FC236}">
                <ns2:creationId id="{704698CC-675B-4602-9546-BCE9830E3490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000125"/>
            <ns1:ext cx="2428875" cy="714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4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4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主要課題</ns1:t>
            </ns1:r>
          </ns1:p>
        </ns0:txBody>
      </ns0:sp>
      <ns0:sp>
        <ns0:nvSpPr>
          <ns0:cNvPr id="13" name="trace:D04:content.auto.9">
            <ns1:extLst>
              <ns1:ext uri="{FF2B5EF4-FFF2-40B4-BE49-F238E27FC236}">
                <ns2:creationId id="{5CD1B473-0686-4426-BEBD-A7001BF019A4}"/>
              </ns1:ext>
            </ns1:extLst>
          </ns0:cNvPr>
          <ns0:cNvSpPr>
            <ns1:spLocks noGrp="1"/>
          </ns0:cNvSpPr>
          <ns0:nvPr/>
        </ns0:nvSpPr>
        <ns0:spPr>
          <ns1:xfrm>
            <ns1:off x="2905125" y="1000125"/>
            <ns1:ext cx="4095750" cy="714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42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42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の詳細分析</ns1:t>
            </ns1:r>
          </ns1:p>
        </ns0:txBody>
      </ns0:sp>
      <ns0:sp>
        <ns0:nvSpPr>
          <ns0:cNvPr id="14" name="trace:D04:title.primary.2">
            <ns1:extLst>
              <ns1:ext uri="{FF2B5EF4-FFF2-40B4-BE49-F238E27FC236}">
                <ns2:creationId id="{7B11E31C-A9B5-43EF-A94C-F34A9D95D7B6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685925"/>
            <ns1:ext cx="9525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提案業務の生産性・品質・再利用性を阻害している要因を整理し、優先テーマを明確化します。</ns1:t>
            </ns1:r>
          </ns1:p>
        </ns0:txBody>
      </ns0:sp>
      <ns0:sp>
        <ns0:nvSpPr>
          <ns0:cNvPr id="15" name="trace:D04:content.auto.10">
            <ns1:extLst>
              <ns1:ext uri="{FF2B5EF4-FFF2-40B4-BE49-F238E27FC236}">
                <ns2:creationId id="{6F05A12E-9C5D-4221-BD19-0EB2E1AACED8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343150"/>
            <ns1:ext cx="428625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6" name="trace:D04:content.auto.11">
            <ns1:extLst>
              <ns1:ext uri="{FF2B5EF4-FFF2-40B4-BE49-F238E27FC236}">
                <ns2:creationId id="{F595D6B6-88B3-4F2A-AD26-DF2FD5CF8B19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" y="2238375"/>
            <ns1:ext cx="2095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主要課題一覧</ns1:t>
            </ns1:r>
          </ns1:p>
        </ns0:txBody>
      </ns0:sp>
      <ns0:sp>
        <ns0:nvSpPr>
          <ns0:cNvPr id="17" name="trace:D04:content.auto.12">
            <ns1:extLst>
              <ns1:ext uri="{FF2B5EF4-FFF2-40B4-BE49-F238E27FC236}">
                <ns2:creationId id="{364BECD6-7DBC-4F14-8C49-F1A3E835CE89}"/>
              </ns1:ext>
            </ns1:extLst>
          </ns0:cNvPr>
          <ns0:cNvSpPr>
            <ns1:spLocks noGrp="1"/>
          </ns0:cNvSpPr>
          <ns0:nvPr/>
        </ns0:nvSpPr>
        <ns0:spPr>
          <ns1:xfrm>
            <ns1:off x="4895850" y="2343150"/>
            <ns1:ext cx="4381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8" name="trace:D04:title.primary.3">
            <ns1:extLst>
              <ns1:ext uri="{FF2B5EF4-FFF2-40B4-BE49-F238E27FC236}">
                <ns2:creationId id="{32E0F315-1F2D-4938-AD8F-CA5B8F9C6814}"/>
              </ns1:ext>
            </ns1:extLst>
          </ns0:cNvPr>
          <ns0:cNvSpPr>
            <ns1:spLocks noGrp="1"/>
          </ns0:cNvSpPr>
          <ns0:nvPr/>
        </ns0:nvSpPr>
        <ns0:spPr>
          <ns1:xfrm>
            <ns1:off x="5543550" y="2238375"/>
            <ns1:ext cx="2952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原因と影響のつながり</ns1:t>
            </ns1:r>
          </ns1:p>
        </ns0:txBody>
      </ns0:sp>
      <ns0:sp>
        <ns0:nvSpPr>
          <ns0:cNvPr id="19" name="trace:D04:content.auto.13">
            <ns1:extLst>
              <ns1:ext uri="{FF2B5EF4-FFF2-40B4-BE49-F238E27FC236}">
                <ns2:creationId id="{2296C71E-56E1-4440-BF0C-693FBD2566B3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2343150"/>
            <ns1:ext cx="4381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0" name="trace:D04:title.primary.4">
            <ns1:extLst>
              <ns1:ext uri="{FF2B5EF4-FFF2-40B4-BE49-F238E27FC236}">
                <ns2:creationId id="{7E38C764-7A13-49E8-A6CE-9A045A988305}"/>
              </ns1:ext>
            </ns1:extLst>
          </ns0:cNvPr>
          <ns0:cNvSpPr>
            <ns1:spLocks noGrp="1"/>
          </ns0:cNvSpPr>
          <ns0:nvPr/>
        </ns0:nvSpPr>
        <ns0:spPr>
          <ns1:xfrm>
            <ns1:off x="11582400" y="2238375"/>
            <ns1:ext cx="2381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改善優先テーマ</ns1:t>
            </ns1:r>
          </ns1:p>
        </ns0:txBody>
      </ns0:sp>
      <ns0:sp>
        <ns0:nvSpPr>
          <ns0:cNvPr id="21" name="trace:D04:content.auto.14">
            <ns1:extLst>
              <ns1:ext uri="{FF2B5EF4-FFF2-40B4-BE49-F238E27FC236}">
                <ns2:creationId id="{73190996-7E27-4987-99F0-F951A1F0BDAE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600325"/>
            <ns1:ext cx="4171950" cy="1085850"/>
          </ns1:xfrm>
          <ns1:prstGeom prst="roundRect">
            <ns1:avLst>
              <ns1:gd name="adj" fmla="val 10526"/>
            </ns1:avLst>
          </ns1:prstGeom>
          <ns1:solidFill>
            <ns1:srgbClr val="FAFBFC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22" name="trace:D04:content.auto.15">
            <ns1:extLst>
              <ns1:ext uri="{FF2B5EF4-FFF2-40B4-BE49-F238E27FC236}">
                <ns2:creationId id="{600D2367-BBE0-4BAB-ADF1-DE192A021535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2743200"/>
            <ns1:ext cx="781050" cy="7810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3" name="trace:D04:content.auto.16">
            <ns1:extLst>
              <ns1:ext uri="{FF2B5EF4-FFF2-40B4-BE49-F238E27FC236}">
                <ns2:creationId id="{5D3E29AB-6590-4841-BE6D-699A86E069D2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2933700"/>
            <ns1:ext cx="209550" cy="2095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4" name="trace:D04:content.auto.17">
            <ns1:extLst>
              <ns1:ext uri="{FF2B5EF4-FFF2-40B4-BE49-F238E27FC236}">
                <ns2:creationId id="{95AB5A8C-0F8A-4F89-9D0E-BA5E79AD1F7E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2933700"/>
            <ns1:ext cx="209550" cy="2095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5" name="trace:D04:content.auto.18">
            <ns1:extLst>
              <ns1:ext uri="{FF2B5EF4-FFF2-40B4-BE49-F238E27FC236}">
                <ns2:creationId id="{29315D98-7EA9-4C7D-BDE7-A7953AAD78C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105150"/>
            <ns1:ext cx="209550" cy="2095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6" name="trace:D04:content.auto.19">
            <ns1:extLst>
              <ns1:ext uri="{FF2B5EF4-FFF2-40B4-BE49-F238E27FC236}">
                <ns2:creationId id="{FD9543DA-9A45-4972-A16C-68A4BB9CCB9B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3248025"/>
            <ns1:ext cx="9525" cy="14287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7" name="trace:D04:content.auto.20">
            <ns1:extLst>
              <ns1:ext uri="{FF2B5EF4-FFF2-40B4-BE49-F238E27FC236}">
                <ns2:creationId id="{4552DDA2-04B1-4443-8368-EB80FD69DBB9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3248025"/>
            <ns1:ext cx="50482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8" name="trace:D04:content.auto.21">
            <ns1:extLst>
              <ns1:ext uri="{FF2B5EF4-FFF2-40B4-BE49-F238E27FC236}">
                <ns2:creationId id="{279E88DF-1EA2-44BD-8D1F-593D338E8DAE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248025"/>
            <ns1:ext cx="9525" cy="14287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9" name="trace:D04:content.auto.22">
            <ns1:extLst>
              <ns1:ext uri="{FF2B5EF4-FFF2-40B4-BE49-F238E27FC236}">
                <ns2:creationId id="{C6BFEE84-A10E-4D46-9D03-25A46DD8AAFE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419475"/>
            <ns1:ext cx="27622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0" name="trace:D04:title.primary.5">
            <ns1:extLst>
              <ns1:ext uri="{FF2B5EF4-FFF2-40B4-BE49-F238E27FC236}">
                <ns2:creationId id="{CE767407-9819-4720-B68F-2C67846E4631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2781300"/>
            <ns1:ext cx="2952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情報収集の分散</ns1:t>
            </ns1:r>
          </ns1:p>
        </ns0:txBody>
      </ns0:sp>
      <ns0:sp>
        <ns0:nvSpPr>
          <ns0:cNvPr id="31" name="trace:D04:title.primary.6">
            <ns1:extLst>
              <ns1:ext uri="{FF2B5EF4-FFF2-40B4-BE49-F238E27FC236}">
                <ns2:creationId id="{C83D024F-6314-45E4-83A3-8CA2AA18DE86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3133725"/>
            <ns1:ext cx="29527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顧客情報・過去提案・参考資料が点在し、</ns1:t>
            </ns1:r>
          </ns1:p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必要情報の探索に時間がかかる。</ns1:t>
            </ns1:r>
          </ns1:p>
        </ns0:txBody>
      </ns0:sp>
      <ns0:sp>
        <ns0:nvSpPr>
          <ns0:cNvPr id="32" name="trace:D04:content.auto.23">
            <ns1:extLst>
              <ns1:ext uri="{FF2B5EF4-FFF2-40B4-BE49-F238E27FC236}">
                <ns2:creationId id="{667539B5-99EE-46A0-BC2E-4027B7F92096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3810000"/>
            <ns1:ext cx="4171950" cy="1085850"/>
          </ns1:xfrm>
          <ns1:prstGeom prst="roundRect">
            <ns1:avLst>
              <ns1:gd name="adj" fmla="val 10526"/>
            </ns1:avLst>
          </ns1:prstGeom>
          <ns1:solidFill>
            <ns1:srgbClr val="FAFBFC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33" name="trace:D04:content.auto.24">
            <ns1:extLst>
              <ns1:ext uri="{FF2B5EF4-FFF2-40B4-BE49-F238E27FC236}">
                <ns2:creationId id="{D81C8E51-C0B9-4F87-B82A-483A7E023EAE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3952875"/>
            <ns1:ext cx="781050" cy="7810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4" name="trace:D04:content.auto.25">
            <ns1:extLst>
              <ns1:ext uri="{FF2B5EF4-FFF2-40B4-BE49-F238E27FC236}">
                <ns2:creationId id="{9D932137-1ED9-4062-A8CC-37D6536255AC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143375"/>
            <ns1:ext cx="428625" cy="428625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5" name="trace:D04:content.auto.26">
            <ns1:extLst>
              <ns1:ext uri="{FF2B5EF4-FFF2-40B4-BE49-F238E27FC236}">
                <ns2:creationId id="{B4D79E9A-6BC0-4761-8A08-DFAFF8C70A86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4210050"/>
            <ns1:ext cx="9525" cy="1619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6" name="trace:D04:content.auto.27">
            <ns1:extLst>
              <ns1:ext uri="{FF2B5EF4-FFF2-40B4-BE49-F238E27FC236}">
                <ns2:creationId id="{60CCB262-6AFF-43F4-889C-80E092B05408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4371975"/>
            <ns1:ext cx="114300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37" name="trace:D04:content.auto.28">
            <ns1:extLst>
              <ns1:ext uri="{FF2B5EF4-FFF2-40B4-BE49-F238E27FC236}">
                <ns2:creationId id="{C4CF578E-F9F7-4EC5-8ADF-D313337BC608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3990975"/>
            <ns1:ext cx="2952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資料作成工数の増大</ns1:t>
            </ns1:r>
          </ns1:p>
        </ns0:txBody>
      </ns0:sp>
      <ns0:sp>
        <ns0:nvSpPr>
          <ns0:cNvPr id="38" name="trace:D04:lead">
            <ns1:extLst>
              <ns1:ext uri="{FF2B5EF4-FFF2-40B4-BE49-F238E27FC236}">
                <ns2:creationId id="{C8D180B0-7C87-47CC-A53C-9B4E0694EC7F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4343400"/>
            <ns1:ext cx="29527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構成検討、文章作成、見積整理を個別に</ns1:t>
            </ns1:r>
          </ns1:p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進めるため、作成負荷が高い。</ns1:t>
            </ns1:r>
          </ns1:p>
        </ns0:txBody>
      </ns0:sp>
      <ns0:sp>
        <ns0:nvSpPr>
          <ns0:cNvPr id="39" name="trace:D04:content.auto.29">
            <ns1:extLst>
              <ns1:ext uri="{FF2B5EF4-FFF2-40B4-BE49-F238E27FC236}">
                <ns2:creationId id="{7B18569A-A6A8-4E1F-A147-CF3960A32266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5010150"/>
            <ns1:ext cx="4171950" cy="1085850"/>
          </ns1:xfrm>
          <ns1:prstGeom prst="roundRect">
            <ns1:avLst>
              <ns1:gd name="adj" fmla="val 10526"/>
            </ns1:avLst>
          </ns1:prstGeom>
          <ns1:solidFill>
            <ns1:srgbClr val="FAFBFC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40" name="trace:D04:content.auto.30">
            <ns1:extLst>
              <ns1:ext uri="{FF2B5EF4-FFF2-40B4-BE49-F238E27FC236}">
                <ns2:creationId id="{77DD6137-7A8A-46A2-9B88-BF50649B83C3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5153025"/>
            <ns1:ext cx="781050" cy="7810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1" name="trace:D04:content.auto.31">
            <ns1:extLst>
              <ns1:ext uri="{FF2B5EF4-FFF2-40B4-BE49-F238E27FC236}">
                <ns2:creationId id="{80A350FA-1D52-4BD3-B2E9-FB61E195236C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5343525"/>
            <ns1:ext cx="304800" cy="400050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2" name="trace:D04:content.auto.32">
            <ns1:extLst>
              <ns1:ext uri="{FF2B5EF4-FFF2-40B4-BE49-F238E27FC236}">
                <ns2:creationId id="{96373965-EDFD-4137-B7DC-8E8CEB26F049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5457825"/>
            <ns1:ext cx="18097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3" name="trace:D04:content.auto.33">
            <ns1:extLst>
              <ns1:ext uri="{FF2B5EF4-FFF2-40B4-BE49-F238E27FC236}">
                <ns2:creationId id="{65C373AC-C9D8-4880-BC3D-B69A70BECAFA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5553075"/>
            <ns1:ext cx="18097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4" name="trace:D04:content.auto.34">
            <ns1:extLst>
              <ns1:ext uri="{FF2B5EF4-FFF2-40B4-BE49-F238E27FC236}">
                <ns2:creationId id="{0E5E8987-B901-4893-ADC5-F2A94E048951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5648325"/>
            <ns1:ext cx="161925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45" name="trace:D04:content.auto.35">
            <ns1:extLst>
              <ns1:ext uri="{FF2B5EF4-FFF2-40B4-BE49-F238E27FC236}">
                <ns2:creationId id="{045D6179-C79D-4526-A4C3-A7DCE7243D6F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5191125"/>
            <ns1:ext cx="2952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提案品質のばらつき</ns1:t>
            </ns1:r>
          </ns1:p>
        </ns0:txBody>
      </ns0:sp>
      <ns0:sp>
        <ns0:nvSpPr>
          <ns0:cNvPr id="46" name="trace:D04:content.auto.36">
            <ns1:extLst>
              <ns1:ext uri="{FF2B5EF4-FFF2-40B4-BE49-F238E27FC236}">
                <ns2:creationId id="{1CFAE855-3DA1-438E-A21D-65A602338BC8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5543550"/>
            <ns1:ext cx="29527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担当者ごとの差が大きく、訴求軸や根拠の</ns1:t>
            </ns1:r>
          </ns1:p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粒度にムラが出やすい。</ns1:t>
            </ns1:r>
          </ns1:p>
        </ns0:txBody>
      </ns0:sp>
      <ns0:sp>
        <ns0:nvSpPr>
          <ns0:cNvPr id="47" name="trace:D04:content.auto.37">
            <ns1:extLst>
              <ns1:ext uri="{FF2B5EF4-FFF2-40B4-BE49-F238E27FC236}">
                <ns2:creationId id="{A4A86E80-EE90-42AD-8971-7462CFCACBA7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6200775"/>
            <ns1:ext cx="4171950" cy="1085850"/>
          </ns1:xfrm>
          <ns1:prstGeom prst="roundRect">
            <ns1:avLst>
              <ns1:gd name="adj" fmla="val 10526"/>
            </ns1:avLst>
          </ns1:prstGeom>
          <ns1:solidFill>
            <ns1:srgbClr val="FAFBFC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48" name="trace:D04:content.auto.38">
            <ns1:extLst>
              <ns1:ext uri="{FF2B5EF4-FFF2-40B4-BE49-F238E27FC236}">
                <ns2:creationId id="{87F309CE-F5C9-4D48-9F71-8468B232DA4D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6343650"/>
            <ns1:ext cx="781050" cy="7810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9" name="trace:D04:content.auto.39">
            <ns1:extLst>
              <ns1:ext uri="{FF2B5EF4-FFF2-40B4-BE49-F238E27FC236}">
                <ns2:creationId id="{4DD518B9-59A9-4E15-ADE4-E6D3E6913A4F}"/>
              </ns1:ext>
            </ns1:extLst>
          </ns0:cNvPr>
          <ns0:cNvSpPr>
            <ns1:spLocks noGrp="1"/>
          </ns0:cNvSpPr>
          <ns0:nvPr/>
        </ns0:nvSpPr>
        <ns0:spPr>
          <ns1:xfrm>
            <ns1:off x="790575" y="6619875"/>
            <ns1:ext cx="9525" cy="3524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0" name="trace:D04:content.auto.40">
            <ns1:extLst>
              <ns1:ext uri="{FF2B5EF4-FFF2-40B4-BE49-F238E27FC236}">
                <ns2:creationId id="{A7A15F5D-3166-46DA-B9B1-0FF4F0DFC380}"/>
              </ns1:ext>
            </ns1:extLst>
          </ns0:cNvPr>
          <ns0:cNvSpPr>
            <ns1:spLocks noGrp="1"/>
          </ns0:cNvSpPr>
          <ns0:nvPr/>
        </ns0:nvSpPr>
        <ns0:spPr>
          <ns1:xfrm>
            <ns1:off x="790575" y="6972300"/>
            <ns1:ext cx="419100" cy="9525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1" name="trace:D04:content.auto.41">
            <ns1:extLst>
              <ns1:ext uri="{FF2B5EF4-FFF2-40B4-BE49-F238E27FC236}">
                <ns2:creationId id="{854590CC-6D74-4E12-8663-78281BD86D5C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6829425"/>
            <ns1:ext cx="76200" cy="142875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2" name="trace:D04:content.auto.42">
            <ns1:extLst>
              <ns1:ext uri="{FF2B5EF4-FFF2-40B4-BE49-F238E27FC236}">
                <ns2:creationId id="{8AF8078F-DC4F-48B6-94C5-C6AAA0367A4A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734175"/>
            <ns1:ext cx="76200" cy="238125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3" name="trace:D04:content.auto.43">
            <ns1:extLst>
              <ns1:ext uri="{FF2B5EF4-FFF2-40B4-BE49-F238E27FC236}">
                <ns2:creationId id="{CAC9ADF7-12A3-4FF6-99B1-00CE71CFF582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6638925"/>
            <ns1:ext cx="76200" cy="333375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54" name="trace:D04:content.auto.44">
            <ns1:extLst>
              <ns1:ext uri="{FF2B5EF4-FFF2-40B4-BE49-F238E27FC236}">
                <ns2:creationId id="{F4B6FE9D-B942-4FCB-8039-B5011CACF0F5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6381750"/>
            <ns1:ext cx="2952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ナレッジ再利用不足</ns1:t>
            </ns1:r>
          </ns1:p>
        </ns0:txBody>
      </ns0:sp>
      <ns0:sp>
        <ns0:nvSpPr>
          <ns0:cNvPr id="55" name="trace:D04:content.auto.45">
            <ns1:extLst>
              <ns1:ext uri="{FF2B5EF4-FFF2-40B4-BE49-F238E27FC236}">
                <ns2:creationId id="{4393FBA1-1845-49E7-9D69-B49C514FCB95}"/>
              </ns1:ext>
            </ns1:extLst>
          </ns0:cNvPr>
          <ns0:cNvSpPr>
            <ns1:spLocks noGrp="1"/>
          </ns0:cNvSpPr>
          <ns0:nvPr/>
        </ns0:nvSpPr>
        <ns0:spPr>
          <ns1:xfrm>
            <ns1:off x="1524000" y="6734175"/>
            <ns1:ext cx="2952750" cy="4476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成功事例や失注要因が十分に蓄積されず、</ns1:t>
            </ns1:r>
          </ns1:p>
          <ns1:p>
            <ns1:pPr algn="l">
              <ns1:def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次回提案へ活かしにくい。</ns1:t>
            </ns1:r>
          </ns1:p>
        </ns0:txBody>
      </ns0:sp>
      <ns0:sp>
        <ns0:nvSpPr>
          <ns0:cNvPr id="56" name="trace:D04:content.auto.46">
            <ns1:extLst>
              <ns1:ext uri="{FF2B5EF4-FFF2-40B4-BE49-F238E27FC236}">
                <ns2:creationId id="{888CFAF8-AFB2-4C79-91E0-9493EB90E5F2}"/>
              </ns1:ext>
            </ns1:extLst>
          </ns0:cNvPr>
          <ns0:cNvSpPr>
            <ns1:spLocks noGrp="1"/>
          </ns0:cNvSpPr>
          <ns0:nvPr/>
        </ns0:nvSpPr>
        <ns0:spPr>
          <ns1:xfrm>
            <ns1:off x="4895850" y="2600325"/>
            <ns1:ext cx="438150" cy="2647950"/>
          </ns1:xfrm>
          <ns1:prstGeom prst="roundRect">
            <ns1:avLst>
              <ns1:gd name="adj" fmla="val 26087"/>
            </ns1:avLst>
          </ns1:prstGeom>
          <ns1:solidFill>
            <ns1:srgbClr val="5A6874"/>
          </ns1:solidFill>
          <ns1:ln w="0">
            <ns1:noFill/>
            <ns1:prstDash val="solid"/>
          </ns1:ln>
        </ns0:spPr>
      </ns0:sp>
      <ns0:sp>
        <ns0:nvSpPr>
          <ns0:cNvPr id="57" name="trace:D04:content.auto.47">
            <ns1:extLst>
              <ns1:ext uri="{FF2B5EF4-FFF2-40B4-BE49-F238E27FC236}">
                <ns2:creationId id="{9317F62F-2341-4B42-83AE-4FA7616C0A80}"/>
              </ns1:ext>
            </ns1:extLst>
          </ns0:cNvPr>
          <ns0:cNvSpPr>
            <ns1:spLocks noGrp="1"/>
          </ns0:cNvSpPr>
          <ns0:nvPr/>
        </ns0:nvSpPr>
        <ns0:spPr>
          <ns1:xfrm>
            <ns1:off x="4972050" y="3600450"/>
            <ns1:ext cx="285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原</ns1:t>
            </ns1:r>
          </ns1:p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因</ns1:t>
            </ns1:r>
          </ns1:p>
        </ns0:txBody>
      </ns0:sp>
      <ns0:sp>
        <ns0:nvSpPr>
          <ns0:cNvPr id="58" name="trace:D04:content.auto.48">
            <ns1:extLst>
              <ns1:ext uri="{FF2B5EF4-FFF2-40B4-BE49-F238E27FC236}">
                <ns2:creationId id="{9989918D-7025-4FBE-B1D4-F8CAA056925F}"/>
              </ns1:ext>
            </ns1:extLst>
          </ns0:cNvPr>
          <ns0:cNvSpPr>
            <ns1:spLocks noGrp="1"/>
          </ns0:cNvSpPr>
          <ns0:nvPr/>
        </ns0:nvSpPr>
        <ns0:spPr>
          <ns1:xfrm>
            <ns1:off x="4895850" y="5467350"/>
            <ns1:ext cx="438150" cy="1571625"/>
          </ns1:xfrm>
          <ns1:prstGeom prst="roundRect">
            <ns1:avLst>
              <ns1:gd name="adj" fmla="val 26087"/>
            </ns1:avLst>
          </ns1:prstGeom>
          <ns1:solidFill>
            <ns1:srgbClr val="E79A9D"/>
          </ns1:solidFill>
          <ns1:ln w="0">
            <ns1:noFill/>
            <ns1:prstDash val="solid"/>
          </ns1:ln>
        </ns0:spPr>
      </ns0:sp>
      <ns0:sp>
        <ns0:nvSpPr>
          <ns0:cNvPr id="59" name="trace:D04:content.auto.49">
            <ns1:extLst>
              <ns1:ext uri="{FF2B5EF4-FFF2-40B4-BE49-F238E27FC236}">
                <ns2:creationId id="{2769BDBB-B0CA-4756-B0FC-0C6FDE6E3957}"/>
              </ns1:ext>
            </ns1:extLst>
          </ns0:cNvPr>
          <ns0:cNvSpPr>
            <ns1:spLocks noGrp="1"/>
          </ns0:cNvSpPr>
          <ns0:nvPr/>
        </ns0:nvSpPr>
        <ns0:spPr>
          <ns1:xfrm>
            <ns1:off x="4972050" y="6019800"/>
            <ns1:ext cx="285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影</ns1:t>
            </ns1:r>
          </ns1:p>
          <ns1:p>
            <ns1:pPr algn="ctr">
              <ns1:defRPr sz="142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響</ns1:t>
            </ns1:r>
          </ns1:p>
        </ns0:txBody>
      </ns0:sp>
      <ns0:sp>
        <ns0:nvSpPr>
          <ns0:cNvPr id="60" name="trace:D04:content.auto.50">
            <ns1:extLst>
              <ns1:ext uri="{FF2B5EF4-FFF2-40B4-BE49-F238E27FC236}">
                <ns2:creationId id="{ECB1F901-BF7E-4406-A0DF-43045C4BA678}"/>
              </ns1:ext>
            </ns1:extLst>
          </ns0:cNvPr>
          <ns0:cNvSpPr>
            <ns1:spLocks noGrp="1"/>
          </ns0:cNvSpPr>
          <ns0:nvPr/>
        </ns0:nvSpPr>
        <ns0:spPr>
          <ns1:xfrm>
            <ns1:off x="5429250" y="2600325"/>
            <ns1:ext cx="1219200" cy="2647950"/>
          </ns1:xfrm>
          <ns1:prstGeom prst="roundRect">
            <ns1:avLst>
              <ns1:gd name="adj" fmla="val 9375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61" name="trace:D04:content.auto.51">
            <ns1:extLst>
              <ns1:ext uri="{FF2B5EF4-FFF2-40B4-BE49-F238E27FC236}">
                <ns2:creationId id="{9FEDF76A-4341-458B-BB90-040B4A8C97DD}"/>
              </ns1:ext>
            </ns1:extLst>
          </ns0:cNvPr>
          <ns0:cNvSpPr>
            <ns1:spLocks noGrp="1"/>
          </ns0:cNvSpPr>
          <ns0:nvPr/>
        </ns0:nvSpPr>
        <ns0:spPr>
          <ns1:xfrm>
            <ns1:off x="5524500" y="2705100"/>
            <ns1:ext cx="371475" cy="371475"/>
          </ns1:xfrm>
          <ns1:prstGeom prst="ellipse">
            <ns1:avLst/>
          </ns1:prstGeom>
          <ns1:solidFill>
            <ns1:srgbClr val="E88488"/>
          </ns1:solidFill>
          <ns1:ln w="0">
            <ns1:noFill/>
            <ns1:prstDash val="solid"/>
          </ns1:ln>
        </ns0:spPr>
      </ns0:sp>
      <ns0:sp>
        <ns0:nvSpPr>
          <ns0:cNvPr id="62" name="trace:D04:content.auto.52">
            <ns1:extLst>
              <ns1:ext uri="{FF2B5EF4-FFF2-40B4-BE49-F238E27FC236}">
                <ns2:creationId id="{3F20CA12-0DBF-4319-833F-094EA3E27CF1}"/>
              </ns1:ext>
            </ns1:extLst>
          </ns0:cNvPr>
          <ns0:cNvSpPr>
            <ns1:spLocks noGrp="1"/>
          </ns0:cNvSpPr>
          <ns0:nvPr/>
        </ns0:nvSpPr>
        <ns0:spPr>
          <ns1:xfrm>
            <ns1:off x="5524500" y="2790825"/>
            <ns1:ext cx="3714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63" name="trace:D04:content.auto.53">
            <ns1:extLst>
              <ns1:ext uri="{FF2B5EF4-FFF2-40B4-BE49-F238E27FC236}">
                <ns2:creationId id="{AC8B1AE3-0EDB-4DB1-A7C7-31AC49DC43AC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3048000"/>
            <ns1:ext cx="285750" cy="95250"/>
          </ns1:xfrm>
          <ns1:prstGeom prst="ellips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64" name="trace:D04:content.auto.54">
            <ns1:extLst>
              <ns1:ext uri="{FF2B5EF4-FFF2-40B4-BE49-F238E27FC236}">
                <ns2:creationId id="{9F19F3CB-B9A1-4EFA-BC43-F789ED3ED14A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3095625"/>
            <ns1:ext cx="9525" cy="247650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65" name="trace:D04:content.auto.55">
            <ns1:extLst>
              <ns1:ext uri="{FF2B5EF4-FFF2-40B4-BE49-F238E27FC236}">
                <ns2:creationId id="{EA027816-74E3-41D1-9845-7D60F3BBD8AC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3095625"/>
            <ns1:ext cx="9525" cy="247650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66" name="trace:D04:content.auto.56">
            <ns1:extLst>
              <ns1:ext uri="{FF2B5EF4-FFF2-40B4-BE49-F238E27FC236}">
                <ns2:creationId id="{D943CE95-7AAF-4942-B113-FE9853FA5F50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3295650"/>
            <ns1:ext cx="285750" cy="95250"/>
          </ns1:xfrm>
          <ns1:prstGeom prst="ellips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67" name="trace:D04:content.auto.57">
            <ns1:extLst>
              <ns1:ext uri="{FF2B5EF4-FFF2-40B4-BE49-F238E27FC236}">
                <ns2:creationId id="{04322606-B4D1-4029-9476-79E59E03DD26}"/>
              </ns1:ext>
            </ns1:extLst>
          </ns0:cNvPr>
          <ns0:cNvSpPr>
            <ns1:spLocks noGrp="1"/>
          </ns0:cNvSpPr>
          <ns0:nvPr/>
        </ns0:nvSpPr>
        <ns0:spPr>
          <ns1:xfrm>
            <ns1:off x="5524500" y="3667125"/>
            <ns1:ext cx="1028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情報が分散</ns1:t>
            </ns1:r>
          </ns1:p>
        </ns0:txBody>
      </ns0:sp>
      <ns0:sp>
        <ns0:nvSpPr>
          <ns0:cNvPr id="68" name="trace:D04:lead.2">
            <ns1:extLst>
              <ns1:ext uri="{FF2B5EF4-FFF2-40B4-BE49-F238E27FC236}">
                <ns2:creationId id="{0A5ED29E-FC01-4B31-8840-329389129A07}"/>
              </ns1:ext>
            </ns1:extLst>
          </ns0:cNvPr>
          <ns0:cNvSpPr>
            <ns1:spLocks noGrp="1"/>
          </ns0:cNvSpPr>
          <ns0:nvPr/>
        </ns0:nvSpPr>
        <ns0:spPr>
          <ns1:xfrm>
            <ns1:off x="5524500" y="4171950"/>
            <ns1:ext cx="10287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必要な情報が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各所に点在し、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一元管理されて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いない。</ns1:t>
            </ns1:r>
          </ns1:p>
        </ns0:txBody>
      </ns0:sp>
      <ns0:sp>
        <ns0:nvSpPr>
          <ns0:cNvPr id="69" name="trace:D04:content.auto.58">
            <ns1:extLst>
              <ns1:ext uri="{FF2B5EF4-FFF2-40B4-BE49-F238E27FC236}">
                <ns2:creationId id="{DB24E79D-4CFD-4A4D-8DA5-770A9499CFD8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5219700"/>
            <ns1:ext cx="314325" cy="209550"/>
          </ns1:xfrm>
          <ns1:prstGeom prst="down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0" name="trace:D04:content.auto.59">
            <ns1:extLst>
              <ns1:ext uri="{FF2B5EF4-FFF2-40B4-BE49-F238E27FC236}">
                <ns2:creationId id="{5D49F53D-9E7E-48E1-9F67-D32735694072}"/>
              </ns1:ext>
            </ns1:extLst>
          </ns0:cNvPr>
          <ns0:cNvSpPr>
            <ns1:spLocks noGrp="1"/>
          </ns0:cNvSpPr>
          <ns0:nvPr/>
        </ns0:nvSpPr>
        <ns0:spPr>
          <ns1:xfrm>
            <ns1:off x="6715125" y="2600325"/>
            <ns1:ext cx="1219200" cy="2647950"/>
          </ns1:xfrm>
          <ns1:prstGeom prst="roundRect">
            <ns1:avLst>
              <ns1:gd name="adj" fmla="val 9375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71" name="trace:D04:content.auto.60">
            <ns1:extLst>
              <ns1:ext uri="{FF2B5EF4-FFF2-40B4-BE49-F238E27FC236}">
                <ns2:creationId id="{06B8590B-6E1C-4252-A1AD-BE7CB7E0C9FA}"/>
              </ns1:ext>
            </ns1:extLst>
          </ns0:cNvPr>
          <ns0:cNvSpPr>
            <ns1:spLocks noGrp="1"/>
          </ns0:cNvSpPr>
          <ns0:nvPr/>
        </ns0:nvSpPr>
        <ns0:spPr>
          <ns1:xfrm>
            <ns1:off x="6810375" y="2705100"/>
            <ns1:ext cx="371475" cy="371475"/>
          </ns1:xfrm>
          <ns1:prstGeom prst="ellipse">
            <ns1:avLst/>
          </ns1:prstGeom>
          <ns1:solidFill>
            <ns1:srgbClr val="E88488"/>
          </ns1:solidFill>
          <ns1:ln w="0">
            <ns1:noFill/>
            <ns1:prstDash val="solid"/>
          </ns1:ln>
        </ns0:spPr>
      </ns0:sp>
      <ns0:sp>
        <ns0:nvSpPr>
          <ns0:cNvPr id="72" name="trace:D04:content.auto.61">
            <ns1:extLst>
              <ns1:ext uri="{FF2B5EF4-FFF2-40B4-BE49-F238E27FC236}">
                <ns2:creationId id="{26D4410C-A2A4-4C8D-B730-F3BA8B27604C}"/>
              </ns1:ext>
            </ns1:extLst>
          </ns0:cNvPr>
          <ns0:cNvSpPr>
            <ns1:spLocks noGrp="1"/>
          </ns0:cNvSpPr>
          <ns0:nvPr/>
        </ns0:nvSpPr>
        <ns0:spPr>
          <ns1:xfrm>
            <ns1:off x="6810375" y="2790825"/>
            <ns1:ext cx="3714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73" name="trace:D04:content.auto.62">
            <ns1:extLst>
              <ns1:ext uri="{FF2B5EF4-FFF2-40B4-BE49-F238E27FC236}">
                <ns2:creationId id="{B20A4F78-72E6-4309-8821-7938DDEAE336}"/>
              </ns1:ext>
            </ns1:extLst>
          </ns0:cNvPr>
          <ns0:cNvSpPr>
            <ns1:spLocks noGrp="1"/>
          </ns0:cNvSpPr>
          <ns0:nvPr/>
        </ns0:nvSpPr>
        <ns0:spPr>
          <ns1:xfrm>
            <ns1:off x="7172325" y="3048000"/>
            <ns1:ext cx="400050" cy="400050"/>
          </ns1:xfrm>
          <ns1:custGeom>
            <ns1:pathLst>
              <ns1:path w="400050" h="400050">
                <ns1:moveTo>
                  <ns1:pt x="200025" y="0"/>
                </ns1:moveTo>
                <ns1:lnTo>
                  <ns1:pt x="258346" y="59226"/>
                </ns1:lnTo>
                <ns1:lnTo>
                  <ns1:pt x="341464" y="58586"/>
                </ns1:lnTo>
                <ns1:lnTo>
                  <ns1:pt x="340824" y="141704"/>
                </ns1:lnTo>
                <ns1:lnTo>
                  <ns1:pt x="400050" y="200025"/>
                </ns1:lnTo>
                <ns1:lnTo>
                  <ns1:pt x="340824" y="258346"/>
                </ns1:lnTo>
                <ns1:lnTo>
                  <ns1:pt x="341464" y="341464"/>
                </ns1:lnTo>
                <ns1:lnTo>
                  <ns1:pt x="258346" y="340824"/>
                </ns1:lnTo>
                <ns1:lnTo>
                  <ns1:pt x="200025" y="400050"/>
                </ns1:lnTo>
                <ns1:lnTo>
                  <ns1:pt x="141704" y="340824"/>
                </ns1:lnTo>
                <ns1:lnTo>
                  <ns1:pt x="58586" y="341464"/>
                </ns1:lnTo>
                <ns1:lnTo>
                  <ns1:pt x="59226" y="258346"/>
                </ns1:lnTo>
                <ns1:lnTo>
                  <ns1:pt x="0" y="200025"/>
                </ns1:lnTo>
                <ns1:lnTo>
                  <ns1:pt x="59226" y="141704"/>
                </ns1:lnTo>
                <ns1:lnTo>
                  <ns1:pt x="58586" y="58586"/>
                </ns1:lnTo>
                <ns1:lnTo>
                  <ns1:pt x="141704" y="59226"/>
                </ns1:lnTo>
                <ns1:close/>
              </ns1:path>
            </ns1:pathLst>
          </ns1:cu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74" name="trace:D04:content.auto.63">
            <ns1:extLst>
              <ns1:ext uri="{FF2B5EF4-FFF2-40B4-BE49-F238E27FC236}">
                <ns2:creationId id="{4045C0D1-DDEE-4E4F-88FC-888C2C98D4B3}"/>
              </ns1:ext>
            </ns1:extLst>
          </ns0:cNvPr>
          <ns0:cNvSpPr>
            <ns1:spLocks noGrp="1"/>
          </ns0:cNvSpPr>
          <ns0:nvPr/>
        </ns0:nvSpPr>
        <ns0:spPr>
          <ns1:xfrm>
            <ns1:off x="7305675" y="3181350"/>
            <ns1:ext cx="133350" cy="133350"/>
          </ns1:xfrm>
          <ns1:prstGeom prst="ellips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75" name="trace:D04:content.auto.64">
            <ns1:extLst>
              <ns1:ext uri="{FF2B5EF4-FFF2-40B4-BE49-F238E27FC236}">
                <ns2:creationId id="{772789C6-14C5-4B43-BD9D-FC6BDB970FB7}"/>
              </ns1:ext>
            </ns1:extLst>
          </ns0:cNvPr>
          <ns0:cNvSpPr>
            <ns1:spLocks noGrp="1"/>
          </ns0:cNvSpPr>
          <ns0:nvPr/>
        </ns0:nvSpPr>
        <ns0:spPr>
          <ns1:xfrm>
            <ns1:off x="6810375" y="3667125"/>
            <ns1:ext cx="1028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標準化不足</ns1:t>
            </ns1:r>
          </ns1:p>
        </ns0:txBody>
      </ns0:sp>
      <ns0:sp>
        <ns0:nvSpPr>
          <ns0:cNvPr id="76" name="trace:D04:lead.3">
            <ns1:extLst>
              <ns1:ext uri="{FF2B5EF4-FFF2-40B4-BE49-F238E27FC236}">
                <ns2:creationId id="{109BE134-D717-4FD1-9284-93EE38A75984}"/>
              </ns1:ext>
            </ns1:extLst>
          </ns0:cNvPr>
          <ns0:cNvSpPr>
            <ns1:spLocks noGrp="1"/>
          </ns0:cNvSpPr>
          <ns0:nvPr/>
        </ns0:nvSpPr>
        <ns0:spPr>
          <ns1:xfrm>
            <ns1:off x="6810375" y="4171950"/>
            <ns1:ext cx="10287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提案の進め方や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テンプレートが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統一されていない。</ns1:t>
            </ns1:r>
          </ns1:p>
        </ns0:txBody>
      </ns0:sp>
      <ns0:sp>
        <ns0:nvSpPr>
          <ns0:cNvPr id="77" name="trace:D04:content.auto.65">
            <ns1:extLst>
              <ns1:ext uri="{FF2B5EF4-FFF2-40B4-BE49-F238E27FC236}">
                <ns2:creationId id="{4104E297-7BD7-4D59-91BB-D3F5A758AE9B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5219700"/>
            <ns1:ext cx="314325" cy="209550"/>
          </ns1:xfrm>
          <ns1:prstGeom prst="down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8" name="trace:D04:content.auto.66">
            <ns1:extLst>
              <ns1:ext uri="{FF2B5EF4-FFF2-40B4-BE49-F238E27FC236}">
                <ns2:creationId id="{57AB011B-0BEA-495E-BF50-4461FFF5FAE3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2600325"/>
            <ns1:ext cx="1219200" cy="2647950"/>
          </ns1:xfrm>
          <ns1:prstGeom prst="roundRect">
            <ns1:avLst>
              <ns1:gd name="adj" fmla="val 9375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79" name="trace:D04:content.auto.67">
            <ns1:extLst>
              <ns1:ext uri="{FF2B5EF4-FFF2-40B4-BE49-F238E27FC236}">
                <ns2:creationId id="{8C3174B6-3137-4023-A895-0CA9BDED8C3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705100"/>
            <ns1:ext cx="371475" cy="371475"/>
          </ns1:xfrm>
          <ns1:prstGeom prst="ellipse">
            <ns1:avLst/>
          </ns1:prstGeom>
          <ns1:solidFill>
            <ns1:srgbClr val="E88488"/>
          </ns1:solidFill>
          <ns1:ln w="0">
            <ns1:noFill/>
            <ns1:prstDash val="solid"/>
          </ns1:ln>
        </ns0:spPr>
      </ns0:sp>
      <ns0:sp>
        <ns0:nvSpPr>
          <ns0:cNvPr id="80" name="trace:D04:content.auto.68">
            <ns1:extLst>
              <ns1:ext uri="{FF2B5EF4-FFF2-40B4-BE49-F238E27FC236}">
                <ns2:creationId id="{E6986748-C36A-4A41-9A94-96D22F9322EF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790825"/>
            <ns1:ext cx="3714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81" name="trace:D04:content.auto.69">
            <ns1:extLst>
              <ns1:ext uri="{FF2B5EF4-FFF2-40B4-BE49-F238E27FC236}">
                <ns2:creationId id="{082BA1AF-0C27-42EC-9130-47B982F642FF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048000"/>
            <ns1:ext cx="209550" cy="209550"/>
          </ns1:xfrm>
          <ns1:prstGeom prst="ellips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2" name="trace:D04:content.auto.70">
            <ns1:extLst>
              <ns1:ext uri="{FF2B5EF4-FFF2-40B4-BE49-F238E27FC236}">
                <ns2:creationId id="{34B3F50E-105F-4BEA-8E3A-F1E34835ED9D}"/>
              </ns1:ext>
            </ns1:extLst>
          </ns0:cNvPr>
          <ns0:cNvSpPr>
            <ns1:spLocks noGrp="1"/>
          </ns0:cNvSpPr>
          <ns0:nvPr/>
        </ns0:nvSpPr>
        <ns0:spPr>
          <ns1:xfrm>
            <ns1:off x="8705850" y="3048000"/>
            <ns1:ext cx="209550" cy="209550"/>
          </ns1:xfrm>
          <ns1:prstGeom prst="ellips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3" name="trace:D04:content.auto.71">
            <ns1:extLst>
              <ns1:ext uri="{FF2B5EF4-FFF2-40B4-BE49-F238E27FC236}">
                <ns2:creationId id="{180D0C24-AB71-42AC-9256-2B881AD59A1F}"/>
              </ns1:ext>
            </ns1:extLst>
          </ns0:cNvPr>
          <ns0:cNvSpPr>
            <ns1:spLocks noGrp="1"/>
          </ns0:cNvSpPr>
          <ns0:nvPr/>
        </ns0:nvSpPr>
        <ns0:spPr>
          <ns1:xfrm>
            <ns1:off x="8582025" y="3219450"/>
            <ns1:ext cx="209550" cy="209550"/>
          </ns1:xfrm>
          <ns1:prstGeom prst="ellips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4" name="trace:D04:content.auto.72">
            <ns1:extLst>
              <ns1:ext uri="{FF2B5EF4-FFF2-40B4-BE49-F238E27FC236}">
                <ns2:creationId id="{CBE90D8D-7C9D-4041-B783-490CE073C131}"/>
              </ns1:ext>
            </ns1:extLst>
          </ns0:cNvPr>
          <ns0:cNvSpPr>
            <ns1:spLocks noGrp="1"/>
          </ns0:cNvSpPr>
          <ns0:nvPr/>
        </ns0:nvSpPr>
        <ns0:spPr>
          <ns1:xfrm>
            <ns1:off x="8439150" y="3362325"/>
            <ns1:ext cx="9525" cy="142875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5" name="trace:D04:content.auto.73">
            <ns1:extLst>
              <ns1:ext uri="{FF2B5EF4-FFF2-40B4-BE49-F238E27FC236}">
                <ns2:creationId id="{B1850CC8-9EFB-4807-8C74-B30D7B12B7E7}"/>
              </ns1:ext>
            </ns1:extLst>
          </ns0:cNvPr>
          <ns0:cNvSpPr>
            <ns1:spLocks noGrp="1"/>
          </ns0:cNvSpPr>
          <ns0:nvPr/>
        </ns0:nvSpPr>
        <ns0:spPr>
          <ns1:xfrm>
            <ns1:off x="8439150" y="3362325"/>
            <ns1:ext cx="504825" cy="9525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6" name="trace:D04:content.auto.74">
            <ns1:extLst>
              <ns1:ext uri="{FF2B5EF4-FFF2-40B4-BE49-F238E27FC236}">
                <ns2:creationId id="{0DC2FFB0-69F4-4577-BACD-E86E403EB383}"/>
              </ns1:ext>
            </ns1:extLst>
          </ns0:cNvPr>
          <ns0:cNvSpPr>
            <ns1:spLocks noGrp="1"/>
          </ns0:cNvSpPr>
          <ns0:nvPr/>
        </ns0:nvSpPr>
        <ns0:spPr>
          <ns1:xfrm>
            <ns1:off x="8943975" y="3362325"/>
            <ns1:ext cx="9525" cy="142875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7" name="trace:D04:content.auto.75">
            <ns1:extLst>
              <ns1:ext uri="{FF2B5EF4-FFF2-40B4-BE49-F238E27FC236}">
                <ns2:creationId id="{3FC74C88-B45A-4185-8170-930926CF50F9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533775"/>
            <ns1:ext cx="276225" cy="9525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88" name="trace:D04:title.primary.7">
            <ns1:extLst>
              <ns1:ext uri="{FF2B5EF4-FFF2-40B4-BE49-F238E27FC236}">
                <ns2:creationId id="{4D5CD420-16E1-40FB-BB8D-922B3F4E54D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3667125"/>
            <ns1:ext cx="1028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判断基準が不統一</ns1:t>
            </ns1:r>
          </ns1:p>
        </ns0:txBody>
      </ns0:sp>
      <ns0:sp>
        <ns0:nvSpPr>
          <ns0:cNvPr id="89" name="trace:D04:lead.4">
            <ns1:extLst>
              <ns1:ext uri="{FF2B5EF4-FFF2-40B4-BE49-F238E27FC236}">
                <ns2:creationId id="{32E01D20-43A6-4D77-9130-8D0DADC33323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4171950"/>
            <ns1:ext cx="10287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担当者ごとに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評価軸や判断基準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が異なっている。</ns1:t>
            </ns1:r>
          </ns1:p>
        </ns0:txBody>
      </ns0:sp>
      <ns0:sp>
        <ns0:nvSpPr>
          <ns0:cNvPr id="90" name="trace:D04:content.auto.76">
            <ns1:extLst>
              <ns1:ext uri="{FF2B5EF4-FFF2-40B4-BE49-F238E27FC236}">
                <ns2:creationId id="{D2D27BCD-CA18-4726-A1C3-B2CA95354999}"/>
              </ns1:ext>
            </ns1:extLst>
          </ns0:cNvPr>
          <ns0:cNvSpPr>
            <ns1:spLocks noGrp="1"/>
          </ns0:cNvSpPr>
          <ns0:nvPr/>
        </ns0:nvSpPr>
        <ns0:spPr>
          <ns1:xfrm>
            <ns1:off x="8448675" y="5219700"/>
            <ns1:ext cx="314325" cy="209550"/>
          </ns1:xfrm>
          <ns1:prstGeom prst="down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1" name="trace:D04:content.auto.77">
            <ns1:extLst>
              <ns1:ext uri="{FF2B5EF4-FFF2-40B4-BE49-F238E27FC236}">
                <ns2:creationId id="{666E0275-D5A7-4CC0-8D60-02B6598CF1DC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2600325"/>
            <ns1:ext cx="1219200" cy="2647950"/>
          </ns1:xfrm>
          <ns1:prstGeom prst="roundRect">
            <ns1:avLst>
              <ns1:gd name="adj" fmla="val 9375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92" name="trace:D04:content.auto.78">
            <ns1:extLst>
              <ns1:ext uri="{FF2B5EF4-FFF2-40B4-BE49-F238E27FC236}">
                <ns2:creationId id="{D1C77727-E7BE-4E3A-950A-A41EAFB31E91}"/>
              </ns1:ext>
            </ns1:extLst>
          </ns0:cNvPr>
          <ns0:cNvSpPr>
            <ns1:spLocks noGrp="1"/>
          </ns0:cNvSpPr>
          <ns0:nvPr/>
        </ns0:nvSpPr>
        <ns0:spPr>
          <ns1:xfrm>
            <ns1:off x="9382125" y="2705100"/>
            <ns1:ext cx="371475" cy="371475"/>
          </ns1:xfrm>
          <ns1:prstGeom prst="ellipse">
            <ns1:avLst/>
          </ns1:prstGeom>
          <ns1:solidFill>
            <ns1:srgbClr val="E88488"/>
          </ns1:solidFill>
          <ns1:ln w="0">
            <ns1:noFill/>
            <ns1:prstDash val="solid"/>
          </ns1:ln>
        </ns0:spPr>
      </ns0:sp>
      <ns0:sp>
        <ns0:nvSpPr>
          <ns0:cNvPr id="93" name="trace:D04:content.auto.79">
            <ns1:extLst>
              <ns1:ext uri="{FF2B5EF4-FFF2-40B4-BE49-F238E27FC236}">
                <ns2:creationId id="{B0F52CCE-18DC-486C-A981-2092E71C328E}"/>
              </ns1:ext>
            </ns1:extLst>
          </ns0:cNvPr>
          <ns0:cNvSpPr>
            <ns1:spLocks noGrp="1"/>
          </ns0:cNvSpPr>
          <ns0:nvPr/>
        </ns0:nvSpPr>
        <ns0:spPr>
          <ns1:xfrm>
            <ns1:off x="9382125" y="2790825"/>
            <ns1:ext cx="3714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94" name="trace:D04:content.auto.80">
            <ns1:extLst>
              <ns1:ext uri="{FF2B5EF4-FFF2-40B4-BE49-F238E27FC236}">
                <ns2:creationId id="{9254C50A-6CD0-4F4B-AAA5-A7346E843C8F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3133725"/>
            <ns1:ext cx="9525" cy="352425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95" name="trace:D04:content.auto.81">
            <ns1:extLst>
              <ns1:ext uri="{FF2B5EF4-FFF2-40B4-BE49-F238E27FC236}">
                <ns2:creationId id="{0F499250-6EDB-45FF-8FF1-8840A5F54EB7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3486150"/>
            <ns1:ext cx="419100" cy="9525"/>
          </ns1:xfrm>
          <ns1:prstGeom prst="line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96" name="trace:D04:content.auto.82">
            <ns1:extLst>
              <ns1:ext uri="{FF2B5EF4-FFF2-40B4-BE49-F238E27FC236}">
                <ns2:creationId id="{FA8EC10C-28C7-4287-BC15-BFF039DEB2AA}"/>
              </ns1:ext>
            </ns1:extLst>
          </ns0:cNvPr>
          <ns0:cNvSpPr>
            <ns1:spLocks noGrp="1"/>
          </ns0:cNvSpPr>
          <ns0:nvPr/>
        </ns0:nvSpPr>
        <ns0:spPr>
          <ns1:xfrm>
            <ns1:off x="9867900" y="3343275"/>
            <ns1:ext cx="76200" cy="142875"/>
          </ns1:xfrm>
          <ns1:prstGeom prst="rect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97" name="trace:D04:content.auto.83">
            <ns1:extLst>
              <ns1:ext uri="{FF2B5EF4-FFF2-40B4-BE49-F238E27FC236}">
                <ns2:creationId id="{7A3A3F90-196B-46E8-84EC-031DCE76A865}"/>
              </ns1:ext>
            </ns1:extLst>
          </ns0:cNvPr>
          <ns0:cNvSpPr>
            <ns1:spLocks noGrp="1"/>
          </ns0:cNvSpPr>
          <ns0:nvPr/>
        </ns0:nvSpPr>
        <ns0:spPr>
          <ns1:xfrm>
            <ns1:off x="9991725" y="3248025"/>
            <ns1:ext cx="76200" cy="238125"/>
          </ns1:xfrm>
          <ns1:prstGeom prst="rect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98" name="trace:D04:content.auto.84">
            <ns1:extLst>
              <ns1:ext uri="{FF2B5EF4-FFF2-40B4-BE49-F238E27FC236}">
                <ns2:creationId id="{A343247E-3E54-46C0-B2CD-29BAD373D776}"/>
              </ns1:ext>
            </ns1:extLst>
          </ns0:cNvPr>
          <ns0:cNvSpPr>
            <ns1:spLocks noGrp="1"/>
          </ns0:cNvSpPr>
          <ns0:nvPr/>
        </ns0:nvSpPr>
        <ns0:spPr>
          <ns1:xfrm>
            <ns1:off x="10115550" y="3152775"/>
            <ns1:ext cx="76200" cy="333375"/>
          </ns1:xfrm>
          <ns1:prstGeom prst="rect">
            <ns1:avLst/>
          </ns1:prstGeom>
          <ns1:noFill/>
          <ns1:ln w="19050">
            <ns1:solidFill>
              <ns1:srgbClr val="1B222A"/>
            </ns1:solidFill>
            <ns1:prstDash val="solid"/>
          </ns1:ln>
        </ns0:spPr>
      </ns0:sp>
      <ns0:sp>
        <ns0:nvSpPr>
          <ns0:cNvPr id="99" name="trace:D04:title.primary.8">
            <ns1:extLst>
              <ns1:ext uri="{FF2B5EF4-FFF2-40B4-BE49-F238E27FC236}">
                <ns2:creationId id="{4F237F79-D245-4602-A08D-7B3EB196BC60}"/>
              </ns1:ext>
            </ns1:extLst>
          </ns0:cNvPr>
          <ns0:cNvSpPr>
            <ns1:spLocks noGrp="1"/>
          </ns0:cNvSpPr>
          <ns0:nvPr/>
        </ns0:nvSpPr>
        <ns0:spPr>
          <ns1:xfrm>
            <ns1:off x="9382125" y="3667125"/>
            <ns1:ext cx="1028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振り返り未蓄積</ns1:t>
            </ns1:r>
          </ns1:p>
        </ns0:txBody>
      </ns0:sp>
      <ns0:sp>
        <ns0:nvSpPr>
          <ns0:cNvPr id="100" name="trace:D04:lead.5">
            <ns1:extLst>
              <ns1:ext uri="{FF2B5EF4-FFF2-40B4-BE49-F238E27FC236}">
                <ns2:creationId id="{2ADC4F3F-DF1F-4262-BFAE-5F9CB7D49916}"/>
              </ns1:ext>
            </ns1:extLst>
          </ns0:cNvPr>
          <ns0:cNvSpPr>
            <ns1:spLocks noGrp="1"/>
          </ns0:cNvSpPr>
          <ns0:nvPr/>
        </ns0:nvSpPr>
        <ns0:spPr>
          <ns1:xfrm>
            <ns1:off x="9382125" y="4171950"/>
            <ns1:ext cx="10287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提案の結果や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学びが蓄積されず、</ns1:t>
            </ns1:r>
          </ns1:p>
          <ns1:p>
            <ns1:pPr algn="ctr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次回に活かせない。</ns1:t>
            </ns1:r>
          </ns1:p>
        </ns0:txBody>
      </ns0:sp>
      <ns0:sp>
        <ns0:nvSpPr>
          <ns0:cNvPr id="101" name="trace:D04:content.auto.85">
            <ns1:extLst>
              <ns1:ext uri="{FF2B5EF4-FFF2-40B4-BE49-F238E27FC236}">
                <ns2:creationId id="{1266A746-0A59-43B3-A7C4-65E38D1FF7A0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5219700"/>
            <ns1:ext cx="314325" cy="209550"/>
          </ns1:xfrm>
          <ns1:prstGeom prst="down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2" name="trace:D04:content.auto.86">
            <ns1:extLst>
              <ns1:ext uri="{FF2B5EF4-FFF2-40B4-BE49-F238E27FC236}">
                <ns2:creationId id="{EB2D9EA4-86BE-406F-8A55-BDA089D9D88C}"/>
              </ns1:ext>
            </ns1:extLst>
          </ns0:cNvPr>
          <ns0:cNvSpPr>
            <ns1:spLocks noGrp="1"/>
          </ns0:cNvSpPr>
          <ns0:nvPr/>
        </ns0:nvSpPr>
        <ns0:spPr>
          <ns1:xfrm>
            <ns1:off x="5429250" y="5467350"/>
            <ns1:ext cx="1219200" cy="1571625"/>
          </ns1:xfrm>
          <ns1:prstGeom prst="roundRect">
            <ns1:avLst>
              <ns1:gd name="adj" fmla="val 9375"/>
            </ns1:avLst>
          </ns1:prstGeom>
          <ns1:solidFill>
            <ns1:srgbClr val="FFF0F1"/>
          </ns1:solidFill>
          <ns1:ln w="9525">
            <ns1:solidFill>
              <ns1:srgbClr val="F2B3B6"/>
            </ns1:solidFill>
            <ns1:prstDash val="solid"/>
          </ns1:ln>
        </ns0:spPr>
      </ns0:sp>
      <ns0:sp>
        <ns0:nvSpPr>
          <ns0:cNvPr id="103" name="trace:D04:content.auto.87">
            <ns1:extLst>
              <ns1:ext uri="{FF2B5EF4-FFF2-40B4-BE49-F238E27FC236}">
                <ns2:creationId id="{ABDF260A-451D-42E5-A1F2-7FD7DBFA5328}"/>
              </ns1:ext>
            </ns1:extLst>
          </ns0:cNvPr>
          <ns0:cNvSpPr>
            <ns1:spLocks noGrp="1"/>
          </ns0:cNvSpPr>
          <ns0:nvPr/>
        </ns0:nvSpPr>
        <ns0:spPr>
          <ns1:xfrm>
            <ns1:off x="5857875" y="5638800"/>
            <ns1:ext cx="428625" cy="42862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04" name="trace:D04:content.auto.88">
            <ns1:extLst>
              <ns1:ext uri="{FF2B5EF4-FFF2-40B4-BE49-F238E27FC236}">
                <ns2:creationId id="{892AB27A-E144-4A99-B76C-066F8216696D}"/>
              </ns1:ext>
            </ns1:extLst>
          </ns0:cNvPr>
          <ns0:cNvSpPr>
            <ns1:spLocks noGrp="1"/>
          </ns0:cNvSpPr>
          <ns0:nvPr/>
        </ns0:nvSpPr>
        <ns0:spPr>
          <ns1:xfrm>
            <ns1:off x="6067425" y="5705475"/>
            <ns1:ext cx="9525" cy="1619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05" name="trace:D04:content.auto.89">
            <ns1:extLst>
              <ns1:ext uri="{FF2B5EF4-FFF2-40B4-BE49-F238E27FC236}">
                <ns2:creationId id="{980FCB4A-9246-43E1-B72B-42FFC0BF9415}"/>
              </ns1:ext>
            </ns1:extLst>
          </ns0:cNvPr>
          <ns0:cNvSpPr>
            <ns1:spLocks noGrp="1"/>
          </ns0:cNvSpPr>
          <ns0:nvPr/>
        </ns0:nvSpPr>
        <ns0:spPr>
          <ns1:xfrm>
            <ns1:off x="6067425" y="5867400"/>
            <ns1:ext cx="11430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06" name="trace:D04:content.auto.90">
            <ns1:extLst>
              <ns1:ext uri="{FF2B5EF4-FFF2-40B4-BE49-F238E27FC236}">
                <ns2:creationId id="{7F29AFE1-49FC-47A1-99D1-89FACCCF63A9}"/>
              </ns1:ext>
            </ns1:extLst>
          </ns0:cNvPr>
          <ns0:cNvSpPr>
            <ns1:spLocks noGrp="1"/>
          </ns0:cNvSpPr>
          <ns0:nvPr/>
        </ns0:nvSpPr>
        <ns0:spPr>
          <ns1:xfrm>
            <ns1:off x="5543550" y="6286500"/>
            <ns1:ext cx="9906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作成時間の</ns1:t>
            </ns1:r>
          </ns1:p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長期化</ns1:t>
            </ns1:r>
          </ns1:p>
        </ns0:txBody>
      </ns0:sp>
      <ns0:sp>
        <ns0:nvSpPr>
          <ns0:cNvPr id="107" name="trace:D04:content.auto.91">
            <ns1:extLst>
              <ns1:ext uri="{FF2B5EF4-FFF2-40B4-BE49-F238E27FC236}">
                <ns2:creationId id="{14D9FF6C-78F0-4208-802E-9A40E156290F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6048375"/>
            <ns1:ext cx="200025" cy="304800"/>
          </ns1:xfrm>
          <ns1:prstGeom prst="right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8" name="trace:D04:content.auto.92">
            <ns1:extLst>
              <ns1:ext uri="{FF2B5EF4-FFF2-40B4-BE49-F238E27FC236}">
                <ns2:creationId id="{4984D74D-EA7A-4963-BDB4-F6C02BFDA6A1}"/>
              </ns1:ext>
            </ns1:extLst>
          </ns0:cNvPr>
          <ns0:cNvSpPr>
            <ns1:spLocks noGrp="1"/>
          </ns0:cNvSpPr>
          <ns0:nvPr/>
        </ns0:nvSpPr>
        <ns0:spPr>
          <ns1:xfrm>
            <ns1:off x="6715125" y="5467350"/>
            <ns1:ext cx="1219200" cy="1571625"/>
          </ns1:xfrm>
          <ns1:prstGeom prst="roundRect">
            <ns1:avLst>
              <ns1:gd name="adj" fmla="val 9375"/>
            </ns1:avLst>
          </ns1:prstGeom>
          <ns1:solidFill>
            <ns1:srgbClr val="FFF0F1"/>
          </ns1:solidFill>
          <ns1:ln w="9525">
            <ns1:solidFill>
              <ns1:srgbClr val="F2B3B6"/>
            </ns1:solidFill>
            <ns1:prstDash val="solid"/>
          </ns1:ln>
        </ns0:spPr>
      </ns0:sp>
      <ns0:sp>
        <ns0:nvSpPr>
          <ns0:cNvPr id="109" name="trace:D04:content.auto.93">
            <ns1:extLst>
              <ns1:ext uri="{FF2B5EF4-FFF2-40B4-BE49-F238E27FC236}">
                <ns2:creationId id="{3AC2B551-5CB0-4424-8948-D2662B578235}"/>
              </ns1:ext>
            </ns1:extLst>
          </ns0:cNvPr>
          <ns0:cNvSpPr>
            <ns1:spLocks noGrp="1"/>
          </ns0:cNvSpPr>
          <ns0:nvPr/>
        </ns0:nvSpPr>
        <ns0:spPr>
          <ns1:xfrm>
            <ns1:off x="7181850" y="5724525"/>
            <ns1:ext cx="9525" cy="3524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0" name="trace:D04:content.auto.94">
            <ns1:extLst>
              <ns1:ext uri="{FF2B5EF4-FFF2-40B4-BE49-F238E27FC236}">
                <ns2:creationId id="{6524F924-EA1A-46C2-AED5-D746988ECDEC}"/>
              </ns1:ext>
            </ns1:extLst>
          </ns0:cNvPr>
          <ns0:cNvSpPr>
            <ns1:spLocks noGrp="1"/>
          </ns0:cNvSpPr>
          <ns0:nvPr/>
        </ns0:nvSpPr>
        <ns0:spPr>
          <ns1:xfrm>
            <ns1:off x="7181850" y="6076950"/>
            <ns1:ext cx="41910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1" name="trace:D04:content.auto.95">
            <ns1:extLst>
              <ns1:ext uri="{FF2B5EF4-FFF2-40B4-BE49-F238E27FC236}">
                <ns2:creationId id="{05BCA6F5-66B4-4763-818A-2AEB9FF7AA51}"/>
              </ns1:ext>
            </ns1:extLst>
          </ns0:cNvPr>
          <ns0:cNvSpPr>
            <ns1:spLocks noGrp="1"/>
          </ns0:cNvSpPr>
          <ns0:nvPr/>
        </ns0:nvSpPr>
        <ns0:spPr>
          <ns1:xfrm>
            <ns1:off x="7267575" y="5934075"/>
            <ns1:ext cx="76200" cy="142875"/>
          </ns1:xfrm>
          <ns1:prstGeom prst="rect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2" name="trace:D04:content.auto.96">
            <ns1:extLst>
              <ns1:ext uri="{FF2B5EF4-FFF2-40B4-BE49-F238E27FC236}">
                <ns2:creationId id="{D1E6C214-CAD1-463A-A9F2-D93C9072A9F4}"/>
              </ns1:ext>
            </ns1:extLst>
          </ns0:cNvPr>
          <ns0:cNvSpPr>
            <ns1:spLocks noGrp="1"/>
          </ns0:cNvSpPr>
          <ns0:nvPr/>
        </ns0:nvSpPr>
        <ns0:spPr>
          <ns1:xfrm>
            <ns1:off x="7391400" y="5838825"/>
            <ns1:ext cx="76200" cy="238125"/>
          </ns1:xfrm>
          <ns1:prstGeom prst="rect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3" name="trace:D04:content.auto.97">
            <ns1:extLst>
              <ns1:ext uri="{FF2B5EF4-FFF2-40B4-BE49-F238E27FC236}">
                <ns2:creationId id="{7B3288E5-7B6A-472B-8D75-D72E48C9BF86}"/>
              </ns1:ext>
            </ns1:extLst>
          </ns0:cNvPr>
          <ns0:cNvSpPr>
            <ns1:spLocks noGrp="1"/>
          </ns0:cNvSpPr>
          <ns0:nvPr/>
        </ns0:nvSpPr>
        <ns0:spPr>
          <ns1:xfrm>
            <ns1:off x="7515225" y="5743575"/>
            <ns1:ext cx="76200" cy="333375"/>
          </ns1:xfrm>
          <ns1:prstGeom prst="rect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4" name="trace:D04:content.auto.98">
            <ns1:extLst>
              <ns1:ext uri="{FF2B5EF4-FFF2-40B4-BE49-F238E27FC236}">
                <ns2:creationId id="{5A2897D1-F7B3-4BF0-B892-F25BB0947A88}"/>
              </ns1:ext>
            </ns1:extLst>
          </ns0:cNvPr>
          <ns0:cNvSpPr>
            <ns1:spLocks noGrp="1"/>
          </ns0:cNvSpPr>
          <ns0:nvPr/>
        </ns0:nvSpPr>
        <ns0:spPr>
          <ns1:xfrm>
            <ns1:off x="6829425" y="6286500"/>
            <ns1:ext cx="9906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提案数の</ns1:t>
            </ns1:r>
          </ns1:p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伸び悩み</ns1:t>
            </ns1:r>
          </ns1:p>
        </ns0:txBody>
      </ns0:sp>
      <ns0:sp>
        <ns0:nvSpPr>
          <ns0:cNvPr id="115" name="trace:D04:content.auto.99">
            <ns1:extLst>
              <ns1:ext uri="{FF2B5EF4-FFF2-40B4-BE49-F238E27FC236}">
                <ns2:creationId id="{418F5526-8609-4D5F-86A9-1F26458F4DB5}"/>
              </ns1:ext>
            </ns1:extLst>
          </ns0:cNvPr>
          <ns0:cNvSpPr>
            <ns1:spLocks noGrp="1"/>
          </ns0:cNvSpPr>
          <ns0:nvPr/>
        </ns0:nvSpPr>
        <ns0:spPr>
          <ns1:xfrm>
            <ns1:off x="7934325" y="6048375"/>
            <ns1:ext cx="200025" cy="304800"/>
          </ns1:xfrm>
          <ns1:prstGeom prst="right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6" name="trace:D04:content.auto.100">
            <ns1:extLst>
              <ns1:ext uri="{FF2B5EF4-FFF2-40B4-BE49-F238E27FC236}">
                <ns2:creationId id="{2F5C6FFB-AC0A-4963-B3FE-AECEBCB9D15C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5467350"/>
            <ns1:ext cx="1219200" cy="1571625"/>
          </ns1:xfrm>
          <ns1:prstGeom prst="roundRect">
            <ns1:avLst>
              <ns1:gd name="adj" fmla="val 9375"/>
            </ns1:avLst>
          </ns1:prstGeom>
          <ns1:solidFill>
            <ns1:srgbClr val="FFF0F1"/>
          </ns1:solidFill>
          <ns1:ln w="9525">
            <ns1:solidFill>
              <ns1:srgbClr val="F2B3B6"/>
            </ns1:solidFill>
            <ns1:prstDash val="solid"/>
          </ns1:ln>
        </ns0:spPr>
      </ns0:sp>
      <ns0:sp>
        <ns0:nvSpPr>
          <ns0:cNvPr id="117" name="trace:D04:content.auto.101">
            <ns1:extLst>
              <ns1:ext uri="{FF2B5EF4-FFF2-40B4-BE49-F238E27FC236}">
                <ns2:creationId id="{E2EDEDD6-F9E8-453C-AA84-3D768F348CC2}"/>
              </ns1:ext>
            </ns1:extLst>
          </ns0:cNvPr>
          <ns0:cNvSpPr>
            <ns1:spLocks noGrp="1"/>
          </ns0:cNvSpPr>
          <ns0:nvPr/>
        </ns0:nvSpPr>
        <ns0:spPr>
          <ns1:xfrm>
            <ns1:off x="8505825" y="5715000"/>
            <ns1:ext cx="285750" cy="285750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8" name="trace:D04:content.auto.102">
            <ns1:extLst>
              <ns1:ext uri="{FF2B5EF4-FFF2-40B4-BE49-F238E27FC236}">
                <ns2:creationId id="{19C53B47-0866-45B5-B614-7F558A9AE429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5781675"/>
            <ns1:ext cx="152400" cy="152400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19" name="trace:D04:content.auto.103">
            <ns1:extLst>
              <ns1:ext uri="{FF2B5EF4-FFF2-40B4-BE49-F238E27FC236}">
                <ns2:creationId id="{AF1DC02E-A501-4CA4-B1DF-9EA16173A98F}"/>
              </ns1:ext>
            </ns1:extLst>
          </ns0:cNvPr>
          <ns0:cNvSpPr>
            <ns1:spLocks noGrp="1"/>
          </ns0:cNvSpPr>
          <ns0:nvPr/>
        </ns0:nvSpPr>
        <ns0:spPr>
          <ns1:xfrm>
            <ns1:off x="8620125" y="5829300"/>
            <ns1:ext cx="57150" cy="571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20" name="trace:D04:content.auto.104">
            <ns1:extLst>
              <ns1:ext uri="{FF2B5EF4-FFF2-40B4-BE49-F238E27FC236}">
                <ns2:creationId id="{ECB32EFC-37C3-45B3-81ED-742746E0C8F1}"/>
              </ns1:ext>
            </ns1:extLst>
          </ns0:cNvPr>
          <ns0:cNvSpPr>
            <ns1:spLocks noGrp="1"/>
          </ns0:cNvSpPr>
          <ns0:nvPr/>
        </ns0:nvSpPr>
        <ns0:spPr>
          <ns1:xfrm>
            <ns1:off x="8439150" y="5857875"/>
            <ns1:ext cx="180975" cy="18097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1" name="trace:D04:content.auto.105">
            <ns1:extLst>
              <ns1:ext uri="{FF2B5EF4-FFF2-40B4-BE49-F238E27FC236}">
                <ns2:creationId id="{8430E6B3-0EB1-4B85-A70B-2B1E7B6407F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5857875"/>
            <ns1:ext cx="66675" cy="66675"/>
          </ns1:xfrm>
          <ns1:custGeom>
            <ns1:pathLst>
              <ns1:path w="66675" h="66675">
                <ns1:moveTo>
                  <ns1:pt x="0" y="0"/>
                </ns1:moveTo>
                <ns1:lnTo>
                  <ns1:pt x="66675" y="0"/>
                </ns1:lnTo>
                <ns1:lnTo>
                  <ns1:pt x="66675" y="666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22" name="trace:D04:content.auto.106">
            <ns1:extLst>
              <ns1:ext uri="{FF2B5EF4-FFF2-40B4-BE49-F238E27FC236}">
                <ns2:creationId id="{0F6AED96-35F2-49F7-97BD-0F93C383D0B4}"/>
              </ns1:ext>
            </ns1:extLst>
          </ns0:cNvPr>
          <ns0:cNvSpPr>
            <ns1:spLocks noGrp="1"/>
          </ns0:cNvSpPr>
          <ns0:nvPr/>
        </ns0:nvSpPr>
        <ns0:spPr>
          <ns1:xfrm>
            <ns1:off x="8115300" y="6286500"/>
            <ns1:ext cx="9906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受注率の</ns1:t>
            </ns1:r>
          </ns1:p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不安定化</ns1:t>
            </ns1:r>
          </ns1:p>
        </ns0:txBody>
      </ns0:sp>
      <ns0:sp>
        <ns0:nvSpPr>
          <ns0:cNvPr id="123" name="trace:D04:content.auto.107">
            <ns1:extLst>
              <ns1:ext uri="{FF2B5EF4-FFF2-40B4-BE49-F238E27FC236}">
                <ns2:creationId id="{77B6188D-AB32-4C70-8359-ED858755D51B}"/>
              </ns1:ext>
            </ns1:extLst>
          </ns0:cNvPr>
          <ns0:cNvSpPr>
            <ns1:spLocks noGrp="1"/>
          </ns0:cNvSpPr>
          <ns0:nvPr/>
        </ns0:nvSpPr>
        <ns0:spPr>
          <ns1:xfrm>
            <ns1:off x="9220200" y="6048375"/>
            <ns1:ext cx="200025" cy="304800"/>
          </ns1:xfrm>
          <ns1:prstGeom prst="rightArrow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24" name="trace:D04:content.auto.108">
            <ns1:extLst>
              <ns1:ext uri="{FF2B5EF4-FFF2-40B4-BE49-F238E27FC236}">
                <ns2:creationId id="{140F1281-E41E-4775-8934-1116486F9D77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5467350"/>
            <ns1:ext cx="1219200" cy="1571625"/>
          </ns1:xfrm>
          <ns1:prstGeom prst="roundRect">
            <ns1:avLst>
              <ns1:gd name="adj" fmla="val 9375"/>
            </ns1:avLst>
          </ns1:prstGeom>
          <ns1:solidFill>
            <ns1:srgbClr val="FFF0F1"/>
          </ns1:solidFill>
          <ns1:ln w="9525">
            <ns1:solidFill>
              <ns1:srgbClr val="F2B3B6"/>
            </ns1:solidFill>
            <ns1:prstDash val="solid"/>
          </ns1:ln>
        </ns0:spPr>
      </ns0:sp>
      <ns0:sp>
        <ns0:nvSpPr>
          <ns0:cNvPr id="125" name="trace:D04:content.auto.109">
            <ns1:extLst>
              <ns1:ext uri="{FF2B5EF4-FFF2-40B4-BE49-F238E27FC236}">
                <ns2:creationId id="{F5744E2E-D333-45E3-84AA-2EE329657ADA}"/>
              </ns1:ext>
            </ns1:extLst>
          </ns0:cNvPr>
          <ns0:cNvSpPr>
            <ns1:spLocks noGrp="1"/>
          </ns0:cNvSpPr>
          <ns0:nvPr/>
        </ns0:nvSpPr>
        <ns0:spPr>
          <ns1:xfrm>
            <ns1:off x="9829800" y="5734050"/>
            <ns1:ext cx="15240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6" name="trace:D04:content.auto.110">
            <ns1:extLst>
              <ns1:ext uri="{FF2B5EF4-FFF2-40B4-BE49-F238E27FC236}">
                <ns2:creationId id="{C8D290F1-BB8F-43D0-BD2A-488391DD94F1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5734050"/>
            <ns1:ext cx="95250" cy="9525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7" name="trace:D04:content.auto.111">
            <ns1:extLst>
              <ns1:ext uri="{FF2B5EF4-FFF2-40B4-BE49-F238E27FC236}">
                <ns2:creationId id="{2453FF42-EECD-4E7D-BA7D-47A54E74C2B8}"/>
              </ns1:ext>
            </ns1:extLst>
          </ns0:cNvPr>
          <ns0:cNvSpPr>
            <ns1:spLocks noGrp="1"/>
          </ns0:cNvSpPr>
          <ns0:nvPr/>
        </ns0:nvSpPr>
        <ns0:spPr>
          <ns1:xfrm>
            <ns1:off x="10077450" y="5829300"/>
            <ns1:ext cx="9525" cy="9525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8" name="trace:D04:content.auto.112">
            <ns1:extLst>
              <ns1:ext uri="{FF2B5EF4-FFF2-40B4-BE49-F238E27FC236}">
                <ns2:creationId id="{60730800-7BA4-41A1-8624-146F76CD82A9}"/>
              </ns1:ext>
            </ns1:extLst>
          </ns0:cNvPr>
          <ns0:cNvSpPr>
            <ns1:spLocks noGrp="1"/>
          </ns0:cNvSpPr>
          <ns0:nvPr/>
        </ns0:nvSpPr>
        <ns0:spPr>
          <ns1:xfrm>
            <ns1:off x="10010775" y="5895975"/>
            <ns1:ext cx="66675" cy="66675"/>
          </ns1:xfrm>
          <ns1:custGeom>
            <ns1:pathLst>
              <ns1:path w="66675" h="66675">
                <ns1:moveTo>
                  <ns1:pt x="0" y="0"/>
                </ns1:moveTo>
                <ns1:lnTo>
                  <ns1:pt x="66675" y="66675"/>
                </ns1:lnTo>
                <ns1:lnTo>
                  <ns1:pt x="0" y="666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29" name="trace:D04:content.auto.113">
            <ns1:extLst>
              <ns1:ext uri="{FF2B5EF4-FFF2-40B4-BE49-F238E27FC236}">
                <ns2:creationId id="{5F06351F-7A63-4F5F-9150-31FE6EB4A3A7}"/>
              </ns1:ext>
            </ns1:extLst>
          </ns0:cNvPr>
          <ns0:cNvSpPr>
            <ns1:spLocks noGrp="1"/>
          </ns0:cNvSpPr>
          <ns0:nvPr/>
        </ns0:nvSpPr>
        <ns0:spPr>
          <ns1:xfrm>
            <ns1:off x="9848850" y="6000750"/>
            <ns1:ext cx="15240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0" name="trace:D04:content.auto.114">
            <ns1:extLst>
              <ns1:ext uri="{FF2B5EF4-FFF2-40B4-BE49-F238E27FC236}">
                <ns2:creationId id="{A81016C3-FE43-4A2F-AD80-2A0F171361E3}"/>
              </ns1:ext>
            </ns1:extLst>
          </ns0:cNvPr>
          <ns0:cNvSpPr>
            <ns1:spLocks noGrp="1"/>
          </ns0:cNvSpPr>
          <ns0:nvPr/>
        </ns0:nvSpPr>
        <ns0:spPr>
          <ns1:xfrm>
            <ns1:off x="9753600" y="5905500"/>
            <ns1:ext cx="95250" cy="9525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1" name="trace:D04:content.auto.115">
            <ns1:extLst>
              <ns1:ext uri="{FF2B5EF4-FFF2-40B4-BE49-F238E27FC236}">
                <ns2:creationId id="{43DF22FA-2E35-4C48-86BD-B5B4BCB4E478}"/>
              </ns1:ext>
            </ns1:extLst>
          </ns0:cNvPr>
          <ns0:cNvSpPr>
            <ns1:spLocks noGrp="1"/>
          </ns0:cNvSpPr>
          <ns0:nvPr/>
        </ns0:nvSpPr>
        <ns0:spPr>
          <ns1:xfrm>
            <ns1:off x="9753600" y="5810250"/>
            <ns1:ext cx="9525" cy="95250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2" name="trace:D04:content.auto.116">
            <ns1:extLst>
              <ns1:ext uri="{FF2B5EF4-FFF2-40B4-BE49-F238E27FC236}">
                <ns2:creationId id="{545524C8-5749-448E-AF0E-2D2B23A1831B}"/>
              </ns1:ext>
            </ns1:extLst>
          </ns0:cNvPr>
          <ns0:cNvSpPr>
            <ns1:spLocks noGrp="1"/>
          </ns0:cNvSpPr>
          <ns0:nvPr/>
        </ns0:nvSpPr>
        <ns0:spPr>
          <ns1:xfrm>
            <ns1:off x="9753600" y="5772150"/>
            <ns1:ext cx="66675" cy="66675"/>
          </ns1:xfrm>
          <ns1:custGeom>
            <ns1:pathLst>
              <ns1:path w="66675" h="66675">
                <ns1:moveTo>
                  <ns1:pt x="66675" y="66675"/>
                </ns1:moveTo>
                <ns1:lnTo>
                  <ns1:pt x="0" y="0"/>
                </ns1:lnTo>
                <ns1:lnTo>
                  <ns1:pt x="66675" y="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3" name="trace:D04:content.auto.117">
            <ns1:extLst>
              <ns1:ext uri="{FF2B5EF4-FFF2-40B4-BE49-F238E27FC236}">
                <ns2:creationId id="{BF77BCF8-BCD5-4AA3-A9F8-9CB2F83CB0C8}"/>
              </ns1:ext>
            </ns1:extLst>
          </ns0:cNvPr>
          <ns0:cNvSpPr>
            <ns1:spLocks noGrp="1"/>
          </ns0:cNvSpPr>
          <ns0:nvPr/>
        </ns0:nvSpPr>
        <ns0:spPr>
          <ns1:xfrm>
            <ns1:off x="9401175" y="6286500"/>
            <ns1:ext cx="9906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再現性の</ns1:t>
            </ns1:r>
          </ns1:p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不足</ns1:t>
            </ns1:r>
          </ns1:p>
        </ns0:txBody>
      </ns0:sp>
      <ns0:sp>
        <ns0:nvSpPr>
          <ns0:cNvPr id="134" name="trace:D04:content.auto.118">
            <ns1:extLst>
              <ns1:ext uri="{FF2B5EF4-FFF2-40B4-BE49-F238E27FC236}">
                <ns2:creationId id="{FE60CB49-E456-4EEE-8EBC-DACEBB4E45C1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2600325"/>
            <ns1:ext cx="4514850" cy="581025"/>
          </ns1:xfrm>
          <ns1:prstGeom prst="roundRect">
            <ns1:avLst>
              <ns1:gd name="adj" fmla="val 19672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135" name="trace:D04:content.auto.119">
            <ns1:extLst>
              <ns1:ext uri="{FF2B5EF4-FFF2-40B4-BE49-F238E27FC236}">
                <ns2:creationId id="{9938112B-B653-4CB1-B62A-CE2543FB3B4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2695575"/>
            <ns1:ext cx="990600" cy="390525"/>
          </ns1:xfrm>
          <ns1:prstGeom prst="roundRect">
            <ns1:avLst>
              <ns1:gd name="adj" fmla="val 29268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6" name="trace:D04:content.auto.120">
            <ns1:extLst>
              <ns1:ext uri="{FF2B5EF4-FFF2-40B4-BE49-F238E27FC236}">
                <ns2:creationId id="{DBD25B13-CFD6-4509-BE9F-B32523E22523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2790825"/>
            <ns1:ext cx="9906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優先度 A</ns1:t>
            </ns1:r>
          </ns1:p>
        </ns0:txBody>
      </ns0:sp>
      <ns0:sp>
        <ns0:nvSpPr>
          <ns0:cNvPr id="137" name="trace:D04:title.primary.9">
            <ns1:extLst>
              <ns1:ext uri="{FF2B5EF4-FFF2-40B4-BE49-F238E27FC236}">
                <ns2:creationId id="{91F49503-859B-45A5-8217-C19FABEF1748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2686050"/>
            <ns1:ext cx="29051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情報集約基盤の整備</ns1:t>
            </ns1:r>
          </ns1:p>
        </ns0:txBody>
      </ns0:sp>
      <ns0:sp>
        <ns0:nvSpPr>
          <ns0:cNvPr id="138" name="trace:D04:title.primary.10">
            <ns1:extLst>
              <ns1:ext uri="{FF2B5EF4-FFF2-40B4-BE49-F238E27FC236}">
                <ns2:creationId id="{E035BE92-3759-4126-B082-83CB26CABA88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2943225"/>
            <ns1:ext cx="3000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顧客情報・提案資料を一元管理し、検索性を向上。</ns1:t>
            </ns1:r>
          </ns1:p>
        </ns0:txBody>
      </ns0:sp>
      <ns0:sp>
        <ns0:nvSpPr>
          <ns0:cNvPr id="139" name="trace:D04:content.auto.121">
            <ns1:extLst>
              <ns1:ext uri="{FF2B5EF4-FFF2-40B4-BE49-F238E27FC236}">
                <ns2:creationId id="{6F321A20-4A09-4ED7-9839-807D4F135011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3314700"/>
            <ns1:ext cx="4514850" cy="581025"/>
          </ns1:xfrm>
          <ns1:prstGeom prst="roundRect">
            <ns1:avLst>
              <ns1:gd name="adj" fmla="val 19672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140" name="trace:D04:content.auto.122">
            <ns1:extLst>
              <ns1:ext uri="{FF2B5EF4-FFF2-40B4-BE49-F238E27FC236}">
                <ns2:creationId id="{22E96CDE-F034-4808-9AD5-5B6E047AFA1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3409950"/>
            <ns1:ext cx="990600" cy="390525"/>
          </ns1:xfrm>
          <ns1:prstGeom prst="roundRect">
            <ns1:avLst>
              <ns1:gd name="adj" fmla="val 29268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41" name="trace:D04:content.auto.123">
            <ns1:extLst>
              <ns1:ext uri="{FF2B5EF4-FFF2-40B4-BE49-F238E27FC236}">
                <ns2:creationId id="{5ED760FC-9B02-45E7-8B82-0FBC9750DB56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3505200"/>
            <ns1:ext cx="9906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優先度 A</ns1:t>
            </ns1:r>
          </ns1:p>
        </ns0:txBody>
      </ns0:sp>
      <ns0:sp>
        <ns0:nvSpPr>
          <ns0:cNvPr id="142" name="trace:D04:title.primary.11">
            <ns1:extLst>
              <ns1:ext uri="{FF2B5EF4-FFF2-40B4-BE49-F238E27FC236}">
                <ns2:creationId id="{57E9A071-CE15-4215-8FBC-03078E7A8327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3400425"/>
            <ns1:ext cx="29051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提案テンプレート標準化</ns1:t>
            </ns1:r>
          </ns1:p>
        </ns0:txBody>
      </ns0:sp>
      <ns0:sp>
        <ns0:nvSpPr>
          <ns0:cNvPr id="143" name="trace:D04:title.primary.12">
            <ns1:extLst>
              <ns1:ext uri="{FF2B5EF4-FFF2-40B4-BE49-F238E27FC236}">
                <ns2:creationId id="{70779DBE-C1E7-480C-8D5A-DE8BF9ED0E20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3657600"/>
            <ns1:ext cx="3000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構成・表現・見積フォーマットを標準化。</ns1:t>
            </ns1:r>
          </ns1:p>
        </ns0:txBody>
      </ns0:sp>
      <ns0:sp>
        <ns0:nvSpPr>
          <ns0:cNvPr id="144" name="trace:D04:content.auto.124">
            <ns1:extLst>
              <ns1:ext uri="{FF2B5EF4-FFF2-40B4-BE49-F238E27FC236}">
                <ns2:creationId id="{029598F5-9508-49C8-BFED-BD25BEAA9AC7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4029075"/>
            <ns1:ext cx="4514850" cy="581025"/>
          </ns1:xfrm>
          <ns1:prstGeom prst="roundRect">
            <ns1:avLst>
              <ns1:gd name="adj" fmla="val 19672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145" name="trace:D04:content.auto.125">
            <ns1:extLst>
              <ns1:ext uri="{FF2B5EF4-FFF2-40B4-BE49-F238E27FC236}">
                <ns2:creationId id="{06515B1F-B154-4051-818F-2E76BF8C334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4124325"/>
            <ns1:ext cx="990600" cy="390525"/>
          </ns1:xfrm>
          <ns1:prstGeom prst="roundRect">
            <ns1:avLst>
              <ns1:gd name="adj" fmla="val 29268"/>
            </ns1:avLst>
          </ns1:prstGeom>
          <ns1:solidFill>
            <ns1:srgbClr val="F6C4C6"/>
          </ns1:solidFill>
          <ns1:ln w="0">
            <ns1:noFill/>
            <ns1:prstDash val="solid"/>
          </ns1:ln>
        </ns0:spPr>
      </ns0:sp>
      <ns0:sp>
        <ns0:nvSpPr>
          <ns0:cNvPr id="146" name="trace:D04:content.auto.126">
            <ns1:extLst>
              <ns1:ext uri="{FF2B5EF4-FFF2-40B4-BE49-F238E27FC236}">
                <ns2:creationId id="{5EDC3EB1-33A8-4A91-A6D8-8DE86D906693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4219575"/>
            <ns1:ext cx="9906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優先度 B</ns1:t>
            </ns1:r>
          </ns1:p>
        </ns0:txBody>
      </ns0:sp>
      <ns0:sp>
        <ns0:nvSpPr>
          <ns0:cNvPr id="147" name="trace:D04:content.auto.127">
            <ns1:extLst>
              <ns1:ext uri="{FF2B5EF4-FFF2-40B4-BE49-F238E27FC236}">
                <ns2:creationId id="{1C2EE40A-FDAD-48F1-8CF1-913FF2D324B8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4114800"/>
            <ns1:ext cx="29051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ナレッジ検索・再利用強化</ns1:t>
            </ns1:r>
          </ns1:p>
        </ns0:txBody>
      </ns0:sp>
      <ns0:sp>
        <ns0:nvSpPr>
          <ns0:cNvPr id="148" name="trace:D04:lead.6">
            <ns1:extLst>
              <ns1:ext uri="{FF2B5EF4-FFF2-40B4-BE49-F238E27FC236}">
                <ns2:creationId id="{0F450048-DACF-476A-A04F-6893F99CEFE6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4371975"/>
            <ns1:ext cx="3000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過去事例の検索性を高め、再利用を促進。</ns1:t>
            </ns1:r>
          </ns1:p>
        </ns0:txBody>
      </ns0:sp>
      <ns0:sp>
        <ns0:nvSpPr>
          <ns0:cNvPr id="149" name="trace:D04:content.auto.128">
            <ns1:extLst>
              <ns1:ext uri="{FF2B5EF4-FFF2-40B4-BE49-F238E27FC236}">
                <ns2:creationId id="{7E0ABB05-F0B7-47B6-922C-27F08A732263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4743450"/>
            <ns1:ext cx="4514850" cy="581025"/>
          </ns1:xfrm>
          <ns1:prstGeom prst="roundRect">
            <ns1:avLst>
              <ns1:gd name="adj" fmla="val 19672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150" name="trace:D04:content.auto.129">
            <ns1:extLst>
              <ns1:ext uri="{FF2B5EF4-FFF2-40B4-BE49-F238E27FC236}">
                <ns2:creationId id="{5B5543E5-91DC-4FB8-8BA0-3F57B3604AFB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4838700"/>
            <ns1:ext cx="990600" cy="390525"/>
          </ns1:xfrm>
          <ns1:prstGeom prst="roundRect">
            <ns1:avLst>
              <ns1:gd name="adj" fmla="val 29268"/>
            </ns1:avLst>
          </ns1:prstGeom>
          <ns1:solidFill>
            <ns1:srgbClr val="F6C4C6"/>
          </ns1:solidFill>
          <ns1:ln w="0">
            <ns1:noFill/>
            <ns1:prstDash val="solid"/>
          </ns1:ln>
        </ns0:spPr>
      </ns0:sp>
      <ns0:sp>
        <ns0:nvSpPr>
          <ns0:cNvPr id="151" name="trace:D04:content.auto.130">
            <ns1:extLst>
              <ns1:ext uri="{FF2B5EF4-FFF2-40B4-BE49-F238E27FC236}">
                <ns2:creationId id="{46ADFD20-B4DF-45CC-9316-74036EF6D91C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4933950"/>
            <ns1:ext cx="9906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優先度 B</ns1:t>
            </ns1:r>
          </ns1:p>
        </ns0:txBody>
      </ns0:sp>
      <ns0:sp>
        <ns0:nvSpPr>
          <ns0:cNvPr id="152" name="trace:D04:content.auto.131">
            <ns1:extLst>
              <ns1:ext uri="{FF2B5EF4-FFF2-40B4-BE49-F238E27FC236}">
                <ns2:creationId id="{A59D9ABE-BC78-48CB-BF0C-DB6F0451AEEF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4829175"/>
            <ns1:ext cx="29051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レビュー観点の共通化</ns1:t>
            </ns1:r>
          </ns1:p>
        </ns0:txBody>
      </ns0:sp>
      <ns0:sp>
        <ns0:nvSpPr>
          <ns0:cNvPr id="153" name="trace:D04:content.auto.132">
            <ns1:extLst>
              <ns1:ext uri="{FF2B5EF4-FFF2-40B4-BE49-F238E27FC236}">
                <ns2:creationId id="{5AB78CA3-825E-4335-8B90-D6030747E179}"/>
              </ns1:ext>
            </ns1:extLst>
          </ns0:cNvPr>
          <ns0:cNvSpPr>
            <ns1:spLocks noGrp="1"/>
          </ns0:cNvSpPr>
          <ns0:nvPr/>
        </ns0:nvSpPr>
        <ns0:spPr>
          <ns1:xfrm>
            <ns1:off x="12249150" y="5086350"/>
            <ns1:ext cx="30003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品質チェックの観点を標準化し、属人化を抑制。</ns1:t>
            </ns1:r>
          </ns1:p>
        </ns0:txBody>
      </ns0:sp>
      <ns0:sp>
        <ns0:nvSpPr>
          <ns0:cNvPr id="154" name="trace:D04:content.auto.133">
            <ns1:extLst>
              <ns1:ext uri="{FF2B5EF4-FFF2-40B4-BE49-F238E27FC236}">
                <ns2:creationId id="{6F5CC610-5944-4BD5-8BDD-53F493431DF6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5524500"/>
            <ns1:ext cx="4514850" cy="1781175"/>
          </ns1:xfrm>
          <ns1:prstGeom prst="roundRect">
            <ns1:avLst>
              <ns1:gd name="adj" fmla="val 6417"/>
            </ns1:avLst>
          </ns1:prstGeom>
          <ns1:solidFill>
            <ns1:srgbClr val="FFFFFF"/>
          </ns1:solidFill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155" name="trace:D04:content.auto.134">
            <ns1:extLst>
              <ns1:ext uri="{FF2B5EF4-FFF2-40B4-BE49-F238E27FC236}">
                <ns2:creationId id="{160B950E-149D-41E9-B48C-2E48E5DB46A7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5705475"/>
            <ns1:ext cx="4381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56" name="trace:D04:content.auto.135">
            <ns1:extLst>
              <ns1:ext uri="{FF2B5EF4-FFF2-40B4-BE49-F238E27FC236}">
                <ns2:creationId id="{81A57593-2F58-43E5-BCD3-282F9E517FA4}"/>
              </ns1:ext>
            </ns1:extLst>
          </ns0:cNvPr>
          <ns0:cNvSpPr>
            <ns1:spLocks noGrp="1"/>
          </ns0:cNvSpPr>
          <ns0:nvPr/>
        </ns0:nvSpPr>
        <ns0:spPr>
          <ns1:xfrm>
            <ns1:off x="11744325" y="5600700"/>
            <ns1:ext cx="2476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期待される改善</ns1:t>
            </ns1:r>
          </ns1:p>
        </ns0:txBody>
      </ns0:sp>
      <ns0:sp>
        <ns0:nvSpPr>
          <ns0:cNvPr id="157" name="trace:D04:content.auto.136">
            <ns1:extLst>
              <ns1:ext uri="{FF2B5EF4-FFF2-40B4-BE49-F238E27FC236}">
                <ns2:creationId id="{396381AD-C1C0-4E6B-A71C-8002A2340A97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010275"/>
            <ns1:ext cx="219075" cy="21907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58" name="trace:D04:content.auto.137">
            <ns1:extLst>
              <ns1:ext uri="{FF2B5EF4-FFF2-40B4-BE49-F238E27FC236}">
                <ns2:creationId id="{E30E449C-A1D5-47EE-A994-A9BF9C3E1B14}"/>
              </ns1:ext>
            </ns1:extLst>
          </ns0:cNvPr>
          <ns0:cNvSpPr>
            <ns1:spLocks noGrp="1"/>
          </ns0:cNvSpPr>
          <ns0:nvPr/>
        </ns0:nvSpPr>
        <ns0:spPr>
          <ns1:xfrm>
            <ns1:off x="11296650" y="6067425"/>
            <ns1:ext cx="152400" cy="142875"/>
          </ns1:xfrm>
          <ns1:custGeom>
            <ns1:pathLst>
              <ns1:path w="152400" h="142875">
                <ns1:moveTo>
                  <ns1:pt x="0" y="47625"/>
                </ns1:moveTo>
                <ns1:lnTo>
                  <ns1:pt x="38100" y="95250"/>
                </ns1:lnTo>
                <ns1:lnTo>
                  <ns1:pt x="123825" y="0"/>
                </ns1:lnTo>
                <ns1:lnTo>
                  <ns1:pt x="152400" y="28575"/>
                </ns1:lnTo>
                <ns1:lnTo>
                  <ns1:pt x="38100" y="142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9" name="trace:D04:content.auto.138">
            <ns1:extLst>
              <ns1:ext uri="{FF2B5EF4-FFF2-40B4-BE49-F238E27FC236}">
                <ns2:creationId id="{D0D95631-99B4-478A-AA07-9AE3107C7E2E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5991225"/>
            <ns1:ext cx="3476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作成時間の短縮</ns1:t>
            </ns1:r>
          </ns1:p>
        </ns0:txBody>
      </ns0:sp>
      <ns0:sp>
        <ns0:nvSpPr>
          <ns0:cNvPr id="160" name="trace:D04:content.auto.139">
            <ns1:extLst>
              <ns1:ext uri="{FF2B5EF4-FFF2-40B4-BE49-F238E27FC236}">
                <ns2:creationId id="{E96B7075-51F8-4567-B6AB-6CC04450AD11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305550"/>
            <ns1:ext cx="219075" cy="21907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1" name="trace:D04:content.auto.140">
            <ns1:extLst>
              <ns1:ext uri="{FF2B5EF4-FFF2-40B4-BE49-F238E27FC236}">
                <ns2:creationId id="{BC1B4100-1E05-4905-A690-7861BB3F7944}"/>
              </ns1:ext>
            </ns1:extLst>
          </ns0:cNvPr>
          <ns0:cNvSpPr>
            <ns1:spLocks noGrp="1"/>
          </ns0:cNvSpPr>
          <ns0:nvPr/>
        </ns0:nvSpPr>
        <ns0:spPr>
          <ns1:xfrm>
            <ns1:off x="11296650" y="6362700"/>
            <ns1:ext cx="152400" cy="142875"/>
          </ns1:xfrm>
          <ns1:custGeom>
            <ns1:pathLst>
              <ns1:path w="152400" h="142875">
                <ns1:moveTo>
                  <ns1:pt x="0" y="47625"/>
                </ns1:moveTo>
                <ns1:lnTo>
                  <ns1:pt x="38100" y="95250"/>
                </ns1:lnTo>
                <ns1:lnTo>
                  <ns1:pt x="123825" y="0"/>
                </ns1:lnTo>
                <ns1:lnTo>
                  <ns1:pt x="152400" y="28575"/>
                </ns1:lnTo>
                <ns1:lnTo>
                  <ns1:pt x="38100" y="142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2" name="trace:D04:content.auto.141">
            <ns1:extLst>
              <ns1:ext uri="{FF2B5EF4-FFF2-40B4-BE49-F238E27FC236}">
                <ns2:creationId id="{438AC449-C7AD-4980-A7BB-9CC87E77582E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6286500"/>
            <ns1:ext cx="3476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提案品質の安定化</ns1:t>
            </ns1:r>
          </ns1:p>
        </ns0:txBody>
      </ns0:sp>
      <ns0:sp>
        <ns0:nvSpPr>
          <ns0:cNvPr id="163" name="trace:D04:content.auto.142">
            <ns1:extLst>
              <ns1:ext uri="{FF2B5EF4-FFF2-40B4-BE49-F238E27FC236}">
                <ns2:creationId id="{B3BF858E-DEBD-4148-BAB5-30AE33BC40BD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600825"/>
            <ns1:ext cx="219075" cy="21907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4" name="trace:D04:content.auto.143">
            <ns1:extLst>
              <ns1:ext uri="{FF2B5EF4-FFF2-40B4-BE49-F238E27FC236}">
                <ns2:creationId id="{0D6D2BE7-4C54-4B0C-AACC-4973482FCA54}"/>
              </ns1:ext>
            </ns1:extLst>
          </ns0:cNvPr>
          <ns0:cNvSpPr>
            <ns1:spLocks noGrp="1"/>
          </ns0:cNvSpPr>
          <ns0:nvPr/>
        </ns0:nvSpPr>
        <ns0:spPr>
          <ns1:xfrm>
            <ns1:off x="11296650" y="6657975"/>
            <ns1:ext cx="152400" cy="142875"/>
          </ns1:xfrm>
          <ns1:custGeom>
            <ns1:pathLst>
              <ns1:path w="152400" h="142875">
                <ns1:moveTo>
                  <ns1:pt x="0" y="47625"/>
                </ns1:moveTo>
                <ns1:lnTo>
                  <ns1:pt x="38100" y="95250"/>
                </ns1:lnTo>
                <ns1:lnTo>
                  <ns1:pt x="123825" y="0"/>
                </ns1:lnTo>
                <ns1:lnTo>
                  <ns1:pt x="152400" y="28575"/>
                </ns1:lnTo>
                <ns1:lnTo>
                  <ns1:pt x="38100" y="142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5" name="trace:D04:content.auto.144">
            <ns1:extLst>
              <ns1:ext uri="{FF2B5EF4-FFF2-40B4-BE49-F238E27FC236}">
                <ns2:creationId id="{72F7C7A1-013F-45A4-AF25-4BE8A989A6AF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6581775"/>
            <ns1:ext cx="3476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案件対応数の拡大</ns1:t>
            </ns1:r>
          </ns1:p>
        </ns0:txBody>
      </ns0:sp>
      <ns0:sp>
        <ns0:nvSpPr>
          <ns0:cNvPr id="166" name="trace:D04:content.auto.145">
            <ns1:extLst>
              <ns1:ext uri="{FF2B5EF4-FFF2-40B4-BE49-F238E27FC236}">
                <ns2:creationId id="{0C260D66-1E6A-4604-A528-16C89EDA754F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896100"/>
            <ns1:ext cx="219075" cy="219075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7" name="trace:D04:content.auto.146">
            <ns1:extLst>
              <ns1:ext uri="{FF2B5EF4-FFF2-40B4-BE49-F238E27FC236}">
                <ns2:creationId id="{6A51E652-139B-4960-A4CF-0DA37E07A641}"/>
              </ns1:ext>
            </ns1:extLst>
          </ns0:cNvPr>
          <ns0:cNvSpPr>
            <ns1:spLocks noGrp="1"/>
          </ns0:cNvSpPr>
          <ns0:nvPr/>
        </ns0:nvSpPr>
        <ns0:spPr>
          <ns1:xfrm>
            <ns1:off x="11296650" y="6953250"/>
            <ns1:ext cx="152400" cy="142875"/>
          </ns1:xfrm>
          <ns1:custGeom>
            <ns1:pathLst>
              <ns1:path w="152400" h="142875">
                <ns1:moveTo>
                  <ns1:pt x="0" y="47625"/>
                </ns1:moveTo>
                <ns1:lnTo>
                  <ns1:pt x="38100" y="95250"/>
                </ns1:lnTo>
                <ns1:lnTo>
                  <ns1:pt x="123825" y="0"/>
                </ns1:lnTo>
                <ns1:lnTo>
                  <ns1:pt x="152400" y="28575"/>
                </ns1:lnTo>
                <ns1:lnTo>
                  <ns1:pt x="38100" y="142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8" name="trace:D04:content.auto.147">
            <ns1:extLst>
              <ns1:ext uri="{FF2B5EF4-FFF2-40B4-BE49-F238E27FC236}">
                <ns2:creationId id="{1A38619B-3253-4865-B6B4-52A6C49ECF7B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6877050"/>
            <ns1:ext cx="3476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継続的な改善サイクルの確立</ns1:t>
            </ns1:r>
          </ns1:p>
        </ns0:txBody>
      </ns0:sp>
      <ns0:sp>
        <ns0:nvSpPr>
          <ns0:cNvPr id="169" name="trace:D04:content.auto.148">
            <ns1:extLst>
              <ns1:ext uri="{FF2B5EF4-FFF2-40B4-BE49-F238E27FC236}">
                <ns2:creationId id="{0923E343-1293-4E64-A019-F6D8D83BF76B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467600"/>
            <ns1:ext cx="15011400" cy="600075"/>
          </ns1:xfrm>
          <ns1:prstGeom prst="roundRect">
            <ns1:avLst>
              <ns1:gd name="adj" fmla="val 19048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70" name="trace:D04:content.auto.149">
            <ns1:extLst>
              <ns1:ext uri="{FF2B5EF4-FFF2-40B4-BE49-F238E27FC236}">
                <ns2:creationId id="{BB0D3817-D547-495A-A6A0-9AAC2A2BEA62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7486650"/>
            <ns1:ext cx="3943350" cy="552450"/>
          </ns1:xfrm>
          <ns1:custGeom>
            <ns1:pathLst>
              <ns1:path w="3943350" h="552450">
                <ns1:moveTo>
                  <ns1:pt x="0" y="0"/>
                </ns1:moveTo>
                <ns1:lnTo>
                  <ns1:pt x="3781425" y="0"/>
                </ns1:lnTo>
                <ns1:lnTo>
                  <ns1:pt x="3943350" y="276225"/>
                </ns1:lnTo>
                <ns1:lnTo>
                  <ns1:pt x="3781425" y="552450"/>
                </ns1:lnTo>
                <ns1:lnTo>
                  <ns1:pt x="0" y="5524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71" name="trace:D04:content.auto.150">
            <ns1:extLst>
              <ns1:ext uri="{FF2B5EF4-FFF2-40B4-BE49-F238E27FC236}">
                <ns2:creationId id="{3CD161D6-283B-482D-B2EB-262A5CED4FF2}"/>
              </ns1:ext>
            </ns1:extLst>
          </ns0:cNvPr>
          <ns0:cNvSpPr>
            <ns1:spLocks noGrp="1"/>
          </ns0:cNvSpPr>
          <ns0:nvPr/>
        </ns0:nvSpPr>
        <ns0:spPr>
          <ns1:xfrm>
            <ns1:off x="790575" y="7620000"/>
            <ns1:ext cx="9525" cy="314325"/>
          </ns1:xfrm>
          <ns1:prstGeom prst="lin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72" name="trace:D04:content.auto.151">
            <ns1:extLst>
              <ns1:ext uri="{FF2B5EF4-FFF2-40B4-BE49-F238E27FC236}">
                <ns2:creationId id="{517B4E40-F8BE-4E7C-90FC-4B2009A25E06}"/>
              </ns1:ext>
            </ns1:extLst>
          </ns0:cNvPr>
          <ns0:cNvSpPr>
            <ns1:spLocks noGrp="1"/>
          </ns0:cNvSpPr>
          <ns0:nvPr/>
        </ns0:nvSpPr>
        <ns0:spPr>
          <ns1:xfrm>
            <ns1:off x="790575" y="7629525"/>
            <ns1:ext cx="266700" cy="142875"/>
          </ns1:xfrm>
          <ns1:custGeom>
            <ns1:pathLst>
              <ns1:path w="266700" h="142875">
                <ns1:moveTo>
                  <ns1:pt x="0" y="0"/>
                </ns1:moveTo>
                <ns1:lnTo>
                  <ns1:pt x="266700" y="66675"/>
                </ns1:lnTo>
                <ns1:lnTo>
                  <ns1:pt x="0" y="142875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73" name="trace:D04:content.auto.152">
            <ns1:extLst>
              <ns1:ext uri="{FF2B5EF4-FFF2-40B4-BE49-F238E27FC236}">
                <ns2:creationId id="{5F1294E0-9332-4EFE-AD63-19A7E1B4290B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" y="7648575"/>
            <ns1:ext cx="31908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本提案で重点的に解決する領域</ns1:t>
            </ns1:r>
          </ns1:p>
        </ns0:txBody>
      </ns0:sp>
      <ns0:sp>
        <ns0:nvSpPr>
          <ns0:cNvPr id="174" name="trace:D04:content.auto.153">
            <ns1:extLst>
              <ns1:ext uri="{FF2B5EF4-FFF2-40B4-BE49-F238E27FC236}">
                <ns2:creationId id="{CD715A57-32B3-4807-9B08-AAFF28736AE8}"/>
              </ns1:ext>
            </ns1:extLst>
          </ns0:cNvPr>
          <ns0:cNvSpPr>
            <ns1:spLocks noGrp="1"/>
          </ns0:cNvSpPr>
          <ns0:nvPr/>
        </ns0:nvSpPr>
        <ns0:spPr>
          <ns1:xfrm>
            <ns1:off x="4838700" y="7648575"/>
            <ns1:ext cx="49530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情報集約・標準化・再利用の3点を起点に、</ns1:t>
            </ns1:r>
          </ns1:p>
        </ns0:txBody>
      </ns0:sp>
      <ns0:sp>
        <ns0:nvSpPr>
          <ns0:cNvPr id="175" name="trace:D04:content.auto.154">
            <ns1:extLst>
              <ns1:ext uri="{FF2B5EF4-FFF2-40B4-BE49-F238E27FC236}">
                <ns2:creationId id="{A408FB45-E227-4833-B8AA-C2A83A0539CF}"/>
              </ns1:ext>
            </ns1:extLst>
          </ns0:cNvPr>
          <ns0:cNvSpPr>
            <ns1:spLocks noGrp="1"/>
          </ns0:cNvSpPr>
          <ns0:nvPr/>
        </ns0:nvSpPr>
        <ns0:spPr>
          <ns1:xfrm>
            <ns1:off x="9791700" y="7648575"/>
            <ns1:ext cx="5524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00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提案活動全体の生産性を底上げします。</ns1:t>
            </ns1:r>
          </ns1:p>
        </ns0:txBody>
      </ns0:sp>
      <ns0:sp>
        <ns0:nvSpPr>
          <ns0:cNvPr id="176" name="trace:D04:content.auto.155">
            <ns1:extLst>
              <ns1:ext uri="{FF2B5EF4-FFF2-40B4-BE49-F238E27FC236}">
                <ns2:creationId id="{6B331FDC-1E66-45CE-AAEE-685610E0A45F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277225"/>
            <ns1:ext cx="266700" cy="142875"/>
          </ns1:xfrm>
          <ns1:custGeom>
            <ns1:pathLst>
              <ns1:path w="266700" h="142875">
                <ns1:moveTo>
                  <ns1:pt x="0" y="66675"/>
                </ns1:moveTo>
                <ns1:lnTo>
                  <ns1:pt x="123825" y="0"/>
                </ns1:lnTo>
                <ns1:lnTo>
                  <ns1:pt x="266700" y="66675"/>
                </ns1:lnTo>
                <ns1:lnTo>
                  <ns1:pt x="133350" y="142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77" name="trace:D04:content.auto.156">
            <ns1:extLst>
              <ns1:ext uri="{FF2B5EF4-FFF2-40B4-BE49-F238E27FC236}">
                <ns2:creationId id="{4F90AB38-84FB-4A35-BD02-0D64CEA11F52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343900"/>
            <ns1:ext cx="133350" cy="228600"/>
          </ns1:xfrm>
          <ns1:custGeom>
            <ns1:pathLst>
              <ns1:path w="133350" h="228600">
                <ns1:moveTo>
                  <ns1:pt x="0" y="0"/>
                </ns1:moveTo>
                <ns1:lnTo>
                  <ns1:pt x="133350" y="76200"/>
                </ns1:lnTo>
                <ns1:lnTo>
                  <ns1:pt x="133350" y="228600"/>
                </ns1:lnTo>
                <ns1:lnTo>
                  <ns1:pt x="0" y="1524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78" name="trace:D04:content.auto.157">
            <ns1:extLst>
              <ns1:ext uri="{FF2B5EF4-FFF2-40B4-BE49-F238E27FC236}">
                <ns2:creationId id="{08BD30C0-7326-4BFD-AE59-D1CEA264F71D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8343900"/>
            <ns1:ext cx="133350" cy="228600"/>
          </ns1:xfrm>
          <ns1:custGeom>
            <ns1:pathLst>
              <ns1:path w="133350" h="228600">
                <ns1:moveTo>
                  <ns1:pt x="0" y="76200"/>
                </ns1:moveTo>
                <ns1:lnTo>
                  <ns1:pt x="133350" y="0"/>
                </ns1:lnTo>
                <ns1:lnTo>
                  <ns1:pt x="133350" y="152400"/>
                </ns1:lnTo>
                <ns1:lnTo>
                  <ns1:pt x="0" y="228600"/>
                </ns1:lnTo>
                <ns1:close/>
              </ns1:path>
            </ns1:pathLst>
          </ns1:custGeom>
          <ns1:solidFill>
            <ns1:srgbClr val="1B222A"/>
          </ns1:solidFill>
          <ns1:ln w="0">
            <ns1:noFill/>
            <ns1:prstDash val="solid"/>
          </ns1:ln>
        </ns0:spPr>
      </ns0:sp>
      <ns0:sp>
        <ns0:nvSpPr>
          <ns0:cNvPr id="179" name="trace:D04:footer.brand">
            <ns1:extLst>
              <ns1:ext uri="{FF2B5EF4-FFF2-40B4-BE49-F238E27FC236}">
                <ns2:creationId id="{8947770F-C5D6-44C8-A947-5D9AC605B01D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8334375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B222A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B222A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80" name="trace:D04:content.auto.158">
            <ns1:extLst>
              <ns1:ext uri="{FF2B5EF4-FFF2-40B4-BE49-F238E27FC236}">
                <ns2:creationId id="{6DFF9F37-36E7-4A13-8D3F-45B9C15C2122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267700"/>
            <ns1:ext cx="9525" cy="438150"/>
          </ns1:xfrm>
          <ns1:prstGeom prst="line">
            <ns1:avLst/>
          </ns1:prstGeom>
          <ns1:noFill/>
          <ns1:ln w="9525">
            <ns1:solidFill>
              <ns1:srgbClr val="D4D9DE"/>
            </ns1:solidFill>
            <ns1:prstDash val="solid"/>
          </ns1:ln>
        </ns0:spPr>
      </ns0:sp>
      <ns0:sp>
        <ns0:nvSpPr>
          <ns0:cNvPr id="181" name="trace:D04:footer.tagline.jp">
            <ns1:extLst>
              <ns1:ext uri="{FF2B5EF4-FFF2-40B4-BE49-F238E27FC236}">
                <ns2:creationId id="{716C14C5-8C7C-465F-83F4-02EA0DE4977B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25817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82" name="trace:D04:footer.tagline.en">
            <ns1:extLst>
              <ns1:ext uri="{FF2B5EF4-FFF2-40B4-BE49-F238E27FC236}">
                <ns2:creationId id="{9E08C01E-8443-47E5-A343-1D02DCAD344A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47725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68737E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83" name="trace:D04:footer.date">
            <ns1:extLst>
              <ns1:ext uri="{FF2B5EF4-FFF2-40B4-BE49-F238E27FC236}">
                <ns2:creationId id="{A98C3EFC-1239-492E-A80E-FF00C707EE64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343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84" name="trace:D04:content.auto.159">
            <ns1:extLst>
              <ns1:ext uri="{FF2B5EF4-FFF2-40B4-BE49-F238E27FC236}">
                <ns2:creationId id="{BD12ACFD-D217-48B3-9CE6-EAAA48716080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105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3:creationId val="27604292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2026-09-20T08:38:37.2400000Z</dcterms:created>
  <dcterms:modified xsi:type="dcterms:W3CDTF">2026-09-20T08:38:37.2400000Z</dcterms:modified>
</coreProperties>
</file>