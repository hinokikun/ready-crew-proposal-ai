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54f1cdf9ff4703" /><Relationship Type="http://schemas.openxmlformats.org/officeDocument/2006/relationships/extended-properties" Target="/docProps/app.xml" Id="Rf0425c98c02a4ce7" /><Relationship Type="http://schemas.openxmlformats.org/officeDocument/2006/relationships/officeDocument" Target="/ppt/presentation.xml" Id="R48bbf465e67d47a6" /></Relationships>
</file>

<file path=ppt/presentation.xml><?xml version="1.0" encoding="utf-8"?>
<p:presentation xmlns:p="http://schemas.openxmlformats.org/presentationml/2006/main">
  <p:sldMasterIdLst>
    <p:sldMasterId xmlns:r="http://schemas.openxmlformats.org/officeDocument/2006/relationships" id="2147483648" r:id="R71c0926a13ef4cee"/>
  </p:sldMasterIdLst>
  <p:notesMasterIdLst>
    <p:notesMasterId xmlns:r="http://schemas.openxmlformats.org/officeDocument/2006/relationships" r:id="R9878f8b6849b41dd"/>
  </p:notesMasterIdLst>
  <p:sldIdLst>
    <p:sldId xmlns:r="http://schemas.openxmlformats.org/officeDocument/2006/relationships" id="256" r:id="R7a030f0edbb548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3bfbfd8a634eed" /><Relationship Type="http://schemas.openxmlformats.org/officeDocument/2006/relationships/slideMaster" Target="/ppt/slideMasters/slideMaster1.xml" Id="R71c0926a13ef4cee" /><Relationship Type="http://schemas.openxmlformats.org/officeDocument/2006/relationships/notesMaster" Target="/ppt/notesMasters/notesMaster1.xml" Id="R9878f8b6849b41dd" /><Relationship Type="http://schemas.openxmlformats.org/officeDocument/2006/relationships/presProps" Target="/ppt/presProps.xml" Id="Rfc36158cba3545e3" /><Relationship Type="http://schemas.openxmlformats.org/officeDocument/2006/relationships/tableStyles" Target="/ppt/tableStyles.xml" Id="R20882abd1cda4700" /><Relationship Type="http://schemas.openxmlformats.org/officeDocument/2006/relationships/slide" Target="/ppt/slides/slide1.xml" Id="R7a030f0edbb548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0c16afc21843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1341701fcd4feb" /><Relationship Type="http://schemas.openxmlformats.org/officeDocument/2006/relationships/notesMaster" Target="/ppt/notesMasters/notesMaster1.xml" Id="R4cccce23d47942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D20 Case Study native trace. Visual authority: canonical_source.png. Photos are limited crops from the supplied Canonical because the Canonical contains photography. Sample content is trace-only and not production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b753b5568747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0578b383634a91" /><Relationship Type="http://schemas.openxmlformats.org/officeDocument/2006/relationships/slideLayout" Target="/ppt/slideLayouts/slideLayout1.xml" Id="R517b4ee4d52b44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7b4ee4d52b44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e7ae1884a34115" /><Relationship Type="http://schemas.openxmlformats.org/officeDocument/2006/relationships/image" Target="/ppt/media/image.png" Id="Ra0edae45390348d9" /><Relationship Type="http://schemas.openxmlformats.org/officeDocument/2006/relationships/image" Target="/ppt/media/image2.png" Id="R0f086c732004415d" /><Relationship Type="http://schemas.openxmlformats.org/officeDocument/2006/relationships/image" Target="/ppt/media/image3.png" Id="R4629e1c9d099492c" /><Relationship Type="http://schemas.openxmlformats.org/officeDocument/2006/relationships/notesSlide" Target="/ppt/notesSlides/notesSlide1.xml" Id="R24da93c2c4304db8"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21" name="trace:D20:content.auto">
            <ns1:extLst>
              <ns1:ext uri="{FF2B5EF4-FFF2-40B4-BE49-F238E27FC236}">
                <ns2:creationId id="{EFE2F017-C14D-44E7-9D48-BAF52578CF0F}"/>
              </ns1:ext>
            </ns1:extLst>
          </ns0:cNvPr>
          <ns0:cNvSpPr>
            <ns1:spLocks noGrp="1"/>
          </ns0:cNvSpPr>
          <ns0:nvPr/>
        </ns0:nvSpPr>
        <ns0:spPr>
          <ns1:xfrm>
            <ns1:off x="209550" y="152400"/>
            <ns1:ext cx="590550" cy="228600"/>
          </ns1:xfrm>
          <ns1:prstGeom prst="rect">
            <ns1:avLst/>
          </ns1:prstGeom>
          <ns1:noFill/>
          <ns1:ln w="0">
            <ns1:noFill/>
            <ns1:prstDash val="solid"/>
          </ns1:ln>
        </ns0:spPr>
        <ns0:txBody>
          <ns1:bodyPr anchor="ctr"/>
          <ns1:lstStyle/>
          <ns1:p>
            <ns1:pPr algn="l">
              <ns1:defRPr sz="1200" b="1" i="0">
                <ns1:solidFill>
                  <ns1:srgbClr val="0E1A2D"/>
                </ns1:solidFill>
                <ns1:latin typeface="Yu Gothic"/>
                <ns1:ea typeface="Yu Gothic"/>
                <ns1:cs typeface="Yu Gothic"/>
              </ns1:defRPr>
            </ns1:pPr>
            <ns1:r>
              <ns1:rPr sz="1200" b="1" i="0">
                <ns1:solidFill>
                  <ns1:srgbClr val="0E1A2D"/>
                </ns1:solidFill>
                <ns1:latin typeface="Yu Gothic"/>
                <ns1:ea typeface="Yu Gothic"/>
                <ns1:cs typeface="Yu Gothic"/>
              </ns1:rPr>
              <ns1:t>D20</ns1:t>
            </ns1:r>
          </ns1:p>
        </ns0:txBody>
      </ns0:sp>
      <ns0:sp>
        <ns0:nvSpPr>
          <ns0:cNvPr id="2" name="trace:D20:title.primary">
            <ns1:extLst>
              <ns1:ext uri="{FF2B5EF4-FFF2-40B4-BE49-F238E27FC236}">
                <ns2:creationId id="{90390FAA-5953-4C6B-90D0-D508DAA67DCD}"/>
              </ns1:ext>
            </ns1:extLst>
          </ns0:cNvPr>
          <ns0:cNvSpPr>
            <ns1:spLocks noGrp="1"/>
          </ns0:cNvSpPr>
          <ns0:nvPr/>
        </ns0:nvSpPr>
        <ns0:spPr>
          <ns1:xfrm>
            <ns1:off x="685800" y="152400"/>
            <ns1:ext cx="2095500" cy="228600"/>
          </ns1:xfrm>
          <ns1:prstGeom prst="rect">
            <ns1:avLst/>
          </ns1:prstGeom>
          <ns1:noFill/>
          <ns1:ln w="0">
            <ns1:noFill/>
            <ns1:prstDash val="solid"/>
          </ns1:ln>
        </ns0:spPr>
        <ns0:txBody>
          <ns1:bodyPr anchor="ctr"/>
          <ns1:lstStyle/>
          <ns1:p>
            <ns1:pPr algn="l">
              <ns1:defRPr sz="1200" b="1" i="0">
                <ns1:solidFill>
                  <ns1:srgbClr val="0E1A2D"/>
                </ns1:solidFill>
                <ns1:latin typeface="Yu Gothic"/>
                <ns1:ea typeface="Yu Gothic"/>
                <ns1:cs typeface="Yu Gothic"/>
              </ns1:defRPr>
            </ns1:pPr>
            <ns1:r>
              <ns1:rPr sz="1200" b="1" i="0">
                <ns1:solidFill>
                  <ns1:srgbClr val="0E1A2D"/>
                </ns1:solidFill>
                <ns1:latin typeface="Yu Gothic"/>
                <ns1:ea typeface="Yu Gothic"/>
                <ns1:cs typeface="Yu Gothic"/>
              </ns1:rPr>
              <ns1:t>導入事例 / Case Study</ns1:t>
            </ns1:r>
          </ns1:p>
        </ns0:txBody>
      </ns0:sp>
      <ns0:pic>
        <ns0:nvPicPr>
          <ns0:cNvPr id="123" name="trace:D20:image.1"/>
          <ns0:cNvPicPr>
            <ns1:picLocks noChangeAspect="1"/>
          </ns0:cNvPicPr>
          <ns0:nvPr/>
        </ns0:nvPicPr>
        <ns0:blipFill>
          <ns1:blip ns3:embed="Ra0edae45390348d9"/>
          <ns1:srcRect l="1178" t="0" r="1178" b="0"/>
          <ns1:stretch>
            <ns1:fillRect l="0" t="0" r="0" b="0"/>
          </ns1:stretch>
        </ns0:blipFill>
        <ns0:spPr>
          <ns1:xfrm>
            <ns1:off x="9906000" y="0"/>
            <ns1:ext cx="2286000" cy="1885950"/>
          </ns1:xfrm>
          <ns1:prstGeom prst="rect">
            <ns1:avLst/>
          </ns1:prstGeom>
        </ns0:spPr>
      </ns0:pic>
      <ns0:sp>
        <ns0:nvSpPr>
          <ns0:cNvPr id="4" name="trace:D20:header.brand">
            <ns1:extLst>
              <ns1:ext uri="{FF2B5EF4-FFF2-40B4-BE49-F238E27FC236}">
                <ns2:creationId id="{4C6F812A-1EFB-4D5F-A701-4B62E3CD7E7D}"/>
              </ns1:ext>
            </ns1:extLst>
          </ns0:cNvPr>
          <ns0:cNvSpPr>
            <ns1:spLocks noGrp="1"/>
          </ns0:cNvSpPr>
          <ns0:nvPr/>
        </ns0:nvSpPr>
        <ns0:spPr>
          <ns1:xfrm>
            <ns1:off x="7715250" y="142875"/>
            <ns1:ext cx="1905000" cy="285750"/>
          </ns1:xfrm>
          <ns1:prstGeom prst="rect">
            <ns1:avLst/>
          </ns1:prstGeom>
          <ns1:noFill/>
          <ns1:ln w="0">
            <ns1:noFill/>
            <ns1:prstDash val="solid"/>
          </ns1:ln>
        </ns0:spPr>
        <ns0:txBody>
          <ns1:bodyPr anchor="ctr"/>
          <ns1:lstStyle/>
          <ns1:p>
            <ns1:pPr algn="l">
              <ns1:defRPr sz="1350" b="1">
                <ns1:latin typeface="Yu Gothic"/>
                <ns1:ea typeface="Yu Gothic"/>
                <ns1:cs typeface="Yu Gothic"/>
              </ns1:defRPr>
            </ns1:pPr>
            <ns1:r>
              <ns1:rPr sz="1350" b="1">
                <ns1:solidFill>
                  <ns1:srgbClr val="ED1C24"/>
                </ns1:solidFill>
                <ns1:latin typeface="Yu Gothic"/>
                <ns1:ea typeface="Yu Gothic"/>
                <ns1:cs typeface="Yu Gothic"/>
              </ns1:rPr>
              <ns1:t>提案</ns1:t>
            </ns1:r>
            <ns1:r>
              <ns1:rPr sz="1350" b="1">
                <ns1:solidFill>
                  <ns1:srgbClr val="0E1A2D"/>
                </ns1:solidFill>
                <ns1:latin typeface="Yu Gothic"/>
                <ns1:ea typeface="Yu Gothic"/>
                <ns1:cs typeface="Yu Gothic"/>
              </ns1:rPr>
              <ns1:t>クエスト</ns1:t>
            </ns1:r>
          </ns1:p>
        </ns0:txBody>
      </ns0:sp>
      <ns0:sp>
        <ns0:nvSpPr>
          <ns0:cNvPr id="5" name="trace:D20:header.tagline">
            <ns1:extLst>
              <ns1:ext uri="{FF2B5EF4-FFF2-40B4-BE49-F238E27FC236}">
                <ns2:creationId id="{AA8A05BB-A765-44F2-8799-F6A42E8B2F0E}"/>
              </ns1:ext>
            </ns1:extLst>
          </ns0:cNvPr>
          <ns0:cNvSpPr>
            <ns1:spLocks noGrp="1"/>
          </ns0:cNvSpPr>
          <ns0:nvPr/>
        </ns0:nvSpPr>
        <ns0:spPr>
          <ns1:xfrm>
            <ns1:off x="7524750" y="447675"/>
            <ns1:ext cx="2333625" cy="171450"/>
          </ns1:xfrm>
          <ns1:prstGeom prst="rect">
            <ns1:avLst/>
          </ns1:prstGeom>
          <ns1:noFill/>
          <ns1:ln w="0">
            <ns1:noFill/>
            <ns1:prstDash val="solid"/>
          </ns1:ln>
        </ns0:spPr>
        <ns0:txBody>
          <ns1:bodyPr anchor="ctr"/>
          <ns1:lstStyle/>
          <ns1:p>
            <ns1:pPr algn="l">
              <ns1:defRPr sz="563" b="1" i="0">
                <ns1:solidFill>
                  <ns1:srgbClr val="ED1C24"/>
                </ns1:solidFill>
                <ns1:latin typeface="Yu Gothic"/>
                <ns1:ea typeface="Yu Gothic"/>
                <ns1:cs typeface="Yu Gothic"/>
              </ns1:defRPr>
            </ns1:pPr>
            <ns1:r>
              <ns1:rPr sz="563" b="1" i="0">
                <ns1:solidFill>
                  <ns1:srgbClr val="ED1C24"/>
                </ns1:solidFill>
                <ns1:latin typeface="Yu Gothic"/>
                <ns1:ea typeface="Yu Gothic"/>
                <ns1:cs typeface="Yu Gothic"/>
              </ns1:rPr>
              <ns1:t>AIで、提案をもっと速く、もっと強く。</ns1:t>
            </ns1:r>
          </ns1:p>
        </ns0:txBody>
      </ns0:sp>
      <ns0:sp>
        <ns0:nvSpPr>
          <ns0:cNvPr id="6" name="trace:D20:header.message">
            <ns1:extLst>
              <ns1:ext uri="{FF2B5EF4-FFF2-40B4-BE49-F238E27FC236}">
                <ns2:creationId id="{0BF2920D-5CB4-4F59-8AB7-94967F2955B1}"/>
              </ns1:ext>
            </ns1:extLst>
          </ns0:cNvPr>
          <ns0:cNvSpPr>
            <ns1:spLocks noGrp="1"/>
          </ns0:cNvSpPr>
          <ns0:nvPr/>
        </ns0:nvSpPr>
        <ns0:spPr>
          <ns1:xfrm>
            <ns1:off x="10810875" y="247650"/>
            <ns1:ext cx="1238250" cy="361950"/>
          </ns1:xfrm>
          <ns1:prstGeom prst="rect">
            <ns1:avLst/>
          </ns1:prstGeom>
          <ns1:noFill/>
          <ns1:ln w="0">
            <ns1:noFill/>
            <ns1:prstDash val="solid"/>
          </ns1:ln>
        </ns0:spPr>
        <ns0:txBody>
          <ns1:bodyPr anchor="ctr"/>
          <ns1:lstStyle/>
          <ns1:p>
            <ns1:pPr algn="l">
              <ns1:defRPr sz="675" b="1" i="0">
                <ns1:solidFill>
                  <ns1:srgbClr val="0E1A2D"/>
                </ns1:solidFill>
                <ns1:latin typeface="Yu Gothic"/>
                <ns1:ea typeface="Yu Gothic"/>
                <ns1:cs typeface="Yu Gothic"/>
              </ns1:defRPr>
            </ns1:pPr>
            <ns1:r>
              <ns1:rPr sz="675" b="1" i="0">
                <ns1:solidFill>
                  <ns1:srgbClr val="0E1A2D"/>
                </ns1:solidFill>
                <ns1:latin typeface="Yu Gothic"/>
                <ns1:ea typeface="Yu Gothic"/>
                <ns1:cs typeface="Yu Gothic"/>
              </ns1:rPr>
              <ns1:t>THINK TOGETHER,</ns1:t>
            </ns1:r>
          </ns1:p>
          <ns1:p>
            <ns1:pPr algn="l">
              <ns1:defRPr sz="675" b="1" i="0">
                <ns1:solidFill>
                  <ns1:srgbClr val="0E1A2D"/>
                </ns1:solidFill>
                <ns1:latin typeface="Yu Gothic"/>
                <ns1:ea typeface="Yu Gothic"/>
                <ns1:cs typeface="Yu Gothic"/>
              </ns1:defRPr>
            </ns1:pPr>
            <ns1:r>
              <ns1:rPr sz="675" b="1" i="0">
                <ns1:solidFill>
                  <ns1:srgbClr val="0E1A2D"/>
                </ns1:solidFill>
                <ns1:latin typeface="Yu Gothic"/>
                <ns1:ea typeface="Yu Gothic"/>
                <ns1:cs typeface="Yu Gothic"/>
              </ns1:rPr>
              <ns1:t>CREATE THE NEXT.</ns1:t>
            </ns1:r>
          </ns1:p>
        </ns0:txBody>
      </ns0:sp>
      <ns0:sp>
        <ns0:nvSpPr>
          <ns0:cNvPr id="7" name="trace:D20:content.auto.2">
            <ns1:extLst>
              <ns1:ext uri="{FF2B5EF4-FFF2-40B4-BE49-F238E27FC236}">
                <ns2:creationId id="{1C9A8EF5-B94A-4DB7-9AC8-DDC7EB7039AD}"/>
              </ns1:ext>
            </ns1:extLst>
          </ns0:cNvPr>
          <ns0:cNvSpPr>
            <ns1:spLocks noGrp="1"/>
          </ns0:cNvSpPr>
          <ns0:nvPr/>
        </ns0:nvSpPr>
        <ns0:spPr>
          <ns1:xfrm>
            <ns1:off x="10810875" y="666750"/>
            <ns1:ext cx="1238250" cy="9525"/>
          </ns1:xfrm>
          <ns1:prstGeom prst="rect">
            <ns1:avLst/>
          </ns1:prstGeom>
          <ns1:solidFill>
            <ns1:srgbClr val="0E1A2D"/>
          </ns1:solidFill>
          <ns1:ln w="0">
            <ns1:noFill/>
            <ns1:prstDash val="solid"/>
          </ns1:ln>
        </ns0:spPr>
      </ns0:sp>
      <ns0:sp>
        <ns0:nvSpPr>
          <ns0:cNvPr id="8" name="trace:D20:content.auto.3">
            <ns1:extLst>
              <ns1:ext uri="{FF2B5EF4-FFF2-40B4-BE49-F238E27FC236}">
                <ns2:creationId id="{C8EFF1BC-FF9D-40A0-B7C9-745D1C50B415}"/>
              </ns1:ext>
            </ns1:extLst>
          </ns0:cNvPr>
          <ns0:cNvSpPr>
            <ns1:spLocks noGrp="1"/>
          </ns0:cNvSpPr>
          <ns0:nvPr/>
        </ns0:nvSpPr>
        <ns0:spPr>
          <ns1:xfrm>
            <ns1:off x="8858250" y="0"/>
            <ns1:ext cx="1000125" cy="1885950"/>
          </ns1:xfrm>
          <ns1:prstGeom prst="parallelogram">
            <ns1:avLst/>
          </ns1:prstGeom>
          <ns1:solidFill>
            <ns1:srgbClr val="FFF1F1"/>
          </ns1:solidFill>
          <ns1:ln w="0">
            <ns1:noFill/>
            <ns1:prstDash val="solid"/>
          </ns1:ln>
        </ns0:spPr>
      </ns0:sp>
      <ns0:sp>
        <ns0:nvSpPr>
          <ns0:cNvPr id="9" name="trace:D20:content.auto.4">
            <ns1:extLst>
              <ns1:ext uri="{FF2B5EF4-FFF2-40B4-BE49-F238E27FC236}">
                <ns2:creationId id="{CF2C3129-E1EB-4228-B49F-EF6B189C01FE}"/>
              </ns1:ext>
            </ns1:extLst>
          </ns0:cNvPr>
          <ns0:cNvSpPr>
            <ns1:spLocks noGrp="1"/>
          </ns0:cNvSpPr>
          <ns0:nvPr/>
        </ns0:nvSpPr>
        <ns0:spPr>
          <ns1:xfrm>
            <ns1:off x="9201150" y="0"/>
            <ns1:ext cx="1000125" cy="2076450"/>
          </ns1:xfrm>
          <ns1:prstGeom prst="parallelogram">
            <ns1:avLst/>
          </ns1:prstGeom>
          <ns1:solidFill>
            <ns1:srgbClr val="ED1C24"/>
          </ns1:solidFill>
          <ns1:ln w="0">
            <ns1:noFill/>
            <ns1:prstDash val="solid"/>
          </ns1:ln>
        </ns0:spPr>
      </ns0:sp>
      <ns0:sp>
        <ns0:nvSpPr>
          <ns0:cNvPr id="10" name="trace:D20:content.auto.5">
            <ns1:extLst>
              <ns1:ext uri="{FF2B5EF4-FFF2-40B4-BE49-F238E27FC236}">
                <ns2:creationId id="{A2B4CDF3-48CB-46DC-96CE-7A91124665FF}"/>
              </ns1:ext>
            </ns1:extLst>
          </ns0:cNvPr>
          <ns0:cNvSpPr>
            <ns1:spLocks noGrp="1"/>
          </ns0:cNvSpPr>
          <ns0:nvPr/>
        </ns0:nvSpPr>
        <ns0:spPr>
          <ns1:xfrm>
            <ns1:off x="9601200" y="0"/>
            <ns1:ext cx="171450" cy="2038350"/>
          </ns1:xfrm>
          <ns1:prstGeom prst="parallelogram">
            <ns1:avLst/>
          </ns1:prstGeom>
          <ns1:solidFill>
            <ns1:srgbClr val="FFFFFF"/>
          </ns1:solidFill>
          <ns1:ln w="0">
            <ns1:noFill/>
            <ns1:prstDash val="solid"/>
          </ns1:ln>
        </ns0:spPr>
      </ns0:sp>
      <ns0:sp>
        <ns0:nvSpPr>
          <ns0:cNvPr id="11" name="trace:D20:content.auto.6">
            <ns1:extLst>
              <ns1:ext uri="{FF2B5EF4-FFF2-40B4-BE49-F238E27FC236}">
                <ns2:creationId id="{A7E0F25A-CA4C-4F4E-867E-D76E61E89D03}"/>
              </ns1:ext>
            </ns1:extLst>
          </ns0:cNvPr>
          <ns0:cNvSpPr>
            <ns1:spLocks noGrp="1"/>
          </ns0:cNvSpPr>
          <ns0:nvPr/>
        </ns0:nvSpPr>
        <ns0:spPr>
          <ns1:xfrm>
            <ns1:off x="9782175" y="0"/>
            <ns1:ext cx="133350" cy="2000250"/>
          </ns1:xfrm>
          <ns1:prstGeom prst="parallelogram">
            <ns1:avLst/>
          </ns1:prstGeom>
          <ns1:solidFill>
            <ns1:srgbClr val="EAF0F6"/>
          </ns1:solidFill>
          <ns1:ln w="0">
            <ns1:noFill/>
            <ns1:prstDash val="solid"/>
          </ns1:ln>
        </ns0:spPr>
      </ns0:sp>
      <ns0:sp>
        <ns0:nvSpPr>
          <ns0:cNvPr id="12" name="trace:D20:header.brand.2">
            <ns1:extLst>
              <ns1:ext uri="{FF2B5EF4-FFF2-40B4-BE49-F238E27FC236}">
                <ns2:creationId id="{E5FB8ED1-0A85-4AC9-92F0-3C8EA999210E}"/>
              </ns1:ext>
            </ns1:extLst>
          </ns0:cNvPr>
          <ns0:cNvSpPr>
            <ns1:spLocks noGrp="1"/>
          </ns0:cNvSpPr>
          <ns0:nvPr/>
        </ns0:nvSpPr>
        <ns0:spPr>
          <ns1:xfrm>
            <ns1:off x="381000" y="590550"/>
            <ns1:ext cx="7524750" cy="457200"/>
          </ns1:xfrm>
          <ns1:prstGeom prst="rect">
            <ns1:avLst/>
          </ns1:prstGeom>
          <ns1:noFill/>
          <ns1:ln w="0">
            <ns1:noFill/>
            <ns1:prstDash val="solid"/>
          </ns1:ln>
        </ns0:spPr>
        <ns0:txBody>
          <ns1:bodyPr anchor="ctr"/>
          <ns1:lstStyle/>
          <ns1:p>
            <ns1:pPr algn="l">
              <ns1:defRPr sz="2475" b="1">
                <ns1:latin typeface="Yu Gothic"/>
                <ns1:ea typeface="Yu Gothic"/>
                <ns1:cs typeface="Yu Gothic"/>
              </ns1:defRPr>
            </ns1:pPr>
            <ns1:r>
              <ns1:rPr sz="2475" b="1">
                <ns1:solidFill>
                  <ns1:srgbClr val="0E1A2D"/>
                </ns1:solidFill>
                <ns1:latin typeface="Yu Gothic"/>
                <ns1:ea typeface="Yu Gothic"/>
                <ns1:cs typeface="Yu Gothic"/>
              </ns1:rPr>
              <ns1:t>提案クエストが、</ns1:t>
            </ns1:r>
            <ns1:r>
              <ns1:rPr sz="2475" b="1">
                <ns1:solidFill>
                  <ns1:srgbClr val="ED1C24"/>
                </ns1:solidFill>
                <ns1:latin typeface="Yu Gothic"/>
                <ns1:ea typeface="Yu Gothic"/>
                <ns1:cs typeface="Yu Gothic"/>
              </ns1:rPr>
              <ns1:t>現場の提案活動</ns1:t>
            </ns1:r>
            <ns1:r>
              <ns1:rPr sz="2475" b="1">
                <ns1:solidFill>
                  <ns1:srgbClr val="0E1A2D"/>
                </ns1:solidFill>
                <ns1:latin typeface="Yu Gothic"/>
                <ns1:ea typeface="Yu Gothic"/>
                <ns1:cs typeface="Yu Gothic"/>
              </ns1:rPr>
              <ns1:t>を変えた</ns1:t>
            </ns1:r>
          </ns1:p>
        </ns0:txBody>
      </ns0:sp>
      <ns0:sp>
        <ns0:nvSpPr>
          <ns0:cNvPr id="13" name="trace:D20:title.primary.2">
            <ns1:extLst>
              <ns1:ext uri="{FF2B5EF4-FFF2-40B4-BE49-F238E27FC236}">
                <ns2:creationId id="{AD88E06B-3A33-47B4-B66F-5A84B1E37D34}"/>
              </ns1:ext>
            </ns1:extLst>
          </ns0:cNvPr>
          <ns0:cNvSpPr>
            <ns1:spLocks noGrp="1"/>
          </ns0:cNvSpPr>
          <ns0:nvPr/>
        </ns0:nvSpPr>
        <ns0:spPr>
          <ns1:xfrm>
            <ns1:off x="400050" y="1066800"/>
            <ns1:ext cx="6000750" cy="457200"/>
          </ns1:xfrm>
          <ns1:prstGeom prst="rect">
            <ns1:avLst/>
          </ns1:prstGeom>
          <ns1:noFill/>
          <ns1:ln w="0">
            <ns1:noFill/>
            <ns1:prstDash val="solid"/>
          </ns1:ln>
        </ns0:spPr>
        <ns0:txBody>
          <ns1:bodyPr anchor="ctr"/>
          <ns1:lstStyle/>
          <ns1:p>
            <ns1:pPr algn="l">
              <ns1:defRPr sz="1350" b="1" i="0">
                <ns1:solidFill>
                  <ns1:srgbClr val="0E1A2D"/>
                </ns1:solidFill>
                <ns1:latin typeface="Yu Gothic"/>
                <ns1:ea typeface="Yu Gothic"/>
                <ns1:cs typeface="Yu Gothic"/>
              </ns1:defRPr>
            </ns1:pPr>
            <ns1:r>
              <ns1:rPr sz="1350" b="1" i="0">
                <ns1:solidFill>
                  <ns1:srgbClr val="0E1A2D"/>
                </ns1:solidFill>
                <ns1:latin typeface="Yu Gothic"/>
                <ns1:ea typeface="Yu Gothic"/>
                <ns1:cs typeface="Yu Gothic"/>
              </ns1:rPr>
              <ns1:t>実際の導入企業様において、提案資料の作成時間削減だけでなく、</ns1:t>
            </ns1:r>
          </ns1:p>
          <ns1:p>
            <ns1:pPr algn="l">
              <ns1:defRPr sz="1350" b="1" i="0">
                <ns1:solidFill>
                  <ns1:srgbClr val="0E1A2D"/>
                </ns1:solidFill>
                <ns1:latin typeface="Yu Gothic"/>
                <ns1:ea typeface="Yu Gothic"/>
                <ns1:cs typeface="Yu Gothic"/>
              </ns1:defRPr>
            </ns1:pPr>
            <ns1:r>
              <ns1:rPr sz="1350" b="1" i="0">
                <ns1:solidFill>
                  <ns1:srgbClr val="0E1A2D"/>
                </ns1:solidFill>
                <ns1:latin typeface="Yu Gothic"/>
                <ns1:ea typeface="Yu Gothic"/>
                <ns1:cs typeface="Yu Gothic"/>
              </ns1:rPr>
              <ns1:t>受注率の向上や組織の提案力強化など、</ns1:t>
            </ns1:r>
          </ns1:p>
        </ns0:txBody>
      </ns0:sp>
      <ns0:sp>
        <ns0:nvSpPr>
          <ns0:cNvPr id="14" name="trace:D20:title.primary.3">
            <ns1:extLst>
              <ns1:ext uri="{FF2B5EF4-FFF2-40B4-BE49-F238E27FC236}">
                <ns2:creationId id="{77ADAD8B-B7CC-48B5-9D71-DFF2A1C0F606}"/>
              </ns1:ext>
            </ns1:extLst>
          </ns0:cNvPr>
          <ns0:cNvSpPr>
            <ns1:spLocks noGrp="1"/>
          </ns0:cNvSpPr>
          <ns0:nvPr/>
        </ns0:nvSpPr>
        <ns0:spPr>
          <ns1:xfrm>
            <ns1:off x="3905250" y="1485900"/>
            <ns1:ext cx="3143250" cy="238125"/>
          </ns1:xfrm>
          <ns1:prstGeom prst="rect">
            <ns1:avLst/>
          </ns1:prstGeom>
          <ns1:noFill/>
          <ns1:ln w="0">
            <ns1:noFill/>
            <ns1:prstDash val="solid"/>
          </ns1:ln>
        </ns0:spPr>
        <ns0:txBody>
          <ns1:bodyPr anchor="ctr"/>
          <ns1:lstStyle/>
          <ns1:p>
            <ns1:pPr algn="l">
              <ns1:defRPr sz="1350" b="1" i="0">
                <ns1:solidFill>
                  <ns1:srgbClr val="ED1C24"/>
                </ns1:solidFill>
                <ns1:latin typeface="Yu Gothic"/>
                <ns1:ea typeface="Yu Gothic"/>
                <ns1:cs typeface="Yu Gothic"/>
              </ns1:defRPr>
            </ns1:pPr>
            <ns1:r>
              <ns1:rPr sz="1350" b="1" i="0">
                <ns1:solidFill>
                  <ns1:srgbClr val="ED1C24"/>
                </ns1:solidFill>
                <ns1:latin typeface="Yu Gothic"/>
                <ns1:ea typeface="Yu Gothic"/>
                <ns1:cs typeface="Yu Gothic"/>
              </ns1:rPr>
              <ns1:t>具体的な成果が生まれています。</ns1:t>
            </ns1:r>
          </ns1:p>
        </ns0:txBody>
      </ns0:sp>
      <ns0:sp>
        <ns0:nvSpPr>
          <ns0:cNvPr id="15" name="trace:D20:content.auto.7">
            <ns1:extLst>
              <ns1:ext uri="{FF2B5EF4-FFF2-40B4-BE49-F238E27FC236}">
                <ns2:creationId id="{455B0F4E-2C77-437B-AE39-089F4C6562FC}"/>
              </ns1:ext>
            </ns1:extLst>
          </ns0:cNvPr>
          <ns0:cNvSpPr>
            <ns1:spLocks noGrp="1"/>
          </ns0:cNvSpPr>
          <ns0:nvPr/>
        </ns0:nvSpPr>
        <ns0:spPr>
          <ns1:xfrm>
            <ns1:off x="228600" y="1885950"/>
            <ns1:ext cx="9525000" cy="419100"/>
          </ns1:xfrm>
          <ns1:prstGeom prst="roundRect">
            <ns1:avLst>
              <ns1:gd name="adj" fmla="val 18182"/>
            </ns1:avLst>
          </ns1:prstGeom>
          <ns1:solidFill>
            <ns1:srgbClr val="142742"/>
          </ns1:solidFill>
          <ns1:ln w="0">
            <ns1:noFill/>
            <ns1:prstDash val="solid"/>
          </ns1:ln>
        </ns0:spPr>
      </ns0:sp>
      <ns0:sp>
        <ns0:nvSpPr>
          <ns0:cNvPr id="16" name="trace:D20:content.auto.8">
            <ns1:extLst>
              <ns1:ext uri="{FF2B5EF4-FFF2-40B4-BE49-F238E27FC236}">
                <ns2:creationId id="{D62C1869-1AA1-400E-BAD3-275A783EADF8}"/>
              </ns1:ext>
            </ns1:extLst>
          </ns0:cNvPr>
          <ns0:cNvSpPr>
            <ns1:spLocks noGrp="1"/>
          </ns0:cNvSpPr>
          <ns0:nvPr/>
        </ns0:nvSpPr>
        <ns0:spPr>
          <ns1:xfrm>
            <ns1:off x="400050" y="1924050"/>
            <ns1:ext cx="876300" cy="323850"/>
          </ns1:xfrm>
          <ns1:prstGeom prst="rect">
            <ns1:avLst/>
          </ns1:prstGeom>
          <ns1:noFill/>
          <ns1:ln w="0">
            <ns1:noFill/>
            <ns1:prstDash val="solid"/>
          </ns1:ln>
        </ns0:spPr>
        <ns0:txBody>
          <ns1:bodyPr anchor="ctr"/>
          <ns1:lstStyle/>
          <ns1:p>
            <ns1:pPr algn="l">
              <ns1:defRPr sz="1350" b="1" i="0">
                <ns1:solidFill>
                  <ns1:srgbClr val="FFFFFF"/>
                </ns1:solidFill>
                <ns1:latin typeface="Yu Gothic"/>
                <ns1:ea typeface="Yu Gothic"/>
                <ns1:cs typeface="Yu Gothic"/>
              </ns1:defRPr>
            </ns1:pPr>
            <ns1:r>
              <ns1:rPr sz="1350" b="1" i="0">
                <ns1:solidFill>
                  <ns1:srgbClr val="FFFFFF"/>
                </ns1:solidFill>
                <ns1:latin typeface="Yu Gothic"/>
                <ns1:ea typeface="Yu Gothic"/>
                <ns1:cs typeface="Yu Gothic"/>
              </ns1:rPr>
              <ns1:t>CASE 01</ns1:t>
            </ns1:r>
          </ns1:p>
        </ns0:txBody>
      </ns0:sp>
      <ns0:sp>
        <ns0:nvSpPr>
          <ns0:cNvPr id="17" name="trace:D20:title.primary.4">
            <ns1:extLst>
              <ns1:ext uri="{FF2B5EF4-FFF2-40B4-BE49-F238E27FC236}">
                <ns2:creationId id="{AC5B6396-5FC3-47E9-9E6F-5513654E5820}"/>
              </ns1:ext>
            </ns1:extLst>
          </ns0:cNvPr>
          <ns0:cNvSpPr>
            <ns1:spLocks noGrp="1"/>
          </ns0:cNvSpPr>
          <ns0:nvPr/>
        </ns0:nvSpPr>
        <ns0:spPr>
          <ns1:xfrm>
            <ns1:off x="1257300" y="1924050"/>
            <ns1:ext cx="4095750" cy="323850"/>
          </ns1:xfrm>
          <ns1:prstGeom prst="rect">
            <ns1:avLst/>
          </ns1:prstGeom>
          <ns1:noFill/>
          <ns1:ln w="0">
            <ns1:noFill/>
            <ns1:prstDash val="solid"/>
          </ns1:ln>
        </ns0:spPr>
        <ns0:txBody>
          <ns1:bodyPr anchor="ctr"/>
          <ns1:lstStyle/>
          <ns1:p>
            <ns1:pPr algn="l">
              <ns1:defRPr sz="1200" b="1" i="0">
                <ns1:solidFill>
                  <ns1:srgbClr val="FFFFFF"/>
                </ns1:solidFill>
                <ns1:latin typeface="Yu Gothic"/>
                <ns1:ea typeface="Yu Gothic"/>
                <ns1:cs typeface="Yu Gothic"/>
              </ns1:defRPr>
            </ns1:pPr>
            <ns1:r>
              <ns1:rPr sz="1200" b="1" i="0">
                <ns1:solidFill>
                  <ns1:srgbClr val="FFFFFF"/>
                </ns1:solidFill>
                <ns1:latin typeface="Yu Gothic"/>
                <ns1:ea typeface="Yu Gothic"/>
                <ns1:cs typeface="Yu Gothic"/>
              </ns1:rPr>
              <ns1:t>株式会社フラワーオークションジャパン（FAJ）様</ns1:t>
            </ns1:r>
          </ns1:p>
        </ns0:txBody>
      </ns0:sp>
      <ns0:sp>
        <ns0:nvSpPr>
          <ns0:cNvPr id="18" name="trace:D20:content.auto.9">
            <ns1:extLst>
              <ns1:ext uri="{FF2B5EF4-FFF2-40B4-BE49-F238E27FC236}">
                <ns2:creationId id="{BFAE0411-5115-49D2-858C-EFB88AAEBF01}"/>
              </ns1:ext>
            </ns1:extLst>
          </ns0:cNvPr>
          <ns0:cNvSpPr>
            <ns1:spLocks noGrp="1"/>
          </ns0:cNvSpPr>
          <ns0:nvPr/>
        </ns0:nvSpPr>
        <ns0:spPr>
          <ns1:xfrm>
            <ns1:off x="5505450" y="1943100"/>
            <ns1:ext cx="1295400" cy="295275"/>
          </ns1:xfrm>
          <ns1:prstGeom prst="roundRect">
            <ns1:avLst>
              <ns1:gd name="adj" fmla="val 25806"/>
            </ns1:avLst>
          </ns1:prstGeom>
          <ns1:solidFill>
            <ns1:srgbClr val="EAF0F6"/>
          </ns1:solidFill>
          <ns1:ln w="0">
            <ns1:noFill/>
            <ns1:prstDash val="solid"/>
          </ns1:ln>
        </ns0:spPr>
      </ns0:sp>
      <ns0:sp>
        <ns0:nvSpPr>
          <ns0:cNvPr id="19" name="trace:D20:title.primary.5">
            <ns1:extLst>
              <ns1:ext uri="{FF2B5EF4-FFF2-40B4-BE49-F238E27FC236}">
                <ns2:creationId id="{5CAFEF2C-0B1C-4F9F-8559-7C1A5A11EC93}"/>
              </ns1:ext>
            </ns1:extLst>
          </ns0:cNvPr>
          <ns0:cNvSpPr>
            <ns1:spLocks noGrp="1"/>
          </ns0:cNvSpPr>
          <ns0:nvPr/>
        </ns0:nvSpPr>
        <ns0:spPr>
          <ns1:xfrm>
            <ns1:off x="5562600" y="1971675"/>
            <ns1:ext cx="1181100" cy="238125"/>
          </ns1:xfrm>
          <ns1:prstGeom prst="rect">
            <ns1:avLst/>
          </ns1:prstGeom>
          <ns1:noFill/>
          <ns1:ln w="0">
            <ns1:noFill/>
            <ns1:prstDash val="solid"/>
          </ns1:ln>
        </ns0:spPr>
        <ns0:txBody>
          <ns1:bodyPr anchor="ctr"/>
          <ns1:lstStyle/>
          <ns1:p>
            <ns1:pPr algn="ctr">
              <ns1:defRPr sz="675" b="1" i="0">
                <ns1:solidFill>
                  <ns1:srgbClr val="0E1A2D"/>
                </ns1:solidFill>
                <ns1:latin typeface="Yu Gothic"/>
                <ns1:ea typeface="Yu Gothic"/>
                <ns1:cs typeface="Yu Gothic"/>
              </ns1:defRPr>
            </ns1:pPr>
            <ns1:r>
              <ns1:rPr sz="675" b="1" i="0">
                <ns1:solidFill>
                  <ns1:srgbClr val="0E1A2D"/>
                </ns1:solidFill>
                <ns1:latin typeface="Yu Gothic"/>
                <ns1:ea typeface="Yu Gothic"/>
                <ns1:cs typeface="Yu Gothic"/>
              </ns1:rPr>
              <ns1:t>業種　花き流通・卸売</ns1:t>
            </ns1:r>
          </ns1:p>
        </ns0:txBody>
      </ns0:sp>
      <ns0:sp>
        <ns0:nvSpPr>
          <ns0:cNvPr id="20" name="trace:D20:content.auto.10">
            <ns1:extLst>
              <ns1:ext uri="{FF2B5EF4-FFF2-40B4-BE49-F238E27FC236}">
                <ns2:creationId id="{129EF108-BC55-480E-9AB6-2E38A8C26B52}"/>
              </ns1:ext>
            </ns1:extLst>
          </ns0:cNvPr>
          <ns0:cNvSpPr>
            <ns1:spLocks noGrp="1"/>
          </ns0:cNvSpPr>
          <ns0:nvPr/>
        </ns0:nvSpPr>
        <ns0:spPr>
          <ns1:xfrm>
            <ns1:off x="6858000" y="1943100"/>
            <ns1:ext cx="1295400" cy="295275"/>
          </ns1:xfrm>
          <ns1:prstGeom prst="roundRect">
            <ns1:avLst>
              <ns1:gd name="adj" fmla="val 25806"/>
            </ns1:avLst>
          </ns1:prstGeom>
          <ns1:solidFill>
            <ns1:srgbClr val="EAF0F6"/>
          </ns1:solidFill>
          <ns1:ln w="0">
            <ns1:noFill/>
            <ns1:prstDash val="solid"/>
          </ns1:ln>
        </ns0:spPr>
      </ns0:sp>
      <ns0:sp>
        <ns0:nvSpPr>
          <ns0:cNvPr id="21" name="trace:D20:title.primary.6">
            <ns1:extLst>
              <ns1:ext uri="{FF2B5EF4-FFF2-40B4-BE49-F238E27FC236}">
                <ns2:creationId id="{DBEE922F-6373-4434-8864-2BF8AC33C655}"/>
              </ns1:ext>
            </ns1:extLst>
          </ns0:cNvPr>
          <ns0:cNvSpPr>
            <ns1:spLocks noGrp="1"/>
          </ns0:cNvSpPr>
          <ns0:nvPr/>
        </ns0:nvSpPr>
        <ns0:spPr>
          <ns1:xfrm>
            <ns1:off x="6915150" y="1971675"/>
            <ns1:ext cx="1181100" cy="238125"/>
          </ns1:xfrm>
          <ns1:prstGeom prst="rect">
            <ns1:avLst/>
          </ns1:prstGeom>
          <ns1:noFill/>
          <ns1:ln w="0">
            <ns1:noFill/>
            <ns1:prstDash val="solid"/>
          </ns1:ln>
        </ns0:spPr>
        <ns0:txBody>
          <ns1:bodyPr anchor="ctr"/>
          <ns1:lstStyle/>
          <ns1:p>
            <ns1:pPr algn="ctr">
              <ns1:defRPr sz="675" b="1" i="0">
                <ns1:solidFill>
                  <ns1:srgbClr val="0E1A2D"/>
                </ns1:solidFill>
                <ns1:latin typeface="Yu Gothic"/>
                <ns1:ea typeface="Yu Gothic"/>
                <ns1:cs typeface="Yu Gothic"/>
              </ns1:defRPr>
            </ns1:pPr>
            <ns1:r>
              <ns1:rPr sz="675" b="1" i="0">
                <ns1:solidFill>
                  <ns1:srgbClr val="0E1A2D"/>
                </ns1:solidFill>
                <ns1:latin typeface="Yu Gothic"/>
                <ns1:ea typeface="Yu Gothic"/>
                <ns1:cs typeface="Yu Gothic"/>
              </ns1:rPr>
              <ns1:t>従業員数　約200名</ns1:t>
            </ns1:r>
          </ns1:p>
        </ns0:txBody>
      </ns0:sp>
      <ns0:sp>
        <ns0:nvSpPr>
          <ns0:cNvPr id="22" name="trace:D20:content.auto.11">
            <ns1:extLst>
              <ns1:ext uri="{FF2B5EF4-FFF2-40B4-BE49-F238E27FC236}">
                <ns2:creationId id="{C1FC8C88-ECF3-426D-B38D-3480A5FAE36A}"/>
              </ns1:ext>
            </ns1:extLst>
          </ns0:cNvPr>
          <ns0:cNvSpPr>
            <ns1:spLocks noGrp="1"/>
          </ns0:cNvSpPr>
          <ns0:nvPr/>
        </ns0:nvSpPr>
        <ns0:spPr>
          <ns1:xfrm>
            <ns1:off x="8210550" y="1943100"/>
            <ns1:ext cx="1295400" cy="295275"/>
          </ns1:xfrm>
          <ns1:prstGeom prst="roundRect">
            <ns1:avLst>
              <ns1:gd name="adj" fmla="val 25806"/>
            </ns1:avLst>
          </ns1:prstGeom>
          <ns1:solidFill>
            <ns1:srgbClr val="EAF0F6"/>
          </ns1:solidFill>
          <ns1:ln w="0">
            <ns1:noFill/>
            <ns1:prstDash val="solid"/>
          </ns1:ln>
        </ns0:spPr>
      </ns0:sp>
      <ns0:sp>
        <ns0:nvSpPr>
          <ns0:cNvPr id="23" name="trace:D20:title.primary.7">
            <ns1:extLst>
              <ns1:ext uri="{FF2B5EF4-FFF2-40B4-BE49-F238E27FC236}">
                <ns2:creationId id="{08BF46C4-77F3-4A29-91EB-E1C5C196190A}"/>
              </ns1:ext>
            </ns1:extLst>
          </ns0:cNvPr>
          <ns0:cNvSpPr>
            <ns1:spLocks noGrp="1"/>
          </ns0:cNvSpPr>
          <ns0:nvPr/>
        </ns0:nvSpPr>
        <ns0:spPr>
          <ns1:xfrm>
            <ns1:off x="8267700" y="1971675"/>
            <ns1:ext cx="1181100" cy="238125"/>
          </ns1:xfrm>
          <ns1:prstGeom prst="rect">
            <ns1:avLst/>
          </ns1:prstGeom>
          <ns1:noFill/>
          <ns1:ln w="0">
            <ns1:noFill/>
            <ns1:prstDash val="solid"/>
          </ns1:ln>
        </ns0:spPr>
        <ns0:txBody>
          <ns1:bodyPr anchor="ctr"/>
          <ns1:lstStyle/>
          <ns1:p>
            <ns1:pPr algn="ctr">
              <ns1:defRPr sz="675" b="1" i="0">
                <ns1:solidFill>
                  <ns1:srgbClr val="0E1A2D"/>
                </ns1:solidFill>
                <ns1:latin typeface="Yu Gothic"/>
                <ns1:ea typeface="Yu Gothic"/>
                <ns1:cs typeface="Yu Gothic"/>
              </ns1:defRPr>
            </ns1:pPr>
            <ns1:r>
              <ns1:rPr sz="675" b="1" i="0">
                <ns1:solidFill>
                  <ns1:srgbClr val="0E1A2D"/>
                </ns1:solidFill>
                <ns1:latin typeface="Yu Gothic"/>
                <ns1:ea typeface="Yu Gothic"/>
                <ns1:cs typeface="Yu Gothic"/>
              </ns1:rPr>
              <ns1:t>導入時期　2026年4月</ns1:t>
            </ns1:r>
          </ns1:p>
        </ns0:txBody>
      </ns0:sp>
      <ns0:sp>
        <ns0:nvSpPr>
          <ns0:cNvPr id="24" name="trace:D20:title.primary.8">
            <ns1:extLst>
              <ns1:ext uri="{FF2B5EF4-FFF2-40B4-BE49-F238E27FC236}">
                <ns2:creationId id="{BEAC86C3-F6FA-48D0-BCE8-C5BBE7AB0EEB}"/>
              </ns1:ext>
            </ns1:extLst>
          </ns0:cNvPr>
          <ns0:cNvSpPr>
            <ns1:spLocks noGrp="1"/>
          </ns0:cNvSpPr>
          <ns0:nvPr/>
        </ns0:nvSpPr>
        <ns0:spPr>
          <ns1:xfrm>
            <ns1:off x="400050" y="2362200"/>
            <ns1:ext cx="8524875" cy="266700"/>
          </ns1:xfrm>
          <ns1:prstGeom prst="rect">
            <ns1:avLst/>
          </ns1:prstGeom>
          <ns1:noFill/>
          <ns1:ln w="0">
            <ns1:noFill/>
            <ns1:prstDash val="solid"/>
          </ns1:ln>
        </ns0:spPr>
        <ns0:txBody>
          <ns1:bodyPr anchor="ctr"/>
          <ns1:lstStyle/>
          <ns1:p>
            <ns1:pPr algn="l">
              <ns1:defRPr sz="1425" b="1" i="0">
                <ns1:solidFill>
                  <ns1:srgbClr val="0E1A2D"/>
                </ns1:solidFill>
                <ns1:latin typeface="Yu Gothic"/>
                <ns1:ea typeface="Yu Gothic"/>
                <ns1:cs typeface="Yu Gothic"/>
              </ns1:defRPr>
            </ns1:pPr>
            <ns1:r>
              <ns1:rPr sz="1425" b="1" i="0">
                <ns1:solidFill>
                  <ns1:srgbClr val="0E1A2D"/>
                </ns1:solidFill>
                <ns1:latin typeface="Yu Gothic"/>
                <ns1:ea typeface="Yu Gothic"/>
                <ns1:cs typeface="Yu Gothic"/>
              </ns1:rPr>
              <ns1:t>複雑な業務課題を、AIと人の知見で整理。説得力のある提案で、PoCから本格導入へ。</ns1:t>
            </ns1:r>
          </ns1:p>
        </ns0:txBody>
      </ns0:sp>
      <ns0:sp>
        <ns0:nvSpPr>
          <ns0:cNvPr id="25" name="trace:D20:content.auto.12">
            <ns1:extLst>
              <ns1:ext uri="{FF2B5EF4-FFF2-40B4-BE49-F238E27FC236}">
                <ns2:creationId id="{9ABE8CE3-6C21-4343-BE46-C699A6D27D22}"/>
              </ns1:ext>
            </ns1:extLst>
          </ns0:cNvPr>
          <ns0:cNvSpPr>
            <ns1:spLocks noGrp="1"/>
          </ns0:cNvSpPr>
          <ns0:nvPr/>
        </ns0:nvSpPr>
        <ns0:spPr>
          <ns1:xfrm>
            <ns1:off x="400050" y="2686050"/>
            <ns1:ext cx="2647950" cy="304800"/>
          </ns1:xfrm>
          <ns1:prstGeom prst="roundRect">
            <ns1:avLst>
              <ns1:gd name="adj" fmla="val 25000"/>
            </ns1:avLst>
          </ns1:prstGeom>
          <ns1:solidFill>
            <ns1:srgbClr val="DDE3EA"/>
          </ns1:solidFill>
          <ns1:ln w="0">
            <ns1:noFill/>
            <ns1:prstDash val="solid"/>
          </ns1:ln>
        </ns0:spPr>
      </ns0:sp>
      <ns0:sp>
        <ns0:nvSpPr>
          <ns0:cNvPr id="26" name="trace:D20:content.auto.13">
            <ns1:extLst>
              <ns1:ext uri="{FF2B5EF4-FFF2-40B4-BE49-F238E27FC236}">
                <ns2:creationId id="{295FB00A-3566-4428-AA88-12C338439F7A}"/>
              </ns1:ext>
            </ns1:extLst>
          </ns0:cNvPr>
          <ns0:cNvSpPr>
            <ns1:spLocks noGrp="1"/>
          </ns0:cNvSpPr>
          <ns0:nvPr/>
        </ns0:nvSpPr>
        <ns0:spPr>
          <ns1:xfrm>
            <ns1:off x="533400" y="2705100"/>
            <ns1:ext cx="2381250" cy="266700"/>
          </ns1:xfrm>
          <ns1:prstGeom prst="rect">
            <ns1:avLst/>
          </ns1:prstGeom>
          <ns1:noFill/>
          <ns1:ln w="0">
            <ns1:noFill/>
            <ns1:prstDash val="solid"/>
          </ns1:ln>
        </ns0:spPr>
        <ns0:txBody>
          <ns1:bodyPr anchor="ctr"/>
          <ns1:lstStyle/>
          <ns1:p>
            <ns1:pPr algn="l">
              <ns1:defRPr sz="1200" b="1" i="0">
                <ns1:solidFill>
                  <ns1:srgbClr val="0E1A2D"/>
                </ns1:solidFill>
                <ns1:latin typeface="Yu Gothic"/>
                <ns1:ea typeface="Yu Gothic"/>
                <ns1:cs typeface="Yu Gothic"/>
              </ns1:defRPr>
            </ns1:pPr>
            <ns1:r>
              <ns1:rPr sz="1200" b="1" i="0">
                <ns1:solidFill>
                  <ns1:srgbClr val="0E1A2D"/>
                </ns1:solidFill>
                <ns1:latin typeface="Yu Gothic"/>
                <ns1:ea typeface="Yu Gothic"/>
                <ns1:cs typeface="Yu Gothic"/>
              </ns1:rPr>
              <ns1:t>導入前の課題</ns1:t>
            </ns1:r>
          </ns1:p>
        </ns0:txBody>
      </ns0:sp>
      <ns0:sp>
        <ns0:nvSpPr>
          <ns0:cNvPr id="27" name="trace:D20:content.auto.14">
            <ns1:extLst>
              <ns1:ext uri="{FF2B5EF4-FFF2-40B4-BE49-F238E27FC236}">
                <ns2:creationId id="{95C8D6AA-D95E-47EB-B406-3083103829C3}"/>
              </ns1:ext>
            </ns1:extLst>
          </ns0:cNvPr>
          <ns0:cNvSpPr>
            <ns1:spLocks noGrp="1"/>
          </ns0:cNvSpPr>
          <ns0:nvPr/>
        </ns0:nvSpPr>
        <ns0:spPr>
          <ns1:xfrm>
            <ns1:off x="400050" y="2990850"/>
            <ns1:ext cx="2647950" cy="1847850"/>
          </ns1:xfrm>
          <ns1:prstGeom prst="roundRect">
            <ns1:avLst>
              <ns1:gd name="adj" fmla="val 4124"/>
            </ns1:avLst>
          </ns1:prstGeom>
          <ns1:solidFill>
            <ns1:srgbClr val="EFF2F5"/>
          </ns1:solidFill>
          <ns1:ln w="0">
            <ns1:noFill/>
            <ns1:prstDash val="solid"/>
          </ns1:ln>
        </ns0:spPr>
      </ns0:sp>
      <ns0:sp>
        <ns0:nvSpPr>
          <ns0:cNvPr id="28" name="trace:D20:content.auto.15">
            <ns1:extLst>
              <ns1:ext uri="{FF2B5EF4-FFF2-40B4-BE49-F238E27FC236}">
                <ns2:creationId id="{19C3B0F3-019B-4C68-8F63-9E3A1AF9A6A3}"/>
              </ns1:ext>
            </ns1:extLst>
          </ns0:cNvPr>
          <ns0:cNvSpPr>
            <ns1:spLocks noGrp="1"/>
          </ns0:cNvSpPr>
          <ns0:nvPr/>
        </ns0:nvSpPr>
        <ns0:spPr>
          <ns1:xfrm>
            <ns1:off x="3333750" y="2686050"/>
            <ns1:ext cx="2647950" cy="304800"/>
          </ns1:xfrm>
          <ns1:prstGeom prst="roundRect">
            <ns1:avLst>
              <ns1:gd name="adj" fmla="val 25000"/>
            </ns1:avLst>
          </ns1:prstGeom>
          <ns1:solidFill>
            <ns1:srgbClr val="ED1C24"/>
          </ns1:solidFill>
          <ns1:ln w="0">
            <ns1:noFill/>
            <ns1:prstDash val="solid"/>
          </ns1:ln>
        </ns0:spPr>
      </ns0:sp>
      <ns0:sp>
        <ns0:nvSpPr>
          <ns0:cNvPr id="29" name="trace:D20:title.primary.9">
            <ns1:extLst>
              <ns1:ext uri="{FF2B5EF4-FFF2-40B4-BE49-F238E27FC236}">
                <ns2:creationId id="{DA0BA85B-4FB9-416A-AD2F-1EF320702794}"/>
              </ns1:ext>
            </ns1:extLst>
          </ns0:cNvPr>
          <ns0:cNvSpPr>
            <ns1:spLocks noGrp="1"/>
          </ns0:cNvSpPr>
          <ns0:nvPr/>
        </ns0:nvSpPr>
        <ns0:spPr>
          <ns1:xfrm>
            <ns1:off x="3467100" y="2705100"/>
            <ns1:ext cx="2381250" cy="266700"/>
          </ns1:xfrm>
          <ns1:prstGeom prst="rect">
            <ns1:avLst/>
          </ns1:prstGeom>
          <ns1:noFill/>
          <ns1:ln w="0">
            <ns1:noFill/>
            <ns1:prstDash val="solid"/>
          </ns1:ln>
        </ns0:spPr>
        <ns0:txBody>
          <ns1:bodyPr anchor="ctr"/>
          <ns1:lstStyle/>
          <ns1:p>
            <ns1:pPr algn="l">
              <ns1:defRPr sz="1200" b="1" i="0">
                <ns1:solidFill>
                  <ns1:srgbClr val="FFFFFF"/>
                </ns1:solidFill>
                <ns1:latin typeface="Yu Gothic"/>
                <ns1:ea typeface="Yu Gothic"/>
                <ns1:cs typeface="Yu Gothic"/>
              </ns1:defRPr>
            </ns1:pPr>
            <ns1:r>
              <ns1:rPr sz="1200" b="1" i="0">
                <ns1:solidFill>
                  <ns1:srgbClr val="FFFFFF"/>
                </ns1:solidFill>
                <ns1:latin typeface="Yu Gothic"/>
                <ns1:ea typeface="Yu Gothic"/>
                <ns1:cs typeface="Yu Gothic"/>
              </ns1:rPr>
              <ns1:t>提案クエストの活用</ns1:t>
            </ns1:r>
          </ns1:p>
        </ns0:txBody>
      </ns0:sp>
      <ns0:sp>
        <ns0:nvSpPr>
          <ns0:cNvPr id="30" name="trace:D20:content.auto.16">
            <ns1:extLst>
              <ns1:ext uri="{FF2B5EF4-FFF2-40B4-BE49-F238E27FC236}">
                <ns2:creationId id="{D0E5283E-73B8-4665-B02A-B26C5B0BA940}"/>
              </ns1:ext>
            </ns1:extLst>
          </ns0:cNvPr>
          <ns0:cNvSpPr>
            <ns1:spLocks noGrp="1"/>
          </ns0:cNvSpPr>
          <ns0:nvPr/>
        </ns0:nvSpPr>
        <ns0:spPr>
          <ns1:xfrm>
            <ns1:off x="3333750" y="2990850"/>
            <ns1:ext cx="2647950" cy="1847850"/>
          </ns1:xfrm>
          <ns1:prstGeom prst="roundRect">
            <ns1:avLst>
              <ns1:gd name="adj" fmla="val 4124"/>
            </ns1:avLst>
          </ns1:prstGeom>
          <ns1:solidFill>
            <ns1:srgbClr val="FFF1F1"/>
          </ns1:solidFill>
          <ns1:ln w="0">
            <ns1:noFill/>
            <ns1:prstDash val="solid"/>
          </ns1:ln>
        </ns0:spPr>
      </ns0:sp>
      <ns0:sp>
        <ns0:nvSpPr>
          <ns0:cNvPr id="31" name="trace:D20:content.auto.17">
            <ns1:extLst>
              <ns1:ext uri="{FF2B5EF4-FFF2-40B4-BE49-F238E27FC236}">
                <ns2:creationId id="{AB14F5A9-7420-46AF-999F-E61C07D2085C}"/>
              </ns1:ext>
            </ns1:extLst>
          </ns0:cNvPr>
          <ns0:cNvSpPr>
            <ns1:spLocks noGrp="1"/>
          </ns0:cNvSpPr>
          <ns0:nvPr/>
        </ns0:nvSpPr>
        <ns0:spPr>
          <ns1:xfrm>
            <ns1:off x="6267450" y="2686050"/>
            <ns1:ext cx="2647950" cy="304800"/>
          </ns1:xfrm>
          <ns1:prstGeom prst="roundRect">
            <ns1:avLst>
              <ns1:gd name="adj" fmla="val 25000"/>
            </ns1:avLst>
          </ns1:prstGeom>
          <ns1:solidFill>
            <ns1:srgbClr val="FCE7E8"/>
          </ns1:solidFill>
          <ns1:ln w="0">
            <ns1:noFill/>
            <ns1:prstDash val="solid"/>
          </ns1:ln>
        </ns0:spPr>
      </ns0:sp>
      <ns0:sp>
        <ns0:nvSpPr>
          <ns0:cNvPr id="32" name="trace:D20:content.auto.18">
            <ns1:extLst>
              <ns1:ext uri="{FF2B5EF4-FFF2-40B4-BE49-F238E27FC236}">
                <ns2:creationId id="{32431CD0-D6C2-4BA7-BD07-F39195C5BB8D}"/>
              </ns1:ext>
            </ns1:extLst>
          </ns0:cNvPr>
          <ns0:cNvSpPr>
            <ns1:spLocks noGrp="1"/>
          </ns0:cNvSpPr>
          <ns0:nvPr/>
        </ns0:nvSpPr>
        <ns0:spPr>
          <ns1:xfrm>
            <ns1:off x="6400800" y="2705100"/>
            <ns1:ext cx="2381250" cy="266700"/>
          </ns1:xfrm>
          <ns1:prstGeom prst="rect">
            <ns1:avLst/>
          </ns1:prstGeom>
          <ns1:noFill/>
          <ns1:ln w="0">
            <ns1:noFill/>
            <ns1:prstDash val="solid"/>
          </ns1:ln>
        </ns0:spPr>
        <ns0:txBody>
          <ns1:bodyPr anchor="ctr"/>
          <ns1:lstStyle/>
          <ns1:p>
            <ns1:pPr algn="l">
              <ns1:defRPr sz="1200" b="1" i="0">
                <ns1:solidFill>
                  <ns1:srgbClr val="ED1C24"/>
                </ns1:solidFill>
                <ns1:latin typeface="Yu Gothic"/>
                <ns1:ea typeface="Yu Gothic"/>
                <ns1:cs typeface="Yu Gothic"/>
              </ns1:defRPr>
            </ns1:pPr>
            <ns1:r>
              <ns1:rPr sz="1200" b="1" i="0">
                <ns1:solidFill>
                  <ns1:srgbClr val="ED1C24"/>
                </ns1:solidFill>
                <ns1:latin typeface="Yu Gothic"/>
                <ns1:ea typeface="Yu Gothic"/>
                <ns1:cs typeface="Yu Gothic"/>
              </ns1:rPr>
              <ns1:t>導入後の成果</ns1:t>
            </ns1:r>
          </ns1:p>
        </ns0:txBody>
      </ns0:sp>
      <ns0:sp>
        <ns0:nvSpPr>
          <ns0:cNvPr id="33" name="trace:D20:content.auto.19">
            <ns1:extLst>
              <ns1:ext uri="{FF2B5EF4-FFF2-40B4-BE49-F238E27FC236}">
                <ns2:creationId id="{E3596122-DFE7-42DA-AF5D-27BF1220C9B9}"/>
              </ns1:ext>
            </ns1:extLst>
          </ns0:cNvPr>
          <ns0:cNvSpPr>
            <ns1:spLocks noGrp="1"/>
          </ns0:cNvSpPr>
          <ns0:nvPr/>
        </ns0:nvSpPr>
        <ns0:spPr>
          <ns1:xfrm>
            <ns1:off x="6267450" y="2990850"/>
            <ns1:ext cx="2647950" cy="1847850"/>
          </ns1:xfrm>
          <ns1:prstGeom prst="roundRect">
            <ns1:avLst>
              <ns1:gd name="adj" fmla="val 4124"/>
            </ns1:avLst>
          </ns1:prstGeom>
          <ns1:solidFill>
            <ns1:srgbClr val="FFF8F8"/>
          </ns1:solidFill>
          <ns1:ln w="0">
            <ns1:noFill/>
            <ns1:prstDash val="solid"/>
          </ns1:ln>
        </ns0:spPr>
      </ns0:sp>
      <ns0:sp>
        <ns0:nvSpPr>
          <ns0:cNvPr id="34" name="trace:D20:content.auto.20">
            <ns1:extLst>
              <ns1:ext uri="{FF2B5EF4-FFF2-40B4-BE49-F238E27FC236}">
                <ns2:creationId id="{CCF1F465-9956-45D6-87F2-CFD130471313}"/>
              </ns1:ext>
            </ns1:extLst>
          </ns0:cNvPr>
          <ns0:cNvSpPr>
            <ns1:spLocks noGrp="1"/>
          </ns0:cNvSpPr>
          <ns0:nvPr/>
        </ns0:nvSpPr>
        <ns0:spPr>
          <ns1:xfrm>
            <ns1:off x="3067050" y="3562350"/>
            <ns1:ext cx="209550" cy="285750"/>
          </ns1:xfrm>
          <ns1:prstGeom prst="rightArrow">
            <ns1:avLst/>
          </ns1:prstGeom>
          <ns1:solidFill>
            <ns1:srgbClr val="C9CED5"/>
          </ns1:solidFill>
          <ns1:ln w="0">
            <ns1:noFill/>
            <ns1:prstDash val="solid"/>
          </ns1:ln>
        </ns0:spPr>
      </ns0:sp>
      <ns0:sp>
        <ns0:nvSpPr>
          <ns0:cNvPr id="35" name="trace:D20:content.auto.21">
            <ns1:extLst>
              <ns1:ext uri="{FF2B5EF4-FFF2-40B4-BE49-F238E27FC236}">
                <ns2:creationId id="{08283A92-3935-47AB-AC24-EB8532D5AA50}"/>
              </ns1:ext>
            </ns1:extLst>
          </ns0:cNvPr>
          <ns0:cNvSpPr>
            <ns1:spLocks noGrp="1"/>
          </ns0:cNvSpPr>
          <ns0:nvPr/>
        </ns0:nvSpPr>
        <ns0:spPr>
          <ns1:xfrm>
            <ns1:off x="6000750" y="3562350"/>
            <ns1:ext cx="209550" cy="285750"/>
          </ns1:xfrm>
          <ns1:prstGeom prst="rightArrow">
            <ns1:avLst/>
          </ns1:prstGeom>
          <ns1:solidFill>
            <ns1:srgbClr val="C9CED5"/>
          </ns1:solidFill>
          <ns1:ln w="0">
            <ns1:noFill/>
            <ns1:prstDash val="solid"/>
          </ns1:ln>
        </ns0:spPr>
      </ns0:sp>
      <ns0:sp>
        <ns0:nvSpPr>
          <ns0:cNvPr id="36" name="trace:D20:content.auto.22">
            <ns1:extLst>
              <ns1:ext uri="{FF2B5EF4-FFF2-40B4-BE49-F238E27FC236}">
                <ns2:creationId id="{49BEC2F4-7C2C-432B-A690-61BF0060D62E}"/>
              </ns1:ext>
            </ns1:extLst>
          </ns0:cNvPr>
          <ns0:cNvSpPr>
            <ns1:spLocks noGrp="1"/>
          </ns0:cNvSpPr>
          <ns0:nvPr/>
        </ns0:nvSpPr>
        <ns0:spPr>
          <ns1:xfrm>
            <ns1:off x="590550" y="3171825"/>
            <ns1:ext cx="157163" cy="200025"/>
          </ns1:xfrm>
          <ns1:prstGeom prst="rect">
            <ns1:avLst/>
          </ns1:prstGeom>
          <ns1:noFill/>
          <ns1:ln w="19050">
            <ns1:solidFill>
              <ns1:srgbClr val="0E1A2D"/>
            </ns1:solidFill>
            <ns1:prstDash val="solid"/>
          </ns1:ln>
        </ns0:spPr>
      </ns0:sp>
      <ns0:sp>
        <ns0:nvSpPr>
          <ns0:cNvPr id="37" name="trace:D20:content.auto.23">
            <ns1:extLst>
              <ns1:ext uri="{FF2B5EF4-FFF2-40B4-BE49-F238E27FC236}">
                <ns2:creationId id="{9CC318B6-AAEE-4623-ADB3-6E6EA3D11A2D}"/>
              </ns1:ext>
            </ns1:extLst>
          </ns0:cNvPr>
          <ns0:cNvSpPr>
            <ns1:spLocks noGrp="1"/>
          </ns0:cNvSpPr>
          <ns0:nvPr/>
        </ns0:nvSpPr>
        <ns0:spPr>
          <ns1:xfrm rot="2700000">
            <ns1:off x="697706" y="3171825"/>
            <ns1:ext cx="78581" cy="14288"/>
          </ns1:xfrm>
          <ns1:prstGeom prst="rect">
            <ns1:avLst/>
          </ns1:prstGeom>
          <ns1:solidFill>
            <ns1:srgbClr val="0E1A2D"/>
          </ns1:solidFill>
          <ns1:ln w="0">
            <ns1:noFill/>
            <ns1:prstDash val="solid"/>
          </ns1:ln>
        </ns0:spPr>
      </ns0:sp>
      <ns0:sp>
        <ns0:nvSpPr>
          <ns0:cNvPr id="38" name="trace:D20:content.auto.24">
            <ns1:extLst>
              <ns1:ext uri="{FF2B5EF4-FFF2-40B4-BE49-F238E27FC236}">
                <ns2:creationId id="{777556E5-534B-4B65-ABE9-ADFDCCB4DC38}"/>
              </ns1:ext>
            </ns1:extLst>
          </ns0:cNvPr>
          <ns0:cNvSpPr>
            <ns1:spLocks noGrp="1"/>
          </ns0:cNvSpPr>
          <ns0:nvPr/>
        </ns0:nvSpPr>
        <ns0:spPr>
          <ns1:xfrm>
            <ns1:off x="626269" y="3243263"/>
            <ns1:ext cx="85725" cy="19050"/>
          </ns1:xfrm>
          <ns1:prstGeom prst="rect">
            <ns1:avLst/>
          </ns1:prstGeom>
          <ns1:solidFill>
            <ns1:srgbClr val="0E1A2D"/>
          </ns1:solidFill>
          <ns1:ln w="0">
            <ns1:noFill/>
            <ns1:prstDash val="solid"/>
          </ns1:ln>
        </ns0:spPr>
      </ns0:sp>
      <ns0:sp>
        <ns0:nvSpPr>
          <ns0:cNvPr id="39" name="trace:D20:content.auto.25">
            <ns1:extLst>
              <ns1:ext uri="{FF2B5EF4-FFF2-40B4-BE49-F238E27FC236}">
                <ns2:creationId id="{920AAA49-7139-4F34-BAC6-62532A63DAA8}"/>
              </ns1:ext>
            </ns1:extLst>
          </ns0:cNvPr>
          <ns0:cNvSpPr>
            <ns1:spLocks noGrp="1"/>
          </ns0:cNvSpPr>
          <ns0:nvPr/>
        </ns0:nvSpPr>
        <ns0:spPr>
          <ns1:xfrm>
            <ns1:off x="626269" y="3286125"/>
            <ns1:ext cx="85725" cy="19050"/>
          </ns1:xfrm>
          <ns1:prstGeom prst="rect">
            <ns1:avLst/>
          </ns1:prstGeom>
          <ns1:solidFill>
            <ns1:srgbClr val="0E1A2D"/>
          </ns1:solidFill>
          <ns1:ln w="0">
            <ns1:noFill/>
            <ns1:prstDash val="solid"/>
          </ns1:ln>
        </ns0:spPr>
      </ns0:sp>
      <ns0:sp>
        <ns0:nvSpPr>
          <ns0:cNvPr id="40" name="trace:D20:content.auto.26">
            <ns1:extLst>
              <ns1:ext uri="{FF2B5EF4-FFF2-40B4-BE49-F238E27FC236}">
                <ns2:creationId id="{A2598AA0-F913-4C3F-8C06-3329BF84A340}"/>
              </ns1:ext>
            </ns1:extLst>
          </ns0:cNvPr>
          <ns0:cNvSpPr>
            <ns1:spLocks noGrp="1"/>
          </ns0:cNvSpPr>
          <ns0:nvPr/>
        </ns0:nvSpPr>
        <ns0:spPr>
          <ns1:xfrm>
            <ns1:off x="626269" y="3328988"/>
            <ns1:ext cx="57150" cy="19050"/>
          </ns1:xfrm>
          <ns1:prstGeom prst="rect">
            <ns1:avLst/>
          </ns1:prstGeom>
          <ns1:solidFill>
            <ns1:srgbClr val="0E1A2D"/>
          </ns1:solidFill>
          <ns1:ln w="0">
            <ns1:noFill/>
            <ns1:prstDash val="solid"/>
          </ns1:ln>
        </ns0:spPr>
      </ns0:sp>
      <ns0:sp>
        <ns0:nvSpPr>
          <ns0:cNvPr id="41" name="trace:D20:lead">
            <ns1:extLst>
              <ns1:ext uri="{FF2B5EF4-FFF2-40B4-BE49-F238E27FC236}">
                <ns2:creationId id="{7988F55F-921A-483A-A408-AA551BC8C94A}"/>
              </ns1:ext>
            </ns1:extLst>
          </ns0:cNvPr>
          <ns0:cNvSpPr>
            <ns1:spLocks noGrp="1"/>
          </ns0:cNvSpPr>
          <ns0:nvPr/>
        </ns0:nvSpPr>
        <ns0:spPr>
          <ns1:xfrm>
            <ns1:off x="952500" y="3124200"/>
            <ns1:ext cx="1885950" cy="438150"/>
          </ns1:xfrm>
          <ns1:prstGeom prst="rect">
            <ns1:avLst/>
          </ns1:prstGeom>
          <ns1:noFill/>
          <ns1:ln w="0">
            <ns1:noFill/>
            <ns1:prstDash val="solid"/>
          </ns1:ln>
        </ns0:spPr>
        <ns0:txBody>
          <ns1:bodyPr anchor="ctr"/>
          <ns1:lstStyle/>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提案資料の作成に</ns1:t>
            </ns1:r>
          </ns1:p>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多くの時間がかかっていた</ns1:t>
            </ns1:r>
          </ns1:p>
        </ns0:txBody>
      </ns0:sp>
      <ns0:sp>
        <ns0:nvSpPr>
          <ns0:cNvPr id="42" name="trace:D20:content.auto.27">
            <ns1:extLst>
              <ns1:ext uri="{FF2B5EF4-FFF2-40B4-BE49-F238E27FC236}">
                <ns2:creationId id="{B24EC1AC-4D53-4DC1-A194-5B0A33BF3585}"/>
              </ns1:ext>
            </ns1:extLst>
          </ns0:cNvPr>
          <ns0:cNvSpPr>
            <ns1:spLocks noGrp="1"/>
          </ns0:cNvSpPr>
          <ns0:nvPr/>
        </ns0:nvSpPr>
        <ns0:spPr>
          <ns1:xfrm>
            <ns1:off x="3524250" y="3171825"/>
            <ns1:ext cx="178594" cy="57150"/>
          </ns1:xfrm>
          <ns1:prstGeom prst="ellipse">
            <ns1:avLst/>
          </ns1:prstGeom>
          <ns1:noFill/>
          <ns1:ln w="19050">
            <ns1:solidFill>
              <ns1:srgbClr val="ED1C24"/>
            </ns1:solidFill>
            <ns1:prstDash val="solid"/>
          </ns1:ln>
        </ns0:spPr>
      </ns0:sp>
      <ns0:sp>
        <ns0:nvSpPr>
          <ns0:cNvPr id="43" name="trace:D20:content.auto.28">
            <ns1:extLst>
              <ns1:ext uri="{FF2B5EF4-FFF2-40B4-BE49-F238E27FC236}">
                <ns2:creationId id="{CA1E3338-195D-4083-AA94-AAD7B1CFD920}"/>
              </ns1:ext>
            </ns1:extLst>
          </ns0:cNvPr>
          <ns0:cNvSpPr>
            <ns1:spLocks noGrp="1"/>
          </ns0:cNvSpPr>
          <ns0:nvPr/>
        </ns0:nvSpPr>
        <ns0:spPr>
          <ns1:xfrm>
            <ns1:off x="3524250" y="3200400"/>
            <ns1:ext cx="178594" cy="121444"/>
          </ns1:xfrm>
          <ns1:prstGeom prst="rect">
            <ns1:avLst/>
          </ns1:prstGeom>
          <ns1:noFill/>
          <ns1:ln w="19050">
            <ns1:solidFill>
              <ns1:srgbClr val="ED1C24"/>
            </ns1:solidFill>
            <ns1:prstDash val="solid"/>
          </ns1:ln>
        </ns0:spPr>
      </ns0:sp>
      <ns0:sp>
        <ns0:nvSpPr>
          <ns0:cNvPr id="44" name="trace:D20:content.auto.29">
            <ns1:extLst>
              <ns1:ext uri="{FF2B5EF4-FFF2-40B4-BE49-F238E27FC236}">
                <ns2:creationId id="{6F89F2A6-3C9A-401E-96AE-6668E987225A}"/>
              </ns1:ext>
            </ns1:extLst>
          </ns0:cNvPr>
          <ns0:cNvSpPr>
            <ns1:spLocks noGrp="1"/>
          </ns0:cNvSpPr>
          <ns0:nvPr/>
        </ns0:nvSpPr>
        <ns0:spPr>
          <ns1:xfrm>
            <ns1:off x="3524250" y="3293269"/>
            <ns1:ext cx="178594" cy="57150"/>
          </ns1:xfrm>
          <ns1:prstGeom prst="ellipse">
            <ns1:avLst/>
          </ns1:prstGeom>
          <ns1:noFill/>
          <ns1:ln w="19050">
            <ns1:solidFill>
              <ns1:srgbClr val="ED1C24"/>
            </ns1:solidFill>
            <ns1:prstDash val="solid"/>
          </ns1:ln>
        </ns0:spPr>
      </ns0:sp>
      <ns0:sp>
        <ns0:nvSpPr>
          <ns0:cNvPr id="45" name="trace:D20:lead.2">
            <ns1:extLst>
              <ns1:ext uri="{FF2B5EF4-FFF2-40B4-BE49-F238E27FC236}">
                <ns2:creationId id="{F94BF6DF-B306-4F55-A73D-2982124E9669}"/>
              </ns1:ext>
            </ns1:extLst>
          </ns0:cNvPr>
          <ns0:cNvSpPr>
            <ns1:spLocks noGrp="1"/>
          </ns0:cNvSpPr>
          <ns0:nvPr/>
        </ns0:nvSpPr>
        <ns0:spPr>
          <ns1:xfrm>
            <ns1:off x="3886200" y="3124200"/>
            <ns1:ext cx="1943100" cy="438150"/>
          </ns1:xfrm>
          <ns1:prstGeom prst="rect">
            <ns1:avLst/>
          </ns1:prstGeom>
          <ns1:noFill/>
          <ns1:ln w="0">
            <ns1:noFill/>
            <ns1:prstDash val="solid"/>
          </ns1:ln>
        </ns0:spPr>
        <ns0:txBody>
          <ns1:bodyPr anchor="ctr"/>
          <ns1:lstStyle/>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案件情報から業界・顧客課題を</ns1:t>
            </ns1:r>
          </ns1:p>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自動で分析し、提案ストーリーを生成</ns1:t>
            </ns1:r>
          </ns1:p>
        </ns0:txBody>
      </ns0:sp>
      <ns0:sp>
        <ns0:nvSpPr>
          <ns0:cNvPr id="46" name="trace:D20:content.auto.30">
            <ns1:extLst>
              <ns1:ext uri="{FF2B5EF4-FFF2-40B4-BE49-F238E27FC236}">
                <ns2:creationId id="{D83DE743-3758-4FF0-B375-9A339251D595}"/>
              </ns1:ext>
            </ns1:extLst>
          </ns0:cNvPr>
          <ns0:cNvSpPr>
            <ns1:spLocks noGrp="1"/>
          </ns0:cNvSpPr>
          <ns0:nvPr/>
        </ns0:nvSpPr>
        <ns0:spPr>
          <ns1:xfrm rot="-2100000">
            <ns1:off x="6551295" y="3158109"/>
            <ns1:ext cx="22289" cy="222885"/>
          </ns1:xfrm>
          <ns1:prstGeom prst="rect">
            <ns1:avLst/>
          </ns1:prstGeom>
          <ns1:solidFill>
            <ns1:srgbClr val="ED1C24"/>
          </ns1:solidFill>
          <ns1:ln w="0">
            <ns1:noFill/>
            <ns1:prstDash val="solid"/>
          </ns1:ln>
        </ns0:spPr>
      </ns0:sp>
      <ns0:sp>
        <ns0:nvSpPr>
          <ns0:cNvPr id="47" name="trace:D20:content.auto.31">
            <ns1:extLst>
              <ns1:ext uri="{FF2B5EF4-FFF2-40B4-BE49-F238E27FC236}">
                <ns2:creationId id="{2BBD86B0-B093-49E0-8F6B-53713DE1AB49}"/>
              </ns1:ext>
            </ns1:extLst>
          </ns0:cNvPr>
          <ns0:cNvSpPr>
            <ns1:spLocks noGrp="1"/>
          </ns0:cNvSpPr>
          <ns0:nvPr/>
        </ns0:nvSpPr>
        <ns0:spPr>
          <ns1:xfrm rot="-2100000">
            <ns1:off x="6529007" y="3158109"/>
            <ns1:ext cx="74295" cy="22289"/>
          </ns1:xfrm>
          <ns1:prstGeom prst="rect">
            <ns1:avLst/>
          </ns1:prstGeom>
          <ns1:solidFill>
            <ns1:srgbClr val="ED1C24"/>
          </ns1:solidFill>
          <ns1:ln w="0">
            <ns1:noFill/>
            <ns1:prstDash val="solid"/>
          </ns1:ln>
        </ns0:spPr>
      </ns0:sp>
      <ns0:sp>
        <ns0:nvSpPr>
          <ns0:cNvPr id="48" name="trace:D20:content.auto.32">
            <ns1:extLst>
              <ns1:ext uri="{FF2B5EF4-FFF2-40B4-BE49-F238E27FC236}">
                <ns2:creationId id="{599697C0-7D7E-4B0A-BD57-9BFB840612DB}"/>
              </ns1:ext>
            </ns1:extLst>
          </ns0:cNvPr>
          <ns0:cNvSpPr>
            <ns1:spLocks noGrp="1"/>
          </ns0:cNvSpPr>
          <ns0:nvPr/>
        </ns0:nvSpPr>
        <ns0:spPr>
          <ns1:xfrm rot="-2100000">
            <ns1:off x="6566154" y="3158109"/>
            <ns1:ext cx="22289" cy="74295"/>
          </ns1:xfrm>
          <ns1:prstGeom prst="rect">
            <ns1:avLst/>
          </ns1:prstGeom>
          <ns1:solidFill>
            <ns1:srgbClr val="ED1C24"/>
          </ns1:solidFill>
          <ns1:ln w="0">
            <ns1:noFill/>
            <ns1:prstDash val="solid"/>
          </ns1:ln>
        </ns0:spPr>
      </ns0:sp>
      <ns0:sp>
        <ns0:nvSpPr>
          <ns0:cNvPr id="49" name="trace:D20:content.auto.33">
            <ns1:extLst>
              <ns1:ext uri="{FF2B5EF4-FFF2-40B4-BE49-F238E27FC236}">
                <ns2:creationId id="{3DE0B366-BD6B-45C4-8E77-41BE2791160A}"/>
              </ns1:ext>
            </ns1:extLst>
          </ns0:cNvPr>
          <ns0:cNvSpPr>
            <ns1:spLocks noGrp="1"/>
          </ns0:cNvSpPr>
          <ns0:nvPr/>
        </ns0:nvSpPr>
        <ns0:spPr>
          <ns1:xfrm>
            <ns1:off x="6858000" y="3114675"/>
            <ns1:ext cx="1828800" cy="438150"/>
          </ns1:xfrm>
          <ns1:prstGeom prst="rect">
            <ns1:avLst/>
          </ns1:prstGeom>
          <ns1:noFill/>
          <ns1:ln w="0">
            <ns1:noFill/>
            <ns1:prstDash val="solid"/>
          </ns1:ln>
        </ns0:spPr>
        <ns0:txBody>
          <ns1:bodyPr anchor="ctr"/>
          <ns1:lstStyle/>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提案資料の作成時間</ns1:t>
            </ns1:r>
          </ns1:p>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約70%削減</ns1:t>
            </ns1:r>
          </ns1:p>
        </ns0:txBody>
      </ns0:sp>
      <ns0:sp>
        <ns0:nvSpPr>
          <ns0:cNvPr id="50" name="trace:D20:content.auto.34">
            <ns1:extLst>
              <ns1:ext uri="{FF2B5EF4-FFF2-40B4-BE49-F238E27FC236}">
                <ns2:creationId id="{DAFFD609-0936-4A0E-9333-171D131047FA}"/>
              </ns1:ext>
            </ns1:extLst>
          </ns0:cNvPr>
          <ns0:cNvSpPr>
            <ns1:spLocks noGrp="1"/>
          </ns0:cNvSpPr>
          <ns0:nvPr/>
        </ns0:nvSpPr>
        <ns0:spPr>
          <ns1:xfrm>
            <ns1:off x="533400" y="3590925"/>
            <ns1:ext cx="2362200" cy="9525"/>
          </ns1:xfrm>
          <ns1:prstGeom prst="rect">
            <ns1:avLst/>
          </ns1:prstGeom>
          <ns1:solidFill>
            <ns1:srgbClr val="DDE3EA"/>
          </ns1:solidFill>
          <ns1:ln w="0">
            <ns1:noFill/>
            <ns1:prstDash val="solid"/>
          </ns1:ln>
        </ns0:spPr>
      </ns0:sp>
      <ns0:sp>
        <ns0:nvSpPr>
          <ns0:cNvPr id="51" name="trace:D20:content.auto.35">
            <ns1:extLst>
              <ns1:ext uri="{FF2B5EF4-FFF2-40B4-BE49-F238E27FC236}">
                <ns2:creationId id="{6D5E2028-6EDC-4F5B-90CD-F1D23124A275}"/>
              </ns1:ext>
            </ns1:extLst>
          </ns0:cNvPr>
          <ns0:cNvSpPr>
            <ns1:spLocks noGrp="1"/>
          </ns0:cNvSpPr>
          <ns0:nvPr/>
        </ns0:nvSpPr>
        <ns0:spPr>
          <ns1:xfrm>
            <ns1:off x="3467100" y="3590925"/>
            <ns1:ext cx="2381250" cy="9525"/>
          </ns1:xfrm>
          <ns1:prstGeom prst="rect">
            <ns1:avLst/>
          </ns1:prstGeom>
          <ns1:solidFill>
            <ns1:srgbClr val="F2CACC"/>
          </ns1:solidFill>
          <ns1:ln w="0">
            <ns1:noFill/>
            <ns1:prstDash val="solid"/>
          </ns1:ln>
        </ns0:spPr>
      </ns0:sp>
      <ns0:sp>
        <ns0:nvSpPr>
          <ns0:cNvPr id="52" name="trace:D20:content.auto.36">
            <ns1:extLst>
              <ns1:ext uri="{FF2B5EF4-FFF2-40B4-BE49-F238E27FC236}">
                <ns2:creationId id="{6CA92850-6FD1-47FB-B7AF-3658B7DB0677}"/>
              </ns1:ext>
            </ns1:extLst>
          </ns0:cNvPr>
          <ns0:cNvSpPr>
            <ns1:spLocks noGrp="1"/>
          </ns0:cNvSpPr>
          <ns0:nvPr/>
        </ns0:nvSpPr>
        <ns0:spPr>
          <ns1:xfrm>
            <ns1:off x="6400800" y="3590925"/>
            <ns1:ext cx="2381250" cy="9525"/>
          </ns1:xfrm>
          <ns1:prstGeom prst="rect">
            <ns1:avLst/>
          </ns1:prstGeom>
          <ns1:solidFill>
            <ns1:srgbClr val="F3D7D7"/>
          </ns1:solidFill>
          <ns1:ln w="0">
            <ns1:noFill/>
            <ns1:prstDash val="solid"/>
          </ns1:ln>
        </ns0:spPr>
      </ns0:sp>
      <ns0:sp>
        <ns0:nvSpPr>
          <ns0:cNvPr id="53" name="trace:D20:content.auto.37">
            <ns1:extLst>
              <ns1:ext uri="{FF2B5EF4-FFF2-40B4-BE49-F238E27FC236}">
                <ns2:creationId id="{73DA6F19-D9E1-485F-886C-DF5ED9A1B90C}"/>
              </ns1:ext>
            </ns1:extLst>
          </ns0:cNvPr>
          <ns0:cNvSpPr>
            <ns1:spLocks noGrp="1"/>
          </ns0:cNvSpPr>
          <ns0:nvPr/>
        </ns0:nvSpPr>
        <ns0:spPr>
          <ns1:xfrm>
            <ns1:off x="654844" y="3724275"/>
            <ns1:ext cx="64294" cy="64294"/>
          </ns1:xfrm>
          <ns1:prstGeom prst="ellipse">
            <ns1:avLst/>
          </ns1:prstGeom>
          <ns1:noFill/>
          <ns1:ln w="19050">
            <ns1:solidFill>
              <ns1:srgbClr val="0E1A2D"/>
            </ns1:solidFill>
            <ns1:prstDash val="solid"/>
          </ns1:ln>
        </ns0:spPr>
      </ns0:sp>
      <ns0:sp>
        <ns0:nvSpPr>
          <ns0:cNvPr id="54" name="trace:D20:content.auto.38">
            <ns1:extLst>
              <ns1:ext uri="{FF2B5EF4-FFF2-40B4-BE49-F238E27FC236}">
                <ns2:creationId id="{6558AB76-9644-4210-AF48-EC8A6745F1A3}"/>
              </ns1:ext>
            </ns1:extLst>
          </ns0:cNvPr>
          <ns0:cNvSpPr>
            <ns1:spLocks noGrp="1"/>
          </ns0:cNvSpPr>
          <ns0:nvPr/>
        </ns0:nvSpPr>
        <ns0:spPr>
          <ns1:xfrm>
            <ns1:off x="590550" y="3745706"/>
            <ns1:ext cx="50006" cy="50006"/>
          </ns1:xfrm>
          <ns1:prstGeom prst="ellipse">
            <ns1:avLst/>
          </ns1:prstGeom>
          <ns1:noFill/>
          <ns1:ln w="19050">
            <ns1:solidFill>
              <ns1:srgbClr val="0E1A2D"/>
            </ns1:solidFill>
            <ns1:prstDash val="solid"/>
          </ns1:ln>
        </ns0:spPr>
      </ns0:sp>
      <ns0:sp>
        <ns0:nvSpPr>
          <ns0:cNvPr id="55" name="trace:D20:content.auto.39">
            <ns1:extLst>
              <ns1:ext uri="{FF2B5EF4-FFF2-40B4-BE49-F238E27FC236}">
                <ns2:creationId id="{199D894A-314F-4254-AE79-90EBD8D359A2}"/>
              </ns1:ext>
            </ns1:extLst>
          </ns0:cNvPr>
          <ns0:cNvSpPr>
            <ns1:spLocks noGrp="1"/>
          </ns0:cNvSpPr>
          <ns0:nvPr/>
        </ns0:nvSpPr>
        <ns0:spPr>
          <ns1:xfrm>
            <ns1:off x="733425" y="3745706"/>
            <ns1:ext cx="50006" cy="50006"/>
          </ns1:xfrm>
          <ns1:prstGeom prst="ellipse">
            <ns1:avLst/>
          </ns1:prstGeom>
          <ns1:noFill/>
          <ns1:ln w="19050">
            <ns1:solidFill>
              <ns1:srgbClr val="0E1A2D"/>
            </ns1:solidFill>
            <ns1:prstDash val="solid"/>
          </ns1:ln>
        </ns0:spPr>
      </ns0:sp>
      <ns0:sp>
        <ns0:nvSpPr>
          <ns0:cNvPr id="56" name="trace:D20:content.auto.40">
            <ns1:extLst>
              <ns1:ext uri="{FF2B5EF4-FFF2-40B4-BE49-F238E27FC236}">
                <ns2:creationId id="{EB5A7293-7FA8-4C65-8C57-0D011663CA54}"/>
              </ns1:ext>
            </ns1:extLst>
          </ns0:cNvPr>
          <ns0:cNvSpPr>
            <ns1:spLocks noGrp="1"/>
          </ns0:cNvSpPr>
          <ns0:nvPr/>
        </ns0:nvSpPr>
        <ns0:spPr>
          <ns1:xfrm>
            <ns1:off x="626269" y="3817144"/>
            <ns1:ext cx="121444" cy="71438"/>
          </ns1:xfrm>
          <ns1:prstGeom prst="roundRect">
            <ns1:avLst>
              <ns1:gd name="adj" fmla="val 50000"/>
            </ns1:avLst>
          </ns1:prstGeom>
          <ns1:noFill/>
          <ns1:ln w="19050">
            <ns1:solidFill>
              <ns1:srgbClr val="0E1A2D"/>
            </ns1:solidFill>
            <ns1:prstDash val="solid"/>
          </ns1:ln>
        </ns0:spPr>
      </ns0:sp>
      <ns0:sp>
        <ns0:nvSpPr>
          <ns0:cNvPr id="57" name="trace:D20:content.auto.41">
            <ns1:extLst>
              <ns1:ext uri="{FF2B5EF4-FFF2-40B4-BE49-F238E27FC236}">
                <ns2:creationId id="{842887C1-8A34-4659-9F35-9065D0998D94}"/>
              </ns1:ext>
            </ns1:extLst>
          </ns0:cNvPr>
          <ns0:cNvSpPr>
            <ns1:spLocks noGrp="1"/>
          </ns0:cNvSpPr>
          <ns0:nvPr/>
        </ns0:nvSpPr>
        <ns0:spPr>
          <ns1:xfrm>
            <ns1:off x="583406" y="3831431"/>
            <ns1:ext cx="64294" cy="57150"/>
          </ns1:xfrm>
          <ns1:prstGeom prst="roundRect">
            <ns1:avLst>
              <ns1:gd name="adj" fmla="val 50000"/>
            </ns1:avLst>
          </ns1:prstGeom>
          <ns1:noFill/>
          <ns1:ln w="19050">
            <ns1:solidFill>
              <ns1:srgbClr val="0E1A2D"/>
            </ns1:solidFill>
            <ns1:prstDash val="solid"/>
          </ns1:ln>
        </ns0:spPr>
      </ns0:sp>
      <ns0:sp>
        <ns0:nvSpPr>
          <ns0:cNvPr id="58" name="trace:D20:content.auto.42">
            <ns1:extLst>
              <ns1:ext uri="{FF2B5EF4-FFF2-40B4-BE49-F238E27FC236}">
                <ns2:creationId id="{26215D2C-8B34-4EA2-8097-107CFE486999}"/>
              </ns1:ext>
            </ns1:extLst>
          </ns0:cNvPr>
          <ns0:cNvSpPr>
            <ns1:spLocks noGrp="1"/>
          </ns0:cNvSpPr>
          <ns0:nvPr/>
        </ns0:nvSpPr>
        <ns0:spPr>
          <ns1:xfrm>
            <ns1:off x="726281" y="3831431"/>
            <ns1:ext cx="64294" cy="57150"/>
          </ns1:xfrm>
          <ns1:prstGeom prst="roundRect">
            <ns1:avLst>
              <ns1:gd name="adj" fmla="val 50000"/>
            </ns1:avLst>
          </ns1:prstGeom>
          <ns1:noFill/>
          <ns1:ln w="19050">
            <ns1:solidFill>
              <ns1:srgbClr val="0E1A2D"/>
            </ns1:solidFill>
            <ns1:prstDash val="solid"/>
          </ns1:ln>
        </ns0:spPr>
      </ns0:sp>
      <ns0:sp>
        <ns0:nvSpPr>
          <ns0:cNvPr id="59" name="trace:D20:lead.3">
            <ns1:extLst>
              <ns1:ext uri="{FF2B5EF4-FFF2-40B4-BE49-F238E27FC236}">
                <ns2:creationId id="{8EDCB81F-12D0-47C2-8321-6E77B17E44C0}"/>
              </ns1:ext>
            </ns1:extLst>
          </ns0:cNvPr>
          <ns0:cNvSpPr>
            <ns1:spLocks noGrp="1"/>
          </ns0:cNvSpPr>
          <ns0:nvPr/>
        </ns0:nvSpPr>
        <ns0:spPr>
          <ns1:xfrm>
            <ns1:off x="952500" y="3676650"/>
            <ns1:ext cx="1885950" cy="438150"/>
          </ns1:xfrm>
          <ns1:prstGeom prst="rect">
            <ns1:avLst/>
          </ns1:prstGeom>
          <ns1:noFill/>
          <ns1:ln w="0">
            <ns1:noFill/>
            <ns1:prstDash val="solid"/>
          </ns1:ln>
        </ns0:spPr>
        <ns0:txBody>
          <ns1:bodyPr anchor="ctr"/>
          <ns1:lstStyle/>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提案の内容・品質が</ns1:t>
            </ns1:r>
          </ns1:p>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担当者によってばらついていた</ns1:t>
            </ns1:r>
          </ns1:p>
        </ns0:txBody>
      </ns0:sp>
      <ns0:sp>
        <ns0:nvSpPr>
          <ns0:cNvPr id="60" name="trace:D20:content.auto.43">
            <ns1:extLst>
              <ns1:ext uri="{FF2B5EF4-FFF2-40B4-BE49-F238E27FC236}">
                <ns2:creationId id="{F2E0BB37-56D7-47F3-BEA5-59F57CFFC1C1}"/>
              </ns1:ext>
            </ns1:extLst>
          </ns0:cNvPr>
          <ns0:cNvSpPr>
            <ns1:spLocks noGrp="1"/>
          </ns0:cNvSpPr>
          <ns0:nvPr/>
        </ns0:nvSpPr>
        <ns0:spPr>
          <ns1:xfrm>
            <ns1:off x="3524250" y="3724275"/>
            <ns1:ext cx="157163" cy="200025"/>
          </ns1:xfrm>
          <ns1:prstGeom prst="rect">
            <ns1:avLst/>
          </ns1:prstGeom>
          <ns1:noFill/>
          <ns1:ln w="19050">
            <ns1:solidFill>
              <ns1:srgbClr val="ED1C24"/>
            </ns1:solidFill>
            <ns1:prstDash val="solid"/>
          </ns1:ln>
        </ns0:spPr>
      </ns0:sp>
      <ns0:sp>
        <ns0:nvSpPr>
          <ns0:cNvPr id="61" name="trace:D20:content.auto.44">
            <ns1:extLst>
              <ns1:ext uri="{FF2B5EF4-FFF2-40B4-BE49-F238E27FC236}">
                <ns2:creationId id="{73656646-30BA-41CA-96A8-F6AD9858B544}"/>
              </ns1:ext>
            </ns1:extLst>
          </ns0:cNvPr>
          <ns0:cNvSpPr>
            <ns1:spLocks noGrp="1"/>
          </ns0:cNvSpPr>
          <ns0:nvPr/>
        </ns0:nvSpPr>
        <ns0:spPr>
          <ns1:xfrm rot="2700000">
            <ns1:off x="3631406" y="3724275"/>
            <ns1:ext cx="78581" cy="14288"/>
          </ns1:xfrm>
          <ns1:prstGeom prst="rect">
            <ns1:avLst/>
          </ns1:prstGeom>
          <ns1:solidFill>
            <ns1:srgbClr val="ED1C24"/>
          </ns1:solidFill>
          <ns1:ln w="0">
            <ns1:noFill/>
            <ns1:prstDash val="solid"/>
          </ns1:ln>
        </ns0:spPr>
      </ns0:sp>
      <ns0:sp>
        <ns0:nvSpPr>
          <ns0:cNvPr id="62" name="trace:D20:content.auto.45">
            <ns1:extLst>
              <ns1:ext uri="{FF2B5EF4-FFF2-40B4-BE49-F238E27FC236}">
                <ns2:creationId id="{1A7ACA3D-1A5B-42A8-A546-5C0850E0B08F}"/>
              </ns1:ext>
            </ns1:extLst>
          </ns0:cNvPr>
          <ns0:cNvSpPr>
            <ns1:spLocks noGrp="1"/>
          </ns0:cNvSpPr>
          <ns0:nvPr/>
        </ns0:nvSpPr>
        <ns0:spPr>
          <ns1:xfrm>
            <ns1:off x="3559969" y="3795713"/>
            <ns1:ext cx="85725" cy="19050"/>
          </ns1:xfrm>
          <ns1:prstGeom prst="rect">
            <ns1:avLst/>
          </ns1:prstGeom>
          <ns1:solidFill>
            <ns1:srgbClr val="ED1C24"/>
          </ns1:solidFill>
          <ns1:ln w="0">
            <ns1:noFill/>
            <ns1:prstDash val="solid"/>
          </ns1:ln>
        </ns0:spPr>
      </ns0:sp>
      <ns0:sp>
        <ns0:nvSpPr>
          <ns0:cNvPr id="63" name="trace:D20:content.auto.46">
            <ns1:extLst>
              <ns1:ext uri="{FF2B5EF4-FFF2-40B4-BE49-F238E27FC236}">
                <ns2:creationId id="{DF04B8B9-0BCC-4787-B6C7-45250D606662}"/>
              </ns1:ext>
            </ns1:extLst>
          </ns0:cNvPr>
          <ns0:cNvSpPr>
            <ns1:spLocks noGrp="1"/>
          </ns0:cNvSpPr>
          <ns0:nvPr/>
        </ns0:nvSpPr>
        <ns0:spPr>
          <ns1:xfrm>
            <ns1:off x="3559969" y="3838575"/>
            <ns1:ext cx="85725" cy="19050"/>
          </ns1:xfrm>
          <ns1:prstGeom prst="rect">
            <ns1:avLst/>
          </ns1:prstGeom>
          <ns1:solidFill>
            <ns1:srgbClr val="ED1C24"/>
          </ns1:solidFill>
          <ns1:ln w="0">
            <ns1:noFill/>
            <ns1:prstDash val="solid"/>
          </ns1:ln>
        </ns0:spPr>
      </ns0:sp>
      <ns0:sp>
        <ns0:nvSpPr>
          <ns0:cNvPr id="64" name="trace:D20:content.auto.47">
            <ns1:extLst>
              <ns1:ext uri="{FF2B5EF4-FFF2-40B4-BE49-F238E27FC236}">
                <ns2:creationId id="{0326B3CF-CF25-4269-BF7C-E361C8904114}"/>
              </ns1:ext>
            </ns1:extLst>
          </ns0:cNvPr>
          <ns0:cNvSpPr>
            <ns1:spLocks noGrp="1"/>
          </ns0:cNvSpPr>
          <ns0:nvPr/>
        </ns0:nvSpPr>
        <ns0:spPr>
          <ns1:xfrm>
            <ns1:off x="3559969" y="3881438"/>
            <ns1:ext cx="57150" cy="19050"/>
          </ns1:xfrm>
          <ns1:prstGeom prst="rect">
            <ns1:avLst/>
          </ns1:prstGeom>
          <ns1:solidFill>
            <ns1:srgbClr val="ED1C24"/>
          </ns1:solidFill>
          <ns1:ln w="0">
            <ns1:noFill/>
            <ns1:prstDash val="solid"/>
          </ns1:ln>
        </ns0:spPr>
      </ns0:sp>
      <ns0:sp>
        <ns0:nvSpPr>
          <ns0:cNvPr id="65" name="trace:D20:lead.4">
            <ns1:extLst>
              <ns1:ext uri="{FF2B5EF4-FFF2-40B4-BE49-F238E27FC236}">
                <ns2:creationId id="{47ECAF2B-FC3E-4604-8F2A-D0A04DD020F0}"/>
              </ns1:ext>
            </ns1:extLst>
          </ns0:cNvPr>
          <ns0:cNvSpPr>
            <ns1:spLocks noGrp="1"/>
          </ns0:cNvSpPr>
          <ns0:nvPr/>
        </ns0:nvSpPr>
        <ns0:spPr>
          <ns1:xfrm>
            <ns1:off x="3886200" y="3676650"/>
            <ns1:ext cx="1943100" cy="438150"/>
          </ns1:xfrm>
          <ns1:prstGeom prst="rect">
            <ns1:avLst/>
          </ns1:prstGeom>
          <ns1:noFill/>
          <ns1:ln w="0">
            <ns1:noFill/>
            <ns1:prstDash val="solid"/>
          </ns1:ln>
        </ns0:spPr>
        <ns0:txBody>
          <ns1:bodyPr anchor="ctr"/>
          <ns1:lstStyle/>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提案資料（通常版・要約版）と</ns1:t>
            </ns1:r>
          </ns1:p>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見積書をワンクリックで作成</ns1:t>
            </ns1:r>
          </ns1:p>
        </ns0:txBody>
      </ns0:sp>
      <ns0:sp>
        <ns0:nvSpPr>
          <ns0:cNvPr id="66" name="trace:D20:content.auto.48">
            <ns1:extLst>
              <ns1:ext uri="{FF2B5EF4-FFF2-40B4-BE49-F238E27FC236}">
                <ns2:creationId id="{99BF522F-A7C6-41D1-9F7C-391AECBF8AD4}"/>
              </ns1:ext>
            </ns1:extLst>
          </ns0:cNvPr>
          <ns0:cNvSpPr>
            <ns1:spLocks noGrp="1"/>
          </ns0:cNvSpPr>
          <ns0:nvPr/>
        </ns0:nvSpPr>
        <ns0:spPr>
          <ns1:xfrm rot="-2100000">
            <ns1:off x="6551295" y="3710559"/>
            <ns1:ext cx="22289" cy="222885"/>
          </ns1:xfrm>
          <ns1:prstGeom prst="rect">
            <ns1:avLst/>
          </ns1:prstGeom>
          <ns1:solidFill>
            <ns1:srgbClr val="ED1C24"/>
          </ns1:solidFill>
          <ns1:ln w="0">
            <ns1:noFill/>
            <ns1:prstDash val="solid"/>
          </ns1:ln>
        </ns0:spPr>
      </ns0:sp>
      <ns0:sp>
        <ns0:nvSpPr>
          <ns0:cNvPr id="67" name="trace:D20:content.auto.49">
            <ns1:extLst>
              <ns1:ext uri="{FF2B5EF4-FFF2-40B4-BE49-F238E27FC236}">
                <ns2:creationId id="{CC2024C2-744A-423D-A754-27E969E0B8C4}"/>
              </ns1:ext>
            </ns1:extLst>
          </ns0:cNvPr>
          <ns0:cNvSpPr>
            <ns1:spLocks noGrp="1"/>
          </ns0:cNvSpPr>
          <ns0:nvPr/>
        </ns0:nvSpPr>
        <ns0:spPr>
          <ns1:xfrm rot="-2100000">
            <ns1:off x="6529007" y="3710559"/>
            <ns1:ext cx="74295" cy="22289"/>
          </ns1:xfrm>
          <ns1:prstGeom prst="rect">
            <ns1:avLst/>
          </ns1:prstGeom>
          <ns1:solidFill>
            <ns1:srgbClr val="ED1C24"/>
          </ns1:solidFill>
          <ns1:ln w="0">
            <ns1:noFill/>
            <ns1:prstDash val="solid"/>
          </ns1:ln>
        </ns0:spPr>
      </ns0:sp>
      <ns0:sp>
        <ns0:nvSpPr>
          <ns0:cNvPr id="68" name="trace:D20:content.auto.50">
            <ns1:extLst>
              <ns1:ext uri="{FF2B5EF4-FFF2-40B4-BE49-F238E27FC236}">
                <ns2:creationId id="{7BFD603F-EEB4-4A42-B743-1260F6CE337E}"/>
              </ns1:ext>
            </ns1:extLst>
          </ns0:cNvPr>
          <ns0:cNvSpPr>
            <ns1:spLocks noGrp="1"/>
          </ns0:cNvSpPr>
          <ns0:nvPr/>
        </ns0:nvSpPr>
        <ns0:spPr>
          <ns1:xfrm rot="-2100000">
            <ns1:off x="6566154" y="3710559"/>
            <ns1:ext cx="22289" cy="74295"/>
          </ns1:xfrm>
          <ns1:prstGeom prst="rect">
            <ns1:avLst/>
          </ns1:prstGeom>
          <ns1:solidFill>
            <ns1:srgbClr val="ED1C24"/>
          </ns1:solidFill>
          <ns1:ln w="0">
            <ns1:noFill/>
            <ns1:prstDash val="solid"/>
          </ns1:ln>
        </ns0:spPr>
      </ns0:sp>
      <ns0:sp>
        <ns0:nvSpPr>
          <ns0:cNvPr id="69" name="trace:D20:content.auto.51">
            <ns1:extLst>
              <ns1:ext uri="{FF2B5EF4-FFF2-40B4-BE49-F238E27FC236}">
                <ns2:creationId id="{0362EAC7-0E35-4A67-AD6C-210639F219E0}"/>
              </ns1:ext>
            </ns1:extLst>
          </ns0:cNvPr>
          <ns0:cNvSpPr>
            <ns1:spLocks noGrp="1"/>
          </ns0:cNvSpPr>
          <ns0:nvPr/>
        </ns0:nvSpPr>
        <ns0:spPr>
          <ns1:xfrm>
            <ns1:off x="6858000" y="3667125"/>
            <ns1:ext cx="1828800" cy="438150"/>
          </ns1:xfrm>
          <ns1:prstGeom prst="rect">
            <ns1:avLst/>
          </ns1:prstGeom>
          <ns1:noFill/>
          <ns1:ln w="0">
            <ns1:noFill/>
            <ns1:prstDash val="solid"/>
          </ns1:ln>
        </ns0:spPr>
        <ns0:txBody>
          <ns1:bodyPr anchor="ctr"/>
          <ns1:lstStyle/>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提案の受注率</ns1:t>
            </ns1:r>
          </ns1:p>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約1.5倍に向上</ns1:t>
            </ns1:r>
          </ns1:p>
        </ns0:txBody>
      </ns0:sp>
      <ns0:sp>
        <ns0:nvSpPr>
          <ns0:cNvPr id="70" name="trace:D20:content.auto.52">
            <ns1:extLst>
              <ns1:ext uri="{FF2B5EF4-FFF2-40B4-BE49-F238E27FC236}">
                <ns2:creationId id="{1D59ECB2-7AF7-4A7E-AC7D-17AA11F87447}"/>
              </ns1:ext>
            </ns1:extLst>
          </ns0:cNvPr>
          <ns0:cNvSpPr>
            <ns1:spLocks noGrp="1"/>
          </ns0:cNvSpPr>
          <ns0:nvPr/>
        </ns0:nvSpPr>
        <ns0:spPr>
          <ns1:xfrm>
            <ns1:off x="533400" y="4143375"/>
            <ns1:ext cx="2362200" cy="9525"/>
          </ns1:xfrm>
          <ns1:prstGeom prst="rect">
            <ns1:avLst/>
          </ns1:prstGeom>
          <ns1:solidFill>
            <ns1:srgbClr val="DDE3EA"/>
          </ns1:solidFill>
          <ns1:ln w="0">
            <ns1:noFill/>
            <ns1:prstDash val="solid"/>
          </ns1:ln>
        </ns0:spPr>
      </ns0:sp>
      <ns0:sp>
        <ns0:nvSpPr>
          <ns0:cNvPr id="71" name="trace:D20:content.auto.53">
            <ns1:extLst>
              <ns1:ext uri="{FF2B5EF4-FFF2-40B4-BE49-F238E27FC236}">
                <ns2:creationId id="{4AAD2CA9-D5BD-4B5F-9674-5B100ED7CDC4}"/>
              </ns1:ext>
            </ns1:extLst>
          </ns0:cNvPr>
          <ns0:cNvSpPr>
            <ns1:spLocks noGrp="1"/>
          </ns0:cNvSpPr>
          <ns0:nvPr/>
        </ns0:nvSpPr>
        <ns0:spPr>
          <ns1:xfrm>
            <ns1:off x="3467100" y="4143375"/>
            <ns1:ext cx="2381250" cy="9525"/>
          </ns1:xfrm>
          <ns1:prstGeom prst="rect">
            <ns1:avLst/>
          </ns1:prstGeom>
          <ns1:solidFill>
            <ns1:srgbClr val="F2CACC"/>
          </ns1:solidFill>
          <ns1:ln w="0">
            <ns1:noFill/>
            <ns1:prstDash val="solid"/>
          </ns1:ln>
        </ns0:spPr>
      </ns0:sp>
      <ns0:sp>
        <ns0:nvSpPr>
          <ns0:cNvPr id="72" name="trace:D20:content.auto.54">
            <ns1:extLst>
              <ns1:ext uri="{FF2B5EF4-FFF2-40B4-BE49-F238E27FC236}">
                <ns2:creationId id="{7D470A19-5EDD-48D4-8CE8-C984A0C072D8}"/>
              </ns1:ext>
            </ns1:extLst>
          </ns0:cNvPr>
          <ns0:cNvSpPr>
            <ns1:spLocks noGrp="1"/>
          </ns0:cNvSpPr>
          <ns0:nvPr/>
        </ns0:nvSpPr>
        <ns0:spPr>
          <ns1:xfrm>
            <ns1:off x="6400800" y="4143375"/>
            <ns1:ext cx="2381250" cy="9525"/>
          </ns1:xfrm>
          <ns1:prstGeom prst="rect">
            <ns1:avLst/>
          </ns1:prstGeom>
          <ns1:solidFill>
            <ns1:srgbClr val="F3D7D7"/>
          </ns1:solidFill>
          <ns1:ln w="0">
            <ns1:noFill/>
            <ns1:prstDash val="solid"/>
          </ns1:ln>
        </ns0:spPr>
      </ns0:sp>
      <ns0:sp>
        <ns0:nvSpPr>
          <ns0:cNvPr id="73" name="trace:D20:content.auto.55">
            <ns1:extLst>
              <ns1:ext uri="{FF2B5EF4-FFF2-40B4-BE49-F238E27FC236}">
                <ns2:creationId id="{DF9F46EC-CC91-4A33-97E3-9B312CE44B4D}"/>
              </ns1:ext>
            </ns1:extLst>
          </ns0:cNvPr>
          <ns0:cNvSpPr>
            <ns1:spLocks noGrp="1"/>
          </ns0:cNvSpPr>
          <ns0:nvPr/>
        </ns0:nvSpPr>
        <ns0:spPr>
          <ns1:xfrm>
            <ns1:off x="590550" y="4276725"/>
            <ns1:ext cx="142875" cy="142875"/>
          </ns1:xfrm>
          <ns1:prstGeom prst="ellipse">
            <ns1:avLst/>
          </ns1:prstGeom>
          <ns1:noFill/>
          <ns1:ln w="23813">
            <ns1:solidFill>
              <ns1:srgbClr val="0E1A2D"/>
            </ns1:solidFill>
            <ns1:prstDash val="solid"/>
          </ns1:ln>
        </ns0:spPr>
      </ns0:sp>
      <ns0:sp>
        <ns0:nvSpPr>
          <ns0:cNvPr id="74" name="trace:D20:content.auto.56">
            <ns1:extLst>
              <ns1:ext uri="{FF2B5EF4-FFF2-40B4-BE49-F238E27FC236}">
                <ns2:creationId id="{D9B5B045-F624-41E2-BDC8-C8DE5EC1D8A0}"/>
              </ns1:ext>
            </ns1:extLst>
          </ns0:cNvPr>
          <ns0:cNvSpPr>
            <ns1:spLocks noGrp="1"/>
          </ns0:cNvSpPr>
          <ns0:nvPr/>
        </ns0:nvSpPr>
        <ns0:spPr>
          <ns1:xfrm rot="2700000">
            <ns1:off x="711994" y="4398169"/>
            <ns1:ext cx="78581" cy="21431"/>
          </ns1:xfrm>
          <ns1:prstGeom prst="rect">
            <ns1:avLst/>
          </ns1:prstGeom>
          <ns1:solidFill>
            <ns1:srgbClr val="0E1A2D"/>
          </ns1:solidFill>
          <ns1:ln w="0">
            <ns1:noFill/>
            <ns1:prstDash val="solid"/>
          </ns1:ln>
        </ns0:spPr>
      </ns0:sp>
      <ns0:sp>
        <ns0:nvSpPr>
          <ns0:cNvPr id="75" name="trace:D20:content.auto.57">
            <ns1:extLst>
              <ns1:ext uri="{FF2B5EF4-FFF2-40B4-BE49-F238E27FC236}">
                <ns2:creationId id="{B4212627-5CAA-4A16-BB44-71035047E5C5}"/>
              </ns1:ext>
            </ns1:extLst>
          </ns0:cNvPr>
          <ns0:cNvSpPr>
            <ns1:spLocks noGrp="1"/>
          </ns0:cNvSpPr>
          <ns0:nvPr/>
        </ns0:nvSpPr>
        <ns0:spPr>
          <ns1:xfrm>
            <ns1:off x="952500" y="4229100"/>
            <ns1:ext cx="1885950" cy="438150"/>
          </ns1:xfrm>
          <ns1:prstGeom prst="rect">
            <ns1:avLst/>
          </ns1:prstGeom>
          <ns1:noFill/>
          <ns1:ln w="0">
            <ns1:noFill/>
            <ns1:prstDash val="solid"/>
          </ns1:ln>
        </ns0:spPr>
        <ns0:txBody>
          <ns1:bodyPr anchor="ctr"/>
          <ns1:lstStyle/>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業界特有の情報整理や</ns1:t>
            </ns1:r>
          </ns1:p>
          <ns1:p>
            <ns1:pPr algn="l">
              <ns1:defRPr sz="900" b="1" i="0">
                <ns1:solidFill>
                  <ns1:srgbClr val="0E1A2D"/>
                </ns1:solidFill>
                <ns1:latin typeface="Yu Gothic"/>
                <ns1:ea typeface="Yu Gothic"/>
                <ns1:cs typeface="Yu Gothic"/>
              </ns1:defRPr>
            </ns1:pPr>
            <ns1:r>
              <ns1:rPr sz="900" b="1" i="0">
                <ns1:solidFill>
                  <ns1:srgbClr val="0E1A2D"/>
                </ns1:solidFill>
                <ns1:latin typeface="Yu Gothic"/>
                <ns1:ea typeface="Yu Gothic"/>
                <ns1:cs typeface="Yu Gothic"/>
              </ns1:rPr>
              <ns1:t>競合調査に時間を要していた</ns1:t>
            </ns1:r>
          </ns1:p>
        </ns0:txBody>
      </ns0:sp>
      <ns0:sp>
        <ns0:nvSpPr>
          <ns0:cNvPr id="76" name="trace:D20:content.auto.58">
            <ns1:extLst>
              <ns1:ext uri="{FF2B5EF4-FFF2-40B4-BE49-F238E27FC236}">
                <ns2:creationId id="{87B49D2B-1E4C-4429-BDC4-1F987FFC1D71}"/>
              </ns1:ext>
            </ns1:extLst>
          </ns0:cNvPr>
          <ns0:cNvSpPr>
            <ns1:spLocks noGrp="1"/>
          </ns0:cNvSpPr>
          <ns0:nvPr/>
        </ns0:nvSpPr>
        <ns0:spPr>
          <ns1:xfrm>
            <ns1:off x="3524250" y="4476750"/>
            <ns1:ext cx="207169" cy="19050"/>
          </ns1:xfrm>
          <ns1:prstGeom prst="rect">
            <ns1:avLst/>
          </ns1:prstGeom>
          <ns1:solidFill>
            <ns1:srgbClr val="ED1C24"/>
          </ns1:solidFill>
          <ns1:ln w="0">
            <ns1:noFill/>
            <ns1:prstDash val="solid"/>
          </ns1:ln>
        </ns0:spPr>
      </ns0:sp>
      <ns0:sp>
        <ns0:nvSpPr>
          <ns0:cNvPr id="77" name="trace:D20:content.auto.59">
            <ns1:extLst>
              <ns1:ext uri="{FF2B5EF4-FFF2-40B4-BE49-F238E27FC236}">
                <ns2:creationId id="{0F476A22-8E7F-497F-9CA3-9FB0E6D1C093}"/>
              </ns1:ext>
            </ns1:extLst>
          </ns0:cNvPr>
          <ns0:cNvSpPr>
            <ns1:spLocks noGrp="1"/>
          </ns0:cNvSpPr>
          <ns0:nvPr/>
        </ns0:nvSpPr>
        <ns0:spPr>
          <ns1:xfrm>
            <ns1:off x="3524250" y="4276725"/>
            <ns1:ext cx="14288" cy="200025"/>
          </ns1:xfrm>
          <ns1:prstGeom prst="rect">
            <ns1:avLst/>
          </ns1:prstGeom>
          <ns1:solidFill>
            <ns1:srgbClr val="ED1C24"/>
          </ns1:solidFill>
          <ns1:ln w="0">
            <ns1:noFill/>
            <ns1:prstDash val="solid"/>
          </ns1:ln>
        </ns0:spPr>
      </ns0:sp>
      <ns0:sp>
        <ns0:nvSpPr>
          <ns0:cNvPr id="78" name="trace:D20:content.auto.60">
            <ns1:extLst>
              <ns1:ext uri="{FF2B5EF4-FFF2-40B4-BE49-F238E27FC236}">
                <ns2:creationId id="{B71B417C-1B3B-460E-BB4A-0C4642CD0EA2}"/>
              </ns1:ext>
            </ns1:extLst>
          </ns0:cNvPr>
          <ns0:cNvSpPr>
            <ns1:spLocks noGrp="1"/>
          </ns0:cNvSpPr>
          <ns0:nvPr/>
        </ns0:nvSpPr>
        <ns0:spPr>
          <ns1:xfrm>
            <ns1:off x="3559969" y="4383881"/>
            <ns1:ext cx="35719" cy="92869"/>
          </ns1:xfrm>
          <ns1:prstGeom prst="rect">
            <ns1:avLst/>
          </ns1:prstGeom>
          <ns1:solidFill>
            <ns1:srgbClr val="ED1C24"/>
          </ns1:solidFill>
          <ns1:ln w="0">
            <ns1:noFill/>
            <ns1:prstDash val="solid"/>
          </ns1:ln>
        </ns0:spPr>
      </ns0:sp>
      <ns0:sp>
        <ns0:nvSpPr>
          <ns0:cNvPr id="79" name="trace:D20:content.auto.61">
            <ns1:extLst>
              <ns1:ext uri="{FF2B5EF4-FFF2-40B4-BE49-F238E27FC236}">
                <ns2:creationId id="{1DBD7588-E59F-4BA6-957E-6792AB8135D4}"/>
              </ns1:ext>
            </ns1:extLst>
          </ns0:cNvPr>
          <ns0:cNvSpPr>
            <ns1:spLocks noGrp="1"/>
          </ns0:cNvSpPr>
          <ns0:nvPr/>
        </ns0:nvSpPr>
        <ns0:spPr>
          <ns1:xfrm>
            <ns1:off x="3617119" y="4341019"/>
            <ns1:ext cx="35719" cy="135731"/>
          </ns1:xfrm>
          <ns1:prstGeom prst="rect">
            <ns1:avLst/>
          </ns1:prstGeom>
          <ns1:solidFill>
            <ns1:srgbClr val="ED1C24"/>
          </ns1:solidFill>
          <ns1:ln w="0">
            <ns1:noFill/>
            <ns1:prstDash val="solid"/>
          </ns1:ln>
        </ns0:spPr>
      </ns0:sp>
      <ns0:sp>
        <ns0:nvSpPr>
          <ns0:cNvPr id="80" name="trace:D20:content.auto.62">
            <ns1:extLst>
              <ns1:ext uri="{FF2B5EF4-FFF2-40B4-BE49-F238E27FC236}">
                <ns2:creationId id="{6BC26541-7ED6-4721-8141-7504A0D2C33C}"/>
              </ns1:ext>
            </ns1:extLst>
          </ns0:cNvPr>
          <ns0:cNvSpPr>
            <ns1:spLocks noGrp="1"/>
          </ns0:cNvSpPr>
          <ns0:nvPr/>
        </ns0:nvSpPr>
        <ns0:spPr>
          <ns1:xfrm>
            <ns1:off x="3674269" y="4298156"/>
            <ns1:ext cx="35719" cy="178594"/>
          </ns1:xfrm>
          <ns1:prstGeom prst="rect">
            <ns1:avLst/>
          </ns1:prstGeom>
          <ns1:solidFill>
            <ns1:srgbClr val="ED1C24"/>
          </ns1:solidFill>
          <ns1:ln w="0">
            <ns1:noFill/>
            <ns1:prstDash val="solid"/>
          </ns1:ln>
        </ns0:spPr>
      </ns0:sp>
      <ns0:sp>
        <ns0:nvSpPr>
          <ns0:cNvPr id="81" name="trace:D20:content.auto.63">
            <ns1:extLst>
              <ns1:ext uri="{FF2B5EF4-FFF2-40B4-BE49-F238E27FC236}">
                <ns2:creationId id="{B9CFD206-2F87-4BAF-92B5-1836E59BF839}"/>
              </ns1:ext>
            </ns1:extLst>
          </ns0:cNvPr>
          <ns0:cNvSpPr>
            <ns1:spLocks noGrp="1"/>
          </ns0:cNvSpPr>
          <ns0:nvPr/>
        </ns0:nvSpPr>
        <ns0:spPr>
          <ns1:xfrm>
            <ns1:off x="3886200" y="4229100"/>
            <ns1:ext cx="1943100" cy="438150"/>
          </ns1:xfrm>
          <ns1:prstGeom prst="rect">
            <ns1:avLst/>
          </ns1:prstGeom>
          <ns1:noFill/>
          <ns1:ln w="0">
            <ns1:noFill/>
            <ns1:prstDash val="solid"/>
          </ns1:ln>
        </ns0:spPr>
        <ns0:txBody>
          <ns1:bodyPr anchor="ctr"/>
          <ns1:lstStyle/>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競合分析や市場データも含めた</ns1:t>
            </ns1:r>
          </ns1:p>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説得力のある提案内容を短時間で準備</ns1:t>
            </ns1:r>
          </ns1:p>
        </ns0:txBody>
      </ns0:sp>
      <ns0:sp>
        <ns0:nvSpPr>
          <ns0:cNvPr id="82" name="trace:D20:content.auto.64">
            <ns1:extLst>
              <ns1:ext uri="{FF2B5EF4-FFF2-40B4-BE49-F238E27FC236}">
                <ns2:creationId id="{47B1B206-F5D6-47B6-9A4D-BC265F6615A7}"/>
              </ns1:ext>
            </ns1:extLst>
          </ns0:cNvPr>
          <ns0:cNvSpPr>
            <ns1:spLocks noGrp="1"/>
          </ns0:cNvSpPr>
          <ns0:nvPr/>
        </ns0:nvSpPr>
        <ns0:spPr>
          <ns1:xfrm rot="-2100000">
            <ns1:off x="6551295" y="4263009"/>
            <ns1:ext cx="22289" cy="222885"/>
          </ns1:xfrm>
          <ns1:prstGeom prst="rect">
            <ns1:avLst/>
          </ns1:prstGeom>
          <ns1:solidFill>
            <ns1:srgbClr val="ED1C24"/>
          </ns1:solidFill>
          <ns1:ln w="0">
            <ns1:noFill/>
            <ns1:prstDash val="solid"/>
          </ns1:ln>
        </ns0:spPr>
      </ns0:sp>
      <ns0:sp>
        <ns0:nvSpPr>
          <ns0:cNvPr id="83" name="trace:D20:content.auto.65">
            <ns1:extLst>
              <ns1:ext uri="{FF2B5EF4-FFF2-40B4-BE49-F238E27FC236}">
                <ns2:creationId id="{8C57D27F-D3CC-4D10-B735-1A9A58AF7C04}"/>
              </ns1:ext>
            </ns1:extLst>
          </ns0:cNvPr>
          <ns0:cNvSpPr>
            <ns1:spLocks noGrp="1"/>
          </ns0:cNvSpPr>
          <ns0:nvPr/>
        </ns0:nvSpPr>
        <ns0:spPr>
          <ns1:xfrm rot="-2100000">
            <ns1:off x="6529007" y="4263009"/>
            <ns1:ext cx="74295" cy="22289"/>
          </ns1:xfrm>
          <ns1:prstGeom prst="rect">
            <ns1:avLst/>
          </ns1:prstGeom>
          <ns1:solidFill>
            <ns1:srgbClr val="ED1C24"/>
          </ns1:solidFill>
          <ns1:ln w="0">
            <ns1:noFill/>
            <ns1:prstDash val="solid"/>
          </ns1:ln>
        </ns0:spPr>
      </ns0:sp>
      <ns0:sp>
        <ns0:nvSpPr>
          <ns0:cNvPr id="84" name="trace:D20:content.auto.66">
            <ns1:extLst>
              <ns1:ext uri="{FF2B5EF4-FFF2-40B4-BE49-F238E27FC236}">
                <ns2:creationId id="{E2BA5E50-D916-468A-8509-BA445A38683B}"/>
              </ns1:ext>
            </ns1:extLst>
          </ns0:cNvPr>
          <ns0:cNvSpPr>
            <ns1:spLocks noGrp="1"/>
          </ns0:cNvSpPr>
          <ns0:nvPr/>
        </ns0:nvSpPr>
        <ns0:spPr>
          <ns1:xfrm rot="-2100000">
            <ns1:off x="6566154" y="4263009"/>
            <ns1:ext cx="22289" cy="74295"/>
          </ns1:xfrm>
          <ns1:prstGeom prst="rect">
            <ns1:avLst/>
          </ns1:prstGeom>
          <ns1:solidFill>
            <ns1:srgbClr val="ED1C24"/>
          </ns1:solidFill>
          <ns1:ln w="0">
            <ns1:noFill/>
            <ns1:prstDash val="solid"/>
          </ns1:ln>
        </ns0:spPr>
      </ns0:sp>
      <ns0:sp>
        <ns0:nvSpPr>
          <ns0:cNvPr id="85" name="trace:D20:content.auto.67">
            <ns1:extLst>
              <ns1:ext uri="{FF2B5EF4-FFF2-40B4-BE49-F238E27FC236}">
                <ns2:creationId id="{F04784D8-4A28-4DEE-B2C5-C111DDA92538}"/>
              </ns1:ext>
            </ns1:extLst>
          </ns0:cNvPr>
          <ns0:cNvSpPr>
            <ns1:spLocks noGrp="1"/>
          </ns0:cNvSpPr>
          <ns0:nvPr/>
        </ns0:nvSpPr>
        <ns0:spPr>
          <ns1:xfrm>
            <ns1:off x="6858000" y="4219575"/>
            <ns1:ext cx="1828800" cy="438150"/>
          </ns1:xfrm>
          <ns1:prstGeom prst="rect">
            <ns1:avLst/>
          </ns1:prstGeom>
          <ns1:noFill/>
          <ns1:ln w="0">
            <ns1:noFill/>
            <ns1:prstDash val="solid"/>
          </ns1:ln>
        </ns0:spPr>
        <ns0:txBody>
          <ns1:bodyPr anchor="ctr"/>
          <ns1:lstStyle/>
          <ns1:p>
            <ns1:pPr algn="l">
              <ns1:defRPr sz="900" b="1" i="0">
                <ns1:solidFill>
                  <ns1:srgbClr val="ED1C24"/>
                </ns1:solidFill>
                <ns1:latin typeface="Yu Gothic"/>
                <ns1:ea typeface="Yu Gothic"/>
                <ns1:cs typeface="Yu Gothic"/>
              </ns1:defRPr>
            </ns1:pPr>
            <ns1:r>
              <ns1:rPr sz="900" b="1" i="0">
                <ns1:solidFill>
                  <ns1:srgbClr val="ED1C24"/>
                </ns1:solidFill>
                <ns1:latin typeface="Yu Gothic"/>
                <ns1:ea typeface="Yu Gothic"/>
                <ns1:cs typeface="Yu Gothic"/>
              </ns1:rPr>
              <ns1:t>社内の提案ナレッジ共有</ns1:t>
            </ns1:r>
          </ns1:p>
          <ns1:p>
            <ns1:pPr algn="l">
              <ns1:defRPr sz="900" b="1" i="0">
                <ns1:solidFill>
                  <ns1:srgbClr val="ED1C24"/>
                </ns1:solidFill>
                <ns1:latin typeface="Yu Gothic"/>
                <ns1:ea typeface="Yu Gothic"/>
                <ns1:cs typeface="Yu Gothic"/>
              </ns1:defRPr>
            </ns1:pPr>
            <ns1:r>
              <ns1:rPr sz="900" b="1" i="0">
                <ns1:solidFill>
                  <ns1:srgbClr val="ED1C24"/>
                </ns1:solidFill>
                <ns1:latin typeface="Yu Gothic"/>
                <ns1:ea typeface="Yu Gothic"/>
                <ns1:cs typeface="Yu Gothic"/>
              </ns1:rPr>
              <ns1:t>大幅に促進</ns1:t>
            </ns1:r>
          </ns1:p>
        </ns0:txBody>
      </ns0:sp>
      <ns0:pic>
        <ns0:nvPicPr>
          <ns0:cNvPr id="206" name="trace:D20:image.1.2"/>
          <ns0:cNvPicPr>
            <ns1:picLocks noChangeAspect="1"/>
          </ns0:cNvPicPr>
          <ns0:nvPr/>
        </ns0:nvPicPr>
        <ns0:blipFill>
          <ns1:blip ns3:embed="R0f086c732004415d"/>
          <ns1:srcRect l="465" t="0" r="465" b="0"/>
          <ns1:stretch>
            <ns1:fillRect l="0" t="0" r="0" b="0"/>
          </ns1:stretch>
        </ns0:blipFill>
        <ns0:spPr>
          <ns1:xfrm>
            <ns1:off x="9096375" y="2447925"/>
            <ns1:ext cx="2809875" cy="2390775"/>
          </ns1:xfrm>
          <ns1:prstGeom prst="roundRect">
            <ns1:avLst>
              <ns1:gd name="adj" fmla="val 3984"/>
            </ns1:avLst>
          </ns1:prstGeom>
        </ns0:spPr>
      </ns0:pic>
      <ns0:sp>
        <ns0:nvSpPr>
          <ns0:cNvPr id="87" name="trace:D20:content.auto.68">
            <ns1:extLst>
              <ns1:ext uri="{FF2B5EF4-FFF2-40B4-BE49-F238E27FC236}">
                <ns2:creationId id="{F7DAC1F2-E4D5-4789-9BD3-C8CDDCA2F32C}"/>
              </ns1:ext>
            </ns1:extLst>
          </ns0:cNvPr>
          <ns0:cNvSpPr>
            <ns1:spLocks noGrp="1"/>
          </ns0:cNvSpPr>
          <ns0:nvPr/>
        </ns0:nvSpPr>
        <ns0:spPr>
          <ns1:xfrm>
            <ns1:off x="285750" y="4905375"/>
            <ns1:ext cx="1276350" cy="304800"/>
          </ns1:xfrm>
          <ns1:prstGeom prst="roundRect">
            <ns1:avLst>
              <ns1:gd name="adj" fmla="val 25000"/>
            </ns1:avLst>
          </ns1:prstGeom>
          <ns1:solidFill>
            <ns1:srgbClr val="142742"/>
          </ns1:solidFill>
          <ns1:ln w="0">
            <ns1:noFill/>
            <ns1:prstDash val="solid"/>
          </ns1:ln>
        </ns0:spPr>
      </ns0:sp>
      <ns0:sp>
        <ns0:nvSpPr>
          <ns0:cNvPr id="88" name="trace:D20:content.auto.69">
            <ns1:extLst>
              <ns1:ext uri="{FF2B5EF4-FFF2-40B4-BE49-F238E27FC236}">
                <ns2:creationId id="{159F7024-04D2-45D3-9C7B-56A4DE42EFE9}"/>
              </ns1:ext>
            </ns1:extLst>
          </ns0:cNvPr>
          <ns0:cNvSpPr>
            <ns1:spLocks noGrp="1"/>
          </ns0:cNvSpPr>
          <ns0:nvPr/>
        </ns0:nvSpPr>
        <ns0:spPr>
          <ns1:xfrm>
            <ns1:off x="419100" y="4924425"/>
            <ns1:ext cx="1009650" cy="266700"/>
          </ns1:xfrm>
          <ns1:prstGeom prst="rect">
            <ns1:avLst/>
          </ns1:prstGeom>
          <ns1:noFill/>
          <ns1:ln w="0">
            <ns1:noFill/>
            <ns1:prstDash val="solid"/>
          </ns1:ln>
        </ns0:spPr>
        <ns0:txBody>
          <ns1:bodyPr anchor="ctr"/>
          <ns1:lstStyle/>
          <ns1:p>
            <ns1:pPr algn="l">
              <ns1:defRPr sz="1200" b="1" i="0">
                <ns1:solidFill>
                  <ns1:srgbClr val="FFFFFF"/>
                </ns1:solidFill>
                <ns1:latin typeface="Yu Gothic"/>
                <ns1:ea typeface="Yu Gothic"/>
                <ns1:cs typeface="Yu Gothic"/>
              </ns1:defRPr>
            </ns1:pPr>
            <ns1:r>
              <ns1:rPr sz="1200" b="1" i="0">
                <ns1:solidFill>
                  <ns1:srgbClr val="FFFFFF"/>
                </ns1:solidFill>
                <ns1:latin typeface="Yu Gothic"/>
                <ns1:ea typeface="Yu Gothic"/>
                <ns1:cs typeface="Yu Gothic"/>
              </ns1:rPr>
              <ns1:t>お客様の声</ns1:t>
            </ns1:r>
          </ns1:p>
        </ns0:txBody>
      </ns0:sp>
      <ns0:pic>
        <ns0:nvPicPr>
          <ns0:cNvPr id="209" name="trace:D20:image.1.3"/>
          <ns0:cNvPicPr>
            <ns1:picLocks noChangeAspect="1"/>
          </ns0:cNvPicPr>
          <ns0:nvPr/>
        </ns0:nvPicPr>
        <ns0:blipFill>
          <ns1:blip ns3:embed="R4629e1c9d099492c"/>
          <ns1:srcRect l="0" t="408" r="0" b="408"/>
          <ns1:stretch>
            <ns1:fillRect l="0" t="0" r="0" b="0"/>
          </ns1:stretch>
        </ns0:blipFill>
        <ns0:spPr>
          <ns1:xfrm>
            <ns1:off x="285750" y="5219700"/>
            <ns1:ext cx="1276350" cy="1066800"/>
          </ns1:xfrm>
          <ns1:prstGeom prst="roundRect">
            <ns1:avLst>
              <ns1:gd name="adj" fmla="val 7143"/>
            </ns1:avLst>
          </ns1:prstGeom>
        </ns0:spPr>
      </ns0:pic>
      <ns0:sp>
        <ns0:nvSpPr>
          <ns0:cNvPr id="90" name="trace:D20:content.auto.70">
            <ns1:extLst>
              <ns1:ext uri="{FF2B5EF4-FFF2-40B4-BE49-F238E27FC236}">
                <ns2:creationId id="{9E5B8130-F085-4771-A375-2A613E255B43}"/>
              </ns1:ext>
            </ns1:extLst>
          </ns0:cNvPr>
          <ns0:cNvSpPr>
            <ns1:spLocks noGrp="1"/>
          </ns0:cNvSpPr>
          <ns0:nvPr/>
        </ns0:nvSpPr>
        <ns0:spPr>
          <ns1:xfrm>
            <ns1:off x="1714500" y="5086350"/>
            <ns1:ext cx="400050" cy="552450"/>
          </ns1:xfrm>
          <ns1:prstGeom prst="rect">
            <ns1:avLst/>
          </ns1:prstGeom>
          <ns1:noFill/>
          <ns1:ln w="0">
            <ns1:noFill/>
            <ns1:prstDash val="solid"/>
          </ns1:ln>
        </ns0:spPr>
        <ns0:txBody>
          <ns1:bodyPr anchor="ctr"/>
          <ns1:lstStyle/>
          <ns1:p>
            <ns1:pPr algn="ctr">
              <ns1:defRPr sz="4350" b="1" i="0">
                <ns1:solidFill>
                  <ns1:srgbClr val="AEBAC8"/>
                </ns1:solidFill>
                <ns1:latin typeface="Yu Gothic"/>
                <ns1:ea typeface="Yu Gothic"/>
                <ns1:cs typeface="Yu Gothic"/>
              </ns1:defRPr>
            </ns1:pPr>
            <ns1:r>
              <ns1:rPr sz="4350" b="1" i="0">
                <ns1:solidFill>
                  <ns1:srgbClr val="AEBAC8"/>
                </ns1:solidFill>
                <ns1:latin typeface="Yu Gothic"/>
                <ns1:ea typeface="Yu Gothic"/>
                <ns1:cs typeface="Yu Gothic"/>
              </ns1:rPr>
              <ns1:t>“</ns1:t>
            </ns1:r>
          </ns1:p>
        </ns0:txBody>
      </ns0:sp>
      <ns0:sp>
        <ns0:nvSpPr>
          <ns0:cNvPr id="91" name="trace:D20:content.auto.71">
            <ns1:extLst>
              <ns1:ext uri="{FF2B5EF4-FFF2-40B4-BE49-F238E27FC236}">
                <ns2:creationId id="{1319F541-62E0-4A9B-B28D-9D016DDCEE2B}"/>
              </ns1:ext>
            </ns1:extLst>
          </ns0:cNvPr>
          <ns0:cNvSpPr>
            <ns1:spLocks noGrp="1"/>
          </ns0:cNvSpPr>
          <ns0:nvPr/>
        </ns0:nvSpPr>
        <ns0:spPr>
          <ns1:xfrm>
            <ns1:off x="2095500" y="5095875"/>
            <ns1:ext cx="5048250" cy="838200"/>
          </ns1:xfrm>
          <ns1:prstGeom prst="rect">
            <ns1:avLst/>
          </ns1:prstGeom>
          <ns1:noFill/>
          <ns1:ln w="0">
            <ns1:noFill/>
            <ns1:prstDash val="solid"/>
          </ns1:ln>
        </ns0:spPr>
        <ns0:txBody>
          <ns1:bodyPr anchor="ctr"/>
          <ns1:lstStyle/>
          <ns1:p>
            <ns1:pPr algn="l">
              <ns1:defRPr sz="975" b="1" i="0">
                <ns1:solidFill>
                  <ns1:srgbClr val="0E1A2D"/>
                </ns1:solidFill>
                <ns1:latin typeface="Yu Gothic"/>
                <ns1:ea typeface="Yu Gothic"/>
                <ns1:cs typeface="Yu Gothic"/>
              </ns1:defRPr>
            </ns1:pPr>
            <ns1:r>
              <ns1:rPr sz="975" b="1" i="0">
                <ns1:solidFill>
                  <ns1:srgbClr val="0E1A2D"/>
                </ns1:solidFill>
                <ns1:latin typeface="Yu Gothic"/>
                <ns1:ea typeface="Yu Gothic"/>
                <ns1:cs typeface="Yu Gothic"/>
              </ns1:rPr>
              <ns1:t>提案資料の作成にかかる時間が大幅に減り、</ns1:t>
            </ns1:r>
          </ns1:p>
          <ns1:p>
            <ns1:pPr algn="l">
              <ns1:defRPr sz="975" b="1" i="0">
                <ns1:solidFill>
                  <ns1:srgbClr val="0E1A2D"/>
                </ns1:solidFill>
                <ns1:latin typeface="Yu Gothic"/>
                <ns1:ea typeface="Yu Gothic"/>
                <ns1:cs typeface="Yu Gothic"/>
              </ns1:defRPr>
            </ns1:pPr>
            <ns1:r>
              <ns1:rPr sz="975" b="1" i="0">
                <ns1:solidFill>
                  <ns1:srgbClr val="0E1A2D"/>
                </ns1:solidFill>
                <ns1:latin typeface="Yu Gothic"/>
                <ns1:ea typeface="Yu Gothic"/>
                <ns1:cs typeface="Yu Gothic"/>
              </ns1:rPr>
              <ns1:t>本来注力すべき顧客との対話や企画の検討に時間を使えるようになりました。</ns1:t>
            </ns1:r>
          </ns1:p>
          <ns1:p>
            <ns1:pPr algn="l">
              <ns1:defRPr sz="975" b="1" i="0">
                <ns1:solidFill>
                  <ns1:srgbClr val="0E1A2D"/>
                </ns1:solidFill>
                <ns1:latin typeface="Yu Gothic"/>
                <ns1:ea typeface="Yu Gothic"/>
                <ns1:cs typeface="Yu Gothic"/>
              </ns1:defRPr>
            </ns1:pPr>
            <ns1:r>
              <ns1:rPr sz="975" b="1" i="0">
                <ns1:solidFill>
                  <ns1:srgbClr val="0E1A2D"/>
                </ns1:solidFill>
                <ns1:latin typeface="Yu Gothic"/>
                <ns1:ea typeface="Yu Gothic"/>
                <ns1:cs typeface="Yu Gothic"/>
              </ns1:rPr>
              <ns1:t>AIが生成する提案の質も高く、社内外からの評価も上がっています。</ns1:t>
            </ns1:r>
          </ns1:p>
        </ns0:txBody>
      </ns0:sp>
      <ns0:sp>
        <ns0:nvSpPr>
          <ns0:cNvPr id="92" name="trace:D20:content.auto.72">
            <ns1:extLst>
              <ns1:ext uri="{FF2B5EF4-FFF2-40B4-BE49-F238E27FC236}">
                <ns2:creationId id="{E1F5AAF9-45B6-4E96-B70B-B65C897D5B76}"/>
              </ns1:ext>
            </ns1:extLst>
          </ns0:cNvPr>
          <ns0:cNvSpPr>
            <ns1:spLocks noGrp="1"/>
          </ns0:cNvSpPr>
          <ns0:nvPr/>
        </ns0:nvSpPr>
        <ns0:spPr>
          <ns1:xfrm>
            <ns1:off x="6667500" y="5572125"/>
            <ns1:ext cx="400050" cy="495300"/>
          </ns1:xfrm>
          <ns1:prstGeom prst="rect">
            <ns1:avLst/>
          </ns1:prstGeom>
          <ns1:noFill/>
          <ns1:ln w="0">
            <ns1:noFill/>
            <ns1:prstDash val="solid"/>
          </ns1:ln>
        </ns0:spPr>
        <ns0:txBody>
          <ns1:bodyPr anchor="ctr"/>
          <ns1:lstStyle/>
          <ns1:p>
            <ns1:pPr algn="ctr">
              <ns1:defRPr sz="4350" b="1" i="0">
                <ns1:solidFill>
                  <ns1:srgbClr val="AEBAC8"/>
                </ns1:solidFill>
                <ns1:latin typeface="Yu Gothic"/>
                <ns1:ea typeface="Yu Gothic"/>
                <ns1:cs typeface="Yu Gothic"/>
              </ns1:defRPr>
            </ns1:pPr>
            <ns1:r>
              <ns1:rPr sz="4350" b="1" i="0">
                <ns1:solidFill>
                  <ns1:srgbClr val="AEBAC8"/>
                </ns1:solidFill>
                <ns1:latin typeface="Yu Gothic"/>
                <ns1:ea typeface="Yu Gothic"/>
                <ns1:cs typeface="Yu Gothic"/>
              </ns1:rPr>
              <ns1:t>”</ns1:t>
            </ns1:r>
          </ns1:p>
        </ns0:txBody>
      </ns0:sp>
      <ns0:sp>
        <ns0:nvSpPr>
          <ns0:cNvPr id="93" name="trace:D20:content.auto.73">
            <ns1:extLst>
              <ns1:ext uri="{FF2B5EF4-FFF2-40B4-BE49-F238E27FC236}">
                <ns2:creationId id="{6FD49CC8-2B6B-41A6-81D2-E69CE8779BEF}"/>
              </ns1:ext>
            </ns1:extLst>
          </ns0:cNvPr>
          <ns0:cNvSpPr>
            <ns1:spLocks noGrp="1"/>
          </ns0:cNvSpPr>
          <ns0:nvPr/>
        </ns0:nvSpPr>
        <ns0:spPr>
          <ns1:xfrm>
            <ns1:off x="2114550" y="5943600"/>
            <ns1:ext cx="38100" cy="333375"/>
          </ns1:xfrm>
          <ns1:prstGeom prst="rect">
            <ns1:avLst/>
          </ns1:prstGeom>
          <ns1:solidFill>
            <ns1:srgbClr val="ED1C24"/>
          </ns1:solidFill>
          <ns1:ln w="0">
            <ns1:noFill/>
            <ns1:prstDash val="solid"/>
          </ns1:ln>
        </ns0:spPr>
      </ns0:sp>
      <ns0:sp>
        <ns0:nvSpPr>
          <ns0:cNvPr id="94" name="trace:D20:content.auto.74">
            <ns1:extLst>
              <ns1:ext uri="{FF2B5EF4-FFF2-40B4-BE49-F238E27FC236}">
                <ns2:creationId id="{D07E2DC4-5C13-40D8-9B55-D4919D7B316D}"/>
              </ns1:ext>
            </ns1:extLst>
          </ns0:cNvPr>
          <ns0:cNvSpPr>
            <ns1:spLocks noGrp="1"/>
          </ns0:cNvSpPr>
          <ns0:nvPr/>
        </ns0:nvSpPr>
        <ns0:spPr>
          <ns1:xfrm>
            <ns1:off x="2247900" y="5943600"/>
            <ns1:ext cx="3048000" cy="352425"/>
          </ns1:xfrm>
          <ns1:prstGeom prst="rect">
            <ns1:avLst/>
          </ns1:prstGeom>
          <ns1:noFill/>
          <ns1:ln w="0">
            <ns1:noFill/>
            <ns1:prstDash val="solid"/>
          </ns1:ln>
        </ns0:spPr>
        <ns0:txBody>
          <ns1:bodyPr anchor="ctr"/>
          <ns1:lstStyle/>
          <ns1:p>
            <ns1:pPr algn="l">
              <ns1:defRPr sz="750" b="1" i="0">
                <ns1:solidFill>
                  <ns1:srgbClr val="0E1A2D"/>
                </ns1:solidFill>
                <ns1:latin typeface="Yu Gothic"/>
                <ns1:ea typeface="Yu Gothic"/>
                <ns1:cs typeface="Yu Gothic"/>
              </ns1:defRPr>
            </ns1:pPr>
            <ns1:r>
              <ns1:rPr sz="750" b="1" i="0">
                <ns1:solidFill>
                  <ns1:srgbClr val="0E1A2D"/>
                </ns1:solidFill>
                <ns1:latin typeface="Yu Gothic"/>
                <ns1:ea typeface="Yu Gothic"/>
                <ns1:cs typeface="Yu Gothic"/>
              </ns1:rPr>
              <ns1:t>株式会社フラワーオークションジャパン</ns1:t>
            </ns1:r>
          </ns1:p>
          <ns1:p>
            <ns1:pPr algn="l">
              <ns1:defRPr sz="750" b="1" i="0">
                <ns1:solidFill>
                  <ns1:srgbClr val="0E1A2D"/>
                </ns1:solidFill>
                <ns1:latin typeface="Yu Gothic"/>
                <ns1:ea typeface="Yu Gothic"/>
                <ns1:cs typeface="Yu Gothic"/>
              </ns1:defRPr>
            </ns1:pPr>
            <ns1:r>
              <ns1:rPr sz="750" b="1" i="0">
                <ns1:solidFill>
                  <ns1:srgbClr val="0E1A2D"/>
                </ns1:solidFill>
                <ns1:latin typeface="Yu Gothic"/>
                <ns1:ea typeface="Yu Gothic"/>
                <ns1:cs typeface="Yu Gothic"/>
              </ns1:rPr>
              <ns1:t>営業企画部 部長 様</ns1:t>
            </ns1:r>
          </ns1:p>
        </ns0:txBody>
      </ns0:sp>
      <ns0:sp>
        <ns0:nvSpPr>
          <ns0:cNvPr id="95" name="trace:D20:content.auto.75">
            <ns1:extLst>
              <ns1:ext uri="{FF2B5EF4-FFF2-40B4-BE49-F238E27FC236}">
                <ns2:creationId id="{259C96BD-97CE-4071-A0B6-E046EB387FDE}"/>
              </ns1:ext>
            </ns1:extLst>
          </ns0:cNvPr>
          <ns0:cNvSpPr>
            <ns1:spLocks noGrp="1"/>
          </ns0:cNvSpPr>
          <ns0:nvPr/>
        </ns0:nvSpPr>
        <ns0:spPr>
          <ns1:xfrm>
            <ns1:off x="7391400" y="4905375"/>
            <ns1:ext cx="4514850" cy="1381125"/>
          </ns1:xfrm>
          <ns1:prstGeom prst="roundRect">
            <ns1:avLst>
              <ns1:gd name="adj" fmla="val 5517"/>
            </ns1:avLst>
          </ns1:prstGeom>
          <ns1:solidFill>
            <ns1:srgbClr val="FFF1F1"/>
          </ns1:solidFill>
          <ns1:ln w="0">
            <ns1:noFill/>
            <ns1:prstDash val="solid"/>
          </ns1:ln>
        </ns0:spPr>
      </ns0:sp>
      <ns0:sp>
        <ns0:nvSpPr>
          <ns0:cNvPr id="96" name="trace:D20:content.auto.76">
            <ns1:extLst>
              <ns1:ext uri="{FF2B5EF4-FFF2-40B4-BE49-F238E27FC236}">
                <ns2:creationId id="{8652A0F0-CBBE-4F1B-8FCD-3FD4763B9FC3}"/>
              </ns1:ext>
            </ns1:extLst>
          </ns0:cNvPr>
          <ns0:cNvSpPr>
            <ns1:spLocks noGrp="1"/>
          </ns0:cNvSpPr>
          <ns0:nvPr/>
        </ns0:nvSpPr>
        <ns0:spPr>
          <ns1:xfrm>
            <ns1:off x="7943850" y="4953000"/>
            <ns1:ext cx="1809750" cy="266700"/>
          </ns1:xfrm>
          <ns1:prstGeom prst="rect">
            <ns1:avLst/>
          </ns1:prstGeom>
          <ns1:noFill/>
          <ns1:ln w="0">
            <ns1:noFill/>
            <ns1:prstDash val="solid"/>
          </ns1:ln>
        </ns0:spPr>
        <ns0:txBody>
          <ns1:bodyPr anchor="ctr"/>
          <ns1:lstStyle/>
          <ns1:p>
            <ns1:pPr algn="ctr">
              <ns1:defRPr sz="1350" b="1" i="0">
                <ns1:solidFill>
                  <ns1:srgbClr val="ED1C24"/>
                </ns1:solidFill>
                <ns1:latin typeface="Yu Gothic"/>
                <ns1:ea typeface="Yu Gothic"/>
                <ns1:cs typeface="Yu Gothic"/>
              </ns1:defRPr>
            </ns1:pPr>
            <ns1:r>
              <ns1:rPr sz="1350" b="1" i="0">
                <ns1:solidFill>
                  <ns1:srgbClr val="ED1C24"/>
                </ns1:solidFill>
                <ns1:latin typeface="Yu Gothic"/>
                <ns1:ea typeface="Yu Gothic"/>
                <ns1:cs typeface="Yu Gothic"/>
              </ns1:rPr>
              <ns1:t>導入の決め手</ns1:t>
            </ns1:r>
          </ns1:p>
        </ns0:txBody>
      </ns0:sp>
      <ns0:sp>
        <ns0:nvSpPr>
          <ns0:cNvPr id="97" name="trace:D20:content.auto.77">
            <ns1:extLst>
              <ns1:ext uri="{FF2B5EF4-FFF2-40B4-BE49-F238E27FC236}">
                <ns2:creationId id="{AC6C28FD-941C-4684-ACDE-72D0E23E1D32}"/>
              </ns1:ext>
            </ns1:extLst>
          </ns0:cNvPr>
          <ns0:cNvSpPr>
            <ns1:spLocks noGrp="1"/>
          </ns0:cNvSpPr>
          <ns0:nvPr/>
        </ns0:nvSpPr>
        <ns0:spPr>
          <ns1:xfrm>
            <ns1:off x="7867650" y="5257800"/>
            <ns1:ext cx="171450" cy="171450"/>
          </ns1:xfrm>
          <ns1:prstGeom prst="ellipse">
            <ns1:avLst/>
          </ns1:prstGeom>
          <ns1:solidFill>
            <ns1:srgbClr val="ED1C24"/>
          </ns1:solidFill>
          <ns1:ln w="0">
            <ns1:noFill/>
            <ns1:prstDash val="solid"/>
          </ns1:ln>
        </ns0:spPr>
      </ns0:sp>
      <ns0:sp>
        <ns0:nvSpPr>
          <ns0:cNvPr id="98" name="trace:D20:content.auto.78">
            <ns1:extLst>
              <ns1:ext uri="{FF2B5EF4-FFF2-40B4-BE49-F238E27FC236}">
                <ns2:creationId id="{7B2625CF-404D-4E85-AF0A-445C689734CF}"/>
              </ns1:ext>
            </ns1:extLst>
          </ns0:cNvPr>
          <ns0:cNvSpPr>
            <ns1:spLocks noGrp="1"/>
          </ns0:cNvSpPr>
          <ns0:nvPr/>
        </ns0:nvSpPr>
        <ns0:spPr>
          <ns1:xfrm rot="2700000">
            <ns1:off x="7910513" y="5336381"/>
            <ns1:ext cx="50006" cy="14288"/>
          </ns1:xfrm>
          <ns1:prstGeom prst="rect">
            <ns1:avLst/>
          </ns1:prstGeom>
          <ns1:solidFill>
            <ns1:srgbClr val="FFFFFF"/>
          </ns1:solidFill>
          <ns1:ln w="0">
            <ns1:noFill/>
            <ns1:prstDash val="solid"/>
          </ns1:ln>
        </ns0:spPr>
      </ns0:sp>
      <ns0:sp>
        <ns0:nvSpPr>
          <ns0:cNvPr id="99" name="trace:D20:content.auto.79">
            <ns1:extLst>
              <ns1:ext uri="{FF2B5EF4-FFF2-40B4-BE49-F238E27FC236}">
                <ns2:creationId id="{2B1A7B2E-A320-461D-9F94-297FC1FF5B3A}"/>
              </ns1:ext>
            </ns1:extLst>
          </ns0:cNvPr>
          <ns0:cNvSpPr>
            <ns1:spLocks noGrp="1"/>
          </ns0:cNvSpPr>
          <ns0:nvPr/>
        </ns0:nvSpPr>
        <ns0:spPr>
          <ns1:xfrm rot="-2700000">
            <ns1:off x="7946231" y="5314950"/>
            <ns1:ext cx="71438" cy="14288"/>
          </ns1:xfrm>
          <ns1:prstGeom prst="rect">
            <ns1:avLst/>
          </ns1:prstGeom>
          <ns1:solidFill>
            <ns1:srgbClr val="FFFFFF"/>
          </ns1:solidFill>
          <ns1:ln w="0">
            <ns1:noFill/>
            <ns1:prstDash val="solid"/>
          </ns1:ln>
        </ns0:spPr>
      </ns0:sp>
      <ns0:sp>
        <ns0:nvSpPr>
          <ns0:cNvPr id="100" name="trace:D20:content.auto.80">
            <ns1:extLst>
              <ns1:ext uri="{FF2B5EF4-FFF2-40B4-BE49-F238E27FC236}">
                <ns2:creationId id="{A5A511E9-7A74-4E52-A17E-C8E46928F4DC}"/>
              </ns1:ext>
            </ns1:extLst>
          </ns0:cNvPr>
          <ns0:cNvSpPr>
            <ns1:spLocks noGrp="1"/>
          </ns0:cNvSpPr>
          <ns0:nvPr/>
        </ns0:nvSpPr>
        <ns0:spPr>
          <ns1:xfrm>
            <ns1:off x="8115300" y="5219700"/>
            <ns1:ext cx="3429000" cy="209550"/>
          </ns1:xfrm>
          <ns1:prstGeom prst="rect">
            <ns1:avLst/>
          </ns1:prstGeom>
          <ns1:noFill/>
          <ns1:ln w="0">
            <ns1:noFill/>
            <ns1:prstDash val="solid"/>
          </ns1:ln>
        </ns0:spPr>
        <ns0:txBody>
          <ns1:bodyPr anchor="ctr"/>
          <ns1:lstStyle/>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業界・業務特性を理解した提案内容の生成力</ns1:t>
            </ns1:r>
          </ns1:p>
        </ns0:txBody>
      </ns0:sp>
      <ns0:sp>
        <ns0:nvSpPr>
          <ns0:cNvPr id="101" name="trace:D20:content.auto.81">
            <ns1:extLst>
              <ns1:ext uri="{FF2B5EF4-FFF2-40B4-BE49-F238E27FC236}">
                <ns2:creationId id="{BE3DB56F-3728-45EB-8A56-CC0F4E9A6D96}"/>
              </ns1:ext>
            </ns1:extLst>
          </ns0:cNvPr>
          <ns0:cNvSpPr>
            <ns1:spLocks noGrp="1"/>
          </ns0:cNvSpPr>
          <ns0:nvPr/>
        </ns0:nvSpPr>
        <ns0:spPr>
          <ns1:xfrm>
            <ns1:off x="7867650" y="5476875"/>
            <ns1:ext cx="171450" cy="171450"/>
          </ns1:xfrm>
          <ns1:prstGeom prst="ellipse">
            <ns1:avLst/>
          </ns1:prstGeom>
          <ns1:solidFill>
            <ns1:srgbClr val="ED1C24"/>
          </ns1:solidFill>
          <ns1:ln w="0">
            <ns1:noFill/>
            <ns1:prstDash val="solid"/>
          </ns1:ln>
        </ns0:spPr>
      </ns0:sp>
      <ns0:sp>
        <ns0:nvSpPr>
          <ns0:cNvPr id="102" name="trace:D20:content.auto.82">
            <ns1:extLst>
              <ns1:ext uri="{FF2B5EF4-FFF2-40B4-BE49-F238E27FC236}">
                <ns2:creationId id="{E5D7A377-D2C6-4480-AECF-AF86E7CCBEC1}"/>
              </ns1:ext>
            </ns1:extLst>
          </ns0:cNvPr>
          <ns0:cNvSpPr>
            <ns1:spLocks noGrp="1"/>
          </ns0:cNvSpPr>
          <ns0:nvPr/>
        </ns0:nvSpPr>
        <ns0:spPr>
          <ns1:xfrm rot="2700000">
            <ns1:off x="7910513" y="5555456"/>
            <ns1:ext cx="50006" cy="14288"/>
          </ns1:xfrm>
          <ns1:prstGeom prst="rect">
            <ns1:avLst/>
          </ns1:prstGeom>
          <ns1:solidFill>
            <ns1:srgbClr val="FFFFFF"/>
          </ns1:solidFill>
          <ns1:ln w="0">
            <ns1:noFill/>
            <ns1:prstDash val="solid"/>
          </ns1:ln>
        </ns0:spPr>
      </ns0:sp>
      <ns0:sp>
        <ns0:nvSpPr>
          <ns0:cNvPr id="103" name="trace:D20:content.auto.83">
            <ns1:extLst>
              <ns1:ext uri="{FF2B5EF4-FFF2-40B4-BE49-F238E27FC236}">
                <ns2:creationId id="{3BE7E6AC-3F52-449C-AC59-8AEE83CF178F}"/>
              </ns1:ext>
            </ns1:extLst>
          </ns0:cNvPr>
          <ns0:cNvSpPr>
            <ns1:spLocks noGrp="1"/>
          </ns0:cNvSpPr>
          <ns0:nvPr/>
        </ns0:nvSpPr>
        <ns0:spPr>
          <ns1:xfrm rot="-2700000">
            <ns1:off x="7946231" y="5534025"/>
            <ns1:ext cx="71438" cy="14288"/>
          </ns1:xfrm>
          <ns1:prstGeom prst="rect">
            <ns1:avLst/>
          </ns1:prstGeom>
          <ns1:solidFill>
            <ns1:srgbClr val="FFFFFF"/>
          </ns1:solidFill>
          <ns1:ln w="0">
            <ns1:noFill/>
            <ns1:prstDash val="solid"/>
          </ns1:ln>
        </ns0:spPr>
      </ns0:sp>
      <ns0:sp>
        <ns0:nvSpPr>
          <ns0:cNvPr id="104" name="trace:D20:content.auto.84">
            <ns1:extLst>
              <ns1:ext uri="{FF2B5EF4-FFF2-40B4-BE49-F238E27FC236}">
                <ns2:creationId id="{F742197E-40A3-43AE-93AE-05BF1C36349E}"/>
              </ns1:ext>
            </ns1:extLst>
          </ns0:cNvPr>
          <ns0:cNvSpPr>
            <ns1:spLocks noGrp="1"/>
          </ns0:cNvSpPr>
          <ns0:nvPr/>
        </ns0:nvSpPr>
        <ns0:spPr>
          <ns1:xfrm>
            <ns1:off x="8115300" y="5438775"/>
            <ns1:ext cx="3429000" cy="209550"/>
          </ns1:xfrm>
          <ns1:prstGeom prst="rect">
            <ns1:avLst/>
          </ns1:prstGeom>
          <ns1:noFill/>
          <ns1:ln w="0">
            <ns1:noFill/>
            <ns1:prstDash val="solid"/>
          </ns1:ln>
        </ns0:spPr>
        <ns0:txBody>
          <ns1:bodyPr anchor="ctr"/>
          <ns1:lstStyle/>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提案資料・見積書・競合分析まで一気通貫で対応</ns1:t>
            </ns1:r>
          </ns1:p>
        </ns0:txBody>
      </ns0:sp>
      <ns0:sp>
        <ns0:nvSpPr>
          <ns0:cNvPr id="105" name="trace:D20:content.auto.85">
            <ns1:extLst>
              <ns1:ext uri="{FF2B5EF4-FFF2-40B4-BE49-F238E27FC236}">
                <ns2:creationId id="{78B45465-EEB1-4007-A5C3-8D3A44B18A6A}"/>
              </ns1:ext>
            </ns1:extLst>
          </ns0:cNvPr>
          <ns0:cNvSpPr>
            <ns1:spLocks noGrp="1"/>
          </ns0:cNvSpPr>
          <ns0:nvPr/>
        </ns0:nvSpPr>
        <ns0:spPr>
          <ns1:xfrm>
            <ns1:off x="7867650" y="5695950"/>
            <ns1:ext cx="171450" cy="171450"/>
          </ns1:xfrm>
          <ns1:prstGeom prst="ellipse">
            <ns1:avLst/>
          </ns1:prstGeom>
          <ns1:solidFill>
            <ns1:srgbClr val="ED1C24"/>
          </ns1:solidFill>
          <ns1:ln w="0">
            <ns1:noFill/>
            <ns1:prstDash val="solid"/>
          </ns1:ln>
        </ns0:spPr>
      </ns0:sp>
      <ns0:sp>
        <ns0:nvSpPr>
          <ns0:cNvPr id="106" name="trace:D20:content.auto.86">
            <ns1:extLst>
              <ns1:ext uri="{FF2B5EF4-FFF2-40B4-BE49-F238E27FC236}">
                <ns2:creationId id="{3D4B4DE5-BF12-442D-971A-F59F8E381DDE}"/>
              </ns1:ext>
            </ns1:extLst>
          </ns0:cNvPr>
          <ns0:cNvSpPr>
            <ns1:spLocks noGrp="1"/>
          </ns0:cNvSpPr>
          <ns0:nvPr/>
        </ns0:nvSpPr>
        <ns0:spPr>
          <ns1:xfrm rot="2700000">
            <ns1:off x="7910513" y="5774531"/>
            <ns1:ext cx="50006" cy="14288"/>
          </ns1:xfrm>
          <ns1:prstGeom prst="rect">
            <ns1:avLst/>
          </ns1:prstGeom>
          <ns1:solidFill>
            <ns1:srgbClr val="FFFFFF"/>
          </ns1:solidFill>
          <ns1:ln w="0">
            <ns1:noFill/>
            <ns1:prstDash val="solid"/>
          </ns1:ln>
        </ns0:spPr>
      </ns0:sp>
      <ns0:sp>
        <ns0:nvSpPr>
          <ns0:cNvPr id="107" name="trace:D20:content.auto.87">
            <ns1:extLst>
              <ns1:ext uri="{FF2B5EF4-FFF2-40B4-BE49-F238E27FC236}">
                <ns2:creationId id="{32A883F1-F000-49A8-B177-3F3EFA7F2D3C}"/>
              </ns1:ext>
            </ns1:extLst>
          </ns0:cNvPr>
          <ns0:cNvSpPr>
            <ns1:spLocks noGrp="1"/>
          </ns0:cNvSpPr>
          <ns0:nvPr/>
        </ns0:nvSpPr>
        <ns0:spPr>
          <ns1:xfrm rot="-2700000">
            <ns1:off x="7946231" y="5753100"/>
            <ns1:ext cx="71438" cy="14288"/>
          </ns1:xfrm>
          <ns1:prstGeom prst="rect">
            <ns1:avLst/>
          </ns1:prstGeom>
          <ns1:solidFill>
            <ns1:srgbClr val="FFFFFF"/>
          </ns1:solidFill>
          <ns1:ln w="0">
            <ns1:noFill/>
            <ns1:prstDash val="solid"/>
          </ns1:ln>
        </ns0:spPr>
      </ns0:sp>
      <ns0:sp>
        <ns0:nvSpPr>
          <ns0:cNvPr id="108" name="trace:D20:content.auto.88">
            <ns1:extLst>
              <ns1:ext uri="{FF2B5EF4-FFF2-40B4-BE49-F238E27FC236}">
                <ns2:creationId id="{89439398-8FEA-452F-9D9A-5927A6E655AF}"/>
              </ns1:ext>
            </ns1:extLst>
          </ns0:cNvPr>
          <ns0:cNvSpPr>
            <ns1:spLocks noGrp="1"/>
          </ns0:cNvSpPr>
          <ns0:nvPr/>
        </ns0:nvSpPr>
        <ns0:spPr>
          <ns1:xfrm>
            <ns1:off x="8115300" y="5657850"/>
            <ns1:ext cx="3429000" cy="209550"/>
          </ns1:xfrm>
          <ns1:prstGeom prst="rect">
            <ns1:avLst/>
          </ns1:prstGeom>
          <ns1:noFill/>
          <ns1:ln w="0">
            <ns1:noFill/>
            <ns1:prstDash val="solid"/>
          </ns1:ln>
        </ns0:spPr>
        <ns0:txBody>
          <ns1:bodyPr anchor="ctr"/>
          <ns1:lstStyle/>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操作がシンプルで、現場ですぐに使える</ns1:t>
            </ns1:r>
          </ns1:p>
        </ns0:txBody>
      </ns0:sp>
      <ns0:sp>
        <ns0:nvSpPr>
          <ns0:cNvPr id="109" name="trace:D20:content.auto.89">
            <ns1:extLst>
              <ns1:ext uri="{FF2B5EF4-FFF2-40B4-BE49-F238E27FC236}">
                <ns2:creationId id="{F3AF91D5-E1DC-469C-A7DC-237314E92A51}"/>
              </ns1:ext>
            </ns1:extLst>
          </ns0:cNvPr>
          <ns0:cNvSpPr>
            <ns1:spLocks noGrp="1"/>
          </ns0:cNvSpPr>
          <ns0:nvPr/>
        </ns0:nvSpPr>
        <ns0:spPr>
          <ns1:xfrm>
            <ns1:off x="7867650" y="5915025"/>
            <ns1:ext cx="171450" cy="171450"/>
          </ns1:xfrm>
          <ns1:prstGeom prst="ellipse">
            <ns1:avLst/>
          </ns1:prstGeom>
          <ns1:solidFill>
            <ns1:srgbClr val="ED1C24"/>
          </ns1:solidFill>
          <ns1:ln w="0">
            <ns1:noFill/>
            <ns1:prstDash val="solid"/>
          </ns1:ln>
        </ns0:spPr>
      </ns0:sp>
      <ns0:sp>
        <ns0:nvSpPr>
          <ns0:cNvPr id="110" name="trace:D20:content.auto.90">
            <ns1:extLst>
              <ns1:ext uri="{FF2B5EF4-FFF2-40B4-BE49-F238E27FC236}">
                <ns2:creationId id="{4ED40DF8-75A0-4583-9E04-F8CD06758C97}"/>
              </ns1:ext>
            </ns1:extLst>
          </ns0:cNvPr>
          <ns0:cNvSpPr>
            <ns1:spLocks noGrp="1"/>
          </ns0:cNvSpPr>
          <ns0:nvPr/>
        </ns0:nvSpPr>
        <ns0:spPr>
          <ns1:xfrm rot="2700000">
            <ns1:off x="7910513" y="5993606"/>
            <ns1:ext cx="50006" cy="14288"/>
          </ns1:xfrm>
          <ns1:prstGeom prst="rect">
            <ns1:avLst/>
          </ns1:prstGeom>
          <ns1:solidFill>
            <ns1:srgbClr val="FFFFFF"/>
          </ns1:solidFill>
          <ns1:ln w="0">
            <ns1:noFill/>
            <ns1:prstDash val="solid"/>
          </ns1:ln>
        </ns0:spPr>
      </ns0:sp>
      <ns0:sp>
        <ns0:nvSpPr>
          <ns0:cNvPr id="111" name="trace:D20:content.auto.91">
            <ns1:extLst>
              <ns1:ext uri="{FF2B5EF4-FFF2-40B4-BE49-F238E27FC236}">
                <ns2:creationId id="{7C83A408-23EE-4AF6-B1C5-250484EA5B5D}"/>
              </ns1:ext>
            </ns1:extLst>
          </ns0:cNvPr>
          <ns0:cNvSpPr>
            <ns1:spLocks noGrp="1"/>
          </ns0:cNvSpPr>
          <ns0:nvPr/>
        </ns0:nvSpPr>
        <ns0:spPr>
          <ns1:xfrm rot="-2700000">
            <ns1:off x="7946231" y="5972175"/>
            <ns1:ext cx="71438" cy="14288"/>
          </ns1:xfrm>
          <ns1:prstGeom prst="rect">
            <ns1:avLst/>
          </ns1:prstGeom>
          <ns1:solidFill>
            <ns1:srgbClr val="FFFFFF"/>
          </ns1:solidFill>
          <ns1:ln w="0">
            <ns1:noFill/>
            <ns1:prstDash val="solid"/>
          </ns1:ln>
        </ns0:spPr>
      </ns0:sp>
      <ns0:sp>
        <ns0:nvSpPr>
          <ns0:cNvPr id="112" name="trace:D20:content.auto.92">
            <ns1:extLst>
              <ns1:ext uri="{FF2B5EF4-FFF2-40B4-BE49-F238E27FC236}">
                <ns2:creationId id="{CF1DF38B-568C-4805-A3B4-29C40D9232FF}"/>
              </ns1:ext>
            </ns1:extLst>
          </ns0:cNvPr>
          <ns0:cNvSpPr>
            <ns1:spLocks noGrp="1"/>
          </ns0:cNvSpPr>
          <ns0:nvPr/>
        </ns0:nvSpPr>
        <ns0:spPr>
          <ns1:xfrm>
            <ns1:off x="8115300" y="5876925"/>
            <ns1:ext cx="3429000" cy="209550"/>
          </ns1:xfrm>
          <ns1:prstGeom prst="rect">
            <ns1:avLst/>
          </ns1:prstGeom>
          <ns1:noFill/>
          <ns1:ln w="0">
            <ns1:noFill/>
            <ns1:prstDash val="solid"/>
          </ns1:ln>
        </ns0:spPr>
        <ns0:txBody>
          <ns1:bodyPr anchor="ctr"/>
          <ns1:lstStyle/>
          <ns1:p>
            <ns1:pPr algn="l">
              <ns1:defRPr sz="825" b="1" i="0">
                <ns1:solidFill>
                  <ns1:srgbClr val="0E1A2D"/>
                </ns1:solidFill>
                <ns1:latin typeface="Yu Gothic"/>
                <ns1:ea typeface="Yu Gothic"/>
                <ns1:cs typeface="Yu Gothic"/>
              </ns1:defRPr>
            </ns1:pPr>
            <ns1:r>
              <ns1:rPr sz="825" b="1" i="0">
                <ns1:solidFill>
                  <ns1:srgbClr val="0E1A2D"/>
                </ns1:solidFill>
                <ns1:latin typeface="Yu Gothic"/>
                <ns1:ea typeface="Yu Gothic"/>
                <ns1:cs typeface="Yu Gothic"/>
              </ns1:rPr>
              <ns1:t>セキュリティ・ガバナンス体制の安心感</ns1:t>
            </ns1:r>
          </ns1:p>
        </ns0:txBody>
      </ns0:sp>
      <ns0:sp>
        <ns0:nvSpPr>
          <ns0:cNvPr id="113" name="trace:D20:content.auto.93">
            <ns1:extLst>
              <ns1:ext uri="{FF2B5EF4-FFF2-40B4-BE49-F238E27FC236}">
                <ns2:creationId id="{16B63F48-7E49-4630-956F-99E5EB356444}"/>
              </ns1:ext>
            </ns1:extLst>
          </ns0:cNvPr>
          <ns0:cNvSpPr>
            <ns1:spLocks noGrp="1"/>
          </ns0:cNvSpPr>
          <ns0:nvPr/>
        </ns0:nvSpPr>
        <ns0:spPr>
          <ns1:xfrm>
            <ns1:off x="333375" y="6410325"/>
            <ns1:ext cx="171450" cy="85725"/>
          </ns1:xfrm>
          <ns1:prstGeom prst="parallelogram">
            <ns1:avLst/>
          </ns1:prstGeom>
          <ns1:solidFill>
            <ns1:srgbClr val="ED1C24"/>
          </ns1:solidFill>
          <ns1:ln w="0">
            <ns1:noFill/>
            <ns1:prstDash val="solid"/>
          </ns1:ln>
        </ns0:spPr>
      </ns0:sp>
      <ns0:sp>
        <ns0:nvSpPr>
          <ns0:cNvPr id="114" name="trace:D20:content.auto.94">
            <ns1:extLst>
              <ns1:ext uri="{FF2B5EF4-FFF2-40B4-BE49-F238E27FC236}">
                <ns2:creationId id="{CF8ABE6C-D034-428E-A084-C1CB87991706}"/>
              </ns1:ext>
            </ns1:extLst>
          </ns0:cNvPr>
          <ns0:cNvSpPr>
            <ns1:spLocks noGrp="1"/>
          </ns0:cNvSpPr>
          <ns0:nvPr/>
        </ns0:nvSpPr>
        <ns0:spPr>
          <ns1:xfrm>
            <ns1:off x="323850" y="6496050"/>
            <ns1:ext cx="171450" cy="85725"/>
          </ns1:xfrm>
          <ns1:prstGeom prst="parallelogram">
            <ns1:avLst/>
          </ns1:prstGeom>
          <ns1:solidFill>
            <ns1:srgbClr val="8A919A"/>
          </ns1:solidFill>
          <ns1:ln w="0">
            <ns1:noFill/>
            <ns1:prstDash val="solid"/>
          </ns1:ln>
        </ns0:spPr>
      </ns0:sp>
      <ns0:sp>
        <ns0:nvSpPr>
          <ns0:cNvPr id="115" name="trace:D20:content.auto.95">
            <ns1:extLst>
              <ns1:ext uri="{FF2B5EF4-FFF2-40B4-BE49-F238E27FC236}">
                <ns2:creationId id="{ED82AE48-2E3B-47B5-83F9-885112DA87E2}"/>
              </ns1:ext>
            </ns1:extLst>
          </ns0:cNvPr>
          <ns0:cNvSpPr>
            <ns1:spLocks noGrp="1"/>
          </ns0:cNvSpPr>
          <ns0:nvPr/>
        </ns0:nvSpPr>
        <ns0:spPr>
          <ns1:xfrm>
            <ns1:off x="314325" y="6581775"/>
            <ns1:ext cx="171450" cy="85725"/>
          </ns1:xfrm>
          <ns1:prstGeom prst="parallelogram">
            <ns1:avLst/>
          </ns1:prstGeom>
          <ns1:solidFill>
            <ns1:srgbClr val="0E1A2D"/>
          </ns1:solidFill>
          <ns1:ln w="0">
            <ns1:noFill/>
            <ns1:prstDash val="solid"/>
          </ns1:ln>
        </ns0:spPr>
      </ns0:sp>
      <ns0:sp>
        <ns0:nvSpPr>
          <ns0:cNvPr id="116" name="trace:D20:footer.brand">
            <ns1:extLst>
              <ns1:ext uri="{FF2B5EF4-FFF2-40B4-BE49-F238E27FC236}">
                <ns2:creationId id="{BC8176A8-3716-4387-BDA2-F323CC71547C}"/>
              </ns1:ext>
            </ns1:extLst>
          </ns0:cNvPr>
          <ns0:cNvSpPr>
            <ns1:spLocks noGrp="1"/>
          </ns0:cNvSpPr>
          <ns0:nvPr/>
        </ns0:nvSpPr>
        <ns0:spPr>
          <ns1:xfrm>
            <ns1:off x="695325" y="6400800"/>
            <ns1:ext cx="1428750" cy="247650"/>
          </ns1:xfrm>
          <ns1:prstGeom prst="rect">
            <ns1:avLst/>
          </ns1:prstGeom>
          <ns1:noFill/>
          <ns1:ln w="0">
            <ns1:noFill/>
            <ns1:prstDash val="solid"/>
          </ns1:ln>
        </ns0:spPr>
        <ns0:txBody>
          <ns1:bodyPr anchor="ctr"/>
          <ns1:lstStyle/>
          <ns1:p>
            <ns1:pPr algn="l">
              <ns1:defRPr sz="1350" b="1" i="0">
                <ns1:solidFill>
                  <ns1:srgbClr val="0E1A2D"/>
                </ns1:solidFill>
                <ns1:latin typeface="Yu Gothic"/>
                <ns1:ea typeface="Yu Gothic"/>
                <ns1:cs typeface="Yu Gothic"/>
              </ns1:defRPr>
            </ns1:pPr>
            <ns1:r>
              <ns1:rPr sz="1350" b="1" i="0">
                <ns1:solidFill>
                  <ns1:srgbClr val="0E1A2D"/>
                </ns1:solidFill>
                <ns1:latin typeface="Yu Gothic"/>
                <ns1:ea typeface="Yu Gothic"/>
                <ns1:cs typeface="Yu Gothic"/>
              </ns1:rPr>
              <ns1:t>提案クエスト</ns1:t>
            </ns1:r>
          </ns1:p>
        </ns0:txBody>
      </ns0:sp>
      <ns0:sp>
        <ns0:nvSpPr>
          <ns0:cNvPr id="117" name="trace:D20:content.auto.96">
            <ns1:extLst>
              <ns1:ext uri="{FF2B5EF4-FFF2-40B4-BE49-F238E27FC236}">
                <ns2:creationId id="{0B06457D-CF09-435F-BE62-6B8041F95FED}"/>
              </ns1:ext>
            </ns1:extLst>
          </ns0:cNvPr>
          <ns0:cNvSpPr>
            <ns1:spLocks noGrp="1"/>
          </ns0:cNvSpPr>
          <ns0:nvPr/>
        </ns0:nvSpPr>
        <ns0:spPr>
          <ns1:xfrm>
            <ns1:off x="2209800" y="6400800"/>
            <ns1:ext cx="9525" cy="285750"/>
          </ns1:xfrm>
          <ns1:prstGeom prst="rect">
            <ns1:avLst/>
          </ns1:prstGeom>
          <ns1:solidFill>
            <ns1:srgbClr val="0E1A2D"/>
          </ns1:solidFill>
          <ns1:ln w="0">
            <ns1:noFill/>
            <ns1:prstDash val="solid"/>
          </ns1:ln>
        </ns0:spPr>
      </ns0:sp>
      <ns0:sp>
        <ns0:nvSpPr>
          <ns0:cNvPr id="118" name="trace:D20:footer.tagline.jp">
            <ns1:extLst>
              <ns1:ext uri="{FF2B5EF4-FFF2-40B4-BE49-F238E27FC236}">
                <ns2:creationId id="{D7DBC3A5-125A-4720-B8BE-A75790F65DFE}"/>
              </ns1:ext>
            </ns1:extLst>
          </ns0:cNvPr>
          <ns0:cNvSpPr>
            <ns1:spLocks noGrp="1"/>
          </ns0:cNvSpPr>
          <ns0:nvPr/>
        </ns0:nvSpPr>
        <ns0:spPr>
          <ns1:xfrm>
            <ns1:off x="2362200" y="6372225"/>
            <ns1:ext cx="3333750" cy="333375"/>
          </ns1:xfrm>
          <ns1:prstGeom prst="rect">
            <ns1:avLst/>
          </ns1:prstGeom>
          <ns1:noFill/>
          <ns1:ln w="0">
            <ns1:noFill/>
            <ns1:prstDash val="solid"/>
          </ns1:ln>
        </ns0:spPr>
        <ns0:txBody>
          <ns1:bodyPr anchor="ctr"/>
          <ns1:lstStyle/>
          <ns1:p>
            <ns1:pPr algn="l">
              <ns1:defRPr sz="750" b="1" i="0">
                <ns1:solidFill>
                  <ns1:srgbClr val="0E1A2D"/>
                </ns1:solidFill>
                <ns1:latin typeface="Yu Gothic"/>
                <ns1:ea typeface="Yu Gothic"/>
                <ns1:cs typeface="Yu Gothic"/>
              </ns1:defRPr>
            </ns1:pPr>
            <ns1:r>
              <ns1:rPr sz="750" b="1" i="0">
                <ns1:solidFill>
                  <ns1:srgbClr val="0E1A2D"/>
                </ns1:solidFill>
                <ns1:latin typeface="Yu Gothic"/>
                <ns1:ea typeface="Yu Gothic"/>
                <ns1:cs typeface="Yu Gothic"/>
              </ns1:rPr>
              <ns1:t>人とテクノロジーで、より良い社会をつくる</ns1:t>
            </ns1:r>
          </ns1:p>
          <ns1:p>
            <ns1:pPr algn="l">
              <ns1:defRPr sz="750" b="1" i="0">
                <ns1:solidFill>
                  <ns1:srgbClr val="0E1A2D"/>
                </ns1:solidFill>
                <ns1:latin typeface="Yu Gothic"/>
                <ns1:ea typeface="Yu Gothic"/>
                <ns1:cs typeface="Yu Gothic"/>
              </ns1:defRPr>
            </ns1:pPr>
            <ns1:r>
              <ns1:rPr sz="750" b="1" i="0">
                <ns1:solidFill>
                  <ns1:srgbClr val="0E1A2D"/>
                </ns1:solidFill>
                <ns1:latin typeface="Yu Gothic"/>
                <ns1:ea typeface="Yu Gothic"/>
                <ns1:cs typeface="Yu Gothic"/>
              </ns1:rPr>
              <ns1:t>Think Together, Create the Next.</ns1:t>
            </ns1:r>
          </ns1:p>
        </ns0:txBody>
      </ns0:sp>
      <ns0:sp>
        <ns0:nvSpPr>
          <ns0:cNvPr id="119" name="trace:D20:footer.date">
            <ns1:extLst>
              <ns1:ext uri="{FF2B5EF4-FFF2-40B4-BE49-F238E27FC236}">
                <ns2:creationId id="{C1B196E1-0EF7-4833-8EB3-207D5A0ACC3A}"/>
              </ns1:ext>
            </ns1:extLst>
          </ns0:cNvPr>
          <ns0:cNvSpPr>
            <ns1:spLocks noGrp="1"/>
          </ns0:cNvSpPr>
          <ns0:nvPr/>
        </ns0:nvSpPr>
        <ns0:spPr>
          <ns1:xfrm>
            <ns1:off x="10668000" y="6381750"/>
            <ns1:ext cx="904875" cy="171450"/>
          </ns1:xfrm>
          <ns1:prstGeom prst="rect">
            <ns1:avLst/>
          </ns1:prstGeom>
          <ns1:noFill/>
          <ns1:ln w="0">
            <ns1:noFill/>
            <ns1:prstDash val="solid"/>
          </ns1:ln>
        </ns0:spPr>
        <ns0:txBody>
          <ns1:bodyPr anchor="ctr"/>
          <ns1:lstStyle/>
          <ns1:p>
            <ns1:pPr algn="r">
              <ns1:defRPr sz="750" b="1" i="0">
                <ns1:solidFill>
                  <ns1:srgbClr val="0E1A2D"/>
                </ns1:solidFill>
                <ns1:latin typeface="Yu Gothic"/>
                <ns1:ea typeface="Yu Gothic"/>
                <ns1:cs typeface="Yu Gothic"/>
              </ns1:defRPr>
            </ns1:pPr>
            <ns1:r>
              <ns1:rPr sz="750" b="1" i="0">
                <ns1:solidFill>
                  <ns1:srgbClr val="0E1A2D"/>
                </ns1:solidFill>
                <ns1:latin typeface="Yu Gothic"/>
                <ns1:ea typeface="Yu Gothic"/>
                <ns1:cs typeface="Yu Gothic"/>
              </ns1:rPr>
              <ns1:t>2026.08.26</ns1:t>
            </ns1:r>
          </ns1:p>
        </ns0:txBody>
      </ns0:sp>
      <ns0:sp>
        <ns0:nvSpPr>
          <ns0:cNvPr id="120" name="trace:D20:content.auto.97">
            <ns1:extLst>
              <ns1:ext uri="{FF2B5EF4-FFF2-40B4-BE49-F238E27FC236}">
                <ns2:creationId id="{F433A795-3454-4BF9-B1D9-7566D9D2D98C}"/>
              </ns1:ext>
            </ns1:extLst>
          </ns0:cNvPr>
          <ns0:cNvSpPr>
            <ns1:spLocks noGrp="1"/>
          </ns0:cNvSpPr>
          <ns0:nvPr/>
        </ns0:nvSpPr>
        <ns0:spPr>
          <ns1:xfrm>
            <ns1:off x="11677650" y="6457950"/>
            <ns1:ext cx="247650" cy="9525"/>
          </ns1:xfrm>
          <ns1:prstGeom prst="rect">
            <ns1:avLst/>
          </ns1:prstGeom>
          <ns1:solidFill>
            <ns1:srgbClr val="0E1A2D"/>
          </ns1:solidFill>
          <ns1:ln w="0">
            <ns1:noFill/>
            <ns1:prstDash val="solid"/>
          </ns1:ln>
        </ns0:spPr>
      </ns0:sp>
    </ns0:spTree>
    <ns0:extLst>
      <ns0:ext uri="{BB962C8B-B14F-4D97-AF65-F5344CB8AC3E}">
        <ns4:creationId val="1734225197"/>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2026-09-20T22:06:12.1550000Z</dcterms:created>
  <dcterms:modified xsi:type="dcterms:W3CDTF">2026-09-20T22:06:12.1560000Z</dcterms:modified>
</coreProperties>
</file>