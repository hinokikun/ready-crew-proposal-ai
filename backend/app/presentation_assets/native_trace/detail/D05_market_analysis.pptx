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00b30ef0294fd3" /><Relationship Type="http://schemas.openxmlformats.org/officeDocument/2006/relationships/extended-properties" Target="/docProps/app.xml" Id="R1aac1acb02c44940" /><Relationship Type="http://schemas.openxmlformats.org/officeDocument/2006/relationships/officeDocument" Target="/ppt/presentation.xml" Id="R9aa62f86f2d042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3d4cdcaafa4be7"/>
  </p:sldMasterIdLst>
  <p:notesMasterIdLst>
    <p:notesMasterId xmlns:r="http://schemas.openxmlformats.org/officeDocument/2006/relationships" r:id="Rd22a5f7dba3b460b"/>
  </p:notesMasterIdLst>
  <p:sldIdLst>
    <p:sldId xmlns:r="http://schemas.openxmlformats.org/officeDocument/2006/relationships" id="256" r:id="Rd2f63e3a72374458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f68740c7964a5b" /><Relationship Type="http://schemas.openxmlformats.org/officeDocument/2006/relationships/slideMaster" Target="/ppt/slideMasters/slideMaster1.xml" Id="R6a3d4cdcaafa4be7" /><Relationship Type="http://schemas.openxmlformats.org/officeDocument/2006/relationships/notesMaster" Target="/ppt/notesMasters/notesMaster1.xml" Id="Rd22a5f7dba3b460b" /><Relationship Type="http://schemas.openxmlformats.org/officeDocument/2006/relationships/presProps" Target="/ppt/presProps.xml" Id="Rbcf631fbbad54ba6" /><Relationship Type="http://schemas.openxmlformats.org/officeDocument/2006/relationships/tableStyles" Target="/ppt/tableStyles.xml" Id="R22eca758b18442a6" /><Relationship Type="http://schemas.openxmlformats.org/officeDocument/2006/relationships/slide" Target="/ppt/slides/slide1.xml" Id="Rd2f63e3a7237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832a0019cf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20a217f3a04d4b" /><Relationship Type="http://schemas.openxmlformats.org/officeDocument/2006/relationships/notesMaster" Target="/ppt/notesMasters/notesMaster1.xml" Id="Rd0397eec577b40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D05 market-analysis replacement native trace. Canonical image is the sole visual authority; all content is editable native text, shapes, chart bars, connectors, and icons. The right-side photo is a limited crop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d2ccd9f9d41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65543838154ab2" /><Relationship Type="http://schemas.openxmlformats.org/officeDocument/2006/relationships/slideLayout" Target="/ppt/slideLayouts/slideLayout1.xml" Id="R102fdb89e5e348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fdb89e5e348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e658b44eb4005" /><Relationship Type="http://schemas.openxmlformats.org/officeDocument/2006/relationships/image" Target="/ppt/media/image.png" Id="Ra157df214ce74242" /><Relationship Type="http://schemas.openxmlformats.org/officeDocument/2006/relationships/notesSlide" Target="/ppt/notesSlides/notesSlide1.xml" Id="R59f7387c567c4ef2" 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188" name="trace:D05:image.1"/>
          <ns0:cNvPicPr>
            <ns1:picLocks noChangeAspect="1"/>
          </ns0:cNvPicPr>
          <ns0:nvPr/>
        </ns0:nvPicPr>
        <ns0:blipFill>
          <ns1:blip ns2:embed="Ra157df214ce74242"/>
          <ns1:srcRect l="0" t="0" r="0" b="0"/>
          <ns1:stretch>
            <ns1:fillRect l="0" t="0" r="0" b="0"/>
          </ns1:stretch>
        </ns0:blipFill>
        <ns0:spPr>
          <ns1:xfrm>
            <ns1:off x="12192000" y="0"/>
            <ns1:ext cx="3733800" cy="6286500"/>
          </ns1:xfrm>
          <ns1:prstGeom prst="rect">
            <ns1:avLst/>
          </ns1:prstGeom>
        </ns0:spPr>
      </ns0:pic>
      <ns0:sp>
        <ns0:nvSpPr>
          <ns0:cNvPr id="2" name="trace:D05:content.auto">
            <ns1:extLst>
              <ns1:ext uri="{FF2B5EF4-FFF2-40B4-BE49-F238E27FC236}">
                <ns3:creationId id="{FF01EA2D-D5FE-4F3C-95B2-D330395B738E}"/>
              </ns1:ext>
            </ns1:extLst>
          </ns0:cNvPr>
          <ns0:cNvSpPr>
            <ns1:spLocks noGrp="1"/>
          </ns0:cNvSpPr>
          <ns0:nvPr/>
        </ns0:nvSpPr>
        <ns0:spPr>
          <ns1:xfrm>
            <ns1:off x="10334625" y="0"/>
            <ns1:ext cx="2905125" cy="4953000"/>
          </ns1:xfrm>
          <ns1:custGeom>
            <ns1:pathLst>
              <ns1:path w="2905125" h="4953000">
                <ns1:moveTo>
                  <ns1:pt x="1857375" y="0"/>
                </ns1:moveTo>
                <ns1:lnTo>
                  <ns1:pt x="2905125" y="0"/>
                </ns1:lnTo>
                <ns1:lnTo>
                  <ns1:pt x="104775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3" name="trace:D05:content.auto.2">
            <ns1:extLst>
              <ns1:ext uri="{FF2B5EF4-FFF2-40B4-BE49-F238E27FC236}">
                <ns3:creationId id="{4753300F-19B9-4682-AAD0-3B0E6F40583C}"/>
              </ns1:ext>
            </ns1:extLst>
          </ns0:cNvPr>
          <ns0:cNvSpPr>
            <ns1:spLocks noGrp="1"/>
          </ns0:cNvSpPr>
          <ns0:nvPr/>
        </ns0:nvSpPr>
        <ns0:spPr>
          <ns1:xfrm>
            <ns1:off x="11382375" y="0"/>
            <ns1:ext cx="2143125" cy="5000625"/>
          </ns1:xfrm>
          <ns1:custGeom>
            <ns1:pathLst>
              <ns1:path w="2143125" h="5000625">
                <ns1:moveTo>
                  <ns1:pt x="1857375" y="0"/>
                </ns1:moveTo>
                <ns1:lnTo>
                  <ns1:pt x="2143125" y="0"/>
                </ns1:lnTo>
                <ns1:lnTo>
                  <ns1:pt x="285750" y="5000625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4" name="trace:D05:content.auto.3">
            <ns1:extLst>
              <ns1:ext uri="{FF2B5EF4-FFF2-40B4-BE49-F238E27FC236}">
                <ns3:creationId id="{B599CB13-BF61-4810-9173-19BF36CD912B}"/>
              </ns1:ext>
            </ns1:extLst>
          </ns0:cNvPr>
          <ns0:cNvSpPr>
            <ns1:spLocks noGrp="1"/>
          </ns0:cNvSpPr>
          <ns0:nvPr/>
        </ns0:nvSpPr>
        <ns0:spPr>
          <ns1:xfrm>
            <ns1:off x="11668125" y="0"/>
            <ns1:ext cx="2095500" cy="5048250"/>
          </ns1:xfrm>
          <ns1:custGeom>
            <ns1:pathLst>
              <ns1:path w="2095500" h="5048250">
                <ns1:moveTo>
                  <ns1:pt x="1857375" y="0"/>
                </ns1:moveTo>
                <ns1:lnTo>
                  <ns1:pt x="2095500" y="0"/>
                </ns1:lnTo>
                <ns1:lnTo>
                  <ns1:pt x="238125" y="5048250"/>
                </ns1:lnTo>
                <ns1:lnTo>
                  <ns1:pt x="0" y="5000625"/>
                </ns1:lnTo>
                <ns1:close/>
              </ns1:path>
            </ns1:pathLst>
          </ns1:custGeom>
          <ns1:solidFill>
            <ns1:srgbClr val="F2F4F6"/>
          </ns1:solidFill>
          <ns1:ln w="0">
            <ns1:noFill/>
            <ns1:prstDash val="solid"/>
          </ns1:ln>
        </ns0:spPr>
      </ns0:sp>
      <ns0:sp>
        <ns0:nvSpPr>
          <ns0:cNvPr id="5" name="trace:D05:content.auto.4">
            <ns1:extLst>
              <ns1:ext uri="{FF2B5EF4-FFF2-40B4-BE49-F238E27FC236}">
                <ns3:creationId id="{339B68B0-F15C-41E3-ACC2-4368405C1D77}"/>
              </ns1:ext>
            </ns1:extLst>
          </ns0:cNvPr>
          <ns0:cNvSpPr>
            <ns1:spLocks noGrp="1"/>
          </ns0:cNvSpPr>
          <ns0:nvPr/>
        </ns0:nvSpPr>
        <ns0:spPr>
          <ns1:xfrm>
            <ns1:off x="12592050" y="7029450"/>
            <ns1:ext cx="3333750" cy="1933575"/>
          </ns1:xfrm>
          <ns1:custGeom>
            <ns1:pathLst>
              <ns1:path w="3333750" h="1933575">
                <ns1:moveTo>
                  <ns1:pt x="0" y="1933575"/>
                </ns1:moveTo>
                <ns1:lnTo>
                  <ns1:pt x="3333750" y="0"/>
                </ns1:lnTo>
                <ns1:lnTo>
                  <ns1:pt x="3333750" y="19335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" name="trace:D05:content.auto.5">
            <ns1:extLst>
              <ns1:ext uri="{FF2B5EF4-FFF2-40B4-BE49-F238E27FC236}">
                <ns3:creationId id="{82068B9E-5703-4589-8AFE-471D6176EE0C}"/>
              </ns1:ext>
            </ns1:extLst>
          </ns0:cNvPr>
          <ns0:cNvSpPr>
            <ns1:spLocks noGrp="1"/>
          </ns0:cNvSpPr>
          <ns0:nvPr/>
        </ns0:nvSpPr>
        <ns0:spPr>
          <ns1:xfrm>
            <ns1:off x="13382625" y="7620000"/>
            <ns1:ext cx="2543175" cy="1343025"/>
          </ns1:xfrm>
          <ns1:custGeom>
            <ns1:pathLst>
              <ns1:path w="2543175" h="1343025">
                <ns1:moveTo>
                  <ns1:pt x="0" y="1343025"/>
                </ns1:moveTo>
                <ns1:lnTo>
                  <ns1:pt x="2543175" y="0"/>
                </ns1:lnTo>
                <ns1:lnTo>
                  <ns1:pt x="2543175" y="1343025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7" name="trace:D05:content.auto.6">
            <ns1:extLst>
              <ns1:ext uri="{FF2B5EF4-FFF2-40B4-BE49-F238E27FC236}">
                <ns3:creationId id="{3937BB47-61FE-4DB6-A6D3-34F8F8347917}"/>
              </ns1:ext>
            </ns1:extLst>
          </ns0:cNvPr>
          <ns0:cNvSpPr>
            <ns1:spLocks noGrp="1"/>
          </ns0:cNvSpPr>
          <ns0:nvPr/>
        </ns0:nvSpPr>
        <ns0:spPr>
          <ns1:xfrm>
            <ns1:off x="13239750" y="0"/>
            <ns1:ext cx="2686050" cy="1047750"/>
          </ns1:xfrm>
          <ns1:prstGeom prst="roundRect">
            <ns1:avLst>
              <ns1:gd name="adj" fmla="val 10909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" name="trace:D05:content.auto.7">
            <ns1:extLst>
              <ns1:ext uri="{FF2B5EF4-FFF2-40B4-BE49-F238E27FC236}">
                <ns3:creationId id="{70A4F7C1-BBCB-462D-B3FE-8619F13A1EC5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85750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D05</ns1:t>
            </ns1:r>
          </ns1:p>
        </ns0:txBody>
      </ns0:sp>
      <ns0:sp>
        <ns0:nvSpPr>
          <ns0:cNvPr id="9" name="trace:D05:content.auto.8">
            <ns1:extLst>
              <ns1:ext uri="{FF2B5EF4-FFF2-40B4-BE49-F238E27FC236}">
                <ns3:creationId id="{B695E8C7-A3A3-42A7-9A78-4A77508B38FF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"/>
            <ns1:ext cx="2095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市場分析</ns1:t>
            </ns1:r>
          </ns1:p>
        </ns0:txBody>
      </ns0:sp>
      <ns0:sp>
        <ns0:nvSpPr>
          <ns0:cNvPr id="10" name="trace:D05:header.brand">
            <ns1:extLst>
              <ns1:ext uri="{FF2B5EF4-FFF2-40B4-BE49-F238E27FC236}">
                <ns3:creationId id="{2BE63181-7D1F-4954-B01B-302747F1B628}"/>
              </ns1:ext>
            </ns1:extLst>
          </ns0:cNvPr>
          <ns0:cNvSpPr>
            <ns1:spLocks noGrp="1"/>
          </ns0:cNvSpPr>
          <ns0:nvPr/>
        </ns0:nvSpPr>
        <ns0:spPr>
          <ns1:xfrm>
            <ns1:off x="9925050" y="285750"/>
            <ns1:ext cx="8763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1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</ns1:t>
            </ns1:r>
          </ns1:p>
        </ns0:txBody>
      </ns0:sp>
      <ns0:sp>
        <ns0:nvSpPr>
          <ns0:cNvPr id="11" name="trace:D05:header.brand.2">
            <ns1:extLst>
              <ns1:ext uri="{FF2B5EF4-FFF2-40B4-BE49-F238E27FC236}">
                <ns3:creationId id="{4CAAB4FC-5297-4842-8EB5-C5A4F6586A82}"/>
              </ns1:ext>
            </ns1:extLst>
          </ns0:cNvPr>
          <ns0:cNvSpPr>
            <ns1:spLocks noGrp="1"/>
          </ns0:cNvSpPr>
          <ns0:nvPr/>
        </ns0:nvSpPr>
        <ns0:spPr>
          <ns1:xfrm>
            <ns1:off x="10620375" y="285750"/>
            <ns1:ext cx="13906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クエスト</ns1:t>
            </ns1:r>
          </ns1:p>
        </ns0:txBody>
      </ns0:sp>
      <ns0:sp>
        <ns0:nvSpPr>
          <ns0:cNvPr id="12" name="trace:D05:header.tagline">
            <ns1:extLst>
              <ns1:ext uri="{FF2B5EF4-FFF2-40B4-BE49-F238E27FC236}">
                <ns3:creationId id="{4E2B66A0-DAA5-458E-95E3-2A936FEB7CFF}"/>
              </ns1:ext>
            </ns1:extLst>
          </ns0:cNvPr>
          <ns0:cNvSpPr>
            <ns1:spLocks noGrp="1"/>
          </ns0:cNvSpPr>
          <ns0:nvPr/>
        </ns0:nvSpPr>
        <ns0:spPr>
          <ns1:xfrm>
            <ns1:off x="9886950" y="628650"/>
            <ns1:ext cx="2476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13" name="trace:D05:header.message">
            <ns1:extLst>
              <ns1:ext uri="{FF2B5EF4-FFF2-40B4-BE49-F238E27FC236}">
                <ns3:creationId id="{7CF7F1B2-B586-4AE4-8722-7917B84A7EB8}"/>
              </ns1:ext>
            </ns1:extLst>
          </ns0:cNvPr>
          <ns0:cNvSpPr>
            <ns1:spLocks noGrp="1"/>
          </ns0:cNvSpPr>
          <ns0:nvPr/>
        </ns0:nvSpPr>
        <ns0:spPr>
          <ns1:xfrm>
            <ns1:off x="14001750" y="400050"/>
            <ns1:ext cx="16192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4" name="trace:D05:content.auto.9">
            <ns1:extLst>
              <ns1:ext uri="{FF2B5EF4-FFF2-40B4-BE49-F238E27FC236}">
                <ns3:creationId id="{FE7234CE-E646-4A8E-8580-366CE20F6D92}"/>
              </ns1:ext>
            </ns1:extLst>
          </ns0:cNvPr>
          <ns0:cNvSpPr>
            <ns1:spLocks noGrp="1"/>
          </ns0:cNvSpPr>
          <ns0:nvPr/>
        </ns0:nvSpPr>
        <ns0:spPr>
          <ns1:xfrm>
            <ns1:off x="14001750" y="904875"/>
            <ns1:ext cx="1571625" cy="9525"/>
          </ns1:xfrm>
          <ns1:prstGeom prst="line">
            <ns1:avLst/>
          </ns1:prstGeom>
          <ns1:noFill/>
          <ns1:ln w="9525">
            <ns1:solidFill>
              <ns1:srgbClr val="101D28"/>
            </ns1:solidFill>
            <ns1:prstDash val="solid"/>
          </ns1:ln>
        </ns0:spPr>
      </ns0:sp>
      <ns0:sp>
        <ns0:nvSpPr>
          <ns0:cNvPr id="15" name="trace:D05:content.auto.10">
            <ns1:extLst>
              <ns1:ext uri="{FF2B5EF4-FFF2-40B4-BE49-F238E27FC236}">
                <ns3:creationId id="{8DBE39B5-1FCF-4DFB-B518-32FCD30D2E45}"/>
              </ns1:ext>
            </ns1:extLst>
          </ns0:cNvPr>
          <ns0:cNvSpPr>
            <ns1:spLocks noGrp="1"/>
          </ns0:cNvSpPr>
          <ns0:nvPr/>
        </ns0:nvSpPr>
        <ns0:spPr>
          <ns1:xfrm>
            <ns1:off x="14001750" y="904875"/>
            <ns1:ext cx="32385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" name="trace:D05:content.auto.11">
            <ns1:extLst>
              <ns1:ext uri="{FF2B5EF4-FFF2-40B4-BE49-F238E27FC236}">
                <ns3:creationId id="{73E0DB71-2F36-401A-A54F-E9E308D80E45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781050"/>
            <ns1:ext cx="314325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45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45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市場環境</ns1:t>
            </ns1:r>
          </ns1:p>
        </ns0:txBody>
      </ns0:sp>
      <ns0:sp>
        <ns0:nvSpPr>
          <ns0:cNvPr id="17" name="trace:D05:content.auto.12">
            <ns1:extLst>
              <ns1:ext uri="{FF2B5EF4-FFF2-40B4-BE49-F238E27FC236}">
                <ns3:creationId id="{F22FF819-62E4-4F93-B2A8-A76AE39E46D9}"/>
              </ns1:ext>
            </ns1:extLst>
          </ns0:cNvPr>
          <ns0:cNvSpPr>
            <ns1:spLocks noGrp="1"/>
          </ns0:cNvSpPr>
          <ns0:nvPr/>
        </ns0:nvSpPr>
        <ns0:spPr>
          <ns1:xfrm>
            <ns1:off x="3009900" y="781050"/>
            <ns1:ext cx="462915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4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4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と成長機会</ns1:t>
            </ns1:r>
          </ns1:p>
        </ns0:txBody>
      </ns0:sp>
      <ns0:sp>
        <ns0:nvSpPr>
          <ns0:cNvPr id="18" name="trace:D05:header.brand.3">
            <ns1:extLst>
              <ns1:ext uri="{FF2B5EF4-FFF2-40B4-BE49-F238E27FC236}">
                <ns3:creationId id="{C2A193DE-20A1-4897-A962-B62D66E32529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1657350"/>
            <ns1:ext cx="1047750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6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提案クエストは、企業の提案業務の効率化ニーズが高まるBtoB市場において、</ns1:t>
            </ns1:r>
          </ns1:p>
        </ns0:txBody>
      </ns0:sp>
      <ns0:sp>
        <ns0:nvSpPr>
          <ns0:cNvPr id="19" name="trace:D05:title.primary">
            <ns1:extLst>
              <ns1:ext uri="{FF2B5EF4-FFF2-40B4-BE49-F238E27FC236}">
                <ns3:creationId id="{AE25DCC0-B0D2-4F74-BA8B-27C5DE6190CD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1971675"/>
            <ns1:ext cx="990600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AI活用による提案支援という新しい市場機会を捉え、今後の高い成長が期待できます。</ns1:t>
            </ns1:r>
          </ns1:p>
        </ns0:txBody>
      </ns0:sp>
      <ns0:sp>
        <ns0:nvSpPr>
          <ns0:cNvPr id="20" name="trace:D05:content.auto.13">
            <ns1:extLst>
              <ns1:ext uri="{FF2B5EF4-FFF2-40B4-BE49-F238E27FC236}">
                <ns3:creationId id="{8B436872-7E37-4969-B684-BA5E234F0FF6}"/>
              </ns1:ext>
            </ns1:extLst>
          </ns0:cNvPr>
          <ns0:cNvSpPr>
            <ns1:spLocks noGrp="1"/>
          </ns0:cNvSpPr>
          <ns0:nvPr/>
        </ns0:nvSpPr>
        <ns0:spPr>
          <ns1:xfrm>
            <ns1:off x="323850" y="2590800"/>
            <ns1:ext cx="3810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1" name="trace:D05:title.primary.2">
            <ns1:extLst>
              <ns1:ext uri="{FF2B5EF4-FFF2-40B4-BE49-F238E27FC236}">
                <ns3:creationId id="{A1ACD0A5-C1E9-495A-9E9E-E94CE711BFFF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2505075"/>
            <ns1:ext cx="2095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市場規模の推移</ns1:t>
            </ns1:r>
          </ns1:p>
        </ns0:txBody>
      </ns0:sp>
      <ns0:sp>
        <ns0:nvSpPr>
          <ns0:cNvPr id="22" name="trace:D05:content.auto.14">
            <ns1:extLst>
              <ns1:ext uri="{FF2B5EF4-FFF2-40B4-BE49-F238E27FC236}">
                <ns3:creationId id="{311BF130-D415-477E-AA9A-D483DE9A2B42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2590800"/>
            <ns1:ext cx="3810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3" name="trace:D05:title.primary.3">
            <ns1:extLst>
              <ns1:ext uri="{FF2B5EF4-FFF2-40B4-BE49-F238E27FC236}">
                <ns3:creationId id="{1AE1D29A-F11E-4D00-9C70-A2D711759D3C}"/>
              </ns1:ext>
            </ns1:extLst>
          </ns0:cNvPr>
          <ns0:cNvSpPr>
            <ns1:spLocks noGrp="1"/>
          </ns0:cNvSpPr>
          <ns0:nvPr/>
        </ns0:nvSpPr>
        <ns0:spPr>
          <ns1:xfrm>
            <ns1:off x="4800600" y="2505075"/>
            <ns1:ext cx="3429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市場を取り巻く主なトレンド</ns1:t>
            </ns1:r>
          </ns1:p>
        </ns0:txBody>
      </ns0:sp>
      <ns0:sp>
        <ns0:nvSpPr>
          <ns0:cNvPr id="24" name="trace:D05:content.auto.15">
            <ns1:extLst>
              <ns1:ext uri="{FF2B5EF4-FFF2-40B4-BE49-F238E27FC236}">
                <ns3:creationId id="{D3793F29-42F6-4686-805C-CE7D5A64FE14}"/>
              </ns1:ext>
            </ns1:extLst>
          </ns0:cNvPr>
          <ns0:cNvSpPr>
            <ns1:spLocks noGrp="1"/>
          </ns0:cNvSpPr>
          <ns0:nvPr/>
        </ns0:nvSpPr>
        <ns0:spPr>
          <ns1:xfrm>
            <ns1:off x="8391525" y="2590800"/>
            <ns1:ext cx="3810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5" name="trace:D05:title.primary.4">
            <ns1:extLst>
              <ns1:ext uri="{FF2B5EF4-FFF2-40B4-BE49-F238E27FC236}">
                <ns3:creationId id="{5689F046-8CE1-433F-BFAF-F42460B12872}"/>
              </ns1:ext>
            </ns1:extLst>
          </ns0:cNvPr>
          <ns0:cNvSpPr>
            <ns1:spLocks noGrp="1"/>
          </ns0:cNvSpPr>
          <ns0:nvPr/>
        </ns0:nvSpPr>
        <ns0:spPr>
          <ns1:xfrm>
            <ns1:off x="8543925" y="2505075"/>
            <ns1:ext cx="3429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ターゲット市場とセグメント</ns1:t>
            </ns1:r>
          </ns1:p>
        </ns0:txBody>
      </ns0:sp>
      <ns0:sp>
        <ns0:nvSpPr>
          <ns0:cNvPr id="26" name="trace:D05:content.auto.16">
            <ns1:extLst>
              <ns1:ext uri="{FF2B5EF4-FFF2-40B4-BE49-F238E27FC236}">
                <ns3:creationId id="{9A42954E-D8AC-4E24-B550-35D990866350}"/>
              </ns1:ext>
            </ns1:extLst>
          </ns0:cNvPr>
          <ns0:cNvSpPr>
            <ns1:spLocks noGrp="1"/>
          </ns0:cNvSpPr>
          <ns0:nvPr/>
        </ns0:nvSpPr>
        <ns0:spPr>
          <ns1:xfrm>
            <ns1:off x="12058650" y="2381250"/>
            <ns1:ext cx="3562350" cy="495300"/>
          </ns1:xfrm>
          <ns1:prstGeom prst="roundRect">
            <ns1:avLst>
              <ns1:gd name="adj" fmla="val 23077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27" name="trace:D05:content.auto.17">
            <ns1:extLst>
              <ns1:ext uri="{FF2B5EF4-FFF2-40B4-BE49-F238E27FC236}">
                <ns3:creationId id="{E58DBD07-2078-4A58-9DAD-16F816FBE5EC}"/>
              </ns1:ext>
            </ns1:extLst>
          </ns0:cNvPr>
          <ns0:cNvSpPr>
            <ns1:spLocks noGrp="1"/>
          </ns0:cNvSpPr>
          <ns0:nvPr/>
        </ns0:nvSpPr>
        <ns0:spPr>
          <ns1:xfrm>
            <ns1:off x="12058650" y="2590800"/>
            <ns1:ext cx="3810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8" name="trace:D05:content.auto.18">
            <ns1:extLst>
              <ns1:ext uri="{FF2B5EF4-FFF2-40B4-BE49-F238E27FC236}">
                <ns3:creationId id="{120BED3E-1A48-41DA-A102-6105F7FF0A5A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2505075"/>
            <ns1:ext cx="2095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市場機会</ns1:t>
            </ns1:r>
          </ns1:p>
        </ns0:txBody>
      </ns0:sp>
      <ns0:sp>
        <ns0:nvSpPr>
          <ns0:cNvPr id="29" name="trace:D05:content.auto.19">
            <ns1:extLst>
              <ns1:ext uri="{FF2B5EF4-FFF2-40B4-BE49-F238E27FC236}">
                <ns3:creationId id="{8135915D-A287-4702-B33D-CD505F1A3401}"/>
              </ns1:ext>
            </ns1:extLst>
          </ns0:cNvPr>
          <ns0:cNvSpPr>
            <ns1:spLocks noGrp="1"/>
          </ns0:cNvSpPr>
          <ns0:nvPr/>
        </ns0:nvSpPr>
        <ns0:spPr>
          <ns1:xfrm>
            <ns1:off x="323850" y="2876550"/>
            <ns1:ext cx="4267200" cy="3676650"/>
          </ns1:xfrm>
          <ns1:prstGeom prst="roundRect">
            <ns1:avLst>
              <ns1:gd name="adj" fmla="val 3109"/>
            </ns1:avLst>
          </ns1:prstGeom>
          <ns1:solidFill>
            <ns1:srgbClr val="F8FAFC"/>
          </ns1:solidFill>
          <ns1:ln w="0">
            <ns1:noFill/>
            <ns1:prstDash val="solid"/>
          </ns1:ln>
        </ns0:spPr>
      </ns0:sp>
      <ns0:sp>
        <ns0:nvSpPr>
          <ns0:cNvPr id="30" name="trace:D05:content.auto.20">
            <ns1:extLst>
              <ns1:ext uri="{FF2B5EF4-FFF2-40B4-BE49-F238E27FC236}">
                <ns3:creationId id="{75136C0F-5903-492F-A43E-D9FC3E55EC09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3038475"/>
            <ns1:ext cx="3905250" cy="3352800"/>
          </ns1:xfrm>
          <ns1:prstGeom prst="roundRect">
            <ns1:avLst>
              <ns1:gd name="adj" fmla="val 3409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31" name="trace:D05:title.primary.5">
            <ns1:extLst>
              <ns1:ext uri="{FF2B5EF4-FFF2-40B4-BE49-F238E27FC236}">
                <ns3:creationId id="{F051530E-C873-474D-A6D0-49241E44448A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143250"/>
            <ns1:ext cx="3714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国内の提案支援・営業支援関連市場（推定）</ns1:t>
            </ns1:r>
          </ns1:p>
        </ns0:txBody>
      </ns0:sp>
      <ns0:sp>
        <ns0:nvSpPr>
          <ns0:cNvPr id="32" name="trace:D05:content.auto.21">
            <ns1:extLst>
              <ns1:ext uri="{FF2B5EF4-FFF2-40B4-BE49-F238E27FC236}">
                <ns3:creationId id="{34E05891-06CF-4D0A-9A69-4FF966BF9F27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619500"/>
            <ns1:ext cx="762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12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(億円)</ns1:t>
            </ns1:r>
          </ns1:p>
        </ns0:txBody>
      </ns0:sp>
      <ns0:sp>
        <ns0:nvSpPr>
          <ns0:cNvPr id="33" name="trace:D05:content.auto.22">
            <ns1:extLst>
              <ns1:ext uri="{FF2B5EF4-FFF2-40B4-BE49-F238E27FC236}">
                <ns3:creationId id="{34E5A523-B172-4433-B2B4-078A40F2BAF4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3886200"/>
            <ns1:ext cx="3390900" cy="9525"/>
          </ns1:xfrm>
          <ns1:prstGeom prst="line">
            <ns1:avLst/>
          </ns1:prstGeom>
          <ns1:noFill/>
          <ns1:ln w="9525">
            <ns1:solidFill>
              <ns1:srgbClr val="E4E8EC"/>
            </ns1:solidFill>
            <ns1:prstDash val="solid"/>
          </ns1:ln>
        </ns0:spPr>
      </ns0:sp>
      <ns0:sp>
        <ns0:nvSpPr>
          <ns0:cNvPr id="34" name="trace:D05:content.auto.23">
            <ns1:extLst>
              <ns1:ext uri="{FF2B5EF4-FFF2-40B4-BE49-F238E27FC236}">
                <ns3:creationId id="{29C22C43-4575-499C-B34F-A5BF615A4A11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3800475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5000</ns1:t>
            </ns1:r>
          </ns1:p>
        </ns0:txBody>
      </ns0:sp>
      <ns0:sp>
        <ns0:nvSpPr>
          <ns0:cNvPr id="35" name="trace:D05:content.auto.24">
            <ns1:extLst>
              <ns1:ext uri="{FF2B5EF4-FFF2-40B4-BE49-F238E27FC236}">
                <ns3:creationId id="{D912E4A0-0ED5-4FF4-AA39-4D4C8E481626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4276725"/>
            <ns1:ext cx="3390900" cy="9525"/>
          </ns1:xfrm>
          <ns1:prstGeom prst="line">
            <ns1:avLst/>
          </ns1:prstGeom>
          <ns1:noFill/>
          <ns1:ln w="9525">
            <ns1:solidFill>
              <ns1:srgbClr val="E4E8EC"/>
            </ns1:solidFill>
            <ns1:prstDash val="solid"/>
          </ns1:ln>
        </ns0:spPr>
      </ns0:sp>
      <ns0:sp>
        <ns0:nvSpPr>
          <ns0:cNvPr id="36" name="trace:D05:content.auto.25">
            <ns1:extLst>
              <ns1:ext uri="{FF2B5EF4-FFF2-40B4-BE49-F238E27FC236}">
                <ns3:creationId id="{9336D4FA-D89C-46E6-AF87-B79ADAD4D02A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191000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4000</ns1:t>
            </ns1:r>
          </ns1:p>
        </ns0:txBody>
      </ns0:sp>
      <ns0:sp>
        <ns0:nvSpPr>
          <ns0:cNvPr id="37" name="trace:D05:content.auto.26">
            <ns1:extLst>
              <ns1:ext uri="{FF2B5EF4-FFF2-40B4-BE49-F238E27FC236}">
                <ns3:creationId id="{E9FE7283-ABED-433B-B71F-92F3F4CF29D9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4667250"/>
            <ns1:ext cx="3390900" cy="9525"/>
          </ns1:xfrm>
          <ns1:prstGeom prst="line">
            <ns1:avLst/>
          </ns1:prstGeom>
          <ns1:noFill/>
          <ns1:ln w="9525">
            <ns1:solidFill>
              <ns1:srgbClr val="E4E8EC"/>
            </ns1:solidFill>
            <ns1:prstDash val="solid"/>
          </ns1:ln>
        </ns0:spPr>
      </ns0:sp>
      <ns0:sp>
        <ns0:nvSpPr>
          <ns0:cNvPr id="38" name="trace:D05:content.auto.27">
            <ns1:extLst>
              <ns1:ext uri="{FF2B5EF4-FFF2-40B4-BE49-F238E27FC236}">
                <ns3:creationId id="{2DC0E020-358F-46AC-84E1-46202A0C5B24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581525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3000</ns1:t>
            </ns1:r>
          </ns1:p>
        </ns0:txBody>
      </ns0:sp>
      <ns0:sp>
        <ns0:nvSpPr>
          <ns0:cNvPr id="39" name="trace:D05:content.auto.28">
            <ns1:extLst>
              <ns1:ext uri="{FF2B5EF4-FFF2-40B4-BE49-F238E27FC236}">
                <ns3:creationId id="{B0220DF2-39E9-4E51-8850-4D1A7BBEB0A1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5057775"/>
            <ns1:ext cx="3390900" cy="9525"/>
          </ns1:xfrm>
          <ns1:prstGeom prst="line">
            <ns1:avLst/>
          </ns1:prstGeom>
          <ns1:noFill/>
          <ns1:ln w="9525">
            <ns1:solidFill>
              <ns1:srgbClr val="E4E8EC"/>
            </ns1:solidFill>
            <ns1:prstDash val="solid"/>
          </ns1:ln>
        </ns0:spPr>
      </ns0:sp>
      <ns0:sp>
        <ns0:nvSpPr>
          <ns0:cNvPr id="40" name="trace:D05:content.auto.29">
            <ns1:extLst>
              <ns1:ext uri="{FF2B5EF4-FFF2-40B4-BE49-F238E27FC236}">
                <ns3:creationId id="{43F00A21-6BDF-4787-AEDD-F06B7A395BE5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972050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2000</ns1:t>
            </ns1:r>
          </ns1:p>
        </ns0:txBody>
      </ns0:sp>
      <ns0:sp>
        <ns0:nvSpPr>
          <ns0:cNvPr id="41" name="trace:D05:content.auto.30">
            <ns1:extLst>
              <ns1:ext uri="{FF2B5EF4-FFF2-40B4-BE49-F238E27FC236}">
                <ns3:creationId id="{D8745210-EB20-4924-96B5-40E746BF59FA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5448300"/>
            <ns1:ext cx="3390900" cy="9525"/>
          </ns1:xfrm>
          <ns1:prstGeom prst="line">
            <ns1:avLst/>
          </ns1:prstGeom>
          <ns1:noFill/>
          <ns1:ln w="9525">
            <ns1:solidFill>
              <ns1:srgbClr val="E4E8EC"/>
            </ns1:solidFill>
            <ns1:prstDash val="solid"/>
          </ns1:ln>
        </ns0:spPr>
      </ns0:sp>
      <ns0:sp>
        <ns0:nvSpPr>
          <ns0:cNvPr id="42" name="trace:D05:content.auto.31">
            <ns1:extLst>
              <ns1:ext uri="{FF2B5EF4-FFF2-40B4-BE49-F238E27FC236}">
                <ns3:creationId id="{ACDFAC4E-822D-4321-950B-068D3E2F41FC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5362575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1000</ns1:t>
            </ns1:r>
          </ns1:p>
        </ns0:txBody>
      </ns0:sp>
      <ns0:sp>
        <ns0:nvSpPr>
          <ns0:cNvPr id="43" name="trace:D05:content.auto.32">
            <ns1:extLst>
              <ns1:ext uri="{FF2B5EF4-FFF2-40B4-BE49-F238E27FC236}">
                <ns3:creationId id="{DE70FA7D-B39F-4920-8A5C-FB79D4ED85CF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5838825"/>
            <ns1:ext cx="3390900" cy="9525"/>
          </ns1:xfrm>
          <ns1:prstGeom prst="line">
            <ns1:avLst/>
          </ns1:prstGeom>
          <ns1:noFill/>
          <ns1:ln w="9525">
            <ns1:solidFill>
              <ns1:srgbClr val="E4E8EC"/>
            </ns1:solidFill>
            <ns1:prstDash val="solid"/>
          </ns1:ln>
        </ns0:spPr>
      </ns0:sp>
      <ns0:sp>
        <ns0:nvSpPr>
          <ns0:cNvPr id="44" name="trace:D05:content.auto.33">
            <ns1:extLst>
              <ns1:ext uri="{FF2B5EF4-FFF2-40B4-BE49-F238E27FC236}">
                <ns3:creationId id="{D454C170-4D54-4DD2-9BD0-9D738388626A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5753100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0</ns1:t>
            </ns1:r>
          </ns1:p>
        </ns0:txBody>
      </ns0:sp>
      <ns0:sp>
        <ns0:nvSpPr>
          <ns0:cNvPr id="45" name="trace:D05:content.auto.34">
            <ns1:extLst>
              <ns1:ext uri="{FF2B5EF4-FFF2-40B4-BE49-F238E27FC236}">
                <ns3:creationId id="{E577D6E4-1E3D-4F31-8460-4489541F9529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3886200"/>
            <ns1:ext cx="9525" cy="1952625"/>
          </ns1:xfrm>
          <ns1:prstGeom prst="line">
            <ns1:avLst/>
          </ns1:prstGeom>
          <ns1:noFill/>
          <ns1:ln w="9525">
            <ns1:solidFill>
              <ns1:srgbClr val="536071"/>
            </ns1:solidFill>
            <ns1:prstDash val="solid"/>
          </ns1:ln>
        </ns0:spPr>
      </ns0:sp>
      <ns0:sp>
        <ns0:nvSpPr>
          <ns0:cNvPr id="46" name="trace:D05:content.auto.35">
            <ns1:extLst>
              <ns1:ext uri="{FF2B5EF4-FFF2-40B4-BE49-F238E27FC236}">
                <ns3:creationId id="{6B968D3E-086B-4CD5-A108-202999A9E93C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5838825"/>
            <ns1:ext cx="3390900" cy="9525"/>
          </ns1:xfrm>
          <ns1:prstGeom prst="line">
            <ns1:avLst/>
          </ns1:prstGeom>
          <ns1:noFill/>
          <ns1:ln w="9525">
            <ns1:solidFill>
              <ns1:srgbClr val="536071"/>
            </ns1:solidFill>
            <ns1:prstDash val="solid"/>
          </ns1:ln>
        </ns0:spPr>
      </ns0:sp>
      <ns0:sp>
        <ns0:nvSpPr>
          <ns0:cNvPr id="47" name="trace:D05:content.auto.36">
            <ns1:extLst>
              <ns1:ext uri="{FF2B5EF4-FFF2-40B4-BE49-F238E27FC236}">
                <ns3:creationId id="{9A74BB1C-7B06-4E7E-83A4-52AE15851547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" y="4725829"/>
            <ns1:ext cx="428625" cy="1112996"/>
          </ns1:xfrm>
          <ns1:prstGeom prst="rect">
            <ns1:avLst/>
          </ns1:prstGeom>
          <ns1:solidFill>
            <ns1:srgbClr val="B9C1CB"/>
          </ns1:solidFill>
          <ns1:ln w="0">
            <ns1:noFill/>
            <ns1:prstDash val="solid"/>
          </ns1:ln>
        </ns0:spPr>
      </ns0:sp>
      <ns0:sp>
        <ns0:nvSpPr>
          <ns0:cNvPr id="48" name="trace:D05:content.auto.37">
            <ns1:extLst>
              <ns1:ext uri="{FF2B5EF4-FFF2-40B4-BE49-F238E27FC236}">
                <ns3:creationId id="{98F0ADA2-D9A8-4899-B65A-BD88AABA2DD1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4497229"/>
            <ns1:ext cx="571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2,850</ns1:t>
            </ns1:r>
          </ns1:p>
        </ns0:txBody>
      </ns0:sp>
      <ns0:sp>
        <ns0:nvSpPr>
          <ns0:cNvPr id="49" name="trace:D05:content.auto.38">
            <ns1:extLst>
              <ns1:ext uri="{FF2B5EF4-FFF2-40B4-BE49-F238E27FC236}">
                <ns3:creationId id="{F9F38522-A300-45FE-B6A5-FC62D2BDDE67}"/>
              </ns1:ext>
            </ns1:extLst>
          </ns0:cNvPr>
          <ns0:cNvSpPr>
            <ns1:spLocks noGrp="1"/>
          </ns0:cNvSpPr>
          <ns0:nvPr/>
        </ns0:nvSpPr>
        <ns0:spPr>
          <ns1:xfrm>
            <ns1:off x="1076325" y="5953125"/>
            <ns1:ext cx="6858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2024年</ns1:t>
            </ns1:r>
          </ns1:p>
        </ns0:txBody>
      </ns0:sp>
      <ns0:sp>
        <ns0:nvSpPr>
          <ns0:cNvPr id="50" name="trace:D05:content.auto.39">
            <ns1:extLst>
              <ns1:ext uri="{FF2B5EF4-FFF2-40B4-BE49-F238E27FC236}">
                <ns3:creationId id="{D1C247FB-D93A-411C-9BD4-9CF2A8FB21D3}"/>
              </ns1:ext>
            </ns1:extLst>
          </ns0:cNvPr>
          <ns0:cNvSpPr>
            <ns1:spLocks noGrp="1"/>
          </ns0:cNvSpPr>
          <ns0:nvPr/>
        </ns0:nvSpPr>
        <ns0:spPr>
          <ns1:xfrm>
            <ns1:off x="1847850" y="4573524"/>
            <ns1:ext cx="428625" cy="1265301"/>
          </ns1:xfrm>
          <ns1:prstGeom prst="rect">
            <ns1:avLst/>
          </ns1:prstGeom>
          <ns1:solidFill>
            <ns1:srgbClr val="B9C1CB"/>
          </ns1:solidFill>
          <ns1:ln w="0">
            <ns1:noFill/>
            <ns1:prstDash val="solid"/>
          </ns1:ln>
        </ns0:spPr>
      </ns0:sp>
      <ns0:sp>
        <ns0:nvSpPr>
          <ns0:cNvPr id="51" name="trace:D05:content.auto.40">
            <ns1:extLst>
              <ns1:ext uri="{FF2B5EF4-FFF2-40B4-BE49-F238E27FC236}">
                <ns3:creationId id="{715A9DD6-FBE3-4EF9-95A1-341E26297A93}"/>
              </ns1:ext>
            </ns1:extLst>
          </ns0:cNvPr>
          <ns0:cNvSpPr>
            <ns1:spLocks noGrp="1"/>
          </ns0:cNvSpPr>
          <ns0:nvPr/>
        </ns0:nvSpPr>
        <ns0:spPr>
          <ns1:xfrm>
            <ns1:off x="1781175" y="4344924"/>
            <ns1:ext cx="571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3,240</ns1:t>
            </ns1:r>
          </ns1:p>
        </ns0:txBody>
      </ns0:sp>
      <ns0:sp>
        <ns0:nvSpPr>
          <ns0:cNvPr id="52" name="trace:D05:content.auto.41">
            <ns1:extLst>
              <ns1:ext uri="{FF2B5EF4-FFF2-40B4-BE49-F238E27FC236}">
                <ns3:creationId id="{494E8700-45BC-4CEB-BA0B-BAFA45B4B953}"/>
              </ns1:ext>
            </ns1:extLst>
          </ns0:cNvPr>
          <ns0:cNvSpPr>
            <ns1:spLocks noGrp="1"/>
          </ns0:cNvSpPr>
          <ns0:nvPr/>
        </ns0:nvSpPr>
        <ns0:spPr>
          <ns1:xfrm>
            <ns1:off x="1724025" y="5953125"/>
            <ns1:ext cx="6858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2025年</ns1:t>
            </ns1:r>
          </ns1:p>
        </ns0:txBody>
      </ns0:sp>
      <ns0:sp>
        <ns0:nvSpPr>
          <ns0:cNvPr id="53" name="trace:D05:content.auto.42">
            <ns1:extLst>
              <ns1:ext uri="{FF2B5EF4-FFF2-40B4-BE49-F238E27FC236}">
                <ns3:creationId id="{A42E9A53-5469-473F-AA51-9910344E402D}"/>
              </ns1:ext>
            </ns1:extLst>
          </ns0:cNvPr>
          <ns0:cNvSpPr>
            <ns1:spLocks noGrp="1"/>
          </ns0:cNvSpPr>
          <ns0:nvPr/>
        </ns0:nvSpPr>
        <ns0:spPr>
          <ns1:xfrm>
            <ns1:off x="2495550" y="4362641"/>
            <ns1:ext cx="428625" cy="1476185"/>
          </ns1:xfrm>
          <ns1:prstGeom prst="rect">
            <ns1:avLst/>
          </ns1:prstGeom>
          <ns1:solidFill>
            <ns1:srgbClr val="B9C1CB"/>
          </ns1:solidFill>
          <ns1:ln w="0">
            <ns1:noFill/>
            <ns1:prstDash val="solid"/>
          </ns1:ln>
        </ns0:spPr>
      </ns0:sp>
      <ns0:sp>
        <ns0:nvSpPr>
          <ns0:cNvPr id="54" name="trace:D05:content.auto.43">
            <ns1:extLst>
              <ns1:ext uri="{FF2B5EF4-FFF2-40B4-BE49-F238E27FC236}">
                <ns3:creationId id="{01199A41-A952-421F-A7D5-949B1776B701}"/>
              </ns1:ext>
            </ns1:extLst>
          </ns0:cNvPr>
          <ns0:cNvSpPr>
            <ns1:spLocks noGrp="1"/>
          </ns0:cNvSpPr>
          <ns0:nvPr/>
        </ns0:nvSpPr>
        <ns0:spPr>
          <ns1:xfrm>
            <ns1:off x="2428875" y="4134041"/>
            <ns1:ext cx="571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3,780</ns1:t>
            </ns1:r>
          </ns1:p>
        </ns0:txBody>
      </ns0:sp>
      <ns0:sp>
        <ns0:nvSpPr>
          <ns0:cNvPr id="55" name="trace:D05:content.auto.44">
            <ns1:extLst>
              <ns1:ext uri="{FF2B5EF4-FFF2-40B4-BE49-F238E27FC236}">
                <ns3:creationId id="{95AFAFFB-B776-4451-A7E8-99BBC8BD5AA9}"/>
              </ns1:ext>
            </ns1:extLst>
          </ns0:cNvPr>
          <ns0:cNvSpPr>
            <ns1:spLocks noGrp="1"/>
          </ns0:cNvSpPr>
          <ns0:nvPr/>
        </ns0:nvSpPr>
        <ns0:spPr>
          <ns1:xfrm>
            <ns1:off x="2371725" y="5953125"/>
            <ns1:ext cx="6858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2026年</ns1:t>
            </ns1:r>
          </ns1:p>
        </ns0:txBody>
      </ns0:sp>
      <ns0:sp>
        <ns0:nvSpPr>
          <ns0:cNvPr id="56" name="trace:D05:content.auto.45">
            <ns1:extLst>
              <ns1:ext uri="{FF2B5EF4-FFF2-40B4-BE49-F238E27FC236}">
                <ns3:creationId id="{B7CE17B1-5233-4F5A-8B86-58DF7E6F0D67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4128325"/>
            <ns1:ext cx="428625" cy="1710500"/>
          </ns1:xfrm>
          <ns1:prstGeom prst="rect">
            <ns1:avLst/>
          </ns1:prstGeom>
          <ns1:solidFill>
            <ns1:srgbClr val="B9C1CB"/>
          </ns1:solidFill>
          <ns1:ln w="0">
            <ns1:noFill/>
            <ns1:prstDash val="solid"/>
          </ns1:ln>
        </ns0:spPr>
      </ns0:sp>
      <ns0:sp>
        <ns0:nvSpPr>
          <ns0:cNvPr id="57" name="trace:D05:content.auto.46">
            <ns1:extLst>
              <ns1:ext uri="{FF2B5EF4-FFF2-40B4-BE49-F238E27FC236}">
                <ns3:creationId id="{401046F0-4E5F-46BC-85D2-A0CD351BAA79}"/>
              </ns1:ext>
            </ns1:extLst>
          </ns0:cNvPr>
          <ns0:cNvSpPr>
            <ns1:spLocks noGrp="1"/>
          </ns0:cNvSpPr>
          <ns0:nvPr/>
        </ns0:nvSpPr>
        <ns0:spPr>
          <ns1:xfrm>
            <ns1:off x="3076575" y="3899725"/>
            <ns1:ext cx="571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4,380</ns1:t>
            </ns1:r>
          </ns1:p>
        </ns0:txBody>
      </ns0:sp>
      <ns0:sp>
        <ns0:nvSpPr>
          <ns0:cNvPr id="58" name="trace:D05:content.auto.47">
            <ns1:extLst>
              <ns1:ext uri="{FF2B5EF4-FFF2-40B4-BE49-F238E27FC236}">
                <ns3:creationId id="{39C0B248-642E-4979-90AD-5255EF9358BE}"/>
              </ns1:ext>
            </ns1:extLst>
          </ns0:cNvPr>
          <ns0:cNvSpPr>
            <ns1:spLocks noGrp="1"/>
          </ns0:cNvSpPr>
          <ns0:nvPr/>
        </ns0:nvSpPr>
        <ns0:spPr>
          <ns1:xfrm>
            <ns1:off x="3019425" y="5953125"/>
            <ns1:ext cx="6858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2027年</ns1:t>
            </ns1:r>
          </ns1:p>
        </ns0:txBody>
      </ns0:sp>
      <ns0:sp>
        <ns0:nvSpPr>
          <ns0:cNvPr id="59" name="trace:D05:content.auto.48">
            <ns1:extLst>
              <ns1:ext uri="{FF2B5EF4-FFF2-40B4-BE49-F238E27FC236}">
                <ns3:creationId id="{5277E959-91FB-42E3-AB79-0B8BFADA6FF3}"/>
              </ns1:ext>
            </ns1:extLst>
          </ns0:cNvPr>
          <ns0:cNvSpPr>
            <ns1:spLocks noGrp="1"/>
          </ns0:cNvSpPr>
          <ns0:nvPr/>
        </ns0:nvSpPr>
        <ns0:spPr>
          <ns1:xfrm>
            <ns1:off x="3790950" y="3839337"/>
            <ns1:ext cx="428625" cy="1999488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0" name="trace:D05:content.auto.49">
            <ns1:extLst>
              <ns1:ext uri="{FF2B5EF4-FFF2-40B4-BE49-F238E27FC236}">
                <ns3:creationId id="{9A6AEDAB-AF94-4A97-8ADB-AE6E6326180B}"/>
              </ns1:ext>
            </ns1:extLst>
          </ns0:cNvPr>
          <ns0:cNvSpPr>
            <ns1:spLocks noGrp="1"/>
          </ns0:cNvSpPr>
          <ns0:nvPr/>
        </ns0:nvSpPr>
        <ns0:spPr>
          <ns1:xfrm>
            <ns1:off x="3724275" y="3610737"/>
            <ns1:ext cx="571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5,120</ns1:t>
            </ns1:r>
          </ns1:p>
        </ns0:txBody>
      </ns0:sp>
      <ns0:sp>
        <ns0:nvSpPr>
          <ns0:cNvPr id="61" name="trace:D05:content.auto.50">
            <ns1:extLst>
              <ns1:ext uri="{FF2B5EF4-FFF2-40B4-BE49-F238E27FC236}">
                <ns3:creationId id="{FC1EAA4A-7368-4849-AA97-0F3D1CA17603}"/>
              </ns1:ext>
            </ns1:extLst>
          </ns0:cNvPr>
          <ns0:cNvSpPr>
            <ns1:spLocks noGrp="1"/>
          </ns0:cNvSpPr>
          <ns0:nvPr/>
        </ns0:nvSpPr>
        <ns0:spPr>
          <ns1:xfrm>
            <ns1:off x="3667125" y="5953125"/>
            <ns1:ext cx="6858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2028年</ns1:t>
            </ns1:r>
          </ns1:p>
        </ns0:txBody>
      </ns0:sp>
      <ns0:sp>
        <ns0:nvSpPr>
          <ns0:cNvPr id="62" name="trace:D05:content.auto.51">
            <ns1:extLst>
              <ns1:ext uri="{FF2B5EF4-FFF2-40B4-BE49-F238E27FC236}">
                <ns3:creationId id="{E02BF980-BAB3-4514-8B75-D2A2D6E6D007}"/>
              </ns1:ext>
            </ns1:extLst>
          </ns0:cNvPr>
          <ns0:cNvSpPr>
            <ns1:spLocks noGrp="1"/>
          </ns0:cNvSpPr>
          <ns0:nvPr/>
        </ns0:nvSpPr>
        <ns0:spPr>
          <ns1:xfrm>
            <ns1:off x="2343150" y="3295650"/>
            <ns1:ext cx="1219200" cy="590550"/>
          </ns1:xfrm>
          <ns1:prstGeom prst="roundRect">
            <ns1:avLst>
              <ns1:gd name="adj" fmla="val 19355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3" name="trace:D05:title.primary.6">
            <ns1:extLst>
              <ns1:ext uri="{FF2B5EF4-FFF2-40B4-BE49-F238E27FC236}">
                <ns3:creationId id="{29282256-1A12-4DD2-883E-FF5152B83328}"/>
              </ns1:ext>
            </ns1:extLst>
          </ns0:cNvPr>
          <ns0:cNvSpPr>
            <ns1:spLocks noGrp="1"/>
          </ns0:cNvSpPr>
          <ns0:nvPr/>
        </ns0:nvSpPr>
        <ns0:spPr>
          <ns1:xfrm>
            <ns1:off x="2343150" y="3371850"/>
            <ns1:ext cx="12192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年平均成長率</ns1:t>
            </ns1:r>
          </ns1:p>
          <ns1:p>
            <ns1:pPr algn="ctr"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約15%</ns1:t>
            </ns1:r>
          </ns1:p>
        </ns0:txBody>
      </ns0:sp>
      <ns0:sp>
        <ns0:nvSpPr>
          <ns0:cNvPr id="64" name="trace:D05:content.auto.52">
            <ns1:extLst>
              <ns1:ext uri="{FF2B5EF4-FFF2-40B4-BE49-F238E27FC236}">
                <ns3:creationId id="{5D865BF9-2FFA-43E4-954D-881A48FEB080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" y="3333750"/>
            <ns1:ext cx="2524125" cy="495300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65" name="trace:D05:content.auto.53">
            <ns1:extLst>
              <ns1:ext uri="{FF2B5EF4-FFF2-40B4-BE49-F238E27FC236}">
                <ns3:creationId id="{0A67E0F0-B86F-481E-BB62-053267A58566}"/>
              </ns1:ext>
            </ns1:extLst>
          </ns0:cNvPr>
          <ns0:cNvSpPr>
            <ns1:spLocks noGrp="1"/>
          </ns0:cNvSpPr>
          <ns0:nvPr/>
        </ns0:nvSpPr>
        <ns0:spPr>
          <ns1:xfrm>
            <ns1:off x="3771900" y="3333750"/>
            <ns1:ext cx="114300" cy="114300"/>
          </ns1:xfrm>
          <ns1:custGeom>
            <ns1:pathLst>
              <ns1:path w="114300" h="114300">
                <ns1:moveTo>
                  <ns1:pt x="114300" y="0"/>
                </ns1:moveTo>
                <ns1:lnTo>
                  <ns1:pt x="0" y="19050"/>
                </ns1:lnTo>
                <ns1:lnTo>
                  <ns1:pt x="57150" y="11430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6" name="trace:D05:content.auto.54">
            <ns1:extLst>
              <ns1:ext uri="{FF2B5EF4-FFF2-40B4-BE49-F238E27FC236}">
                <ns3:creationId id="{5C5DAB67-122D-4DC7-9ECC-908408195A9B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6191250"/>
            <ns1:ext cx="371475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82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出典: 各種市場調査レポートをもとに当社作成（2024年）</ns1:t>
            </ns1:r>
          </ns1:p>
        </ns0:txBody>
      </ns0:sp>
      <ns0:sp>
        <ns0:nvSpPr>
          <ns0:cNvPr id="67" name="trace:D05:content.auto.55">
            <ns1:extLst>
              <ns1:ext uri="{FF2B5EF4-FFF2-40B4-BE49-F238E27FC236}">
                <ns3:creationId id="{B42AC3EB-A8DE-4C47-BB1A-04719A704937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2876550"/>
            <ns1:ext cx="3676650" cy="3676650"/>
          </ns1:xfrm>
          <ns1:prstGeom prst="roundRect">
            <ns1:avLst>
              <ns1:gd name="adj" fmla="val 3109"/>
            </ns1:avLst>
          </ns1:prstGeom>
          <ns1:solidFill>
            <ns1:srgbClr val="F8FAFC"/>
          </ns1:solidFill>
          <ns1:ln w="0">
            <ns1:noFill/>
            <ns1:prstDash val="solid"/>
          </ns1:ln>
        </ns0:spPr>
      </ns0:sp>
      <ns0:sp>
        <ns0:nvSpPr>
          <ns0:cNvPr id="68" name="trace:D05:content.auto.56">
            <ns1:extLst>
              <ns1:ext uri="{FF2B5EF4-FFF2-40B4-BE49-F238E27FC236}">
                <ns3:creationId id="{28F1043F-CEAF-4D2E-82FA-B71E46F78F32}"/>
              </ns1:ext>
            </ns1:extLst>
          </ns0:cNvPr>
          <ns0:cNvSpPr>
            <ns1:spLocks noGrp="1"/>
          </ns0:cNvSpPr>
          <ns0:nvPr/>
        </ns0:nvSpPr>
        <ns0:spPr>
          <ns1:xfrm>
            <ns1:off x="4876800" y="3057525"/>
            <ns1:ext cx="590550" cy="5905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9" name="trace:D05:content.auto.57">
            <ns1:extLst>
              <ns1:ext uri="{FF2B5EF4-FFF2-40B4-BE49-F238E27FC236}">
                <ns3:creationId id="{358C5FF5-A998-47FE-97D2-81A1A1782A83}"/>
              </ns1:ext>
            </ns1:extLst>
          </ns0:cNvPr>
          <ns0:cNvSpPr>
            <ns1:spLocks noGrp="1"/>
          </ns0:cNvSpPr>
          <ns0:nvPr/>
        </ns0:nvSpPr>
        <ns0:spPr>
          <ns1:xfrm>
            <ns1:off x="5010150" y="3143250"/>
            <ns1:ext cx="304800" cy="400050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70" name="trace:D05:content.auto.58">
            <ns1:extLst>
              <ns1:ext uri="{FF2B5EF4-FFF2-40B4-BE49-F238E27FC236}">
                <ns3:creationId id="{7BBEE866-D9CC-4D7F-8034-CA496DEAF52E}"/>
              </ns1:ext>
            </ns1:extLst>
          </ns0:cNvPr>
          <ns0:cNvSpPr>
            <ns1:spLocks noGrp="1"/>
          </ns0:cNvSpPr>
          <ns0:nvPr/>
        </ns0:nvSpPr>
        <ns0:spPr>
          <ns1:xfrm>
            <ns1:off x="5076825" y="3257550"/>
            <ns1:ext cx="180975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71" name="trace:D05:content.auto.59">
            <ns1:extLst>
              <ns1:ext uri="{FF2B5EF4-FFF2-40B4-BE49-F238E27FC236}">
                <ns3:creationId id="{B955A301-CC7E-4651-A828-1A21410E11CB}"/>
              </ns1:ext>
            </ns1:extLst>
          </ns0:cNvPr>
          <ns0:cNvSpPr>
            <ns1:spLocks noGrp="1"/>
          </ns0:cNvSpPr>
          <ns0:nvPr/>
        </ns0:nvSpPr>
        <ns0:spPr>
          <ns1:xfrm>
            <ns1:off x="5076825" y="3352800"/>
            <ns1:ext cx="180975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72" name="trace:D05:content.auto.60">
            <ns1:extLst>
              <ns1:ext uri="{FF2B5EF4-FFF2-40B4-BE49-F238E27FC236}">
                <ns3:creationId id="{C7293D8A-45D9-4CEB-83EA-381D22423B24}"/>
              </ns1:ext>
            </ns1:extLst>
          </ns0:cNvPr>
          <ns0:cNvSpPr>
            <ns1:spLocks noGrp="1"/>
          </ns0:cNvSpPr>
          <ns0:nvPr/>
        </ns0:nvSpPr>
        <ns0:spPr>
          <ns1:xfrm>
            <ns1:off x="5076825" y="3448050"/>
            <ns1:ext cx="152400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73" name="trace:D05:title.primary.7">
            <ns1:extLst>
              <ns1:ext uri="{FF2B5EF4-FFF2-40B4-BE49-F238E27FC236}">
                <ns3:creationId id="{D76ACF88-1A69-4F45-B2C9-BB3ED9FC0871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3114675"/>
            <ns1:ext cx="2381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企業のDX加速</ns1:t>
            </ns1:r>
          </ns1:p>
        </ns0:txBody>
      </ns0:sp>
      <ns0:sp>
        <ns0:nvSpPr>
          <ns0:cNvPr id="74" name="trace:D05:title.primary.8">
            <ns1:extLst>
              <ns1:ext uri="{FF2B5EF4-FFF2-40B4-BE49-F238E27FC236}">
                <ns3:creationId id="{B0AFD151-2159-4800-B435-1BECED2DD507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3362325"/>
            <ns1:ext cx="2428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業務効率化・生産性向上を目的とした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デジタル投資が継続的に拡大。</ns1:t>
            </ns1:r>
          </ns1:p>
        </ns0:txBody>
      </ns0:sp>
      <ns0:sp>
        <ns0:nvSpPr>
          <ns0:cNvPr id="75" name="trace:D05:content.auto.61">
            <ns1:extLst>
              <ns1:ext uri="{FF2B5EF4-FFF2-40B4-BE49-F238E27FC236}">
                <ns3:creationId id="{AC45808B-116F-495E-8F73-5D5997C339B8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3800475"/>
            <ns1:ext cx="2457450" cy="9525"/>
          </ns1:xfrm>
          <ns1:prstGeom prst="line">
            <ns1:avLst/>
          </ns1:prstGeom>
          <ns1:noFill/>
          <ns1:ln w="9525">
            <ns1:solidFill>
              <ns1:srgbClr val="E7EBEF"/>
            </ns1:solidFill>
            <ns1:prstDash val="solid"/>
          </ns1:ln>
        </ns0:spPr>
      </ns0:sp>
      <ns0:sp>
        <ns0:nvSpPr>
          <ns0:cNvPr id="76" name="trace:D05:content.auto.62">
            <ns1:extLst>
              <ns1:ext uri="{FF2B5EF4-FFF2-40B4-BE49-F238E27FC236}">
                <ns3:creationId id="{21D0DAAE-7B0E-4664-961D-B5244F579D00}"/>
              </ns1:ext>
            </ns1:extLst>
          </ns0:cNvPr>
          <ns0:cNvSpPr>
            <ns1:spLocks noGrp="1"/>
          </ns0:cNvSpPr>
          <ns0:nvPr/>
        </ns0:nvSpPr>
        <ns0:spPr>
          <ns1:xfrm>
            <ns1:off x="4876800" y="3876675"/>
            <ns1:ext cx="590550" cy="5905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7" name="trace:D05:content.auto.63">
            <ns1:extLst>
              <ns1:ext uri="{FF2B5EF4-FFF2-40B4-BE49-F238E27FC236}">
                <ns3:creationId id="{42A99F57-589B-4C11-96FD-53965637E1E7}"/>
              </ns1:ext>
            </ns1:extLst>
          </ns0:cNvPr>
          <ns0:cNvSpPr>
            <ns1:spLocks noGrp="1"/>
          </ns0:cNvSpPr>
          <ns0:nvPr/>
        </ns0:nvSpPr>
        <ns0:spPr>
          <ns1:xfrm>
            <ns1:off x="5019675" y="4029075"/>
            <ns1:ext cx="285750" cy="285750"/>
          </ns1:xfrm>
          <ns1:prstGeom prst="roundRect">
            <ns1:avLst>
              <ns1:gd name="adj" fmla="val 40000"/>
            </ns1:avLst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78" name="trace:D05:content.auto.64">
            <ns1:extLst>
              <ns1:ext uri="{FF2B5EF4-FFF2-40B4-BE49-F238E27FC236}">
                <ns3:creationId id="{6DA6B04E-A264-45D5-9000-BEB8910C9622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4095750"/>
            <ns1:ext cx="2286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8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8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AI</ns1:t>
            </ns1:r>
          </ns1:p>
        </ns0:txBody>
      </ns0:sp>
      <ns0:sp>
        <ns0:nvSpPr>
          <ns0:cNvPr id="79" name="trace:D05:content.auto.65">
            <ns1:extLst>
              <ns1:ext uri="{FF2B5EF4-FFF2-40B4-BE49-F238E27FC236}">
                <ns3:creationId id="{4ABF26A5-C9F8-4D34-A668-17D25692151B}"/>
              </ns1:ext>
            </ns1:extLst>
          </ns0:cNvPr>
          <ns0:cNvSpPr>
            <ns1:spLocks noGrp="1"/>
          </ns0:cNvSpPr>
          <ns0:nvPr/>
        </ns0:nvSpPr>
        <ns0:spPr>
          <ns1:xfrm>
            <ns1:off x="4972050" y="3981450"/>
            <ns1:ext cx="9525" cy="476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80" name="trace:D05:content.auto.66">
            <ns1:extLst>
              <ns1:ext uri="{FF2B5EF4-FFF2-40B4-BE49-F238E27FC236}">
                <ns3:creationId id="{0B905C72-C9AB-47F7-B44A-6B5C3D7D9FA3}"/>
              </ns1:ext>
            </ns1:extLst>
          </ns0:cNvPr>
          <ns0:cNvSpPr>
            <ns1:spLocks noGrp="1"/>
          </ns0:cNvSpPr>
          <ns0:nvPr/>
        </ns0:nvSpPr>
        <ns0:spPr>
          <ns1:xfrm>
            <ns1:off x="4972050" y="4314825"/>
            <ns1:ext cx="9525" cy="476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81" name="trace:D05:content.auto.67">
            <ns1:extLst>
              <ns1:ext uri="{FF2B5EF4-FFF2-40B4-BE49-F238E27FC236}">
                <ns3:creationId id="{E742E6A1-9818-4681-BF5C-A2820B7ACC73}"/>
              </ns1:ext>
            </ns1:extLst>
          </ns0:cNvPr>
          <ns0:cNvSpPr>
            <ns1:spLocks noGrp="1"/>
          </ns0:cNvSpPr>
          <ns0:nvPr/>
        </ns0:nvSpPr>
        <ns0:spPr>
          <ns1:xfrm>
            <ns1:off x="5067300" y="3981450"/>
            <ns1:ext cx="9525" cy="476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82" name="trace:D05:content.auto.68">
            <ns1:extLst>
              <ns1:ext uri="{FF2B5EF4-FFF2-40B4-BE49-F238E27FC236}">
                <ns3:creationId id="{CF7EE504-3795-4767-B050-50454338EF54}"/>
              </ns1:ext>
            </ns1:extLst>
          </ns0:cNvPr>
          <ns0:cNvSpPr>
            <ns1:spLocks noGrp="1"/>
          </ns0:cNvSpPr>
          <ns0:nvPr/>
        </ns0:nvSpPr>
        <ns0:spPr>
          <ns1:xfrm>
            <ns1:off x="5067300" y="4314825"/>
            <ns1:ext cx="9525" cy="476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83" name="trace:D05:content.auto.69">
            <ns1:extLst>
              <ns1:ext uri="{FF2B5EF4-FFF2-40B4-BE49-F238E27FC236}">
                <ns3:creationId id="{3C69F343-1C3C-457E-9068-678E5BE5B035}"/>
              </ns1:ext>
            </ns1:extLst>
          </ns0:cNvPr>
          <ns0:cNvSpPr>
            <ns1:spLocks noGrp="1"/>
          </ns0:cNvSpPr>
          <ns0:nvPr/>
        </ns0:nvSpPr>
        <ns0:spPr>
          <ns1:xfrm>
            <ns1:off x="5162550" y="3981450"/>
            <ns1:ext cx="9525" cy="476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84" name="trace:D05:content.auto.70">
            <ns1:extLst>
              <ns1:ext uri="{FF2B5EF4-FFF2-40B4-BE49-F238E27FC236}">
                <ns3:creationId id="{51E23795-3AAE-4C45-9A0E-4FFA5C79AF76}"/>
              </ns1:ext>
            </ns1:extLst>
          </ns0:cNvPr>
          <ns0:cNvSpPr>
            <ns1:spLocks noGrp="1"/>
          </ns0:cNvSpPr>
          <ns0:nvPr/>
        </ns0:nvSpPr>
        <ns0:spPr>
          <ns1:xfrm>
            <ns1:off x="5162550" y="4314825"/>
            <ns1:ext cx="9525" cy="476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85" name="trace:D05:content.auto.71">
            <ns1:extLst>
              <ns1:ext uri="{FF2B5EF4-FFF2-40B4-BE49-F238E27FC236}">
                <ns3:creationId id="{7D76DA43-355E-4DB1-AF19-855BF9F10B22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3981450"/>
            <ns1:ext cx="9525" cy="476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86" name="trace:D05:content.auto.72">
            <ns1:extLst>
              <ns1:ext uri="{FF2B5EF4-FFF2-40B4-BE49-F238E27FC236}">
                <ns3:creationId id="{6E3DC9C6-2683-4A0F-9071-53AC6B12A3E7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4314825"/>
            <ns1:ext cx="9525" cy="476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87" name="trace:D05:content.auto.73">
            <ns1:extLst>
              <ns1:ext uri="{FF2B5EF4-FFF2-40B4-BE49-F238E27FC236}">
                <ns3:creationId id="{DA337D81-03C8-476C-B6A8-CED77808EFCF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3933825"/>
            <ns1:ext cx="2381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生成AIの業務活用拡大</ns1:t>
            </ns1:r>
          </ns1:p>
        </ns0:txBody>
      </ns0:sp>
      <ns0:sp>
        <ns0:nvSpPr>
          <ns0:cNvPr id="88" name="trace:D05:lead">
            <ns1:extLst>
              <ns1:ext uri="{FF2B5EF4-FFF2-40B4-BE49-F238E27FC236}">
                <ns3:creationId id="{31B61BB8-92D1-416D-AD56-FD887E6EDF01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4181475"/>
            <ns1:ext cx="2428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ChatGPTをはじめとした生成AIの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ビジネス利用が急速に普及。</ns1:t>
            </ns1:r>
          </ns1:p>
        </ns0:txBody>
      </ns0:sp>
      <ns0:sp>
        <ns0:nvSpPr>
          <ns0:cNvPr id="89" name="trace:D05:content.auto.74">
            <ns1:extLst>
              <ns1:ext uri="{FF2B5EF4-FFF2-40B4-BE49-F238E27FC236}">
                <ns3:creationId id="{79AB1124-6C98-41F2-83E1-3A121C3E6878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4619625"/>
            <ns1:ext cx="2457450" cy="9525"/>
          </ns1:xfrm>
          <ns1:prstGeom prst="line">
            <ns1:avLst/>
          </ns1:prstGeom>
          <ns1:noFill/>
          <ns1:ln w="9525">
            <ns1:solidFill>
              <ns1:srgbClr val="E7EBEF"/>
            </ns1:solidFill>
            <ns1:prstDash val="solid"/>
          </ns1:ln>
        </ns0:spPr>
      </ns0:sp>
      <ns0:sp>
        <ns0:nvSpPr>
          <ns0:cNvPr id="90" name="trace:D05:content.auto.75">
            <ns1:extLst>
              <ns1:ext uri="{FF2B5EF4-FFF2-40B4-BE49-F238E27FC236}">
                <ns3:creationId id="{03F5BCBF-ECA6-4F7F-B15E-9EE249DB5B06}"/>
              </ns1:ext>
            </ns1:extLst>
          </ns0:cNvPr>
          <ns0:cNvSpPr>
            <ns1:spLocks noGrp="1"/>
          </ns0:cNvSpPr>
          <ns0:nvPr/>
        </ns0:nvSpPr>
        <ns0:spPr>
          <ns1:xfrm>
            <ns1:off x="4876800" y="4695825"/>
            <ns1:ext cx="590550" cy="5905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1" name="trace:D05:content.auto.76">
            <ns1:extLst>
              <ns1:ext uri="{FF2B5EF4-FFF2-40B4-BE49-F238E27FC236}">
                <ns3:creationId id="{1E5BB597-620B-469C-81F3-EC311D0A6C7B}"/>
              </ns1:ext>
            </ns1:extLst>
          </ns0:cNvPr>
          <ns0:cNvSpPr>
            <ns1:spLocks noGrp="1"/>
          </ns0:cNvSpPr>
          <ns0:nvPr/>
        </ns0:nvSpPr>
        <ns0:spPr>
          <ns1:xfrm>
            <ns1:off x="4981575" y="4800600"/>
            <ns1:ext cx="171450" cy="17145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2" name="trace:D05:content.auto.77">
            <ns1:extLst>
              <ns1:ext uri="{FF2B5EF4-FFF2-40B4-BE49-F238E27FC236}">
                <ns3:creationId id="{9EE5A6E5-1A2A-4F53-9F3C-E053902C7295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4800600"/>
            <ns1:ext cx="171450" cy="17145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3" name="trace:D05:content.auto.78">
            <ns1:extLst>
              <ns1:ext uri="{FF2B5EF4-FFF2-40B4-BE49-F238E27FC236}">
                <ns3:creationId id="{F04A441A-F3C2-4F3D-AA0C-FC3A7B6FF534}"/>
              </ns1:ext>
            </ns1:extLst>
          </ns0:cNvPr>
          <ns0:cNvSpPr>
            <ns1:spLocks noGrp="1"/>
          </ns0:cNvSpPr>
          <ns0:nvPr/>
        </ns0:nvSpPr>
        <ns0:spPr>
          <ns1:xfrm>
            <ns1:off x="5095875" y="4953000"/>
            <ns1:ext cx="180975" cy="180975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4" name="trace:D05:content.auto.79">
            <ns1:extLst>
              <ns1:ext uri="{FF2B5EF4-FFF2-40B4-BE49-F238E27FC236}">
                <ns3:creationId id="{08B22601-F0CA-464D-BE66-33282FC1E4CE}"/>
              </ns1:ext>
            </ns1:extLst>
          </ns0:cNvPr>
          <ns0:cNvSpPr>
            <ns1:spLocks noGrp="1"/>
          </ns0:cNvSpPr>
          <ns0:nvPr/>
        </ns0:nvSpPr>
        <ns0:spPr>
          <ns1:xfrm>
            <ns1:off x="4972050" y="5086350"/>
            <ns1:ext cx="9525" cy="10477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5" name="trace:D05:content.auto.80">
            <ns1:extLst>
              <ns1:ext uri="{FF2B5EF4-FFF2-40B4-BE49-F238E27FC236}">
                <ns3:creationId id="{440DCC19-4BDA-409D-A945-54CD1F0C6299}"/>
              </ns1:ext>
            </ns1:extLst>
          </ns0:cNvPr>
          <ns0:cNvSpPr>
            <ns1:spLocks noGrp="1"/>
          </ns0:cNvSpPr>
          <ns0:nvPr/>
        </ns0:nvSpPr>
        <ns0:spPr>
          <ns1:xfrm>
            <ns1:off x="4972050" y="5086350"/>
            <ns1:ext cx="428625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6" name="trace:D05:content.auto.81">
            <ns1:extLst>
              <ns1:ext uri="{FF2B5EF4-FFF2-40B4-BE49-F238E27FC236}">
                <ns3:creationId id="{208C61A6-3278-428D-A7DB-0FE7448BE3B9}"/>
              </ns1:ext>
            </ns1:extLst>
          </ns0:cNvPr>
          <ns0:cNvSpPr>
            <ns1:spLocks noGrp="1"/>
          </ns0:cNvSpPr>
          <ns0:nvPr/>
        </ns0:nvSpPr>
        <ns0:spPr>
          <ns1:xfrm>
            <ns1:off x="5400675" y="5086350"/>
            <ns1:ext cx="9525" cy="10477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7" name="trace:D05:content.auto.82">
            <ns1:extLst>
              <ns1:ext uri="{FF2B5EF4-FFF2-40B4-BE49-F238E27FC236}">
                <ns3:creationId id="{5E7B7D64-DAFD-47D3-9EFF-EF8B1F07FC1B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4752975"/>
            <ns1:ext cx="2381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提案競争の激化</ns1:t>
            </ns1:r>
          </ns1:p>
        </ns0:txBody>
      </ns0:sp>
      <ns0:sp>
        <ns0:nvSpPr>
          <ns0:cNvPr id="98" name="trace:D05:content.auto.83">
            <ns1:extLst>
              <ns1:ext uri="{FF2B5EF4-FFF2-40B4-BE49-F238E27FC236}">
                <ns3:creationId id="{836FE8AE-DB92-48FA-A810-C894A185EFE1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5000625"/>
            <ns1:ext cx="2428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同業他社との差別化のため、提案の質・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スピード向上が企業の重要課題に。</ns1:t>
            </ns1:r>
          </ns1:p>
        </ns0:txBody>
      </ns0:sp>
      <ns0:sp>
        <ns0:nvSpPr>
          <ns0:cNvPr id="99" name="trace:D05:content.auto.84">
            <ns1:extLst>
              <ns1:ext uri="{FF2B5EF4-FFF2-40B4-BE49-F238E27FC236}">
                <ns3:creationId id="{495E64C7-3912-4290-8CAF-A227DCBC0A08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5438775"/>
            <ns1:ext cx="2457450" cy="9525"/>
          </ns1:xfrm>
          <ns1:prstGeom prst="line">
            <ns1:avLst/>
          </ns1:prstGeom>
          <ns1:noFill/>
          <ns1:ln w="9525">
            <ns1:solidFill>
              <ns1:srgbClr val="E7EBEF"/>
            </ns1:solidFill>
            <ns1:prstDash val="solid"/>
          </ns1:ln>
        </ns0:spPr>
      </ns0:sp>
      <ns0:sp>
        <ns0:nvSpPr>
          <ns0:cNvPr id="100" name="trace:D05:content.auto.85">
            <ns1:extLst>
              <ns1:ext uri="{FF2B5EF4-FFF2-40B4-BE49-F238E27FC236}">
                <ns3:creationId id="{D04B8FE9-7DC7-4B98-ACBE-9D3B0788D66C}"/>
              </ns1:ext>
            </ns1:extLst>
          </ns0:cNvPr>
          <ns0:cNvSpPr>
            <ns1:spLocks noGrp="1"/>
          </ns0:cNvSpPr>
          <ns0:nvPr/>
        </ns0:nvSpPr>
        <ns0:spPr>
          <ns1:xfrm>
            <ns1:off x="4876800" y="5514975"/>
            <ns1:ext cx="590550" cy="5905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1" name="trace:D05:content.auto.86">
            <ns1:extLst>
              <ns1:ext uri="{FF2B5EF4-FFF2-40B4-BE49-F238E27FC236}">
                <ns3:creationId id="{BE047725-0911-435F-A154-3EC7505CDE41}"/>
              </ns1:ext>
            </ns1:extLst>
          </ns0:cNvPr>
          <ns0:cNvSpPr>
            <ns1:spLocks noGrp="1"/>
          </ns0:cNvSpPr>
          <ns0:nvPr/>
        </ns0:nvSpPr>
        <ns0:spPr>
          <ns1:xfrm>
            <ns1:off x="5105400" y="5619750"/>
            <ns1:ext cx="152400" cy="15240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02" name="trace:D05:content.auto.87">
            <ns1:extLst>
              <ns1:ext uri="{FF2B5EF4-FFF2-40B4-BE49-F238E27FC236}">
                <ns3:creationId id="{CEA5DF33-EF15-4DE8-AA7B-7A01919A9A92}"/>
              </ns1:ext>
            </ns1:extLst>
          </ns0:cNvPr>
          <ns0:cNvSpPr>
            <ns1:spLocks noGrp="1"/>
          </ns0:cNvSpPr>
          <ns0:nvPr/>
        </ns0:nvSpPr>
        <ns0:spPr>
          <ns1:xfrm>
            <ns1:off x="5019675" y="5800725"/>
            <ns1:ext cx="323850" cy="200025"/>
          </ns1:xfrm>
          <ns1:prstGeom prst="arc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03" name="trace:D05:content.auto.88">
            <ns1:extLst>
              <ns1:ext uri="{FF2B5EF4-FFF2-40B4-BE49-F238E27FC236}">
                <ns3:creationId id="{ED695748-891B-4144-A342-94F56B082898}"/>
              </ns1:ext>
            </ns1:extLst>
          </ns0:cNvPr>
          <ns0:cNvSpPr>
            <ns1:spLocks noGrp="1"/>
          </ns0:cNvSpPr>
          <ns0:nvPr/>
        </ns0:nvSpPr>
        <ns0:spPr>
          <ns1:xfrm>
            <ns1:off x="5010150" y="6000750"/>
            <ns1:ext cx="342900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04" name="trace:D05:content.auto.89">
            <ns1:extLst>
              <ns1:ext uri="{FF2B5EF4-FFF2-40B4-BE49-F238E27FC236}">
                <ns3:creationId id="{D663667D-7765-4EF5-A0FE-B2465981160A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5572125"/>
            <ns1:ext cx="2381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働き方改革・人手不足</ns1:t>
            </ns1:r>
          </ns1:p>
        </ns0:txBody>
      </ns0:sp>
      <ns0:sp>
        <ns0:nvSpPr>
          <ns0:cNvPr id="105" name="trace:D05:content.auto.90">
            <ns1:extLst>
              <ns1:ext uri="{FF2B5EF4-FFF2-40B4-BE49-F238E27FC236}">
                <ns3:creationId id="{4238871D-6FDE-4066-94DF-4408E3F8F6E3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5819775"/>
            <ns1:ext cx="2428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限られた人員で成果を出すため、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業務の自動化・効率化ニーズが高まっている。</ns1:t>
            </ns1:r>
          </ns1:p>
        </ns0:txBody>
      </ns0:sp>
      <ns0:sp>
        <ns0:nvSpPr>
          <ns0:cNvPr id="106" name="trace:D05:content.auto.91">
            <ns1:extLst>
              <ns1:ext uri="{FF2B5EF4-FFF2-40B4-BE49-F238E27FC236}">
                <ns3:creationId id="{E4CB1EE8-04A4-4A07-A16E-0E2A3203A048}"/>
              </ns1:ext>
            </ns1:extLst>
          </ns0:cNvPr>
          <ns0:cNvSpPr>
            <ns1:spLocks noGrp="1"/>
          </ns0:cNvSpPr>
          <ns0:nvPr/>
        </ns0:nvSpPr>
        <ns0:spPr>
          <ns1:xfrm>
            <ns1:off x="8391525" y="2876550"/>
            <ns1:ext cx="3600450" cy="3676650"/>
          </ns1:xfrm>
          <ns1:prstGeom prst="roundRect">
            <ns1:avLst>
              <ns1:gd name="adj" fmla="val 3175"/>
            </ns1:avLst>
          </ns1:prstGeom>
          <ns1:solidFill>
            <ns1:srgbClr val="F8FAFC"/>
          </ns1:solidFill>
          <ns1:ln w="0">
            <ns1:noFill/>
            <ns1:prstDash val="solid"/>
          </ns1:ln>
        </ns0:spPr>
      </ns0:sp>
      <ns0:sp>
        <ns0:nvSpPr>
          <ns0:cNvPr id="107" name="trace:D05:content.auto.92">
            <ns1:extLst>
              <ns1:ext uri="{FF2B5EF4-FFF2-40B4-BE49-F238E27FC236}">
                <ns3:creationId id="{A9CC4CFF-9732-4A13-8ED3-EFCCB7450D6D}"/>
              </ns1:ext>
            </ns1:extLst>
          </ns0:cNvPr>
          <ns0:cNvSpPr>
            <ns1:spLocks noGrp="1"/>
          </ns0:cNvSpPr>
          <ns0:nvPr/>
        </ns0:nvSpPr>
        <ns0:spPr>
          <ns1:xfrm>
            <ns1:off x="9001125" y="3076575"/>
            <ns1:ext cx="2400300" cy="990600"/>
          </ns1:xfrm>
          <ns1:custGeom>
            <ns1:pathLst>
              <ns1:path w="2400300" h="990600">
                <ns1:moveTo>
                  <ns1:pt x="828675" y="0"/>
                </ns1:moveTo>
                <ns1:lnTo>
                  <ns1:pt x="1571625" y="0"/>
                </ns1:lnTo>
                <ns1:lnTo>
                  <ns1:pt x="2400300" y="990600"/>
                </ns1:lnTo>
                <ns1:lnTo>
                  <ns1:pt x="0" y="990600"/>
                </ns1:lnTo>
                <ns1:close/>
              </ns1:path>
            </ns1:pathLst>
          </ns1:custGeom>
          <ns1:solidFill>
            <ns1:srgbClr val="EFF3F7"/>
          </ns1:solidFill>
          <ns1:ln w="0">
            <ns1:noFill/>
            <ns1:prstDash val="solid"/>
          </ns1:ln>
        </ns0:spPr>
      </ns0:sp>
      <ns0:sp>
        <ns0:nvSpPr>
          <ns0:cNvPr id="108" name="trace:D05:content.auto.93">
            <ns1:extLst>
              <ns1:ext uri="{FF2B5EF4-FFF2-40B4-BE49-F238E27FC236}">
                <ns3:creationId id="{40E6DF01-FA8D-4011-8773-5B35EA708A84}"/>
              </ns1:ext>
            </ns1:extLst>
          </ns0:cNvPr>
          <ns0:cNvSpPr>
            <ns1:spLocks noGrp="1"/>
          </ns0:cNvSpPr>
          <ns0:nvPr/>
        </ns0:nvSpPr>
        <ns0:spPr>
          <ns1:xfrm>
            <ns1:off x="8648700" y="4067175"/>
            <ns1:ext cx="3114675" cy="1028700"/>
          </ns1:xfrm>
          <ns1:custGeom>
            <ns1:pathLst>
              <ns1:path w="3114675" h="1028700">
                <ns1:moveTo>
                  <ns1:pt x="352425" y="0"/>
                </ns1:moveTo>
                <ns1:lnTo>
                  <ns1:pt x="2752725" y="0"/>
                </ns1:lnTo>
                <ns1:lnTo>
                  <ns1:pt x="3114675" y="1028700"/>
                </ns1:lnTo>
                <ns1:lnTo>
                  <ns1:pt x="0" y="1028700"/>
                </ns1:lnTo>
                <ns1:close/>
              </ns1:path>
            </ns1:pathLst>
          </ns1:custGeom>
          <ns1:solidFill>
            <ns1:srgbClr val="F7B9BD"/>
          </ns1:solidFill>
          <ns1:ln w="0">
            <ns1:noFill/>
            <ns1:prstDash val="solid"/>
          </ns1:ln>
        </ns0:spPr>
      </ns0:sp>
      <ns0:sp>
        <ns0:nvSpPr>
          <ns0:cNvPr id="109" name="trace:D05:content.auto.94">
            <ns1:extLst>
              <ns1:ext uri="{FF2B5EF4-FFF2-40B4-BE49-F238E27FC236}">
                <ns3:creationId id="{56785294-2A48-427A-95DA-35D19AB2AF62}"/>
              </ns1:ext>
            </ns1:extLst>
          </ns0:cNvPr>
          <ns0:cNvSpPr>
            <ns1:spLocks noGrp="1"/>
          </ns0:cNvSpPr>
          <ns0:nvPr/>
        </ns0:nvSpPr>
        <ns0:spPr>
          <ns1:xfrm>
            <ns1:off x="8515350" y="5095875"/>
            <ns1:ext cx="3438525" cy="1038225"/>
          </ns1:xfrm>
          <ns1:custGeom>
            <ns1:pathLst>
              <ns1:path w="3438525" h="1038225">
                <ns1:moveTo>
                  <ns1:pt x="133350" y="0"/>
                </ns1:moveTo>
                <ns1:lnTo>
                  <ns1:pt x="3248025" y="0"/>
                </ns1:lnTo>
                <ns1:lnTo>
                  <ns1:pt x="3438525" y="1038225"/>
                </ns1:lnTo>
                <ns1:lnTo>
                  <ns1:pt x="0" y="1038225"/>
                </ns1:lnTo>
                <ns1:close/>
              </ns1:path>
            </ns1:pathLst>
          </ns1:custGeom>
          <ns1:solidFill>
            <ns1:srgbClr val="E7EDF3"/>
          </ns1:solidFill>
          <ns1:ln w="0">
            <ns1:noFill/>
            <ns1:prstDash val="solid"/>
          </ns1:ln>
        </ns0:spPr>
      </ns0:sp>
      <ns0:sp>
        <ns0:nvSpPr>
          <ns0:cNvPr id="110" name="trace:D05:title.primary.9">
            <ns1:extLst>
              <ns1:ext uri="{FF2B5EF4-FFF2-40B4-BE49-F238E27FC236}">
                <ns3:creationId id="{CB431C2F-5E3E-4780-B925-309E006F228D}"/>
              </ns1:ext>
            </ns1:extLst>
          </ns0:cNvPr>
          <ns0:cNvSpPr>
            <ns1:spLocks noGrp="1"/>
          </ns0:cNvSpPr>
          <ns0:nvPr/>
        </ns0:nvSpPr>
        <ns0:spPr>
          <ns1:xfrm>
            <ns1:off x="9563100" y="3276600"/>
            <ns1:ext cx="2095500" cy="695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大企業</ns1:t>
            </ns1:r>
          </ns1:p>
          <ns1:p>
            <ns1:pPr algn="ctr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約1,200社</ns1:t>
            </ns1:r>
          </ns1:p>
          <ns1:p>
            <ns1:pPr algn="ctr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(約1,500億円)</ns1:t>
            </ns1:r>
          </ns1:p>
        </ns0:txBody>
      </ns0:sp>
      <ns0:sp>
        <ns0:nvSpPr>
          <ns0:cNvPr id="111" name="trace:D05:lead.2">
            <ns1:extLst>
              <ns1:ext uri="{FF2B5EF4-FFF2-40B4-BE49-F238E27FC236}">
                <ns3:creationId id="{A7A8919F-FD4C-4F8B-9175-8ABFBB2805AA}"/>
              </ns1:ext>
            </ns1:extLst>
          </ns0:cNvPr>
          <ns0:cNvSpPr>
            <ns1:spLocks noGrp="1"/>
          </ns0:cNvSpPr>
          <ns0:nvPr/>
        </ns0:nvSpPr>
        <ns0:spPr>
          <ns1:xfrm>
            <ns1:off x="9505950" y="4257675"/>
            <ns1:ext cx="2190750" cy="695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中堅企業</ns1:t>
            </ns1:r>
          </ns1:p>
          <ns1:p>
            <ns1:pPr algn="ctr">
              <ns1:def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約8,000社</ns1:t>
            </ns1:r>
          </ns1:p>
          <ns1:p>
            <ns1:pPr algn="ctr">
              <ns1:def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(約2,800億円)</ns1:t>
            </ns1:r>
          </ns1:p>
        </ns0:txBody>
      </ns0:sp>
      <ns0:sp>
        <ns0:nvSpPr>
          <ns0:cNvPr id="112" name="trace:D05:content.auto.95">
            <ns1:extLst>
              <ns1:ext uri="{FF2B5EF4-FFF2-40B4-BE49-F238E27FC236}">
                <ns3:creationId id="{900B57D6-2B72-4E60-8436-83F973FDE85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0" y="5276850"/>
            <ns1:ext cx="2095500" cy="695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中小企業</ns1:t>
            </ns1:r>
          </ns1:p>
          <ns1:p>
            <ns1:pPr algn="ctr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約50万社</ns1:t>
            </ns1:r>
          </ns1:p>
          <ns1:p>
            <ns1:pPr algn="ctr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(約800億円)</ns1:t>
            </ns1:r>
          </ns1:p>
        </ns0:txBody>
      </ns0:sp>
      <ns0:sp>
        <ns0:nvSpPr>
          <ns0:cNvPr id="113" name="trace:D05:content.auto.96">
            <ns1:extLst>
              <ns1:ext uri="{FF2B5EF4-FFF2-40B4-BE49-F238E27FC236}">
                <ns3:creationId id="{805B9960-35C8-4C85-8F63-DA69383CB131}"/>
              </ns1:ext>
            </ns1:extLst>
          </ns0:cNvPr>
          <ns0:cNvSpPr>
            <ns1:spLocks noGrp="1"/>
          </ns0:cNvSpPr>
          <ns0:nvPr/>
        </ns0:nvSpPr>
        <ns0:spPr>
          <ns1:xfrm>
            <ns1:off x="10896600" y="3981450"/>
            <ns1:ext cx="1000125" cy="533400"/>
          </ns1:xfrm>
          <ns1:prstGeom prst="roundRect">
            <ns1:avLst>
              <ns1:gd name="adj" fmla="val 21429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14" name="trace:D05:content.auto.97">
            <ns1:extLst>
              <ns1:ext uri="{FF2B5EF4-FFF2-40B4-BE49-F238E27FC236}">
                <ns3:creationId id="{3BF20CC5-CB6D-47C9-A5A6-4554411DC78E}"/>
              </ns1:ext>
            </ns1:extLst>
          </ns0:cNvPr>
          <ns0:cNvSpPr>
            <ns1:spLocks noGrp="1"/>
          </ns0:cNvSpPr>
          <ns0:nvPr/>
        </ns0:nvSpPr>
        <ns0:spPr>
          <ns1:xfrm>
            <ns1:off x="10896600" y="4076700"/>
            <ns1:ext cx="100012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主なターゲット</ns1:t>
            </ns1:r>
          </ns1:p>
          <ns1:p>
            <ns1:pPr algn="ct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(高い成長余地)</ns1:t>
            </ns1:r>
          </ns1:p>
        </ns0:txBody>
      </ns0:sp>
      <ns0:sp>
        <ns0:nvSpPr>
          <ns0:cNvPr id="115" name="trace:D05:content.auto.98">
            <ns1:extLst>
              <ns1:ext uri="{FF2B5EF4-FFF2-40B4-BE49-F238E27FC236}">
                <ns3:creationId id="{AF9BC83E-5056-4E98-BB36-846126295842}"/>
              </ns1:ext>
            </ns1:extLst>
          </ns0:cNvPr>
          <ns0:cNvSpPr>
            <ns1:spLocks noGrp="1"/>
          </ns0:cNvSpPr>
          <ns0:nvPr/>
        </ns0:nvSpPr>
        <ns0:spPr>
          <ns1:xfrm>
            <ns1:off x="10706100" y="4514850"/>
            <ns1:ext cx="190500" cy="18097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16" name="trace:D05:content.auto.99">
            <ns1:extLst>
              <ns1:ext uri="{FF2B5EF4-FFF2-40B4-BE49-F238E27FC236}">
                <ns3:creationId id="{939E0AE2-7001-4A66-BC99-5AAE04ACC50C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4648200"/>
            <ns1:ext cx="95250" cy="952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17" name="trace:D05:content.auto.100">
            <ns1:extLst>
              <ns1:ext uri="{FF2B5EF4-FFF2-40B4-BE49-F238E27FC236}">
                <ns3:creationId id="{FD27658C-D5C0-43FA-B9DC-7DD44C3802EB}"/>
              </ns1:ext>
            </ns1:extLst>
          </ns0:cNvPr>
          <ns0:cNvSpPr>
            <ns1:spLocks noGrp="1"/>
          </ns0:cNvSpPr>
          <ns0:nvPr/>
        </ns0:nvSpPr>
        <ns0:spPr>
          <ns1:xfrm>
            <ns1:off x="8524875" y="6200775"/>
            <ns1:ext cx="22860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82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※ 企業数・市場規模は推定値</ns1:t>
            </ns1:r>
          </ns1:p>
        </ns0:txBody>
      </ns0:sp>
      <ns0:sp>
        <ns0:nvSpPr>
          <ns0:cNvPr id="118" name="trace:D05:content.auto.101">
            <ns1:extLst>
              <ns1:ext uri="{FF2B5EF4-FFF2-40B4-BE49-F238E27FC236}">
                <ns3:creationId id="{9F210C12-C2DF-43AB-8A3F-953E3585EBF7}"/>
              </ns1:ext>
            </ns1:extLst>
          </ns0:cNvPr>
          <ns0:cNvSpPr>
            <ns1:spLocks noGrp="1"/>
          </ns0:cNvSpPr>
          <ns0:nvPr/>
        </ns0:nvSpPr>
        <ns0:spPr>
          <ns1:xfrm>
            <ns1:off x="12058650" y="2876550"/>
            <ns1:ext cx="3562350" cy="3676650"/>
          </ns1:xfrm>
          <ns1:prstGeom prst="roundRect">
            <ns1:avLst>
              <ns1:gd name="adj" fmla="val 3209"/>
            </ns1:avLst>
          </ns1:prstGeom>
          <ns1:solidFill>
            <ns1:srgbClr val="F8FAFC"/>
          </ns1:solidFill>
          <ns1:ln w="0">
            <ns1:noFill/>
            <ns1:prstDash val="solid"/>
          </ns1:ln>
        </ns0:spPr>
      </ns0:sp>
      <ns0:sp>
        <ns0:nvSpPr>
          <ns0:cNvPr id="119" name="trace:D05:content.auto.102">
            <ns1:extLst>
              <ns1:ext uri="{FF2B5EF4-FFF2-40B4-BE49-F238E27FC236}">
                <ns3:creationId id="{FD4F6337-80C4-4B36-9A50-59E7BF9AEBA5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3057525"/>
            <ns1:ext cx="3219450" cy="723900"/>
          </ns1:xfrm>
          <ns1:prstGeom prst="roundRect">
            <ns1:avLst>
              <ns1:gd name="adj" fmla="val 15789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0" name="trace:D05:content.auto.103">
            <ns1:extLst>
              <ns1:ext uri="{FF2B5EF4-FFF2-40B4-BE49-F238E27FC236}">
                <ns3:creationId id="{DEEAE94C-E46A-4930-8DEA-D6770D203626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3181350"/>
            <ns1:ext cx="561975" cy="495300"/>
          </ns1:xfrm>
          <ns1:prstGeom prst="roundRect">
            <ns1:avLst>
              <ns1:gd name="adj" fmla="val 23077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21" name="trace:D05:content.auto.104">
            <ns1:extLst>
              <ns1:ext uri="{FF2B5EF4-FFF2-40B4-BE49-F238E27FC236}">
                <ns3:creationId id="{D26A6BDE-A202-4DBA-9B7F-760E65AB9A66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3314700"/>
            <ns1:ext cx="5619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122" name="trace:D05:title.primary.10">
            <ns1:extLst>
              <ns1:ext uri="{FF2B5EF4-FFF2-40B4-BE49-F238E27FC236}">
                <ns3:creationId id="{E29B1B4A-1EC8-4F4C-BE05-47533013E7CE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3171825"/>
            <ns1:ext cx="22383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提案業務の効率化ニーズ</ns1:t>
            </ns1:r>
          </ns1:p>
        </ns0:txBody>
      </ns0:sp>
      <ns0:sp>
        <ns0:nvSpPr>
          <ns0:cNvPr id="123" name="trace:D05:title.primary.11">
            <ns1:extLst>
              <ns1:ext uri="{FF2B5EF4-FFF2-40B4-BE49-F238E27FC236}">
                <ns3:creationId id="{EF8B9118-7662-4ED1-AC02-3D9692E0A86A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3429000"/>
            <ns1:ext cx="22669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提案資料作成にかかる時間・工数</ns1:t>
            </ns1:r>
          </ns1:p>
          <ns1:p>
            <ns1:pPr algn="l">
              <ns1:def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の削減ニーズが顕在化。</ns1:t>
            </ns1:r>
          </ns1:p>
        </ns0:txBody>
      </ns0:sp>
      <ns0:sp>
        <ns0:nvSpPr>
          <ns0:cNvPr id="124" name="trace:D05:content.auto.105">
            <ns1:extLst>
              <ns1:ext uri="{FF2B5EF4-FFF2-40B4-BE49-F238E27FC236}">
                <ns3:creationId id="{90031900-D1E0-4FEC-9C10-2435F27A2AA0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3867150"/>
            <ns1:ext cx="3219450" cy="723900"/>
          </ns1:xfrm>
          <ns1:prstGeom prst="roundRect">
            <ns1:avLst>
              <ns1:gd name="adj" fmla="val 15789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5" name="trace:D05:content.auto.106">
            <ns1:extLst>
              <ns1:ext uri="{FF2B5EF4-FFF2-40B4-BE49-F238E27FC236}">
                <ns3:creationId id="{EBACAC82-E8EE-40E0-9F96-A3CDAB22B606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3990975"/>
            <ns1:ext cx="561975" cy="495300"/>
          </ns1:xfrm>
          <ns1:prstGeom prst="roundRect">
            <ns1:avLst>
              <ns1:gd name="adj" fmla="val 23077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26" name="trace:D05:content.auto.107">
            <ns1:extLst>
              <ns1:ext uri="{FF2B5EF4-FFF2-40B4-BE49-F238E27FC236}">
                <ns3:creationId id="{2129F230-657F-447F-A927-CA1DC74CAD48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4124325"/>
            <ns1:ext cx="5619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127" name="trace:D05:content.auto.108">
            <ns1:extLst>
              <ns1:ext uri="{FF2B5EF4-FFF2-40B4-BE49-F238E27FC236}">
                <ns3:creationId id="{CADCAD26-D3E2-41CC-9C1B-5998E101BB52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3981450"/>
            <ns1:ext cx="22383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AI活用による提案品質の向上</ns1:t>
            </ns1:r>
          </ns1:p>
        </ns0:txBody>
      </ns0:sp>
      <ns0:sp>
        <ns0:nvSpPr>
          <ns0:cNvPr id="128" name="trace:D05:lead.3">
            <ns1:extLst>
              <ns1:ext uri="{FF2B5EF4-FFF2-40B4-BE49-F238E27FC236}">
                <ns3:creationId id="{0965247D-B677-464F-B6DE-D518BE209A20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4238625"/>
            <ns1:ext cx="22669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データに基づく提案で、</ns1:t>
            </ns1:r>
          </ns1:p>
          <ns1:p>
            <ns1:pPr algn="l">
              <ns1:def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受注率向上の可能性が高まる。</ns1:t>
            </ns1:r>
          </ns1:p>
        </ns0:txBody>
      </ns0:sp>
      <ns0:sp>
        <ns0:nvSpPr>
          <ns0:cNvPr id="129" name="trace:D05:content.auto.109">
            <ns1:extLst>
              <ns1:ext uri="{FF2B5EF4-FFF2-40B4-BE49-F238E27FC236}">
                <ns3:creationId id="{45502A11-C46D-421F-B569-C6D65318653C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4676775"/>
            <ns1:ext cx="3219450" cy="723900"/>
          </ns1:xfrm>
          <ns1:prstGeom prst="roundRect">
            <ns1:avLst>
              <ns1:gd name="adj" fmla="val 15789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30" name="trace:D05:content.auto.110">
            <ns1:extLst>
              <ns1:ext uri="{FF2B5EF4-FFF2-40B4-BE49-F238E27FC236}">
                <ns3:creationId id="{83456F4B-3061-4BD5-A297-287866680124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4800600"/>
            <ns1:ext cx="561975" cy="495300"/>
          </ns1:xfrm>
          <ns1:prstGeom prst="roundRect">
            <ns1:avLst>
              <ns1:gd name="adj" fmla="val 23077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1" name="trace:D05:content.auto.111">
            <ns1:extLst>
              <ns1:ext uri="{FF2B5EF4-FFF2-40B4-BE49-F238E27FC236}">
                <ns3:creationId id="{084C7CE1-E25F-4B96-885C-8826F2C7424E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4933950"/>
            <ns1:ext cx="5619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132" name="trace:D05:content.auto.112">
            <ns1:extLst>
              <ns1:ext uri="{FF2B5EF4-FFF2-40B4-BE49-F238E27FC236}">
                <ns3:creationId id="{5D35A2A3-08CE-405F-ABA4-4F37C68D6742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4791075"/>
            <ns1:ext cx="22383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業界・業種への横展開</ns1:t>
            </ns1:r>
          </ns1:p>
        </ns0:txBody>
      </ns0:sp>
      <ns0:sp>
        <ns0:nvSpPr>
          <ns0:cNvPr id="133" name="trace:D05:content.auto.113">
            <ns1:extLst>
              <ns1:ext uri="{FF2B5EF4-FFF2-40B4-BE49-F238E27FC236}">
                <ns3:creationId id="{7DF2EE35-C682-4E92-9D2D-BF0FB54D2C67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5048250"/>
            <ns1:ext cx="22669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特定業界から他業界への展開に</ns1:t>
            </ns1:r>
          </ns1:p>
          <ns1:p>
            <ns1:pPr algn="l">
              <ns1:def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より、市場拡大が見込める。</ns1:t>
            </ns1:r>
          </ns1:p>
        </ns0:txBody>
      </ns0:sp>
      <ns0:sp>
        <ns0:nvSpPr>
          <ns0:cNvPr id="134" name="trace:D05:content.auto.114">
            <ns1:extLst>
              <ns1:ext uri="{FF2B5EF4-FFF2-40B4-BE49-F238E27FC236}">
                <ns3:creationId id="{5905CDC2-E2FC-4B31-B936-B638257CDDEE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5486400"/>
            <ns1:ext cx="3219450" cy="723900"/>
          </ns1:xfrm>
          <ns1:prstGeom prst="roundRect">
            <ns1:avLst>
              <ns1:gd name="adj" fmla="val 15789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35" name="trace:D05:content.auto.115">
            <ns1:extLst>
              <ns1:ext uri="{FF2B5EF4-FFF2-40B4-BE49-F238E27FC236}">
                <ns3:creationId id="{F25D8F07-D94E-4D5A-AD4F-A05572CFA8D2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5610225"/>
            <ns1:ext cx="561975" cy="495300"/>
          </ns1:xfrm>
          <ns1:prstGeom prst="roundRect">
            <ns1:avLst>
              <ns1:gd name="adj" fmla="val 23077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6" name="trace:D05:content.auto.116">
            <ns1:extLst>
              <ns1:ext uri="{FF2B5EF4-FFF2-40B4-BE49-F238E27FC236}">
                <ns3:creationId id="{A6107E06-C19D-4172-AF80-FC0DC64D89A6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5743575"/>
            <ns1:ext cx="5619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137" name="trace:D05:content.auto.117">
            <ns1:extLst>
              <ns1:ext uri="{FF2B5EF4-FFF2-40B4-BE49-F238E27FC236}">
                <ns3:creationId id="{DD53560C-E816-466F-B2E9-DB6074978A06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5600700"/>
            <ns1:ext cx="22383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海外市場への展開</ns1:t>
            </ns1:r>
          </ns1:p>
        </ns0:txBody>
      </ns0:sp>
      <ns0:sp>
        <ns0:nvSpPr>
          <ns0:cNvPr id="138" name="trace:D05:content.auto.118">
            <ns1:extLst>
              <ns1:ext uri="{FF2B5EF4-FFF2-40B4-BE49-F238E27FC236}">
                <ns3:creationId id="{01F16076-FC91-48FB-86DE-6224AEBF768F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5857875"/>
            <ns1:ext cx="22669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日本での成功モデルをもとに、</ns1:t>
            </ns1:r>
          </ns1:p>
          <ns1:p>
            <ns1:pPr algn="l">
              <ns1:def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アジア市場への展開も視野に。</ns1:t>
            </ns1:r>
          </ns1:p>
        </ns0:txBody>
      </ns0:sp>
      <ns0:sp>
        <ns0:nvSpPr>
          <ns0:cNvPr id="139" name="trace:D05:content.auto.119">
            <ns1:extLst>
              <ns1:ext uri="{FF2B5EF4-FFF2-40B4-BE49-F238E27FC236}">
                <ns3:creationId id="{215A6C3C-6B5B-40FB-A58B-DA9255B3CAB4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6772275"/>
            <ns1:ext cx="3810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40" name="trace:D05:content.auto.120">
            <ns1:extLst>
              <ns1:ext uri="{FF2B5EF4-FFF2-40B4-BE49-F238E27FC236}">
                <ns3:creationId id="{9DE86DF4-AEE5-4E7E-B9A9-BCF32A294B5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6865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市場分析からの示唆</ns1:t>
            </ns1:r>
          </ns1:p>
        </ns0:txBody>
      </ns0:sp>
      <ns0:sp>
        <ns0:nvSpPr>
          <ns0:cNvPr id="141" name="trace:D05:content.auto.121">
            <ns1:extLst>
              <ns1:ext uri="{FF2B5EF4-FFF2-40B4-BE49-F238E27FC236}">
                <ns3:creationId id="{FCD086DF-8A55-4356-9C55-3220859FCF24}"/>
              </ns1:ext>
            </ns1:extLst>
          </ns0:cNvPr>
          <ns0:cNvSpPr>
            <ns1:spLocks noGrp="1"/>
          </ns0:cNvSpPr>
          <ns0:nvPr/>
        </ns0:nvSpPr>
        <ns0:spPr>
          <ns1:xfrm>
            <ns1:off x="314325" y="7086600"/>
            <ns1:ext cx="3810000" cy="1009650"/>
          </ns1:xfrm>
          <ns1:custGeom>
            <ns1:pathLst>
              <ns1:path w="3810000" h="1009650">
                <ns1:moveTo>
                  <ns1:pt x="0" y="0"/>
                </ns1:moveTo>
                <ns1:lnTo>
                  <ns1:pt x="3562350" y="0"/>
                </ns1:lnTo>
                <ns1:lnTo>
                  <ns1:pt x="3810000" y="514350"/>
                </ns1:lnTo>
                <ns1:lnTo>
                  <ns1:pt x="3562350" y="1009650"/>
                </ns1:lnTo>
                <ns1:lnTo>
                  <ns1:pt x="0" y="1009650"/>
                </ns1:lnTo>
                <ns1:lnTo>
                  <ns1:pt x="238125" y="514350"/>
                </ns1:lnTo>
                <ns1:close/>
              </ns1:path>
            </ns1:pathLst>
          </ns1:custGeom>
          <ns1:solidFill>
            <ns1:srgbClr val="FFF1F2"/>
          </ns1:solidFill>
          <ns1:ln w="0">
            <ns1:noFill/>
            <ns1:prstDash val="solid"/>
          </ns1:ln>
        </ns0:spPr>
      </ns0:sp>
      <ns0:sp>
        <ns0:nvSpPr>
          <ns0:cNvPr id="142" name="trace:D05:content.auto.122">
            <ns1:extLst>
              <ns1:ext uri="{FF2B5EF4-FFF2-40B4-BE49-F238E27FC236}">
                <ns3:creationId id="{516D3CC4-1516-4571-911F-6988276B25D7}"/>
              </ns1:ext>
            </ns1:extLst>
          </ns0:cNvPr>
          <ns0:cNvSpPr>
            <ns1:spLocks noGrp="1"/>
          </ns0:cNvSpPr>
          <ns0:nvPr/>
        </ns0:nvSpPr>
        <ns0:spPr>
          <ns1:xfrm>
            <ns1:off x="600075" y="7229475"/>
            <ns1:ext cx="428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143" name="trace:D05:content.auto.123">
            <ns1:extLst>
              <ns1:ext uri="{FF2B5EF4-FFF2-40B4-BE49-F238E27FC236}">
                <ns3:creationId id="{94ACDEBD-A718-4A08-8D41-C74B5FAFA040}"/>
              </ns1:ext>
            </ns1:extLst>
          </ns0:cNvPr>
          <ns0:cNvSpPr>
            <ns1:spLocks noGrp="1"/>
          </ns0:cNvSpPr>
          <ns0:nvPr/>
        </ns0:nvSpPr>
        <ns0:spPr>
          <ns1:xfrm>
            <ns1:off x="1038225" y="7362825"/>
            <ns1:ext cx="9525" cy="3524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4" name="trace:D05:content.auto.124">
            <ns1:extLst>
              <ns1:ext uri="{FF2B5EF4-FFF2-40B4-BE49-F238E27FC236}">
                <ns3:creationId id="{F7BC0746-698F-466B-9C08-CC85B245F73E}"/>
              </ns1:ext>
            </ns1:extLst>
          </ns0:cNvPr>
          <ns0:cNvSpPr>
            <ns1:spLocks noGrp="1"/>
          </ns0:cNvSpPr>
          <ns0:nvPr/>
        </ns0:nvSpPr>
        <ns0:spPr>
          <ns1:xfrm>
            <ns1:off x="1038225" y="7715250"/>
            <ns1:ext cx="428625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5" name="trace:D05:content.auto.125">
            <ns1:extLst>
              <ns1:ext uri="{FF2B5EF4-FFF2-40B4-BE49-F238E27FC236}">
                <ns3:creationId id="{922D4207-6F11-4BCE-85F1-B979284FD2A9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7572375"/>
            <ns1:ext cx="76200" cy="142875"/>
          </ns1:xfrm>
          <ns1:prstGeom prst="rect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6" name="trace:D05:content.auto.126">
            <ns1:extLst>
              <ns1:ext uri="{FF2B5EF4-FFF2-40B4-BE49-F238E27FC236}">
                <ns3:creationId id="{8FF31045-7A93-403C-BAB7-62A64440C37F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7486650"/>
            <ns1:ext cx="76200" cy="228600"/>
          </ns1:xfrm>
          <ns1:prstGeom prst="rect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7" name="trace:D05:content.auto.127">
            <ns1:extLst>
              <ns1:ext uri="{FF2B5EF4-FFF2-40B4-BE49-F238E27FC236}">
                <ns3:creationId id="{604DA258-1F92-46CA-91B5-1B57C8663F6C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7381875"/>
            <ns1:ext cx="76200" cy="333375"/>
          </ns1:xfrm>
          <ns1:prstGeom prst="rect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8" name="trace:D05:content.auto.128">
            <ns1:extLst>
              <ns1:ext uri="{FF2B5EF4-FFF2-40B4-BE49-F238E27FC236}">
                <ns3:creationId id="{EBCE58B9-2286-4E69-B9A2-EFFC434A7451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" y="7429500"/>
            <ns1:ext cx="266700" cy="152400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9" name="trace:D05:content.auto.129">
            <ns1:extLst>
              <ns1:ext uri="{FF2B5EF4-FFF2-40B4-BE49-F238E27FC236}">
                <ns3:creationId id="{EACC0A2A-F3A3-48A3-A493-297FB10C0E86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" y="7429500"/>
            <ns1:ext cx="66675" cy="66675"/>
          </ns1:xfrm>
          <ns1:custGeom>
            <ns1:pathLst>
              <ns1:path w="66675" h="66675">
                <ns1:moveTo>
                  <ns1:pt x="0" y="0"/>
                </ns1:moveTo>
                <ns1:lnTo>
                  <ns1:pt x="66675" y="0"/>
                </ns1:lnTo>
                <ns1:lnTo>
                  <ns1:pt x="57150" y="666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0" name="trace:D05:content.auto.130">
            <ns1:extLst>
              <ns1:ext uri="{FF2B5EF4-FFF2-40B4-BE49-F238E27FC236}">
                <ns3:creationId id="{F96FF471-DC33-4DB7-8338-1CD1346C2263}"/>
              </ns1:ext>
            </ns1:extLst>
          </ns0:cNvPr>
          <ns0:cNvSpPr>
            <ns1:spLocks noGrp="1"/>
          </ns0:cNvSpPr>
          <ns0:nvPr/>
        </ns0:nvSpPr>
        <ns0:spPr>
          <ns1:xfrm>
            <ns1:off x="1666875" y="7229475"/>
            <ns1:ext cx="223837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市場は今後も継続的に成長</ns1:t>
            </ns1:r>
          </ns1:p>
        </ns0:txBody>
      </ns0:sp>
      <ns0:sp>
        <ns0:nvSpPr>
          <ns0:cNvPr id="151" name="trace:D05:content.auto.131">
            <ns1:extLst>
              <ns1:ext uri="{FF2B5EF4-FFF2-40B4-BE49-F238E27FC236}">
                <ns3:creationId id="{51FB1C6A-AC3A-4DFC-AC44-FF9EE79530A0}"/>
              </ns1:ext>
            </ns1:extLst>
          </ns0:cNvPr>
          <ns0:cNvSpPr>
            <ns1:spLocks noGrp="1"/>
          </ns0:cNvSpPr>
          <ns0:nvPr/>
        </ns0:nvSpPr>
        <ns0:spPr>
          <ns1:xfrm>
            <ns1:off x="1666875" y="7553325"/>
            <ns1:ext cx="2238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年平均15%の成長が見込まれ、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中長期的な事業拡大のチャンスが大きい。</ns1:t>
            </ns1:r>
          </ns1:p>
        </ns0:txBody>
      </ns0:sp>
      <ns0:sp>
        <ns0:nvSpPr>
          <ns0:cNvPr id="152" name="trace:D05:content.auto.132">
            <ns1:extLst>
              <ns1:ext uri="{FF2B5EF4-FFF2-40B4-BE49-F238E27FC236}">
                <ns3:creationId id="{F9BCFAB8-C497-4169-8FE6-2B27F77BAEF5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7086600"/>
            <ns1:ext cx="3810000" cy="1009650"/>
          </ns1:xfrm>
          <ns1:custGeom>
            <ns1:pathLst>
              <ns1:path w="3810000" h="1009650">
                <ns1:moveTo>
                  <ns1:pt x="0" y="0"/>
                </ns1:moveTo>
                <ns1:lnTo>
                  <ns1:pt x="3562350" y="0"/>
                </ns1:lnTo>
                <ns1:lnTo>
                  <ns1:pt x="3810000" y="514350"/>
                </ns1:lnTo>
                <ns1:lnTo>
                  <ns1:pt x="3562350" y="1009650"/>
                </ns1:lnTo>
                <ns1:lnTo>
                  <ns1:pt x="0" y="1009650"/>
                </ns1:lnTo>
                <ns1:lnTo>
                  <ns1:pt x="238125" y="514350"/>
                </ns1:lnTo>
                <ns1:close/>
              </ns1:path>
            </ns1:pathLst>
          </ns1:custGeom>
          <ns1:solidFill>
            <ns1:srgbClr val="F0F5FA"/>
          </ns1:solidFill>
          <ns1:ln w="0">
            <ns1:noFill/>
            <ns1:prstDash val="solid"/>
          </ns1:ln>
        </ns0:spPr>
      </ns0:sp>
      <ns0:sp>
        <ns0:nvSpPr>
          <ns0:cNvPr id="153" name="trace:D05:content.auto.133">
            <ns1:extLst>
              <ns1:ext uri="{FF2B5EF4-FFF2-40B4-BE49-F238E27FC236}">
                <ns3:creationId id="{E840F034-4571-4686-A9F0-A1F888BBE65F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7229475"/>
            <ns1:ext cx="428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75" b="1">
                <ns1:solidFill>
                  <ns1:srgbClr val="1E3A64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E3A64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154" name="trace:D05:content.auto.134">
            <ns1:extLst>
              <ns1:ext uri="{FF2B5EF4-FFF2-40B4-BE49-F238E27FC236}">
                <ns3:creationId id="{CC972459-EDA8-4EFF-A81E-2A5CFD66FCC9}"/>
              </ns1:ext>
            </ns1:extLst>
          </ns0:cNvPr>
          <ns0:cNvSpPr>
            <ns1:spLocks noGrp="1"/>
          </ns0:cNvSpPr>
          <ns0:nvPr/>
        </ns0:nvSpPr>
        <ns0:spPr>
          <ns1:xfrm>
            <ns1:off x="4838700" y="7343775"/>
            <ns1:ext cx="381000" cy="381000"/>
          </ns1:xfrm>
          <ns1:prstGeom prst="ellipse">
            <ns1:avLst/>
          </ns1:prstGeom>
          <ns1:noFill/>
          <ns1:ln w="19050">
            <ns1:solidFill>
              <ns1:srgbClr val="1E3A64"/>
            </ns1:solidFill>
            <ns1:prstDash val="solid"/>
          </ns1:ln>
        </ns0:spPr>
      </ns0:sp>
      <ns0:sp>
        <ns0:nvSpPr>
          <ns0:cNvPr id="155" name="trace:D05:content.auto.135">
            <ns1:extLst>
              <ns1:ext uri="{FF2B5EF4-FFF2-40B4-BE49-F238E27FC236}">
                <ns3:creationId id="{C466395F-8994-4EFD-9ED0-ECC02E3668F4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7439025"/>
            <ns1:ext cx="190500" cy="190500"/>
          </ns1:xfrm>
          <ns1:prstGeom prst="ellipse">
            <ns1:avLst/>
          </ns1:prstGeom>
          <ns1:noFill/>
          <ns1:ln w="19050">
            <ns1:solidFill>
              <ns1:srgbClr val="1E3A64"/>
            </ns1:solidFill>
            <ns1:prstDash val="solid"/>
          </ns1:ln>
        </ns0:spPr>
      </ns0:sp>
      <ns0:sp>
        <ns0:nvSpPr>
          <ns0:cNvPr id="156" name="trace:D05:content.auto.136">
            <ns1:extLst>
              <ns1:ext uri="{FF2B5EF4-FFF2-40B4-BE49-F238E27FC236}">
                <ns3:creationId id="{1FC58073-A040-4F18-996C-09CED0DAFAC2}"/>
              </ns1:ext>
            </ns1:extLst>
          </ns0:cNvPr>
          <ns0:cNvSpPr>
            <ns1:spLocks noGrp="1"/>
          </ns0:cNvSpPr>
          <ns0:nvPr/>
        </ns0:nvSpPr>
        <ns0:spPr>
          <ns1:xfrm>
            <ns1:off x="5010150" y="7515225"/>
            <ns1:ext cx="47625" cy="47625"/>
          </ns1:xfrm>
          <ns1:prstGeom prst="ellipse">
            <ns1:avLst/>
          </ns1:prstGeom>
          <ns1:solidFill>
            <ns1:srgbClr val="1E3A64"/>
          </ns1:solidFill>
          <ns1:ln w="0">
            <ns1:noFill/>
            <ns1:prstDash val="solid"/>
          </ns1:ln>
        </ns0:spPr>
      </ns0:sp>
      <ns0:sp>
        <ns0:nvSpPr>
          <ns0:cNvPr id="157" name="trace:D05:content.auto.137">
            <ns1:extLst>
              <ns1:ext uri="{FF2B5EF4-FFF2-40B4-BE49-F238E27FC236}">
                <ns3:creationId id="{BEB9F268-C41D-4CD3-AD3B-0A18EBFEEB75}"/>
              </ns1:ext>
            </ns1:extLst>
          </ns0:cNvPr>
          <ns0:cNvSpPr>
            <ns1:spLocks noGrp="1"/>
          </ns0:cNvSpPr>
          <ns0:nvPr/>
        </ns0:nvSpPr>
        <ns0:spPr>
          <ns1:xfrm>
            <ns1:off x="4791075" y="7505700"/>
            <ns1:ext cx="209550" cy="209550"/>
          </ns1:xfrm>
          <ns1:prstGeom prst="line">
            <ns1:avLst/>
          </ns1:prstGeom>
          <ns1:noFill/>
          <ns1:ln w="19050">
            <ns1:solidFill>
              <ns1:srgbClr val="1E3A64"/>
            </ns1:solidFill>
            <ns1:prstDash val="solid"/>
          </ns1:ln>
        </ns0:spPr>
      </ns0:sp>
      <ns0:sp>
        <ns0:nvSpPr>
          <ns0:cNvPr id="158" name="trace:D05:content.auto.138">
            <ns1:extLst>
              <ns1:ext uri="{FF2B5EF4-FFF2-40B4-BE49-F238E27FC236}">
                <ns3:creationId id="{972A4FBD-1474-4A0D-B714-FF8BBF056B3D}"/>
              </ns1:ext>
            </ns1:extLst>
          </ns0:cNvPr>
          <ns0:cNvSpPr>
            <ns1:spLocks noGrp="1"/>
          </ns0:cNvSpPr>
          <ns0:nvPr/>
        </ns0:nvSpPr>
        <ns0:spPr>
          <ns1:xfrm>
            <ns1:off x="4943475" y="7505700"/>
            <ns1:ext cx="76200" cy="76200"/>
          </ns1:xfrm>
          <ns1:custGeom>
            <ns1:pathLst>
              <ns1:path w="76200" h="76200">
                <ns1:moveTo>
                  <ns1:pt x="0" y="0"/>
                </ns1:moveTo>
                <ns1:lnTo>
                  <ns1:pt x="76200" y="0"/>
                </ns1:lnTo>
                <ns1:lnTo>
                  <ns1:pt x="76200" y="76200"/>
                </ns1:lnTo>
                <ns1:close/>
              </ns1:path>
            </ns1:pathLst>
          </ns1:custGeom>
          <ns1:solidFill>
            <ns1:srgbClr val="1E3A64"/>
          </ns1:solidFill>
          <ns1:ln w="0">
            <ns1:noFill/>
            <ns1:prstDash val="solid"/>
          </ns1:ln>
        </ns0:spPr>
      </ns0:sp>
      <ns0:sp>
        <ns0:nvSpPr>
          <ns0:cNvPr id="159" name="trace:D05:content.auto.139">
            <ns1:extLst>
              <ns1:ext uri="{FF2B5EF4-FFF2-40B4-BE49-F238E27FC236}">
                <ns3:creationId id="{90861579-1D32-4AB7-8BD0-74B5C344BAFB}"/>
              </ns1:ext>
            </ns1:extLst>
          </ns0:cNvPr>
          <ns0:cNvSpPr>
            <ns1:spLocks noGrp="1"/>
          </ns0:cNvSpPr>
          <ns0:nvPr/>
        </ns0:nvSpPr>
        <ns0:spPr>
          <ns1:xfrm>
            <ns1:off x="5448300" y="7229475"/>
            <ns1:ext cx="223837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中堅企業が最重要ターゲット</ns1:t>
            </ns1:r>
          </ns1:p>
        </ns0:txBody>
      </ns0:sp>
      <ns0:sp>
        <ns0:nvSpPr>
          <ns0:cNvPr id="160" name="trace:D05:content.auto.140">
            <ns1:extLst>
              <ns1:ext uri="{FF2B5EF4-FFF2-40B4-BE49-F238E27FC236}">
                <ns3:creationId id="{44E11E89-0969-4E33-A2B6-D21B641F469B}"/>
              </ns1:ext>
            </ns1:extLst>
          </ns0:cNvPr>
          <ns0:cNvSpPr>
            <ns1:spLocks noGrp="1"/>
          </ns0:cNvSpPr>
          <ns0:nvPr/>
        </ns0:nvSpPr>
        <ns0:spPr>
          <ns1:xfrm>
            <ns1:off x="5448300" y="7553325"/>
            <ns1:ext cx="2238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提案業務の効率化ニーズが高く、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導入効果が見えやすい。</ns1:t>
            </ns1:r>
          </ns1:p>
        </ns0:txBody>
      </ns0:sp>
      <ns0:sp>
        <ns0:nvSpPr>
          <ns0:cNvPr id="161" name="trace:D05:content.auto.141">
            <ns1:extLst>
              <ns1:ext uri="{FF2B5EF4-FFF2-40B4-BE49-F238E27FC236}">
                <ns3:creationId id="{7E75E430-8CE0-49BD-8615-BDA3B9B97BF0}"/>
              </ns1:ext>
            </ns1:extLst>
          </ns0:cNvPr>
          <ns0:cNvSpPr>
            <ns1:spLocks noGrp="1"/>
          </ns0:cNvSpPr>
          <ns0:nvPr/>
        </ns0:nvSpPr>
        <ns0:spPr>
          <ns1:xfrm>
            <ns1:off x="7810500" y="7086600"/>
            <ns1:ext cx="3810000" cy="1009650"/>
          </ns1:xfrm>
          <ns1:custGeom>
            <ns1:pathLst>
              <ns1:path w="3810000" h="1009650">
                <ns1:moveTo>
                  <ns1:pt x="0" y="0"/>
                </ns1:moveTo>
                <ns1:lnTo>
                  <ns1:pt x="3562350" y="0"/>
                </ns1:lnTo>
                <ns1:lnTo>
                  <ns1:pt x="3810000" y="514350"/>
                </ns1:lnTo>
                <ns1:lnTo>
                  <ns1:pt x="3562350" y="1009650"/>
                </ns1:lnTo>
                <ns1:lnTo>
                  <ns1:pt x="0" y="1009650"/>
                </ns1:lnTo>
                <ns1:lnTo>
                  <ns1:pt x="238125" y="514350"/>
                </ns1:lnTo>
                <ns1:close/>
              </ns1:path>
            </ns1:pathLst>
          </ns1:custGeom>
          <ns1:solidFill>
            <ns1:srgbClr val="FFF1F2"/>
          </ns1:solidFill>
          <ns1:ln w="0">
            <ns1:noFill/>
            <ns1:prstDash val="solid"/>
          </ns1:ln>
        </ns0:spPr>
      </ns0:sp>
      <ns0:sp>
        <ns0:nvSpPr>
          <ns0:cNvPr id="162" name="trace:D05:content.auto.142">
            <ns1:extLst>
              <ns1:ext uri="{FF2B5EF4-FFF2-40B4-BE49-F238E27FC236}">
                <ns3:creationId id="{38F3DABF-80BD-42BA-ACD6-115D1AD21E61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7229475"/>
            <ns1:ext cx="428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163" name="trace:D05:content.auto.143">
            <ns1:extLst>
              <ns1:ext uri="{FF2B5EF4-FFF2-40B4-BE49-F238E27FC236}">
                <ns3:creationId id="{431480FC-6EC6-4A36-A03F-ED92ADB2875A}"/>
              </ns1:ext>
            </ns1:extLst>
          </ns0:cNvPr>
          <ns0:cNvSpPr>
            <ns1:spLocks noGrp="1"/>
          </ns0:cNvSpPr>
          <ns0:nvPr/>
        </ns0:nvSpPr>
        <ns0:spPr>
          <ns1:xfrm>
            <ns1:off x="8639175" y="7315200"/>
            <ns1:ext cx="209550" cy="257175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4" name="trace:D05:content.auto.144">
            <ns1:extLst>
              <ns1:ext uri="{FF2B5EF4-FFF2-40B4-BE49-F238E27FC236}">
                <ns3:creationId id="{1212B0C8-C952-420A-BEA4-AB3D3850F860}"/>
              </ns1:ext>
            </ns1:extLst>
          </ns0:cNvPr>
          <ns0:cNvSpPr>
            <ns1:spLocks noGrp="1"/>
          </ns0:cNvSpPr>
          <ns0:nvPr/>
        </ns0:nvSpPr>
        <ns0:spPr>
          <ns1:xfrm>
            <ns1:off x="8677275" y="7572375"/>
            <ns1:ext cx="13335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5" name="trace:D05:content.auto.145">
            <ns1:extLst>
              <ns1:ext uri="{FF2B5EF4-FFF2-40B4-BE49-F238E27FC236}">
                <ns3:creationId id="{0B70AB1D-649C-4043-B205-225B143BDF27}"/>
              </ns1:ext>
            </ns1:extLst>
          </ns0:cNvPr>
          <ns0:cNvSpPr>
            <ns1:spLocks noGrp="1"/>
          </ns0:cNvSpPr>
          <ns0:nvPr/>
        </ns0:nvSpPr>
        <ns0:spPr>
          <ns1:xfrm>
            <ns1:off x="8686800" y="7629525"/>
            <ns1:ext cx="11430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6" name="trace:D05:content.auto.146">
            <ns1:extLst>
              <ns1:ext uri="{FF2B5EF4-FFF2-40B4-BE49-F238E27FC236}">
                <ns3:creationId id="{5A72F120-1030-4BFA-AA1F-132BB8D0C3E5}"/>
              </ns1:ext>
            </ns1:extLst>
          </ns0:cNvPr>
          <ns0:cNvSpPr>
            <ns1:spLocks noGrp="1"/>
          </ns0:cNvSpPr>
          <ns0:nvPr/>
        </ns0:nvSpPr>
        <ns0:spPr>
          <ns1:xfrm>
            <ns1:off x="8743950" y="7219950"/>
            <ns1:ext cx="9525" cy="6667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7" name="trace:D05:content.auto.147">
            <ns1:extLst>
              <ns1:ext uri="{FF2B5EF4-FFF2-40B4-BE49-F238E27FC236}">
                <ns3:creationId id="{87374FAA-3BB0-44FE-80B8-78FBD3D030F0}"/>
              </ns1:ext>
            </ns1:extLst>
          </ns0:cNvPr>
          <ns0:cNvSpPr>
            <ns1:spLocks noGrp="1"/>
          </ns0:cNvSpPr>
          <ns0:nvPr/>
        </ns0:nvSpPr>
        <ns0:spPr>
          <ns1:xfrm>
            <ns1:off x="8534400" y="7324725"/>
            <ns1:ext cx="57150" cy="476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8" name="trace:D05:content.auto.148">
            <ns1:extLst>
              <ns1:ext uri="{FF2B5EF4-FFF2-40B4-BE49-F238E27FC236}">
                <ns3:creationId id="{B48E3547-C0BE-4608-973C-E4460AF77687}"/>
              </ns1:ext>
            </ns1:extLst>
          </ns0:cNvPr>
          <ns0:cNvSpPr>
            <ns1:spLocks noGrp="1"/>
          </ns0:cNvSpPr>
          <ns0:nvPr/>
        </ns0:nvSpPr>
        <ns0:spPr>
          <ns1:xfrm>
            <ns1:off x="8896350" y="7324725"/>
            <ns1:ext cx="57150" cy="476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9" name="trace:D05:content.auto.149">
            <ns1:extLst>
              <ns1:ext uri="{FF2B5EF4-FFF2-40B4-BE49-F238E27FC236}">
                <ns3:creationId id="{9543401A-4681-440D-BC66-D8EAD913CB3A}"/>
              </ns1:ext>
            </ns1:extLst>
          </ns0:cNvPr>
          <ns0:cNvSpPr>
            <ns1:spLocks noGrp="1"/>
          </ns0:cNvSpPr>
          <ns0:nvPr/>
        </ns0:nvSpPr>
        <ns0:spPr>
          <ns1:xfrm>
            <ns1:off x="9163050" y="7229475"/>
            <ns1:ext cx="223837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AI活用による差別化が可能</ns1:t>
            </ns1:r>
          </ns1:p>
        </ns0:txBody>
      </ns0:sp>
      <ns0:sp>
        <ns0:nvSpPr>
          <ns0:cNvPr id="170" name="trace:D05:content.auto.150">
            <ns1:extLst>
              <ns1:ext uri="{FF2B5EF4-FFF2-40B4-BE49-F238E27FC236}">
                <ns3:creationId id="{3A38FFAD-47D0-438A-AFBA-AB064A105E01}"/>
              </ns1:ext>
            </ns1:extLst>
          </ns0:cNvPr>
          <ns0:cNvSpPr>
            <ns1:spLocks noGrp="1"/>
          </ns0:cNvSpPr>
          <ns0:nvPr/>
        </ns0:nvSpPr>
        <ns0:spPr>
          <ns1:xfrm>
            <ns1:off x="9163050" y="7553325"/>
            <ns1:ext cx="22383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生成AIを活用した提案支援は、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競合に対する優位性を確立できる。</ns1:t>
            </ns1:r>
          </ns1:p>
        </ns0:txBody>
      </ns0:sp>
      <ns0:sp>
        <ns0:nvSpPr>
          <ns0:cNvPr id="171" name="trace:D05:content.auto.151">
            <ns1:extLst>
              <ns1:ext uri="{FF2B5EF4-FFF2-40B4-BE49-F238E27FC236}">
                <ns3:creationId id="{10F35561-DD4B-4051-8E35-73C8C114A7B5}"/>
              </ns1:ext>
            </ns1:extLst>
          </ns0:cNvPr>
          <ns0:cNvSpPr>
            <ns1:spLocks noGrp="1"/>
          </ns0:cNvSpPr>
          <ns0:nvPr/>
        </ns0:nvSpPr>
        <ns0:spPr>
          <ns1:xfrm>
            <ns1:off x="11525250" y="7086600"/>
            <ns1:ext cx="3905250" cy="1009650"/>
          </ns1:xfrm>
          <ns1:custGeom>
            <ns1:pathLst>
              <ns1:path w="3905250" h="1009650">
                <ns1:moveTo>
                  <ns1:pt x="0" y="0"/>
                </ns1:moveTo>
                <ns1:lnTo>
                  <ns1:pt x="3657600" y="0"/>
                </ns1:lnTo>
                <ns1:lnTo>
                  <ns1:pt x="3905250" y="514350"/>
                </ns1:lnTo>
                <ns1:lnTo>
                  <ns1:pt x="3657600" y="1009650"/>
                </ns1:lnTo>
                <ns1:lnTo>
                  <ns1:pt x="0" y="1009650"/>
                </ns1:lnTo>
                <ns1:lnTo>
                  <ns1:pt x="238125" y="514350"/>
                </ns1:lnTo>
                <ns1:close/>
              </ns1:path>
            </ns1:pathLst>
          </ns1:custGeom>
          <ns1:solidFill>
            <ns1:srgbClr val="F0F5FA"/>
          </ns1:solidFill>
          <ns1:ln w="0">
            <ns1:noFill/>
            <ns1:prstDash val="solid"/>
          </ns1:ln>
        </ns0:spPr>
      </ns0:sp>
      <ns0:sp>
        <ns0:nvSpPr>
          <ns0:cNvPr id="172" name="trace:D05:content.auto.152">
            <ns1:extLst>
              <ns1:ext uri="{FF2B5EF4-FFF2-40B4-BE49-F238E27FC236}">
                <ns3:creationId id="{738326C7-7280-42D4-AF27-EC0E0504B269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0" y="7229475"/>
            <ns1:ext cx="428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75" b="1">
                <ns1:solidFill>
                  <ns1:srgbClr val="1E3A64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E3A64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173" name="trace:D05:content.auto.153">
            <ns1:extLst>
              <ns1:ext uri="{FF2B5EF4-FFF2-40B4-BE49-F238E27FC236}">
                <ns3:creationId id="{BC22DDF2-9850-4560-ABE9-EC859D16591A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7324725"/>
            <ns1:ext cx="400050" cy="400050"/>
          </ns1:xfrm>
          <ns1:prstGeom prst="ellipse">
            <ns1:avLst/>
          </ns1:prstGeom>
          <ns1:noFill/>
          <ns1:ln w="19050">
            <ns1:solidFill>
              <ns1:srgbClr val="1E3A64"/>
            </ns1:solidFill>
            <ns1:prstDash val="solid"/>
          </ns1:ln>
        </ns0:spPr>
      </ns0:sp>
      <ns0:sp>
        <ns0:nvSpPr>
          <ns0:cNvPr id="174" name="trace:D05:content.auto.154">
            <ns1:extLst>
              <ns1:ext uri="{FF2B5EF4-FFF2-40B4-BE49-F238E27FC236}">
                <ns3:creationId id="{6BA7FF9C-1824-41C5-8BFE-1EF2A4442800}"/>
              </ns1:ext>
            </ns1:extLst>
          </ns0:cNvPr>
          <ns0:cNvSpPr>
            <ns1:spLocks noGrp="1"/>
          </ns0:cNvSpPr>
          <ns0:nvPr/>
        </ns0:nvSpPr>
        <ns0:spPr>
          <ns1:xfrm>
            <ns1:off x="12449175" y="7334250"/>
            <ns1:ext cx="9525" cy="381000"/>
          </ns1:xfrm>
          <ns1:prstGeom prst="line">
            <ns1:avLst/>
          </ns1:prstGeom>
          <ns1:noFill/>
          <ns1:ln w="19050">
            <ns1:solidFill>
              <ns1:srgbClr val="1E3A64"/>
            </ns1:solidFill>
            <ns1:prstDash val="solid"/>
          </ns1:ln>
        </ns0:spPr>
      </ns0:sp>
      <ns0:sp>
        <ns0:nvSpPr>
          <ns0:cNvPr id="175" name="trace:D05:content.auto.155">
            <ns1:extLst>
              <ns1:ext uri="{FF2B5EF4-FFF2-40B4-BE49-F238E27FC236}">
                <ns3:creationId id="{BBA5E6A3-5BDE-4BFA-8B5A-183C6EA221DD}"/>
              </ns1:ext>
            </ns1:extLst>
          </ns0:cNvPr>
          <ns0:cNvSpPr>
            <ns1:spLocks noGrp="1"/>
          </ns0:cNvSpPr>
          <ns0:nvPr/>
        </ns0:nvSpPr>
        <ns0:spPr>
          <ns1:xfrm>
            <ns1:off x="12268200" y="7524750"/>
            <ns1:ext cx="361950" cy="9525"/>
          </ns1:xfrm>
          <ns1:prstGeom prst="line">
            <ns1:avLst/>
          </ns1:prstGeom>
          <ns1:noFill/>
          <ns1:ln w="19050">
            <ns1:solidFill>
              <ns1:srgbClr val="1E3A64"/>
            </ns1:solidFill>
            <ns1:prstDash val="solid"/>
          </ns1:ln>
        </ns0:spPr>
      </ns0:sp>
      <ns0:sp>
        <ns0:nvSpPr>
          <ns0:cNvPr id="176" name="trace:D05:content.auto.156">
            <ns1:extLst>
              <ns1:ext uri="{FF2B5EF4-FFF2-40B4-BE49-F238E27FC236}">
                <ns3:creationId id="{A25646BA-A321-443A-A1C5-159D60F8A414}"/>
              </ns1:ext>
            </ns1:extLst>
          </ns0:cNvPr>
          <ns0:cNvSpPr>
            <ns1:spLocks noGrp="1"/>
          </ns0:cNvSpPr>
          <ns0:nvPr/>
        </ns0:nvSpPr>
        <ns0:spPr>
          <ns1:xfrm>
            <ns1:off x="12344400" y="7343775"/>
            <ns1:ext cx="209550" cy="361950"/>
          </ns1:xfrm>
          <ns1:prstGeom prst="ellipse">
            <ns1:avLst/>
          </ns1:prstGeom>
          <ns1:noFill/>
          <ns1:ln w="9525">
            <ns1:solidFill>
              <ns1:srgbClr val="1E3A64"/>
            </ns1:solidFill>
            <ns1:prstDash val="solid"/>
          </ns1:ln>
        </ns0:spPr>
      </ns0:sp>
      <ns0:sp>
        <ns0:nvSpPr>
          <ns0:cNvPr id="177" name="trace:D05:content.auto.157">
            <ns1:extLst>
              <ns1:ext uri="{FF2B5EF4-FFF2-40B4-BE49-F238E27FC236}">
                <ns3:creationId id="{B9FD6353-C0C4-4AEC-8799-BBCA60F5CE6E}"/>
              </ns1:ext>
            </ns1:extLst>
          </ns0:cNvPr>
          <ns0:cNvSpPr>
            <ns1:spLocks noGrp="1"/>
          </ns0:cNvSpPr>
          <ns0:nvPr/>
        </ns0:nvSpPr>
        <ns0:spPr>
          <ns1:xfrm>
            <ns1:off x="12877800" y="7229475"/>
            <ns1:ext cx="2333625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将来的な海外展開の可能性</ns1:t>
            </ns1:r>
          </ns1:p>
        </ns0:txBody>
      </ns0:sp>
      <ns0:sp>
        <ns0:nvSpPr>
          <ns0:cNvPr id="178" name="trace:D05:content.auto.158">
            <ns1:extLst>
              <ns1:ext uri="{FF2B5EF4-FFF2-40B4-BE49-F238E27FC236}">
                <ns3:creationId id="{3832F809-1558-4945-82FC-ADB7FC2EC407}"/>
              </ns1:ext>
            </ns1:extLst>
          </ns0:cNvPr>
          <ns0:cNvSpPr>
            <ns1:spLocks noGrp="1"/>
          </ns0:cNvSpPr>
          <ns0:nvPr/>
        </ns0:nvSpPr>
        <ns0:spPr>
          <ns1:xfrm>
            <ns1:off x="12877800" y="7553325"/>
            <ns1:ext cx="2333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国内市場での実績を基に、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アジア市場への展開も視野に入れる。</ns1:t>
            </ns1:r>
          </ns1:p>
        </ns0:txBody>
      </ns0:sp>
      <ns0:sp>
        <ns0:nvSpPr>
          <ns0:cNvPr id="179" name="trace:D05:content.auto.159">
            <ns1:extLst>
              <ns1:ext uri="{FF2B5EF4-FFF2-40B4-BE49-F238E27FC236}">
                <ns3:creationId id="{8C8727E3-2B04-4A70-B638-F215879A804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277225"/>
            <ns1:ext cx="266700" cy="142875"/>
          </ns1:xfrm>
          <ns1:custGeom>
            <ns1:pathLst>
              <ns1:path w="266700" h="142875">
                <ns1:moveTo>
                  <ns1:pt x="0" y="66675"/>
                </ns1:moveTo>
                <ns1:lnTo>
                  <ns1:pt x="123825" y="0"/>
                </ns1:lnTo>
                <ns1:lnTo>
                  <ns1:pt x="266700" y="66675"/>
                </ns1:lnTo>
                <ns1:lnTo>
                  <ns1:pt x="133350" y="1428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80" name="trace:D05:content.auto.160">
            <ns1:extLst>
              <ns1:ext uri="{FF2B5EF4-FFF2-40B4-BE49-F238E27FC236}">
                <ns3:creationId id="{267BF30B-CB0C-45F4-B066-A597F42B9F1C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343900"/>
            <ns1:ext cx="133350" cy="228600"/>
          </ns1:xfrm>
          <ns1:custGeom>
            <ns1:pathLst>
              <ns1:path w="133350" h="228600">
                <ns1:moveTo>
                  <ns1:pt x="0" y="0"/>
                </ns1:moveTo>
                <ns1:lnTo>
                  <ns1:pt x="133350" y="76200"/>
                </ns1:lnTo>
                <ns1:lnTo>
                  <ns1:pt x="133350" y="228600"/>
                </ns1:lnTo>
                <ns1:lnTo>
                  <ns1:pt x="0" y="15240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181" name="trace:D05:content.auto.161">
            <ns1:extLst>
              <ns1:ext uri="{FF2B5EF4-FFF2-40B4-BE49-F238E27FC236}">
                <ns3:creationId id="{FDF90767-C41A-4A70-88E4-2DAE89CBBFCA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8343900"/>
            <ns1:ext cx="133350" cy="228600"/>
          </ns1:xfrm>
          <ns1:custGeom>
            <ns1:pathLst>
              <ns1:path w="133350" h="228600">
                <ns1:moveTo>
                  <ns1:pt x="0" y="76200"/>
                </ns1:moveTo>
                <ns1:lnTo>
                  <ns1:pt x="133350" y="0"/>
                </ns1:lnTo>
                <ns1:lnTo>
                  <ns1:pt x="133350" y="152400"/>
                </ns1:lnTo>
                <ns1:lnTo>
                  <ns1:pt x="0" y="228600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82" name="trace:D05:footer.brand">
            <ns1:extLst>
              <ns1:ext uri="{FF2B5EF4-FFF2-40B4-BE49-F238E27FC236}">
                <ns3:creationId id="{2608F220-141A-4634-BB1F-D9FE9625D9EF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8334375"/>
            <ns1:ext cx="16573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83" name="trace:D05:content.auto.162">
            <ns1:extLst>
              <ns1:ext uri="{FF2B5EF4-FFF2-40B4-BE49-F238E27FC236}">
                <ns3:creationId id="{5FF0BE67-C82B-476B-A4F6-ED63D0C6CC81}"/>
              </ns1:ext>
            </ns1:extLst>
          </ns0:cNvPr>
          <ns0:cNvSpPr>
            <ns1:spLocks noGrp="1"/>
          </ns0:cNvSpPr>
          <ns0:nvPr/>
        </ns0:nvSpPr>
        <ns0:spPr>
          <ns1:xfrm>
            <ns1:off x="2619375" y="8267700"/>
            <ns1:ext cx="9525" cy="438150"/>
          </ns1:xfrm>
          <ns1:prstGeom prst="line">
            <ns1:avLst/>
          </ns1:prstGeom>
          <ns1:noFill/>
          <ns1:ln w="9525">
            <ns1:solidFill>
              <ns1:srgbClr val="D8DDE3"/>
            </ns1:solidFill>
            <ns1:prstDash val="solid"/>
          </ns1:ln>
        </ns0:spPr>
      </ns0:sp>
      <ns0:sp>
        <ns0:nvSpPr>
          <ns0:cNvPr id="184" name="trace:D05:footer.tagline.jp">
            <ns1:extLst>
              <ns1:ext uri="{FF2B5EF4-FFF2-40B4-BE49-F238E27FC236}">
                <ns3:creationId id="{6002AC62-2FDC-4F4F-9076-EEB4B18229BB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25817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85" name="trace:D05:footer.tagline.en">
            <ns1:extLst>
              <ns1:ext uri="{FF2B5EF4-FFF2-40B4-BE49-F238E27FC236}">
                <ns3:creationId id="{9A30373C-CDFC-4705-9E27-EAA06E8E9464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477250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86" name="trace:D05:footer.date">
            <ns1:extLst>
              <ns1:ext uri="{FF2B5EF4-FFF2-40B4-BE49-F238E27FC236}">
                <ns3:creationId id="{9463312A-E222-4932-8502-FF31FE390815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33437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87" name="trace:D05:content.auto.163">
            <ns1:extLst>
              <ns1:ext uri="{FF2B5EF4-FFF2-40B4-BE49-F238E27FC236}">
                <ns3:creationId id="{2DB296AC-B56D-4C99-ACB5-7332EF08CDCC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1057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4:creationId val="116523418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2026-09-20T09:57:42.4300000Z</dcterms:created>
  <dcterms:modified xsi:type="dcterms:W3CDTF">2026-09-20T09:57:42.4300000Z</dcterms:modified>
</coreProperties>
</file>