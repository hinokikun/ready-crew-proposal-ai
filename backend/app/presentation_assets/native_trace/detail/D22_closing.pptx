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e8254c990d4ff7" /><Relationship Type="http://schemas.openxmlformats.org/officeDocument/2006/relationships/extended-properties" Target="/docProps/app.xml" Id="Rbb7643ea462f4831" /><Relationship Type="http://schemas.openxmlformats.org/officeDocument/2006/relationships/officeDocument" Target="/ppt/presentation.xml" Id="R33fdfae797d144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d74df356484912"/>
  </p:sldMasterIdLst>
  <p:notesMasterIdLst>
    <p:notesMasterId xmlns:r="http://schemas.openxmlformats.org/officeDocument/2006/relationships" r:id="R4a1611a418cb4dd5"/>
  </p:notesMasterIdLst>
  <p:sldIdLst>
    <p:sldId xmlns:r="http://schemas.openxmlformats.org/officeDocument/2006/relationships" id="256" r:id="R286fb2a5d48d4c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4b1d1d4da64aac" /><Relationship Type="http://schemas.openxmlformats.org/officeDocument/2006/relationships/slideMaster" Target="/ppt/slideMasters/slideMaster1.xml" Id="R81d74df356484912" /><Relationship Type="http://schemas.openxmlformats.org/officeDocument/2006/relationships/notesMaster" Target="/ppt/notesMasters/notesMaster1.xml" Id="R4a1611a418cb4dd5" /><Relationship Type="http://schemas.openxmlformats.org/officeDocument/2006/relationships/presProps" Target="/ppt/presProps.xml" Id="Refcb255bc8154dac" /><Relationship Type="http://schemas.openxmlformats.org/officeDocument/2006/relationships/tableStyles" Target="/ppt/tableStyles.xml" Id="R8955f141aeed4648" /><Relationship Type="http://schemas.openxmlformats.org/officeDocument/2006/relationships/slide" Target="/ppt/slides/slide1.xml" Id="R286fb2a5d48d4c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7c3c5c7f67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6ffa3abbb84249" /><Relationship Type="http://schemas.openxmlformats.org/officeDocument/2006/relationships/notesMaster" Target="/ppt/notesMasters/notesMaster1.xml" Id="R8dce31ade3664c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D22 Closing native trace. Canonical image is the sole visual authority. The right-side city/person region is a limited crop because the Canonical contains photography. Content is trace-only sample content, not production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65e105135949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cc3f9c3e294adb" /><Relationship Type="http://schemas.openxmlformats.org/officeDocument/2006/relationships/slideLayout" Target="/ppt/slideLayouts/slideLayout1.xml" Id="Rb3e2221e5ada4c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e2221e5ada4c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7cad9840f4097" /><Relationship Type="http://schemas.openxmlformats.org/officeDocument/2006/relationships/image" Target="/ppt/media/image.png" Id="Re4b03d33df3d4f1a" /><Relationship Type="http://schemas.openxmlformats.org/officeDocument/2006/relationships/notesSlide" Target="/ppt/notesSlides/notesSlide1.xml" Id="R8660e5bee3394e13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4" name="trace:D22:content.auto">
            <ns1:extLst>
              <ns1:ext uri="{FF2B5EF4-FFF2-40B4-BE49-F238E27FC236}">
                <ns2:creationId id="{FBFA4417-EDCD-45EB-9DA5-A2C8BFED2F31}"/>
              </ns1:ext>
            </ns1:extLst>
          </ns0:cNvPr>
          <ns0:cNvSpPr>
            <ns1:spLocks noGrp="1"/>
          </ns0:cNvSpPr>
          <ns0:nvPr/>
        </ns0:nvSpPr>
        <ns0:spPr>
          <ns1:xfrm>
            <ns1:off x="219075" y="161925"/>
            <ns1:ext cx="5715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200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D22</ns1:t>
            </ns1:r>
          </ns1:p>
        </ns0:txBody>
      </ns0:sp>
      <ns0:sp>
        <ns0:nvSpPr>
          <ns0:cNvPr id="2" name="trace:D22:title.primary">
            <ns1:extLst>
              <ns1:ext uri="{FF2B5EF4-FFF2-40B4-BE49-F238E27FC236}">
                <ns2:creationId id="{5C0CD238-B4B4-4E81-83F7-7E7803DD17DA}"/>
              </ns1:ext>
            </ns1:extLst>
          </ns0:cNvPr>
          <ns0:cNvSpPr>
            <ns1:spLocks noGrp="1"/>
          </ns0:cNvSpPr>
          <ns0:nvPr/>
        </ns0:nvSpPr>
        <ns0:spPr>
          <ns1:xfrm>
            <ns1:off x="704850" y="161925"/>
            <ns1:ext cx="26670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200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クロージング / Closing</ns1:t>
            </ns1:r>
          </ns1:p>
        </ns0:txBody>
      </ns0:sp>
      <ns0:pic>
        <ns0:nvPicPr>
          <ns0:cNvPr id="76" name="trace:D22:image.1"/>
          <ns0:cNvPicPr>
            <ns1:picLocks noChangeAspect="1"/>
          </ns0:cNvPicPr>
          <ns0:nvPr/>
        </ns0:nvPicPr>
        <ns0:blipFill>
          <ns1:blip ns3:embed="Re4b03d33df3d4f1a"/>
          <ns1:srcRect l="0" t="15766" r="0" b="15766"/>
          <ns1:stretch>
            <ns1:fillRect l="0" t="0" r="0" b="0"/>
          </ns1:stretch>
        </ns0:blipFill>
        <ns0:spPr>
          <ns1:xfrm>
            <ns1:off x="10096500" y="228600"/>
            <ns1:ext cx="2095500" cy="5143500"/>
          </ns1:xfrm>
          <ns1:prstGeom prst="rect">
            <ns1:avLst/>
          </ns1:prstGeom>
        </ns0:spPr>
      </ns0:pic>
      <ns0:sp>
        <ns0:nvSpPr>
          <ns0:cNvPr id="4" name="trace:D22:content.auto.2">
            <ns1:extLst>
              <ns1:ext uri="{FF2B5EF4-FFF2-40B4-BE49-F238E27FC236}">
                <ns2:creationId id="{FC243774-E590-46C6-B28D-AAE0B681E6AA}"/>
              </ns1:ext>
            </ns1:extLst>
          </ns0:cNvPr>
          <ns0:cNvSpPr>
            <ns1:spLocks noGrp="1"/>
          </ns0:cNvSpPr>
          <ns0:nvPr/>
        </ns0:nvSpPr>
        <ns0:spPr>
          <ns1:xfrm rot="-1680000">
            <ns1:off x="8667750" y="0"/>
            <ns1:ext cx="514350" cy="2428875"/>
          </ns1:xfrm>
          <ns1:prstGeom prst="rect">
            <ns1:avLst/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5" name="trace:D22:content.auto.3">
            <ns1:extLst>
              <ns1:ext uri="{FF2B5EF4-FFF2-40B4-BE49-F238E27FC236}">
                <ns2:creationId id="{E088BE4F-3B07-4610-8859-C38B63688722}"/>
              </ns1:ext>
            </ns1:extLst>
          </ns0:cNvPr>
          <ns0:cNvSpPr>
            <ns1:spLocks noGrp="1"/>
          </ns0:cNvSpPr>
          <ns0:nvPr/>
        </ns0:nvSpPr>
        <ns0:spPr>
          <ns1:xfrm rot="-1680000">
            <ns1:off x="9048750" y="0"/>
            <ns1:ext cx="457200" cy="25717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6" name="trace:D22:content.auto.4">
            <ns1:extLst>
              <ns1:ext uri="{FF2B5EF4-FFF2-40B4-BE49-F238E27FC236}">
                <ns2:creationId id="{E1DC18F8-B0C0-4E52-822D-D96F0F0CB8ED}"/>
              </ns1:ext>
            </ns1:extLst>
          </ns0:cNvPr>
          <ns0:cNvSpPr>
            <ns1:spLocks noGrp="1"/>
          </ns0:cNvSpPr>
          <ns0:nvPr/>
        </ns0:nvSpPr>
        <ns0:spPr>
          <ns1:xfrm rot="-1680000">
            <ns1:off x="9429750" y="0"/>
            <ns1:ext cx="76200" cy="2619375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7" name="trace:D22:content.auto.5">
            <ns1:extLst>
              <ns1:ext uri="{FF2B5EF4-FFF2-40B4-BE49-F238E27FC236}">
                <ns2:creationId id="{E17DEFF8-93AF-4F54-A89A-7BCFE62C0401}"/>
              </ns1:ext>
            </ns1:extLst>
          </ns0:cNvPr>
          <ns0:cNvSpPr>
            <ns1:spLocks noGrp="1"/>
          </ns0:cNvSpPr>
          <ns0:nvPr/>
        </ns0:nvSpPr>
        <ns0:spPr>
          <ns1:xfrm rot="-1680000">
            <ns1:off x="9544050" y="0"/>
            <ns1:ext cx="114300" cy="2524125"/>
          </ns1:xfrm>
          <ns1:prstGeom prst="rect">
            <ns1:avLst/>
          </ns1:prstGeom>
          <ns1:solidFill>
            <ns1:srgbClr val="EAF0F6"/>
          </ns1:solidFill>
          <ns1:ln w="0">
            <ns1:noFill/>
            <ns1:prstDash val="solid"/>
          </ns1:ln>
        </ns0:spPr>
      </ns0:sp>
      <ns0:sp>
        <ns0:nvSpPr>
          <ns0:cNvPr id="8" name="trace:D22:header.brand">
            <ns1:extLst>
              <ns1:ext uri="{FF2B5EF4-FFF2-40B4-BE49-F238E27FC236}">
                <ns2:creationId id="{2EF1C21F-5C76-4F3A-88A2-C34CCC5482AA}"/>
              </ns1:ext>
            </ns1:extLst>
          </ns0:cNvPr>
          <ns0:cNvSpPr>
            <ns1:spLocks noGrp="1"/>
          </ns0:cNvSpPr>
          <ns0:nvPr/>
        </ns0:nvSpPr>
        <ns0:spPr>
          <ns1:xfrm>
            <ns1:off x="7572375" y="142875"/>
            <ns1:ext cx="1952625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350" b="1"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提案</ns1:t>
            </ns1:r>
            <ns1:r>
              <ns1:rPr sz="13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クエスト</ns1:t>
            </ns1:r>
          </ns1:p>
        </ns0:txBody>
      </ns0:sp>
      <ns0:sp>
        <ns0:nvSpPr>
          <ns0:cNvPr id="9" name="trace:D22:header.tagline">
            <ns1:extLst>
              <ns1:ext uri="{FF2B5EF4-FFF2-40B4-BE49-F238E27FC236}">
                <ns2:creationId id="{7570CF2F-1183-47A1-8C87-D043E600442A}"/>
              </ns1:ext>
            </ns1:extLst>
          </ns0:cNvPr>
          <ns0:cNvSpPr>
            <ns1:spLocks noGrp="1"/>
          </ns0:cNvSpPr>
          <ns0:nvPr/>
        </ns0:nvSpPr>
        <ns0:spPr>
          <ns1:xfrm>
            <ns1:off x="7429500" y="438150"/>
            <ns1:ext cx="2143125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435" b="1" i="0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435" b="1" i="0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AIで、提案をもっと速く、もっと強く。</ns1:t>
            </ns1:r>
          </ns1:p>
        </ns0:txBody>
      </ns0:sp>
      <ns0:sp>
        <ns0:nvSpPr>
          <ns0:cNvPr id="10" name="trace:D22:content.auto.6">
            <ns1:extLst>
              <ns1:ext uri="{FF2B5EF4-FFF2-40B4-BE49-F238E27FC236}">
                <ns2:creationId id="{212E2F25-C317-409D-8B8F-64DF9FC6C7F3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171450"/>
            <ns1:ext cx="1190625" cy="5905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1" name="trace:D22:header.message">
            <ns1:extLst>
              <ns1:ext uri="{FF2B5EF4-FFF2-40B4-BE49-F238E27FC236}">
                <ns2:creationId id="{7E779BAC-605B-43B5-B44C-C507ABFBC2D5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257175"/>
            <ns1:ext cx="10477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638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638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THINK TOGETHER,</ns1:t>
            </ns1:r>
          </ns1:p>
          <ns1:p>
            <ns1:pPr algn="l">
              <ns1:defRPr sz="638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638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CREATE THE NEXT.</ns1:t>
            </ns1:r>
          </ns1:p>
        </ns0:txBody>
      </ns0:sp>
      <ns0:sp>
        <ns0:nvSpPr>
          <ns0:cNvPr id="12" name="trace:D22:content.auto.7">
            <ns1:extLst>
              <ns1:ext uri="{FF2B5EF4-FFF2-40B4-BE49-F238E27FC236}">
                <ns2:creationId id="{7171C87E-3195-4DFE-BA20-A15E9C499737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66750"/>
            <ns1:ext cx="1047750" cy="9525"/>
          </ns1:xfrm>
          <ns1:prstGeom prst="rect">
            <ns1:avLst/>
          </ns1:prstGeom>
          <ns1:solidFill>
            <ns1:srgbClr val="0E1A2D"/>
          </ns1:solidFill>
          <ns1:ln w="0">
            <ns1:noFill/>
            <ns1:prstDash val="solid"/>
          </ns1:ln>
        </ns0:spPr>
      </ns0:sp>
      <ns0:sp>
        <ns0:nvSpPr>
          <ns0:cNvPr id="13" name="trace:D22:title.primary.2">
            <ns1:extLst>
              <ns1:ext uri="{FF2B5EF4-FFF2-40B4-BE49-F238E27FC236}">
                <ns2:creationId id="{68D93F27-DC36-423B-9745-248D600DD742}"/>
              </ns1:ext>
            </ns1:extLst>
          </ns0:cNvPr>
          <ns0:cNvSpPr>
            <ns1:spLocks noGrp="1"/>
          </ns0:cNvSpPr>
          <ns0:nvPr/>
        </ns0:nvSpPr>
        <ns0:spPr>
          <ns1:xfrm>
            <ns1:off x="361950" y="647700"/>
            <ns1:ext cx="8096250" cy="933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2700" b="1">
                <ns1:latin typeface="Yu Gothic"/>
                <ns1:ea typeface="Yu Gothic"/>
                <ns1:cs typeface="Yu Gothic"/>
              </ns1:defRPr>
            </ns1:pPr>
            <ns1:r>
              <ns1:rPr sz="270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ともに、提案の力で</ns1:t>
            </ns1:r>
          </ns1:p>
          <ns1:p>
            <ns1:pPr algn="l">
              <ns1:defRPr sz="2700" b="1">
                <ns1:latin typeface="Yu Gothic"/>
                <ns1:ea typeface="Yu Gothic"/>
                <ns1:cs typeface="Yu Gothic"/>
              </ns1:defRPr>
            </ns1:pPr>
            <ns1:r>
              <ns1:rPr sz="2700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ビジネスの未来</ns1:t>
            </ns1:r>
            <ns1:r>
              <ns1:rPr sz="270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をつくりませんか。</ns1:t>
            </ns1:r>
          </ns1:p>
        </ns0:txBody>
      </ns0:sp>
      <ns0:sp>
        <ns0:nvSpPr>
          <ns0:cNvPr id="14" name="trace:D22:header.brand.2">
            <ns1:extLst>
              <ns1:ext uri="{FF2B5EF4-FFF2-40B4-BE49-F238E27FC236}">
                <ns2:creationId id="{92C5FB2D-AE93-4E07-A7A4-F513FE8D10F4}"/>
              </ns1:ext>
            </ns1:extLst>
          </ns0:cNvPr>
          <ns0:cNvSpPr>
            <ns1:spLocks noGrp="1"/>
          </ns0:cNvSpPr>
          <ns0:nvPr/>
        </ns0:nvSpPr>
        <ns0:spPr>
          <ns1:xfrm>
            <ns1:off x="400050" y="1647825"/>
            <ns1:ext cx="819150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defRPr sz="1200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提案クエストは、AIと人の知見を組み合わせ、</ns1:t>
            </ns1:r>
          </ns1:p>
          <ns1:p>
            <ns1:pPr algn="l">
              <ns1:defRPr sz="1200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企業の提案活動をより速く、より深く、より成果につなげるためのパートナーです。</ns1:t>
            </ns1:r>
          </ns1:p>
          <ns1:p>
            <ns1:pPr algn="l">
              <ns1:defRPr sz="1200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貴社の課題に寄り添い、確かな成果の創出に向けて、全力でご支援いたします。</ns1:t>
            </ns1:r>
          </ns1:p>
        </ns0:txBody>
      </ns0:sp>
      <ns0:sp>
        <ns0:nvSpPr>
          <ns0:cNvPr id="15" name="trace:D22:content.auto.8">
            <ns1:extLst>
              <ns1:ext uri="{FF2B5EF4-FFF2-40B4-BE49-F238E27FC236}">
                <ns2:creationId id="{8902ABA8-5A24-4255-8C08-03ADBF321F04}"/>
              </ns1:ext>
            </ns1:extLst>
          </ns0:cNvPr>
          <ns0:cNvSpPr>
            <ns1:spLocks noGrp="1"/>
          </ns0:cNvSpPr>
          <ns0:nvPr/>
        </ns0:nvSpPr>
        <ns0:spPr>
          <ns1:xfrm>
            <ns1:off x="295275" y="2571750"/>
            <ns1:ext cx="47625" cy="22860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6" name="trace:D22:title.primary.3">
            <ns1:extLst>
              <ns1:ext uri="{FF2B5EF4-FFF2-40B4-BE49-F238E27FC236}">
                <ns2:creationId id="{8BEE2FD9-D944-47ED-9176-B01901F48CB8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2533650"/>
            <ns1:ext cx="3143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27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提案クエストが提供する価値</ns1:t>
            </ns1:r>
          </ns1:p>
        </ns0:txBody>
      </ns0:sp>
      <ns0:sp>
        <ns0:nvSpPr>
          <ns0:cNvPr id="17" name="trace:D22:content.auto.9">
            <ns1:extLst>
              <ns1:ext uri="{FF2B5EF4-FFF2-40B4-BE49-F238E27FC236}">
                <ns2:creationId id="{949672AA-4D02-492C-9E39-736B2A4A68F1}"/>
              </ns1:ext>
            </ns1:extLst>
          </ns0:cNvPr>
          <ns0:cNvSpPr>
            <ns1:spLocks noGrp="1"/>
          </ns0:cNvSpPr>
          <ns0:nvPr/>
        </ns0:nvSpPr>
        <ns0:spPr>
          <ns1:xfrm>
            <ns1:off x="323850" y="2895600"/>
            <ns1:ext cx="2038350" cy="1028700"/>
          </ns1:xfrm>
          <ns1:prstGeom prst="roundRect">
            <ns1:avLst>
              <ns1:gd name="adj" fmla="val 7407"/>
            </ns1:avLst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18" name="trace:D22:content.auto.10">
            <ns1:extLst>
              <ns1:ext uri="{FF2B5EF4-FFF2-40B4-BE49-F238E27FC236}">
                <ns2:creationId id="{B6EAA5D7-F70F-4317-9E60-120104AD24D5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3200400"/>
            <ns1:ext cx="323850" cy="323850"/>
          </ns1:xfrm>
          <ns1:prstGeom prst="ellipse">
            <ns1:avLst/>
          </ns1:prstGeom>
          <ns1:noFill/>
          <ns1:ln w="28575">
            <ns1:solidFill>
              <ns1:srgbClr val="ED1C24"/>
            </ns1:solidFill>
            <ns1:prstDash val="solid"/>
          </ns1:ln>
        </ns0:spPr>
      </ns0:sp>
      <ns0:sp>
        <ns0:nvSpPr>
          <ns0:cNvPr id="19" name="trace:D22:content.auto.11">
            <ns1:extLst>
              <ns1:ext uri="{FF2B5EF4-FFF2-40B4-BE49-F238E27FC236}">
                <ns2:creationId id="{517C7019-FD70-4757-B3F6-4C0E0DA217E9}"/>
              </ns1:ext>
            </ns1:extLst>
          </ns0:cNvPr>
          <ns0:cNvSpPr>
            <ns1:spLocks noGrp="1"/>
          </ns0:cNvSpPr>
          <ns0:nvPr/>
        </ns0:nvSpPr>
        <ns0:spPr>
          <ns1:xfrm>
            <ns1:off x="638175" y="3133725"/>
            <ns1:ext cx="95250" cy="47625"/>
          </ns1:xfrm>
          <ns1:prstGeom prst="roundRect">
            <ns1:avLst>
              <ns1:gd name="adj" fmla="val 50000"/>
            </ns1:avLst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20" name="trace:D22:content.auto.12">
            <ns1:extLst>
              <ns1:ext uri="{FF2B5EF4-FFF2-40B4-BE49-F238E27FC236}">
                <ns2:creationId id="{2A767EA0-B06A-478B-9E19-84CAE1F31578}"/>
              </ns1:ext>
            </ns1:extLst>
          </ns0:cNvPr>
          <ns0:cNvSpPr>
            <ns1:spLocks noGrp="1"/>
          </ns0:cNvSpPr>
          <ns0:nvPr/>
        </ns0:nvSpPr>
        <ns0:spPr>
          <ns1:xfrm rot="2700000">
            <ns1:off x="676275" y="3324225"/>
            <ns1:ext cx="28575" cy="1714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21" name="trace:D22:content.auto.13">
            <ns1:extLst>
              <ns1:ext uri="{FF2B5EF4-FFF2-40B4-BE49-F238E27FC236}">
                <ns2:creationId id="{7D5EBBB3-A6A9-4840-B6B9-5F322582C901}"/>
              </ns1:ext>
            </ns1:extLst>
          </ns0:cNvPr>
          <ns0:cNvSpPr>
            <ns1:spLocks noGrp="1"/>
          </ns0:cNvSpPr>
          <ns0:nvPr/>
        </ns0:nvSpPr>
        <ns0:spPr>
          <ns1:xfrm>
            <ns1:off x="647700" y="3324225"/>
            <ns1:ext cx="47625" cy="47625"/>
          </ns1:xfrm>
          <ns1:prstGeom prst="ellipse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22" name="trace:D22:content.auto.14">
            <ns1:extLst>
              <ns1:ext uri="{FF2B5EF4-FFF2-40B4-BE49-F238E27FC236}">
                <ns2:creationId id="{9769FEA5-AD6A-44D1-A118-BBE3F59FB053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3048000"/>
            <ns1:ext cx="11049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088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88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スピード</ns1:t>
            </ns1:r>
          </ns1:p>
        </ns0:txBody>
      </ns0:sp>
      <ns0:sp>
        <ns0:nvSpPr>
          <ns0:cNvPr id="23" name="trace:D22:content.auto.15">
            <ns1:extLst>
              <ns1:ext uri="{FF2B5EF4-FFF2-40B4-BE49-F238E27FC236}">
                <ns2:creationId id="{32977F6A-9B52-44DA-AB64-F9FBBA903B23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3343275"/>
            <ns1:ext cx="106680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defRPr sz="76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6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提案資料の作成時間を</ns1:t>
            </ns1:r>
          </ns1:p>
          <ns1:p>
            <ns1:pPr algn="l">
              <ns1:defRPr sz="76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6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大幅に短縮</ns1:t>
            </ns1:r>
          </ns1:p>
        </ns0:txBody>
      </ns0:sp>
      <ns0:sp>
        <ns0:nvSpPr>
          <ns0:cNvPr id="24" name="trace:D22:content.auto.16">
            <ns1:extLst>
              <ns1:ext uri="{FF2B5EF4-FFF2-40B4-BE49-F238E27FC236}">
                <ns2:creationId id="{EDC795DA-3901-40CD-8E71-011A23436951}"/>
              </ns1:ext>
            </ns1:extLst>
          </ns0:cNvPr>
          <ns0:cNvSpPr>
            <ns1:spLocks noGrp="1"/>
          </ns0:cNvSpPr>
          <ns0:nvPr/>
        </ns0:nvSpPr>
        <ns0:spPr>
          <ns1:xfrm>
            <ns1:off x="2438400" y="2895600"/>
            <ns1:ext cx="2038350" cy="1028700"/>
          </ns1:xfrm>
          <ns1:prstGeom prst="roundRect">
            <ns1:avLst>
              <ns1:gd name="adj" fmla="val 7407"/>
            </ns1:avLst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25" name="trace:D22:content.auto.17">
            <ns1:extLst>
              <ns1:ext uri="{FF2B5EF4-FFF2-40B4-BE49-F238E27FC236}">
                <ns2:creationId id="{0BDF7E4C-4635-4489-A00B-EA579AF2E8E2}"/>
              </ns1:ext>
            </ns1:extLst>
          </ns0:cNvPr>
          <ns0:cNvSpPr>
            <ns1:spLocks noGrp="1"/>
          </ns0:cNvSpPr>
          <ns0:nvPr/>
        </ns0:nvSpPr>
        <ns0:spPr>
          <ns1:xfrm>
            <ns1:off x="2647950" y="3133725"/>
            <ns1:ext cx="285750" cy="285750"/>
          </ns1:xfrm>
          <ns1:prstGeom prst="ellipse">
            <ns1:avLst/>
          </ns1:prstGeom>
          <ns1:noFill/>
          <ns1:ln w="23813">
            <ns1:solidFill>
              <ns1:srgbClr val="ED1C24"/>
            </ns1:solidFill>
            <ns1:prstDash val="solid"/>
          </ns1:ln>
        </ns0:spPr>
      </ns0:sp>
      <ns0:sp>
        <ns0:nvSpPr>
          <ns0:cNvPr id="26" name="trace:D22:content.auto.18">
            <ns1:extLst>
              <ns1:ext uri="{FF2B5EF4-FFF2-40B4-BE49-F238E27FC236}">
                <ns2:creationId id="{237C92DE-8C00-4F48-ACE2-F56CF1A20F50}"/>
              </ns1:ext>
            </ns1:extLst>
          </ns0:cNvPr>
          <ns0:cNvSpPr>
            <ns1:spLocks noGrp="1"/>
          </ns0:cNvSpPr>
          <ns0:nvPr/>
        </ns0:nvSpPr>
        <ns0:spPr>
          <ns1:xfrm>
            <ns1:off x="2733675" y="3409950"/>
            <ns1:ext cx="114300" cy="66675"/>
          </ns1:xfrm>
          <ns1:prstGeom prst="roundRect">
            <ns1:avLst>
              <ns1:gd name="adj" fmla="val 50000"/>
            </ns1:avLst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27" name="trace:D22:content.auto.19">
            <ns1:extLst>
              <ns1:ext uri="{FF2B5EF4-FFF2-40B4-BE49-F238E27FC236}">
                <ns2:creationId id="{57E8B4CE-B37B-47CF-92F2-565D4CD30C62}"/>
              </ns1:ext>
            </ns1:extLst>
          </ns0:cNvPr>
          <ns0:cNvSpPr>
            <ns1:spLocks noGrp="1"/>
          </ns0:cNvSpPr>
          <ns0:nvPr/>
        </ns0:nvSpPr>
        <ns0:spPr>
          <ns1:xfrm>
            <ns1:off x="2714625" y="3514725"/>
            <ns1:ext cx="152400" cy="190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28" name="trace:D22:content.auto.20">
            <ns1:extLst>
              <ns1:ext uri="{FF2B5EF4-FFF2-40B4-BE49-F238E27FC236}">
                <ns2:creationId id="{7650D317-F841-4273-B46C-281F68A5E7B0}"/>
              </ns1:ext>
            </ns1:extLst>
          </ns0:cNvPr>
          <ns0:cNvSpPr>
            <ns1:spLocks noGrp="1"/>
          </ns0:cNvSpPr>
          <ns0:nvPr/>
        </ns0:nvSpPr>
        <ns0:spPr>
          <ns1:xfrm>
            <ns1:off x="3333750" y="3048000"/>
            <ns1:ext cx="11049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088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88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質の向上</ns1:t>
            </ns1:r>
          </ns1:p>
        </ns0:txBody>
      </ns0:sp>
      <ns0:sp>
        <ns0:nvSpPr>
          <ns0:cNvPr id="29" name="trace:D22:lead">
            <ns1:extLst>
              <ns1:ext uri="{FF2B5EF4-FFF2-40B4-BE49-F238E27FC236}">
                <ns2:creationId id="{6F9C39C0-C7AC-4FE4-9434-8388267D0CF9}"/>
              </ns1:ext>
            </ns1:extLst>
          </ns0:cNvPr>
          <ns0:cNvSpPr>
            <ns1:spLocks noGrp="1"/>
          </ns0:cNvSpPr>
          <ns0:nvPr/>
        </ns0:nvSpPr>
        <ns0:spPr>
          <ns1:xfrm>
            <ns1:off x="3333750" y="3343275"/>
            <ns1:ext cx="106680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defRPr sz="76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6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AIと人の知見で</ns1:t>
            </ns1:r>
          </ns1:p>
          <ns1:p>
            <ns1:pPr algn="l">
              <ns1:defRPr sz="76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6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説得力のある提案を実現</ns1:t>
            </ns1:r>
          </ns1:p>
        </ns0:txBody>
      </ns0:sp>
      <ns0:sp>
        <ns0:nvSpPr>
          <ns0:cNvPr id="30" name="trace:D22:content.auto.21">
            <ns1:extLst>
              <ns1:ext uri="{FF2B5EF4-FFF2-40B4-BE49-F238E27FC236}">
                <ns2:creationId id="{17EFC51B-688E-40B4-AFDD-E01287B19A52}"/>
              </ns1:ext>
            </ns1:extLst>
          </ns0:cNvPr>
          <ns0:cNvSpPr>
            <ns1:spLocks noGrp="1"/>
          </ns0:cNvSpPr>
          <ns0:nvPr/>
        </ns0:nvSpPr>
        <ns0:spPr>
          <ns1:xfrm>
            <ns1:off x="4552950" y="2895600"/>
            <ns1:ext cx="2038350" cy="1028700"/>
          </ns1:xfrm>
          <ns1:prstGeom prst="roundRect">
            <ns1:avLst>
              <ns1:gd name="adj" fmla="val 7407"/>
            </ns1:avLst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31" name="trace:D22:content.auto.22">
            <ns1:extLst>
              <ns1:ext uri="{FF2B5EF4-FFF2-40B4-BE49-F238E27FC236}">
                <ns2:creationId id="{E31DFE38-7884-4EEC-8DA2-4327AF6188DC}"/>
              </ns1:ext>
            </ns1:extLst>
          </ns0:cNvPr>
          <ns0:cNvSpPr>
            <ns1:spLocks noGrp="1"/>
          </ns0:cNvSpPr>
          <ns0:nvPr/>
        </ns0:nvSpPr>
        <ns0:spPr>
          <ns1:xfrm>
            <ns1:off x="4724400" y="3495675"/>
            <ns1:ext cx="361950" cy="190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32" name="trace:D22:content.auto.23">
            <ns1:extLst>
              <ns1:ext uri="{FF2B5EF4-FFF2-40B4-BE49-F238E27FC236}">
                <ns2:creationId id="{D205C6B7-5C98-4640-AF86-77F83156ABF1}"/>
              </ns1:ext>
            </ns1:extLst>
          </ns0:cNvPr>
          <ns0:cNvSpPr>
            <ns1:spLocks noGrp="1"/>
          </ns0:cNvSpPr>
          <ns0:nvPr/>
        </ns0:nvSpPr>
        <ns0:spPr>
          <ns1:xfrm>
            <ns1:off x="4724400" y="3133725"/>
            <ns1:ext cx="19050" cy="3619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33" name="trace:D22:content.auto.24">
            <ns1:extLst>
              <ns1:ext uri="{FF2B5EF4-FFF2-40B4-BE49-F238E27FC236}">
                <ns2:creationId id="{10849792-9B6F-4CDA-86BA-C399D70BE4AF}"/>
              </ns1:ext>
            </ns1:extLst>
          </ns0:cNvPr>
          <ns0:cNvSpPr>
            <ns1:spLocks noGrp="1"/>
          </ns0:cNvSpPr>
          <ns0:nvPr/>
        </ns0:nvSpPr>
        <ns0:spPr>
          <ns1:xfrm>
            <ns1:off x="4791075" y="3333750"/>
            <ns1:ext cx="66675" cy="161925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34" name="trace:D22:content.auto.25">
            <ns1:extLst>
              <ns1:ext uri="{FF2B5EF4-FFF2-40B4-BE49-F238E27FC236}">
                <ns2:creationId id="{64934D6A-E18A-4A1A-8CAA-4E0002DD9E63}"/>
              </ns1:ext>
            </ns1:extLst>
          </ns0:cNvPr>
          <ns0:cNvSpPr>
            <ns1:spLocks noGrp="1"/>
          </ns0:cNvSpPr>
          <ns0:nvPr/>
        </ns0:nvSpPr>
        <ns0:spPr>
          <ns1:xfrm>
            <ns1:off x="4895850" y="3257550"/>
            <ns1:ext cx="66675" cy="238125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35" name="trace:D22:content.auto.26">
            <ns1:extLst>
              <ns1:ext uri="{FF2B5EF4-FFF2-40B4-BE49-F238E27FC236}">
                <ns2:creationId id="{3D3D3262-0145-4881-AA26-657A91232DF5}"/>
              </ns1:ext>
            </ns1:extLst>
          </ns0:cNvPr>
          <ns0:cNvSpPr>
            <ns1:spLocks noGrp="1"/>
          </ns0:cNvSpPr>
          <ns0:nvPr/>
        </ns0:nvSpPr>
        <ns0:spPr>
          <ns1:xfrm>
            <ns1:off x="5000625" y="3181350"/>
            <ns1:ext cx="66675" cy="314325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36" name="trace:D22:content.auto.27">
            <ns1:extLst>
              <ns1:ext uri="{FF2B5EF4-FFF2-40B4-BE49-F238E27FC236}">
                <ns2:creationId id="{F0EDF545-7E9C-44F8-BBC6-159A78D0E950}"/>
              </ns1:ext>
            </ns1:extLst>
          </ns0:cNvPr>
          <ns0:cNvSpPr>
            <ns1:spLocks noGrp="1"/>
          </ns0:cNvSpPr>
          <ns0:nvPr/>
        </ns0:nvSpPr>
        <ns0:spPr>
          <ns1:xfrm>
            <ns1:off x="5448300" y="3048000"/>
            <ns1:ext cx="11049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088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88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成果の最大化</ns1:t>
            </ns1:r>
          </ns1:p>
        </ns0:txBody>
      </ns0:sp>
      <ns0:sp>
        <ns0:nvSpPr>
          <ns0:cNvPr id="37" name="trace:D22:lead.2">
            <ns1:extLst>
              <ns1:ext uri="{FF2B5EF4-FFF2-40B4-BE49-F238E27FC236}">
                <ns2:creationId id="{B46D517F-2533-4787-9A87-ECD91CE143EA}"/>
              </ns1:ext>
            </ns1:extLst>
          </ns0:cNvPr>
          <ns0:cNvSpPr>
            <ns1:spLocks noGrp="1"/>
          </ns0:cNvSpPr>
          <ns0:nvPr/>
        </ns0:nvSpPr>
        <ns0:spPr>
          <ns1:xfrm>
            <ns1:off x="5448300" y="3343275"/>
            <ns1:ext cx="106680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defRPr sz="76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6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受注率の向上と</ns1:t>
            </ns1:r>
          </ns1:p>
          <ns1:p>
            <ns1:pPr algn="l">
              <ns1:defRPr sz="76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6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ビジネス機会の拡大</ns1:t>
            </ns1:r>
          </ns1:p>
        </ns0:txBody>
      </ns0:sp>
      <ns0:sp>
        <ns0:nvSpPr>
          <ns0:cNvPr id="38" name="trace:D22:content.auto.28">
            <ns1:extLst>
              <ns1:ext uri="{FF2B5EF4-FFF2-40B4-BE49-F238E27FC236}">
                <ns2:creationId id="{986B1146-5AA4-40D4-B71C-039903B32560}"/>
              </ns1:ext>
            </ns1:extLst>
          </ns0:cNvPr>
          <ns0:cNvSpPr>
            <ns1:spLocks noGrp="1"/>
          </ns0:cNvSpPr>
          <ns0:nvPr/>
        </ns0:nvSpPr>
        <ns0:spPr>
          <ns1:xfrm>
            <ns1:off x="6667500" y="2895600"/>
            <ns1:ext cx="2038350" cy="1028700"/>
          </ns1:xfrm>
          <ns1:prstGeom prst="roundRect">
            <ns1:avLst>
              <ns1:gd name="adj" fmla="val 7407"/>
            </ns1:avLst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39" name="trace:D22:content.auto.29">
            <ns1:extLst>
              <ns1:ext uri="{FF2B5EF4-FFF2-40B4-BE49-F238E27FC236}">
                <ns2:creationId id="{A21B2EFB-3E75-49E5-8551-9BAA343A9236}"/>
              </ns1:ext>
            </ns1:extLst>
          </ns0:cNvPr>
          <ns0:cNvSpPr>
            <ns1:spLocks noGrp="1"/>
          </ns0:cNvSpPr>
          <ns0:nvPr/>
        </ns0:nvSpPr>
        <ns0:spPr>
          <ns1:xfrm>
            <ns1:off x="6981825" y="3133725"/>
            <ns1:ext cx="114300" cy="114300"/>
          </ns1:xfrm>
          <ns1:prstGeom prst="ellipse">
            <ns1:avLst/>
          </ns1:prstGeom>
          <ns1:noFill/>
          <ns1:ln w="23813">
            <ns1:solidFill>
              <ns1:srgbClr val="ED1C24"/>
            </ns1:solidFill>
            <ns1:prstDash val="solid"/>
          </ns1:ln>
        </ns0:spPr>
      </ns0:sp>
      <ns0:sp>
        <ns0:nvSpPr>
          <ns0:cNvPr id="40" name="trace:D22:content.auto.30">
            <ns1:extLst>
              <ns1:ext uri="{FF2B5EF4-FFF2-40B4-BE49-F238E27FC236}">
                <ns2:creationId id="{0B209C8B-A9E0-42D5-BA6D-D9E8F7275EB6}"/>
              </ns1:ext>
            </ns1:extLst>
          </ns0:cNvPr>
          <ns0:cNvSpPr>
            <ns1:spLocks noGrp="1"/>
          </ns0:cNvSpPr>
          <ns0:nvPr/>
        </ns0:nvSpPr>
        <ns0:spPr>
          <ns1:xfrm>
            <ns1:off x="6838950" y="3171825"/>
            <ns1:ext cx="85725" cy="85725"/>
          </ns1:xfrm>
          <ns1:prstGeom prst="ellipse">
            <ns1:avLst/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41" name="trace:D22:content.auto.31">
            <ns1:extLst>
              <ns1:ext uri="{FF2B5EF4-FFF2-40B4-BE49-F238E27FC236}">
                <ns2:creationId id="{46FA0EBD-051A-4E05-B5B4-D363C82A4E83}"/>
              </ns1:ext>
            </ns1:extLst>
          </ns0:cNvPr>
          <ns0:cNvSpPr>
            <ns1:spLocks noGrp="1"/>
          </ns0:cNvSpPr>
          <ns0:nvPr/>
        </ns0:nvSpPr>
        <ns0:spPr>
          <ns1:xfrm>
            <ns1:off x="7153275" y="3171825"/>
            <ns1:ext cx="85725" cy="85725"/>
          </ns1:xfrm>
          <ns1:prstGeom prst="ellipse">
            <ns1:avLst/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42" name="trace:D22:content.auto.32">
            <ns1:extLst>
              <ns1:ext uri="{FF2B5EF4-FFF2-40B4-BE49-F238E27FC236}">
                <ns2:creationId id="{42DE57E8-2373-49D4-8A41-DC1F4128A7F1}"/>
              </ns1:ext>
            </ns1:extLst>
          </ns0:cNvPr>
          <ns0:cNvSpPr>
            <ns1:spLocks noGrp="1"/>
          </ns0:cNvSpPr>
          <ns0:nvPr/>
        </ns0:nvSpPr>
        <ns0:spPr>
          <ns1:xfrm>
            <ns1:off x="6915150" y="3305175"/>
            <ns1:ext cx="238125" cy="133350"/>
          </ns1:xfrm>
          <ns1:prstGeom prst="roundRect">
            <ns1:avLst>
              <ns1:gd name="adj" fmla="val 50000"/>
            </ns1:avLst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43" name="trace:D22:content.auto.33">
            <ns1:extLst>
              <ns1:ext uri="{FF2B5EF4-FFF2-40B4-BE49-F238E27FC236}">
                <ns2:creationId id="{DFDA34E4-5343-40E6-B926-305DA7985EDC}"/>
              </ns1:ext>
            </ns1:extLst>
          </ns0:cNvPr>
          <ns0:cNvSpPr>
            <ns1:spLocks noGrp="1"/>
          </ns0:cNvSpPr>
          <ns0:nvPr/>
        </ns0:nvSpPr>
        <ns0:spPr>
          <ns1:xfrm>
            <ns1:off x="6819900" y="3324225"/>
            <ns1:ext cx="133350" cy="114300"/>
          </ns1:xfrm>
          <ns1:prstGeom prst="roundRect">
            <ns1:avLst>
              <ns1:gd name="adj" fmla="val 50000"/>
            </ns1:avLst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44" name="trace:D22:content.auto.34">
            <ns1:extLst>
              <ns1:ext uri="{FF2B5EF4-FFF2-40B4-BE49-F238E27FC236}">
                <ns2:creationId id="{C40EA406-E390-4B66-8C8A-D2FF68A4D614}"/>
              </ns1:ext>
            </ns1:extLst>
          </ns0:cNvPr>
          <ns0:cNvSpPr>
            <ns1:spLocks noGrp="1"/>
          </ns0:cNvSpPr>
          <ns0:nvPr/>
        </ns0:nvSpPr>
        <ns0:spPr>
          <ns1:xfrm>
            <ns1:off x="7115175" y="3324225"/>
            <ns1:ext cx="133350" cy="114300"/>
          </ns1:xfrm>
          <ns1:prstGeom prst="roundRect">
            <ns1:avLst>
              <ns1:gd name="adj" fmla="val 50000"/>
            </ns1:avLst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45" name="trace:D22:content.auto.35">
            <ns1:extLst>
              <ns1:ext uri="{FF2B5EF4-FFF2-40B4-BE49-F238E27FC236}">
                <ns2:creationId id="{2E5F5189-8797-421F-9BAE-B7D5E5F13150}"/>
              </ns1:ext>
            </ns1:extLst>
          </ns0:cNvPr>
          <ns0:cNvSpPr>
            <ns1:spLocks noGrp="1"/>
          </ns0:cNvSpPr>
          <ns0:nvPr/>
        </ns0:nvSpPr>
        <ns0:spPr>
          <ns1:xfrm>
            <ns1:off x="7562850" y="3048000"/>
            <ns1:ext cx="11049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088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88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継続的な成長</ns1:t>
            </ns1:r>
          </ns1:p>
        </ns0:txBody>
      </ns0:sp>
      <ns0:sp>
        <ns0:nvSpPr>
          <ns0:cNvPr id="46" name="trace:D22:lead.3">
            <ns1:extLst>
              <ns1:ext uri="{FF2B5EF4-FFF2-40B4-BE49-F238E27FC236}">
                <ns2:creationId id="{88DB96D6-EEEB-41D1-A4E1-4A84FCC8DD53}"/>
              </ns1:ext>
            </ns1:extLst>
          </ns0:cNvPr>
          <ns0:cNvSpPr>
            <ns1:spLocks noGrp="1"/>
          </ns0:cNvSpPr>
          <ns0:nvPr/>
        </ns0:nvSpPr>
        <ns0:spPr>
          <ns1:xfrm>
            <ns1:off x="7562850" y="3343275"/>
            <ns1:ext cx="106680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defRPr sz="76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6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運用・サポートを通じた</ns1:t>
            </ns1:r>
          </ns1:p>
          <ns1:p>
            <ns1:pPr algn="l">
              <ns1:defRPr sz="76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6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長期的な価値創出</ns1:t>
            </ns1:r>
          </ns1:p>
        </ns0:txBody>
      </ns0:sp>
      <ns0:sp>
        <ns0:nvSpPr>
          <ns0:cNvPr id="47" name="trace:D22:content.auto.36">
            <ns1:extLst>
              <ns1:ext uri="{FF2B5EF4-FFF2-40B4-BE49-F238E27FC236}">
                <ns2:creationId id="{97F29702-9D2A-4EBD-B0F8-A2BC85BC1491}"/>
              </ns1:ext>
            </ns1:extLst>
          </ns0:cNvPr>
          <ns0:cNvSpPr>
            <ns1:spLocks noGrp="1"/>
          </ns0:cNvSpPr>
          <ns0:nvPr/>
        </ns0:nvSpPr>
        <ns0:spPr>
          <ns1:xfrm>
            <ns1:off x="295275" y="4095750"/>
            <ns1:ext cx="47625" cy="22860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48" name="trace:D22:content.auto.37">
            <ns1:extLst>
              <ns1:ext uri="{FF2B5EF4-FFF2-40B4-BE49-F238E27FC236}">
                <ns2:creationId id="{FD9942D9-7AD5-4476-BE55-20BF947C75F9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4057650"/>
            <ns1:ext cx="19050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27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次のアクション</ns1:t>
            </ns1:r>
          </ns1:p>
        </ns0:txBody>
      </ns0:sp>
      <ns0:sp>
        <ns0:nvSpPr>
          <ns0:cNvPr id="49" name="trace:D22:content.auto.38">
            <ns1:extLst>
              <ns1:ext uri="{FF2B5EF4-FFF2-40B4-BE49-F238E27FC236}">
                <ns2:creationId id="{1697CA10-08DD-4474-BADB-7D6F48860A2C}"/>
              </ns1:ext>
            </ns1:extLst>
          </ns0:cNvPr>
          <ns0:cNvSpPr>
            <ns1:spLocks noGrp="1"/>
          </ns0:cNvSpPr>
          <ns0:nvPr/>
        </ns0:nvSpPr>
        <ns0:spPr>
          <ns1:xfrm>
            <ns1:off x="323850" y="4438650"/>
            <ns1:ext cx="3000375" cy="609600"/>
          </ns1:xfrm>
          <ns1:prstGeom prst="rightArrow">
            <ns1:avLst/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50" name="trace:D22:content.auto.39">
            <ns1:extLst>
              <ns1:ext uri="{FF2B5EF4-FFF2-40B4-BE49-F238E27FC236}">
                <ns2:creationId id="{446A0D58-A6E1-4612-985E-712508E67D71}"/>
              </ns1:ext>
            </ns1:extLst>
          </ns0:cNvPr>
          <ns0:cNvSpPr>
            <ns1:spLocks noGrp="1"/>
          </ns0:cNvSpPr>
          <ns0:nvPr/>
        </ns0:nvSpPr>
        <ns0:spPr>
          <ns1:xfrm>
            <ns1:off x="495300" y="4505325"/>
            <ns1:ext cx="476250" cy="476250"/>
          </ns1:xfrm>
          <ns1:prstGeom prst="ellipse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51" name="trace:D22:content.auto.40">
            <ns1:extLst>
              <ns1:ext uri="{FF2B5EF4-FFF2-40B4-BE49-F238E27FC236}">
                <ns2:creationId id="{8D36F010-83E9-4778-9FD7-02F9A9BB0AD9}"/>
              </ns1:ext>
            </ns1:extLst>
          </ns0:cNvPr>
          <ns0:cNvSpPr>
            <ns1:spLocks noGrp="1"/>
          </ns0:cNvSpPr>
          <ns0:nvPr/>
        </ns0:nvSpPr>
        <ns0:spPr>
          <ns1:xfrm>
            <ns1:off x="495300" y="4610100"/>
            <ns1:ext cx="476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ctr">
              <ns1:defRPr sz="1425" b="1" i="0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 i="0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01</ns1:t>
            </ns1:r>
          </ns1:p>
        </ns0:txBody>
      </ns0:sp>
      <ns0:sp>
        <ns0:nvSpPr>
          <ns0:cNvPr id="52" name="trace:D22:content.auto.41">
            <ns1:extLst>
              <ns1:ext uri="{FF2B5EF4-FFF2-40B4-BE49-F238E27FC236}">
                <ns2:creationId id="{70308D36-6F0F-434F-A887-07E2962F35EB}"/>
              </ns1:ext>
            </ns1:extLst>
          </ns0:cNvPr>
          <ns0:cNvSpPr>
            <ns1:spLocks noGrp="1"/>
          </ns0:cNvSpPr>
          <ns0:nvPr/>
        </ns0:nvSpPr>
        <ns0:spPr>
          <ns1:xfrm>
            <ns1:off x="1200150" y="4543425"/>
            <ns1:ext cx="19050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defRPr sz="863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63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詳細のご説明</ns1:t>
            </ns1:r>
          </ns1:p>
          <ns1:p>
            <ns1:pPr algn="l">
              <ns1:defRPr sz="863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63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デモンストレーションの実施</ns1:t>
            </ns1:r>
          </ns1:p>
        </ns0:txBody>
      </ns0:sp>
      <ns0:sp>
        <ns0:nvSpPr>
          <ns0:cNvPr id="53" name="trace:D22:content.auto.42">
            <ns1:extLst>
              <ns1:ext uri="{FF2B5EF4-FFF2-40B4-BE49-F238E27FC236}">
                <ns2:creationId id="{57C4192A-5EB7-40A3-8A89-20C6A8278B0B}"/>
              </ns1:ext>
            </ns1:extLst>
          </ns0:cNvPr>
          <ns0:cNvSpPr>
            <ns1:spLocks noGrp="1"/>
          </ns0:cNvSpPr>
          <ns0:nvPr/>
        </ns0:nvSpPr>
        <ns0:spPr>
          <ns1:xfrm>
            <ns1:off x="3371850" y="4438650"/>
            <ns1:ext cx="3000375" cy="609600"/>
          </ns1:xfrm>
          <ns1:prstGeom prst="rightArrow">
            <ns1:avLst/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54" name="trace:D22:content.auto.43">
            <ns1:extLst>
              <ns1:ext uri="{FF2B5EF4-FFF2-40B4-BE49-F238E27FC236}">
                <ns2:creationId id="{BDA38DFE-7AB4-4778-B7E1-96EC1F895F4B}"/>
              </ns1:ext>
            </ns1:extLst>
          </ns0:cNvPr>
          <ns0:cNvSpPr>
            <ns1:spLocks noGrp="1"/>
          </ns0:cNvSpPr>
          <ns0:nvPr/>
        </ns0:nvSpPr>
        <ns0:spPr>
          <ns1:xfrm>
            <ns1:off x="3543300" y="4505325"/>
            <ns1:ext cx="476250" cy="476250"/>
          </ns1:xfrm>
          <ns1:prstGeom prst="ellipse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55" name="trace:D22:content.auto.44">
            <ns1:extLst>
              <ns1:ext uri="{FF2B5EF4-FFF2-40B4-BE49-F238E27FC236}">
                <ns2:creationId id="{35503EE9-6B61-4319-B96F-5ED64AAAF880}"/>
              </ns1:ext>
            </ns1:extLst>
          </ns0:cNvPr>
          <ns0:cNvSpPr>
            <ns1:spLocks noGrp="1"/>
          </ns0:cNvSpPr>
          <ns0:nvPr/>
        </ns0:nvSpPr>
        <ns0:spPr>
          <ns1:xfrm>
            <ns1:off x="3543300" y="4610100"/>
            <ns1:ext cx="476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ctr">
              <ns1:defRPr sz="1425" b="1" i="0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 i="0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02</ns1:t>
            </ns1:r>
          </ns1:p>
        </ns0:txBody>
      </ns0:sp>
      <ns0:sp>
        <ns0:nvSpPr>
          <ns0:cNvPr id="56" name="trace:D22:content.auto.45">
            <ns1:extLst>
              <ns1:ext uri="{FF2B5EF4-FFF2-40B4-BE49-F238E27FC236}">
                <ns2:creationId id="{9D746D72-C54B-456E-8EB3-AE1C7EAD42FD}"/>
              </ns1:ext>
            </ns1:extLst>
          </ns0:cNvPr>
          <ns0:cNvSpPr>
            <ns1:spLocks noGrp="1"/>
          </ns0:cNvSpPr>
          <ns0:nvPr/>
        </ns0:nvSpPr>
        <ns0:spPr>
          <ns1:xfrm>
            <ns1:off x="4248150" y="4543425"/>
            <ns1:ext cx="19050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defRPr sz="863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63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貴社に合わせた導入プランのご提案</ns1:t>
            </ns1:r>
          </ns1:p>
          <ns1:p>
            <ns1:pPr algn="l">
              <ns1:defRPr sz="863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63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（対象業務・スケジュール・費用）</ns1:t>
            </ns1:r>
          </ns1:p>
        </ns0:txBody>
      </ns0:sp>
      <ns0:sp>
        <ns0:nvSpPr>
          <ns0:cNvPr id="57" name="trace:D22:content.auto.46">
            <ns1:extLst>
              <ns1:ext uri="{FF2B5EF4-FFF2-40B4-BE49-F238E27FC236}">
                <ns2:creationId id="{2E4B146A-831D-424C-B7DA-32CBE594E254}"/>
              </ns1:ext>
            </ns1:extLst>
          </ns0:cNvPr>
          <ns0:cNvSpPr>
            <ns1:spLocks noGrp="1"/>
          </ns0:cNvSpPr>
          <ns0:nvPr/>
        </ns0:nvSpPr>
        <ns0:spPr>
          <ns1:xfrm>
            <ns1:off x="6419850" y="4438650"/>
            <ns1:ext cx="3000375" cy="609600"/>
          </ns1:xfrm>
          <ns1:prstGeom prst="rightArrow">
            <ns1:avLst/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58" name="trace:D22:content.auto.47">
            <ns1:extLst>
              <ns1:ext uri="{FF2B5EF4-FFF2-40B4-BE49-F238E27FC236}">
                <ns2:creationId id="{851C40DA-CB41-4A2E-8CB5-9E9497249BEF}"/>
              </ns1:ext>
            </ns1:extLst>
          </ns0:cNvPr>
          <ns0:cNvSpPr>
            <ns1:spLocks noGrp="1"/>
          </ns0:cNvSpPr>
          <ns0:nvPr/>
        </ns0:nvSpPr>
        <ns0:spPr>
          <ns1:xfrm>
            <ns1:off x="6591300" y="4505325"/>
            <ns1:ext cx="476250" cy="476250"/>
          </ns1:xfrm>
          <ns1:prstGeom prst="ellipse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59" name="trace:D22:content.auto.48">
            <ns1:extLst>
              <ns1:ext uri="{FF2B5EF4-FFF2-40B4-BE49-F238E27FC236}">
                <ns2:creationId id="{CF9F084B-76E1-4BAA-9AD9-A412FD5C1CD0}"/>
              </ns1:ext>
            </ns1:extLst>
          </ns0:cNvPr>
          <ns0:cNvSpPr>
            <ns1:spLocks noGrp="1"/>
          </ns0:cNvSpPr>
          <ns0:nvPr/>
        </ns0:nvSpPr>
        <ns0:spPr>
          <ns1:xfrm>
            <ns1:off x="6591300" y="4610100"/>
            <ns1:ext cx="476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ctr">
              <ns1:defRPr sz="1425" b="1" i="0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 i="0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03</ns1:t>
            </ns1:r>
          </ns1:p>
        </ns0:txBody>
      </ns0:sp>
      <ns0:sp>
        <ns0:nvSpPr>
          <ns0:cNvPr id="60" name="trace:D22:content.auto.49">
            <ns1:extLst>
              <ns1:ext uri="{FF2B5EF4-FFF2-40B4-BE49-F238E27FC236}">
                <ns2:creationId id="{534F1BF8-A424-4605-BD27-B09A9F373256}"/>
              </ns1:ext>
            </ns1:extLst>
          </ns0:cNvPr>
          <ns0:cNvSpPr>
            <ns1:spLocks noGrp="1"/>
          </ns0:cNvSpPr>
          <ns0:nvPr/>
        </ns0:nvSpPr>
        <ns0:spPr>
          <ns1:xfrm>
            <ns1:off x="7296150" y="4543425"/>
            <ns1:ext cx="19050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defRPr sz="863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63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PoC（試験導入）からの</ns1:t>
            </ns1:r>
          </ns1:p>
          <ns1:p>
            <ns1:pPr algn="l">
              <ns1:defRPr sz="863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63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スモールスタート</ns1:t>
            </ns1:r>
          </ns1:p>
        </ns0:txBody>
      </ns0:sp>
      <ns0:sp>
        <ns0:nvSpPr>
          <ns0:cNvPr id="61" name="trace:D22:content.auto.50">
            <ns1:extLst>
              <ns1:ext uri="{FF2B5EF4-FFF2-40B4-BE49-F238E27FC236}">
                <ns2:creationId id="{575DB4D5-EFE4-410D-97B6-FE9BD7C00C17}"/>
              </ns1:ext>
            </ns1:extLst>
          </ns0:cNvPr>
          <ns0:cNvSpPr>
            <ns1:spLocks noGrp="1"/>
          </ns0:cNvSpPr>
          <ns0:nvPr/>
        </ns0:nvSpPr>
        <ns0:spPr>
          <ns1:xfrm>
            <ns1:off x="3943350" y="5191125"/>
            <ns1:ext cx="4324350" cy="400050"/>
          </ns1:xfrm>
          <ns1:prstGeom prst="roundRect">
            <ns1:avLst>
              <ns1:gd name="adj" fmla="val 19048"/>
            </ns1:avLst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62" name="trace:D22:content.auto.51">
            <ns1:extLst>
              <ns1:ext uri="{FF2B5EF4-FFF2-40B4-BE49-F238E27FC236}">
                <ns2:creationId id="{3B835E19-CB8D-451C-A218-A02ECA17A701}"/>
              </ns1:ext>
            </ns1:extLst>
          </ns0:cNvPr>
          <ns0:cNvSpPr>
            <ns1:spLocks noGrp="1"/>
          </ns0:cNvSpPr>
          <ns0:nvPr/>
        </ns0:nvSpPr>
        <ns0:spPr>
          <ns1:xfrm>
            <ns1:off x="4191000" y="5248275"/>
            <ns1:ext cx="38290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ctr">
              <ns1:defRPr sz="1425" b="1" i="0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 i="0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まずはお気軽にご相談ください</ns1:t>
            </ns1:r>
          </ns1:p>
        </ns0:txBody>
      </ns0:sp>
      <ns0:sp>
        <ns0:nvSpPr>
          <ns0:cNvPr id="63" name="trace:D22:content.auto.52">
            <ns1:extLst>
              <ns1:ext uri="{FF2B5EF4-FFF2-40B4-BE49-F238E27FC236}">
                <ns2:creationId id="{2D3B5217-C6B1-4B0B-81A1-5C2EB0A3146D}"/>
              </ns1:ext>
            </ns1:extLst>
          </ns0:cNvPr>
          <ns0:cNvSpPr>
            <ns1:spLocks noGrp="1"/>
          </ns0:cNvSpPr>
          <ns0:nvPr/>
        </ns0:nvSpPr>
        <ns0:spPr>
          <ns1:xfrm>
            <ns1:off x="3905250" y="5657850"/>
            <ns1:ext cx="44005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ctr">
              <ns1:defRPr sz="97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75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貴社の状況に合わせて、最適な導入方法をご提案いたします。</ns1:t>
            </ns1:r>
          </ns1:p>
        </ns0:txBody>
      </ns0:sp>
      <ns0:sp>
        <ns0:nvSpPr>
          <ns0:cNvPr id="64" name="trace:D22:title.primary.4">
            <ns1:extLst>
              <ns1:ext uri="{FF2B5EF4-FFF2-40B4-BE49-F238E27FC236}">
                <ns2:creationId id="{D4B49B3A-9FDD-4878-B9A0-87AED319587C}"/>
              </ns1:ext>
            </ns1:extLst>
          </ns0:cNvPr>
          <ns0:cNvSpPr>
            <ns1:spLocks noGrp="1"/>
          </ns0:cNvSpPr>
          <ns0:nvPr/>
        </ns0:nvSpPr>
        <ns0:spPr>
          <ns1:xfrm rot="-420000">
            <ns1:off x="8420100" y="2381250"/>
            <ns1:ext cx="1809750" cy="742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350" b="0" i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0" i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提案で、</ns1:t>
            </ns1:r>
          </ns1:p>
          <ns1:p>
            <ns1:pPr algn="l">
              <ns1:defRPr sz="1350" b="0" i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0" i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社会を前に進める。</ns1:t>
            </ns1:r>
          </ns1:p>
        </ns0:txBody>
      </ns0:sp>
      <ns0:sp>
        <ns0:nvSpPr>
          <ns0:cNvPr id="65" name="trace:D22:content.auto.53">
            <ns1:extLst>
              <ns1:ext uri="{FF2B5EF4-FFF2-40B4-BE49-F238E27FC236}">
                <ns2:creationId id="{345481C2-A6D9-4A0D-8228-CAFCAFC881F7}"/>
              </ns1:ext>
            </ns1:extLst>
          </ns0:cNvPr>
          <ns0:cNvSpPr>
            <ns1:spLocks noGrp="1"/>
          </ns0:cNvSpPr>
          <ns0:nvPr/>
        </ns0:nvSpPr>
        <ns0:spPr>
          <ns1:xfrm rot="-1080000">
            <ns1:off x="9353550" y="3143250"/>
            <ns1:ext cx="1143000" cy="3810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66" name="trace:D22:content.auto.54">
            <ns1:extLst>
              <ns1:ext uri="{FF2B5EF4-FFF2-40B4-BE49-F238E27FC236}">
                <ns2:creationId id="{CA18409A-3043-4AE0-AE34-6B5C2D3C12D5}"/>
              </ns1:ext>
            </ns1:extLst>
          </ns0:cNvPr>
          <ns0:cNvSpPr>
            <ns1:spLocks noGrp="1"/>
          </ns0:cNvSpPr>
          <ns0:nvPr/>
        </ns0:nvSpPr>
        <ns0:spPr>
          <ns1:xfrm rot="-1680000">
            <ns1:off x="333375" y="6343650"/>
            <ns1:ext cx="190500" cy="952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67" name="trace:D22:content.auto.55">
            <ns1:extLst>
              <ns1:ext uri="{FF2B5EF4-FFF2-40B4-BE49-F238E27FC236}">
                <ns2:creationId id="{89C3B03B-083D-4508-BF94-21C1718C3A93}"/>
              </ns1:ext>
            </ns1:extLst>
          </ns0:cNvPr>
          <ns0:cNvSpPr>
            <ns1:spLocks noGrp="1"/>
          </ns0:cNvSpPr>
          <ns0:nvPr/>
        </ns0:nvSpPr>
        <ns0:spPr>
          <ns1:xfrm rot="-1680000">
            <ns1:off x="361950" y="6438900"/>
            <ns1:ext cx="190500" cy="95250"/>
          </ns1:xfrm>
          <ns1:prstGeom prst="rect">
            <ns1:avLst/>
          </ns1:prstGeom>
          <ns1:solidFill>
            <ns1:srgbClr val="8A919A"/>
          </ns1:solidFill>
          <ns1:ln w="0">
            <ns1:noFill/>
            <ns1:prstDash val="solid"/>
          </ns1:ln>
        </ns0:spPr>
      </ns0:sp>
      <ns0:sp>
        <ns0:nvSpPr>
          <ns0:cNvPr id="68" name="trace:D22:content.auto.56">
            <ns1:extLst>
              <ns1:ext uri="{FF2B5EF4-FFF2-40B4-BE49-F238E27FC236}">
                <ns2:creationId id="{35903BCD-6F02-42C5-9133-BF9E8C99C672}"/>
              </ns1:ext>
            </ns1:extLst>
          </ns0:cNvPr>
          <ns0:cNvSpPr>
            <ns1:spLocks noGrp="1"/>
          </ns0:cNvSpPr>
          <ns0:nvPr/>
        </ns0:nvSpPr>
        <ns0:spPr>
          <ns1:xfrm rot="-1680000">
            <ns1:off x="390525" y="6534150"/>
            <ns1:ext cx="190500" cy="95250"/>
          </ns1:xfrm>
          <ns1:prstGeom prst="rect">
            <ns1:avLst/>
          </ns1:prstGeom>
          <ns1:solidFill>
            <ns1:srgbClr val="0E1A2D"/>
          </ns1:solidFill>
          <ns1:ln w="0">
            <ns1:noFill/>
            <ns1:prstDash val="solid"/>
          </ns1:ln>
        </ns0:spPr>
      </ns0:sp>
      <ns0:sp>
        <ns0:nvSpPr>
          <ns0:cNvPr id="69" name="trace:D22:footer.brand">
            <ns1:extLst>
              <ns1:ext uri="{FF2B5EF4-FFF2-40B4-BE49-F238E27FC236}">
                <ns2:creationId id="{8EC71A27-7B29-4CEF-9C7A-66CBC5960D96}"/>
              </ns1:ext>
            </ns1:extLst>
          </ns0:cNvPr>
          <ns0:cNvSpPr>
            <ns1:spLocks noGrp="1"/>
          </ns0:cNvSpPr>
          <ns0:nvPr/>
        </ns0:nvSpPr>
        <ns0:spPr>
          <ns1:xfrm>
            <ns1:off x="704850" y="6334125"/>
            <ns1:ext cx="14287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350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提案クエスト</ns1:t>
            </ns1:r>
          </ns1:p>
        </ns0:txBody>
      </ns0:sp>
      <ns0:sp>
        <ns0:nvSpPr>
          <ns0:cNvPr id="70" name="trace:D22:content.auto.57">
            <ns1:extLst>
              <ns1:ext uri="{FF2B5EF4-FFF2-40B4-BE49-F238E27FC236}">
                <ns2:creationId id="{D6E3B402-ED03-41D8-A8ED-B9FEA190EDF0}"/>
              </ns1:ext>
            </ns1:extLst>
          </ns0:cNvPr>
          <ns0:cNvSpPr>
            <ns1:spLocks noGrp="1"/>
          </ns0:cNvSpPr>
          <ns0:nvPr/>
        </ns0:nvSpPr>
        <ns0:spPr>
          <ns1:xfrm>
            <ns1:off x="2209800" y="6334125"/>
            <ns1:ext cx="9525" cy="285750"/>
          </ns1:xfrm>
          <ns1:prstGeom prst="rect">
            <ns1:avLst/>
          </ns1:prstGeom>
          <ns1:solidFill>
            <ns1:srgbClr val="0E1A2D"/>
          </ns1:solidFill>
          <ns1:ln w="0">
            <ns1:noFill/>
            <ns1:prstDash val="solid"/>
          </ns1:ln>
        </ns0:spPr>
      </ns0:sp>
      <ns0:sp>
        <ns0:nvSpPr>
          <ns0:cNvPr id="71" name="trace:D22:footer.tagline.jp">
            <ns1:extLst>
              <ns1:ext uri="{FF2B5EF4-FFF2-40B4-BE49-F238E27FC236}">
                <ns2:creationId id="{01A520E9-27CE-4A97-B1AB-C50BDA7C0667}"/>
              </ns1:ext>
            </ns1:extLst>
          </ns0:cNvPr>
          <ns0:cNvSpPr>
            <ns1:spLocks noGrp="1"/>
          </ns0:cNvSpPr>
          <ns0:nvPr/>
        </ns0:nvSpPr>
        <ns0:spPr>
          <ns1:xfrm>
            <ns1:off x="2362200" y="6305550"/>
            <ns1:ext cx="333375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750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50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人とテクノロジーで、より良い社会をつくる</ns1:t>
            </ns1:r>
          </ns1:p>
          <ns1:p>
            <ns1:pPr algn="l">
              <ns1:defRPr sz="750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50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Think Together, Create the Next.</ns1:t>
            </ns1:r>
          </ns1:p>
        </ns0:txBody>
      </ns0:sp>
      <ns0:sp>
        <ns0:nvSpPr>
          <ns0:cNvPr id="72" name="trace:D22:footer.date">
            <ns1:extLst>
              <ns1:ext uri="{FF2B5EF4-FFF2-40B4-BE49-F238E27FC236}">
                <ns2:creationId id="{3E3DDB94-F16F-4158-BCC6-91DC32502973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0" y="6343650"/>
            <ns1:ext cx="9048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r">
              <ns1:defRPr sz="750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50" b="1" i="0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2026.08.26</ns1:t>
            </ns1:r>
          </ns1:p>
        </ns0:txBody>
      </ns0:sp>
      <ns0:sp>
        <ns0:nvSpPr>
          <ns0:cNvPr id="73" name="trace:D22:content.auto.58">
            <ns1:extLst>
              <ns1:ext uri="{FF2B5EF4-FFF2-40B4-BE49-F238E27FC236}">
                <ns2:creationId id="{1C222C5F-B796-41C3-A0E4-AF2C92A7E60F}"/>
              </ns1:ext>
            </ns1:extLst>
          </ns0:cNvPr>
          <ns0:cNvSpPr>
            <ns1:spLocks noGrp="1"/>
          </ns0:cNvSpPr>
          <ns0:nvPr/>
        </ns0:nvSpPr>
        <ns0:spPr>
          <ns1:xfrm>
            <ns1:off x="11677650" y="6429375"/>
            <ns1:ext cx="247650" cy="9525"/>
          </ns1:xfrm>
          <ns1:prstGeom prst="rect">
            <ns1:avLst/>
          </ns1:prstGeom>
          <ns1:solidFill>
            <ns1:srgbClr val="0E1A2D"/>
          </ns1:solidFill>
          <ns1:ln w="0">
            <ns1:noFill/>
            <ns1:prstDash val="solid"/>
          </ns1:ln>
        </ns0:spPr>
      </ns0:sp>
    </ns0:spTree>
    <ns0:extLst>
      <ns0:ext uri="{BB962C8B-B14F-4D97-AF65-F5344CB8AC3E}">
        <ns4:creationId val="1338856475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2026-09-20T22:47:24.7060000Z</dcterms:created>
  <dcterms:modified xsi:type="dcterms:W3CDTF">2026-09-20T22:47:24.7060000Z</dcterms:modified>
</coreProperties>
</file>