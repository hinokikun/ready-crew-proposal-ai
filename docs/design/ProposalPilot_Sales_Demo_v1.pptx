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ba1294881b4c9a" /><Relationship Type="http://schemas.openxmlformats.org/officeDocument/2006/relationships/extended-properties" Target="/docProps/app.xml" Id="Redb5dbe4ed384a21" /><Relationship Type="http://schemas.openxmlformats.org/officeDocument/2006/relationships/officeDocument" Target="/ppt/presentation.xml" Id="R062932f5dd724aed" /></Relationships>
</file>

<file path=ppt/presentation.xml><?xml version="1.0" encoding="utf-8"?>
<p:presentation xmlns:p="http://schemas.openxmlformats.org/presentationml/2006/main">
  <p:sldMasterIdLst>
    <p:sldMasterId xmlns:r="http://schemas.openxmlformats.org/officeDocument/2006/relationships" id="2147483648" r:id="Rbe7f9081a8394664"/>
  </p:sldMasterIdLst>
  <p:notesMasterIdLst>
    <p:notesMasterId xmlns:r="http://schemas.openxmlformats.org/officeDocument/2006/relationships" r:id="R9aad77e200c646ce"/>
  </p:notesMasterIdLst>
  <p:sldIdLst>
    <p:sldId xmlns:r="http://schemas.openxmlformats.org/officeDocument/2006/relationships" id="256" r:id="Rfd811e15c7f24d18"/>
    <p:sldId xmlns:r="http://schemas.openxmlformats.org/officeDocument/2006/relationships" id="257" r:id="R21d3fec485754728"/>
    <p:sldId xmlns:r="http://schemas.openxmlformats.org/officeDocument/2006/relationships" id="258" r:id="Re26b0d5b708f4a22"/>
    <p:sldId xmlns:r="http://schemas.openxmlformats.org/officeDocument/2006/relationships" id="259" r:id="R4caf6a42c99f4430"/>
    <p:sldId xmlns:r="http://schemas.openxmlformats.org/officeDocument/2006/relationships" id="260" r:id="Rae7d1dfd96954583"/>
    <p:sldId xmlns:r="http://schemas.openxmlformats.org/officeDocument/2006/relationships" id="261" r:id="R5d763eff28ac46c0"/>
    <p:sldId xmlns:r="http://schemas.openxmlformats.org/officeDocument/2006/relationships" id="262" r:id="R9a525fcd627d40d0"/>
    <p:sldId xmlns:r="http://schemas.openxmlformats.org/officeDocument/2006/relationships" id="263" r:id="Rdfa8670109824632"/>
    <p:sldId xmlns:r="http://schemas.openxmlformats.org/officeDocument/2006/relationships" id="264" r:id="R6c93ee01c38e4dcb"/>
    <p:sldId xmlns:r="http://schemas.openxmlformats.org/officeDocument/2006/relationships" id="265" r:id="R2937b21243654a2b"/>
    <p:sldId xmlns:r="http://schemas.openxmlformats.org/officeDocument/2006/relationships" id="266" r:id="R5acbf91e276642ee"/>
    <p:sldId xmlns:r="http://schemas.openxmlformats.org/officeDocument/2006/relationships" id="267" r:id="Rd6d3c3a62f8d4de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579d14cbe94cba" /><Relationship Type="http://schemas.openxmlformats.org/officeDocument/2006/relationships/slideMaster" Target="/ppt/slideMasters/slideMaster1.xml" Id="Rbe7f9081a8394664" /><Relationship Type="http://schemas.openxmlformats.org/officeDocument/2006/relationships/notesMaster" Target="/ppt/notesMasters/notesMaster1.xml" Id="R9aad77e200c646ce" /><Relationship Type="http://schemas.openxmlformats.org/officeDocument/2006/relationships/presProps" Target="/ppt/presProps.xml" Id="R8328b98599eb415b" /><Relationship Type="http://schemas.openxmlformats.org/officeDocument/2006/relationships/tableStyles" Target="/ppt/tableStyles.xml" Id="R572a1ca5ea3b4c11" /><Relationship Type="http://schemas.openxmlformats.org/officeDocument/2006/relationships/slide" Target="/ppt/slides/slide1.xml" Id="Rfd811e15c7f24d18" /><Relationship Type="http://schemas.openxmlformats.org/officeDocument/2006/relationships/slide" Target="/ppt/slides/slide2.xml" Id="R21d3fec485754728" /><Relationship Type="http://schemas.openxmlformats.org/officeDocument/2006/relationships/slide" Target="/ppt/slides/slide3.xml" Id="Re26b0d5b708f4a22" /><Relationship Type="http://schemas.openxmlformats.org/officeDocument/2006/relationships/slide" Target="/ppt/slides/slide4.xml" Id="R4caf6a42c99f4430" /><Relationship Type="http://schemas.openxmlformats.org/officeDocument/2006/relationships/slide" Target="/ppt/slides/slide5.xml" Id="Rae7d1dfd96954583" /><Relationship Type="http://schemas.openxmlformats.org/officeDocument/2006/relationships/slide" Target="/ppt/slides/slide6.xml" Id="R5d763eff28ac46c0" /><Relationship Type="http://schemas.openxmlformats.org/officeDocument/2006/relationships/slide" Target="/ppt/slides/slide7.xml" Id="R9a525fcd627d40d0" /><Relationship Type="http://schemas.openxmlformats.org/officeDocument/2006/relationships/slide" Target="/ppt/slides/slide8.xml" Id="Rdfa8670109824632" /><Relationship Type="http://schemas.openxmlformats.org/officeDocument/2006/relationships/slide" Target="/ppt/slides/slide9.xml" Id="R6c93ee01c38e4dcb" /><Relationship Type="http://schemas.openxmlformats.org/officeDocument/2006/relationships/slide" Target="/ppt/slides/slide10.xml" Id="R2937b21243654a2b" /><Relationship Type="http://schemas.openxmlformats.org/officeDocument/2006/relationships/slide" Target="/ppt/slides/slide11.xml" Id="R5acbf91e276642ee" /><Relationship Type="http://schemas.openxmlformats.org/officeDocument/2006/relationships/slide" Target="/ppt/slides/slide12.xml" Id="Rd6d3c3a62f8d4d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57dbcdfd3a4a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308719fdb740da" /><Relationship Type="http://schemas.openxmlformats.org/officeDocument/2006/relationships/notesMaster" Target="/ppt/notesMasters/notesMaster1.xml" Id="R220058c7025048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8d0d32304e4c72" /><Relationship Type="http://schemas.openxmlformats.org/officeDocument/2006/relationships/notesMaster" Target="/ppt/notesMasters/notesMaster1.xml" Id="R1ef5b892bb5241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46ab9e94e94f78" /><Relationship Type="http://schemas.openxmlformats.org/officeDocument/2006/relationships/notesMaster" Target="/ppt/notesMasters/notesMaster1.xml" Id="R07176c2fa3b14f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2e7200f86c4fa7" /><Relationship Type="http://schemas.openxmlformats.org/officeDocument/2006/relationships/notesMaster" Target="/ppt/notesMasters/notesMaster1.xml" Id="Rcfaa3d87aba843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8c32d032ac4840" /><Relationship Type="http://schemas.openxmlformats.org/officeDocument/2006/relationships/notesMaster" Target="/ppt/notesMasters/notesMaster1.xml" Id="R6a5fba5ea39b46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4ea21755f04de1" /><Relationship Type="http://schemas.openxmlformats.org/officeDocument/2006/relationships/notesMaster" Target="/ppt/notesMasters/notesMaster1.xml" Id="R86569775efd148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ce54cdff894c64" /><Relationship Type="http://schemas.openxmlformats.org/officeDocument/2006/relationships/notesMaster" Target="/ppt/notesMasters/notesMaster1.xml" Id="Rdd4e25d05a7c4b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f0d53aded548d0" /><Relationship Type="http://schemas.openxmlformats.org/officeDocument/2006/relationships/notesMaster" Target="/ppt/notesMasters/notesMaster1.xml" Id="R3c11bba39cac47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dbffe60e2841a5" /><Relationship Type="http://schemas.openxmlformats.org/officeDocument/2006/relationships/notesMaster" Target="/ppt/notesMasters/notesMaster1.xml" Id="R21706b4e165b42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31b7512a0f455c" /><Relationship Type="http://schemas.openxmlformats.org/officeDocument/2006/relationships/notesMaster" Target="/ppt/notesMasters/notesMaster1.xml" Id="R0c122a42edcc4d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796e1d36424f17" /><Relationship Type="http://schemas.openxmlformats.org/officeDocument/2006/relationships/notesMaster" Target="/ppt/notesMasters/notesMaster1.xml" Id="Rc551c305685b4e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a5a44a9ab74cd4" /><Relationship Type="http://schemas.openxmlformats.org/officeDocument/2006/relationships/notesMaster" Target="/ppt/notesMasters/notesMaster1.xml" Id="R9732d041f25846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本日はProposalPilotが、案件入力から提案資料出力までをどのように支援するかをご紹介します。</a:t>
            </a:r>
          </a:p>
          <a:p xmlns:a="http://schemas.openxmlformats.org/drawingml/2006/main">
            <a:r>
              <a:t>相手への質問: 現在の提案書作成で、最初に確認したいことは何ですか。</a:t>
            </a:r>
          </a:p>
          <a:p xmlns:a="http://schemas.openxmlformats.org/drawingml/2006/main">
            <a:r>
              <a:t>深掘り補足: デモは架空データで実施し、実顧客情報は使いません。</a:t>
            </a:r>
          </a:p>
          <a:p xmlns:a="http://schemas.openxmlformats.org/drawingml/2006/main">
            <a:r>
              <a:t>言ってはいけない表現: 正式ロゴ確定済み、効果保証、受注率向上の断定。</a:t>
            </a:r>
          </a:p>
          <a:p xmlns:a="http://schemas.openxmlformats.org/drawingml/2006/main">
            <a:r>
              <a:t>デモ操作: 表紙を表示し、デモ全体の所要時間と流れを伝える。</a:t>
            </a:r>
          </a:p>
          <a:p xmlns:a="http://schemas.openxmlformats.org/drawingml/2006/main">
            <a:r>
              <a:t>デモ失敗時の代替: 実アプリが開けない場合は、この資料だけで流れを説明する。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営業担当は案件情報を整理しながら、提案方針、見積、上長確認、資料化まで進めます。ここが分散すると手戻りが増えます。</a:t>
            </a:r>
          </a:p>
          <a:p xmlns:a="http://schemas.openxmlformats.org/drawingml/2006/main">
            <a:r>
              <a:t>相手への質問: 現在、提案書作成のどの工程に最も時間がかかっていますか。</a:t>
            </a:r>
          </a:p>
          <a:p xmlns:a="http://schemas.openxmlformats.org/drawingml/2006/main">
            <a:r>
              <a:t>深掘り補足: 未根拠の削減率ではなく、業務の分散と確認漏れという構造課題として説明します。</a:t>
            </a:r>
          </a:p>
          <a:p xmlns:a="http://schemas.openxmlformats.org/drawingml/2006/main">
            <a:r>
              <a:t>言ってはいけない表現: 10分で完成、90%削減、必ず受注率向上。</a:t>
            </a:r>
          </a:p>
          <a:p xmlns:a="http://schemas.openxmlformats.org/drawingml/2006/main">
            <a:r>
              <a:t>デモ操作: このスライドで相手の現状を聞き、課題の優先順位を確認する。</a:t>
            </a:r>
          </a:p>
          <a:p xmlns:a="http://schemas.openxmlformats.org/drawingml/2006/main">
            <a:r>
              <a:t>デモ失敗時の代替: デモ環境が使えない場合は、課題整理だけを会話で進める。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ProposalPilotは単体のAIチャットではなく、営業提案の入力、確認、出力、履歴までを流れとして扱います。</a:t>
            </a:r>
          </a:p>
          <a:p xmlns:a="http://schemas.openxmlformats.org/drawingml/2006/main">
            <a:r>
              <a:t>相手への質問: 現在はAI生成後の確認や出力を、どのツールで管理していますか。</a:t>
            </a:r>
          </a:p>
          <a:p xmlns:a="http://schemas.openxmlformats.org/drawingml/2006/main">
            <a:r>
              <a:t>深掘り補足: 人による確認と承認を前提にしている点を強調します。</a:t>
            </a:r>
          </a:p>
          <a:p xmlns:a="http://schemas.openxmlformats.org/drawingml/2006/main">
            <a:r>
              <a:t>言ってはいけない表現: AIが判断を保証する、完全自動化する、確認不要。</a:t>
            </a:r>
          </a:p>
          <a:p xmlns:a="http://schemas.openxmlformats.org/drawingml/2006/main">
            <a:r>
              <a:t>デモ操作: 提案作成の入口から出力までの画面遷移を簡単に紹介する。</a:t>
            </a:r>
          </a:p>
          <a:p xmlns:a="http://schemas.openxmlformats.org/drawingml/2006/main">
            <a:r>
              <a:t>デモ失敗時の代替: スクリーンショットやPDF版の流れで代替する。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画面上部にステップがあり、完了済み、現在位置、次の操作が見える設計です。</a:t>
            </a:r>
          </a:p>
          <a:p xmlns:a="http://schemas.openxmlformats.org/drawingml/2006/main">
            <a:r>
              <a:t>相手への質問: 現場の利用者は、どこで次の操作に迷いやすいですか。</a:t>
            </a:r>
          </a:p>
          <a:p xmlns:a="http://schemas.openxmlformats.org/drawingml/2006/main">
            <a:r>
              <a:t>深掘り補足: 詳細な管理機能は通常フローから分離し、一般利用者の操作を簡単にしています。</a:t>
            </a:r>
          </a:p>
          <a:p xmlns:a="http://schemas.openxmlformats.org/drawingml/2006/main">
            <a:r>
              <a:t>言ってはいけない表現: すべての利用者が迷わない、学習不要。</a:t>
            </a:r>
          </a:p>
          <a:p xmlns:a="http://schemas.openxmlformats.org/drawingml/2006/main">
            <a:r>
              <a:t>デモ操作: 実アプリの7ステップ画面を開き、ステップの流れだけを説明する。</a:t>
            </a:r>
          </a:p>
          <a:p xmlns:a="http://schemas.openxmlformats.org/drawingml/2006/main">
            <a:r>
              <a:t>デモ失敗時の代替: 画面が開けない場合は、このフロー図で代替説明する。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デモではdocs/DEMO_DATA.mdの架空案件を使います。入力されていない事実や数値は、人が確認します。</a:t>
            </a:r>
          </a:p>
          <a:p xmlns:a="http://schemas.openxmlformats.org/drawingml/2006/main">
            <a:r>
              <a:t>相手への質問: 提案前に必ず確認したい項目は、会社として決まっていますか。</a:t>
            </a:r>
          </a:p>
          <a:p xmlns:a="http://schemas.openxmlformats.org/drawingml/2006/main">
            <a:r>
              <a:t>深掘り補足: 株式会社サンプルリフォームの架空案件を使う。実顧客データは入力しない。</a:t>
            </a:r>
          </a:p>
          <a:p xmlns:a="http://schemas.openxmlformats.org/drawingml/2006/main">
            <a:r>
              <a:t>言ってはいけない表現: AIが実績や数値を自動で正しく作る、見積が保証される。</a:t>
            </a:r>
          </a:p>
          <a:p xmlns:a="http://schemas.openxmlformats.org/drawingml/2006/main">
            <a:r>
              <a:t>デモ操作: STEP 1に架空案件を入力し、作成ボタンを示す。</a:t>
            </a:r>
          </a:p>
          <a:p xmlns:a="http://schemas.openxmlformats.org/drawingml/2006/main">
            <a:r>
              <a:t>デモ失敗時の代替: 事前生成済みのサンプル画面や提案アウトラインで説明する。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社外提出前に、人が確認する品質ゲートを通します。その後、AIレビューと改訂管理で改善点を整理できます。</a:t>
            </a:r>
          </a:p>
          <a:p xmlns:a="http://schemas.openxmlformats.org/drawingml/2006/main">
            <a:r>
              <a:t>相手への質問: 現在の上長レビューでは、どの確認項目が抜けやすいですか。</a:t>
            </a:r>
          </a:p>
          <a:p xmlns:a="http://schemas.openxmlformats.org/drawingml/2006/main">
            <a:r>
              <a:t>深掘り補足: Quality Gateは法務判断の代替ではなく、確認プロセスを支援するものです。</a:t>
            </a:r>
          </a:p>
          <a:p xmlns:a="http://schemas.openxmlformats.org/drawingml/2006/main">
            <a:r>
              <a:t>言ってはいけない表現: 法務確認を自動化、完全にミスをなくす。</a:t>
            </a:r>
          </a:p>
          <a:p xmlns:a="http://schemas.openxmlformats.org/drawingml/2006/main">
            <a:r>
              <a:t>デモ操作: 提出前チェックの完了ボタンとAIレビューの入口を見せる。</a:t>
            </a:r>
          </a:p>
          <a:p xmlns:a="http://schemas.openxmlformats.org/drawingml/2006/main">
            <a:r>
              <a:t>デモ失敗時の代替: チェック項目とレビュー結果のサンプルで説明する。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提案の用途に応じて出力形式を選びます。Beautiful.aiは外部サービス連携で、設定とAPI状態が有効な場合に利用します。</a:t>
            </a:r>
          </a:p>
          <a:p xmlns:a="http://schemas.openxmlformats.org/drawingml/2006/main">
            <a:r>
              <a:t>相手への質問: 商談では、短い説明資料と詳細資料のどちらをよく使いますか。</a:t>
            </a:r>
          </a:p>
          <a:p xmlns:a="http://schemas.openxmlformats.org/drawingml/2006/main">
            <a:r>
              <a:t>深掘り補足: 外部サービスの状態に依存するため、PPTX/PDFを代替として案内できます。</a:t>
            </a:r>
          </a:p>
          <a:p xmlns:a="http://schemas.openxmlformats.org/drawingml/2006/main">
            <a:r>
              <a:t>言ってはいけない表現: Beautiful.aiで必ず美しい資料になる、外部サービス障害が起きない。</a:t>
            </a:r>
          </a:p>
          <a:p xmlns:a="http://schemas.openxmlformats.org/drawingml/2006/main">
            <a:r>
              <a:t>デモ操作: 出力選択画面を見せ、Beautiful.ai成功リンクを開く。</a:t>
            </a:r>
          </a:p>
          <a:p xmlns:a="http://schemas.openxmlformats.org/drawingml/2006/main">
            <a:r>
              <a:t>デモ失敗時の代替: PPTX出力とBeautiful.ai完成画面の静止画で説明する。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管理者はユーザー、権限、履歴、監査ログ、Beautiful.ai診断を確認できます。一般利用者には管理情報を表示しません。</a:t>
            </a:r>
          </a:p>
          <a:p xmlns:a="http://schemas.openxmlformats.org/drawingml/2006/main">
            <a:r>
              <a:t>相手への質問: 利用部門やチームごとに、閲覧範囲を分ける必要はありますか。</a:t>
            </a:r>
          </a:p>
          <a:p xmlns:a="http://schemas.openxmlformats.org/drawingml/2006/main">
            <a:r>
              <a:t>深掘り補足: APIキーや秘密情報は画面に表示しない方針です。</a:t>
            </a:r>
          </a:p>
          <a:p xmlns:a="http://schemas.openxmlformats.org/drawingml/2006/main">
            <a:r>
              <a:t>言ってはいけない表現: 完全安全、法令完全準拠、あらゆる情報漏えいを防止。</a:t>
            </a:r>
          </a:p>
          <a:p xmlns:a="http://schemas.openxmlformats.org/drawingml/2006/main">
            <a:r>
              <a:t>デモ操作: 管理画面を短く見せ、権限別の表示差を説明する。</a:t>
            </a:r>
          </a:p>
          <a:p xmlns:a="http://schemas.openxmlformats.org/drawingml/2006/main">
            <a:r>
              <a:t>デモ失敗時の代替: 管理画面のモックで説明し、詳細は別途確認にする。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提案資料の標準化や確認プロセスが課題になりやすい営業組織で使いやすい構成です。</a:t>
            </a:r>
          </a:p>
          <a:p xmlns:a="http://schemas.openxmlformats.org/drawingml/2006/main">
            <a:r>
              <a:t>相手への質問: 御社では、どの部門が最初の利用候補になりそうですか。</a:t>
            </a:r>
          </a:p>
          <a:p xmlns:a="http://schemas.openxmlformats.org/drawingml/2006/main">
            <a:r>
              <a:t>深掘り補足: 用途は一例であり、限定業種向けと断定しない。</a:t>
            </a:r>
          </a:p>
          <a:p xmlns:a="http://schemas.openxmlformats.org/drawingml/2006/main">
            <a:r>
              <a:t>言ってはいけない表現: この業種なら必ず効果が出る。</a:t>
            </a:r>
          </a:p>
          <a:p xmlns:a="http://schemas.openxmlformats.org/drawingml/2006/main">
            <a:r>
              <a:t>デモ操作: 相手の業種に近いカードを指して、利用イメージを会話する。</a:t>
            </a:r>
          </a:p>
          <a:p xmlns:a="http://schemas.openxmlformats.org/drawingml/2006/main">
            <a:r>
              <a:t>デモ失敗時の代替: 架空案件をもとに利用シーンを説明する。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最初は架空データや限定チームで確認し、運用に合う範囲から広げます。料金やサポート条件は未確定の場合、お問い合わせと案内します。</a:t>
            </a:r>
          </a:p>
          <a:p xmlns:a="http://schemas.openxmlformats.org/drawingml/2006/main">
            <a:r>
              <a:t>相手への質問: 最初に試すなら、どのチーム・どの案件種別がよさそうですか。</a:t>
            </a:r>
          </a:p>
          <a:p xmlns:a="http://schemas.openxmlformats.org/drawingml/2006/main">
            <a:r>
              <a:t>深掘り補足: 本番DBや実顧客情報の扱いは導入前にルール確認が必要です。</a:t>
            </a:r>
          </a:p>
          <a:p xmlns:a="http://schemas.openxmlformats.org/drawingml/2006/main">
            <a:r>
              <a:t>言ってはいけない表現: 即日全社展開、初期費用の断定、サポート範囲の断定。</a:t>
            </a:r>
          </a:p>
          <a:p xmlns:a="http://schemas.openxmlformats.org/drawingml/2006/main">
            <a:r>
              <a:t>デモ操作: 導入ステップを説明し、次回打ち合わせで必要な確認事項を整理する。</a:t>
            </a:r>
          </a:p>
          <a:p xmlns:a="http://schemas.openxmlformats.org/drawingml/2006/main">
            <a:r>
              <a:t>デモ失敗時の代替: 資料ベースで導入手順のみ説明する。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競合を否定するのではなく、ProposalPilotが営業提案フローを扱う製品であることを説明します。</a:t>
            </a:r>
          </a:p>
          <a:p xmlns:a="http://schemas.openxmlformats.org/drawingml/2006/main">
            <a:r>
              <a:t>相手への質問: 現在使っている生成AIや資料作成ツールと、どこを連携させたいですか。</a:t>
            </a:r>
          </a:p>
          <a:p xmlns:a="http://schemas.openxmlformats.org/drawingml/2006/main">
            <a:r>
              <a:t>深掘り補足: Beautiful.aiは競合ではなく、出力先として連携する位置づけです。</a:t>
            </a:r>
          </a:p>
          <a:p xmlns:a="http://schemas.openxmlformats.org/drawingml/2006/main">
            <a:r>
              <a:t>言ってはいけない表現: 競合より必ず優れている、価格が安い、特定製品を否定する。</a:t>
            </a:r>
          </a:p>
          <a:p xmlns:a="http://schemas.openxmlformats.org/drawingml/2006/main">
            <a:r>
              <a:t>デモ操作: 相手が使っているツールを聞き、補完関係として説明する。</a:t>
            </a:r>
          </a:p>
          <a:p xmlns:a="http://schemas.openxmlformats.org/drawingml/2006/main">
            <a:r>
              <a:t>デモ失敗時の代替: 比較表だけで位置づけを説明する。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話す内容: 現在の営業提案業務を伺いながら、デモ内容や試験利用の進め方をご提案します。</a:t>
            </a:r>
          </a:p>
          <a:p xmlns:a="http://schemas.openxmlformats.org/drawingml/2006/main">
            <a:r>
              <a:t>相手への質問: 次回、実際の提案フローに近い架空案件で確認してみてもよいですか。</a:t>
            </a:r>
          </a:p>
          <a:p xmlns:a="http://schemas.openxmlformats.org/drawingml/2006/main">
            <a:r>
              <a:t>深掘り補足: 問い合わせ先や会社情報は正式公開前に差し替える必要があります。</a:t>
            </a:r>
          </a:p>
          <a:p xmlns:a="http://schemas.openxmlformats.org/drawingml/2006/main">
            <a:r>
              <a:t>言ってはいけない表現: 価格、導入日、サポート範囲を未確定のまま断定する。</a:t>
            </a:r>
          </a:p>
          <a:p xmlns:a="http://schemas.openxmlformats.org/drawingml/2006/main">
            <a:r>
              <a:t>デモ操作: 質疑に入り、必要であれば作成済み資料やLPを案内する。</a:t>
            </a:r>
          </a:p>
          <a:p xmlns:a="http://schemas.openxmlformats.org/drawingml/2006/main">
            <a:r>
              <a:t>デモ失敗時の代替: 通信障害時はPDF版カタログとこの営業デモ資料で説明する。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969b1f181a43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d37bdcb59841db" /><Relationship Type="http://schemas.openxmlformats.org/officeDocument/2006/relationships/slideLayout" Target="/ppt/slideLayouts/slideLayout1.xml" Id="Rec2e65ab4b234a8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2e65ab4b234a8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8ca5cf88a84543" /><Relationship Type="http://schemas.openxmlformats.org/officeDocument/2006/relationships/notesSlide" Target="/ppt/notesSlides/notesSlide1.xml" Id="R42554c6c74de46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4b824482fc54c32" /><Relationship Type="http://schemas.openxmlformats.org/officeDocument/2006/relationships/notesSlide" Target="/ppt/notesSlides/notesSlide2.xml" Id="R77c825d7c2ed41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2e99e92e8f4a63" /><Relationship Type="http://schemas.openxmlformats.org/officeDocument/2006/relationships/notesSlide" Target="/ppt/notesSlides/notesSlide3.xml" Id="R6f0cff4e0a9d4d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0b096591c34f4b" /><Relationship Type="http://schemas.openxmlformats.org/officeDocument/2006/relationships/notesSlide" Target="/ppt/notesSlides/notesSlide4.xml" Id="Rf801abdd839c4f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dc3d13dc064d8c" /><Relationship Type="http://schemas.openxmlformats.org/officeDocument/2006/relationships/notesSlide" Target="/ppt/notesSlides/notesSlide5.xml" Id="R71f43c1477f54b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5b4b7537774ae0" /><Relationship Type="http://schemas.openxmlformats.org/officeDocument/2006/relationships/notesSlide" Target="/ppt/notesSlides/notesSlide6.xml" Id="Rdfafe3b29e3d41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46feceaa954996" /><Relationship Type="http://schemas.openxmlformats.org/officeDocument/2006/relationships/notesSlide" Target="/ppt/notesSlides/notesSlide7.xml" Id="R34a43d37469e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c78bac80b744e0" /><Relationship Type="http://schemas.openxmlformats.org/officeDocument/2006/relationships/notesSlide" Target="/ppt/notesSlides/notesSlide8.xml" Id="R535fa03e542b4f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eef8d83d7d4270" /><Relationship Type="http://schemas.openxmlformats.org/officeDocument/2006/relationships/notesSlide" Target="/ppt/notesSlides/notesSlide9.xml" Id="R9586a0c057724d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88e2143922c471a" /><Relationship Type="http://schemas.openxmlformats.org/officeDocument/2006/relationships/notesSlide" Target="/ppt/notesSlides/notesSlide10.xml" Id="Rb57f0e283a9d40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4c64ad140243e1" /><Relationship Type="http://schemas.openxmlformats.org/officeDocument/2006/relationships/notesSlide" Target="/ppt/notesSlides/notesSlide11.xml" Id="Rce7e4b629bb543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c43e56635664159" /><Relationship Type="http://schemas.openxmlformats.org/officeDocument/2006/relationships/notesSlide" Target="/ppt/notesSlides/notesSlide12.xml" Id="Ra80fbb8f6a8f4ed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3C0412-1116-4FEC-97E1-4A6B6C5CBD41}"/>
              </a:ext>
            </a:extLst>
          </p:cNvPr>
          <p:cNvSpPr>
            <a:spLocks xmlns:a="http://schemas.openxmlformats.org/drawingml/2006/main" noGrp="1"/>
          </p:cNvSpPr>
          <p:nvPr/>
        </p:nvSpPr>
        <p:spPr>
          <a:xfrm xmlns:a="http://schemas.openxmlformats.org/drawingml/2006/main">
            <a:off x="8858250" y="152400"/>
            <a:ext cx="2476500" cy="2476500"/>
          </a:xfrm>
          <a:prstGeom xmlns:a="http://schemas.openxmlformats.org/drawingml/2006/main" prst="ellipse">
            <a:avLst/>
          </a:prstGeom>
          <a:solidFill xmlns:a="http://schemas.openxmlformats.org/drawingml/2006/main">
            <a:srgbClr val="164E63"/>
          </a:solidFill>
          <a:ln xmlns:a="http://schemas.openxmlformats.org/drawingml/2006/main" w="0">
            <a:solidFill>
              <a:srgbClr val="164E63"/>
            </a:solidFill>
            <a:prstDash val="solid"/>
          </a:ln>
        </p:spPr>
      </p:sp>
      <p:sp>
        <p:nvSpPr>
          <p:cNvPr id="2" name="">
            <a:extLst xmlns:a="http://schemas.openxmlformats.org/drawingml/2006/main">
              <a:ext uri="{FF2B5EF4-FFF2-40B4-BE49-F238E27FC236}">
                <a16:creationId xmlns:a16="http://schemas.microsoft.com/office/drawing/2014/main" id="{E2486719-CB30-44B5-B2BF-908DB2A93FCD}"/>
              </a:ext>
            </a:extLst>
          </p:cNvPr>
          <p:cNvSpPr>
            <a:spLocks xmlns:a="http://schemas.openxmlformats.org/drawingml/2006/main" noGrp="1"/>
          </p:cNvSpPr>
          <p:nvPr/>
        </p:nvSpPr>
        <p:spPr>
          <a:xfrm xmlns:a="http://schemas.openxmlformats.org/drawingml/2006/main">
            <a:off x="7239000" y="1733550"/>
            <a:ext cx="3429000" cy="3143250"/>
          </a:xfrm>
          <a:prstGeom xmlns:a="http://schemas.openxmlformats.org/drawingml/2006/main" prst="roundRect">
            <a:avLst>
              <a:gd name="adj" fmla="val 3636"/>
            </a:avLst>
          </a:prstGeom>
          <a:solidFill xmlns:a="http://schemas.openxmlformats.org/drawingml/2006/main">
            <a:srgbClr val="17324F"/>
          </a:solidFill>
          <a:ln xmlns:a="http://schemas.openxmlformats.org/drawingml/2006/main" w="9525">
            <a:solidFill>
              <a:srgbClr val="39546F"/>
            </a:solidFill>
            <a:prstDash val="solid"/>
          </a:ln>
        </p:spPr>
      </p:sp>
      <p:sp>
        <p:nvSpPr>
          <p:cNvPr id="3" name="">
            <a:extLst xmlns:a="http://schemas.openxmlformats.org/drawingml/2006/main">
              <a:ext uri="{FF2B5EF4-FFF2-40B4-BE49-F238E27FC236}">
                <a16:creationId xmlns:a16="http://schemas.microsoft.com/office/drawing/2014/main" id="{FBF9F77A-319D-486F-9C62-2626386AE841}"/>
              </a:ext>
            </a:extLst>
          </p:cNvPr>
          <p:cNvSpPr>
            <a:spLocks xmlns:a="http://schemas.openxmlformats.org/drawingml/2006/main" noGrp="1"/>
          </p:cNvSpPr>
          <p:nvPr/>
        </p:nvSpPr>
        <p:spPr>
          <a:xfrm xmlns:a="http://schemas.openxmlformats.org/drawingml/2006/main">
            <a:off x="7524750" y="2133600"/>
            <a:ext cx="28575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4" name="">
            <a:extLst xmlns:a="http://schemas.openxmlformats.org/drawingml/2006/main">
              <a:ext uri="{FF2B5EF4-FFF2-40B4-BE49-F238E27FC236}">
                <a16:creationId xmlns:a16="http://schemas.microsoft.com/office/drawing/2014/main" id="{AE0E2917-1FEA-48A5-BB50-9774B1F804E7}"/>
              </a:ext>
            </a:extLst>
          </p:cNvPr>
          <p:cNvSpPr>
            <a:spLocks xmlns:a="http://schemas.openxmlformats.org/drawingml/2006/main" noGrp="1"/>
          </p:cNvSpPr>
          <p:nvPr/>
        </p:nvSpPr>
        <p:spPr>
          <a:xfrm xmlns:a="http://schemas.openxmlformats.org/drawingml/2006/main">
            <a:off x="7524750" y="2667000"/>
            <a:ext cx="2381250" cy="133350"/>
          </a:xfrm>
          <a:prstGeom xmlns:a="http://schemas.openxmlformats.org/drawingml/2006/main" prst="roundRect">
            <a:avLst>
              <a:gd name="adj" fmla="val 50000"/>
            </a:avLst>
          </a:prstGeom>
          <a:solidFill xmlns:a="http://schemas.openxmlformats.org/drawingml/2006/main">
            <a:srgbClr val="8AA4BD"/>
          </a:solidFill>
          <a:ln xmlns:a="http://schemas.openxmlformats.org/drawingml/2006/main" w="0">
            <a:solidFill>
              <a:srgbClr val="8AA4BD"/>
            </a:solidFill>
            <a:prstDash val="solid"/>
          </a:ln>
        </p:spPr>
      </p:sp>
      <p:sp>
        <p:nvSpPr>
          <p:cNvPr id="5" name="">
            <a:extLst xmlns:a="http://schemas.openxmlformats.org/drawingml/2006/main">
              <a:ext uri="{FF2B5EF4-FFF2-40B4-BE49-F238E27FC236}">
                <a16:creationId xmlns:a16="http://schemas.microsoft.com/office/drawing/2014/main" id="{4D498B2B-ED5E-44DE-92ED-A844D5E35A5D}"/>
              </a:ext>
            </a:extLst>
          </p:cNvPr>
          <p:cNvSpPr>
            <a:spLocks xmlns:a="http://schemas.openxmlformats.org/drawingml/2006/main" noGrp="1"/>
          </p:cNvSpPr>
          <p:nvPr/>
        </p:nvSpPr>
        <p:spPr>
          <a:xfrm xmlns:a="http://schemas.openxmlformats.org/drawingml/2006/main">
            <a:off x="7524750" y="3028950"/>
            <a:ext cx="2209800" cy="133350"/>
          </a:xfrm>
          <a:prstGeom xmlns:a="http://schemas.openxmlformats.org/drawingml/2006/main" prst="roundRect">
            <a:avLst>
              <a:gd name="adj" fmla="val 50000"/>
            </a:avLst>
          </a:prstGeom>
          <a:solidFill xmlns:a="http://schemas.openxmlformats.org/drawingml/2006/main">
            <a:srgbClr val="8AA4BD"/>
          </a:solidFill>
          <a:ln xmlns:a="http://schemas.openxmlformats.org/drawingml/2006/main" w="0">
            <a:solidFill>
              <a:srgbClr val="8AA4BD"/>
            </a:solidFill>
            <a:prstDash val="solid"/>
          </a:ln>
        </p:spPr>
      </p:sp>
      <p:sp>
        <p:nvSpPr>
          <p:cNvPr id="6" name="">
            <a:extLst xmlns:a="http://schemas.openxmlformats.org/drawingml/2006/main">
              <a:ext uri="{FF2B5EF4-FFF2-40B4-BE49-F238E27FC236}">
                <a16:creationId xmlns:a16="http://schemas.microsoft.com/office/drawing/2014/main" id="{5CA50D6E-4BE6-425E-ADAB-2DFAEFCE3DDE}"/>
              </a:ext>
            </a:extLst>
          </p:cNvPr>
          <p:cNvSpPr>
            <a:spLocks xmlns:a="http://schemas.openxmlformats.org/drawingml/2006/main" noGrp="1"/>
          </p:cNvSpPr>
          <p:nvPr/>
        </p:nvSpPr>
        <p:spPr>
          <a:xfrm xmlns:a="http://schemas.openxmlformats.org/drawingml/2006/main">
            <a:off x="7524750" y="3390900"/>
            <a:ext cx="2038350" cy="13335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solidFill>
              <a:srgbClr val="155EEF"/>
            </a:solidFill>
            <a:prstDash val="solid"/>
          </a:ln>
        </p:spPr>
      </p:sp>
      <p:sp>
        <p:nvSpPr>
          <p:cNvPr id="7" name="">
            <a:extLst xmlns:a="http://schemas.openxmlformats.org/drawingml/2006/main">
              <a:ext uri="{FF2B5EF4-FFF2-40B4-BE49-F238E27FC236}">
                <a16:creationId xmlns:a16="http://schemas.microsoft.com/office/drawing/2014/main" id="{85CC144E-5145-4BE0-8A69-E4FBE68FE6F8}"/>
              </a:ext>
            </a:extLst>
          </p:cNvPr>
          <p:cNvSpPr>
            <a:spLocks xmlns:a="http://schemas.openxmlformats.org/drawingml/2006/main" noGrp="1"/>
          </p:cNvSpPr>
          <p:nvPr/>
        </p:nvSpPr>
        <p:spPr>
          <a:xfrm xmlns:a="http://schemas.openxmlformats.org/drawingml/2006/main">
            <a:off x="7524750" y="3752850"/>
            <a:ext cx="1866900" cy="133350"/>
          </a:xfrm>
          <a:prstGeom xmlns:a="http://schemas.openxmlformats.org/drawingml/2006/main" prst="roundRect">
            <a:avLst>
              <a:gd name="adj" fmla="val 50000"/>
            </a:avLst>
          </a:prstGeom>
          <a:solidFill xmlns:a="http://schemas.openxmlformats.org/drawingml/2006/main">
            <a:srgbClr val="8AA4BD"/>
          </a:solidFill>
          <a:ln xmlns:a="http://schemas.openxmlformats.org/drawingml/2006/main" w="0">
            <a:solidFill>
              <a:srgbClr val="8AA4BD"/>
            </a:solidFill>
            <a:prstDash val="solid"/>
          </a:ln>
        </p:spPr>
      </p:sp>
      <p:sp>
        <p:nvSpPr>
          <p:cNvPr id="8" name="">
            <a:extLst xmlns:a="http://schemas.openxmlformats.org/drawingml/2006/main">
              <a:ext uri="{FF2B5EF4-FFF2-40B4-BE49-F238E27FC236}">
                <a16:creationId xmlns:a16="http://schemas.microsoft.com/office/drawing/2014/main" id="{86DCA01E-8B71-41EC-9156-B422DC5C9714}"/>
              </a:ext>
            </a:extLst>
          </p:cNvPr>
          <p:cNvSpPr>
            <a:spLocks xmlns:a="http://schemas.openxmlformats.org/drawingml/2006/main" noGrp="1"/>
          </p:cNvSpPr>
          <p:nvPr/>
        </p:nvSpPr>
        <p:spPr>
          <a:xfrm xmlns:a="http://schemas.openxmlformats.org/drawingml/2006/main">
            <a:off x="7524750" y="4114800"/>
            <a:ext cx="1695450" cy="133350"/>
          </a:xfrm>
          <a:prstGeom xmlns:a="http://schemas.openxmlformats.org/drawingml/2006/main" prst="roundRect">
            <a:avLst>
              <a:gd name="adj" fmla="val 50000"/>
            </a:avLst>
          </a:prstGeom>
          <a:solidFill xmlns:a="http://schemas.openxmlformats.org/drawingml/2006/main">
            <a:srgbClr val="8AA4BD"/>
          </a:solidFill>
          <a:ln xmlns:a="http://schemas.openxmlformats.org/drawingml/2006/main" w="0">
            <a:solidFill>
              <a:srgbClr val="8AA4BD"/>
            </a:solidFill>
            <a:prstDash val="solid"/>
          </a:ln>
        </p:spPr>
      </p:sp>
      <p:sp>
        <p:nvSpPr>
          <p:cNvPr id="9" name="">
            <a:extLst xmlns:a="http://schemas.openxmlformats.org/drawingml/2006/main">
              <a:ext uri="{FF2B5EF4-FFF2-40B4-BE49-F238E27FC236}">
                <a16:creationId xmlns:a16="http://schemas.microsoft.com/office/drawing/2014/main" id="{6C97A012-3A90-4896-98DC-FB60E1853C6B}"/>
              </a:ext>
            </a:extLst>
          </p:cNvPr>
          <p:cNvSpPr>
            <a:spLocks xmlns:a="http://schemas.openxmlformats.org/drawingml/2006/main" noGrp="1"/>
          </p:cNvSpPr>
          <p:nvPr/>
        </p:nvSpPr>
        <p:spPr>
          <a:xfrm xmlns:a="http://schemas.openxmlformats.org/drawingml/2006/main">
            <a:off x="666750" y="5524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FFFFFF"/>
                </a:solidFill>
              </a:defRPr>
            </a:pPr>
            <a:r>
              <a:rPr sz="1800" b="1">
                <a:solidFill>
                  <a:srgbClr val="FFFFFF"/>
                </a:solidFill>
              </a:rPr>
              <a:t>ProposalPilot</a:t>
            </a:r>
          </a:p>
        </p:txBody>
      </p:sp>
      <p:sp>
        <p:nvSpPr>
          <p:cNvPr id="10" name="">
            <a:extLst xmlns:a="http://schemas.openxmlformats.org/drawingml/2006/main">
              <a:ext uri="{FF2B5EF4-FFF2-40B4-BE49-F238E27FC236}">
                <a16:creationId xmlns:a16="http://schemas.microsoft.com/office/drawing/2014/main" id="{CF26E879-E28A-459A-A0B6-B384370319FC}"/>
              </a:ext>
            </a:extLst>
          </p:cNvPr>
          <p:cNvSpPr>
            <a:spLocks xmlns:a="http://schemas.openxmlformats.org/drawingml/2006/main" noGrp="1"/>
          </p:cNvSpPr>
          <p:nvPr/>
        </p:nvSpPr>
        <p:spPr>
          <a:xfrm xmlns:a="http://schemas.openxmlformats.org/drawingml/2006/main">
            <a:off x="685800" y="10096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C7D7EF"/>
                </a:solidFill>
              </a:defRPr>
            </a:pPr>
            <a:r>
              <a:rPr sz="1650" b="0">
                <a:solidFill>
                  <a:srgbClr val="C7D7EF"/>
                </a:solidFill>
              </a:rPr>
              <a:t>AI営業秘書</a:t>
            </a:r>
          </a:p>
        </p:txBody>
      </p:sp>
      <p:sp>
        <p:nvSpPr>
          <p:cNvPr id="11" name="">
            <a:extLst xmlns:a="http://schemas.openxmlformats.org/drawingml/2006/main">
              <a:ext uri="{FF2B5EF4-FFF2-40B4-BE49-F238E27FC236}">
                <a16:creationId xmlns:a16="http://schemas.microsoft.com/office/drawing/2014/main" id="{3C74E38D-30F7-44B6-8F16-637895C816A7}"/>
              </a:ext>
            </a:extLst>
          </p:cNvPr>
          <p:cNvSpPr>
            <a:spLocks xmlns:a="http://schemas.openxmlformats.org/drawingml/2006/main" noGrp="1"/>
          </p:cNvSpPr>
          <p:nvPr/>
        </p:nvSpPr>
        <p:spPr>
          <a:xfrm xmlns:a="http://schemas.openxmlformats.org/drawingml/2006/main">
            <a:off x="685800" y="1619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2DE2E6"/>
                </a:solidFill>
              </a:defRPr>
            </a:pPr>
            <a:r>
              <a:rPr sz="1800" b="1">
                <a:solidFill>
                  <a:srgbClr val="2DE2E6"/>
                </a:solidFill>
              </a:rPr>
              <a:t>Accelerate Every Proposal.</a:t>
            </a:r>
          </a:p>
        </p:txBody>
      </p:sp>
      <p:sp>
        <p:nvSpPr>
          <p:cNvPr id="12" name="">
            <a:extLst xmlns:a="http://schemas.openxmlformats.org/drawingml/2006/main">
              <a:ext uri="{FF2B5EF4-FFF2-40B4-BE49-F238E27FC236}">
                <a16:creationId xmlns:a16="http://schemas.microsoft.com/office/drawing/2014/main" id="{457BEEF1-EAA4-4A39-BABC-678269330CF2}"/>
              </a:ext>
            </a:extLst>
          </p:cNvPr>
          <p:cNvSpPr>
            <a:spLocks xmlns:a="http://schemas.openxmlformats.org/drawingml/2006/main" noGrp="1"/>
          </p:cNvSpPr>
          <p:nvPr/>
        </p:nvSpPr>
        <p:spPr>
          <a:xfrm xmlns:a="http://schemas.openxmlformats.org/drawingml/2006/main">
            <a:off x="666750" y="21717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150" b="1">
                <a:solidFill>
                  <a:srgbClr val="FFFFFF"/>
                </a:solidFill>
              </a:defRPr>
            </a:pPr>
            <a:r>
              <a:rPr sz="3150" b="1">
                <a:solidFill>
                  <a:srgbClr val="FFFFFF"/>
                </a:solidFill>
              </a:rPr>
              <a:t>営業提案をAIでもっと速く、</a:t>
            </a:r>
          </a:p>
          <a:p xmlns:a="http://schemas.openxmlformats.org/drawingml/2006/main">
            <a:pPr>
              <a:defRPr sz="3150" b="1">
                <a:solidFill>
                  <a:srgbClr val="FFFFFF"/>
                </a:solidFill>
              </a:defRPr>
            </a:pPr>
            <a:r>
              <a:rPr sz="3150" b="1">
                <a:solidFill>
                  <a:srgbClr val="FFFFFF"/>
                </a:solidFill>
              </a:rPr>
              <a:t>もっと美しく。</a:t>
            </a:r>
          </a:p>
        </p:txBody>
      </p:sp>
      <p:sp>
        <p:nvSpPr>
          <p:cNvPr id="13" name="">
            <a:extLst xmlns:a="http://schemas.openxmlformats.org/drawingml/2006/main">
              <a:ext uri="{FF2B5EF4-FFF2-40B4-BE49-F238E27FC236}">
                <a16:creationId xmlns:a16="http://schemas.microsoft.com/office/drawing/2014/main" id="{E83031C3-B014-474A-8AEC-D2C089D17E27}"/>
              </a:ext>
            </a:extLst>
          </p:cNvPr>
          <p:cNvSpPr>
            <a:spLocks xmlns:a="http://schemas.openxmlformats.org/drawingml/2006/main" noGrp="1"/>
          </p:cNvSpPr>
          <p:nvPr/>
        </p:nvSpPr>
        <p:spPr>
          <a:xfrm xmlns:a="http://schemas.openxmlformats.org/drawingml/2006/main">
            <a:off x="685800" y="3733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0">
                <a:solidFill>
                  <a:srgbClr val="D6E4FF"/>
                </a:solidFill>
              </a:defRPr>
            </a:pPr>
            <a:r>
              <a:rPr sz="1800" b="0">
                <a:solidFill>
                  <a:srgbClr val="D6E4FF"/>
                </a:solidFill>
              </a:rPr>
              <a:t>営業デモ</a:t>
            </a:r>
          </a:p>
        </p:txBody>
      </p:sp>
      <p:sp>
        <p:nvSpPr>
          <p:cNvPr id="14" name="">
            <a:extLst xmlns:a="http://schemas.openxmlformats.org/drawingml/2006/main">
              <a:ext uri="{FF2B5EF4-FFF2-40B4-BE49-F238E27FC236}">
                <a16:creationId xmlns:a16="http://schemas.microsoft.com/office/drawing/2014/main" id="{0E78A7CF-949A-40EE-8012-6F604EAC1E63}"/>
              </a:ext>
            </a:extLst>
          </p:cNvPr>
          <p:cNvSpPr>
            <a:spLocks xmlns:a="http://schemas.openxmlformats.org/drawingml/2006/main" noGrp="1"/>
          </p:cNvSpPr>
          <p:nvPr/>
        </p:nvSpPr>
        <p:spPr>
          <a:xfrm xmlns:a="http://schemas.openxmlformats.org/drawingml/2006/main">
            <a:off x="685800" y="4381500"/>
            <a:ext cx="1257300" cy="285750"/>
          </a:xfrm>
          <a:prstGeom xmlns:a="http://schemas.openxmlformats.org/drawingml/2006/main" prst="roundRect">
            <a:avLst>
              <a:gd name="adj" fmla="val 40000"/>
            </a:avLst>
          </a:prstGeom>
          <a:solidFill xmlns:a="http://schemas.openxmlformats.org/drawingml/2006/main">
            <a:srgbClr val="123B66"/>
          </a:solidFill>
          <a:ln xmlns:a="http://schemas.openxmlformats.org/drawingml/2006/main" w="0">
            <a:solidFill>
              <a:srgbClr val="123B66"/>
            </a:solidFill>
            <a:prstDash val="solid"/>
          </a:ln>
        </p:spPr>
      </p:sp>
      <p:sp>
        <p:nvSpPr>
          <p:cNvPr id="15" name="">
            <a:extLst xmlns:a="http://schemas.openxmlformats.org/drawingml/2006/main">
              <a:ext uri="{FF2B5EF4-FFF2-40B4-BE49-F238E27FC236}">
                <a16:creationId xmlns:a16="http://schemas.microsoft.com/office/drawing/2014/main" id="{D625274D-FC69-41A0-98DC-92F2D429BB87}"/>
              </a:ext>
            </a:extLst>
          </p:cNvPr>
          <p:cNvSpPr>
            <a:spLocks xmlns:a="http://schemas.openxmlformats.org/drawingml/2006/main" noGrp="1"/>
          </p:cNvSpPr>
          <p:nvPr/>
        </p:nvSpPr>
        <p:spPr>
          <a:xfrm xmlns:a="http://schemas.openxmlformats.org/drawingml/2006/main">
            <a:off x="819150" y="44386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FFFFFF"/>
                </a:solidFill>
              </a:defRPr>
            </a:pPr>
            <a:r>
              <a:rPr sz="900" b="1">
                <a:solidFill>
                  <a:srgbClr val="FFFFFF"/>
                </a:solidFill>
              </a:rPr>
              <a:t>5-10分</a:t>
            </a:r>
          </a:p>
        </p:txBody>
      </p:sp>
      <p:sp>
        <p:nvSpPr>
          <p:cNvPr id="16" name="">
            <a:extLst xmlns:a="http://schemas.openxmlformats.org/drawingml/2006/main">
              <a:ext uri="{FF2B5EF4-FFF2-40B4-BE49-F238E27FC236}">
                <a16:creationId xmlns:a16="http://schemas.microsoft.com/office/drawing/2014/main" id="{F887759D-9BD4-4910-A11C-FE8BD1EEEF97}"/>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17" name="">
            <a:extLst xmlns:a="http://schemas.openxmlformats.org/drawingml/2006/main">
              <a:ext uri="{FF2B5EF4-FFF2-40B4-BE49-F238E27FC236}">
                <a16:creationId xmlns:a16="http://schemas.microsoft.com/office/drawing/2014/main" id="{15315E8C-2EC8-4CB0-89A1-87E79CE7B0A6}"/>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1</a:t>
            </a:r>
          </a:p>
        </p:txBody>
      </p:sp>
    </p:spTree>
    <p:extLst>
      <p:ext uri="{BB962C8B-B14F-4D97-AF65-F5344CB8AC3E}">
        <p14:creationId xmlns:p14="http://schemas.microsoft.com/office/powerpoint/2010/main" val="122091339"/>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0B405B-2126-486A-8488-BB49F0195087}"/>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28FDC51B-0485-4E0F-B7D4-C25160D96ED6}"/>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営業現場の課題</a:t>
            </a:r>
          </a:p>
        </p:txBody>
      </p:sp>
      <p:sp>
        <p:nvSpPr>
          <p:cNvPr id="3" name="">
            <a:extLst xmlns:a="http://schemas.openxmlformats.org/drawingml/2006/main">
              <a:ext uri="{FF2B5EF4-FFF2-40B4-BE49-F238E27FC236}">
                <a16:creationId xmlns:a16="http://schemas.microsoft.com/office/drawing/2014/main" id="{61C93ACA-9084-47F7-9406-8D6B53C94C31}"/>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948F26CC-BE84-4DC3-B9FD-AADE7BF58505}"/>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2</a:t>
            </a:r>
          </a:p>
        </p:txBody>
      </p:sp>
      <p:sp>
        <p:nvSpPr>
          <p:cNvPr id="5" name="">
            <a:extLst xmlns:a="http://schemas.openxmlformats.org/drawingml/2006/main">
              <a:ext uri="{FF2B5EF4-FFF2-40B4-BE49-F238E27FC236}">
                <a16:creationId xmlns:a16="http://schemas.microsoft.com/office/drawing/2014/main" id="{CA426FB8-3569-4573-995D-1484A59A1F53}"/>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Problem</a:t>
            </a:r>
          </a:p>
        </p:txBody>
      </p:sp>
      <p:sp>
        <p:nvSpPr>
          <p:cNvPr id="6" name="">
            <a:extLst xmlns:a="http://schemas.openxmlformats.org/drawingml/2006/main">
              <a:ext uri="{FF2B5EF4-FFF2-40B4-BE49-F238E27FC236}">
                <a16:creationId xmlns:a16="http://schemas.microsoft.com/office/drawing/2014/main" id="{D86BEA73-F185-4B9D-8C6D-95B9D1C13ED7}"/>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提案資料づくりは、複数の確認作業に分散しやすい。</a:t>
            </a:r>
          </a:p>
        </p:txBody>
      </p:sp>
      <p:sp>
        <p:nvSpPr>
          <p:cNvPr id="7" name="">
            <a:extLst xmlns:a="http://schemas.openxmlformats.org/drawingml/2006/main">
              <a:ext uri="{FF2B5EF4-FFF2-40B4-BE49-F238E27FC236}">
                <a16:creationId xmlns:a16="http://schemas.microsoft.com/office/drawing/2014/main" id="{9915551E-B808-4AF4-B565-260DDE841FBC}"/>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情報整理、構成、確認、出力、修正が別々に進むほど、品質差と手戻りが生まれます。</a:t>
            </a:r>
          </a:p>
        </p:txBody>
      </p:sp>
      <p:sp>
        <p:nvSpPr>
          <p:cNvPr id="8" name="">
            <a:extLst xmlns:a="http://schemas.openxmlformats.org/drawingml/2006/main">
              <a:ext uri="{FF2B5EF4-FFF2-40B4-BE49-F238E27FC236}">
                <a16:creationId xmlns:a16="http://schemas.microsoft.com/office/drawing/2014/main" id="{A4C24485-C564-4CC0-8802-CB4BAFF71744}"/>
              </a:ext>
            </a:extLst>
          </p:cNvPr>
          <p:cNvSpPr>
            <a:spLocks xmlns:a="http://schemas.openxmlformats.org/drawingml/2006/main" noGrp="1"/>
          </p:cNvSpPr>
          <p:nvPr/>
        </p:nvSpPr>
        <p:spPr>
          <a:xfrm xmlns:a="http://schemas.openxmlformats.org/drawingml/2006/main">
            <a:off x="6858000" y="1238250"/>
            <a:ext cx="409575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25EB0A88-61ED-4BF7-A1C5-C1B9E2D3096A}"/>
              </a:ext>
            </a:extLst>
          </p:cNvPr>
          <p:cNvSpPr>
            <a:spLocks xmlns:a="http://schemas.openxmlformats.org/drawingml/2006/main" noGrp="1"/>
          </p:cNvSpPr>
          <p:nvPr/>
        </p:nvSpPr>
        <p:spPr>
          <a:xfrm xmlns:a="http://schemas.openxmlformats.org/drawingml/2006/main">
            <a:off x="7048500" y="13906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55EEF"/>
                </a:solidFill>
              </a:defRPr>
            </a:pPr>
            <a:r>
              <a:rPr sz="1200" b="1">
                <a:solidFill>
                  <a:srgbClr val="155EEF"/>
                </a:solidFill>
              </a:rPr>
              <a:t>1</a:t>
            </a:r>
          </a:p>
        </p:txBody>
      </p:sp>
      <p:sp>
        <p:nvSpPr>
          <p:cNvPr id="10" name="">
            <a:extLst xmlns:a="http://schemas.openxmlformats.org/drawingml/2006/main">
              <a:ext uri="{FF2B5EF4-FFF2-40B4-BE49-F238E27FC236}">
                <a16:creationId xmlns:a16="http://schemas.microsoft.com/office/drawing/2014/main" id="{F11D732E-B6F9-4AB2-8D4F-19DBA7088082}"/>
              </a:ext>
            </a:extLst>
          </p:cNvPr>
          <p:cNvSpPr>
            <a:spLocks xmlns:a="http://schemas.openxmlformats.org/drawingml/2006/main" noGrp="1"/>
          </p:cNvSpPr>
          <p:nvPr/>
        </p:nvSpPr>
        <p:spPr>
          <a:xfrm xmlns:a="http://schemas.openxmlformats.org/drawingml/2006/main">
            <a:off x="7486650" y="13906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D2939"/>
                </a:solidFill>
              </a:defRPr>
            </a:pPr>
            <a:r>
              <a:rPr sz="1575" b="1">
                <a:solidFill>
                  <a:srgbClr val="1D2939"/>
                </a:solidFill>
              </a:rPr>
              <a:t>提案資料の作成負担</a:t>
            </a:r>
          </a:p>
        </p:txBody>
      </p:sp>
      <p:sp>
        <p:nvSpPr>
          <p:cNvPr id="11" name="">
            <a:extLst xmlns:a="http://schemas.openxmlformats.org/drawingml/2006/main">
              <a:ext uri="{FF2B5EF4-FFF2-40B4-BE49-F238E27FC236}">
                <a16:creationId xmlns:a16="http://schemas.microsoft.com/office/drawing/2014/main" id="{70C21C34-3AFA-463C-A4BF-533700955506}"/>
              </a:ext>
            </a:extLst>
          </p:cNvPr>
          <p:cNvSpPr>
            <a:spLocks xmlns:a="http://schemas.openxmlformats.org/drawingml/2006/main" noGrp="1"/>
          </p:cNvSpPr>
          <p:nvPr/>
        </p:nvSpPr>
        <p:spPr>
          <a:xfrm xmlns:a="http://schemas.openxmlformats.org/drawingml/2006/main">
            <a:off x="6858000" y="2019300"/>
            <a:ext cx="409575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E4E7EC"/>
            </a:solidFill>
            <a:prstDash val="solid"/>
          </a:ln>
        </p:spPr>
      </p:sp>
      <p:sp>
        <p:nvSpPr>
          <p:cNvPr id="12" name="">
            <a:extLst xmlns:a="http://schemas.openxmlformats.org/drawingml/2006/main">
              <a:ext uri="{FF2B5EF4-FFF2-40B4-BE49-F238E27FC236}">
                <a16:creationId xmlns:a16="http://schemas.microsoft.com/office/drawing/2014/main" id="{80D28E5C-B412-4B17-8171-1B2A78E289EF}"/>
              </a:ext>
            </a:extLst>
          </p:cNvPr>
          <p:cNvSpPr>
            <a:spLocks xmlns:a="http://schemas.openxmlformats.org/drawingml/2006/main" noGrp="1"/>
          </p:cNvSpPr>
          <p:nvPr/>
        </p:nvSpPr>
        <p:spPr>
          <a:xfrm xmlns:a="http://schemas.openxmlformats.org/drawingml/2006/main">
            <a:off x="7048500" y="21717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55EEF"/>
                </a:solidFill>
              </a:defRPr>
            </a:pPr>
            <a:r>
              <a:rPr sz="1200" b="1">
                <a:solidFill>
                  <a:srgbClr val="155EEF"/>
                </a:solidFill>
              </a:rPr>
              <a:t>2</a:t>
            </a:r>
          </a:p>
        </p:txBody>
      </p:sp>
      <p:sp>
        <p:nvSpPr>
          <p:cNvPr id="13" name="">
            <a:extLst xmlns:a="http://schemas.openxmlformats.org/drawingml/2006/main">
              <a:ext uri="{FF2B5EF4-FFF2-40B4-BE49-F238E27FC236}">
                <a16:creationId xmlns:a16="http://schemas.microsoft.com/office/drawing/2014/main" id="{789195FF-1198-4E8B-B94E-A809BD193EEE}"/>
              </a:ext>
            </a:extLst>
          </p:cNvPr>
          <p:cNvSpPr>
            <a:spLocks xmlns:a="http://schemas.openxmlformats.org/drawingml/2006/main" noGrp="1"/>
          </p:cNvSpPr>
          <p:nvPr/>
        </p:nvSpPr>
        <p:spPr>
          <a:xfrm xmlns:a="http://schemas.openxmlformats.org/drawingml/2006/main">
            <a:off x="7486650" y="2171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D2939"/>
                </a:solidFill>
              </a:defRPr>
            </a:pPr>
            <a:r>
              <a:rPr sz="1575" b="1">
                <a:solidFill>
                  <a:srgbClr val="1D2939"/>
                </a:solidFill>
              </a:rPr>
              <a:t>担当者による品質差</a:t>
            </a:r>
          </a:p>
        </p:txBody>
      </p:sp>
      <p:sp>
        <p:nvSpPr>
          <p:cNvPr id="14" name="">
            <a:extLst xmlns:a="http://schemas.openxmlformats.org/drawingml/2006/main">
              <a:ext uri="{FF2B5EF4-FFF2-40B4-BE49-F238E27FC236}">
                <a16:creationId xmlns:a16="http://schemas.microsoft.com/office/drawing/2014/main" id="{67666A0D-5D9C-4F56-B588-C288D0220371}"/>
              </a:ext>
            </a:extLst>
          </p:cNvPr>
          <p:cNvSpPr>
            <a:spLocks xmlns:a="http://schemas.openxmlformats.org/drawingml/2006/main" noGrp="1"/>
          </p:cNvSpPr>
          <p:nvPr/>
        </p:nvSpPr>
        <p:spPr>
          <a:xfrm xmlns:a="http://schemas.openxmlformats.org/drawingml/2006/main">
            <a:off x="6858000" y="2800350"/>
            <a:ext cx="409575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E4E7EC"/>
            </a:solidFill>
            <a:prstDash val="solid"/>
          </a:ln>
        </p:spPr>
      </p:sp>
      <p:sp>
        <p:nvSpPr>
          <p:cNvPr id="15" name="">
            <a:extLst xmlns:a="http://schemas.openxmlformats.org/drawingml/2006/main">
              <a:ext uri="{FF2B5EF4-FFF2-40B4-BE49-F238E27FC236}">
                <a16:creationId xmlns:a16="http://schemas.microsoft.com/office/drawing/2014/main" id="{3A397B31-400E-40B9-9049-CC0981309522}"/>
              </a:ext>
            </a:extLst>
          </p:cNvPr>
          <p:cNvSpPr>
            <a:spLocks xmlns:a="http://schemas.openxmlformats.org/drawingml/2006/main" noGrp="1"/>
          </p:cNvSpPr>
          <p:nvPr/>
        </p:nvSpPr>
        <p:spPr>
          <a:xfrm xmlns:a="http://schemas.openxmlformats.org/drawingml/2006/main">
            <a:off x="7048500" y="29527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55EEF"/>
                </a:solidFill>
              </a:defRPr>
            </a:pPr>
            <a:r>
              <a:rPr sz="1200" b="1">
                <a:solidFill>
                  <a:srgbClr val="155EEF"/>
                </a:solidFill>
              </a:rPr>
              <a:t>3</a:t>
            </a:r>
          </a:p>
        </p:txBody>
      </p:sp>
      <p:sp>
        <p:nvSpPr>
          <p:cNvPr id="16" name="">
            <a:extLst xmlns:a="http://schemas.openxmlformats.org/drawingml/2006/main">
              <a:ext uri="{FF2B5EF4-FFF2-40B4-BE49-F238E27FC236}">
                <a16:creationId xmlns:a16="http://schemas.microsoft.com/office/drawing/2014/main" id="{391A55EF-E818-494F-ADD6-0519C8FFD25F}"/>
              </a:ext>
            </a:extLst>
          </p:cNvPr>
          <p:cNvSpPr>
            <a:spLocks xmlns:a="http://schemas.openxmlformats.org/drawingml/2006/main" noGrp="1"/>
          </p:cNvSpPr>
          <p:nvPr/>
        </p:nvSpPr>
        <p:spPr>
          <a:xfrm xmlns:a="http://schemas.openxmlformats.org/drawingml/2006/main">
            <a:off x="7486650" y="29527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D2939"/>
                </a:solidFill>
              </a:defRPr>
            </a:pPr>
            <a:r>
              <a:rPr sz="1575" b="1">
                <a:solidFill>
                  <a:srgbClr val="1D2939"/>
                </a:solidFill>
              </a:rPr>
              <a:t>確認・レビューの手間</a:t>
            </a:r>
          </a:p>
        </p:txBody>
      </p:sp>
      <p:sp>
        <p:nvSpPr>
          <p:cNvPr id="17" name="">
            <a:extLst xmlns:a="http://schemas.openxmlformats.org/drawingml/2006/main">
              <a:ext uri="{FF2B5EF4-FFF2-40B4-BE49-F238E27FC236}">
                <a16:creationId xmlns:a16="http://schemas.microsoft.com/office/drawing/2014/main" id="{76E7973B-C7D5-4E2A-81E7-BC53569E4FD9}"/>
              </a:ext>
            </a:extLst>
          </p:cNvPr>
          <p:cNvSpPr>
            <a:spLocks xmlns:a="http://schemas.openxmlformats.org/drawingml/2006/main" noGrp="1"/>
          </p:cNvSpPr>
          <p:nvPr/>
        </p:nvSpPr>
        <p:spPr>
          <a:xfrm xmlns:a="http://schemas.openxmlformats.org/drawingml/2006/main">
            <a:off x="6858000" y="3581400"/>
            <a:ext cx="409575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E4E7EC"/>
            </a:solidFill>
            <a:prstDash val="solid"/>
          </a:ln>
        </p:spPr>
      </p:sp>
      <p:sp>
        <p:nvSpPr>
          <p:cNvPr id="18" name="">
            <a:extLst xmlns:a="http://schemas.openxmlformats.org/drawingml/2006/main">
              <a:ext uri="{FF2B5EF4-FFF2-40B4-BE49-F238E27FC236}">
                <a16:creationId xmlns:a16="http://schemas.microsoft.com/office/drawing/2014/main" id="{03A26965-3B66-4602-A54E-38E631EDB68E}"/>
              </a:ext>
            </a:extLst>
          </p:cNvPr>
          <p:cNvSpPr>
            <a:spLocks xmlns:a="http://schemas.openxmlformats.org/drawingml/2006/main" noGrp="1"/>
          </p:cNvSpPr>
          <p:nvPr/>
        </p:nvSpPr>
        <p:spPr>
          <a:xfrm xmlns:a="http://schemas.openxmlformats.org/drawingml/2006/main">
            <a:off x="7048500" y="37338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55EEF"/>
                </a:solidFill>
              </a:defRPr>
            </a:pPr>
            <a:r>
              <a:rPr sz="1200" b="1">
                <a:solidFill>
                  <a:srgbClr val="155EEF"/>
                </a:solidFill>
              </a:rPr>
              <a:t>4</a:t>
            </a:r>
          </a:p>
        </p:txBody>
      </p:sp>
      <p:sp>
        <p:nvSpPr>
          <p:cNvPr id="19" name="">
            <a:extLst xmlns:a="http://schemas.openxmlformats.org/drawingml/2006/main">
              <a:ext uri="{FF2B5EF4-FFF2-40B4-BE49-F238E27FC236}">
                <a16:creationId xmlns:a16="http://schemas.microsoft.com/office/drawing/2014/main" id="{1CF7EFDC-9FB7-404A-BEFE-9BBC7399D68F}"/>
              </a:ext>
            </a:extLst>
          </p:cNvPr>
          <p:cNvSpPr>
            <a:spLocks xmlns:a="http://schemas.openxmlformats.org/drawingml/2006/main" noGrp="1"/>
          </p:cNvSpPr>
          <p:nvPr/>
        </p:nvSpPr>
        <p:spPr>
          <a:xfrm xmlns:a="http://schemas.openxmlformats.org/drawingml/2006/main">
            <a:off x="7486650" y="37338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D2939"/>
                </a:solidFill>
              </a:defRPr>
            </a:pPr>
            <a:r>
              <a:rPr sz="1575" b="1">
                <a:solidFill>
                  <a:srgbClr val="1D2939"/>
                </a:solidFill>
              </a:rPr>
              <a:t>複数ツールの使い分け</a:t>
            </a:r>
          </a:p>
        </p:txBody>
      </p:sp>
      <p:sp>
        <p:nvSpPr>
          <p:cNvPr id="20" name="">
            <a:extLst xmlns:a="http://schemas.openxmlformats.org/drawingml/2006/main">
              <a:ext uri="{FF2B5EF4-FFF2-40B4-BE49-F238E27FC236}">
                <a16:creationId xmlns:a16="http://schemas.microsoft.com/office/drawing/2014/main" id="{51A2747C-6DC1-46F5-B3AD-ADB3F3782830}"/>
              </a:ext>
            </a:extLst>
          </p:cNvPr>
          <p:cNvSpPr>
            <a:spLocks xmlns:a="http://schemas.openxmlformats.org/drawingml/2006/main" noGrp="1"/>
          </p:cNvSpPr>
          <p:nvPr/>
        </p:nvSpPr>
        <p:spPr>
          <a:xfrm xmlns:a="http://schemas.openxmlformats.org/drawingml/2006/main">
            <a:off x="6858000" y="4362450"/>
            <a:ext cx="409575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9525">
            <a:solidFill>
              <a:srgbClr val="E4E7EC"/>
            </a:solidFill>
            <a:prstDash val="solid"/>
          </a:ln>
        </p:spPr>
      </p:sp>
      <p:sp>
        <p:nvSpPr>
          <p:cNvPr id="21" name="">
            <a:extLst xmlns:a="http://schemas.openxmlformats.org/drawingml/2006/main">
              <a:ext uri="{FF2B5EF4-FFF2-40B4-BE49-F238E27FC236}">
                <a16:creationId xmlns:a16="http://schemas.microsoft.com/office/drawing/2014/main" id="{B6DC16E6-7A87-402D-853C-5C85A9828D6E}"/>
              </a:ext>
            </a:extLst>
          </p:cNvPr>
          <p:cNvSpPr>
            <a:spLocks xmlns:a="http://schemas.openxmlformats.org/drawingml/2006/main" noGrp="1"/>
          </p:cNvSpPr>
          <p:nvPr/>
        </p:nvSpPr>
        <p:spPr>
          <a:xfrm xmlns:a="http://schemas.openxmlformats.org/drawingml/2006/main">
            <a:off x="7048500" y="45148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55EEF"/>
                </a:solidFill>
              </a:defRPr>
            </a:pPr>
            <a:r>
              <a:rPr sz="1200" b="1">
                <a:solidFill>
                  <a:srgbClr val="155EEF"/>
                </a:solidFill>
              </a:rPr>
              <a:t>5</a:t>
            </a:r>
          </a:p>
        </p:txBody>
      </p:sp>
      <p:sp>
        <p:nvSpPr>
          <p:cNvPr id="22" name="">
            <a:extLst xmlns:a="http://schemas.openxmlformats.org/drawingml/2006/main">
              <a:ext uri="{FF2B5EF4-FFF2-40B4-BE49-F238E27FC236}">
                <a16:creationId xmlns:a16="http://schemas.microsoft.com/office/drawing/2014/main" id="{FE71CDD5-09F9-4A54-8D75-6B71934B8C04}"/>
              </a:ext>
            </a:extLst>
          </p:cNvPr>
          <p:cNvSpPr>
            <a:spLocks xmlns:a="http://schemas.openxmlformats.org/drawingml/2006/main" noGrp="1"/>
          </p:cNvSpPr>
          <p:nvPr/>
        </p:nvSpPr>
        <p:spPr>
          <a:xfrm xmlns:a="http://schemas.openxmlformats.org/drawingml/2006/main">
            <a:off x="7486650" y="45148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D2939"/>
                </a:solidFill>
              </a:defRPr>
            </a:pPr>
            <a:r>
              <a:rPr sz="1575" b="1">
                <a:solidFill>
                  <a:srgbClr val="1D2939"/>
                </a:solidFill>
              </a:rPr>
              <a:t>ナレッジの属人化</a:t>
            </a:r>
          </a:p>
        </p:txBody>
      </p:sp>
    </p:spTree>
    <p:extLst>
      <p:ext uri="{BB962C8B-B14F-4D97-AF65-F5344CB8AC3E}">
        <p14:creationId xmlns:p14="http://schemas.microsoft.com/office/powerpoint/2010/main" val="1469008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998A20-0EE1-4EDB-B82E-BDE8BCC00E4F}"/>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C3A1F00E-3068-4737-A76E-2331A5096A3A}"/>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ProposalPilotとは</a:t>
            </a:r>
          </a:p>
        </p:txBody>
      </p:sp>
      <p:sp>
        <p:nvSpPr>
          <p:cNvPr id="3" name="">
            <a:extLst xmlns:a="http://schemas.openxmlformats.org/drawingml/2006/main">
              <a:ext uri="{FF2B5EF4-FFF2-40B4-BE49-F238E27FC236}">
                <a16:creationId xmlns:a16="http://schemas.microsoft.com/office/drawing/2014/main" id="{6EDECDC7-9B7D-481A-A045-838CCFF69722}"/>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0BDD32C4-185D-4FE7-A8ED-A16146D45C46}"/>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3</a:t>
            </a:r>
          </a:p>
        </p:txBody>
      </p:sp>
      <p:sp>
        <p:nvSpPr>
          <p:cNvPr id="5" name="">
            <a:extLst xmlns:a="http://schemas.openxmlformats.org/drawingml/2006/main">
              <a:ext uri="{FF2B5EF4-FFF2-40B4-BE49-F238E27FC236}">
                <a16:creationId xmlns:a16="http://schemas.microsoft.com/office/drawing/2014/main" id="{981D270E-7338-41C1-A7DA-A035E43C082A}"/>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Solution</a:t>
            </a:r>
          </a:p>
        </p:txBody>
      </p:sp>
      <p:sp>
        <p:nvSpPr>
          <p:cNvPr id="6" name="">
            <a:extLst xmlns:a="http://schemas.openxmlformats.org/drawingml/2006/main">
              <a:ext uri="{FF2B5EF4-FFF2-40B4-BE49-F238E27FC236}">
                <a16:creationId xmlns:a16="http://schemas.microsoft.com/office/drawing/2014/main" id="{F532E0A3-983D-469E-AD42-EAC8C092E10C}"/>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AIチャットではなく、営業提案のワークフローを支援します。</a:t>
            </a:r>
          </a:p>
        </p:txBody>
      </p:sp>
      <p:sp>
        <p:nvSpPr>
          <p:cNvPr id="7" name="">
            <a:extLst xmlns:a="http://schemas.openxmlformats.org/drawingml/2006/main">
              <a:ext uri="{FF2B5EF4-FFF2-40B4-BE49-F238E27FC236}">
                <a16:creationId xmlns:a16="http://schemas.microsoft.com/office/drawing/2014/main" id="{787E274C-6C81-421A-9B82-1EF6FEA8CEAC}"/>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案件情報から提案・確認・各種出力までを一気通貫で支援し、人が最終確認する運用を前提にしています。</a:t>
            </a:r>
          </a:p>
        </p:txBody>
      </p:sp>
      <p:sp>
        <p:nvSpPr>
          <p:cNvPr id="8" name="">
            <a:extLst xmlns:a="http://schemas.openxmlformats.org/drawingml/2006/main">
              <a:ext uri="{FF2B5EF4-FFF2-40B4-BE49-F238E27FC236}">
                <a16:creationId xmlns:a16="http://schemas.microsoft.com/office/drawing/2014/main" id="{605DEB9F-C9E7-4788-AFE4-A02409DF3579}"/>
              </a:ext>
            </a:extLst>
          </p:cNvPr>
          <p:cNvSpPr>
            <a:spLocks xmlns:a="http://schemas.openxmlformats.org/drawingml/2006/main" noGrp="1"/>
          </p:cNvSpPr>
          <p:nvPr/>
        </p:nvSpPr>
        <p:spPr>
          <a:xfrm xmlns:a="http://schemas.openxmlformats.org/drawingml/2006/main">
            <a:off x="6667500" y="1714500"/>
            <a:ext cx="1905000" cy="1066800"/>
          </a:xfrm>
          <a:prstGeom xmlns:a="http://schemas.openxmlformats.org/drawingml/2006/main" prst="roundRect">
            <a:avLst>
              <a:gd name="adj" fmla="val 10714"/>
            </a:avLst>
          </a:prstGeom>
          <a:solidFill xmlns:a="http://schemas.openxmlformats.org/drawingml/2006/main">
            <a:srgbClr val="F8FAFC"/>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D1027D21-2A20-4651-BDF7-D7864BA0DD21}"/>
              </a:ext>
            </a:extLst>
          </p:cNvPr>
          <p:cNvSpPr>
            <a:spLocks xmlns:a="http://schemas.openxmlformats.org/drawingml/2006/main" noGrp="1"/>
          </p:cNvSpPr>
          <p:nvPr/>
        </p:nvSpPr>
        <p:spPr>
          <a:xfrm xmlns:a="http://schemas.openxmlformats.org/drawingml/2006/main">
            <a:off x="687705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02A43"/>
                </a:solidFill>
              </a:defRPr>
            </a:pPr>
            <a:r>
              <a:rPr sz="1650" b="1">
                <a:solidFill>
                  <a:srgbClr val="102A43"/>
                </a:solidFill>
              </a:rPr>
              <a:t>案件入力</a:t>
            </a:r>
          </a:p>
        </p:txBody>
      </p:sp>
      <p:sp>
        <p:nvSpPr>
          <p:cNvPr id="10" name="">
            <a:extLst xmlns:a="http://schemas.openxmlformats.org/drawingml/2006/main">
              <a:ext uri="{FF2B5EF4-FFF2-40B4-BE49-F238E27FC236}">
                <a16:creationId xmlns:a16="http://schemas.microsoft.com/office/drawing/2014/main" id="{2CA1B7A1-DA76-4FF2-9248-3C9746EBD2F7}"/>
              </a:ext>
            </a:extLst>
          </p:cNvPr>
          <p:cNvSpPr>
            <a:spLocks xmlns:a="http://schemas.openxmlformats.org/drawingml/2006/main" noGrp="1"/>
          </p:cNvSpPr>
          <p:nvPr/>
        </p:nvSpPr>
        <p:spPr>
          <a:xfrm xmlns:a="http://schemas.openxmlformats.org/drawingml/2006/main">
            <a:off x="6877050" y="22669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667085"/>
                </a:solidFill>
              </a:defRPr>
            </a:pPr>
            <a:r>
              <a:rPr sz="1125" b="0">
                <a:solidFill>
                  <a:srgbClr val="667085"/>
                </a:solidFill>
              </a:rPr>
              <a:t>メールや議事録を貼り付ける</a:t>
            </a:r>
          </a:p>
        </p:txBody>
      </p:sp>
      <p:sp>
        <p:nvSpPr>
          <p:cNvPr id="11" name="">
            <a:extLst xmlns:a="http://schemas.openxmlformats.org/drawingml/2006/main">
              <a:ext uri="{FF2B5EF4-FFF2-40B4-BE49-F238E27FC236}">
                <a16:creationId xmlns:a16="http://schemas.microsoft.com/office/drawing/2014/main" id="{748539C5-7C2B-48B6-9AC8-04E86601FF40}"/>
              </a:ext>
            </a:extLst>
          </p:cNvPr>
          <p:cNvSpPr>
            <a:spLocks xmlns:a="http://schemas.openxmlformats.org/drawingml/2006/main" noGrp="1"/>
          </p:cNvSpPr>
          <p:nvPr/>
        </p:nvSpPr>
        <p:spPr>
          <a:xfrm xmlns:a="http://schemas.openxmlformats.org/drawingml/2006/main">
            <a:off x="8858250" y="1714500"/>
            <a:ext cx="1905000" cy="1066800"/>
          </a:xfrm>
          <a:prstGeom xmlns:a="http://schemas.openxmlformats.org/drawingml/2006/main" prst="roundRect">
            <a:avLst>
              <a:gd name="adj" fmla="val 10714"/>
            </a:avLst>
          </a:prstGeom>
          <a:solidFill xmlns:a="http://schemas.openxmlformats.org/drawingml/2006/main">
            <a:srgbClr val="EAF1FF"/>
          </a:solidFill>
          <a:ln xmlns:a="http://schemas.openxmlformats.org/drawingml/2006/main" w="9525">
            <a:solidFill>
              <a:srgbClr val="C7D7FE"/>
            </a:solidFill>
            <a:prstDash val="solid"/>
          </a:ln>
        </p:spPr>
      </p:sp>
      <p:sp>
        <p:nvSpPr>
          <p:cNvPr id="12" name="">
            <a:extLst xmlns:a="http://schemas.openxmlformats.org/drawingml/2006/main">
              <a:ext uri="{FF2B5EF4-FFF2-40B4-BE49-F238E27FC236}">
                <a16:creationId xmlns:a16="http://schemas.microsoft.com/office/drawing/2014/main" id="{C28F10DB-0748-4B08-8CB8-1085EC98B191}"/>
              </a:ext>
            </a:extLst>
          </p:cNvPr>
          <p:cNvSpPr>
            <a:spLocks xmlns:a="http://schemas.openxmlformats.org/drawingml/2006/main" noGrp="1"/>
          </p:cNvSpPr>
          <p:nvPr/>
        </p:nvSpPr>
        <p:spPr>
          <a:xfrm xmlns:a="http://schemas.openxmlformats.org/drawingml/2006/main">
            <a:off x="9067800" y="19240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02A43"/>
                </a:solidFill>
              </a:defRPr>
            </a:pPr>
            <a:r>
              <a:rPr sz="1650" b="1">
                <a:solidFill>
                  <a:srgbClr val="102A43"/>
                </a:solidFill>
              </a:rPr>
              <a:t>AI整理</a:t>
            </a:r>
          </a:p>
        </p:txBody>
      </p:sp>
      <p:sp>
        <p:nvSpPr>
          <p:cNvPr id="13" name="">
            <a:extLst xmlns:a="http://schemas.openxmlformats.org/drawingml/2006/main">
              <a:ext uri="{FF2B5EF4-FFF2-40B4-BE49-F238E27FC236}">
                <a16:creationId xmlns:a16="http://schemas.microsoft.com/office/drawing/2014/main" id="{1A5D7F61-EE9E-4439-A0CE-A7B22F13B52F}"/>
              </a:ext>
            </a:extLst>
          </p:cNvPr>
          <p:cNvSpPr>
            <a:spLocks xmlns:a="http://schemas.openxmlformats.org/drawingml/2006/main" noGrp="1"/>
          </p:cNvSpPr>
          <p:nvPr/>
        </p:nvSpPr>
        <p:spPr>
          <a:xfrm xmlns:a="http://schemas.openxmlformats.org/drawingml/2006/main">
            <a:off x="9067800" y="226695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667085"/>
                </a:solidFill>
              </a:defRPr>
            </a:pPr>
            <a:r>
              <a:rPr sz="1125" b="0">
                <a:solidFill>
                  <a:srgbClr val="667085"/>
                </a:solidFill>
              </a:rPr>
              <a:t>課題、方針、見積観点を整理</a:t>
            </a:r>
          </a:p>
        </p:txBody>
      </p:sp>
      <p:sp>
        <p:nvSpPr>
          <p:cNvPr id="14" name="">
            <a:extLst xmlns:a="http://schemas.openxmlformats.org/drawingml/2006/main">
              <a:ext uri="{FF2B5EF4-FFF2-40B4-BE49-F238E27FC236}">
                <a16:creationId xmlns:a16="http://schemas.microsoft.com/office/drawing/2014/main" id="{6D2E6EE7-C044-4A9F-A2F3-D2D060E33E39}"/>
              </a:ext>
            </a:extLst>
          </p:cNvPr>
          <p:cNvSpPr>
            <a:spLocks xmlns:a="http://schemas.openxmlformats.org/drawingml/2006/main" noGrp="1"/>
          </p:cNvSpPr>
          <p:nvPr/>
        </p:nvSpPr>
        <p:spPr>
          <a:xfrm xmlns:a="http://schemas.openxmlformats.org/drawingml/2006/main">
            <a:off x="6667500" y="3143250"/>
            <a:ext cx="1905000" cy="1066800"/>
          </a:xfrm>
          <a:prstGeom xmlns:a="http://schemas.openxmlformats.org/drawingml/2006/main" prst="roundRect">
            <a:avLst>
              <a:gd name="adj" fmla="val 10714"/>
            </a:avLst>
          </a:prstGeom>
          <a:solidFill xmlns:a="http://schemas.openxmlformats.org/drawingml/2006/main">
            <a:srgbClr val="F8FAFC"/>
          </a:solidFill>
          <a:ln xmlns:a="http://schemas.openxmlformats.org/drawingml/2006/main" w="9525">
            <a:solidFill>
              <a:srgbClr val="E4E7EC"/>
            </a:solidFill>
            <a:prstDash val="solid"/>
          </a:ln>
        </p:spPr>
      </p:sp>
      <p:sp>
        <p:nvSpPr>
          <p:cNvPr id="15" name="">
            <a:extLst xmlns:a="http://schemas.openxmlformats.org/drawingml/2006/main">
              <a:ext uri="{FF2B5EF4-FFF2-40B4-BE49-F238E27FC236}">
                <a16:creationId xmlns:a16="http://schemas.microsoft.com/office/drawing/2014/main" id="{8B97BCBF-9F3F-4592-B6B4-ED941AC296E7}"/>
              </a:ext>
            </a:extLst>
          </p:cNvPr>
          <p:cNvSpPr>
            <a:spLocks xmlns:a="http://schemas.openxmlformats.org/drawingml/2006/main" noGrp="1"/>
          </p:cNvSpPr>
          <p:nvPr/>
        </p:nvSpPr>
        <p:spPr>
          <a:xfrm xmlns:a="http://schemas.openxmlformats.org/drawingml/2006/main">
            <a:off x="6877050" y="3352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02A43"/>
                </a:solidFill>
              </a:defRPr>
            </a:pPr>
            <a:r>
              <a:rPr sz="1650" b="1">
                <a:solidFill>
                  <a:srgbClr val="102A43"/>
                </a:solidFill>
              </a:rPr>
              <a:t>人が確認</a:t>
            </a:r>
          </a:p>
        </p:txBody>
      </p:sp>
      <p:sp>
        <p:nvSpPr>
          <p:cNvPr id="16" name="">
            <a:extLst xmlns:a="http://schemas.openxmlformats.org/drawingml/2006/main">
              <a:ext uri="{FF2B5EF4-FFF2-40B4-BE49-F238E27FC236}">
                <a16:creationId xmlns:a16="http://schemas.microsoft.com/office/drawing/2014/main" id="{9AEACC93-A7E6-46B7-9D47-3B431E27B69B}"/>
              </a:ext>
            </a:extLst>
          </p:cNvPr>
          <p:cNvSpPr>
            <a:spLocks xmlns:a="http://schemas.openxmlformats.org/drawingml/2006/main" noGrp="1"/>
          </p:cNvSpPr>
          <p:nvPr/>
        </p:nvSpPr>
        <p:spPr>
          <a:xfrm xmlns:a="http://schemas.openxmlformats.org/drawingml/2006/main">
            <a:off x="6877050" y="36957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667085"/>
                </a:solidFill>
              </a:defRPr>
            </a:pPr>
            <a:r>
              <a:rPr sz="1125" b="0">
                <a:solidFill>
                  <a:srgbClr val="667085"/>
                </a:solidFill>
              </a:rPr>
              <a:t>提出前チェックとレビュー</a:t>
            </a:r>
          </a:p>
        </p:txBody>
      </p:sp>
      <p:sp>
        <p:nvSpPr>
          <p:cNvPr id="17" name="">
            <a:extLst xmlns:a="http://schemas.openxmlformats.org/drawingml/2006/main">
              <a:ext uri="{FF2B5EF4-FFF2-40B4-BE49-F238E27FC236}">
                <a16:creationId xmlns:a16="http://schemas.microsoft.com/office/drawing/2014/main" id="{B8FF7F83-0F7B-408D-8BE2-8E3152B8EAD6}"/>
              </a:ext>
            </a:extLst>
          </p:cNvPr>
          <p:cNvSpPr>
            <a:spLocks xmlns:a="http://schemas.openxmlformats.org/drawingml/2006/main" noGrp="1"/>
          </p:cNvSpPr>
          <p:nvPr/>
        </p:nvSpPr>
        <p:spPr>
          <a:xfrm xmlns:a="http://schemas.openxmlformats.org/drawingml/2006/main">
            <a:off x="8858250" y="3143250"/>
            <a:ext cx="1905000" cy="1066800"/>
          </a:xfrm>
          <a:prstGeom xmlns:a="http://schemas.openxmlformats.org/drawingml/2006/main" prst="roundRect">
            <a:avLst>
              <a:gd name="adj" fmla="val 10714"/>
            </a:avLst>
          </a:prstGeom>
          <a:solidFill xmlns:a="http://schemas.openxmlformats.org/drawingml/2006/main">
            <a:srgbClr val="F8FAFC"/>
          </a:solidFill>
          <a:ln xmlns:a="http://schemas.openxmlformats.org/drawingml/2006/main" w="9525">
            <a:solidFill>
              <a:srgbClr val="E4E7EC"/>
            </a:solidFill>
            <a:prstDash val="solid"/>
          </a:ln>
        </p:spPr>
      </p:sp>
      <p:sp>
        <p:nvSpPr>
          <p:cNvPr id="18" name="">
            <a:extLst xmlns:a="http://schemas.openxmlformats.org/drawingml/2006/main">
              <a:ext uri="{FF2B5EF4-FFF2-40B4-BE49-F238E27FC236}">
                <a16:creationId xmlns:a16="http://schemas.microsoft.com/office/drawing/2014/main" id="{FD358AFB-462C-4453-8660-D1442C3F1D33}"/>
              </a:ext>
            </a:extLst>
          </p:cNvPr>
          <p:cNvSpPr>
            <a:spLocks xmlns:a="http://schemas.openxmlformats.org/drawingml/2006/main" noGrp="1"/>
          </p:cNvSpPr>
          <p:nvPr/>
        </p:nvSpPr>
        <p:spPr>
          <a:xfrm xmlns:a="http://schemas.openxmlformats.org/drawingml/2006/main">
            <a:off x="9067800" y="3352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102A43"/>
                </a:solidFill>
              </a:defRPr>
            </a:pPr>
            <a:r>
              <a:rPr sz="1650" b="1">
                <a:solidFill>
                  <a:srgbClr val="102A43"/>
                </a:solidFill>
              </a:rPr>
              <a:t>成果物出力</a:t>
            </a:r>
          </a:p>
        </p:txBody>
      </p:sp>
      <p:sp>
        <p:nvSpPr>
          <p:cNvPr id="19" name="">
            <a:extLst xmlns:a="http://schemas.openxmlformats.org/drawingml/2006/main">
              <a:ext uri="{FF2B5EF4-FFF2-40B4-BE49-F238E27FC236}">
                <a16:creationId xmlns:a16="http://schemas.microsoft.com/office/drawing/2014/main" id="{B53D0943-5E65-4EAF-9E57-E3783FC1F631}"/>
              </a:ext>
            </a:extLst>
          </p:cNvPr>
          <p:cNvSpPr>
            <a:spLocks xmlns:a="http://schemas.openxmlformats.org/drawingml/2006/main" noGrp="1"/>
          </p:cNvSpPr>
          <p:nvPr/>
        </p:nvSpPr>
        <p:spPr>
          <a:xfrm xmlns:a="http://schemas.openxmlformats.org/drawingml/2006/main">
            <a:off x="9067800" y="36957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667085"/>
                </a:solidFill>
              </a:defRPr>
            </a:pPr>
            <a:r>
              <a:rPr sz="1125" b="0">
                <a:solidFill>
                  <a:srgbClr val="667085"/>
                </a:solidFill>
              </a:rPr>
              <a:t>PPTX、PDF、Beautiful.aiへ</a:t>
            </a:r>
          </a:p>
        </p:txBody>
      </p:sp>
    </p:spTree>
    <p:extLst>
      <p:ext uri="{BB962C8B-B14F-4D97-AF65-F5344CB8AC3E}">
        <p14:creationId xmlns:p14="http://schemas.microsoft.com/office/powerpoint/2010/main" val="371460147"/>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8F9631-C888-4C13-AEB3-94E53A3E7192}"/>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951DCB5E-0285-476F-8ABD-59E92FC024CC}"/>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利用フロー</a:t>
            </a:r>
          </a:p>
        </p:txBody>
      </p:sp>
      <p:sp>
        <p:nvSpPr>
          <p:cNvPr id="3" name="">
            <a:extLst xmlns:a="http://schemas.openxmlformats.org/drawingml/2006/main">
              <a:ext uri="{FF2B5EF4-FFF2-40B4-BE49-F238E27FC236}">
                <a16:creationId xmlns:a16="http://schemas.microsoft.com/office/drawing/2014/main" id="{1790355C-96F5-49F6-BBD1-58DAA7814C67}"/>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2B2F9DAF-7316-410D-9EBC-ABA6D1998BD6}"/>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4</a:t>
            </a:r>
          </a:p>
        </p:txBody>
      </p:sp>
      <p:sp>
        <p:nvSpPr>
          <p:cNvPr id="5" name="">
            <a:extLst xmlns:a="http://schemas.openxmlformats.org/drawingml/2006/main">
              <a:ext uri="{FF2B5EF4-FFF2-40B4-BE49-F238E27FC236}">
                <a16:creationId xmlns:a16="http://schemas.microsoft.com/office/drawing/2014/main" id="{D77F8DDE-5D6B-42CE-982C-DE62BE7D358F}"/>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Guided Flow</a:t>
            </a:r>
          </a:p>
        </p:txBody>
      </p:sp>
      <p:sp>
        <p:nvSpPr>
          <p:cNvPr id="6" name="">
            <a:extLst xmlns:a="http://schemas.openxmlformats.org/drawingml/2006/main">
              <a:ext uri="{FF2B5EF4-FFF2-40B4-BE49-F238E27FC236}">
                <a16:creationId xmlns:a16="http://schemas.microsoft.com/office/drawing/2014/main" id="{7D9F0F47-493C-4DB1-A109-533EBAFF979C}"/>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7ステップで、次に進む操作を迷わせません。</a:t>
            </a:r>
          </a:p>
        </p:txBody>
      </p:sp>
      <p:sp>
        <p:nvSpPr>
          <p:cNvPr id="7" name="">
            <a:extLst xmlns:a="http://schemas.openxmlformats.org/drawingml/2006/main">
              <a:ext uri="{FF2B5EF4-FFF2-40B4-BE49-F238E27FC236}">
                <a16:creationId xmlns:a16="http://schemas.microsoft.com/office/drawing/2014/main" id="{45ED8F41-3248-45B2-89B6-6AA5C8776DFC}"/>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一般利用者は画面上の案内に沿って、案件入力から完了まで進めます。</a:t>
            </a:r>
          </a:p>
        </p:txBody>
      </p:sp>
      <p:sp>
        <p:nvSpPr>
          <p:cNvPr id="8" name="">
            <a:extLst xmlns:a="http://schemas.openxmlformats.org/drawingml/2006/main">
              <a:ext uri="{FF2B5EF4-FFF2-40B4-BE49-F238E27FC236}">
                <a16:creationId xmlns:a16="http://schemas.microsoft.com/office/drawing/2014/main" id="{003FE09D-9ECC-4DF5-A3D5-7F4ACF24F69D}"/>
              </a:ext>
            </a:extLst>
          </p:cNvPr>
          <p:cNvSpPr>
            <a:spLocks xmlns:a="http://schemas.openxmlformats.org/drawingml/2006/main" noGrp="1"/>
          </p:cNvSpPr>
          <p:nvPr/>
        </p:nvSpPr>
        <p:spPr>
          <a:xfrm xmlns:a="http://schemas.openxmlformats.org/drawingml/2006/main">
            <a:off x="819150" y="40957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27CC3C88-C2B3-4787-8DDF-6E3D66351B75}"/>
              </a:ext>
            </a:extLst>
          </p:cNvPr>
          <p:cNvSpPr>
            <a:spLocks xmlns:a="http://schemas.openxmlformats.org/drawingml/2006/main" noGrp="1"/>
          </p:cNvSpPr>
          <p:nvPr/>
        </p:nvSpPr>
        <p:spPr>
          <a:xfrm xmlns:a="http://schemas.openxmlformats.org/drawingml/2006/main">
            <a:off x="990600" y="4248150"/>
            <a:ext cx="285750" cy="2857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10" name="">
            <a:extLst xmlns:a="http://schemas.openxmlformats.org/drawingml/2006/main">
              <a:ext uri="{FF2B5EF4-FFF2-40B4-BE49-F238E27FC236}">
                <a16:creationId xmlns:a16="http://schemas.microsoft.com/office/drawing/2014/main" id="{6966013F-02FA-4CF4-8B1D-EDE8DB994B6B}"/>
              </a:ext>
            </a:extLst>
          </p:cNvPr>
          <p:cNvSpPr>
            <a:spLocks xmlns:a="http://schemas.openxmlformats.org/drawingml/2006/main" noGrp="1"/>
          </p:cNvSpPr>
          <p:nvPr/>
        </p:nvSpPr>
        <p:spPr>
          <a:xfrm xmlns:a="http://schemas.openxmlformats.org/drawingml/2006/main">
            <a:off x="990600" y="43053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1</a:t>
            </a:r>
          </a:p>
        </p:txBody>
      </p:sp>
      <p:sp>
        <p:nvSpPr>
          <p:cNvPr id="11" name="">
            <a:extLst xmlns:a="http://schemas.openxmlformats.org/drawingml/2006/main">
              <a:ext uri="{FF2B5EF4-FFF2-40B4-BE49-F238E27FC236}">
                <a16:creationId xmlns:a16="http://schemas.microsoft.com/office/drawing/2014/main" id="{530EBD10-5B36-41AC-B203-51E7CC4917F1}"/>
              </a:ext>
            </a:extLst>
          </p:cNvPr>
          <p:cNvSpPr>
            <a:spLocks xmlns:a="http://schemas.openxmlformats.org/drawingml/2006/main" noGrp="1"/>
          </p:cNvSpPr>
          <p:nvPr/>
        </p:nvSpPr>
        <p:spPr>
          <a:xfrm xmlns:a="http://schemas.openxmlformats.org/drawingml/2006/main">
            <a:off x="1409700" y="42767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案件入力</a:t>
            </a:r>
          </a:p>
        </p:txBody>
      </p:sp>
      <p:sp>
        <p:nvSpPr>
          <p:cNvPr id="12" name="">
            <a:extLst xmlns:a="http://schemas.openxmlformats.org/drawingml/2006/main">
              <a:ext uri="{FF2B5EF4-FFF2-40B4-BE49-F238E27FC236}">
                <a16:creationId xmlns:a16="http://schemas.microsoft.com/office/drawing/2014/main" id="{5BD4276F-EA02-49EC-8B29-7D691B63A0D4}"/>
              </a:ext>
            </a:extLst>
          </p:cNvPr>
          <p:cNvSpPr>
            <a:spLocks xmlns:a="http://schemas.openxmlformats.org/drawingml/2006/main" noGrp="1"/>
          </p:cNvSpPr>
          <p:nvPr/>
        </p:nvSpPr>
        <p:spPr>
          <a:xfrm xmlns:a="http://schemas.openxmlformats.org/drawingml/2006/main">
            <a:off x="3486150" y="40957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13" name="">
            <a:extLst xmlns:a="http://schemas.openxmlformats.org/drawingml/2006/main">
              <a:ext uri="{FF2B5EF4-FFF2-40B4-BE49-F238E27FC236}">
                <a16:creationId xmlns:a16="http://schemas.microsoft.com/office/drawing/2014/main" id="{9AC167D6-C678-4CF6-A80B-016C375A35CA}"/>
              </a:ext>
            </a:extLst>
          </p:cNvPr>
          <p:cNvSpPr>
            <a:spLocks xmlns:a="http://schemas.openxmlformats.org/drawingml/2006/main" noGrp="1"/>
          </p:cNvSpPr>
          <p:nvPr/>
        </p:nvSpPr>
        <p:spPr>
          <a:xfrm xmlns:a="http://schemas.openxmlformats.org/drawingml/2006/main">
            <a:off x="3657600" y="4248150"/>
            <a:ext cx="285750" cy="2857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14" name="">
            <a:extLst xmlns:a="http://schemas.openxmlformats.org/drawingml/2006/main">
              <a:ext uri="{FF2B5EF4-FFF2-40B4-BE49-F238E27FC236}">
                <a16:creationId xmlns:a16="http://schemas.microsoft.com/office/drawing/2014/main" id="{BBC7749C-47D2-4DEE-A07E-4BCB2849FD1F}"/>
              </a:ext>
            </a:extLst>
          </p:cNvPr>
          <p:cNvSpPr>
            <a:spLocks xmlns:a="http://schemas.openxmlformats.org/drawingml/2006/main" noGrp="1"/>
          </p:cNvSpPr>
          <p:nvPr/>
        </p:nvSpPr>
        <p:spPr>
          <a:xfrm xmlns:a="http://schemas.openxmlformats.org/drawingml/2006/main">
            <a:off x="3657600" y="43053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2</a:t>
            </a:r>
          </a:p>
        </p:txBody>
      </p:sp>
      <p:sp>
        <p:nvSpPr>
          <p:cNvPr id="15" name="">
            <a:extLst xmlns:a="http://schemas.openxmlformats.org/drawingml/2006/main">
              <a:ext uri="{FF2B5EF4-FFF2-40B4-BE49-F238E27FC236}">
                <a16:creationId xmlns:a16="http://schemas.microsoft.com/office/drawing/2014/main" id="{9BAE4D25-0525-4EE6-8805-0B0574B1A5C6}"/>
              </a:ext>
            </a:extLst>
          </p:cNvPr>
          <p:cNvSpPr>
            <a:spLocks xmlns:a="http://schemas.openxmlformats.org/drawingml/2006/main" noGrp="1"/>
          </p:cNvSpPr>
          <p:nvPr/>
        </p:nvSpPr>
        <p:spPr>
          <a:xfrm xmlns:a="http://schemas.openxmlformats.org/drawingml/2006/main">
            <a:off x="4076700" y="42767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AI分析</a:t>
            </a:r>
          </a:p>
        </p:txBody>
      </p:sp>
      <p:sp>
        <p:nvSpPr>
          <p:cNvPr id="16" name="">
            <a:extLst xmlns:a="http://schemas.openxmlformats.org/drawingml/2006/main">
              <a:ext uri="{FF2B5EF4-FFF2-40B4-BE49-F238E27FC236}">
                <a16:creationId xmlns:a16="http://schemas.microsoft.com/office/drawing/2014/main" id="{E8C4C55C-F10A-447F-9FAC-BD729DBE95C0}"/>
              </a:ext>
            </a:extLst>
          </p:cNvPr>
          <p:cNvSpPr>
            <a:spLocks xmlns:a="http://schemas.openxmlformats.org/drawingml/2006/main" noGrp="1"/>
          </p:cNvSpPr>
          <p:nvPr/>
        </p:nvSpPr>
        <p:spPr>
          <a:xfrm xmlns:a="http://schemas.openxmlformats.org/drawingml/2006/main">
            <a:off x="6153150" y="40957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17" name="">
            <a:extLst xmlns:a="http://schemas.openxmlformats.org/drawingml/2006/main">
              <a:ext uri="{FF2B5EF4-FFF2-40B4-BE49-F238E27FC236}">
                <a16:creationId xmlns:a16="http://schemas.microsoft.com/office/drawing/2014/main" id="{54F4F6B0-A521-4AF7-B404-F94B99A08721}"/>
              </a:ext>
            </a:extLst>
          </p:cNvPr>
          <p:cNvSpPr>
            <a:spLocks xmlns:a="http://schemas.openxmlformats.org/drawingml/2006/main" noGrp="1"/>
          </p:cNvSpPr>
          <p:nvPr/>
        </p:nvSpPr>
        <p:spPr>
          <a:xfrm xmlns:a="http://schemas.openxmlformats.org/drawingml/2006/main">
            <a:off x="6324600" y="4248150"/>
            <a:ext cx="285750" cy="2857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18" name="">
            <a:extLst xmlns:a="http://schemas.openxmlformats.org/drawingml/2006/main">
              <a:ext uri="{FF2B5EF4-FFF2-40B4-BE49-F238E27FC236}">
                <a16:creationId xmlns:a16="http://schemas.microsoft.com/office/drawing/2014/main" id="{4A1559AA-B51D-42A0-B687-7C80DD073867}"/>
              </a:ext>
            </a:extLst>
          </p:cNvPr>
          <p:cNvSpPr>
            <a:spLocks xmlns:a="http://schemas.openxmlformats.org/drawingml/2006/main" noGrp="1"/>
          </p:cNvSpPr>
          <p:nvPr/>
        </p:nvSpPr>
        <p:spPr>
          <a:xfrm xmlns:a="http://schemas.openxmlformats.org/drawingml/2006/main">
            <a:off x="6324600" y="43053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3</a:t>
            </a:r>
          </a:p>
        </p:txBody>
      </p:sp>
      <p:sp>
        <p:nvSpPr>
          <p:cNvPr id="19" name="">
            <a:extLst xmlns:a="http://schemas.openxmlformats.org/drawingml/2006/main">
              <a:ext uri="{FF2B5EF4-FFF2-40B4-BE49-F238E27FC236}">
                <a16:creationId xmlns:a16="http://schemas.microsoft.com/office/drawing/2014/main" id="{7BAB53D5-B093-47F1-A709-519EB7C14AA7}"/>
              </a:ext>
            </a:extLst>
          </p:cNvPr>
          <p:cNvSpPr>
            <a:spLocks xmlns:a="http://schemas.openxmlformats.org/drawingml/2006/main" noGrp="1"/>
          </p:cNvSpPr>
          <p:nvPr/>
        </p:nvSpPr>
        <p:spPr>
          <a:xfrm xmlns:a="http://schemas.openxmlformats.org/drawingml/2006/main">
            <a:off x="6743700" y="42767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内容確認</a:t>
            </a:r>
          </a:p>
        </p:txBody>
      </p:sp>
      <p:sp>
        <p:nvSpPr>
          <p:cNvPr id="20" name="">
            <a:extLst xmlns:a="http://schemas.openxmlformats.org/drawingml/2006/main">
              <a:ext uri="{FF2B5EF4-FFF2-40B4-BE49-F238E27FC236}">
                <a16:creationId xmlns:a16="http://schemas.microsoft.com/office/drawing/2014/main" id="{445F1DD8-AB7A-4267-B77F-FA2903385080}"/>
              </a:ext>
            </a:extLst>
          </p:cNvPr>
          <p:cNvSpPr>
            <a:spLocks xmlns:a="http://schemas.openxmlformats.org/drawingml/2006/main" noGrp="1"/>
          </p:cNvSpPr>
          <p:nvPr/>
        </p:nvSpPr>
        <p:spPr>
          <a:xfrm xmlns:a="http://schemas.openxmlformats.org/drawingml/2006/main">
            <a:off x="8820150" y="40957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21" name="">
            <a:extLst xmlns:a="http://schemas.openxmlformats.org/drawingml/2006/main">
              <a:ext uri="{FF2B5EF4-FFF2-40B4-BE49-F238E27FC236}">
                <a16:creationId xmlns:a16="http://schemas.microsoft.com/office/drawing/2014/main" id="{E56DBBCC-8242-41F8-9611-882C2CE8F0C5}"/>
              </a:ext>
            </a:extLst>
          </p:cNvPr>
          <p:cNvSpPr>
            <a:spLocks xmlns:a="http://schemas.openxmlformats.org/drawingml/2006/main" noGrp="1"/>
          </p:cNvSpPr>
          <p:nvPr/>
        </p:nvSpPr>
        <p:spPr>
          <a:xfrm xmlns:a="http://schemas.openxmlformats.org/drawingml/2006/main">
            <a:off x="8991600" y="4248150"/>
            <a:ext cx="285750" cy="2857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2" name="">
            <a:extLst xmlns:a="http://schemas.openxmlformats.org/drawingml/2006/main">
              <a:ext uri="{FF2B5EF4-FFF2-40B4-BE49-F238E27FC236}">
                <a16:creationId xmlns:a16="http://schemas.microsoft.com/office/drawing/2014/main" id="{6F342674-DAB5-4F33-BC06-FF3D93B3E9E8}"/>
              </a:ext>
            </a:extLst>
          </p:cNvPr>
          <p:cNvSpPr>
            <a:spLocks xmlns:a="http://schemas.openxmlformats.org/drawingml/2006/main" noGrp="1"/>
          </p:cNvSpPr>
          <p:nvPr/>
        </p:nvSpPr>
        <p:spPr>
          <a:xfrm xmlns:a="http://schemas.openxmlformats.org/drawingml/2006/main">
            <a:off x="8991600" y="43053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4</a:t>
            </a:r>
          </a:p>
        </p:txBody>
      </p:sp>
      <p:sp>
        <p:nvSpPr>
          <p:cNvPr id="23" name="">
            <a:extLst xmlns:a="http://schemas.openxmlformats.org/drawingml/2006/main">
              <a:ext uri="{FF2B5EF4-FFF2-40B4-BE49-F238E27FC236}">
                <a16:creationId xmlns:a16="http://schemas.microsoft.com/office/drawing/2014/main" id="{F7F36860-6561-45EC-A3F8-AABA384B365D}"/>
              </a:ext>
            </a:extLst>
          </p:cNvPr>
          <p:cNvSpPr>
            <a:spLocks xmlns:a="http://schemas.openxmlformats.org/drawingml/2006/main" noGrp="1"/>
          </p:cNvSpPr>
          <p:nvPr/>
        </p:nvSpPr>
        <p:spPr>
          <a:xfrm xmlns:a="http://schemas.openxmlformats.org/drawingml/2006/main">
            <a:off x="9410700" y="42767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提出前チェック</a:t>
            </a:r>
          </a:p>
        </p:txBody>
      </p:sp>
      <p:sp>
        <p:nvSpPr>
          <p:cNvPr id="24" name="">
            <a:extLst xmlns:a="http://schemas.openxmlformats.org/drawingml/2006/main">
              <a:ext uri="{FF2B5EF4-FFF2-40B4-BE49-F238E27FC236}">
                <a16:creationId xmlns:a16="http://schemas.microsoft.com/office/drawing/2014/main" id="{584301BD-7092-4C9D-8E37-88CF6DA68F37}"/>
              </a:ext>
            </a:extLst>
          </p:cNvPr>
          <p:cNvSpPr>
            <a:spLocks xmlns:a="http://schemas.openxmlformats.org/drawingml/2006/main" noGrp="1"/>
          </p:cNvSpPr>
          <p:nvPr/>
        </p:nvSpPr>
        <p:spPr>
          <a:xfrm xmlns:a="http://schemas.openxmlformats.org/drawingml/2006/main">
            <a:off x="819150" y="50863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25" name="">
            <a:extLst xmlns:a="http://schemas.openxmlformats.org/drawingml/2006/main">
              <a:ext uri="{FF2B5EF4-FFF2-40B4-BE49-F238E27FC236}">
                <a16:creationId xmlns:a16="http://schemas.microsoft.com/office/drawing/2014/main" id="{4C45629C-EA85-4482-8DC7-4C0ACE898CA7}"/>
              </a:ext>
            </a:extLst>
          </p:cNvPr>
          <p:cNvSpPr>
            <a:spLocks xmlns:a="http://schemas.openxmlformats.org/drawingml/2006/main" noGrp="1"/>
          </p:cNvSpPr>
          <p:nvPr/>
        </p:nvSpPr>
        <p:spPr>
          <a:xfrm xmlns:a="http://schemas.openxmlformats.org/drawingml/2006/main">
            <a:off x="990600" y="5238750"/>
            <a:ext cx="285750" cy="28575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26" name="">
            <a:extLst xmlns:a="http://schemas.openxmlformats.org/drawingml/2006/main">
              <a:ext uri="{FF2B5EF4-FFF2-40B4-BE49-F238E27FC236}">
                <a16:creationId xmlns:a16="http://schemas.microsoft.com/office/drawing/2014/main" id="{ED5D76C4-5734-42EF-BD15-0DD803B2D200}"/>
              </a:ext>
            </a:extLst>
          </p:cNvPr>
          <p:cNvSpPr>
            <a:spLocks xmlns:a="http://schemas.openxmlformats.org/drawingml/2006/main" noGrp="1"/>
          </p:cNvSpPr>
          <p:nvPr/>
        </p:nvSpPr>
        <p:spPr>
          <a:xfrm xmlns:a="http://schemas.openxmlformats.org/drawingml/2006/main">
            <a:off x="990600" y="5295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5</a:t>
            </a:r>
          </a:p>
        </p:txBody>
      </p:sp>
      <p:sp>
        <p:nvSpPr>
          <p:cNvPr id="27" name="">
            <a:extLst xmlns:a="http://schemas.openxmlformats.org/drawingml/2006/main">
              <a:ext uri="{FF2B5EF4-FFF2-40B4-BE49-F238E27FC236}">
                <a16:creationId xmlns:a16="http://schemas.microsoft.com/office/drawing/2014/main" id="{1D21F1E3-57BA-4A4F-81F5-08FA4CE8E5A3}"/>
              </a:ext>
            </a:extLst>
          </p:cNvPr>
          <p:cNvSpPr>
            <a:spLocks xmlns:a="http://schemas.openxmlformats.org/drawingml/2006/main" noGrp="1"/>
          </p:cNvSpPr>
          <p:nvPr/>
        </p:nvSpPr>
        <p:spPr>
          <a:xfrm xmlns:a="http://schemas.openxmlformats.org/drawingml/2006/main">
            <a:off x="1409700" y="52673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出力</a:t>
            </a:r>
          </a:p>
        </p:txBody>
      </p:sp>
      <p:sp>
        <p:nvSpPr>
          <p:cNvPr id="28" name="">
            <a:extLst xmlns:a="http://schemas.openxmlformats.org/drawingml/2006/main">
              <a:ext uri="{FF2B5EF4-FFF2-40B4-BE49-F238E27FC236}">
                <a16:creationId xmlns:a16="http://schemas.microsoft.com/office/drawing/2014/main" id="{F1CA3F97-1BC5-4DC2-8C9A-0C4173BA860B}"/>
              </a:ext>
            </a:extLst>
          </p:cNvPr>
          <p:cNvSpPr>
            <a:spLocks xmlns:a="http://schemas.openxmlformats.org/drawingml/2006/main" noGrp="1"/>
          </p:cNvSpPr>
          <p:nvPr/>
        </p:nvSpPr>
        <p:spPr>
          <a:xfrm xmlns:a="http://schemas.openxmlformats.org/drawingml/2006/main">
            <a:off x="3486150" y="50863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29" name="">
            <a:extLst xmlns:a="http://schemas.openxmlformats.org/drawingml/2006/main">
              <a:ext uri="{FF2B5EF4-FFF2-40B4-BE49-F238E27FC236}">
                <a16:creationId xmlns:a16="http://schemas.microsoft.com/office/drawing/2014/main" id="{526235DC-92DA-40C2-88D4-0D41CB77941A}"/>
              </a:ext>
            </a:extLst>
          </p:cNvPr>
          <p:cNvSpPr>
            <a:spLocks xmlns:a="http://schemas.openxmlformats.org/drawingml/2006/main" noGrp="1"/>
          </p:cNvSpPr>
          <p:nvPr/>
        </p:nvSpPr>
        <p:spPr>
          <a:xfrm xmlns:a="http://schemas.openxmlformats.org/drawingml/2006/main">
            <a:off x="3657600" y="5238750"/>
            <a:ext cx="285750" cy="28575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30" name="">
            <a:extLst xmlns:a="http://schemas.openxmlformats.org/drawingml/2006/main">
              <a:ext uri="{FF2B5EF4-FFF2-40B4-BE49-F238E27FC236}">
                <a16:creationId xmlns:a16="http://schemas.microsoft.com/office/drawing/2014/main" id="{497E909E-3151-43F3-AA23-7D059DC50D77}"/>
              </a:ext>
            </a:extLst>
          </p:cNvPr>
          <p:cNvSpPr>
            <a:spLocks xmlns:a="http://schemas.openxmlformats.org/drawingml/2006/main" noGrp="1"/>
          </p:cNvSpPr>
          <p:nvPr/>
        </p:nvSpPr>
        <p:spPr>
          <a:xfrm xmlns:a="http://schemas.openxmlformats.org/drawingml/2006/main">
            <a:off x="3657600" y="5295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6</a:t>
            </a:r>
          </a:p>
        </p:txBody>
      </p:sp>
      <p:sp>
        <p:nvSpPr>
          <p:cNvPr id="31" name="">
            <a:extLst xmlns:a="http://schemas.openxmlformats.org/drawingml/2006/main">
              <a:ext uri="{FF2B5EF4-FFF2-40B4-BE49-F238E27FC236}">
                <a16:creationId xmlns:a16="http://schemas.microsoft.com/office/drawing/2014/main" id="{BACF1D56-3D3C-4AFC-8F6C-69800A62E1B5}"/>
              </a:ext>
            </a:extLst>
          </p:cNvPr>
          <p:cNvSpPr>
            <a:spLocks xmlns:a="http://schemas.openxmlformats.org/drawingml/2006/main" noGrp="1"/>
          </p:cNvSpPr>
          <p:nvPr/>
        </p:nvSpPr>
        <p:spPr>
          <a:xfrm xmlns:a="http://schemas.openxmlformats.org/drawingml/2006/main">
            <a:off x="4076700" y="52673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AIレビュー・改善</a:t>
            </a:r>
          </a:p>
        </p:txBody>
      </p:sp>
      <p:sp>
        <p:nvSpPr>
          <p:cNvPr id="32" name="">
            <a:extLst xmlns:a="http://schemas.openxmlformats.org/drawingml/2006/main">
              <a:ext uri="{FF2B5EF4-FFF2-40B4-BE49-F238E27FC236}">
                <a16:creationId xmlns:a16="http://schemas.microsoft.com/office/drawing/2014/main" id="{D0D95F43-7971-453D-A636-1FBC971553AC}"/>
              </a:ext>
            </a:extLst>
          </p:cNvPr>
          <p:cNvSpPr>
            <a:spLocks xmlns:a="http://schemas.openxmlformats.org/drawingml/2006/main" noGrp="1"/>
          </p:cNvSpPr>
          <p:nvPr/>
        </p:nvSpPr>
        <p:spPr>
          <a:xfrm xmlns:a="http://schemas.openxmlformats.org/drawingml/2006/main">
            <a:off x="6153150" y="508635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9525">
            <a:solidFill>
              <a:srgbClr val="E4E7EC"/>
            </a:solidFill>
            <a:prstDash val="solid"/>
          </a:ln>
        </p:spPr>
      </p:sp>
      <p:sp>
        <p:nvSpPr>
          <p:cNvPr id="33" name="">
            <a:extLst xmlns:a="http://schemas.openxmlformats.org/drawingml/2006/main">
              <a:ext uri="{FF2B5EF4-FFF2-40B4-BE49-F238E27FC236}">
                <a16:creationId xmlns:a16="http://schemas.microsoft.com/office/drawing/2014/main" id="{9C0F7B91-BCD3-4B55-AD49-2025BDE7C075}"/>
              </a:ext>
            </a:extLst>
          </p:cNvPr>
          <p:cNvSpPr>
            <a:spLocks xmlns:a="http://schemas.openxmlformats.org/drawingml/2006/main" noGrp="1"/>
          </p:cNvSpPr>
          <p:nvPr/>
        </p:nvSpPr>
        <p:spPr>
          <a:xfrm xmlns:a="http://schemas.openxmlformats.org/drawingml/2006/main">
            <a:off x="6324600" y="5238750"/>
            <a:ext cx="285750" cy="28575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34" name="">
            <a:extLst xmlns:a="http://schemas.openxmlformats.org/drawingml/2006/main">
              <a:ext uri="{FF2B5EF4-FFF2-40B4-BE49-F238E27FC236}">
                <a16:creationId xmlns:a16="http://schemas.microsoft.com/office/drawing/2014/main" id="{685A3B52-D73C-491B-9BDF-AFDF36F1E7E5}"/>
              </a:ext>
            </a:extLst>
          </p:cNvPr>
          <p:cNvSpPr>
            <a:spLocks xmlns:a="http://schemas.openxmlformats.org/drawingml/2006/main" noGrp="1"/>
          </p:cNvSpPr>
          <p:nvPr/>
        </p:nvSpPr>
        <p:spPr>
          <a:xfrm xmlns:a="http://schemas.openxmlformats.org/drawingml/2006/main">
            <a:off x="6324600" y="5295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7</a:t>
            </a:r>
          </a:p>
        </p:txBody>
      </p:sp>
      <p:sp>
        <p:nvSpPr>
          <p:cNvPr id="35" name="">
            <a:extLst xmlns:a="http://schemas.openxmlformats.org/drawingml/2006/main">
              <a:ext uri="{FF2B5EF4-FFF2-40B4-BE49-F238E27FC236}">
                <a16:creationId xmlns:a16="http://schemas.microsoft.com/office/drawing/2014/main" id="{D0C60ED7-26E3-4673-BE20-0D62FE50E747}"/>
              </a:ext>
            </a:extLst>
          </p:cNvPr>
          <p:cNvSpPr>
            <a:spLocks xmlns:a="http://schemas.openxmlformats.org/drawingml/2006/main" noGrp="1"/>
          </p:cNvSpPr>
          <p:nvPr/>
        </p:nvSpPr>
        <p:spPr>
          <a:xfrm xmlns:a="http://schemas.openxmlformats.org/drawingml/2006/main">
            <a:off x="6743700" y="52673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1D2939"/>
                </a:solidFill>
              </a:defRPr>
            </a:pPr>
            <a:r>
              <a:rPr sz="1350" b="1">
                <a:solidFill>
                  <a:srgbClr val="1D2939"/>
                </a:solidFill>
              </a:rPr>
              <a:t>完了</a:t>
            </a:r>
          </a:p>
        </p:txBody>
      </p:sp>
      <p:sp>
        <p:nvSpPr>
          <p:cNvPr id="36" name="editable-ui-mock">
            <a:extLst xmlns:a="http://schemas.openxmlformats.org/drawingml/2006/main">
              <a:ext uri="{FF2B5EF4-FFF2-40B4-BE49-F238E27FC236}">
                <a16:creationId xmlns:a16="http://schemas.microsoft.com/office/drawing/2014/main" id="{775401F6-0F6B-4CDD-BB85-2A38D06B3A01}"/>
              </a:ext>
            </a:extLst>
          </p:cNvPr>
          <p:cNvSpPr>
            <a:spLocks xmlns:a="http://schemas.openxmlformats.org/drawingml/2006/main" noGrp="1"/>
          </p:cNvSpPr>
          <p:nvPr/>
        </p:nvSpPr>
        <p:spPr>
          <a:xfrm xmlns:a="http://schemas.openxmlformats.org/drawingml/2006/main">
            <a:off x="6858000" y="1162050"/>
            <a:ext cx="3810000" cy="2333625"/>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9525">
            <a:solidFill>
              <a:srgbClr val="E4E7EC"/>
            </a:solidFill>
            <a:prstDash val="solid"/>
          </a:ln>
        </p:spPr>
      </p:sp>
      <p:sp>
        <p:nvSpPr>
          <p:cNvPr id="37" name="">
            <a:extLst xmlns:a="http://schemas.openxmlformats.org/drawingml/2006/main">
              <a:ext uri="{FF2B5EF4-FFF2-40B4-BE49-F238E27FC236}">
                <a16:creationId xmlns:a16="http://schemas.microsoft.com/office/drawing/2014/main" id="{114D96F8-91DF-466B-AA8E-71335BE45E1A}"/>
              </a:ext>
            </a:extLst>
          </p:cNvPr>
          <p:cNvSpPr>
            <a:spLocks xmlns:a="http://schemas.openxmlformats.org/drawingml/2006/main" noGrp="1"/>
          </p:cNvSpPr>
          <p:nvPr/>
        </p:nvSpPr>
        <p:spPr>
          <a:xfrm xmlns:a="http://schemas.openxmlformats.org/drawingml/2006/main">
            <a:off x="7029450" y="1333500"/>
            <a:ext cx="3467100" cy="342900"/>
          </a:xfrm>
          <a:prstGeom xmlns:a="http://schemas.openxmlformats.org/drawingml/2006/main" prst="roundRect">
            <a:avLst>
              <a:gd name="adj" fmla="val 33333"/>
            </a:avLst>
          </a:prstGeom>
          <a:solidFill xmlns:a="http://schemas.openxmlformats.org/drawingml/2006/main">
            <a:srgbClr val="F8FAFC"/>
          </a:solidFill>
          <a:ln xmlns:a="http://schemas.openxmlformats.org/drawingml/2006/main" w="0">
            <a:solidFill>
              <a:srgbClr val="F8FAFC"/>
            </a:solidFill>
            <a:prstDash val="solid"/>
          </a:ln>
        </p:spPr>
      </p:sp>
      <p:sp>
        <p:nvSpPr>
          <p:cNvPr id="38" name="">
            <a:extLst xmlns:a="http://schemas.openxmlformats.org/drawingml/2006/main">
              <a:ext uri="{FF2B5EF4-FFF2-40B4-BE49-F238E27FC236}">
                <a16:creationId xmlns:a16="http://schemas.microsoft.com/office/drawing/2014/main" id="{7131D561-7B35-4418-8BEC-F2193000843B}"/>
              </a:ext>
            </a:extLst>
          </p:cNvPr>
          <p:cNvSpPr>
            <a:spLocks xmlns:a="http://schemas.openxmlformats.org/drawingml/2006/main" noGrp="1"/>
          </p:cNvSpPr>
          <p:nvPr/>
        </p:nvSpPr>
        <p:spPr>
          <a:xfrm xmlns:a="http://schemas.openxmlformats.org/drawingml/2006/main">
            <a:off x="7200900" y="1419225"/>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7ステップUIモック</a:t>
            </a:r>
          </a:p>
        </p:txBody>
      </p:sp>
      <p:sp>
        <p:nvSpPr>
          <p:cNvPr id="39" name="">
            <a:extLst xmlns:a="http://schemas.openxmlformats.org/drawingml/2006/main">
              <a:ext uri="{FF2B5EF4-FFF2-40B4-BE49-F238E27FC236}">
                <a16:creationId xmlns:a16="http://schemas.microsoft.com/office/drawing/2014/main" id="{EAF11A6C-FF3D-4FAC-93AA-AD2D2BD51D0C}"/>
              </a:ext>
            </a:extLst>
          </p:cNvPr>
          <p:cNvSpPr>
            <a:spLocks xmlns:a="http://schemas.openxmlformats.org/drawingml/2006/main" noGrp="1"/>
          </p:cNvSpPr>
          <p:nvPr/>
        </p:nvSpPr>
        <p:spPr>
          <a:xfrm xmlns:a="http://schemas.openxmlformats.org/drawingml/2006/main">
            <a:off x="9486900" y="1419225"/>
            <a:ext cx="685800" cy="15240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solidFill>
              <a:srgbClr val="155EEF"/>
            </a:solidFill>
            <a:prstDash val="solid"/>
          </a:ln>
        </p:spPr>
      </p:sp>
      <p:sp>
        <p:nvSpPr>
          <p:cNvPr id="40" name="">
            <a:extLst xmlns:a="http://schemas.openxmlformats.org/drawingml/2006/main">
              <a:ext uri="{FF2B5EF4-FFF2-40B4-BE49-F238E27FC236}">
                <a16:creationId xmlns:a16="http://schemas.microsoft.com/office/drawing/2014/main" id="{63ADAC2E-4DE5-413D-80B5-4B433D29001F}"/>
              </a:ext>
            </a:extLst>
          </p:cNvPr>
          <p:cNvSpPr>
            <a:spLocks xmlns:a="http://schemas.openxmlformats.org/drawingml/2006/main" noGrp="1"/>
          </p:cNvSpPr>
          <p:nvPr/>
        </p:nvSpPr>
        <p:spPr>
          <a:xfrm xmlns:a="http://schemas.openxmlformats.org/drawingml/2006/main">
            <a:off x="7124700" y="1924050"/>
            <a:ext cx="327660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41" name="">
            <a:extLst xmlns:a="http://schemas.openxmlformats.org/drawingml/2006/main">
              <a:ext uri="{FF2B5EF4-FFF2-40B4-BE49-F238E27FC236}">
                <a16:creationId xmlns:a16="http://schemas.microsoft.com/office/drawing/2014/main" id="{E9E92321-93E4-446C-AE2C-A58B5BB6EFD7}"/>
              </a:ext>
            </a:extLst>
          </p:cNvPr>
          <p:cNvSpPr>
            <a:spLocks xmlns:a="http://schemas.openxmlformats.org/drawingml/2006/main" noGrp="1"/>
          </p:cNvSpPr>
          <p:nvPr/>
        </p:nvSpPr>
        <p:spPr>
          <a:xfrm xmlns:a="http://schemas.openxmlformats.org/drawingml/2006/main">
            <a:off x="7315200" y="2009775"/>
            <a:ext cx="13335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
        <p:nvSpPr>
          <p:cNvPr id="42" name="">
            <a:extLst xmlns:a="http://schemas.openxmlformats.org/drawingml/2006/main">
              <a:ext uri="{FF2B5EF4-FFF2-40B4-BE49-F238E27FC236}">
                <a16:creationId xmlns:a16="http://schemas.microsoft.com/office/drawing/2014/main" id="{F81574DD-E433-4676-8543-9B1A6685A75C}"/>
              </a:ext>
            </a:extLst>
          </p:cNvPr>
          <p:cNvSpPr>
            <a:spLocks xmlns:a="http://schemas.openxmlformats.org/drawingml/2006/main" noGrp="1"/>
          </p:cNvSpPr>
          <p:nvPr/>
        </p:nvSpPr>
        <p:spPr>
          <a:xfrm xmlns:a="http://schemas.openxmlformats.org/drawingml/2006/main">
            <a:off x="7124700" y="2343150"/>
            <a:ext cx="3276600" cy="266700"/>
          </a:xfrm>
          <a:prstGeom xmlns:a="http://schemas.openxmlformats.org/drawingml/2006/main" prst="roundRect">
            <a:avLst>
              <a:gd name="adj" fmla="val 42857"/>
            </a:avLst>
          </a:prstGeom>
          <a:solidFill xmlns:a="http://schemas.openxmlformats.org/drawingml/2006/main">
            <a:srgbClr val="EAF1FF"/>
          </a:solidFill>
          <a:ln xmlns:a="http://schemas.openxmlformats.org/drawingml/2006/main" w="0">
            <a:solidFill>
              <a:srgbClr val="EAF1FF"/>
            </a:solidFill>
            <a:prstDash val="solid"/>
          </a:ln>
        </p:spPr>
      </p:sp>
      <p:sp>
        <p:nvSpPr>
          <p:cNvPr id="43" name="">
            <a:extLst xmlns:a="http://schemas.openxmlformats.org/drawingml/2006/main">
              <a:ext uri="{FF2B5EF4-FFF2-40B4-BE49-F238E27FC236}">
                <a16:creationId xmlns:a16="http://schemas.microsoft.com/office/drawing/2014/main" id="{5C6CDD8A-3870-418A-A8EA-DD128545486D}"/>
              </a:ext>
            </a:extLst>
          </p:cNvPr>
          <p:cNvSpPr>
            <a:spLocks xmlns:a="http://schemas.openxmlformats.org/drawingml/2006/main" noGrp="1"/>
          </p:cNvSpPr>
          <p:nvPr/>
        </p:nvSpPr>
        <p:spPr>
          <a:xfrm xmlns:a="http://schemas.openxmlformats.org/drawingml/2006/main">
            <a:off x="7315200" y="2428875"/>
            <a:ext cx="1905000" cy="7620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solidFill>
              <a:srgbClr val="155EEF"/>
            </a:solidFill>
            <a:prstDash val="solid"/>
          </a:ln>
        </p:spPr>
      </p:sp>
      <p:sp>
        <p:nvSpPr>
          <p:cNvPr id="44" name="">
            <a:extLst xmlns:a="http://schemas.openxmlformats.org/drawingml/2006/main">
              <a:ext uri="{FF2B5EF4-FFF2-40B4-BE49-F238E27FC236}">
                <a16:creationId xmlns:a16="http://schemas.microsoft.com/office/drawing/2014/main" id="{1B9CD43E-7352-4DD2-A695-13C03967F4D2}"/>
              </a:ext>
            </a:extLst>
          </p:cNvPr>
          <p:cNvSpPr>
            <a:spLocks xmlns:a="http://schemas.openxmlformats.org/drawingml/2006/main" noGrp="1"/>
          </p:cNvSpPr>
          <p:nvPr/>
        </p:nvSpPr>
        <p:spPr>
          <a:xfrm xmlns:a="http://schemas.openxmlformats.org/drawingml/2006/main">
            <a:off x="7124700" y="2762250"/>
            <a:ext cx="327660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45" name="">
            <a:extLst xmlns:a="http://schemas.openxmlformats.org/drawingml/2006/main">
              <a:ext uri="{FF2B5EF4-FFF2-40B4-BE49-F238E27FC236}">
                <a16:creationId xmlns:a16="http://schemas.microsoft.com/office/drawing/2014/main" id="{7EE63DF7-3886-4677-9BE2-68B91C7664A4}"/>
              </a:ext>
            </a:extLst>
          </p:cNvPr>
          <p:cNvSpPr>
            <a:spLocks xmlns:a="http://schemas.openxmlformats.org/drawingml/2006/main" noGrp="1"/>
          </p:cNvSpPr>
          <p:nvPr/>
        </p:nvSpPr>
        <p:spPr>
          <a:xfrm xmlns:a="http://schemas.openxmlformats.org/drawingml/2006/main">
            <a:off x="7315200" y="2847975"/>
            <a:ext cx="13335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
        <p:nvSpPr>
          <p:cNvPr id="46" name="">
            <a:extLst xmlns:a="http://schemas.openxmlformats.org/drawingml/2006/main">
              <a:ext uri="{FF2B5EF4-FFF2-40B4-BE49-F238E27FC236}">
                <a16:creationId xmlns:a16="http://schemas.microsoft.com/office/drawing/2014/main" id="{85155EF7-C289-4D3D-8B5C-E441F951F9DF}"/>
              </a:ext>
            </a:extLst>
          </p:cNvPr>
          <p:cNvSpPr>
            <a:spLocks xmlns:a="http://schemas.openxmlformats.org/drawingml/2006/main" noGrp="1"/>
          </p:cNvSpPr>
          <p:nvPr/>
        </p:nvSpPr>
        <p:spPr>
          <a:xfrm xmlns:a="http://schemas.openxmlformats.org/drawingml/2006/main">
            <a:off x="7124700" y="3181350"/>
            <a:ext cx="327660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47" name="">
            <a:extLst xmlns:a="http://schemas.openxmlformats.org/drawingml/2006/main">
              <a:ext uri="{FF2B5EF4-FFF2-40B4-BE49-F238E27FC236}">
                <a16:creationId xmlns:a16="http://schemas.microsoft.com/office/drawing/2014/main" id="{647BA882-BFA5-44C0-97A5-1B4FABA16D4B}"/>
              </a:ext>
            </a:extLst>
          </p:cNvPr>
          <p:cNvSpPr>
            <a:spLocks xmlns:a="http://schemas.openxmlformats.org/drawingml/2006/main" noGrp="1"/>
          </p:cNvSpPr>
          <p:nvPr/>
        </p:nvSpPr>
        <p:spPr>
          <a:xfrm xmlns:a="http://schemas.openxmlformats.org/drawingml/2006/main">
            <a:off x="7315200" y="3267075"/>
            <a:ext cx="19050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Tree>
    <p:extLst>
      <p:ext uri="{BB962C8B-B14F-4D97-AF65-F5344CB8AC3E}">
        <p14:creationId xmlns:p14="http://schemas.microsoft.com/office/powerpoint/2010/main" val="1475830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C24228-F651-47B8-ACCA-1867F45723D0}"/>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868C5061-C23F-4523-9B74-30C5EC5EC312}"/>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案件入力とAI分析</a:t>
            </a:r>
          </a:p>
        </p:txBody>
      </p:sp>
      <p:sp>
        <p:nvSpPr>
          <p:cNvPr id="3" name="">
            <a:extLst xmlns:a="http://schemas.openxmlformats.org/drawingml/2006/main">
              <a:ext uri="{FF2B5EF4-FFF2-40B4-BE49-F238E27FC236}">
                <a16:creationId xmlns:a16="http://schemas.microsoft.com/office/drawing/2014/main" id="{277D9333-087C-4D6D-8D65-60F046C56238}"/>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7CCA5393-D736-4FE6-8929-1FC8AC376586}"/>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5</a:t>
            </a:r>
          </a:p>
        </p:txBody>
      </p:sp>
      <p:sp>
        <p:nvSpPr>
          <p:cNvPr id="5" name="">
            <a:extLst xmlns:a="http://schemas.openxmlformats.org/drawingml/2006/main">
              <a:ext uri="{FF2B5EF4-FFF2-40B4-BE49-F238E27FC236}">
                <a16:creationId xmlns:a16="http://schemas.microsoft.com/office/drawing/2014/main" id="{73681363-09BB-4AAE-951A-1BB636353AFF}"/>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Demo</a:t>
            </a:r>
          </a:p>
        </p:txBody>
      </p:sp>
      <p:sp>
        <p:nvSpPr>
          <p:cNvPr id="6" name="">
            <a:extLst xmlns:a="http://schemas.openxmlformats.org/drawingml/2006/main">
              <a:ext uri="{FF2B5EF4-FFF2-40B4-BE49-F238E27FC236}">
                <a16:creationId xmlns:a16="http://schemas.microsoft.com/office/drawing/2014/main" id="{AE2CB793-FD1C-4EA8-961A-C9FEDA4786EF}"/>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案件メールや議事録を貼り付け、AIが提案の下準備を支援します。</a:t>
            </a:r>
          </a:p>
        </p:txBody>
      </p:sp>
      <p:sp>
        <p:nvSpPr>
          <p:cNvPr id="7" name="">
            <a:extLst xmlns:a="http://schemas.openxmlformats.org/drawingml/2006/main">
              <a:ext uri="{FF2B5EF4-FFF2-40B4-BE49-F238E27FC236}">
                <a16:creationId xmlns:a16="http://schemas.microsoft.com/office/drawing/2014/main" id="{EF581398-9562-4CC0-99A0-610A2C45D3FA}"/>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架空データを使い、課題整理、提案ストーリー、ヒアリング項目、競合観点、概算見積を確認します。</a:t>
            </a:r>
          </a:p>
        </p:txBody>
      </p:sp>
      <p:sp>
        <p:nvSpPr>
          <p:cNvPr id="8" name="editable-ui-mock">
            <a:extLst xmlns:a="http://schemas.openxmlformats.org/drawingml/2006/main">
              <a:ext uri="{FF2B5EF4-FFF2-40B4-BE49-F238E27FC236}">
                <a16:creationId xmlns:a16="http://schemas.microsoft.com/office/drawing/2014/main" id="{D857E74F-9601-4A82-AA99-BF81ABF568DC}"/>
              </a:ext>
            </a:extLst>
          </p:cNvPr>
          <p:cNvSpPr>
            <a:spLocks xmlns:a="http://schemas.openxmlformats.org/drawingml/2006/main" noGrp="1"/>
          </p:cNvSpPr>
          <p:nvPr/>
        </p:nvSpPr>
        <p:spPr>
          <a:xfrm xmlns:a="http://schemas.openxmlformats.org/drawingml/2006/main">
            <a:off x="6667500" y="1200150"/>
            <a:ext cx="409575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6D462A9E-D5CB-41D4-9299-52CAA35EB1B3}"/>
              </a:ext>
            </a:extLst>
          </p:cNvPr>
          <p:cNvSpPr>
            <a:spLocks xmlns:a="http://schemas.openxmlformats.org/drawingml/2006/main" noGrp="1"/>
          </p:cNvSpPr>
          <p:nvPr/>
        </p:nvSpPr>
        <p:spPr>
          <a:xfrm xmlns:a="http://schemas.openxmlformats.org/drawingml/2006/main">
            <a:off x="6838950" y="1371600"/>
            <a:ext cx="3752850" cy="342900"/>
          </a:xfrm>
          <a:prstGeom xmlns:a="http://schemas.openxmlformats.org/drawingml/2006/main" prst="roundRect">
            <a:avLst>
              <a:gd name="adj" fmla="val 33333"/>
            </a:avLst>
          </a:prstGeom>
          <a:solidFill xmlns:a="http://schemas.openxmlformats.org/drawingml/2006/main">
            <a:srgbClr val="F8FAFC"/>
          </a:solidFill>
          <a:ln xmlns:a="http://schemas.openxmlformats.org/drawingml/2006/main" w="0">
            <a:solidFill>
              <a:srgbClr val="F8FAFC"/>
            </a:solidFill>
            <a:prstDash val="solid"/>
          </a:ln>
        </p:spPr>
      </p:sp>
      <p:sp>
        <p:nvSpPr>
          <p:cNvPr id="10" name="">
            <a:extLst xmlns:a="http://schemas.openxmlformats.org/drawingml/2006/main">
              <a:ext uri="{FF2B5EF4-FFF2-40B4-BE49-F238E27FC236}">
                <a16:creationId xmlns:a16="http://schemas.microsoft.com/office/drawing/2014/main" id="{97C4DE45-9E5E-4A9C-83BD-6AA9D4AA2000}"/>
              </a:ext>
            </a:extLst>
          </p:cNvPr>
          <p:cNvSpPr>
            <a:spLocks xmlns:a="http://schemas.openxmlformats.org/drawingml/2006/main" noGrp="1"/>
          </p:cNvSpPr>
          <p:nvPr/>
        </p:nvSpPr>
        <p:spPr>
          <a:xfrm xmlns:a="http://schemas.openxmlformats.org/drawingml/2006/main">
            <a:off x="7010400" y="1457325"/>
            <a:ext cx="2286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案件入力モック</a:t>
            </a:r>
          </a:p>
        </p:txBody>
      </p:sp>
      <p:sp>
        <p:nvSpPr>
          <p:cNvPr id="11" name="">
            <a:extLst xmlns:a="http://schemas.openxmlformats.org/drawingml/2006/main">
              <a:ext uri="{FF2B5EF4-FFF2-40B4-BE49-F238E27FC236}">
                <a16:creationId xmlns:a16="http://schemas.microsoft.com/office/drawing/2014/main" id="{48877801-F4F6-4D83-BFA1-E083EF1E65AB}"/>
              </a:ext>
            </a:extLst>
          </p:cNvPr>
          <p:cNvSpPr>
            <a:spLocks xmlns:a="http://schemas.openxmlformats.org/drawingml/2006/main" noGrp="1"/>
          </p:cNvSpPr>
          <p:nvPr/>
        </p:nvSpPr>
        <p:spPr>
          <a:xfrm xmlns:a="http://schemas.openxmlformats.org/drawingml/2006/main">
            <a:off x="9582150" y="1457325"/>
            <a:ext cx="685800" cy="15240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solidFill>
              <a:srgbClr val="155EEF"/>
            </a:solidFill>
            <a:prstDash val="solid"/>
          </a:ln>
        </p:spPr>
      </p:sp>
      <p:sp>
        <p:nvSpPr>
          <p:cNvPr id="12" name="">
            <a:extLst xmlns:a="http://schemas.openxmlformats.org/drawingml/2006/main">
              <a:ext uri="{FF2B5EF4-FFF2-40B4-BE49-F238E27FC236}">
                <a16:creationId xmlns:a16="http://schemas.microsoft.com/office/drawing/2014/main" id="{44505C40-034C-4167-B77C-03E7F9DA702D}"/>
              </a:ext>
            </a:extLst>
          </p:cNvPr>
          <p:cNvSpPr>
            <a:spLocks xmlns:a="http://schemas.openxmlformats.org/drawingml/2006/main" noGrp="1"/>
          </p:cNvSpPr>
          <p:nvPr/>
        </p:nvSpPr>
        <p:spPr>
          <a:xfrm xmlns:a="http://schemas.openxmlformats.org/drawingml/2006/main">
            <a:off x="6934200" y="1962150"/>
            <a:ext cx="356235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13" name="">
            <a:extLst xmlns:a="http://schemas.openxmlformats.org/drawingml/2006/main">
              <a:ext uri="{FF2B5EF4-FFF2-40B4-BE49-F238E27FC236}">
                <a16:creationId xmlns:a16="http://schemas.microsoft.com/office/drawing/2014/main" id="{69B0AA85-5583-4901-8F64-DA17A3C0F7A5}"/>
              </a:ext>
            </a:extLst>
          </p:cNvPr>
          <p:cNvSpPr>
            <a:spLocks xmlns:a="http://schemas.openxmlformats.org/drawingml/2006/main" noGrp="1"/>
          </p:cNvSpPr>
          <p:nvPr/>
        </p:nvSpPr>
        <p:spPr>
          <a:xfrm xmlns:a="http://schemas.openxmlformats.org/drawingml/2006/main">
            <a:off x="7124700" y="2047875"/>
            <a:ext cx="13335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443BB404-C98F-4EC1-AE75-425C5E204B0F}"/>
              </a:ext>
            </a:extLst>
          </p:cNvPr>
          <p:cNvSpPr>
            <a:spLocks xmlns:a="http://schemas.openxmlformats.org/drawingml/2006/main" noGrp="1"/>
          </p:cNvSpPr>
          <p:nvPr/>
        </p:nvSpPr>
        <p:spPr>
          <a:xfrm xmlns:a="http://schemas.openxmlformats.org/drawingml/2006/main">
            <a:off x="6934200" y="2381250"/>
            <a:ext cx="3562350" cy="266700"/>
          </a:xfrm>
          <a:prstGeom xmlns:a="http://schemas.openxmlformats.org/drawingml/2006/main" prst="roundRect">
            <a:avLst>
              <a:gd name="adj" fmla="val 42857"/>
            </a:avLst>
          </a:prstGeom>
          <a:solidFill xmlns:a="http://schemas.openxmlformats.org/drawingml/2006/main">
            <a:srgbClr val="EAF1FF"/>
          </a:solidFill>
          <a:ln xmlns:a="http://schemas.openxmlformats.org/drawingml/2006/main" w="0">
            <a:solidFill>
              <a:srgbClr val="EAF1FF"/>
            </a:solidFill>
            <a:prstDash val="solid"/>
          </a:ln>
        </p:spPr>
      </p:sp>
      <p:sp>
        <p:nvSpPr>
          <p:cNvPr id="15" name="">
            <a:extLst xmlns:a="http://schemas.openxmlformats.org/drawingml/2006/main">
              <a:ext uri="{FF2B5EF4-FFF2-40B4-BE49-F238E27FC236}">
                <a16:creationId xmlns:a16="http://schemas.microsoft.com/office/drawing/2014/main" id="{BD353D3D-FAD5-4AB5-941F-7118CC3CB248}"/>
              </a:ext>
            </a:extLst>
          </p:cNvPr>
          <p:cNvSpPr>
            <a:spLocks xmlns:a="http://schemas.openxmlformats.org/drawingml/2006/main" noGrp="1"/>
          </p:cNvSpPr>
          <p:nvPr/>
        </p:nvSpPr>
        <p:spPr>
          <a:xfrm xmlns:a="http://schemas.openxmlformats.org/drawingml/2006/main">
            <a:off x="7124700" y="2466975"/>
            <a:ext cx="1905000" cy="76200"/>
          </a:xfrm>
          <a:prstGeom xmlns:a="http://schemas.openxmlformats.org/drawingml/2006/main" prst="roundRect">
            <a:avLst>
              <a:gd name="adj" fmla="val 50000"/>
            </a:avLst>
          </a:prstGeom>
          <a:solidFill xmlns:a="http://schemas.openxmlformats.org/drawingml/2006/main">
            <a:srgbClr val="155EEF"/>
          </a:solidFill>
          <a:ln xmlns:a="http://schemas.openxmlformats.org/drawingml/2006/main" w="0">
            <a:solidFill>
              <a:srgbClr val="155EEF"/>
            </a:solidFill>
            <a:prstDash val="solid"/>
          </a:ln>
        </p:spPr>
      </p:sp>
      <p:sp>
        <p:nvSpPr>
          <p:cNvPr id="16" name="">
            <a:extLst xmlns:a="http://schemas.openxmlformats.org/drawingml/2006/main">
              <a:ext uri="{FF2B5EF4-FFF2-40B4-BE49-F238E27FC236}">
                <a16:creationId xmlns:a16="http://schemas.microsoft.com/office/drawing/2014/main" id="{E2224F5D-087F-4066-86BC-39F462C1BF41}"/>
              </a:ext>
            </a:extLst>
          </p:cNvPr>
          <p:cNvSpPr>
            <a:spLocks xmlns:a="http://schemas.openxmlformats.org/drawingml/2006/main" noGrp="1"/>
          </p:cNvSpPr>
          <p:nvPr/>
        </p:nvSpPr>
        <p:spPr>
          <a:xfrm xmlns:a="http://schemas.openxmlformats.org/drawingml/2006/main">
            <a:off x="6934200" y="2800350"/>
            <a:ext cx="356235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17" name="">
            <a:extLst xmlns:a="http://schemas.openxmlformats.org/drawingml/2006/main">
              <a:ext uri="{FF2B5EF4-FFF2-40B4-BE49-F238E27FC236}">
                <a16:creationId xmlns:a16="http://schemas.microsoft.com/office/drawing/2014/main" id="{23B6348B-CC42-4A71-BDAB-48B01D088C18}"/>
              </a:ext>
            </a:extLst>
          </p:cNvPr>
          <p:cNvSpPr>
            <a:spLocks xmlns:a="http://schemas.openxmlformats.org/drawingml/2006/main" noGrp="1"/>
          </p:cNvSpPr>
          <p:nvPr/>
        </p:nvSpPr>
        <p:spPr>
          <a:xfrm xmlns:a="http://schemas.openxmlformats.org/drawingml/2006/main">
            <a:off x="7124700" y="2886075"/>
            <a:ext cx="13335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
        <p:nvSpPr>
          <p:cNvPr id="18" name="">
            <a:extLst xmlns:a="http://schemas.openxmlformats.org/drawingml/2006/main">
              <a:ext uri="{FF2B5EF4-FFF2-40B4-BE49-F238E27FC236}">
                <a16:creationId xmlns:a16="http://schemas.microsoft.com/office/drawing/2014/main" id="{07977878-AA88-42B4-897E-C213D822564D}"/>
              </a:ext>
            </a:extLst>
          </p:cNvPr>
          <p:cNvSpPr>
            <a:spLocks xmlns:a="http://schemas.openxmlformats.org/drawingml/2006/main" noGrp="1"/>
          </p:cNvSpPr>
          <p:nvPr/>
        </p:nvSpPr>
        <p:spPr>
          <a:xfrm xmlns:a="http://schemas.openxmlformats.org/drawingml/2006/main">
            <a:off x="6934200" y="3219450"/>
            <a:ext cx="3562350" cy="266700"/>
          </a:xfrm>
          <a:prstGeom xmlns:a="http://schemas.openxmlformats.org/drawingml/2006/main" prst="roundRect">
            <a:avLst>
              <a:gd name="adj" fmla="val 42857"/>
            </a:avLst>
          </a:prstGeom>
          <a:solidFill xmlns:a="http://schemas.openxmlformats.org/drawingml/2006/main">
            <a:srgbClr val="F8FAFC"/>
          </a:solidFill>
          <a:ln xmlns:a="http://schemas.openxmlformats.org/drawingml/2006/main" w="0">
            <a:solidFill>
              <a:srgbClr val="F8FAFC"/>
            </a:solidFill>
            <a:prstDash val="solid"/>
          </a:ln>
        </p:spPr>
      </p:sp>
      <p:sp>
        <p:nvSpPr>
          <p:cNvPr id="19" name="">
            <a:extLst xmlns:a="http://schemas.openxmlformats.org/drawingml/2006/main">
              <a:ext uri="{FF2B5EF4-FFF2-40B4-BE49-F238E27FC236}">
                <a16:creationId xmlns:a16="http://schemas.microsoft.com/office/drawing/2014/main" id="{BEA149E2-F51C-4DCE-9FA7-8540690EE8A3}"/>
              </a:ext>
            </a:extLst>
          </p:cNvPr>
          <p:cNvSpPr>
            <a:spLocks xmlns:a="http://schemas.openxmlformats.org/drawingml/2006/main" noGrp="1"/>
          </p:cNvSpPr>
          <p:nvPr/>
        </p:nvSpPr>
        <p:spPr>
          <a:xfrm xmlns:a="http://schemas.openxmlformats.org/drawingml/2006/main">
            <a:off x="7124700" y="3305175"/>
            <a:ext cx="1905000" cy="76200"/>
          </a:xfrm>
          <a:prstGeom xmlns:a="http://schemas.openxmlformats.org/drawingml/2006/main" prst="roundRect">
            <a:avLst>
              <a:gd name="adj" fmla="val 50000"/>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15A0DF97-3505-4781-8913-A3EC01937BC0}"/>
              </a:ext>
            </a:extLst>
          </p:cNvPr>
          <p:cNvSpPr>
            <a:spLocks xmlns:a="http://schemas.openxmlformats.org/drawingml/2006/main" noGrp="1"/>
          </p:cNvSpPr>
          <p:nvPr/>
        </p:nvSpPr>
        <p:spPr>
          <a:xfrm xmlns:a="http://schemas.openxmlformats.org/drawingml/2006/main">
            <a:off x="6953250" y="4457700"/>
            <a:ext cx="1524000" cy="400050"/>
          </a:xfrm>
          <a:prstGeom xmlns:a="http://schemas.openxmlformats.org/drawingml/2006/main" prst="roundRect">
            <a:avLst>
              <a:gd name="adj" fmla="val 28571"/>
            </a:avLst>
          </a:prstGeom>
          <a:solidFill xmlns:a="http://schemas.openxmlformats.org/drawingml/2006/main">
            <a:srgbClr val="155EEF"/>
          </a:solidFill>
          <a:ln xmlns:a="http://schemas.openxmlformats.org/drawingml/2006/main" w="0">
            <a:solidFill>
              <a:srgbClr val="155EEF"/>
            </a:solidFill>
            <a:prstDash val="solid"/>
          </a:ln>
        </p:spPr>
      </p:sp>
      <p:sp>
        <p:nvSpPr>
          <p:cNvPr id="21" name="">
            <a:extLst xmlns:a="http://schemas.openxmlformats.org/drawingml/2006/main">
              <a:ext uri="{FF2B5EF4-FFF2-40B4-BE49-F238E27FC236}">
                <a16:creationId xmlns:a16="http://schemas.microsoft.com/office/drawing/2014/main" id="{69B1C4FA-C01D-4774-A47C-9336ABA59327}"/>
              </a:ext>
            </a:extLst>
          </p:cNvPr>
          <p:cNvSpPr>
            <a:spLocks xmlns:a="http://schemas.openxmlformats.org/drawingml/2006/main" noGrp="1"/>
          </p:cNvSpPr>
          <p:nvPr/>
        </p:nvSpPr>
        <p:spPr>
          <a:xfrm xmlns:a="http://schemas.openxmlformats.org/drawingml/2006/main">
            <a:off x="7105650" y="45910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AIで提案書を作成</a:t>
            </a:r>
          </a:p>
        </p:txBody>
      </p:sp>
      <p:sp>
        <p:nvSpPr>
          <p:cNvPr id="22" name="">
            <a:extLst xmlns:a="http://schemas.openxmlformats.org/drawingml/2006/main">
              <a:ext uri="{FF2B5EF4-FFF2-40B4-BE49-F238E27FC236}">
                <a16:creationId xmlns:a16="http://schemas.microsoft.com/office/drawing/2014/main" id="{459CC526-C359-40C7-B42C-778D21BD2DD9}"/>
              </a:ext>
            </a:extLst>
          </p:cNvPr>
          <p:cNvSpPr>
            <a:spLocks xmlns:a="http://schemas.openxmlformats.org/drawingml/2006/main" noGrp="1"/>
          </p:cNvSpPr>
          <p:nvPr/>
        </p:nvSpPr>
        <p:spPr>
          <a:xfrm xmlns:a="http://schemas.openxmlformats.org/drawingml/2006/main">
            <a:off x="819150" y="4324350"/>
            <a:ext cx="85725" cy="85725"/>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3" name="">
            <a:extLst xmlns:a="http://schemas.openxmlformats.org/drawingml/2006/main">
              <a:ext uri="{FF2B5EF4-FFF2-40B4-BE49-F238E27FC236}">
                <a16:creationId xmlns:a16="http://schemas.microsoft.com/office/drawing/2014/main" id="{372656BB-BDD9-4959-895D-D28E92F444C4}"/>
              </a:ext>
            </a:extLst>
          </p:cNvPr>
          <p:cNvSpPr>
            <a:spLocks xmlns:a="http://schemas.openxmlformats.org/drawingml/2006/main" noGrp="1"/>
          </p:cNvSpPr>
          <p:nvPr/>
        </p:nvSpPr>
        <p:spPr>
          <a:xfrm xmlns:a="http://schemas.openxmlformats.org/drawingml/2006/main">
            <a:off x="1047750" y="42481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1D2939"/>
                </a:solidFill>
              </a:defRPr>
            </a:pPr>
            <a:r>
              <a:rPr sz="1425" b="0">
                <a:solidFill>
                  <a:srgbClr val="1D2939"/>
                </a:solidFill>
              </a:rPr>
              <a:t>課題整理</a:t>
            </a:r>
          </a:p>
        </p:txBody>
      </p:sp>
      <p:sp>
        <p:nvSpPr>
          <p:cNvPr id="24" name="">
            <a:extLst xmlns:a="http://schemas.openxmlformats.org/drawingml/2006/main">
              <a:ext uri="{FF2B5EF4-FFF2-40B4-BE49-F238E27FC236}">
                <a16:creationId xmlns:a16="http://schemas.microsoft.com/office/drawing/2014/main" id="{C20940C6-D0E7-45D9-8E53-9A7FC8582053}"/>
              </a:ext>
            </a:extLst>
          </p:cNvPr>
          <p:cNvSpPr>
            <a:spLocks xmlns:a="http://schemas.openxmlformats.org/drawingml/2006/main" noGrp="1"/>
          </p:cNvSpPr>
          <p:nvPr/>
        </p:nvSpPr>
        <p:spPr>
          <a:xfrm xmlns:a="http://schemas.openxmlformats.org/drawingml/2006/main">
            <a:off x="819150" y="4667250"/>
            <a:ext cx="85725" cy="85725"/>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5" name="">
            <a:extLst xmlns:a="http://schemas.openxmlformats.org/drawingml/2006/main">
              <a:ext uri="{FF2B5EF4-FFF2-40B4-BE49-F238E27FC236}">
                <a16:creationId xmlns:a16="http://schemas.microsoft.com/office/drawing/2014/main" id="{B8A8B742-974B-42B1-A364-20684CAD6AA5}"/>
              </a:ext>
            </a:extLst>
          </p:cNvPr>
          <p:cNvSpPr>
            <a:spLocks xmlns:a="http://schemas.openxmlformats.org/drawingml/2006/main" noGrp="1"/>
          </p:cNvSpPr>
          <p:nvPr/>
        </p:nvSpPr>
        <p:spPr>
          <a:xfrm xmlns:a="http://schemas.openxmlformats.org/drawingml/2006/main">
            <a:off x="1047750" y="45910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1D2939"/>
                </a:solidFill>
              </a:defRPr>
            </a:pPr>
            <a:r>
              <a:rPr sz="1425" b="0">
                <a:solidFill>
                  <a:srgbClr val="1D2939"/>
                </a:solidFill>
              </a:rPr>
              <a:t>提案ストーリー</a:t>
            </a:r>
          </a:p>
        </p:txBody>
      </p:sp>
      <p:sp>
        <p:nvSpPr>
          <p:cNvPr id="26" name="">
            <a:extLst xmlns:a="http://schemas.openxmlformats.org/drawingml/2006/main">
              <a:ext uri="{FF2B5EF4-FFF2-40B4-BE49-F238E27FC236}">
                <a16:creationId xmlns:a16="http://schemas.microsoft.com/office/drawing/2014/main" id="{33848751-0F2A-4935-B3C2-F0D2E901F4F2}"/>
              </a:ext>
            </a:extLst>
          </p:cNvPr>
          <p:cNvSpPr>
            <a:spLocks xmlns:a="http://schemas.openxmlformats.org/drawingml/2006/main" noGrp="1"/>
          </p:cNvSpPr>
          <p:nvPr/>
        </p:nvSpPr>
        <p:spPr>
          <a:xfrm xmlns:a="http://schemas.openxmlformats.org/drawingml/2006/main">
            <a:off x="819150" y="5010150"/>
            <a:ext cx="85725" cy="85725"/>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7" name="">
            <a:extLst xmlns:a="http://schemas.openxmlformats.org/drawingml/2006/main">
              <a:ext uri="{FF2B5EF4-FFF2-40B4-BE49-F238E27FC236}">
                <a16:creationId xmlns:a16="http://schemas.microsoft.com/office/drawing/2014/main" id="{098C71AE-D30C-4CA2-9DBB-9F6A93C6F67D}"/>
              </a:ext>
            </a:extLst>
          </p:cNvPr>
          <p:cNvSpPr>
            <a:spLocks xmlns:a="http://schemas.openxmlformats.org/drawingml/2006/main" noGrp="1"/>
          </p:cNvSpPr>
          <p:nvPr/>
        </p:nvSpPr>
        <p:spPr>
          <a:xfrm xmlns:a="http://schemas.openxmlformats.org/drawingml/2006/main">
            <a:off x="1047750" y="49339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1D2939"/>
                </a:solidFill>
              </a:defRPr>
            </a:pPr>
            <a:r>
              <a:rPr sz="1425" b="0">
                <a:solidFill>
                  <a:srgbClr val="1D2939"/>
                </a:solidFill>
              </a:rPr>
              <a:t>ヒアリング項目</a:t>
            </a:r>
          </a:p>
        </p:txBody>
      </p:sp>
      <p:sp>
        <p:nvSpPr>
          <p:cNvPr id="28" name="">
            <a:extLst xmlns:a="http://schemas.openxmlformats.org/drawingml/2006/main">
              <a:ext uri="{FF2B5EF4-FFF2-40B4-BE49-F238E27FC236}">
                <a16:creationId xmlns:a16="http://schemas.microsoft.com/office/drawing/2014/main" id="{50793447-9CBE-43E8-8953-E0C78B806040}"/>
              </a:ext>
            </a:extLst>
          </p:cNvPr>
          <p:cNvSpPr>
            <a:spLocks xmlns:a="http://schemas.openxmlformats.org/drawingml/2006/main" noGrp="1"/>
          </p:cNvSpPr>
          <p:nvPr/>
        </p:nvSpPr>
        <p:spPr>
          <a:xfrm xmlns:a="http://schemas.openxmlformats.org/drawingml/2006/main">
            <a:off x="819150" y="5353050"/>
            <a:ext cx="85725" cy="85725"/>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9" name="">
            <a:extLst xmlns:a="http://schemas.openxmlformats.org/drawingml/2006/main">
              <a:ext uri="{FF2B5EF4-FFF2-40B4-BE49-F238E27FC236}">
                <a16:creationId xmlns:a16="http://schemas.microsoft.com/office/drawing/2014/main" id="{257C78E5-345C-480F-9749-9B29A4B9F048}"/>
              </a:ext>
            </a:extLst>
          </p:cNvPr>
          <p:cNvSpPr>
            <a:spLocks xmlns:a="http://schemas.openxmlformats.org/drawingml/2006/main" noGrp="1"/>
          </p:cNvSpPr>
          <p:nvPr/>
        </p:nvSpPr>
        <p:spPr>
          <a:xfrm xmlns:a="http://schemas.openxmlformats.org/drawingml/2006/main">
            <a:off x="1047750" y="52768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1D2939"/>
                </a:solidFill>
              </a:defRPr>
            </a:pPr>
            <a:r>
              <a:rPr sz="1425" b="0">
                <a:solidFill>
                  <a:srgbClr val="1D2939"/>
                </a:solidFill>
              </a:rPr>
              <a:t>競合観点</a:t>
            </a:r>
          </a:p>
        </p:txBody>
      </p:sp>
      <p:sp>
        <p:nvSpPr>
          <p:cNvPr id="30" name="">
            <a:extLst xmlns:a="http://schemas.openxmlformats.org/drawingml/2006/main">
              <a:ext uri="{FF2B5EF4-FFF2-40B4-BE49-F238E27FC236}">
                <a16:creationId xmlns:a16="http://schemas.microsoft.com/office/drawing/2014/main" id="{87047F89-C5EC-4A8A-91B4-3159E2836306}"/>
              </a:ext>
            </a:extLst>
          </p:cNvPr>
          <p:cNvSpPr>
            <a:spLocks xmlns:a="http://schemas.openxmlformats.org/drawingml/2006/main" noGrp="1"/>
          </p:cNvSpPr>
          <p:nvPr/>
        </p:nvSpPr>
        <p:spPr>
          <a:xfrm xmlns:a="http://schemas.openxmlformats.org/drawingml/2006/main">
            <a:off x="819150" y="5695950"/>
            <a:ext cx="85725" cy="85725"/>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31" name="">
            <a:extLst xmlns:a="http://schemas.openxmlformats.org/drawingml/2006/main">
              <a:ext uri="{FF2B5EF4-FFF2-40B4-BE49-F238E27FC236}">
                <a16:creationId xmlns:a16="http://schemas.microsoft.com/office/drawing/2014/main" id="{C4095311-A6AA-4AFE-A704-DF8CA713EFF8}"/>
              </a:ext>
            </a:extLst>
          </p:cNvPr>
          <p:cNvSpPr>
            <a:spLocks xmlns:a="http://schemas.openxmlformats.org/drawingml/2006/main" noGrp="1"/>
          </p:cNvSpPr>
          <p:nvPr/>
        </p:nvSpPr>
        <p:spPr>
          <a:xfrm xmlns:a="http://schemas.openxmlformats.org/drawingml/2006/main">
            <a:off x="1047750" y="5619750"/>
            <a:ext cx="4533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1D2939"/>
                </a:solidFill>
              </a:defRPr>
            </a:pPr>
            <a:r>
              <a:rPr sz="1425" b="0">
                <a:solidFill>
                  <a:srgbClr val="1D2939"/>
                </a:solidFill>
              </a:rPr>
              <a:t>概算見積</a:t>
            </a:r>
          </a:p>
        </p:txBody>
      </p:sp>
    </p:spTree>
    <p:extLst>
      <p:ext uri="{BB962C8B-B14F-4D97-AF65-F5344CB8AC3E}">
        <p14:creationId xmlns:p14="http://schemas.microsoft.com/office/powerpoint/2010/main" val="462126090"/>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593F09-DE69-4A0A-B46C-88D87C2A5427}"/>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D87A85D4-82ED-4826-99E3-923CD6DD178D}"/>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品質確認</a:t>
            </a:r>
          </a:p>
        </p:txBody>
      </p:sp>
      <p:sp>
        <p:nvSpPr>
          <p:cNvPr id="3" name="">
            <a:extLst xmlns:a="http://schemas.openxmlformats.org/drawingml/2006/main">
              <a:ext uri="{FF2B5EF4-FFF2-40B4-BE49-F238E27FC236}">
                <a16:creationId xmlns:a16="http://schemas.microsoft.com/office/drawing/2014/main" id="{7144D38B-C954-4103-9C2C-E46B03667521}"/>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D12D251B-4E32-4F2B-AF83-95787A1C89A6}"/>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6</a:t>
            </a:r>
          </a:p>
        </p:txBody>
      </p:sp>
      <p:sp>
        <p:nvSpPr>
          <p:cNvPr id="5" name="">
            <a:extLst xmlns:a="http://schemas.openxmlformats.org/drawingml/2006/main">
              <a:ext uri="{FF2B5EF4-FFF2-40B4-BE49-F238E27FC236}">
                <a16:creationId xmlns:a16="http://schemas.microsoft.com/office/drawing/2014/main" id="{290D1BF2-5F19-407C-B96D-6B6AC7DE47CF}"/>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Quality Gate</a:t>
            </a:r>
          </a:p>
        </p:txBody>
      </p:sp>
      <p:sp>
        <p:nvSpPr>
          <p:cNvPr id="6" name="">
            <a:extLst xmlns:a="http://schemas.openxmlformats.org/drawingml/2006/main">
              <a:ext uri="{FF2B5EF4-FFF2-40B4-BE49-F238E27FC236}">
                <a16:creationId xmlns:a16="http://schemas.microsoft.com/office/drawing/2014/main" id="{87BE87A6-2512-4B59-BD42-BDD157DC43BE}"/>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提出前チェックとAIレビューで、確認漏れを減らします。</a:t>
            </a:r>
          </a:p>
        </p:txBody>
      </p:sp>
      <p:sp>
        <p:nvSpPr>
          <p:cNvPr id="7" name="">
            <a:extLst xmlns:a="http://schemas.openxmlformats.org/drawingml/2006/main">
              <a:ext uri="{FF2B5EF4-FFF2-40B4-BE49-F238E27FC236}">
                <a16:creationId xmlns:a16="http://schemas.microsoft.com/office/drawing/2014/main" id="{4C6022EE-8489-4616-A293-BC691C94C675}"/>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会社名、金額、納期、AI推測項目、上長確認などを人が確認してから出力へ進みます。</a:t>
            </a:r>
          </a:p>
        </p:txBody>
      </p:sp>
      <p:sp>
        <p:nvSpPr>
          <p:cNvPr id="8" name="">
            <a:extLst xmlns:a="http://schemas.openxmlformats.org/drawingml/2006/main">
              <a:ext uri="{FF2B5EF4-FFF2-40B4-BE49-F238E27FC236}">
                <a16:creationId xmlns:a16="http://schemas.microsoft.com/office/drawing/2014/main" id="{46DF79F6-DD89-4F82-82A7-02C5C98441CD}"/>
              </a:ext>
            </a:extLst>
          </p:cNvPr>
          <p:cNvSpPr>
            <a:spLocks xmlns:a="http://schemas.openxmlformats.org/drawingml/2006/main" noGrp="1"/>
          </p:cNvSpPr>
          <p:nvPr/>
        </p:nvSpPr>
        <p:spPr>
          <a:xfrm xmlns:a="http://schemas.openxmlformats.org/drawingml/2006/main">
            <a:off x="819150" y="3848100"/>
            <a:ext cx="4286250" cy="304800"/>
          </a:xfrm>
          <a:prstGeom xmlns:a="http://schemas.openxmlformats.org/drawingml/2006/main" prst="roundRect">
            <a:avLst>
              <a:gd name="adj" fmla="val 37500"/>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57306B27-607B-426C-A7D2-DE193B139543}"/>
              </a:ext>
            </a:extLst>
          </p:cNvPr>
          <p:cNvSpPr>
            <a:spLocks xmlns:a="http://schemas.openxmlformats.org/drawingml/2006/main" noGrp="1"/>
          </p:cNvSpPr>
          <p:nvPr/>
        </p:nvSpPr>
        <p:spPr>
          <a:xfrm xmlns:a="http://schemas.openxmlformats.org/drawingml/2006/main">
            <a:off x="990600" y="3924300"/>
            <a:ext cx="152400" cy="15240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10" name="">
            <a:extLst xmlns:a="http://schemas.openxmlformats.org/drawingml/2006/main">
              <a:ext uri="{FF2B5EF4-FFF2-40B4-BE49-F238E27FC236}">
                <a16:creationId xmlns:a16="http://schemas.microsoft.com/office/drawing/2014/main" id="{AEED5625-CAC0-4F6F-BA21-BA828F8FC8FE}"/>
              </a:ext>
            </a:extLst>
          </p:cNvPr>
          <p:cNvSpPr>
            <a:spLocks xmlns:a="http://schemas.openxmlformats.org/drawingml/2006/main" noGrp="1"/>
          </p:cNvSpPr>
          <p:nvPr/>
        </p:nvSpPr>
        <p:spPr>
          <a:xfrm xmlns:a="http://schemas.openxmlformats.org/drawingml/2006/main">
            <a:off x="1295400" y="39147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1D2939"/>
                </a:solidFill>
              </a:defRPr>
            </a:pPr>
            <a:r>
              <a:rPr sz="1125" b="0">
                <a:solidFill>
                  <a:srgbClr val="1D2939"/>
                </a:solidFill>
              </a:rPr>
              <a:t>会社名に誤りがない</a:t>
            </a:r>
          </a:p>
        </p:txBody>
      </p:sp>
      <p:sp>
        <p:nvSpPr>
          <p:cNvPr id="11" name="">
            <a:extLst xmlns:a="http://schemas.openxmlformats.org/drawingml/2006/main">
              <a:ext uri="{FF2B5EF4-FFF2-40B4-BE49-F238E27FC236}">
                <a16:creationId xmlns:a16="http://schemas.microsoft.com/office/drawing/2014/main" id="{E3AEC81C-3195-4BB0-9D96-63F63B9FA827}"/>
              </a:ext>
            </a:extLst>
          </p:cNvPr>
          <p:cNvSpPr>
            <a:spLocks xmlns:a="http://schemas.openxmlformats.org/drawingml/2006/main" noGrp="1"/>
          </p:cNvSpPr>
          <p:nvPr/>
        </p:nvSpPr>
        <p:spPr>
          <a:xfrm xmlns:a="http://schemas.openxmlformats.org/drawingml/2006/main">
            <a:off x="819150" y="4267200"/>
            <a:ext cx="4286250" cy="304800"/>
          </a:xfrm>
          <a:prstGeom xmlns:a="http://schemas.openxmlformats.org/drawingml/2006/main" prst="roundRect">
            <a:avLst>
              <a:gd name="adj" fmla="val 37500"/>
            </a:avLst>
          </a:prstGeom>
          <a:solidFill xmlns:a="http://schemas.openxmlformats.org/drawingml/2006/main">
            <a:srgbClr val="FFFFFF"/>
          </a:solidFill>
          <a:ln xmlns:a="http://schemas.openxmlformats.org/drawingml/2006/main" w="9525">
            <a:solidFill>
              <a:srgbClr val="E4E7EC"/>
            </a:solidFill>
            <a:prstDash val="solid"/>
          </a:ln>
        </p:spPr>
      </p:sp>
      <p:sp>
        <p:nvSpPr>
          <p:cNvPr id="12" name="">
            <a:extLst xmlns:a="http://schemas.openxmlformats.org/drawingml/2006/main">
              <a:ext uri="{FF2B5EF4-FFF2-40B4-BE49-F238E27FC236}">
                <a16:creationId xmlns:a16="http://schemas.microsoft.com/office/drawing/2014/main" id="{F8C9BE43-4844-40A6-A16E-35B1742441AB}"/>
              </a:ext>
            </a:extLst>
          </p:cNvPr>
          <p:cNvSpPr>
            <a:spLocks xmlns:a="http://schemas.openxmlformats.org/drawingml/2006/main" noGrp="1"/>
          </p:cNvSpPr>
          <p:nvPr/>
        </p:nvSpPr>
        <p:spPr>
          <a:xfrm xmlns:a="http://schemas.openxmlformats.org/drawingml/2006/main">
            <a:off x="990600" y="4343400"/>
            <a:ext cx="152400" cy="15240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13" name="">
            <a:extLst xmlns:a="http://schemas.openxmlformats.org/drawingml/2006/main">
              <a:ext uri="{FF2B5EF4-FFF2-40B4-BE49-F238E27FC236}">
                <a16:creationId xmlns:a16="http://schemas.microsoft.com/office/drawing/2014/main" id="{E946686A-EA70-47E3-B6EF-AB3318DBBA46}"/>
              </a:ext>
            </a:extLst>
          </p:cNvPr>
          <p:cNvSpPr>
            <a:spLocks xmlns:a="http://schemas.openxmlformats.org/drawingml/2006/main" noGrp="1"/>
          </p:cNvSpPr>
          <p:nvPr/>
        </p:nvSpPr>
        <p:spPr>
          <a:xfrm xmlns:a="http://schemas.openxmlformats.org/drawingml/2006/main">
            <a:off x="1295400" y="43338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1D2939"/>
                </a:solidFill>
              </a:defRPr>
            </a:pPr>
            <a:r>
              <a:rPr sz="1125" b="0">
                <a:solidFill>
                  <a:srgbClr val="1D2939"/>
                </a:solidFill>
              </a:rPr>
              <a:t>金額と条件を確認</a:t>
            </a:r>
          </a:p>
        </p:txBody>
      </p:sp>
      <p:sp>
        <p:nvSpPr>
          <p:cNvPr id="14" name="">
            <a:extLst xmlns:a="http://schemas.openxmlformats.org/drawingml/2006/main">
              <a:ext uri="{FF2B5EF4-FFF2-40B4-BE49-F238E27FC236}">
                <a16:creationId xmlns:a16="http://schemas.microsoft.com/office/drawing/2014/main" id="{3B1116D9-227D-4AD2-9BFB-593F78D4DB58}"/>
              </a:ext>
            </a:extLst>
          </p:cNvPr>
          <p:cNvSpPr>
            <a:spLocks xmlns:a="http://schemas.openxmlformats.org/drawingml/2006/main" noGrp="1"/>
          </p:cNvSpPr>
          <p:nvPr/>
        </p:nvSpPr>
        <p:spPr>
          <a:xfrm xmlns:a="http://schemas.openxmlformats.org/drawingml/2006/main">
            <a:off x="819150" y="4686300"/>
            <a:ext cx="4286250" cy="304800"/>
          </a:xfrm>
          <a:prstGeom xmlns:a="http://schemas.openxmlformats.org/drawingml/2006/main" prst="roundRect">
            <a:avLst>
              <a:gd name="adj" fmla="val 37500"/>
            </a:avLst>
          </a:prstGeom>
          <a:solidFill xmlns:a="http://schemas.openxmlformats.org/drawingml/2006/main">
            <a:srgbClr val="FFFFFF"/>
          </a:solidFill>
          <a:ln xmlns:a="http://schemas.openxmlformats.org/drawingml/2006/main" w="9525">
            <a:solidFill>
              <a:srgbClr val="E4E7EC"/>
            </a:solidFill>
            <a:prstDash val="solid"/>
          </a:ln>
        </p:spPr>
      </p:sp>
      <p:sp>
        <p:nvSpPr>
          <p:cNvPr id="15" name="">
            <a:extLst xmlns:a="http://schemas.openxmlformats.org/drawingml/2006/main">
              <a:ext uri="{FF2B5EF4-FFF2-40B4-BE49-F238E27FC236}">
                <a16:creationId xmlns:a16="http://schemas.microsoft.com/office/drawing/2014/main" id="{7305CFCB-B792-4D30-9A8B-1A65EBEA35FE}"/>
              </a:ext>
            </a:extLst>
          </p:cNvPr>
          <p:cNvSpPr>
            <a:spLocks xmlns:a="http://schemas.openxmlformats.org/drawingml/2006/main" noGrp="1"/>
          </p:cNvSpPr>
          <p:nvPr/>
        </p:nvSpPr>
        <p:spPr>
          <a:xfrm xmlns:a="http://schemas.openxmlformats.org/drawingml/2006/main">
            <a:off x="990600" y="4762500"/>
            <a:ext cx="152400" cy="15240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16" name="">
            <a:extLst xmlns:a="http://schemas.openxmlformats.org/drawingml/2006/main">
              <a:ext uri="{FF2B5EF4-FFF2-40B4-BE49-F238E27FC236}">
                <a16:creationId xmlns:a16="http://schemas.microsoft.com/office/drawing/2014/main" id="{C8BE4098-1D34-468A-B102-19C82826A88D}"/>
              </a:ext>
            </a:extLst>
          </p:cNvPr>
          <p:cNvSpPr>
            <a:spLocks xmlns:a="http://schemas.openxmlformats.org/drawingml/2006/main" noGrp="1"/>
          </p:cNvSpPr>
          <p:nvPr/>
        </p:nvSpPr>
        <p:spPr>
          <a:xfrm xmlns:a="http://schemas.openxmlformats.org/drawingml/2006/main">
            <a:off x="1295400" y="47529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1D2939"/>
                </a:solidFill>
              </a:defRPr>
            </a:pPr>
            <a:r>
              <a:rPr sz="1125" b="0">
                <a:solidFill>
                  <a:srgbClr val="1D2939"/>
                </a:solidFill>
              </a:rPr>
              <a:t>納期が現実的</a:t>
            </a:r>
          </a:p>
        </p:txBody>
      </p:sp>
      <p:sp>
        <p:nvSpPr>
          <p:cNvPr id="17" name="">
            <a:extLst xmlns:a="http://schemas.openxmlformats.org/drawingml/2006/main">
              <a:ext uri="{FF2B5EF4-FFF2-40B4-BE49-F238E27FC236}">
                <a16:creationId xmlns:a16="http://schemas.microsoft.com/office/drawing/2014/main" id="{BE17B913-D512-433B-AD4E-CDA47DB97378}"/>
              </a:ext>
            </a:extLst>
          </p:cNvPr>
          <p:cNvSpPr>
            <a:spLocks xmlns:a="http://schemas.openxmlformats.org/drawingml/2006/main" noGrp="1"/>
          </p:cNvSpPr>
          <p:nvPr/>
        </p:nvSpPr>
        <p:spPr>
          <a:xfrm xmlns:a="http://schemas.openxmlformats.org/drawingml/2006/main">
            <a:off x="819150" y="5105400"/>
            <a:ext cx="4286250" cy="304800"/>
          </a:xfrm>
          <a:prstGeom xmlns:a="http://schemas.openxmlformats.org/drawingml/2006/main" prst="roundRect">
            <a:avLst>
              <a:gd name="adj" fmla="val 37500"/>
            </a:avLst>
          </a:prstGeom>
          <a:solidFill xmlns:a="http://schemas.openxmlformats.org/drawingml/2006/main">
            <a:srgbClr val="FFFFFF"/>
          </a:solidFill>
          <a:ln xmlns:a="http://schemas.openxmlformats.org/drawingml/2006/main" w="9525">
            <a:solidFill>
              <a:srgbClr val="E4E7EC"/>
            </a:solidFill>
            <a:prstDash val="solid"/>
          </a:ln>
        </p:spPr>
      </p:sp>
      <p:sp>
        <p:nvSpPr>
          <p:cNvPr id="18" name="">
            <a:extLst xmlns:a="http://schemas.openxmlformats.org/drawingml/2006/main">
              <a:ext uri="{FF2B5EF4-FFF2-40B4-BE49-F238E27FC236}">
                <a16:creationId xmlns:a16="http://schemas.microsoft.com/office/drawing/2014/main" id="{48B796AE-0579-4F3D-82B3-3C38ED8D74E9}"/>
              </a:ext>
            </a:extLst>
          </p:cNvPr>
          <p:cNvSpPr>
            <a:spLocks xmlns:a="http://schemas.openxmlformats.org/drawingml/2006/main" noGrp="1"/>
          </p:cNvSpPr>
          <p:nvPr/>
        </p:nvSpPr>
        <p:spPr>
          <a:xfrm xmlns:a="http://schemas.openxmlformats.org/drawingml/2006/main">
            <a:off x="990600" y="5181600"/>
            <a:ext cx="152400" cy="15240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19" name="">
            <a:extLst xmlns:a="http://schemas.openxmlformats.org/drawingml/2006/main">
              <a:ext uri="{FF2B5EF4-FFF2-40B4-BE49-F238E27FC236}">
                <a16:creationId xmlns:a16="http://schemas.microsoft.com/office/drawing/2014/main" id="{8A2F9D48-21B6-4DDE-9EC0-E5353B84AFC5}"/>
              </a:ext>
            </a:extLst>
          </p:cNvPr>
          <p:cNvSpPr>
            <a:spLocks xmlns:a="http://schemas.openxmlformats.org/drawingml/2006/main" noGrp="1"/>
          </p:cNvSpPr>
          <p:nvPr/>
        </p:nvSpPr>
        <p:spPr>
          <a:xfrm xmlns:a="http://schemas.openxmlformats.org/drawingml/2006/main">
            <a:off x="1295400" y="51720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1D2939"/>
                </a:solidFill>
              </a:defRPr>
            </a:pPr>
            <a:r>
              <a:rPr sz="1125" b="0">
                <a:solidFill>
                  <a:srgbClr val="1D2939"/>
                </a:solidFill>
              </a:rPr>
              <a:t>AI推測項目を確認</a:t>
            </a:r>
          </a:p>
        </p:txBody>
      </p:sp>
      <p:sp>
        <p:nvSpPr>
          <p:cNvPr id="20" name="">
            <a:extLst xmlns:a="http://schemas.openxmlformats.org/drawingml/2006/main">
              <a:ext uri="{FF2B5EF4-FFF2-40B4-BE49-F238E27FC236}">
                <a16:creationId xmlns:a16="http://schemas.microsoft.com/office/drawing/2014/main" id="{51A23365-1B0A-4CCD-A35C-4790253AC1E8}"/>
              </a:ext>
            </a:extLst>
          </p:cNvPr>
          <p:cNvSpPr>
            <a:spLocks xmlns:a="http://schemas.openxmlformats.org/drawingml/2006/main" noGrp="1"/>
          </p:cNvSpPr>
          <p:nvPr/>
        </p:nvSpPr>
        <p:spPr>
          <a:xfrm xmlns:a="http://schemas.openxmlformats.org/drawingml/2006/main">
            <a:off x="819150" y="5524500"/>
            <a:ext cx="4286250" cy="304800"/>
          </a:xfrm>
          <a:prstGeom xmlns:a="http://schemas.openxmlformats.org/drawingml/2006/main" prst="roundRect">
            <a:avLst>
              <a:gd name="adj" fmla="val 37500"/>
            </a:avLst>
          </a:prstGeom>
          <a:solidFill xmlns:a="http://schemas.openxmlformats.org/drawingml/2006/main">
            <a:srgbClr val="FFFFFF"/>
          </a:solidFill>
          <a:ln xmlns:a="http://schemas.openxmlformats.org/drawingml/2006/main" w="9525">
            <a:solidFill>
              <a:srgbClr val="E4E7EC"/>
            </a:solidFill>
            <a:prstDash val="solid"/>
          </a:ln>
        </p:spPr>
      </p:sp>
      <p:sp>
        <p:nvSpPr>
          <p:cNvPr id="21" name="">
            <a:extLst xmlns:a="http://schemas.openxmlformats.org/drawingml/2006/main">
              <a:ext uri="{FF2B5EF4-FFF2-40B4-BE49-F238E27FC236}">
                <a16:creationId xmlns:a16="http://schemas.microsoft.com/office/drawing/2014/main" id="{37D5791A-59A8-4A47-8928-4EE3F30BC60B}"/>
              </a:ext>
            </a:extLst>
          </p:cNvPr>
          <p:cNvSpPr>
            <a:spLocks xmlns:a="http://schemas.openxmlformats.org/drawingml/2006/main" noGrp="1"/>
          </p:cNvSpPr>
          <p:nvPr/>
        </p:nvSpPr>
        <p:spPr>
          <a:xfrm xmlns:a="http://schemas.openxmlformats.org/drawingml/2006/main">
            <a:off x="990600" y="5600700"/>
            <a:ext cx="152400" cy="15240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22" name="">
            <a:extLst xmlns:a="http://schemas.openxmlformats.org/drawingml/2006/main">
              <a:ext uri="{FF2B5EF4-FFF2-40B4-BE49-F238E27FC236}">
                <a16:creationId xmlns:a16="http://schemas.microsoft.com/office/drawing/2014/main" id="{64855604-457D-4EFC-BE79-5517EBD08E93}"/>
              </a:ext>
            </a:extLst>
          </p:cNvPr>
          <p:cNvSpPr>
            <a:spLocks xmlns:a="http://schemas.openxmlformats.org/drawingml/2006/main" noGrp="1"/>
          </p:cNvSpPr>
          <p:nvPr/>
        </p:nvSpPr>
        <p:spPr>
          <a:xfrm xmlns:a="http://schemas.openxmlformats.org/drawingml/2006/main">
            <a:off x="1295400" y="559117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0">
                <a:solidFill>
                  <a:srgbClr val="1D2939"/>
                </a:solidFill>
              </a:defRPr>
            </a:pPr>
            <a:r>
              <a:rPr sz="1125" b="0">
                <a:solidFill>
                  <a:srgbClr val="1D2939"/>
                </a:solidFill>
              </a:rPr>
              <a:t>上長確認済み</a:t>
            </a:r>
          </a:p>
        </p:txBody>
      </p:sp>
      <p:sp>
        <p:nvSpPr>
          <p:cNvPr id="23" name="">
            <a:extLst xmlns:a="http://schemas.openxmlformats.org/drawingml/2006/main">
              <a:ext uri="{FF2B5EF4-FFF2-40B4-BE49-F238E27FC236}">
                <a16:creationId xmlns:a16="http://schemas.microsoft.com/office/drawing/2014/main" id="{6CF02927-54E1-474C-B891-F6F0AC81CAF7}"/>
              </a:ext>
            </a:extLst>
          </p:cNvPr>
          <p:cNvSpPr>
            <a:spLocks xmlns:a="http://schemas.openxmlformats.org/drawingml/2006/main" noGrp="1"/>
          </p:cNvSpPr>
          <p:nvPr/>
        </p:nvSpPr>
        <p:spPr>
          <a:xfrm xmlns:a="http://schemas.openxmlformats.org/drawingml/2006/main">
            <a:off x="6667500" y="3886200"/>
            <a:ext cx="3714750" cy="154305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E4E7EC"/>
            </a:solidFill>
            <a:prstDash val="solid"/>
          </a:ln>
        </p:spPr>
      </p:sp>
      <p:sp>
        <p:nvSpPr>
          <p:cNvPr id="24" name="">
            <a:extLst xmlns:a="http://schemas.openxmlformats.org/drawingml/2006/main">
              <a:ext uri="{FF2B5EF4-FFF2-40B4-BE49-F238E27FC236}">
                <a16:creationId xmlns:a16="http://schemas.microsoft.com/office/drawing/2014/main" id="{7DF05D55-89EB-4524-A18C-DFC6035A5527}"/>
              </a:ext>
            </a:extLst>
          </p:cNvPr>
          <p:cNvSpPr>
            <a:spLocks xmlns:a="http://schemas.openxmlformats.org/drawingml/2006/main" noGrp="1"/>
          </p:cNvSpPr>
          <p:nvPr/>
        </p:nvSpPr>
        <p:spPr>
          <a:xfrm xmlns:a="http://schemas.openxmlformats.org/drawingml/2006/main">
            <a:off x="6972300" y="41910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02A43"/>
                </a:solidFill>
              </a:defRPr>
            </a:pPr>
            <a:r>
              <a:rPr sz="1800" b="1">
                <a:solidFill>
                  <a:srgbClr val="102A43"/>
                </a:solidFill>
              </a:rPr>
              <a:t>AIレビューとRevision</a:t>
            </a:r>
          </a:p>
        </p:txBody>
      </p:sp>
      <p:sp>
        <p:nvSpPr>
          <p:cNvPr id="25" name="">
            <a:extLst xmlns:a="http://schemas.openxmlformats.org/drawingml/2006/main">
              <a:ext uri="{FF2B5EF4-FFF2-40B4-BE49-F238E27FC236}">
                <a16:creationId xmlns:a16="http://schemas.microsoft.com/office/drawing/2014/main" id="{79C874A9-C776-4D1B-B2D5-56E0D8B9CCBC}"/>
              </a:ext>
            </a:extLst>
          </p:cNvPr>
          <p:cNvSpPr>
            <a:spLocks xmlns:a="http://schemas.openxmlformats.org/drawingml/2006/main" noGrp="1"/>
          </p:cNvSpPr>
          <p:nvPr/>
        </p:nvSpPr>
        <p:spPr>
          <a:xfrm xmlns:a="http://schemas.openxmlformats.org/drawingml/2006/main">
            <a:off x="6991350" y="46291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67085"/>
                </a:solidFill>
              </a:defRPr>
            </a:pPr>
            <a:r>
              <a:rPr sz="1350" b="0">
                <a:solidFill>
                  <a:srgbClr val="667085"/>
                </a:solidFill>
              </a:rPr>
              <a:t>不足スライド、ROI、CTA、導入計画などを見直し、改訂履歴として残します。</a:t>
            </a:r>
          </a:p>
        </p:txBody>
      </p:sp>
    </p:spTree>
    <p:extLst>
      <p:ext uri="{BB962C8B-B14F-4D97-AF65-F5344CB8AC3E}">
        <p14:creationId xmlns:p14="http://schemas.microsoft.com/office/powerpoint/2010/main" val="16071684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E59C51-4C8C-4148-BA64-366B312830AA}"/>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B5672A41-1DEB-4630-91B6-BE25B20EAE93}"/>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成果物</a:t>
            </a:r>
          </a:p>
        </p:txBody>
      </p:sp>
      <p:sp>
        <p:nvSpPr>
          <p:cNvPr id="3" name="">
            <a:extLst xmlns:a="http://schemas.openxmlformats.org/drawingml/2006/main">
              <a:ext uri="{FF2B5EF4-FFF2-40B4-BE49-F238E27FC236}">
                <a16:creationId xmlns:a16="http://schemas.microsoft.com/office/drawing/2014/main" id="{BEAC19B4-6DE1-4DA8-B0DC-CF0F888BA0B4}"/>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B20365E4-CDDE-45A9-A27F-38C1CF0DCCC5}"/>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7</a:t>
            </a:r>
          </a:p>
        </p:txBody>
      </p:sp>
      <p:sp>
        <p:nvSpPr>
          <p:cNvPr id="5" name="">
            <a:extLst xmlns:a="http://schemas.openxmlformats.org/drawingml/2006/main">
              <a:ext uri="{FF2B5EF4-FFF2-40B4-BE49-F238E27FC236}">
                <a16:creationId xmlns:a16="http://schemas.microsoft.com/office/drawing/2014/main" id="{1235E01C-ABFF-4C7E-AF4F-71D02B2F3281}"/>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Outputs</a:t>
            </a:r>
          </a:p>
        </p:txBody>
      </p:sp>
      <p:sp>
        <p:nvSpPr>
          <p:cNvPr id="6" name="">
            <a:extLst xmlns:a="http://schemas.openxmlformats.org/drawingml/2006/main">
              <a:ext uri="{FF2B5EF4-FFF2-40B4-BE49-F238E27FC236}">
                <a16:creationId xmlns:a16="http://schemas.microsoft.com/office/drawing/2014/main" id="{77B1362E-E7ED-40C8-8999-7F0CFF2F51A7}"/>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用途に合わせて4種類の成果物へつなげます。</a:t>
            </a:r>
          </a:p>
        </p:txBody>
      </p:sp>
      <p:sp>
        <p:nvSpPr>
          <p:cNvPr id="7" name="">
            <a:extLst xmlns:a="http://schemas.openxmlformats.org/drawingml/2006/main">
              <a:ext uri="{FF2B5EF4-FFF2-40B4-BE49-F238E27FC236}">
                <a16:creationId xmlns:a16="http://schemas.microsoft.com/office/drawing/2014/main" id="{9DBB74E2-3BE9-47B4-A29E-498FEB6A2CAE}"/>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要約PowerPoint、詳細PowerPoint、見積PDF、Beautiful.aiを同じ流れから選べます。</a:t>
            </a:r>
          </a:p>
        </p:txBody>
      </p:sp>
      <p:sp>
        <p:nvSpPr>
          <p:cNvPr id="8" name="">
            <a:extLst xmlns:a="http://schemas.openxmlformats.org/drawingml/2006/main">
              <a:ext uri="{FF2B5EF4-FFF2-40B4-BE49-F238E27FC236}">
                <a16:creationId xmlns:a16="http://schemas.microsoft.com/office/drawing/2014/main" id="{EE240EF9-3709-4C2C-B0C4-B8D2A5A877E0}"/>
              </a:ext>
            </a:extLst>
          </p:cNvPr>
          <p:cNvSpPr>
            <a:spLocks xmlns:a="http://schemas.openxmlformats.org/drawingml/2006/main" noGrp="1"/>
          </p:cNvSpPr>
          <p:nvPr/>
        </p:nvSpPr>
        <p:spPr>
          <a:xfrm xmlns:a="http://schemas.openxmlformats.org/drawingml/2006/main">
            <a:off x="819150" y="3905250"/>
            <a:ext cx="2238375" cy="1200150"/>
          </a:xfrm>
          <a:prstGeom xmlns:a="http://schemas.openxmlformats.org/drawingml/2006/main" prst="roundRect">
            <a:avLst>
              <a:gd name="adj" fmla="val 9524"/>
            </a:avLst>
          </a:prstGeom>
          <a:solidFill xmlns:a="http://schemas.openxmlformats.org/drawingml/2006/main">
            <a:srgbClr val="F8FAFC"/>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07AF02B5-0D7C-4B51-995A-700DCBC15A11}"/>
              </a:ext>
            </a:extLst>
          </p:cNvPr>
          <p:cNvSpPr>
            <a:spLocks xmlns:a="http://schemas.openxmlformats.org/drawingml/2006/main" noGrp="1"/>
          </p:cNvSpPr>
          <p:nvPr/>
        </p:nvSpPr>
        <p:spPr>
          <a:xfrm xmlns:a="http://schemas.openxmlformats.org/drawingml/2006/main">
            <a:off x="1028700" y="4114800"/>
            <a:ext cx="495300" cy="285750"/>
          </a:xfrm>
          <a:prstGeom xmlns:a="http://schemas.openxmlformats.org/drawingml/2006/main" prst="roundRect">
            <a:avLst>
              <a:gd name="adj" fmla="val 40000"/>
            </a:avLst>
          </a:prstGeom>
          <a:solidFill xmlns:a="http://schemas.openxmlformats.org/drawingml/2006/main">
            <a:srgbClr val="CBD5E1"/>
          </a:solidFill>
          <a:ln xmlns:a="http://schemas.openxmlformats.org/drawingml/2006/main" w="0">
            <a:solidFill>
              <a:srgbClr val="CBD5E1"/>
            </a:solidFill>
            <a:prstDash val="solid"/>
          </a:ln>
        </p:spPr>
      </p:sp>
      <p:sp>
        <p:nvSpPr>
          <p:cNvPr id="10" name="">
            <a:extLst xmlns:a="http://schemas.openxmlformats.org/drawingml/2006/main">
              <a:ext uri="{FF2B5EF4-FFF2-40B4-BE49-F238E27FC236}">
                <a16:creationId xmlns:a16="http://schemas.microsoft.com/office/drawing/2014/main" id="{144ABA7A-D7D7-4672-BED1-C1E3897FD229}"/>
              </a:ext>
            </a:extLst>
          </p:cNvPr>
          <p:cNvSpPr>
            <a:spLocks xmlns:a="http://schemas.openxmlformats.org/drawingml/2006/main" noGrp="1"/>
          </p:cNvSpPr>
          <p:nvPr/>
        </p:nvSpPr>
        <p:spPr>
          <a:xfrm xmlns:a="http://schemas.openxmlformats.org/drawingml/2006/main">
            <a:off x="1028700" y="4533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02A43"/>
                </a:solidFill>
              </a:defRPr>
            </a:pPr>
            <a:r>
              <a:rPr sz="1500" b="1">
                <a:solidFill>
                  <a:srgbClr val="102A43"/>
                </a:solidFill>
              </a:rPr>
              <a:t>要約PowerPoint</a:t>
            </a:r>
          </a:p>
        </p:txBody>
      </p:sp>
      <p:sp>
        <p:nvSpPr>
          <p:cNvPr id="11" name="">
            <a:extLst xmlns:a="http://schemas.openxmlformats.org/drawingml/2006/main">
              <a:ext uri="{FF2B5EF4-FFF2-40B4-BE49-F238E27FC236}">
                <a16:creationId xmlns:a16="http://schemas.microsoft.com/office/drawing/2014/main" id="{7BA356BB-A076-4E44-8425-7B9A19214CB0}"/>
              </a:ext>
            </a:extLst>
          </p:cNvPr>
          <p:cNvSpPr>
            <a:spLocks xmlns:a="http://schemas.openxmlformats.org/drawingml/2006/main" noGrp="1"/>
          </p:cNvSpPr>
          <p:nvPr/>
        </p:nvSpPr>
        <p:spPr>
          <a:xfrm xmlns:a="http://schemas.openxmlformats.org/drawingml/2006/main">
            <a:off x="1028700" y="4819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667085"/>
                </a:solidFill>
              </a:defRPr>
            </a:pPr>
            <a:r>
              <a:rPr sz="1050" b="0">
                <a:solidFill>
                  <a:srgbClr val="667085"/>
                </a:solidFill>
              </a:rPr>
              <a:t>短時間の説明向け</a:t>
            </a:r>
          </a:p>
        </p:txBody>
      </p:sp>
      <p:sp>
        <p:nvSpPr>
          <p:cNvPr id="12" name="">
            <a:extLst xmlns:a="http://schemas.openxmlformats.org/drawingml/2006/main">
              <a:ext uri="{FF2B5EF4-FFF2-40B4-BE49-F238E27FC236}">
                <a16:creationId xmlns:a16="http://schemas.microsoft.com/office/drawing/2014/main" id="{CEC9DA26-F007-46EA-81C5-DE236BB946A1}"/>
              </a:ext>
            </a:extLst>
          </p:cNvPr>
          <p:cNvSpPr>
            <a:spLocks xmlns:a="http://schemas.openxmlformats.org/drawingml/2006/main" noGrp="1"/>
          </p:cNvSpPr>
          <p:nvPr/>
        </p:nvSpPr>
        <p:spPr>
          <a:xfrm xmlns:a="http://schemas.openxmlformats.org/drawingml/2006/main">
            <a:off x="3505200" y="3905250"/>
            <a:ext cx="2238375" cy="1200150"/>
          </a:xfrm>
          <a:prstGeom xmlns:a="http://schemas.openxmlformats.org/drawingml/2006/main" prst="roundRect">
            <a:avLst>
              <a:gd name="adj" fmla="val 9524"/>
            </a:avLst>
          </a:prstGeom>
          <a:solidFill xmlns:a="http://schemas.openxmlformats.org/drawingml/2006/main">
            <a:srgbClr val="F8FAFC"/>
          </a:solidFill>
          <a:ln xmlns:a="http://schemas.openxmlformats.org/drawingml/2006/main" w="9525">
            <a:solidFill>
              <a:srgbClr val="E4E7EC"/>
            </a:solidFill>
            <a:prstDash val="solid"/>
          </a:ln>
        </p:spPr>
      </p:sp>
      <p:sp>
        <p:nvSpPr>
          <p:cNvPr id="13" name="">
            <a:extLst xmlns:a="http://schemas.openxmlformats.org/drawingml/2006/main">
              <a:ext uri="{FF2B5EF4-FFF2-40B4-BE49-F238E27FC236}">
                <a16:creationId xmlns:a16="http://schemas.microsoft.com/office/drawing/2014/main" id="{31C96289-9591-4778-9AFC-A405358A7A63}"/>
              </a:ext>
            </a:extLst>
          </p:cNvPr>
          <p:cNvSpPr>
            <a:spLocks xmlns:a="http://schemas.openxmlformats.org/drawingml/2006/main" noGrp="1"/>
          </p:cNvSpPr>
          <p:nvPr/>
        </p:nvSpPr>
        <p:spPr>
          <a:xfrm xmlns:a="http://schemas.openxmlformats.org/drawingml/2006/main">
            <a:off x="3714750" y="4114800"/>
            <a:ext cx="495300" cy="285750"/>
          </a:xfrm>
          <a:prstGeom xmlns:a="http://schemas.openxmlformats.org/drawingml/2006/main" prst="roundRect">
            <a:avLst>
              <a:gd name="adj" fmla="val 40000"/>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524DF060-8E9D-458B-8A28-7A91D3F9C8DF}"/>
              </a:ext>
            </a:extLst>
          </p:cNvPr>
          <p:cNvSpPr>
            <a:spLocks xmlns:a="http://schemas.openxmlformats.org/drawingml/2006/main" noGrp="1"/>
          </p:cNvSpPr>
          <p:nvPr/>
        </p:nvSpPr>
        <p:spPr>
          <a:xfrm xmlns:a="http://schemas.openxmlformats.org/drawingml/2006/main">
            <a:off x="3714750" y="4533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02A43"/>
                </a:solidFill>
              </a:defRPr>
            </a:pPr>
            <a:r>
              <a:rPr sz="1500" b="1">
                <a:solidFill>
                  <a:srgbClr val="102A43"/>
                </a:solidFill>
              </a:rPr>
              <a:t>詳細PowerPoint</a:t>
            </a:r>
          </a:p>
        </p:txBody>
      </p:sp>
      <p:sp>
        <p:nvSpPr>
          <p:cNvPr id="15" name="">
            <a:extLst xmlns:a="http://schemas.openxmlformats.org/drawingml/2006/main">
              <a:ext uri="{FF2B5EF4-FFF2-40B4-BE49-F238E27FC236}">
                <a16:creationId xmlns:a16="http://schemas.microsoft.com/office/drawing/2014/main" id="{9C189304-D413-4F65-B360-3C8606FFEAE4}"/>
              </a:ext>
            </a:extLst>
          </p:cNvPr>
          <p:cNvSpPr>
            <a:spLocks xmlns:a="http://schemas.openxmlformats.org/drawingml/2006/main" noGrp="1"/>
          </p:cNvSpPr>
          <p:nvPr/>
        </p:nvSpPr>
        <p:spPr>
          <a:xfrm xmlns:a="http://schemas.openxmlformats.org/drawingml/2006/main">
            <a:off x="3714750" y="4819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667085"/>
                </a:solidFill>
              </a:defRPr>
            </a:pPr>
            <a:r>
              <a:rPr sz="1050" b="0">
                <a:solidFill>
                  <a:srgbClr val="667085"/>
                </a:solidFill>
              </a:rPr>
              <a:t>社内確認・本提案向け</a:t>
            </a:r>
          </a:p>
        </p:txBody>
      </p:sp>
      <p:sp>
        <p:nvSpPr>
          <p:cNvPr id="16" name="">
            <a:extLst xmlns:a="http://schemas.openxmlformats.org/drawingml/2006/main">
              <a:ext uri="{FF2B5EF4-FFF2-40B4-BE49-F238E27FC236}">
                <a16:creationId xmlns:a16="http://schemas.microsoft.com/office/drawing/2014/main" id="{919EA41A-4767-4CF2-8D22-D959733C2120}"/>
              </a:ext>
            </a:extLst>
          </p:cNvPr>
          <p:cNvSpPr>
            <a:spLocks xmlns:a="http://schemas.openxmlformats.org/drawingml/2006/main" noGrp="1"/>
          </p:cNvSpPr>
          <p:nvPr/>
        </p:nvSpPr>
        <p:spPr>
          <a:xfrm xmlns:a="http://schemas.openxmlformats.org/drawingml/2006/main">
            <a:off x="6191250" y="3905250"/>
            <a:ext cx="2238375" cy="1200150"/>
          </a:xfrm>
          <a:prstGeom xmlns:a="http://schemas.openxmlformats.org/drawingml/2006/main" prst="roundRect">
            <a:avLst>
              <a:gd name="adj" fmla="val 9524"/>
            </a:avLst>
          </a:prstGeom>
          <a:solidFill xmlns:a="http://schemas.openxmlformats.org/drawingml/2006/main">
            <a:srgbClr val="F8FAFC"/>
          </a:solidFill>
          <a:ln xmlns:a="http://schemas.openxmlformats.org/drawingml/2006/main" w="9525">
            <a:solidFill>
              <a:srgbClr val="E4E7EC"/>
            </a:solidFill>
            <a:prstDash val="solid"/>
          </a:ln>
        </p:spPr>
      </p:sp>
      <p:sp>
        <p:nvSpPr>
          <p:cNvPr id="17" name="">
            <a:extLst xmlns:a="http://schemas.openxmlformats.org/drawingml/2006/main">
              <a:ext uri="{FF2B5EF4-FFF2-40B4-BE49-F238E27FC236}">
                <a16:creationId xmlns:a16="http://schemas.microsoft.com/office/drawing/2014/main" id="{1F9F7423-8800-4F82-AF49-330248F02562}"/>
              </a:ext>
            </a:extLst>
          </p:cNvPr>
          <p:cNvSpPr>
            <a:spLocks xmlns:a="http://schemas.openxmlformats.org/drawingml/2006/main" noGrp="1"/>
          </p:cNvSpPr>
          <p:nvPr/>
        </p:nvSpPr>
        <p:spPr>
          <a:xfrm xmlns:a="http://schemas.openxmlformats.org/drawingml/2006/main">
            <a:off x="6400800" y="4114800"/>
            <a:ext cx="495300" cy="285750"/>
          </a:xfrm>
          <a:prstGeom xmlns:a="http://schemas.openxmlformats.org/drawingml/2006/main" prst="roundRect">
            <a:avLst>
              <a:gd name="adj" fmla="val 40000"/>
            </a:avLst>
          </a:prstGeom>
          <a:solidFill xmlns:a="http://schemas.openxmlformats.org/drawingml/2006/main">
            <a:srgbClr val="CBD5E1"/>
          </a:solidFill>
          <a:ln xmlns:a="http://schemas.openxmlformats.org/drawingml/2006/main" w="0">
            <a:solidFill>
              <a:srgbClr val="CBD5E1"/>
            </a:solidFill>
            <a:prstDash val="solid"/>
          </a:ln>
        </p:spPr>
      </p:sp>
      <p:sp>
        <p:nvSpPr>
          <p:cNvPr id="18" name="">
            <a:extLst xmlns:a="http://schemas.openxmlformats.org/drawingml/2006/main">
              <a:ext uri="{FF2B5EF4-FFF2-40B4-BE49-F238E27FC236}">
                <a16:creationId xmlns:a16="http://schemas.microsoft.com/office/drawing/2014/main" id="{1ABB1F87-52C8-406A-B19B-28C13A60B6C0}"/>
              </a:ext>
            </a:extLst>
          </p:cNvPr>
          <p:cNvSpPr>
            <a:spLocks xmlns:a="http://schemas.openxmlformats.org/drawingml/2006/main" noGrp="1"/>
          </p:cNvSpPr>
          <p:nvPr/>
        </p:nvSpPr>
        <p:spPr>
          <a:xfrm xmlns:a="http://schemas.openxmlformats.org/drawingml/2006/main">
            <a:off x="6400800" y="4533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02A43"/>
                </a:solidFill>
              </a:defRPr>
            </a:pPr>
            <a:r>
              <a:rPr sz="1500" b="1">
                <a:solidFill>
                  <a:srgbClr val="102A43"/>
                </a:solidFill>
              </a:rPr>
              <a:t>見積PDF</a:t>
            </a:r>
          </a:p>
        </p:txBody>
      </p:sp>
      <p:sp>
        <p:nvSpPr>
          <p:cNvPr id="19" name="">
            <a:extLst xmlns:a="http://schemas.openxmlformats.org/drawingml/2006/main">
              <a:ext uri="{FF2B5EF4-FFF2-40B4-BE49-F238E27FC236}">
                <a16:creationId xmlns:a16="http://schemas.microsoft.com/office/drawing/2014/main" id="{CA82FE04-787A-48BD-ABEA-75C0A14EDEC6}"/>
              </a:ext>
            </a:extLst>
          </p:cNvPr>
          <p:cNvSpPr>
            <a:spLocks xmlns:a="http://schemas.openxmlformats.org/drawingml/2006/main" noGrp="1"/>
          </p:cNvSpPr>
          <p:nvPr/>
        </p:nvSpPr>
        <p:spPr>
          <a:xfrm xmlns:a="http://schemas.openxmlformats.org/drawingml/2006/main">
            <a:off x="6400800" y="4819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667085"/>
                </a:solidFill>
              </a:defRPr>
            </a:pPr>
            <a:r>
              <a:rPr sz="1050" b="0">
                <a:solidFill>
                  <a:srgbClr val="667085"/>
                </a:solidFill>
              </a:rPr>
              <a:t>見積書として保存</a:t>
            </a:r>
          </a:p>
        </p:txBody>
      </p:sp>
      <p:sp>
        <p:nvSpPr>
          <p:cNvPr id="20" name="">
            <a:extLst xmlns:a="http://schemas.openxmlformats.org/drawingml/2006/main">
              <a:ext uri="{FF2B5EF4-FFF2-40B4-BE49-F238E27FC236}">
                <a16:creationId xmlns:a16="http://schemas.microsoft.com/office/drawing/2014/main" id="{B7B3DECB-0721-4126-9D07-4B3C39BFB8FA}"/>
              </a:ext>
            </a:extLst>
          </p:cNvPr>
          <p:cNvSpPr>
            <a:spLocks xmlns:a="http://schemas.openxmlformats.org/drawingml/2006/main" noGrp="1"/>
          </p:cNvSpPr>
          <p:nvPr/>
        </p:nvSpPr>
        <p:spPr>
          <a:xfrm xmlns:a="http://schemas.openxmlformats.org/drawingml/2006/main">
            <a:off x="8877300" y="3905250"/>
            <a:ext cx="2238375" cy="1200150"/>
          </a:xfrm>
          <a:prstGeom xmlns:a="http://schemas.openxmlformats.org/drawingml/2006/main" prst="roundRect">
            <a:avLst>
              <a:gd name="adj" fmla="val 9524"/>
            </a:avLst>
          </a:prstGeom>
          <a:solidFill xmlns:a="http://schemas.openxmlformats.org/drawingml/2006/main">
            <a:srgbClr val="EAF1FF"/>
          </a:solidFill>
          <a:ln xmlns:a="http://schemas.openxmlformats.org/drawingml/2006/main" w="9525">
            <a:solidFill>
              <a:srgbClr val="BFD0FF"/>
            </a:solidFill>
            <a:prstDash val="solid"/>
          </a:ln>
        </p:spPr>
      </p:sp>
      <p:sp>
        <p:nvSpPr>
          <p:cNvPr id="21" name="">
            <a:extLst xmlns:a="http://schemas.openxmlformats.org/drawingml/2006/main">
              <a:ext uri="{FF2B5EF4-FFF2-40B4-BE49-F238E27FC236}">
                <a16:creationId xmlns:a16="http://schemas.microsoft.com/office/drawing/2014/main" id="{5421C5FA-BB69-42F2-9CDC-0C2A276E377F}"/>
              </a:ext>
            </a:extLst>
          </p:cNvPr>
          <p:cNvSpPr>
            <a:spLocks xmlns:a="http://schemas.openxmlformats.org/drawingml/2006/main" noGrp="1"/>
          </p:cNvSpPr>
          <p:nvPr/>
        </p:nvSpPr>
        <p:spPr>
          <a:xfrm xmlns:a="http://schemas.openxmlformats.org/drawingml/2006/main">
            <a:off x="9086850" y="4114800"/>
            <a:ext cx="495300" cy="285750"/>
          </a:xfrm>
          <a:prstGeom xmlns:a="http://schemas.openxmlformats.org/drawingml/2006/main" prst="roundRect">
            <a:avLst>
              <a:gd name="adj" fmla="val 40000"/>
            </a:avLst>
          </a:prstGeom>
          <a:solidFill xmlns:a="http://schemas.openxmlformats.org/drawingml/2006/main">
            <a:srgbClr val="155EEF"/>
          </a:solidFill>
          <a:ln xmlns:a="http://schemas.openxmlformats.org/drawingml/2006/main" w="0">
            <a:solidFill>
              <a:srgbClr val="155EEF"/>
            </a:solidFill>
            <a:prstDash val="solid"/>
          </a:ln>
        </p:spPr>
      </p:sp>
      <p:sp>
        <p:nvSpPr>
          <p:cNvPr id="22" name="">
            <a:extLst xmlns:a="http://schemas.openxmlformats.org/drawingml/2006/main">
              <a:ext uri="{FF2B5EF4-FFF2-40B4-BE49-F238E27FC236}">
                <a16:creationId xmlns:a16="http://schemas.microsoft.com/office/drawing/2014/main" id="{236F3B80-9730-48D4-9B65-87E4D202F56A}"/>
              </a:ext>
            </a:extLst>
          </p:cNvPr>
          <p:cNvSpPr>
            <a:spLocks xmlns:a="http://schemas.openxmlformats.org/drawingml/2006/main" noGrp="1"/>
          </p:cNvSpPr>
          <p:nvPr/>
        </p:nvSpPr>
        <p:spPr>
          <a:xfrm xmlns:a="http://schemas.openxmlformats.org/drawingml/2006/main">
            <a:off x="9086850" y="4533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02A43"/>
                </a:solidFill>
              </a:defRPr>
            </a:pPr>
            <a:r>
              <a:rPr sz="1500" b="1">
                <a:solidFill>
                  <a:srgbClr val="102A43"/>
                </a:solidFill>
              </a:rPr>
              <a:t>Beautiful.ai</a:t>
            </a:r>
          </a:p>
        </p:txBody>
      </p:sp>
      <p:sp>
        <p:nvSpPr>
          <p:cNvPr id="23" name="">
            <a:extLst xmlns:a="http://schemas.openxmlformats.org/drawingml/2006/main">
              <a:ext uri="{FF2B5EF4-FFF2-40B4-BE49-F238E27FC236}">
                <a16:creationId xmlns:a16="http://schemas.microsoft.com/office/drawing/2014/main" id="{0082ECD7-9B52-4848-A50F-30E6D820EE46}"/>
              </a:ext>
            </a:extLst>
          </p:cNvPr>
          <p:cNvSpPr>
            <a:spLocks xmlns:a="http://schemas.openxmlformats.org/drawingml/2006/main" noGrp="1"/>
          </p:cNvSpPr>
          <p:nvPr/>
        </p:nvSpPr>
        <p:spPr>
          <a:xfrm xmlns:a="http://schemas.openxmlformats.org/drawingml/2006/main">
            <a:off x="9086850" y="4819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b="0">
                <a:solidFill>
                  <a:srgbClr val="667085"/>
                </a:solidFill>
              </a:defRPr>
            </a:pPr>
            <a:r>
              <a:rPr sz="1050" b="0">
                <a:solidFill>
                  <a:srgbClr val="667085"/>
                </a:solidFill>
              </a:rPr>
              <a:t>デザインされたプレゼンへ</a:t>
            </a:r>
          </a:p>
        </p:txBody>
      </p:sp>
    </p:spTree>
    <p:extLst>
      <p:ext uri="{BB962C8B-B14F-4D97-AF65-F5344CB8AC3E}">
        <p14:creationId xmlns:p14="http://schemas.microsoft.com/office/powerpoint/2010/main" val="875468768"/>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236737-1653-4DD5-8149-D174AC9A36E5}"/>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FFFFFF"/>
                </a:solidFill>
              </a:defRPr>
            </a:pPr>
            <a:r>
              <a:rPr sz="1125" b="1">
                <a:solidFill>
                  <a:srgbClr val="FFFFFF"/>
                </a:solidFill>
              </a:rPr>
              <a:t>ProposalPilot</a:t>
            </a:r>
          </a:p>
        </p:txBody>
      </p:sp>
      <p:sp>
        <p:nvSpPr>
          <p:cNvPr id="2" name="">
            <a:extLst xmlns:a="http://schemas.openxmlformats.org/drawingml/2006/main">
              <a:ext uri="{FF2B5EF4-FFF2-40B4-BE49-F238E27FC236}">
                <a16:creationId xmlns:a16="http://schemas.microsoft.com/office/drawing/2014/main" id="{08F9CE53-10F1-4932-A5D1-E96E86DC585B}"/>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B7C7E6"/>
                </a:solidFill>
              </a:defRPr>
            </a:pPr>
            <a:r>
              <a:rPr sz="900" b="0">
                <a:solidFill>
                  <a:srgbClr val="B7C7E6"/>
                </a:solidFill>
              </a:rPr>
              <a:t>管理・セキュリティ</a:t>
            </a:r>
          </a:p>
        </p:txBody>
      </p:sp>
      <p:sp>
        <p:nvSpPr>
          <p:cNvPr id="3" name="">
            <a:extLst xmlns:a="http://schemas.openxmlformats.org/drawingml/2006/main">
              <a:ext uri="{FF2B5EF4-FFF2-40B4-BE49-F238E27FC236}">
                <a16:creationId xmlns:a16="http://schemas.microsoft.com/office/drawing/2014/main" id="{99893089-7E62-4F3E-93E6-F17C1721715F}"/>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4740F257-67E6-4488-9924-5B26D23BF5F4}"/>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8</a:t>
            </a:r>
          </a:p>
        </p:txBody>
      </p:sp>
      <p:sp>
        <p:nvSpPr>
          <p:cNvPr id="5" name="">
            <a:extLst xmlns:a="http://schemas.openxmlformats.org/drawingml/2006/main">
              <a:ext uri="{FF2B5EF4-FFF2-40B4-BE49-F238E27FC236}">
                <a16:creationId xmlns:a16="http://schemas.microsoft.com/office/drawing/2014/main" id="{7A0FD926-DF04-45B7-B8DF-EE284964FE53}"/>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2DE2E6"/>
                </a:solidFill>
              </a:defRPr>
            </a:pPr>
            <a:r>
              <a:rPr sz="1125" b="1">
                <a:solidFill>
                  <a:srgbClr val="2DE2E6"/>
                </a:solidFill>
              </a:rPr>
              <a:t>Admin Console</a:t>
            </a:r>
          </a:p>
        </p:txBody>
      </p:sp>
      <p:sp>
        <p:nvSpPr>
          <p:cNvPr id="6" name="">
            <a:extLst xmlns:a="http://schemas.openxmlformats.org/drawingml/2006/main">
              <a:ext uri="{FF2B5EF4-FFF2-40B4-BE49-F238E27FC236}">
                <a16:creationId xmlns:a16="http://schemas.microsoft.com/office/drawing/2014/main" id="{3D05F6B2-C11D-4FC5-A813-31C6DBD9DE9A}"/>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FFFFFF"/>
                </a:solidFill>
              </a:defRPr>
            </a:pPr>
            <a:r>
              <a:rPr sz="3600" b="1">
                <a:solidFill>
                  <a:srgbClr val="FFFFFF"/>
                </a:solidFill>
              </a:rPr>
              <a:t>管理者は利用状況と安全性を確認できます。</a:t>
            </a:r>
          </a:p>
        </p:txBody>
      </p:sp>
      <p:sp>
        <p:nvSpPr>
          <p:cNvPr id="7" name="">
            <a:extLst xmlns:a="http://schemas.openxmlformats.org/drawingml/2006/main">
              <a:ext uri="{FF2B5EF4-FFF2-40B4-BE49-F238E27FC236}">
                <a16:creationId xmlns:a16="http://schemas.microsoft.com/office/drawing/2014/main" id="{5C74AFDE-9111-494D-AFC3-F3517CAFE39B}"/>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D6E4FF"/>
                </a:solidFill>
              </a:defRPr>
            </a:pPr>
            <a:r>
              <a:rPr sz="1650" b="0">
                <a:solidFill>
                  <a:srgbClr val="D6E4FF"/>
                </a:solidFill>
              </a:rPr>
              <a:t>Role、Organization / Workspace、作成履歴、監査ログ、診断情報を管理者向けに整理します。</a:t>
            </a:r>
          </a:p>
        </p:txBody>
      </p:sp>
      <p:sp>
        <p:nvSpPr>
          <p:cNvPr id="8" name="">
            <a:extLst xmlns:a="http://schemas.openxmlformats.org/drawingml/2006/main">
              <a:ext uri="{FF2B5EF4-FFF2-40B4-BE49-F238E27FC236}">
                <a16:creationId xmlns:a16="http://schemas.microsoft.com/office/drawing/2014/main" id="{9F1E9903-F850-425D-A48E-2F6FF3390C5B}"/>
              </a:ext>
            </a:extLst>
          </p:cNvPr>
          <p:cNvSpPr>
            <a:spLocks xmlns:a="http://schemas.openxmlformats.org/drawingml/2006/main" noGrp="1"/>
          </p:cNvSpPr>
          <p:nvPr/>
        </p:nvSpPr>
        <p:spPr>
          <a:xfrm xmlns:a="http://schemas.openxmlformats.org/drawingml/2006/main">
            <a:off x="6858000" y="152400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4D23B0E5-5053-4D13-81E7-942BD684AA56}"/>
              </a:ext>
            </a:extLst>
          </p:cNvPr>
          <p:cNvSpPr>
            <a:spLocks xmlns:a="http://schemas.openxmlformats.org/drawingml/2006/main" noGrp="1"/>
          </p:cNvSpPr>
          <p:nvPr/>
        </p:nvSpPr>
        <p:spPr>
          <a:xfrm xmlns:a="http://schemas.openxmlformats.org/drawingml/2006/main">
            <a:off x="6991350" y="1581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admin / manager / member / viewer</a:t>
            </a:r>
          </a:p>
        </p:txBody>
      </p:sp>
      <p:sp>
        <p:nvSpPr>
          <p:cNvPr id="10" name="">
            <a:extLst xmlns:a="http://schemas.openxmlformats.org/drawingml/2006/main">
              <a:ext uri="{FF2B5EF4-FFF2-40B4-BE49-F238E27FC236}">
                <a16:creationId xmlns:a16="http://schemas.microsoft.com/office/drawing/2014/main" id="{00B9150F-D7FB-4B17-9447-1484D8778A85}"/>
              </a:ext>
            </a:extLst>
          </p:cNvPr>
          <p:cNvSpPr>
            <a:spLocks xmlns:a="http://schemas.openxmlformats.org/drawingml/2006/main" noGrp="1"/>
          </p:cNvSpPr>
          <p:nvPr/>
        </p:nvSpPr>
        <p:spPr>
          <a:xfrm xmlns:a="http://schemas.openxmlformats.org/drawingml/2006/main">
            <a:off x="8858250" y="152400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4414925B-F5BC-443F-BD6B-626D00879AD2}"/>
              </a:ext>
            </a:extLst>
          </p:cNvPr>
          <p:cNvSpPr>
            <a:spLocks xmlns:a="http://schemas.openxmlformats.org/drawingml/2006/main" noGrp="1"/>
          </p:cNvSpPr>
          <p:nvPr/>
        </p:nvSpPr>
        <p:spPr>
          <a:xfrm xmlns:a="http://schemas.openxmlformats.org/drawingml/2006/main">
            <a:off x="8991600" y="15811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Organization / Workspace分離</a:t>
            </a:r>
          </a:p>
        </p:txBody>
      </p:sp>
      <p:sp>
        <p:nvSpPr>
          <p:cNvPr id="12" name="">
            <a:extLst xmlns:a="http://schemas.openxmlformats.org/drawingml/2006/main">
              <a:ext uri="{FF2B5EF4-FFF2-40B4-BE49-F238E27FC236}">
                <a16:creationId xmlns:a16="http://schemas.microsoft.com/office/drawing/2014/main" id="{14C1C0FF-3DAC-41DA-AAFF-0ACB72508A98}"/>
              </a:ext>
            </a:extLst>
          </p:cNvPr>
          <p:cNvSpPr>
            <a:spLocks xmlns:a="http://schemas.openxmlformats.org/drawingml/2006/main" noGrp="1"/>
          </p:cNvSpPr>
          <p:nvPr/>
        </p:nvSpPr>
        <p:spPr>
          <a:xfrm xmlns:a="http://schemas.openxmlformats.org/drawingml/2006/main">
            <a:off x="6858000" y="215265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D3292251-B65C-479E-8EA4-F52CF276AAD0}"/>
              </a:ext>
            </a:extLst>
          </p:cNvPr>
          <p:cNvSpPr>
            <a:spLocks xmlns:a="http://schemas.openxmlformats.org/drawingml/2006/main" noGrp="1"/>
          </p:cNvSpPr>
          <p:nvPr/>
        </p:nvSpPr>
        <p:spPr>
          <a:xfrm xmlns:a="http://schemas.openxmlformats.org/drawingml/2006/main">
            <a:off x="6991350" y="22098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ユーザー管理</a:t>
            </a:r>
          </a:p>
        </p:txBody>
      </p:sp>
      <p:sp>
        <p:nvSpPr>
          <p:cNvPr id="14" name="">
            <a:extLst xmlns:a="http://schemas.openxmlformats.org/drawingml/2006/main">
              <a:ext uri="{FF2B5EF4-FFF2-40B4-BE49-F238E27FC236}">
                <a16:creationId xmlns:a16="http://schemas.microsoft.com/office/drawing/2014/main" id="{319BC6D1-55F0-414C-BC25-90359C971599}"/>
              </a:ext>
            </a:extLst>
          </p:cNvPr>
          <p:cNvSpPr>
            <a:spLocks xmlns:a="http://schemas.openxmlformats.org/drawingml/2006/main" noGrp="1"/>
          </p:cNvSpPr>
          <p:nvPr/>
        </p:nvSpPr>
        <p:spPr>
          <a:xfrm xmlns:a="http://schemas.openxmlformats.org/drawingml/2006/main">
            <a:off x="8858250" y="215265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15" name="">
            <a:extLst xmlns:a="http://schemas.openxmlformats.org/drawingml/2006/main">
              <a:ext uri="{FF2B5EF4-FFF2-40B4-BE49-F238E27FC236}">
                <a16:creationId xmlns:a16="http://schemas.microsoft.com/office/drawing/2014/main" id="{0EAFDE0B-718D-46F0-9051-BF148C72CD0B}"/>
              </a:ext>
            </a:extLst>
          </p:cNvPr>
          <p:cNvSpPr>
            <a:spLocks xmlns:a="http://schemas.openxmlformats.org/drawingml/2006/main" noGrp="1"/>
          </p:cNvSpPr>
          <p:nvPr/>
        </p:nvSpPr>
        <p:spPr>
          <a:xfrm xmlns:a="http://schemas.openxmlformats.org/drawingml/2006/main">
            <a:off x="8991600" y="22098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作成履歴</a:t>
            </a:r>
          </a:p>
        </p:txBody>
      </p:sp>
      <p:sp>
        <p:nvSpPr>
          <p:cNvPr id="16" name="">
            <a:extLst xmlns:a="http://schemas.openxmlformats.org/drawingml/2006/main">
              <a:ext uri="{FF2B5EF4-FFF2-40B4-BE49-F238E27FC236}">
                <a16:creationId xmlns:a16="http://schemas.microsoft.com/office/drawing/2014/main" id="{923F8528-C3A9-4857-A1CE-BEEF2B85BD6A}"/>
              </a:ext>
            </a:extLst>
          </p:cNvPr>
          <p:cNvSpPr>
            <a:spLocks xmlns:a="http://schemas.openxmlformats.org/drawingml/2006/main" noGrp="1"/>
          </p:cNvSpPr>
          <p:nvPr/>
        </p:nvSpPr>
        <p:spPr>
          <a:xfrm xmlns:a="http://schemas.openxmlformats.org/drawingml/2006/main">
            <a:off x="6858000" y="278130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17" name="">
            <a:extLst xmlns:a="http://schemas.openxmlformats.org/drawingml/2006/main">
              <a:ext uri="{FF2B5EF4-FFF2-40B4-BE49-F238E27FC236}">
                <a16:creationId xmlns:a16="http://schemas.microsoft.com/office/drawing/2014/main" id="{49297C24-301D-4AAE-9684-FBD5235BA9E4}"/>
              </a:ext>
            </a:extLst>
          </p:cNvPr>
          <p:cNvSpPr>
            <a:spLocks xmlns:a="http://schemas.openxmlformats.org/drawingml/2006/main" noGrp="1"/>
          </p:cNvSpPr>
          <p:nvPr/>
        </p:nvSpPr>
        <p:spPr>
          <a:xfrm xmlns:a="http://schemas.openxmlformats.org/drawingml/2006/main">
            <a:off x="6991350" y="28384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監査ログ</a:t>
            </a:r>
          </a:p>
        </p:txBody>
      </p:sp>
      <p:sp>
        <p:nvSpPr>
          <p:cNvPr id="18" name="">
            <a:extLst xmlns:a="http://schemas.openxmlformats.org/drawingml/2006/main">
              <a:ext uri="{FF2B5EF4-FFF2-40B4-BE49-F238E27FC236}">
                <a16:creationId xmlns:a16="http://schemas.microsoft.com/office/drawing/2014/main" id="{D7425DBC-939D-48D8-8DD5-137F0F1AA71F}"/>
              </a:ext>
            </a:extLst>
          </p:cNvPr>
          <p:cNvSpPr>
            <a:spLocks xmlns:a="http://schemas.openxmlformats.org/drawingml/2006/main" noGrp="1"/>
          </p:cNvSpPr>
          <p:nvPr/>
        </p:nvSpPr>
        <p:spPr>
          <a:xfrm xmlns:a="http://schemas.openxmlformats.org/drawingml/2006/main">
            <a:off x="8858250" y="2781300"/>
            <a:ext cx="1257300" cy="285750"/>
          </a:xfrm>
          <a:prstGeom xmlns:a="http://schemas.openxmlformats.org/drawingml/2006/main" prst="roundRect">
            <a:avLst>
              <a:gd name="adj" fmla="val 40000"/>
            </a:avLst>
          </a:prstGeom>
          <a:solidFill xmlns:a="http://schemas.openxmlformats.org/drawingml/2006/main">
            <a:srgbClr val="17324F"/>
          </a:solidFill>
          <a:ln xmlns:a="http://schemas.openxmlformats.org/drawingml/2006/main" w="0">
            <a:solidFill>
              <a:srgbClr val="17324F"/>
            </a:solidFill>
            <a:prstDash val="solid"/>
          </a:ln>
        </p:spPr>
      </p:sp>
      <p:sp>
        <p:nvSpPr>
          <p:cNvPr id="19" name="">
            <a:extLst xmlns:a="http://schemas.openxmlformats.org/drawingml/2006/main">
              <a:ext uri="{FF2B5EF4-FFF2-40B4-BE49-F238E27FC236}">
                <a16:creationId xmlns:a16="http://schemas.microsoft.com/office/drawing/2014/main" id="{BE8257CD-458B-4EAA-9368-37C7055313CC}"/>
              </a:ext>
            </a:extLst>
          </p:cNvPr>
          <p:cNvSpPr>
            <a:spLocks xmlns:a="http://schemas.openxmlformats.org/drawingml/2006/main" noGrp="1"/>
          </p:cNvSpPr>
          <p:nvPr/>
        </p:nvSpPr>
        <p:spPr>
          <a:xfrm xmlns:a="http://schemas.openxmlformats.org/drawingml/2006/main">
            <a:off x="8991600" y="283845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2DE2E6"/>
                </a:solidFill>
              </a:defRPr>
            </a:pPr>
            <a:r>
              <a:rPr sz="900" b="1">
                <a:solidFill>
                  <a:srgbClr val="2DE2E6"/>
                </a:solidFill>
              </a:rPr>
              <a:t>APIキー非表示</a:t>
            </a:r>
          </a:p>
        </p:txBody>
      </p:sp>
      <p:sp>
        <p:nvSpPr>
          <p:cNvPr id="20" name="">
            <a:extLst xmlns:a="http://schemas.openxmlformats.org/drawingml/2006/main">
              <a:ext uri="{FF2B5EF4-FFF2-40B4-BE49-F238E27FC236}">
                <a16:creationId xmlns:a16="http://schemas.microsoft.com/office/drawing/2014/main" id="{9B3CD918-D6D6-4873-A3D5-BA74158FE4C3}"/>
              </a:ext>
            </a:extLst>
          </p:cNvPr>
          <p:cNvSpPr>
            <a:spLocks xmlns:a="http://schemas.openxmlformats.org/drawingml/2006/main" noGrp="1"/>
          </p:cNvSpPr>
          <p:nvPr/>
        </p:nvSpPr>
        <p:spPr>
          <a:xfrm xmlns:a="http://schemas.openxmlformats.org/drawingml/2006/main">
            <a:off x="6858000" y="3409950"/>
            <a:ext cx="1257300" cy="285750"/>
          </a:xfrm>
          <a:prstGeom xmlns:a="http://schemas.openxmlformats.org/drawingml/2006/main" prst="roundRect">
            <a:avLst>
              <a:gd name="adj" fmla="val 40000"/>
            </a:avLst>
          </a:prstGeom>
          <a:solidFill xmlns:a="http://schemas.openxmlformats.org/drawingml/2006/main">
            <a:srgbClr val="FFFFFF"/>
          </a:solidFill>
          <a:ln xmlns:a="http://schemas.openxmlformats.org/drawingml/2006/main" w="0">
            <a:solidFill>
              <a:srgbClr val="FFFFFF"/>
            </a:solidFill>
            <a:prstDash val="solid"/>
          </a:ln>
        </p:spPr>
      </p:sp>
      <p:sp>
        <p:nvSpPr>
          <p:cNvPr id="21" name="">
            <a:extLst xmlns:a="http://schemas.openxmlformats.org/drawingml/2006/main">
              <a:ext uri="{FF2B5EF4-FFF2-40B4-BE49-F238E27FC236}">
                <a16:creationId xmlns:a16="http://schemas.microsoft.com/office/drawing/2014/main" id="{6CC2455B-B651-414B-8922-81AB6F5D0D94}"/>
              </a:ext>
            </a:extLst>
          </p:cNvPr>
          <p:cNvSpPr>
            <a:spLocks xmlns:a="http://schemas.openxmlformats.org/drawingml/2006/main" noGrp="1"/>
          </p:cNvSpPr>
          <p:nvPr/>
        </p:nvSpPr>
        <p:spPr>
          <a:xfrm xmlns:a="http://schemas.openxmlformats.org/drawingml/2006/main">
            <a:off x="6991350" y="3467100"/>
            <a:ext cx="990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55EEF"/>
                </a:solidFill>
              </a:defRPr>
            </a:pPr>
            <a:r>
              <a:rPr sz="900" b="1">
                <a:solidFill>
                  <a:srgbClr val="155EEF"/>
                </a:solidFill>
              </a:rPr>
              <a:t>Beautiful.ai診断</a:t>
            </a:r>
          </a:p>
        </p:txBody>
      </p:sp>
    </p:spTree>
    <p:extLst>
      <p:ext uri="{BB962C8B-B14F-4D97-AF65-F5344CB8AC3E}">
        <p14:creationId xmlns:p14="http://schemas.microsoft.com/office/powerpoint/2010/main" val="102353630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848493-339F-4AB5-AC27-B9359968F278}"/>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0BDAC1BF-9286-4D02-91F7-8C65CAE26F93}"/>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利用シーン</a:t>
            </a:r>
          </a:p>
        </p:txBody>
      </p:sp>
      <p:sp>
        <p:nvSpPr>
          <p:cNvPr id="3" name="">
            <a:extLst xmlns:a="http://schemas.openxmlformats.org/drawingml/2006/main">
              <a:ext uri="{FF2B5EF4-FFF2-40B4-BE49-F238E27FC236}">
                <a16:creationId xmlns:a16="http://schemas.microsoft.com/office/drawing/2014/main" id="{7404DF23-B1C3-4CB9-939A-806A50D034C3}"/>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A09E6E42-A5F8-4A52-98C3-F45E47C254DF}"/>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9</a:t>
            </a:r>
          </a:p>
        </p:txBody>
      </p:sp>
      <p:sp>
        <p:nvSpPr>
          <p:cNvPr id="5" name="">
            <a:extLst xmlns:a="http://schemas.openxmlformats.org/drawingml/2006/main">
              <a:ext uri="{FF2B5EF4-FFF2-40B4-BE49-F238E27FC236}">
                <a16:creationId xmlns:a16="http://schemas.microsoft.com/office/drawing/2014/main" id="{DE61790E-BD76-4929-B0AE-8D0C36472B2E}"/>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Use Cases</a:t>
            </a:r>
          </a:p>
        </p:txBody>
      </p:sp>
      <p:sp>
        <p:nvSpPr>
          <p:cNvPr id="6" name="">
            <a:extLst xmlns:a="http://schemas.openxmlformats.org/drawingml/2006/main">
              <a:ext uri="{FF2B5EF4-FFF2-40B4-BE49-F238E27FC236}">
                <a16:creationId xmlns:a16="http://schemas.microsoft.com/office/drawing/2014/main" id="{830C97BE-3AC3-4303-91A1-56B086C9954D}"/>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提案資料が多い営業チームから始めやすい製品です。</a:t>
            </a:r>
          </a:p>
        </p:txBody>
      </p:sp>
      <p:sp>
        <p:nvSpPr>
          <p:cNvPr id="7" name="">
            <a:extLst xmlns:a="http://schemas.openxmlformats.org/drawingml/2006/main">
              <a:ext uri="{FF2B5EF4-FFF2-40B4-BE49-F238E27FC236}">
                <a16:creationId xmlns:a16="http://schemas.microsoft.com/office/drawing/2014/main" id="{0F72DF7E-0ABB-4AA7-A8FD-2CCFBB0BD212}"/>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Web制作、システム開発、DX支援、広告・クリエイティブ、営業代行などで活用を想定しています。</a:t>
            </a:r>
          </a:p>
        </p:txBody>
      </p:sp>
      <p:sp>
        <p:nvSpPr>
          <p:cNvPr id="8" name="">
            <a:extLst xmlns:a="http://schemas.openxmlformats.org/drawingml/2006/main">
              <a:ext uri="{FF2B5EF4-FFF2-40B4-BE49-F238E27FC236}">
                <a16:creationId xmlns:a16="http://schemas.microsoft.com/office/drawing/2014/main" id="{4410700F-D6FB-4408-BEEE-6836023CD472}"/>
              </a:ext>
            </a:extLst>
          </p:cNvPr>
          <p:cNvSpPr>
            <a:spLocks xmlns:a="http://schemas.openxmlformats.org/drawingml/2006/main" noGrp="1"/>
          </p:cNvSpPr>
          <p:nvPr/>
        </p:nvSpPr>
        <p:spPr>
          <a:xfrm xmlns:a="http://schemas.openxmlformats.org/drawingml/2006/main">
            <a:off x="857250" y="3905250"/>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A0519E72-49B7-4257-9EA7-ACF08F54826F}"/>
              </a:ext>
            </a:extLst>
          </p:cNvPr>
          <p:cNvSpPr>
            <a:spLocks xmlns:a="http://schemas.openxmlformats.org/drawingml/2006/main" noGrp="1"/>
          </p:cNvSpPr>
          <p:nvPr/>
        </p:nvSpPr>
        <p:spPr>
          <a:xfrm xmlns:a="http://schemas.openxmlformats.org/drawingml/2006/main">
            <a:off x="1085850" y="40767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Web制作会社</a:t>
            </a:r>
          </a:p>
        </p:txBody>
      </p:sp>
      <p:sp>
        <p:nvSpPr>
          <p:cNvPr id="10" name="">
            <a:extLst xmlns:a="http://schemas.openxmlformats.org/drawingml/2006/main">
              <a:ext uri="{FF2B5EF4-FFF2-40B4-BE49-F238E27FC236}">
                <a16:creationId xmlns:a16="http://schemas.microsoft.com/office/drawing/2014/main" id="{6AD30E2E-9E3D-457E-8E7A-12EA848946E8}"/>
              </a:ext>
            </a:extLst>
          </p:cNvPr>
          <p:cNvSpPr>
            <a:spLocks xmlns:a="http://schemas.openxmlformats.org/drawingml/2006/main" noGrp="1"/>
          </p:cNvSpPr>
          <p:nvPr/>
        </p:nvSpPr>
        <p:spPr>
          <a:xfrm xmlns:a="http://schemas.openxmlformats.org/drawingml/2006/main">
            <a:off x="4238625" y="3905250"/>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11" name="">
            <a:extLst xmlns:a="http://schemas.openxmlformats.org/drawingml/2006/main">
              <a:ext uri="{FF2B5EF4-FFF2-40B4-BE49-F238E27FC236}">
                <a16:creationId xmlns:a16="http://schemas.microsoft.com/office/drawing/2014/main" id="{B6322AB5-DCC3-4ECE-8F15-C82399D5897B}"/>
              </a:ext>
            </a:extLst>
          </p:cNvPr>
          <p:cNvSpPr>
            <a:spLocks xmlns:a="http://schemas.openxmlformats.org/drawingml/2006/main" noGrp="1"/>
          </p:cNvSpPr>
          <p:nvPr/>
        </p:nvSpPr>
        <p:spPr>
          <a:xfrm xmlns:a="http://schemas.openxmlformats.org/drawingml/2006/main">
            <a:off x="4467225" y="40767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システム開発会社</a:t>
            </a:r>
          </a:p>
        </p:txBody>
      </p:sp>
      <p:sp>
        <p:nvSpPr>
          <p:cNvPr id="12" name="">
            <a:extLst xmlns:a="http://schemas.openxmlformats.org/drawingml/2006/main">
              <a:ext uri="{FF2B5EF4-FFF2-40B4-BE49-F238E27FC236}">
                <a16:creationId xmlns:a16="http://schemas.microsoft.com/office/drawing/2014/main" id="{7AA96EAC-3A53-4624-A916-F991B31235DF}"/>
              </a:ext>
            </a:extLst>
          </p:cNvPr>
          <p:cNvSpPr>
            <a:spLocks xmlns:a="http://schemas.openxmlformats.org/drawingml/2006/main" noGrp="1"/>
          </p:cNvSpPr>
          <p:nvPr/>
        </p:nvSpPr>
        <p:spPr>
          <a:xfrm xmlns:a="http://schemas.openxmlformats.org/drawingml/2006/main">
            <a:off x="7620000" y="3905250"/>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13" name="">
            <a:extLst xmlns:a="http://schemas.openxmlformats.org/drawingml/2006/main">
              <a:ext uri="{FF2B5EF4-FFF2-40B4-BE49-F238E27FC236}">
                <a16:creationId xmlns:a16="http://schemas.microsoft.com/office/drawing/2014/main" id="{B1D156F5-FDA1-4128-8216-90E13E44CE17}"/>
              </a:ext>
            </a:extLst>
          </p:cNvPr>
          <p:cNvSpPr>
            <a:spLocks xmlns:a="http://schemas.openxmlformats.org/drawingml/2006/main" noGrp="1"/>
          </p:cNvSpPr>
          <p:nvPr/>
        </p:nvSpPr>
        <p:spPr>
          <a:xfrm xmlns:a="http://schemas.openxmlformats.org/drawingml/2006/main">
            <a:off x="7848600" y="40767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DX支援会社</a:t>
            </a:r>
          </a:p>
        </p:txBody>
      </p:sp>
      <p:sp>
        <p:nvSpPr>
          <p:cNvPr id="14" name="">
            <a:extLst xmlns:a="http://schemas.openxmlformats.org/drawingml/2006/main">
              <a:ext uri="{FF2B5EF4-FFF2-40B4-BE49-F238E27FC236}">
                <a16:creationId xmlns:a16="http://schemas.microsoft.com/office/drawing/2014/main" id="{4B11D6FC-DED4-42B5-9A05-327E1F81D6FF}"/>
              </a:ext>
            </a:extLst>
          </p:cNvPr>
          <p:cNvSpPr>
            <a:spLocks xmlns:a="http://schemas.openxmlformats.org/drawingml/2006/main" noGrp="1"/>
          </p:cNvSpPr>
          <p:nvPr/>
        </p:nvSpPr>
        <p:spPr>
          <a:xfrm xmlns:a="http://schemas.openxmlformats.org/drawingml/2006/main">
            <a:off x="857250" y="4714875"/>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15" name="">
            <a:extLst xmlns:a="http://schemas.openxmlformats.org/drawingml/2006/main">
              <a:ext uri="{FF2B5EF4-FFF2-40B4-BE49-F238E27FC236}">
                <a16:creationId xmlns:a16="http://schemas.microsoft.com/office/drawing/2014/main" id="{6E03CE66-35E4-4E84-9FB0-585EA3E76930}"/>
              </a:ext>
            </a:extLst>
          </p:cNvPr>
          <p:cNvSpPr>
            <a:spLocks xmlns:a="http://schemas.openxmlformats.org/drawingml/2006/main" noGrp="1"/>
          </p:cNvSpPr>
          <p:nvPr/>
        </p:nvSpPr>
        <p:spPr>
          <a:xfrm xmlns:a="http://schemas.openxmlformats.org/drawingml/2006/main">
            <a:off x="1085850" y="4886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広告・クリエイティブ会社</a:t>
            </a:r>
          </a:p>
        </p:txBody>
      </p:sp>
      <p:sp>
        <p:nvSpPr>
          <p:cNvPr id="16" name="">
            <a:extLst xmlns:a="http://schemas.openxmlformats.org/drawingml/2006/main">
              <a:ext uri="{FF2B5EF4-FFF2-40B4-BE49-F238E27FC236}">
                <a16:creationId xmlns:a16="http://schemas.microsoft.com/office/drawing/2014/main" id="{477583D3-D29E-431F-8DE2-91B1962ABDD0}"/>
              </a:ext>
            </a:extLst>
          </p:cNvPr>
          <p:cNvSpPr>
            <a:spLocks xmlns:a="http://schemas.openxmlformats.org/drawingml/2006/main" noGrp="1"/>
          </p:cNvSpPr>
          <p:nvPr/>
        </p:nvSpPr>
        <p:spPr>
          <a:xfrm xmlns:a="http://schemas.openxmlformats.org/drawingml/2006/main">
            <a:off x="4238625" y="4714875"/>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17" name="">
            <a:extLst xmlns:a="http://schemas.openxmlformats.org/drawingml/2006/main">
              <a:ext uri="{FF2B5EF4-FFF2-40B4-BE49-F238E27FC236}">
                <a16:creationId xmlns:a16="http://schemas.microsoft.com/office/drawing/2014/main" id="{CE014C39-2247-44AB-ACB6-3304F60E5448}"/>
              </a:ext>
            </a:extLst>
          </p:cNvPr>
          <p:cNvSpPr>
            <a:spLocks xmlns:a="http://schemas.openxmlformats.org/drawingml/2006/main" noGrp="1"/>
          </p:cNvSpPr>
          <p:nvPr/>
        </p:nvSpPr>
        <p:spPr>
          <a:xfrm xmlns:a="http://schemas.openxmlformats.org/drawingml/2006/main">
            <a:off x="4467225" y="4886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営業代行</a:t>
            </a:r>
          </a:p>
        </p:txBody>
      </p:sp>
      <p:sp>
        <p:nvSpPr>
          <p:cNvPr id="18" name="">
            <a:extLst xmlns:a="http://schemas.openxmlformats.org/drawingml/2006/main">
              <a:ext uri="{FF2B5EF4-FFF2-40B4-BE49-F238E27FC236}">
                <a16:creationId xmlns:a16="http://schemas.microsoft.com/office/drawing/2014/main" id="{62FD72FF-7655-462D-BC89-3CA1E1DCF93B}"/>
              </a:ext>
            </a:extLst>
          </p:cNvPr>
          <p:cNvSpPr>
            <a:spLocks xmlns:a="http://schemas.openxmlformats.org/drawingml/2006/main" noGrp="1"/>
          </p:cNvSpPr>
          <p:nvPr/>
        </p:nvSpPr>
        <p:spPr>
          <a:xfrm xmlns:a="http://schemas.openxmlformats.org/drawingml/2006/main">
            <a:off x="7620000" y="4714875"/>
            <a:ext cx="2857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9525">
            <a:solidFill>
              <a:srgbClr val="E4E7EC"/>
            </a:solidFill>
            <a:prstDash val="solid"/>
          </a:ln>
        </p:spPr>
      </p:sp>
      <p:sp>
        <p:nvSpPr>
          <p:cNvPr id="19" name="">
            <a:extLst xmlns:a="http://schemas.openxmlformats.org/drawingml/2006/main">
              <a:ext uri="{FF2B5EF4-FFF2-40B4-BE49-F238E27FC236}">
                <a16:creationId xmlns:a16="http://schemas.microsoft.com/office/drawing/2014/main" id="{E03D3E79-2497-4B7F-8E82-D6A24A83B31F}"/>
              </a:ext>
            </a:extLst>
          </p:cNvPr>
          <p:cNvSpPr>
            <a:spLocks xmlns:a="http://schemas.openxmlformats.org/drawingml/2006/main" noGrp="1"/>
          </p:cNvSpPr>
          <p:nvPr/>
        </p:nvSpPr>
        <p:spPr>
          <a:xfrm xmlns:a="http://schemas.openxmlformats.org/drawingml/2006/main">
            <a:off x="7848600" y="4886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D2939"/>
                </a:solidFill>
              </a:defRPr>
            </a:pPr>
            <a:r>
              <a:rPr sz="1500" b="1">
                <a:solidFill>
                  <a:srgbClr val="1D2939"/>
                </a:solidFill>
              </a:rPr>
              <a:t>IT企業の営業部門</a:t>
            </a:r>
          </a:p>
        </p:txBody>
      </p:sp>
    </p:spTree>
    <p:extLst>
      <p:ext uri="{BB962C8B-B14F-4D97-AF65-F5344CB8AC3E}">
        <p14:creationId xmlns:p14="http://schemas.microsoft.com/office/powerpoint/2010/main" val="6012478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CCBE1B-7AC4-4776-AEC7-DECA49BF440D}"/>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9D5BE4DF-1A5C-42FD-8F40-D28755EC4F33}"/>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導入イメージ</a:t>
            </a:r>
          </a:p>
        </p:txBody>
      </p:sp>
      <p:sp>
        <p:nvSpPr>
          <p:cNvPr id="3" name="">
            <a:extLst xmlns:a="http://schemas.openxmlformats.org/drawingml/2006/main">
              <a:ext uri="{FF2B5EF4-FFF2-40B4-BE49-F238E27FC236}">
                <a16:creationId xmlns:a16="http://schemas.microsoft.com/office/drawing/2014/main" id="{E0DED375-5AE9-47E4-9174-8055DF35B3B7}"/>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3D588B47-326E-41EB-BE3C-91C48D7CDDDB}"/>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10</a:t>
            </a:r>
          </a:p>
        </p:txBody>
      </p:sp>
      <p:sp>
        <p:nvSpPr>
          <p:cNvPr id="5" name="">
            <a:extLst xmlns:a="http://schemas.openxmlformats.org/drawingml/2006/main">
              <a:ext uri="{FF2B5EF4-FFF2-40B4-BE49-F238E27FC236}">
                <a16:creationId xmlns:a16="http://schemas.microsoft.com/office/drawing/2014/main" id="{01A04BBC-654B-4758-AC7E-700A5618DA64}"/>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Rollout</a:t>
            </a:r>
          </a:p>
        </p:txBody>
      </p:sp>
      <p:sp>
        <p:nvSpPr>
          <p:cNvPr id="6" name="">
            <a:extLst xmlns:a="http://schemas.openxmlformats.org/drawingml/2006/main">
              <a:ext uri="{FF2B5EF4-FFF2-40B4-BE49-F238E27FC236}">
                <a16:creationId xmlns:a16="http://schemas.microsoft.com/office/drawing/2014/main" id="{2E1FF57A-7F63-491F-B2CE-38EC3574C45D}"/>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小さく試し、運用に合わせて広げます。</a:t>
            </a:r>
          </a:p>
        </p:txBody>
      </p:sp>
      <p:sp>
        <p:nvSpPr>
          <p:cNvPr id="7" name="">
            <a:extLst xmlns:a="http://schemas.openxmlformats.org/drawingml/2006/main">
              <a:ext uri="{FF2B5EF4-FFF2-40B4-BE49-F238E27FC236}">
                <a16:creationId xmlns:a16="http://schemas.microsoft.com/office/drawing/2014/main" id="{95A7A459-2C57-4602-B0C2-BD4911ADC47E}"/>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ヒアリング、環境設定、管理者設定、利用者登録、サンプル案件確認、試験利用、本運用の順に進めます。</a:t>
            </a:r>
          </a:p>
        </p:txBody>
      </p:sp>
      <p:sp>
        <p:nvSpPr>
          <p:cNvPr id="8" name="">
            <a:extLst xmlns:a="http://schemas.openxmlformats.org/drawingml/2006/main">
              <a:ext uri="{FF2B5EF4-FFF2-40B4-BE49-F238E27FC236}">
                <a16:creationId xmlns:a16="http://schemas.microsoft.com/office/drawing/2014/main" id="{D5B4DA85-8F49-4E73-A305-3B9133E68AC8}"/>
              </a:ext>
            </a:extLst>
          </p:cNvPr>
          <p:cNvSpPr>
            <a:spLocks xmlns:a="http://schemas.openxmlformats.org/drawingml/2006/main" noGrp="1"/>
          </p:cNvSpPr>
          <p:nvPr/>
        </p:nvSpPr>
        <p:spPr>
          <a:xfrm xmlns:a="http://schemas.openxmlformats.org/drawingml/2006/main">
            <a:off x="876300" y="4095750"/>
            <a:ext cx="476250" cy="4762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9" name="">
            <a:extLst xmlns:a="http://schemas.openxmlformats.org/drawingml/2006/main">
              <a:ext uri="{FF2B5EF4-FFF2-40B4-BE49-F238E27FC236}">
                <a16:creationId xmlns:a16="http://schemas.microsoft.com/office/drawing/2014/main" id="{BA592013-31BE-444B-A2C9-8226545DC74C}"/>
              </a:ext>
            </a:extLst>
          </p:cNvPr>
          <p:cNvSpPr>
            <a:spLocks xmlns:a="http://schemas.openxmlformats.org/drawingml/2006/main" noGrp="1"/>
          </p:cNvSpPr>
          <p:nvPr/>
        </p:nvSpPr>
        <p:spPr>
          <a:xfrm xmlns:a="http://schemas.openxmlformats.org/drawingml/2006/main">
            <a:off x="87630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10" name="">
            <a:extLst xmlns:a="http://schemas.openxmlformats.org/drawingml/2006/main">
              <a:ext uri="{FF2B5EF4-FFF2-40B4-BE49-F238E27FC236}">
                <a16:creationId xmlns:a16="http://schemas.microsoft.com/office/drawing/2014/main" id="{27A43DA4-D85D-4B7F-8A57-CEE27DA4E51D}"/>
              </a:ext>
            </a:extLst>
          </p:cNvPr>
          <p:cNvSpPr>
            <a:spLocks xmlns:a="http://schemas.openxmlformats.org/drawingml/2006/main" noGrp="1"/>
          </p:cNvSpPr>
          <p:nvPr/>
        </p:nvSpPr>
        <p:spPr>
          <a:xfrm xmlns:a="http://schemas.openxmlformats.org/drawingml/2006/main">
            <a:off x="57150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ヒアリング</a:t>
            </a:r>
          </a:p>
        </p:txBody>
      </p:sp>
      <p:sp>
        <p:nvSpPr>
          <p:cNvPr id="11" name="">
            <a:extLst xmlns:a="http://schemas.openxmlformats.org/drawingml/2006/main">
              <a:ext uri="{FF2B5EF4-FFF2-40B4-BE49-F238E27FC236}">
                <a16:creationId xmlns:a16="http://schemas.microsoft.com/office/drawing/2014/main" id="{521B59E7-1491-4D48-BC3E-78A4A87E6E35}"/>
              </a:ext>
            </a:extLst>
          </p:cNvPr>
          <p:cNvSpPr>
            <a:spLocks xmlns:a="http://schemas.openxmlformats.org/drawingml/2006/main" noGrp="1"/>
          </p:cNvSpPr>
          <p:nvPr/>
        </p:nvSpPr>
        <p:spPr>
          <a:xfrm xmlns:a="http://schemas.openxmlformats.org/drawingml/2006/main">
            <a:off x="142875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12" name="">
            <a:extLst xmlns:a="http://schemas.openxmlformats.org/drawingml/2006/main">
              <a:ext uri="{FF2B5EF4-FFF2-40B4-BE49-F238E27FC236}">
                <a16:creationId xmlns:a16="http://schemas.microsoft.com/office/drawing/2014/main" id="{97CB3C75-81FC-49BF-A814-1670352DD551}"/>
              </a:ext>
            </a:extLst>
          </p:cNvPr>
          <p:cNvSpPr>
            <a:spLocks xmlns:a="http://schemas.openxmlformats.org/drawingml/2006/main" noGrp="1"/>
          </p:cNvSpPr>
          <p:nvPr/>
        </p:nvSpPr>
        <p:spPr>
          <a:xfrm xmlns:a="http://schemas.openxmlformats.org/drawingml/2006/main">
            <a:off x="2381250" y="4095750"/>
            <a:ext cx="476250" cy="4762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13" name="">
            <a:extLst xmlns:a="http://schemas.openxmlformats.org/drawingml/2006/main">
              <a:ext uri="{FF2B5EF4-FFF2-40B4-BE49-F238E27FC236}">
                <a16:creationId xmlns:a16="http://schemas.microsoft.com/office/drawing/2014/main" id="{963136F5-9479-4ECA-99F3-EB2565B8A0D2}"/>
              </a:ext>
            </a:extLst>
          </p:cNvPr>
          <p:cNvSpPr>
            <a:spLocks xmlns:a="http://schemas.openxmlformats.org/drawingml/2006/main" noGrp="1"/>
          </p:cNvSpPr>
          <p:nvPr/>
        </p:nvSpPr>
        <p:spPr>
          <a:xfrm xmlns:a="http://schemas.openxmlformats.org/drawingml/2006/main">
            <a:off x="238125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4" name="">
            <a:extLst xmlns:a="http://schemas.openxmlformats.org/drawingml/2006/main">
              <a:ext uri="{FF2B5EF4-FFF2-40B4-BE49-F238E27FC236}">
                <a16:creationId xmlns:a16="http://schemas.microsoft.com/office/drawing/2014/main" id="{A71E2127-EA66-413C-8A80-0096A6E2F1F3}"/>
              </a:ext>
            </a:extLst>
          </p:cNvPr>
          <p:cNvSpPr>
            <a:spLocks xmlns:a="http://schemas.openxmlformats.org/drawingml/2006/main" noGrp="1"/>
          </p:cNvSpPr>
          <p:nvPr/>
        </p:nvSpPr>
        <p:spPr>
          <a:xfrm xmlns:a="http://schemas.openxmlformats.org/drawingml/2006/main">
            <a:off x="207645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環境設定</a:t>
            </a:r>
          </a:p>
        </p:txBody>
      </p:sp>
      <p:sp>
        <p:nvSpPr>
          <p:cNvPr id="15" name="">
            <a:extLst xmlns:a="http://schemas.openxmlformats.org/drawingml/2006/main">
              <a:ext uri="{FF2B5EF4-FFF2-40B4-BE49-F238E27FC236}">
                <a16:creationId xmlns:a16="http://schemas.microsoft.com/office/drawing/2014/main" id="{6D41BC99-5107-4632-A47A-A34401B93FB6}"/>
              </a:ext>
            </a:extLst>
          </p:cNvPr>
          <p:cNvSpPr>
            <a:spLocks xmlns:a="http://schemas.openxmlformats.org/drawingml/2006/main" noGrp="1"/>
          </p:cNvSpPr>
          <p:nvPr/>
        </p:nvSpPr>
        <p:spPr>
          <a:xfrm xmlns:a="http://schemas.openxmlformats.org/drawingml/2006/main">
            <a:off x="293370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16" name="">
            <a:extLst xmlns:a="http://schemas.openxmlformats.org/drawingml/2006/main">
              <a:ext uri="{FF2B5EF4-FFF2-40B4-BE49-F238E27FC236}">
                <a16:creationId xmlns:a16="http://schemas.microsoft.com/office/drawing/2014/main" id="{EC9B84E6-26A3-4836-ABBE-21FA36B5B94B}"/>
              </a:ext>
            </a:extLst>
          </p:cNvPr>
          <p:cNvSpPr>
            <a:spLocks xmlns:a="http://schemas.openxmlformats.org/drawingml/2006/main" noGrp="1"/>
          </p:cNvSpPr>
          <p:nvPr/>
        </p:nvSpPr>
        <p:spPr>
          <a:xfrm xmlns:a="http://schemas.openxmlformats.org/drawingml/2006/main">
            <a:off x="3886200" y="4095750"/>
            <a:ext cx="476250" cy="4762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17" name="">
            <a:extLst xmlns:a="http://schemas.openxmlformats.org/drawingml/2006/main">
              <a:ext uri="{FF2B5EF4-FFF2-40B4-BE49-F238E27FC236}">
                <a16:creationId xmlns:a16="http://schemas.microsoft.com/office/drawing/2014/main" id="{231BFDDA-D77D-4F5F-9110-C54288E1CCD1}"/>
              </a:ext>
            </a:extLst>
          </p:cNvPr>
          <p:cNvSpPr>
            <a:spLocks xmlns:a="http://schemas.openxmlformats.org/drawingml/2006/main" noGrp="1"/>
          </p:cNvSpPr>
          <p:nvPr/>
        </p:nvSpPr>
        <p:spPr>
          <a:xfrm xmlns:a="http://schemas.openxmlformats.org/drawingml/2006/main">
            <a:off x="388620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18" name="">
            <a:extLst xmlns:a="http://schemas.openxmlformats.org/drawingml/2006/main">
              <a:ext uri="{FF2B5EF4-FFF2-40B4-BE49-F238E27FC236}">
                <a16:creationId xmlns:a16="http://schemas.microsoft.com/office/drawing/2014/main" id="{64256040-C757-4BA4-8ECF-1BE95348351E}"/>
              </a:ext>
            </a:extLst>
          </p:cNvPr>
          <p:cNvSpPr>
            <a:spLocks xmlns:a="http://schemas.openxmlformats.org/drawingml/2006/main" noGrp="1"/>
          </p:cNvSpPr>
          <p:nvPr/>
        </p:nvSpPr>
        <p:spPr>
          <a:xfrm xmlns:a="http://schemas.openxmlformats.org/drawingml/2006/main">
            <a:off x="358140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管理者設定</a:t>
            </a:r>
          </a:p>
        </p:txBody>
      </p:sp>
      <p:sp>
        <p:nvSpPr>
          <p:cNvPr id="19" name="">
            <a:extLst xmlns:a="http://schemas.openxmlformats.org/drawingml/2006/main">
              <a:ext uri="{FF2B5EF4-FFF2-40B4-BE49-F238E27FC236}">
                <a16:creationId xmlns:a16="http://schemas.microsoft.com/office/drawing/2014/main" id="{8EFB67CE-C5CF-4D89-9504-106060BF2C63}"/>
              </a:ext>
            </a:extLst>
          </p:cNvPr>
          <p:cNvSpPr>
            <a:spLocks xmlns:a="http://schemas.openxmlformats.org/drawingml/2006/main" noGrp="1"/>
          </p:cNvSpPr>
          <p:nvPr/>
        </p:nvSpPr>
        <p:spPr>
          <a:xfrm xmlns:a="http://schemas.openxmlformats.org/drawingml/2006/main">
            <a:off x="443865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20" name="">
            <a:extLst xmlns:a="http://schemas.openxmlformats.org/drawingml/2006/main">
              <a:ext uri="{FF2B5EF4-FFF2-40B4-BE49-F238E27FC236}">
                <a16:creationId xmlns:a16="http://schemas.microsoft.com/office/drawing/2014/main" id="{1ABA7C9C-125B-4E2D-8891-15454E1D8E46}"/>
              </a:ext>
            </a:extLst>
          </p:cNvPr>
          <p:cNvSpPr>
            <a:spLocks xmlns:a="http://schemas.openxmlformats.org/drawingml/2006/main" noGrp="1"/>
          </p:cNvSpPr>
          <p:nvPr/>
        </p:nvSpPr>
        <p:spPr>
          <a:xfrm xmlns:a="http://schemas.openxmlformats.org/drawingml/2006/main">
            <a:off x="5391150" y="4095750"/>
            <a:ext cx="476250" cy="4762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1" name="">
            <a:extLst xmlns:a="http://schemas.openxmlformats.org/drawingml/2006/main">
              <a:ext uri="{FF2B5EF4-FFF2-40B4-BE49-F238E27FC236}">
                <a16:creationId xmlns:a16="http://schemas.microsoft.com/office/drawing/2014/main" id="{66397DFE-E19B-4A95-A075-09F9123DBB9E}"/>
              </a:ext>
            </a:extLst>
          </p:cNvPr>
          <p:cNvSpPr>
            <a:spLocks xmlns:a="http://schemas.openxmlformats.org/drawingml/2006/main" noGrp="1"/>
          </p:cNvSpPr>
          <p:nvPr/>
        </p:nvSpPr>
        <p:spPr>
          <a:xfrm xmlns:a="http://schemas.openxmlformats.org/drawingml/2006/main">
            <a:off x="539115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22" name="">
            <a:extLst xmlns:a="http://schemas.openxmlformats.org/drawingml/2006/main">
              <a:ext uri="{FF2B5EF4-FFF2-40B4-BE49-F238E27FC236}">
                <a16:creationId xmlns:a16="http://schemas.microsoft.com/office/drawing/2014/main" id="{DA439A29-8A78-455B-831B-6051A848D607}"/>
              </a:ext>
            </a:extLst>
          </p:cNvPr>
          <p:cNvSpPr>
            <a:spLocks xmlns:a="http://schemas.openxmlformats.org/drawingml/2006/main" noGrp="1"/>
          </p:cNvSpPr>
          <p:nvPr/>
        </p:nvSpPr>
        <p:spPr>
          <a:xfrm xmlns:a="http://schemas.openxmlformats.org/drawingml/2006/main">
            <a:off x="508635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利用者登録</a:t>
            </a:r>
          </a:p>
        </p:txBody>
      </p:sp>
      <p:sp>
        <p:nvSpPr>
          <p:cNvPr id="23" name="">
            <a:extLst xmlns:a="http://schemas.openxmlformats.org/drawingml/2006/main">
              <a:ext uri="{FF2B5EF4-FFF2-40B4-BE49-F238E27FC236}">
                <a16:creationId xmlns:a16="http://schemas.microsoft.com/office/drawing/2014/main" id="{F68B5EF8-A7AB-44E7-AA82-5CD89A68FE58}"/>
              </a:ext>
            </a:extLst>
          </p:cNvPr>
          <p:cNvSpPr>
            <a:spLocks xmlns:a="http://schemas.openxmlformats.org/drawingml/2006/main" noGrp="1"/>
          </p:cNvSpPr>
          <p:nvPr/>
        </p:nvSpPr>
        <p:spPr>
          <a:xfrm xmlns:a="http://schemas.openxmlformats.org/drawingml/2006/main">
            <a:off x="594360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24" name="">
            <a:extLst xmlns:a="http://schemas.openxmlformats.org/drawingml/2006/main">
              <a:ext uri="{FF2B5EF4-FFF2-40B4-BE49-F238E27FC236}">
                <a16:creationId xmlns:a16="http://schemas.microsoft.com/office/drawing/2014/main" id="{430C0E3A-0188-447E-9D31-1216018556A0}"/>
              </a:ext>
            </a:extLst>
          </p:cNvPr>
          <p:cNvSpPr>
            <a:spLocks xmlns:a="http://schemas.openxmlformats.org/drawingml/2006/main" noGrp="1"/>
          </p:cNvSpPr>
          <p:nvPr/>
        </p:nvSpPr>
        <p:spPr>
          <a:xfrm xmlns:a="http://schemas.openxmlformats.org/drawingml/2006/main">
            <a:off x="6896100" y="4095750"/>
            <a:ext cx="476250" cy="476250"/>
          </a:xfrm>
          <a:prstGeom xmlns:a="http://schemas.openxmlformats.org/drawingml/2006/main" prst="ellipse">
            <a:avLst/>
          </a:prstGeom>
          <a:solidFill xmlns:a="http://schemas.openxmlformats.org/drawingml/2006/main">
            <a:srgbClr val="155EEF"/>
          </a:solidFill>
          <a:ln xmlns:a="http://schemas.openxmlformats.org/drawingml/2006/main" w="0">
            <a:solidFill>
              <a:srgbClr val="155EEF"/>
            </a:solidFill>
            <a:prstDash val="solid"/>
          </a:ln>
        </p:spPr>
      </p:sp>
      <p:sp>
        <p:nvSpPr>
          <p:cNvPr id="25" name="">
            <a:extLst xmlns:a="http://schemas.openxmlformats.org/drawingml/2006/main">
              <a:ext uri="{FF2B5EF4-FFF2-40B4-BE49-F238E27FC236}">
                <a16:creationId xmlns:a16="http://schemas.microsoft.com/office/drawing/2014/main" id="{C6C127CD-D322-4909-92D8-F85922427B07}"/>
              </a:ext>
            </a:extLst>
          </p:cNvPr>
          <p:cNvSpPr>
            <a:spLocks xmlns:a="http://schemas.openxmlformats.org/drawingml/2006/main" noGrp="1"/>
          </p:cNvSpPr>
          <p:nvPr/>
        </p:nvSpPr>
        <p:spPr>
          <a:xfrm xmlns:a="http://schemas.openxmlformats.org/drawingml/2006/main">
            <a:off x="689610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5</a:t>
            </a:r>
          </a:p>
        </p:txBody>
      </p:sp>
      <p:sp>
        <p:nvSpPr>
          <p:cNvPr id="26" name="">
            <a:extLst xmlns:a="http://schemas.openxmlformats.org/drawingml/2006/main">
              <a:ext uri="{FF2B5EF4-FFF2-40B4-BE49-F238E27FC236}">
                <a16:creationId xmlns:a16="http://schemas.microsoft.com/office/drawing/2014/main" id="{49F4DA61-ED11-4DC0-A2AC-338EE20C6CE1}"/>
              </a:ext>
            </a:extLst>
          </p:cNvPr>
          <p:cNvSpPr>
            <a:spLocks xmlns:a="http://schemas.openxmlformats.org/drawingml/2006/main" noGrp="1"/>
          </p:cNvSpPr>
          <p:nvPr/>
        </p:nvSpPr>
        <p:spPr>
          <a:xfrm xmlns:a="http://schemas.openxmlformats.org/drawingml/2006/main">
            <a:off x="659130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サンプル案件確認</a:t>
            </a:r>
          </a:p>
        </p:txBody>
      </p:sp>
      <p:sp>
        <p:nvSpPr>
          <p:cNvPr id="27" name="">
            <a:extLst xmlns:a="http://schemas.openxmlformats.org/drawingml/2006/main">
              <a:ext uri="{FF2B5EF4-FFF2-40B4-BE49-F238E27FC236}">
                <a16:creationId xmlns:a16="http://schemas.microsoft.com/office/drawing/2014/main" id="{99DF0C7D-51E9-4427-9863-682221F9F33F}"/>
              </a:ext>
            </a:extLst>
          </p:cNvPr>
          <p:cNvSpPr>
            <a:spLocks xmlns:a="http://schemas.openxmlformats.org/drawingml/2006/main" noGrp="1"/>
          </p:cNvSpPr>
          <p:nvPr/>
        </p:nvSpPr>
        <p:spPr>
          <a:xfrm xmlns:a="http://schemas.openxmlformats.org/drawingml/2006/main">
            <a:off x="744855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28" name="">
            <a:extLst xmlns:a="http://schemas.openxmlformats.org/drawingml/2006/main">
              <a:ext uri="{FF2B5EF4-FFF2-40B4-BE49-F238E27FC236}">
                <a16:creationId xmlns:a16="http://schemas.microsoft.com/office/drawing/2014/main" id="{4E6A11F4-D834-4806-B0F1-654E7DEDDB4C}"/>
              </a:ext>
            </a:extLst>
          </p:cNvPr>
          <p:cNvSpPr>
            <a:spLocks xmlns:a="http://schemas.openxmlformats.org/drawingml/2006/main" noGrp="1"/>
          </p:cNvSpPr>
          <p:nvPr/>
        </p:nvSpPr>
        <p:spPr>
          <a:xfrm xmlns:a="http://schemas.openxmlformats.org/drawingml/2006/main">
            <a:off x="8401050" y="4095750"/>
            <a:ext cx="476250" cy="47625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29" name="">
            <a:extLst xmlns:a="http://schemas.openxmlformats.org/drawingml/2006/main">
              <a:ext uri="{FF2B5EF4-FFF2-40B4-BE49-F238E27FC236}">
                <a16:creationId xmlns:a16="http://schemas.microsoft.com/office/drawing/2014/main" id="{080695E2-F9FE-477C-B6B7-D4686D18258A}"/>
              </a:ext>
            </a:extLst>
          </p:cNvPr>
          <p:cNvSpPr>
            <a:spLocks xmlns:a="http://schemas.openxmlformats.org/drawingml/2006/main" noGrp="1"/>
          </p:cNvSpPr>
          <p:nvPr/>
        </p:nvSpPr>
        <p:spPr>
          <a:xfrm xmlns:a="http://schemas.openxmlformats.org/drawingml/2006/main">
            <a:off x="840105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6</a:t>
            </a:r>
          </a:p>
        </p:txBody>
      </p:sp>
      <p:sp>
        <p:nvSpPr>
          <p:cNvPr id="30" name="">
            <a:extLst xmlns:a="http://schemas.openxmlformats.org/drawingml/2006/main">
              <a:ext uri="{FF2B5EF4-FFF2-40B4-BE49-F238E27FC236}">
                <a16:creationId xmlns:a16="http://schemas.microsoft.com/office/drawing/2014/main" id="{ACA4AE20-ECC1-49F6-B1C3-459FDE5211FB}"/>
              </a:ext>
            </a:extLst>
          </p:cNvPr>
          <p:cNvSpPr>
            <a:spLocks xmlns:a="http://schemas.openxmlformats.org/drawingml/2006/main" noGrp="1"/>
          </p:cNvSpPr>
          <p:nvPr/>
        </p:nvSpPr>
        <p:spPr>
          <a:xfrm xmlns:a="http://schemas.openxmlformats.org/drawingml/2006/main">
            <a:off x="809625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試験利用</a:t>
            </a:r>
          </a:p>
        </p:txBody>
      </p:sp>
      <p:sp>
        <p:nvSpPr>
          <p:cNvPr id="31" name="">
            <a:extLst xmlns:a="http://schemas.openxmlformats.org/drawingml/2006/main">
              <a:ext uri="{FF2B5EF4-FFF2-40B4-BE49-F238E27FC236}">
                <a16:creationId xmlns:a16="http://schemas.microsoft.com/office/drawing/2014/main" id="{5C0938A8-B433-4B29-9442-01E5BAD3E3F2}"/>
              </a:ext>
            </a:extLst>
          </p:cNvPr>
          <p:cNvSpPr>
            <a:spLocks xmlns:a="http://schemas.openxmlformats.org/drawingml/2006/main" noGrp="1"/>
          </p:cNvSpPr>
          <p:nvPr/>
        </p:nvSpPr>
        <p:spPr>
          <a:xfrm xmlns:a="http://schemas.openxmlformats.org/drawingml/2006/main">
            <a:off x="8953500" y="4314825"/>
            <a:ext cx="876300" cy="28575"/>
          </a:xfrm>
          <a:prstGeom xmlns:a="http://schemas.openxmlformats.org/drawingml/2006/main" prst="rect">
            <a:avLst/>
          </a:prstGeom>
          <a:solidFill xmlns:a="http://schemas.openxmlformats.org/drawingml/2006/main">
            <a:srgbClr val="E4E7EC"/>
          </a:solidFill>
          <a:ln xmlns:a="http://schemas.openxmlformats.org/drawingml/2006/main" w="0">
            <a:solidFill>
              <a:srgbClr val="E4E7EC"/>
            </a:solidFill>
            <a:prstDash val="solid"/>
          </a:ln>
        </p:spPr>
      </p:sp>
      <p:sp>
        <p:nvSpPr>
          <p:cNvPr id="32" name="">
            <a:extLst xmlns:a="http://schemas.openxmlformats.org/drawingml/2006/main">
              <a:ext uri="{FF2B5EF4-FFF2-40B4-BE49-F238E27FC236}">
                <a16:creationId xmlns:a16="http://schemas.microsoft.com/office/drawing/2014/main" id="{7D461D00-9B90-4F5B-A089-5CDB70EE59DB}"/>
              </a:ext>
            </a:extLst>
          </p:cNvPr>
          <p:cNvSpPr>
            <a:spLocks xmlns:a="http://schemas.openxmlformats.org/drawingml/2006/main" noGrp="1"/>
          </p:cNvSpPr>
          <p:nvPr/>
        </p:nvSpPr>
        <p:spPr>
          <a:xfrm xmlns:a="http://schemas.openxmlformats.org/drawingml/2006/main">
            <a:off x="9906000" y="4095750"/>
            <a:ext cx="476250" cy="476250"/>
          </a:xfrm>
          <a:prstGeom xmlns:a="http://schemas.openxmlformats.org/drawingml/2006/main" prst="ellipse">
            <a:avLst/>
          </a:prstGeom>
          <a:solidFill xmlns:a="http://schemas.openxmlformats.org/drawingml/2006/main">
            <a:srgbClr val="12B76A"/>
          </a:solidFill>
          <a:ln xmlns:a="http://schemas.openxmlformats.org/drawingml/2006/main" w="0">
            <a:solidFill>
              <a:srgbClr val="12B76A"/>
            </a:solidFill>
            <a:prstDash val="solid"/>
          </a:ln>
        </p:spPr>
      </p:sp>
      <p:sp>
        <p:nvSpPr>
          <p:cNvPr id="33" name="">
            <a:extLst xmlns:a="http://schemas.openxmlformats.org/drawingml/2006/main">
              <a:ext uri="{FF2B5EF4-FFF2-40B4-BE49-F238E27FC236}">
                <a16:creationId xmlns:a16="http://schemas.microsoft.com/office/drawing/2014/main" id="{45688DEA-6503-4AFC-BD34-68671ABB4DD0}"/>
              </a:ext>
            </a:extLst>
          </p:cNvPr>
          <p:cNvSpPr>
            <a:spLocks xmlns:a="http://schemas.openxmlformats.org/drawingml/2006/main" noGrp="1"/>
          </p:cNvSpPr>
          <p:nvPr/>
        </p:nvSpPr>
        <p:spPr>
          <a:xfrm xmlns:a="http://schemas.openxmlformats.org/drawingml/2006/main">
            <a:off x="9906000" y="423862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FFFFF"/>
                </a:solidFill>
              </a:defRPr>
            </a:pPr>
            <a:r>
              <a:rPr sz="1200" b="1">
                <a:solidFill>
                  <a:srgbClr val="FFFFFF"/>
                </a:solidFill>
              </a:rPr>
              <a:t>7</a:t>
            </a:r>
          </a:p>
        </p:txBody>
      </p:sp>
      <p:sp>
        <p:nvSpPr>
          <p:cNvPr id="34" name="">
            <a:extLst xmlns:a="http://schemas.openxmlformats.org/drawingml/2006/main">
              <a:ext uri="{FF2B5EF4-FFF2-40B4-BE49-F238E27FC236}">
                <a16:creationId xmlns:a16="http://schemas.microsoft.com/office/drawing/2014/main" id="{9D9FF045-977F-4443-93AD-CB9DF339998C}"/>
              </a:ext>
            </a:extLst>
          </p:cNvPr>
          <p:cNvSpPr>
            <a:spLocks xmlns:a="http://schemas.openxmlformats.org/drawingml/2006/main" noGrp="1"/>
          </p:cNvSpPr>
          <p:nvPr/>
        </p:nvSpPr>
        <p:spPr>
          <a:xfrm xmlns:a="http://schemas.openxmlformats.org/drawingml/2006/main">
            <a:off x="9601200" y="47625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1D2939"/>
                </a:solidFill>
              </a:defRPr>
            </a:pPr>
            <a:r>
              <a:rPr sz="1125" b="1">
                <a:solidFill>
                  <a:srgbClr val="1D2939"/>
                </a:solidFill>
              </a:rPr>
              <a:t>本運用</a:t>
            </a:r>
          </a:p>
        </p:txBody>
      </p:sp>
      <p:sp>
        <p:nvSpPr>
          <p:cNvPr id="35" name="">
            <a:extLst xmlns:a="http://schemas.openxmlformats.org/drawingml/2006/main">
              <a:ext uri="{FF2B5EF4-FFF2-40B4-BE49-F238E27FC236}">
                <a16:creationId xmlns:a16="http://schemas.microsoft.com/office/drawing/2014/main" id="{BBD55DCD-7280-4795-B83C-380088775646}"/>
              </a:ext>
            </a:extLst>
          </p:cNvPr>
          <p:cNvSpPr>
            <a:spLocks xmlns:a="http://schemas.openxmlformats.org/drawingml/2006/main" noGrp="1"/>
          </p:cNvSpPr>
          <p:nvPr/>
        </p:nvSpPr>
        <p:spPr>
          <a:xfrm xmlns:a="http://schemas.openxmlformats.org/drawingml/2006/main">
            <a:off x="876300" y="566737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667085"/>
                </a:solidFill>
              </a:defRPr>
            </a:pPr>
            <a:r>
              <a:rPr sz="1350" b="0">
                <a:solidFill>
                  <a:srgbClr val="667085"/>
                </a:solidFill>
              </a:rPr>
              <a:t>料金: お問い合わせ / サポート: 要相談</a:t>
            </a:r>
          </a:p>
        </p:txBody>
      </p:sp>
    </p:spTree>
    <p:extLst>
      <p:ext uri="{BB962C8B-B14F-4D97-AF65-F5344CB8AC3E}">
        <p14:creationId xmlns:p14="http://schemas.microsoft.com/office/powerpoint/2010/main" val="1630572543"/>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FC0A7E-EE01-44AD-B93B-127BE7299F4E}"/>
              </a:ext>
            </a:extLst>
          </p:cNvPr>
          <p:cNvSpPr>
            <a:spLocks xmlns:a="http://schemas.openxmlformats.org/drawingml/2006/main" noGrp="1"/>
          </p:cNvSpPr>
          <p:nvPr/>
        </p:nvSpPr>
        <p:spPr>
          <a:xfrm xmlns:a="http://schemas.openxmlformats.org/drawingml/2006/main">
            <a:off x="666750" y="3048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ProposalPilot</a:t>
            </a:r>
          </a:p>
        </p:txBody>
      </p:sp>
      <p:sp>
        <p:nvSpPr>
          <p:cNvPr id="2" name="">
            <a:extLst xmlns:a="http://schemas.openxmlformats.org/drawingml/2006/main">
              <a:ext uri="{FF2B5EF4-FFF2-40B4-BE49-F238E27FC236}">
                <a16:creationId xmlns:a16="http://schemas.microsoft.com/office/drawing/2014/main" id="{5767D141-7EBC-413E-B741-CA35D4A40E50}"/>
              </a:ext>
            </a:extLst>
          </p:cNvPr>
          <p:cNvSpPr>
            <a:spLocks xmlns:a="http://schemas.openxmlformats.org/drawingml/2006/main" noGrp="1"/>
          </p:cNvSpPr>
          <p:nvPr/>
        </p:nvSpPr>
        <p:spPr>
          <a:xfrm xmlns:a="http://schemas.openxmlformats.org/drawingml/2006/main">
            <a:off x="866775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位置づけ</a:t>
            </a:r>
          </a:p>
        </p:txBody>
      </p:sp>
      <p:sp>
        <p:nvSpPr>
          <p:cNvPr id="3" name="">
            <a:extLst xmlns:a="http://schemas.openxmlformats.org/drawingml/2006/main">
              <a:ext uri="{FF2B5EF4-FFF2-40B4-BE49-F238E27FC236}">
                <a16:creationId xmlns:a16="http://schemas.microsoft.com/office/drawing/2014/main" id="{0B5BBD75-9C1E-4531-96EE-6DF82D562FE1}"/>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4" name="">
            <a:extLst xmlns:a="http://schemas.openxmlformats.org/drawingml/2006/main">
              <a:ext uri="{FF2B5EF4-FFF2-40B4-BE49-F238E27FC236}">
                <a16:creationId xmlns:a16="http://schemas.microsoft.com/office/drawing/2014/main" id="{1F8F260D-2A1A-4278-9C9B-454CEB5EF67E}"/>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11</a:t>
            </a:r>
          </a:p>
        </p:txBody>
      </p:sp>
      <p:sp>
        <p:nvSpPr>
          <p:cNvPr id="5" name="">
            <a:extLst xmlns:a="http://schemas.openxmlformats.org/drawingml/2006/main">
              <a:ext uri="{FF2B5EF4-FFF2-40B4-BE49-F238E27FC236}">
                <a16:creationId xmlns:a16="http://schemas.microsoft.com/office/drawing/2014/main" id="{F36F9843-7D49-40BE-9D9A-CA4E90389BA9}"/>
              </a:ext>
            </a:extLst>
          </p:cNvPr>
          <p:cNvSpPr>
            <a:spLocks xmlns:a="http://schemas.openxmlformats.org/drawingml/2006/main" noGrp="1"/>
          </p:cNvSpPr>
          <p:nvPr/>
        </p:nvSpPr>
        <p:spPr>
          <a:xfrm xmlns:a="http://schemas.openxmlformats.org/drawingml/2006/main">
            <a:off x="666750" y="1104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155EEF"/>
                </a:solidFill>
              </a:defRPr>
            </a:pPr>
            <a:r>
              <a:rPr sz="1125" b="1">
                <a:solidFill>
                  <a:srgbClr val="155EEF"/>
                </a:solidFill>
              </a:rPr>
              <a:t>Positioning</a:t>
            </a:r>
          </a:p>
        </p:txBody>
      </p:sp>
      <p:sp>
        <p:nvSpPr>
          <p:cNvPr id="6" name="">
            <a:extLst xmlns:a="http://schemas.openxmlformats.org/drawingml/2006/main">
              <a:ext uri="{FF2B5EF4-FFF2-40B4-BE49-F238E27FC236}">
                <a16:creationId xmlns:a16="http://schemas.microsoft.com/office/drawing/2014/main" id="{8A7B7205-990B-452B-A0A1-6C6FE2794C13}"/>
              </a:ext>
            </a:extLst>
          </p:cNvPr>
          <p:cNvSpPr>
            <a:spLocks xmlns:a="http://schemas.openxmlformats.org/drawingml/2006/main" noGrp="1"/>
          </p:cNvSpPr>
          <p:nvPr/>
        </p:nvSpPr>
        <p:spPr>
          <a:xfrm xmlns:a="http://schemas.openxmlformats.org/drawingml/2006/main">
            <a:off x="666750" y="150495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600" b="1">
                <a:solidFill>
                  <a:srgbClr val="102A43"/>
                </a:solidFill>
              </a:defRPr>
            </a:pPr>
            <a:r>
              <a:rPr sz="3600" b="1">
                <a:solidFill>
                  <a:srgbClr val="102A43"/>
                </a:solidFill>
              </a:rPr>
              <a:t>営業案件の入力から成果物・履歴・権限までを統合します。</a:t>
            </a:r>
          </a:p>
        </p:txBody>
      </p:sp>
      <p:sp>
        <p:nvSpPr>
          <p:cNvPr id="7" name="">
            <a:extLst xmlns:a="http://schemas.openxmlformats.org/drawingml/2006/main">
              <a:ext uri="{FF2B5EF4-FFF2-40B4-BE49-F238E27FC236}">
                <a16:creationId xmlns:a16="http://schemas.microsoft.com/office/drawing/2014/main" id="{290B782B-B60D-462A-96DD-5E69AF458994}"/>
              </a:ext>
            </a:extLst>
          </p:cNvPr>
          <p:cNvSpPr>
            <a:spLocks xmlns:a="http://schemas.openxmlformats.org/drawingml/2006/main" noGrp="1"/>
          </p:cNvSpPr>
          <p:nvPr/>
        </p:nvSpPr>
        <p:spPr>
          <a:xfrm xmlns:a="http://schemas.openxmlformats.org/drawingml/2006/main">
            <a:off x="685800" y="3048000"/>
            <a:ext cx="561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667085"/>
                </a:solidFill>
              </a:defRPr>
            </a:pPr>
            <a:r>
              <a:rPr sz="1650" b="0">
                <a:solidFill>
                  <a:srgbClr val="667085"/>
                </a:solidFill>
              </a:rPr>
              <a:t>汎用生成AI、AIプレゼン作成、デザインツールとは役割が異なります。</a:t>
            </a:r>
          </a:p>
        </p:txBody>
      </p:sp>
      <p:sp>
        <p:nvSpPr>
          <p:cNvPr id="8" name="">
            <a:extLst xmlns:a="http://schemas.openxmlformats.org/drawingml/2006/main">
              <a:ext uri="{FF2B5EF4-FFF2-40B4-BE49-F238E27FC236}">
                <a16:creationId xmlns:a16="http://schemas.microsoft.com/office/drawing/2014/main" id="{A9537DED-59FE-4F29-BE1D-214F9B6AB47D}"/>
              </a:ext>
            </a:extLst>
          </p:cNvPr>
          <p:cNvSpPr>
            <a:spLocks xmlns:a="http://schemas.openxmlformats.org/drawingml/2006/main" noGrp="1"/>
          </p:cNvSpPr>
          <p:nvPr/>
        </p:nvSpPr>
        <p:spPr>
          <a:xfrm xmlns:a="http://schemas.openxmlformats.org/drawingml/2006/main">
            <a:off x="1047750" y="3695700"/>
            <a:ext cx="9715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4E7EC"/>
            </a:solidFill>
            <a:prstDash val="solid"/>
          </a:ln>
        </p:spPr>
      </p:sp>
      <p:sp>
        <p:nvSpPr>
          <p:cNvPr id="9" name="">
            <a:extLst xmlns:a="http://schemas.openxmlformats.org/drawingml/2006/main">
              <a:ext uri="{FF2B5EF4-FFF2-40B4-BE49-F238E27FC236}">
                <a16:creationId xmlns:a16="http://schemas.microsoft.com/office/drawing/2014/main" id="{51C1AC40-51C3-437E-9182-EBBF85EC4AF7}"/>
              </a:ext>
            </a:extLst>
          </p:cNvPr>
          <p:cNvSpPr>
            <a:spLocks xmlns:a="http://schemas.openxmlformats.org/drawingml/2006/main" noGrp="1"/>
          </p:cNvSpPr>
          <p:nvPr/>
        </p:nvSpPr>
        <p:spPr>
          <a:xfrm xmlns:a="http://schemas.openxmlformats.org/drawingml/2006/main">
            <a:off x="1314450" y="380047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D2939"/>
                </a:solidFill>
              </a:defRPr>
            </a:pPr>
            <a:r>
              <a:rPr sz="1200" b="1">
                <a:solidFill>
                  <a:srgbClr val="1D2939"/>
                </a:solidFill>
              </a:rPr>
              <a:t>汎用生成AI</a:t>
            </a:r>
          </a:p>
        </p:txBody>
      </p:sp>
      <p:sp>
        <p:nvSpPr>
          <p:cNvPr id="10" name="">
            <a:extLst xmlns:a="http://schemas.openxmlformats.org/drawingml/2006/main">
              <a:ext uri="{FF2B5EF4-FFF2-40B4-BE49-F238E27FC236}">
                <a16:creationId xmlns:a16="http://schemas.microsoft.com/office/drawing/2014/main" id="{903259C7-7D02-4838-8DCC-6CB55525C6C9}"/>
              </a:ext>
            </a:extLst>
          </p:cNvPr>
          <p:cNvSpPr>
            <a:spLocks xmlns:a="http://schemas.openxmlformats.org/drawingml/2006/main" noGrp="1"/>
          </p:cNvSpPr>
          <p:nvPr/>
        </p:nvSpPr>
        <p:spPr>
          <a:xfrm xmlns:a="http://schemas.openxmlformats.org/drawingml/2006/main">
            <a:off x="4191000" y="3800475"/>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667085"/>
                </a:solidFill>
              </a:defRPr>
            </a:pPr>
            <a:r>
              <a:rPr sz="1200" b="0">
                <a:solidFill>
                  <a:srgbClr val="667085"/>
                </a:solidFill>
              </a:rPr>
              <a:t>文章作成や相談に強い</a:t>
            </a:r>
          </a:p>
        </p:txBody>
      </p:sp>
      <p:sp>
        <p:nvSpPr>
          <p:cNvPr id="11" name="">
            <a:extLst xmlns:a="http://schemas.openxmlformats.org/drawingml/2006/main">
              <a:ext uri="{FF2B5EF4-FFF2-40B4-BE49-F238E27FC236}">
                <a16:creationId xmlns:a16="http://schemas.microsoft.com/office/drawing/2014/main" id="{7F244A5A-3BF6-4F66-A11C-F3BD4CB6F1E3}"/>
              </a:ext>
            </a:extLst>
          </p:cNvPr>
          <p:cNvSpPr>
            <a:spLocks xmlns:a="http://schemas.openxmlformats.org/drawingml/2006/main" noGrp="1"/>
          </p:cNvSpPr>
          <p:nvPr/>
        </p:nvSpPr>
        <p:spPr>
          <a:xfrm xmlns:a="http://schemas.openxmlformats.org/drawingml/2006/main">
            <a:off x="1047750" y="4229100"/>
            <a:ext cx="9715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4E7EC"/>
            </a:solidFill>
            <a:prstDash val="solid"/>
          </a:ln>
        </p:spPr>
      </p:sp>
      <p:sp>
        <p:nvSpPr>
          <p:cNvPr id="12" name="">
            <a:extLst xmlns:a="http://schemas.openxmlformats.org/drawingml/2006/main">
              <a:ext uri="{FF2B5EF4-FFF2-40B4-BE49-F238E27FC236}">
                <a16:creationId xmlns:a16="http://schemas.microsoft.com/office/drawing/2014/main" id="{A4623B8C-2A2C-4946-B069-DDD9F6C0BE5E}"/>
              </a:ext>
            </a:extLst>
          </p:cNvPr>
          <p:cNvSpPr>
            <a:spLocks xmlns:a="http://schemas.openxmlformats.org/drawingml/2006/main" noGrp="1"/>
          </p:cNvSpPr>
          <p:nvPr/>
        </p:nvSpPr>
        <p:spPr>
          <a:xfrm xmlns:a="http://schemas.openxmlformats.org/drawingml/2006/main">
            <a:off x="1314450" y="433387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D2939"/>
                </a:solidFill>
              </a:defRPr>
            </a:pPr>
            <a:r>
              <a:rPr sz="1200" b="1">
                <a:solidFill>
                  <a:srgbClr val="1D2939"/>
                </a:solidFill>
              </a:rPr>
              <a:t>AIプレゼン作成</a:t>
            </a:r>
          </a:p>
        </p:txBody>
      </p:sp>
      <p:sp>
        <p:nvSpPr>
          <p:cNvPr id="13" name="">
            <a:extLst xmlns:a="http://schemas.openxmlformats.org/drawingml/2006/main">
              <a:ext uri="{FF2B5EF4-FFF2-40B4-BE49-F238E27FC236}">
                <a16:creationId xmlns:a16="http://schemas.microsoft.com/office/drawing/2014/main" id="{CBAAFF41-30CD-402D-84EB-D1C114EBE6F4}"/>
              </a:ext>
            </a:extLst>
          </p:cNvPr>
          <p:cNvSpPr>
            <a:spLocks xmlns:a="http://schemas.openxmlformats.org/drawingml/2006/main" noGrp="1"/>
          </p:cNvSpPr>
          <p:nvPr/>
        </p:nvSpPr>
        <p:spPr>
          <a:xfrm xmlns:a="http://schemas.openxmlformats.org/drawingml/2006/main">
            <a:off x="4191000" y="4333875"/>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667085"/>
                </a:solidFill>
              </a:defRPr>
            </a:pPr>
            <a:r>
              <a:rPr sz="1200" b="0">
                <a:solidFill>
                  <a:srgbClr val="667085"/>
                </a:solidFill>
              </a:rPr>
              <a:t>スライド生成体験に強い</a:t>
            </a:r>
          </a:p>
        </p:txBody>
      </p:sp>
      <p:sp>
        <p:nvSpPr>
          <p:cNvPr id="14" name="">
            <a:extLst xmlns:a="http://schemas.openxmlformats.org/drawingml/2006/main">
              <a:ext uri="{FF2B5EF4-FFF2-40B4-BE49-F238E27FC236}">
                <a16:creationId xmlns:a16="http://schemas.microsoft.com/office/drawing/2014/main" id="{37BC7ECC-5DBB-41DB-B2DF-AE3E9440C503}"/>
              </a:ext>
            </a:extLst>
          </p:cNvPr>
          <p:cNvSpPr>
            <a:spLocks xmlns:a="http://schemas.openxmlformats.org/drawingml/2006/main" noGrp="1"/>
          </p:cNvSpPr>
          <p:nvPr/>
        </p:nvSpPr>
        <p:spPr>
          <a:xfrm xmlns:a="http://schemas.openxmlformats.org/drawingml/2006/main">
            <a:off x="1047750" y="4762500"/>
            <a:ext cx="9715500" cy="40005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E4E7EC"/>
            </a:solidFill>
            <a:prstDash val="solid"/>
          </a:ln>
        </p:spPr>
      </p:sp>
      <p:sp>
        <p:nvSpPr>
          <p:cNvPr id="15" name="">
            <a:extLst xmlns:a="http://schemas.openxmlformats.org/drawingml/2006/main">
              <a:ext uri="{FF2B5EF4-FFF2-40B4-BE49-F238E27FC236}">
                <a16:creationId xmlns:a16="http://schemas.microsoft.com/office/drawing/2014/main" id="{36B9C0CA-DB9F-4CCC-9C31-786E6F2F8668}"/>
              </a:ext>
            </a:extLst>
          </p:cNvPr>
          <p:cNvSpPr>
            <a:spLocks xmlns:a="http://schemas.openxmlformats.org/drawingml/2006/main" noGrp="1"/>
          </p:cNvSpPr>
          <p:nvPr/>
        </p:nvSpPr>
        <p:spPr>
          <a:xfrm xmlns:a="http://schemas.openxmlformats.org/drawingml/2006/main">
            <a:off x="1314450" y="486727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D2939"/>
                </a:solidFill>
              </a:defRPr>
            </a:pPr>
            <a:r>
              <a:rPr sz="1200" b="1">
                <a:solidFill>
                  <a:srgbClr val="1D2939"/>
                </a:solidFill>
              </a:rPr>
              <a:t>デザインツール</a:t>
            </a:r>
          </a:p>
        </p:txBody>
      </p:sp>
      <p:sp>
        <p:nvSpPr>
          <p:cNvPr id="16" name="">
            <a:extLst xmlns:a="http://schemas.openxmlformats.org/drawingml/2006/main">
              <a:ext uri="{FF2B5EF4-FFF2-40B4-BE49-F238E27FC236}">
                <a16:creationId xmlns:a16="http://schemas.microsoft.com/office/drawing/2014/main" id="{1B64EB03-C470-4F17-A0FC-EC7D90C06BB6}"/>
              </a:ext>
            </a:extLst>
          </p:cNvPr>
          <p:cNvSpPr>
            <a:spLocks xmlns:a="http://schemas.openxmlformats.org/drawingml/2006/main" noGrp="1"/>
          </p:cNvSpPr>
          <p:nvPr/>
        </p:nvSpPr>
        <p:spPr>
          <a:xfrm xmlns:a="http://schemas.openxmlformats.org/drawingml/2006/main">
            <a:off x="4191000" y="4867275"/>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667085"/>
                </a:solidFill>
              </a:defRPr>
            </a:pPr>
            <a:r>
              <a:rPr sz="1200" b="0">
                <a:solidFill>
                  <a:srgbClr val="667085"/>
                </a:solidFill>
              </a:rPr>
              <a:t>見た目の編集に強い</a:t>
            </a:r>
          </a:p>
        </p:txBody>
      </p:sp>
      <p:sp>
        <p:nvSpPr>
          <p:cNvPr id="17" name="">
            <a:extLst xmlns:a="http://schemas.openxmlformats.org/drawingml/2006/main">
              <a:ext uri="{FF2B5EF4-FFF2-40B4-BE49-F238E27FC236}">
                <a16:creationId xmlns:a16="http://schemas.microsoft.com/office/drawing/2014/main" id="{1948C39C-FC0F-4866-88D7-A554D44B9B70}"/>
              </a:ext>
            </a:extLst>
          </p:cNvPr>
          <p:cNvSpPr>
            <a:spLocks xmlns:a="http://schemas.openxmlformats.org/drawingml/2006/main" noGrp="1"/>
          </p:cNvSpPr>
          <p:nvPr/>
        </p:nvSpPr>
        <p:spPr>
          <a:xfrm xmlns:a="http://schemas.openxmlformats.org/drawingml/2006/main">
            <a:off x="1047750" y="5295900"/>
            <a:ext cx="9715500" cy="400050"/>
          </a:xfrm>
          <a:prstGeom xmlns:a="http://schemas.openxmlformats.org/drawingml/2006/main" prst="roundRect">
            <a:avLst>
              <a:gd name="adj" fmla="val 28571"/>
            </a:avLst>
          </a:prstGeom>
          <a:solidFill xmlns:a="http://schemas.openxmlformats.org/drawingml/2006/main">
            <a:srgbClr val="EAF1FF"/>
          </a:solidFill>
          <a:ln xmlns:a="http://schemas.openxmlformats.org/drawingml/2006/main" w="9525">
            <a:solidFill>
              <a:srgbClr val="BFD0FF"/>
            </a:solidFill>
            <a:prstDash val="solid"/>
          </a:ln>
        </p:spPr>
      </p:sp>
      <p:sp>
        <p:nvSpPr>
          <p:cNvPr id="18" name="">
            <a:extLst xmlns:a="http://schemas.openxmlformats.org/drawingml/2006/main">
              <a:ext uri="{FF2B5EF4-FFF2-40B4-BE49-F238E27FC236}">
                <a16:creationId xmlns:a16="http://schemas.microsoft.com/office/drawing/2014/main" id="{CD8367FC-822C-4A0A-AE3E-9EC84D1D434B}"/>
              </a:ext>
            </a:extLst>
          </p:cNvPr>
          <p:cNvSpPr>
            <a:spLocks xmlns:a="http://schemas.openxmlformats.org/drawingml/2006/main" noGrp="1"/>
          </p:cNvSpPr>
          <p:nvPr/>
        </p:nvSpPr>
        <p:spPr>
          <a:xfrm xmlns:a="http://schemas.openxmlformats.org/drawingml/2006/main">
            <a:off x="1314450" y="540067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155EEF"/>
                </a:solidFill>
              </a:defRPr>
            </a:pPr>
            <a:r>
              <a:rPr sz="1200" b="1">
                <a:solidFill>
                  <a:srgbClr val="155EEF"/>
                </a:solidFill>
              </a:rPr>
              <a:t>ProposalPilot</a:t>
            </a:r>
          </a:p>
        </p:txBody>
      </p:sp>
      <p:sp>
        <p:nvSpPr>
          <p:cNvPr id="19" name="">
            <a:extLst xmlns:a="http://schemas.openxmlformats.org/drawingml/2006/main">
              <a:ext uri="{FF2B5EF4-FFF2-40B4-BE49-F238E27FC236}">
                <a16:creationId xmlns:a16="http://schemas.microsoft.com/office/drawing/2014/main" id="{72617CFE-CCE9-47EA-BB5D-ABFE7A4F4F04}"/>
              </a:ext>
            </a:extLst>
          </p:cNvPr>
          <p:cNvSpPr>
            <a:spLocks xmlns:a="http://schemas.openxmlformats.org/drawingml/2006/main" noGrp="1"/>
          </p:cNvSpPr>
          <p:nvPr/>
        </p:nvSpPr>
        <p:spPr>
          <a:xfrm xmlns:a="http://schemas.openxmlformats.org/drawingml/2006/main">
            <a:off x="4191000" y="5400675"/>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667085"/>
                </a:solidFill>
              </a:defRPr>
            </a:pPr>
            <a:r>
              <a:rPr sz="1200" b="0">
                <a:solidFill>
                  <a:srgbClr val="667085"/>
                </a:solidFill>
              </a:rPr>
              <a:t>営業提案フロー全体を支援</a:t>
            </a:r>
          </a:p>
        </p:txBody>
      </p:sp>
    </p:spTree>
    <p:extLst>
      <p:ext uri="{BB962C8B-B14F-4D97-AF65-F5344CB8AC3E}">
        <p14:creationId xmlns:p14="http://schemas.microsoft.com/office/powerpoint/2010/main" val="236014745"/>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BABC73-4D25-442D-96DC-14FAF2FF279C}"/>
              </a:ext>
            </a:extLst>
          </p:cNvPr>
          <p:cNvSpPr>
            <a:spLocks xmlns:a="http://schemas.openxmlformats.org/drawingml/2006/main" noGrp="1"/>
          </p:cNvSpPr>
          <p:nvPr/>
        </p:nvSpPr>
        <p:spPr>
          <a:xfrm xmlns:a="http://schemas.openxmlformats.org/drawingml/2006/main">
            <a:off x="76200" y="1257300"/>
            <a:ext cx="2381250" cy="2381250"/>
          </a:xfrm>
          <a:prstGeom xmlns:a="http://schemas.openxmlformats.org/drawingml/2006/main" prst="ellipse">
            <a:avLst/>
          </a:prstGeom>
          <a:solidFill xmlns:a="http://schemas.openxmlformats.org/drawingml/2006/main">
            <a:srgbClr val="164E63"/>
          </a:solidFill>
          <a:ln xmlns:a="http://schemas.openxmlformats.org/drawingml/2006/main" w="0">
            <a:solidFill>
              <a:srgbClr val="164E63"/>
            </a:solidFill>
            <a:prstDash val="solid"/>
          </a:ln>
        </p:spPr>
      </p:sp>
      <p:sp>
        <p:nvSpPr>
          <p:cNvPr id="2" name="">
            <a:extLst xmlns:a="http://schemas.openxmlformats.org/drawingml/2006/main">
              <a:ext uri="{FF2B5EF4-FFF2-40B4-BE49-F238E27FC236}">
                <a16:creationId xmlns:a16="http://schemas.microsoft.com/office/drawing/2014/main" id="{FD92CA3F-F98D-40F0-B97D-C22AA7F16F41}"/>
              </a:ext>
            </a:extLst>
          </p:cNvPr>
          <p:cNvSpPr>
            <a:spLocks xmlns:a="http://schemas.openxmlformats.org/drawingml/2006/main" noGrp="1"/>
          </p:cNvSpPr>
          <p:nvPr/>
        </p:nvSpPr>
        <p:spPr>
          <a:xfrm xmlns:a="http://schemas.openxmlformats.org/drawingml/2006/main">
            <a:off x="9372600" y="4591050"/>
            <a:ext cx="2381250" cy="2095500"/>
          </a:xfrm>
          <a:prstGeom xmlns:a="http://schemas.openxmlformats.org/drawingml/2006/main" prst="ellipse">
            <a:avLst/>
          </a:prstGeom>
          <a:solidFill xmlns:a="http://schemas.openxmlformats.org/drawingml/2006/main">
            <a:srgbClr val="164E63"/>
          </a:solidFill>
          <a:ln xmlns:a="http://schemas.openxmlformats.org/drawingml/2006/main" w="0">
            <a:solidFill>
              <a:srgbClr val="164E63"/>
            </a:solidFill>
            <a:prstDash val="solid"/>
          </a:ln>
        </p:spPr>
      </p:sp>
      <p:sp>
        <p:nvSpPr>
          <p:cNvPr id="3" name="">
            <a:extLst xmlns:a="http://schemas.openxmlformats.org/drawingml/2006/main">
              <a:ext uri="{FF2B5EF4-FFF2-40B4-BE49-F238E27FC236}">
                <a16:creationId xmlns:a16="http://schemas.microsoft.com/office/drawing/2014/main" id="{3BD87D36-49DF-4C40-B8CC-9C0A64A07F0A}"/>
              </a:ext>
            </a:extLst>
          </p:cNvPr>
          <p:cNvSpPr>
            <a:spLocks xmlns:a="http://schemas.openxmlformats.org/drawingml/2006/main" noGrp="1"/>
          </p:cNvSpPr>
          <p:nvPr/>
        </p:nvSpPr>
        <p:spPr>
          <a:xfrm xmlns:a="http://schemas.openxmlformats.org/drawingml/2006/main">
            <a:off x="666750" y="6477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FFFFFF"/>
                </a:solidFill>
              </a:defRPr>
            </a:pPr>
            <a:r>
              <a:rPr sz="1875" b="1">
                <a:solidFill>
                  <a:srgbClr val="FFFFFF"/>
                </a:solidFill>
              </a:rPr>
              <a:t>ProposalPilot</a:t>
            </a:r>
          </a:p>
        </p:txBody>
      </p:sp>
      <p:sp>
        <p:nvSpPr>
          <p:cNvPr id="4" name="">
            <a:extLst xmlns:a="http://schemas.openxmlformats.org/drawingml/2006/main">
              <a:ext uri="{FF2B5EF4-FFF2-40B4-BE49-F238E27FC236}">
                <a16:creationId xmlns:a16="http://schemas.microsoft.com/office/drawing/2014/main" id="{AE27C327-CB2A-4220-A5A0-568CF7FFF952}"/>
              </a:ext>
            </a:extLst>
          </p:cNvPr>
          <p:cNvSpPr>
            <a:spLocks xmlns:a="http://schemas.openxmlformats.org/drawingml/2006/main" noGrp="1"/>
          </p:cNvSpPr>
          <p:nvPr/>
        </p:nvSpPr>
        <p:spPr>
          <a:xfrm xmlns:a="http://schemas.openxmlformats.org/drawingml/2006/main">
            <a:off x="685800" y="10668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0">
                <a:solidFill>
                  <a:srgbClr val="C7D7EF"/>
                </a:solidFill>
              </a:defRPr>
            </a:pPr>
            <a:r>
              <a:rPr sz="1500" b="0">
                <a:solidFill>
                  <a:srgbClr val="C7D7EF"/>
                </a:solidFill>
              </a:rPr>
              <a:t>AI営業秘書</a:t>
            </a:r>
          </a:p>
        </p:txBody>
      </p:sp>
      <p:sp>
        <p:nvSpPr>
          <p:cNvPr id="5" name="">
            <a:extLst xmlns:a="http://schemas.openxmlformats.org/drawingml/2006/main">
              <a:ext uri="{FF2B5EF4-FFF2-40B4-BE49-F238E27FC236}">
                <a16:creationId xmlns:a16="http://schemas.microsoft.com/office/drawing/2014/main" id="{923AF942-7302-4007-A919-2C2DC5BCB3DF}"/>
              </a:ext>
            </a:extLst>
          </p:cNvPr>
          <p:cNvSpPr>
            <a:spLocks xmlns:a="http://schemas.openxmlformats.org/drawingml/2006/main" noGrp="1"/>
          </p:cNvSpPr>
          <p:nvPr/>
        </p:nvSpPr>
        <p:spPr>
          <a:xfrm xmlns:a="http://schemas.openxmlformats.org/drawingml/2006/main">
            <a:off x="666750" y="2000250"/>
            <a:ext cx="638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FFFFFF"/>
                </a:solidFill>
              </a:defRPr>
            </a:pPr>
            <a:r>
              <a:rPr sz="3300" b="1">
                <a:solidFill>
                  <a:srgbClr val="FFFFFF"/>
                </a:solidFill>
              </a:rPr>
              <a:t>デモ・導入相談受付中</a:t>
            </a:r>
          </a:p>
        </p:txBody>
      </p:sp>
      <p:sp>
        <p:nvSpPr>
          <p:cNvPr id="6" name="">
            <a:extLst xmlns:a="http://schemas.openxmlformats.org/drawingml/2006/main">
              <a:ext uri="{FF2B5EF4-FFF2-40B4-BE49-F238E27FC236}">
                <a16:creationId xmlns:a16="http://schemas.microsoft.com/office/drawing/2014/main" id="{037821CF-EDD5-4A5F-AA9B-31713A678813}"/>
              </a:ext>
            </a:extLst>
          </p:cNvPr>
          <p:cNvSpPr>
            <a:spLocks xmlns:a="http://schemas.openxmlformats.org/drawingml/2006/main" noGrp="1"/>
          </p:cNvSpPr>
          <p:nvPr/>
        </p:nvSpPr>
        <p:spPr>
          <a:xfrm xmlns:a="http://schemas.openxmlformats.org/drawingml/2006/main">
            <a:off x="685800" y="278130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0">
                <a:solidFill>
                  <a:srgbClr val="D6E4FF"/>
                </a:solidFill>
              </a:defRPr>
            </a:pPr>
            <a:r>
              <a:rPr sz="1650" b="0">
                <a:solidFill>
                  <a:srgbClr val="D6E4FF"/>
                </a:solidFill>
              </a:rPr>
              <a:t>現在の営業提案業務を伺いながら、適用可能な範囲をご一緒に検討します。</a:t>
            </a:r>
          </a:p>
        </p:txBody>
      </p:sp>
      <p:sp>
        <p:nvSpPr>
          <p:cNvPr id="7" name="">
            <a:extLst xmlns:a="http://schemas.openxmlformats.org/drawingml/2006/main">
              <a:ext uri="{FF2B5EF4-FFF2-40B4-BE49-F238E27FC236}">
                <a16:creationId xmlns:a16="http://schemas.microsoft.com/office/drawing/2014/main" id="{368FA115-5970-40A1-92F6-7DB3BF39C1F7}"/>
              </a:ext>
            </a:extLst>
          </p:cNvPr>
          <p:cNvSpPr>
            <a:spLocks xmlns:a="http://schemas.openxmlformats.org/drawingml/2006/main" noGrp="1"/>
          </p:cNvSpPr>
          <p:nvPr/>
        </p:nvSpPr>
        <p:spPr>
          <a:xfrm xmlns:a="http://schemas.openxmlformats.org/drawingml/2006/main">
            <a:off x="7429500" y="19240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2DE2E6"/>
                </a:solidFill>
              </a:defRPr>
            </a:pPr>
            <a:r>
              <a:rPr sz="1350" b="1">
                <a:solidFill>
                  <a:srgbClr val="2DE2E6"/>
                </a:solidFill>
              </a:rPr>
              <a:t>料金: お問い合わせ</a:t>
            </a:r>
          </a:p>
        </p:txBody>
      </p:sp>
      <p:sp>
        <p:nvSpPr>
          <p:cNvPr id="8" name="">
            <a:extLst xmlns:a="http://schemas.openxmlformats.org/drawingml/2006/main">
              <a:ext uri="{FF2B5EF4-FFF2-40B4-BE49-F238E27FC236}">
                <a16:creationId xmlns:a16="http://schemas.microsoft.com/office/drawing/2014/main" id="{21DEE728-B7C1-4BB6-9DB4-00F149AA3092}"/>
              </a:ext>
            </a:extLst>
          </p:cNvPr>
          <p:cNvSpPr>
            <a:spLocks xmlns:a="http://schemas.openxmlformats.org/drawingml/2006/main" noGrp="1"/>
          </p:cNvSpPr>
          <p:nvPr/>
        </p:nvSpPr>
        <p:spPr>
          <a:xfrm xmlns:a="http://schemas.openxmlformats.org/drawingml/2006/main">
            <a:off x="7429500" y="23812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FFFFF"/>
                </a:solidFill>
              </a:defRPr>
            </a:pPr>
            <a:r>
              <a:rPr sz="1350" b="0">
                <a:solidFill>
                  <a:srgbClr val="FFFFFF"/>
                </a:solidFill>
              </a:rPr>
              <a:t>会社名: 要入力</a:t>
            </a:r>
          </a:p>
        </p:txBody>
      </p:sp>
      <p:sp>
        <p:nvSpPr>
          <p:cNvPr id="9" name="">
            <a:extLst xmlns:a="http://schemas.openxmlformats.org/drawingml/2006/main">
              <a:ext uri="{FF2B5EF4-FFF2-40B4-BE49-F238E27FC236}">
                <a16:creationId xmlns:a16="http://schemas.microsoft.com/office/drawing/2014/main" id="{C3E33BA7-425F-4861-82AE-EBFD4AE85D80}"/>
              </a:ext>
            </a:extLst>
          </p:cNvPr>
          <p:cNvSpPr>
            <a:spLocks xmlns:a="http://schemas.openxmlformats.org/drawingml/2006/main" noGrp="1"/>
          </p:cNvSpPr>
          <p:nvPr/>
        </p:nvSpPr>
        <p:spPr>
          <a:xfrm xmlns:a="http://schemas.openxmlformats.org/drawingml/2006/main">
            <a:off x="7429500" y="28384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FFFFF"/>
                </a:solidFill>
              </a:defRPr>
            </a:pPr>
            <a:r>
              <a:rPr sz="1350" b="0">
                <a:solidFill>
                  <a:srgbClr val="FFFFFF"/>
                </a:solidFill>
              </a:rPr>
              <a:t>問い合わせ先: 要入力</a:t>
            </a:r>
          </a:p>
        </p:txBody>
      </p:sp>
      <p:sp>
        <p:nvSpPr>
          <p:cNvPr id="10" name="">
            <a:extLst xmlns:a="http://schemas.openxmlformats.org/drawingml/2006/main">
              <a:ext uri="{FF2B5EF4-FFF2-40B4-BE49-F238E27FC236}">
                <a16:creationId xmlns:a16="http://schemas.microsoft.com/office/drawing/2014/main" id="{C4DDC329-8EA1-46DA-B688-6E809560BF47}"/>
              </a:ext>
            </a:extLst>
          </p:cNvPr>
          <p:cNvSpPr>
            <a:spLocks xmlns:a="http://schemas.openxmlformats.org/drawingml/2006/main" noGrp="1"/>
          </p:cNvSpPr>
          <p:nvPr/>
        </p:nvSpPr>
        <p:spPr>
          <a:xfrm xmlns:a="http://schemas.openxmlformats.org/drawingml/2006/main">
            <a:off x="7429500" y="32956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FFFFF"/>
                </a:solidFill>
              </a:defRPr>
            </a:pPr>
            <a:r>
              <a:rPr sz="1350" b="0">
                <a:solidFill>
                  <a:srgbClr val="FFFFFF"/>
                </a:solidFill>
              </a:rPr>
              <a:t>製品サイト: 要入力</a:t>
            </a:r>
          </a:p>
        </p:txBody>
      </p:sp>
      <p:sp>
        <p:nvSpPr>
          <p:cNvPr id="11" name="">
            <a:extLst xmlns:a="http://schemas.openxmlformats.org/drawingml/2006/main">
              <a:ext uri="{FF2B5EF4-FFF2-40B4-BE49-F238E27FC236}">
                <a16:creationId xmlns:a16="http://schemas.microsoft.com/office/drawing/2014/main" id="{BB98311C-B5D1-4BD2-8C9B-F8C48CFB71C9}"/>
              </a:ext>
            </a:extLst>
          </p:cNvPr>
          <p:cNvSpPr>
            <a:spLocks xmlns:a="http://schemas.openxmlformats.org/drawingml/2006/main" noGrp="1"/>
          </p:cNvSpPr>
          <p:nvPr/>
        </p:nvSpPr>
        <p:spPr>
          <a:xfrm xmlns:a="http://schemas.openxmlformats.org/drawingml/2006/main">
            <a:off x="7429500" y="375285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0">
                <a:solidFill>
                  <a:srgbClr val="FFFFFF"/>
                </a:solidFill>
              </a:defRPr>
            </a:pPr>
            <a:r>
              <a:rPr sz="1350" b="0">
                <a:solidFill>
                  <a:srgbClr val="FFFFFF"/>
                </a:solidFill>
              </a:rPr>
              <a:t>QRコード: 要差替え</a:t>
            </a:r>
          </a:p>
        </p:txBody>
      </p:sp>
      <p:sp>
        <p:nvSpPr>
          <p:cNvPr id="12" name="">
            <a:extLst xmlns:a="http://schemas.openxmlformats.org/drawingml/2006/main">
              <a:ext uri="{FF2B5EF4-FFF2-40B4-BE49-F238E27FC236}">
                <a16:creationId xmlns:a16="http://schemas.microsoft.com/office/drawing/2014/main" id="{B84D4677-7372-45ED-9AFA-7958162107BF}"/>
              </a:ext>
            </a:extLst>
          </p:cNvPr>
          <p:cNvSpPr>
            <a:spLocks xmlns:a="http://schemas.openxmlformats.org/drawingml/2006/main" noGrp="1"/>
          </p:cNvSpPr>
          <p:nvPr/>
        </p:nvSpPr>
        <p:spPr>
          <a:xfrm xmlns:a="http://schemas.openxmlformats.org/drawingml/2006/main">
            <a:off x="704850" y="4095750"/>
            <a:ext cx="1619250" cy="419100"/>
          </a:xfrm>
          <a:prstGeom xmlns:a="http://schemas.openxmlformats.org/drawingml/2006/main" prst="roundRect">
            <a:avLst>
              <a:gd name="adj" fmla="val 27273"/>
            </a:avLst>
          </a:prstGeom>
          <a:solidFill xmlns:a="http://schemas.openxmlformats.org/drawingml/2006/main">
            <a:srgbClr val="155EEF"/>
          </a:solidFill>
          <a:ln xmlns:a="http://schemas.openxmlformats.org/drawingml/2006/main" w="0">
            <a:solidFill>
              <a:srgbClr val="155EEF"/>
            </a:solidFill>
            <a:prstDash val="solid"/>
          </a:ln>
        </p:spPr>
      </p:sp>
      <p:sp>
        <p:nvSpPr>
          <p:cNvPr id="13" name="">
            <a:extLst xmlns:a="http://schemas.openxmlformats.org/drawingml/2006/main">
              <a:ext uri="{FF2B5EF4-FFF2-40B4-BE49-F238E27FC236}">
                <a16:creationId xmlns:a16="http://schemas.microsoft.com/office/drawing/2014/main" id="{446D8594-5921-4B0D-8A8C-1E836F87964F}"/>
              </a:ext>
            </a:extLst>
          </p:cNvPr>
          <p:cNvSpPr>
            <a:spLocks xmlns:a="http://schemas.openxmlformats.org/drawingml/2006/main" noGrp="1"/>
          </p:cNvSpPr>
          <p:nvPr/>
        </p:nvSpPr>
        <p:spPr>
          <a:xfrm xmlns:a="http://schemas.openxmlformats.org/drawingml/2006/main">
            <a:off x="1000125" y="42386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次回相談へ</a:t>
            </a:r>
          </a:p>
        </p:txBody>
      </p:sp>
      <p:sp>
        <p:nvSpPr>
          <p:cNvPr id="14" name="">
            <a:extLst xmlns:a="http://schemas.openxmlformats.org/drawingml/2006/main">
              <a:ext uri="{FF2B5EF4-FFF2-40B4-BE49-F238E27FC236}">
                <a16:creationId xmlns:a16="http://schemas.microsoft.com/office/drawing/2014/main" id="{C30A1700-9057-4516-9596-E881E5B024C3}"/>
              </a:ext>
            </a:extLst>
          </p:cNvPr>
          <p:cNvSpPr>
            <a:spLocks xmlns:a="http://schemas.openxmlformats.org/drawingml/2006/main" noGrp="1"/>
          </p:cNvSpPr>
          <p:nvPr/>
        </p:nvSpPr>
        <p:spPr>
          <a:xfrm xmlns:a="http://schemas.openxmlformats.org/drawingml/2006/main">
            <a:off x="666750" y="64389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667085"/>
                </a:solidFill>
              </a:defRPr>
            </a:pPr>
            <a:r>
              <a:rPr sz="900" b="1">
                <a:solidFill>
                  <a:srgbClr val="667085"/>
                </a:solidFill>
              </a:rPr>
              <a:t>ProposalPilot</a:t>
            </a:r>
          </a:p>
        </p:txBody>
      </p:sp>
      <p:sp>
        <p:nvSpPr>
          <p:cNvPr id="15" name="">
            <a:extLst xmlns:a="http://schemas.openxmlformats.org/drawingml/2006/main">
              <a:ext uri="{FF2B5EF4-FFF2-40B4-BE49-F238E27FC236}">
                <a16:creationId xmlns:a16="http://schemas.microsoft.com/office/drawing/2014/main" id="{B0C3F7E8-BE95-46E5-AF34-58D9AED4F6EF}"/>
              </a:ext>
            </a:extLst>
          </p:cNvPr>
          <p:cNvSpPr>
            <a:spLocks xmlns:a="http://schemas.openxmlformats.org/drawingml/2006/main" noGrp="1"/>
          </p:cNvSpPr>
          <p:nvPr/>
        </p:nvSpPr>
        <p:spPr>
          <a:xfrm xmlns:a="http://schemas.openxmlformats.org/drawingml/2006/main">
            <a:off x="11049000" y="64389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0">
                <a:solidFill>
                  <a:srgbClr val="667085"/>
                </a:solidFill>
              </a:defRPr>
            </a:pPr>
            <a:r>
              <a:rPr sz="900" b="0">
                <a:solidFill>
                  <a:srgbClr val="667085"/>
                </a:solidFill>
              </a:rPr>
              <a:t>12</a:t>
            </a:r>
          </a:p>
        </p:txBody>
      </p:sp>
    </p:spTree>
    <p:extLst>
      <p:ext uri="{BB962C8B-B14F-4D97-AF65-F5344CB8AC3E}">
        <p14:creationId xmlns:p14="http://schemas.microsoft.com/office/powerpoint/2010/main" val="1776954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2026-07-15T23:48:29.9740000Z</dcterms:created>
  <dcterms:modified xsi:type="dcterms:W3CDTF">2026-07-15T23:48:29.9740000Z</dcterms:modified>
</coreProperties>
</file>