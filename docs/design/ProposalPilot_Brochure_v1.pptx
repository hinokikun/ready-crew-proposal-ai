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cb96bce5a450a" /><Relationship Type="http://schemas.openxmlformats.org/officeDocument/2006/relationships/extended-properties" Target="/docProps/app.xml" Id="Rd6982355a42f43c3" /><Relationship Type="http://schemas.openxmlformats.org/officeDocument/2006/relationships/officeDocument" Target="/ppt/presentation.xml" Id="R987541ff823f4a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c3098fef484f0c"/>
  </p:sldMasterIdLst>
  <p:notesMasterIdLst>
    <p:notesMasterId xmlns:r="http://schemas.openxmlformats.org/officeDocument/2006/relationships" r:id="Rac420a49a6414735"/>
  </p:notesMasterIdLst>
  <p:sldIdLst>
    <p:sldId xmlns:r="http://schemas.openxmlformats.org/officeDocument/2006/relationships" id="256" r:id="R66416af499a14483"/>
    <p:sldId xmlns:r="http://schemas.openxmlformats.org/officeDocument/2006/relationships" id="257" r:id="Rb851dd74dfcd43b0"/>
  </p:sldIdLst>
  <p:sldSz cx="10696575" cy="75628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29065e8f464722" /><Relationship Type="http://schemas.openxmlformats.org/officeDocument/2006/relationships/slideMaster" Target="/ppt/slideMasters/slideMaster1.xml" Id="R47c3098fef484f0c" /><Relationship Type="http://schemas.openxmlformats.org/officeDocument/2006/relationships/notesMaster" Target="/ppt/notesMasters/notesMaster1.xml" Id="Rac420a49a6414735" /><Relationship Type="http://schemas.openxmlformats.org/officeDocument/2006/relationships/presProps" Target="/ppt/presProps.xml" Id="Rbbd6e8cd6ed243bb" /><Relationship Type="http://schemas.openxmlformats.org/officeDocument/2006/relationships/tableStyles" Target="/ppt/tableStyles.xml" Id="R65e1b5eca6b54fe7" /><Relationship Type="http://schemas.openxmlformats.org/officeDocument/2006/relationships/slide" Target="/ppt/slides/slide1.xml" Id="R66416af499a14483" /><Relationship Type="http://schemas.openxmlformats.org/officeDocument/2006/relationships/slide" Target="/ppt/slides/slide2.xml" Id="Rb851dd74dfcd43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7a7d6d35e043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dd5bb4fbaf4889" /><Relationship Type="http://schemas.openxmlformats.org/officeDocument/2006/relationships/notesMaster" Target="/ppt/notesMasters/notesMaster1.xml" Id="R1d89c035012d4e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ba5d1acdd4562" /><Relationship Type="http://schemas.openxmlformats.org/officeDocument/2006/relationships/notesMaster" Target="/ppt/notesMasters/notesMaster1.xml" Id="R0fe59b354d004a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761cdafce4b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7ab43c74cf44a3" /><Relationship Type="http://schemas.openxmlformats.org/officeDocument/2006/relationships/slideLayout" Target="/ppt/slideLayouts/slideLayout1.xml" Id="R25e32e25d01f4d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e32e25d01f4d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85f36d1a846fe" /><Relationship Type="http://schemas.openxmlformats.org/officeDocument/2006/relationships/notesSlide" Target="/ppt/notesSlides/notesSlide1.xml" Id="R84674f9a043049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3f649d4cc4f17" /><Relationship Type="http://schemas.openxmlformats.org/officeDocument/2006/relationships/notesSlide" Target="/ppt/notesSlides/notesSlide2.xml" Id="R2f8fcd0be4a449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00A76D-55EE-4B11-8495-B0BE4378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56552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72F2F-53F3-491D-BBC7-1F2737A1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525" y="0"/>
            <a:ext cx="356552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0DABD-E856-4E71-B23A-DC396530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0" y="0"/>
            <a:ext cx="356552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E56F3-E374-4140-8EBD-BC06B49E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EA8"/>
                </a:solidFill>
              </a:defRPr>
            </a:pPr>
            <a:r>
              <a:rPr sz="675" b="1">
                <a:solidFill>
                  <a:srgbClr val="7E8EA8"/>
                </a:solidFill>
              </a:rPr>
              <a:t>OUTSIDE LEFT / 利用フロー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8E771-F77C-437B-AA9A-00DB4405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2879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71A33"/>
                </a:solidFill>
              </a:defRPr>
            </a:pPr>
            <a:r>
              <a:rPr sz="2100" b="1">
                <a:solidFill>
                  <a:srgbClr val="071A33"/>
                </a:solidFill>
              </a:rPr>
              <a:t>利用フロー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48DFC-0FDF-4E2D-B454-242C485E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668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123C6-9797-4F31-B938-3DB3B653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287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案件入力から提出まで、営業担当が画面の案内に沿って進められる流れです。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C1C7D-35CB-412E-ABA2-EDC5CD51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190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071A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0D6ED-CBA2-48EB-B2AD-A7280395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E6"/>
          </a:solidFill>
          <a:ln xmlns:a="http://schemas.openxmlformats.org/drawingml/2006/main" w="9525">
            <a:solidFill>
              <a:srgbClr val="2DE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33340-DB48-480C-9FE3-1D2C5167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28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71A33"/>
                </a:solidFill>
              </a:defRPr>
            </a:pPr>
            <a:r>
              <a:rPr sz="638" b="1">
                <a:solidFill>
                  <a:srgbClr val="071A33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A5BCF-70CC-428E-8039-6EF9ADC6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案件入力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5A0B8-7472-4061-BE42-219A86E4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0027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63FF"/>
                </a:solidFill>
              </a:defRPr>
            </a:pPr>
            <a:r>
              <a:rPr sz="975" b="0">
                <a:solidFill>
                  <a:srgbClr val="1463FF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7E03C-6978-4AD6-A263-E113D0B3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90775"/>
            <a:ext cx="2190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648DC-55FB-4476-967A-06DB4E67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ACC4F-69F3-471A-B0CE-FD08DBE2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28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463FF"/>
                </a:solidFill>
              </a:defRPr>
            </a:pPr>
            <a:r>
              <a:rPr sz="638" b="1">
                <a:solidFill>
                  <a:srgbClr val="1463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59445-4CE9-4A19-B285-57B4D50D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A33"/>
                </a:solidFill>
              </a:defRPr>
            </a:pPr>
            <a:r>
              <a:rPr sz="975" b="1">
                <a:solidFill>
                  <a:srgbClr val="071A33"/>
                </a:solidFill>
              </a:rPr>
              <a:t>AI分析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C2FC2-EBD5-4C2A-A900-745C219F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8130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63FF"/>
                </a:solidFill>
              </a:defRPr>
            </a:pPr>
            <a:r>
              <a:rPr sz="975" b="0">
                <a:solidFill>
                  <a:srgbClr val="1463FF"/>
                </a:solidFill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32EED-292E-4D52-BCE8-481BCD38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2190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0BBDF-887B-49B6-A775-FC7919BA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B06D1-0F58-43A3-BACD-61D3D94E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228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463FF"/>
                </a:solidFill>
              </a:defRPr>
            </a:pPr>
            <a:r>
              <a:rPr sz="638" b="1">
                <a:solidFill>
                  <a:srgbClr val="1463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D4DCF-A19F-46DE-B115-2E8783D7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A33"/>
                </a:solidFill>
              </a:defRPr>
            </a:pPr>
            <a:r>
              <a:rPr sz="975" b="1">
                <a:solidFill>
                  <a:srgbClr val="071A33"/>
                </a:solidFill>
              </a:rPr>
              <a:t>提案生成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38FAC-F8B5-4574-8AF4-21649CA4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623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63FF"/>
                </a:solidFill>
              </a:defRPr>
            </a:pPr>
            <a:r>
              <a:rPr sz="975" b="0">
                <a:solidFill>
                  <a:srgbClr val="1463FF"/>
                </a:solidFill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39B36-46B9-42DA-9BA9-D4AAA254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2190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11D1D-B2C2-438A-979E-EB99D05A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8C7F0-B210-41DD-B682-AF8990D4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28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463FF"/>
                </a:solidFill>
              </a:defRPr>
            </a:pPr>
            <a:r>
              <a:rPr sz="638" b="1">
                <a:solidFill>
                  <a:srgbClr val="1463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857552-5377-425E-8BA5-34FCF716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A33"/>
                </a:solidFill>
              </a:defRPr>
            </a:pPr>
            <a:r>
              <a:rPr sz="975" b="1">
                <a:solidFill>
                  <a:srgbClr val="071A33"/>
                </a:solidFill>
              </a:rPr>
              <a:t>レビュー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F34974-1EA5-4CD6-91E0-407DF82D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4335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63FF"/>
                </a:solidFill>
              </a:defRPr>
            </a:pPr>
            <a:r>
              <a:rPr sz="975" b="0">
                <a:solidFill>
                  <a:srgbClr val="1463FF"/>
                </a:solidFill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18C6C-D3E5-4A65-893B-A7A77A70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2190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E7203-1E2F-45F0-97B4-958F9370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20E691-CB05-453C-80B6-35229FFF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228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463FF"/>
                </a:solidFill>
              </a:defRPr>
            </a:pPr>
            <a:r>
              <a:rPr sz="638" b="1">
                <a:solidFill>
                  <a:srgbClr val="1463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100665-9D89-4C82-8E9F-53B9A6B8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A33"/>
                </a:solidFill>
              </a:defRPr>
            </a:pPr>
            <a:r>
              <a:rPr sz="975" b="1">
                <a:solidFill>
                  <a:srgbClr val="071A33"/>
                </a:solidFill>
              </a:rPr>
              <a:t>PPTX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BFB00A-9093-4445-A38E-D6072C0E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2437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63FF"/>
                </a:solidFill>
              </a:defRPr>
            </a:pPr>
            <a:r>
              <a:rPr sz="975" b="0">
                <a:solidFill>
                  <a:srgbClr val="1463FF"/>
                </a:solidFill>
              </a:rPr>
              <a:t>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B9D293-E613-4FFA-B886-E34A59AE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4875"/>
            <a:ext cx="2190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91E9B7-D84F-472B-A336-F901C7CB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0D2753-A520-4B45-B229-845F68C9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28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463FF"/>
                </a:solidFill>
              </a:defRPr>
            </a:pPr>
            <a:r>
              <a:rPr sz="638" b="1">
                <a:solidFill>
                  <a:srgbClr val="1463FF"/>
                </a:solidFill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FD4CDD-349C-400D-A221-7D244107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A33"/>
                </a:solidFill>
              </a:defRPr>
            </a:pPr>
            <a:r>
              <a:rPr sz="975" b="1">
                <a:solidFill>
                  <a:srgbClr val="071A33"/>
                </a:solidFill>
              </a:rPr>
              <a:t>Beautiful.ai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3443F3-89F0-498B-B54C-15A02FC7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05400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463FF"/>
                </a:solidFill>
              </a:defRPr>
            </a:pPr>
            <a:r>
              <a:rPr sz="975" b="0">
                <a:solidFill>
                  <a:srgbClr val="1463FF"/>
                </a:solidFill>
              </a:rPr>
              <a:t>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9F67EA-AA61-4FAA-8698-33B4BDD8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21907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8B3079-3100-4EF0-BA7E-672EBE09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0AD810-DF9B-4697-B386-482713B5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228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463FF"/>
                </a:solidFill>
              </a:defRPr>
            </a:pPr>
            <a:r>
              <a:rPr sz="638" b="1">
                <a:solidFill>
                  <a:srgbClr val="1463FF"/>
                </a:solidFill>
              </a:rPr>
              <a:t>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4206F0-19FF-4850-A9CE-785B3456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A33"/>
                </a:solidFill>
              </a:defRPr>
            </a:pPr>
            <a:r>
              <a:rPr sz="975" b="1">
                <a:solidFill>
                  <a:srgbClr val="071A33"/>
                </a:solidFill>
              </a:rPr>
              <a:t>提出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B20346-79E9-459B-9F59-39A90C21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125" y="190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EA8"/>
                </a:solidFill>
              </a:defRPr>
            </a:pPr>
            <a:r>
              <a:rPr sz="675" b="1">
                <a:solidFill>
                  <a:srgbClr val="7E8EA8"/>
                </a:solidFill>
              </a:rPr>
              <a:t>OUTSIDE CENTER / 会社紹介・お問い合わせ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201043-EF74-45DD-97FA-BFDA63E0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75" y="683133"/>
            <a:ext cx="262128" cy="262128"/>
          </a:xfrm>
          <a:prstGeom xmlns:a="http://schemas.openxmlformats.org/drawingml/2006/main" prst="roundRect">
            <a:avLst>
              <a:gd name="adj" fmla="val 21802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5B5FCE-7E91-40E8-B622-54F9C54B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815" y="740474"/>
            <a:ext cx="98298" cy="98298"/>
          </a:xfrm>
          <a:prstGeom xmlns:a="http://schemas.openxmlformats.org/drawingml/2006/main" prst="roundRect">
            <a:avLst>
              <a:gd name="adj" fmla="val 19380"/>
            </a:avLst>
          </a:prstGeom>
          <a:solidFill xmlns:a="http://schemas.openxmlformats.org/drawingml/2006/main">
            <a:srgbClr val="2DE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EBE55C-63BE-46CC-AB89-7B131BBE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922" y="740474"/>
            <a:ext cx="57340" cy="172022"/>
          </a:xfrm>
          <a:prstGeom xmlns:a="http://schemas.openxmlformats.org/drawingml/2006/main" prst="roundRect">
            <a:avLst>
              <a:gd name="adj" fmla="val 33223"/>
            </a:avLst>
          </a:prstGeom>
          <a:solidFill xmlns:a="http://schemas.openxmlformats.org/drawingml/2006/main">
            <a:srgbClr val="14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BF36DB-D2EF-4EF3-BDB0-A6AFF1C7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7901" y="666750"/>
            <a:ext cx="1556385" cy="2293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071A33"/>
                </a:solidFill>
              </a:defRPr>
            </a:pPr>
            <a:r>
              <a:rPr sz="1290" b="1">
                <a:solidFill>
                  <a:srgbClr val="071A33"/>
                </a:solidFill>
              </a:rPr>
              <a:t>ProposalPilot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67F96E-D5ED-4E89-B2E9-F3468353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75" y="1333500"/>
            <a:ext cx="284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3"/>
                </a:solidFill>
              </a:defRPr>
            </a:pPr>
            <a:r>
              <a:rPr sz="1800" b="1">
                <a:solidFill>
                  <a:srgbClr val="071A33"/>
                </a:solidFill>
              </a:rPr>
              <a:t>会社紹介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4C2404-6726-40E4-B645-5488DB0C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75" y="1733550"/>
            <a:ext cx="2841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ProposalPilotは、営業提案の作成・確認・出力を支援するBtoB SaaSです。営業担当の作業負担を軽減し、管理者が運用状況を確認できる環境づくりを支援します。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1EF5F8-1A1D-41DE-870D-3B7C1801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75" y="2743200"/>
            <a:ext cx="2841625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69A6FF-477F-479A-9342-F71875B9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975" y="2990850"/>
            <a:ext cx="246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A33"/>
                </a:solidFill>
              </a:defRPr>
            </a:pPr>
            <a:r>
              <a:rPr sz="1275" b="1">
                <a:solidFill>
                  <a:srgbClr val="071A33"/>
                </a:solidFill>
              </a:rPr>
              <a:t>お問い合わせ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C65584-39B1-49AA-947A-8080161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975" y="3390900"/>
            <a:ext cx="2041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Web: 要入力</a:t>
            </a:r>
          </a:p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Mail: 要入力</a:t>
            </a:r>
          </a:p>
          <a:p xmlns:a="http://schemas.openxmlformats.org/drawingml/2006/main">
            <a:pPr algn="l"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Tel: 要入力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918B22-9C3F-4B14-8E66-49269B9E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700" y="31242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1696F5-78F9-41AF-8822-EB6B6EFB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750" y="3143250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10588B-1990-469D-B9F7-492F2D3D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329" y="3143250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E9890C-C8C9-49E2-95B0-BEEDDCF9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643" y="3143250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1CC009-6546-42BB-B8D3-CA93C4E5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221" y="3143250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494965-F550-450F-99F5-6C5D9021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750" y="3254829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1B81BA-71E1-4A58-AB79-A9FC2A17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329" y="3254829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9E0354-2006-4421-BFD8-6CFAB203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643" y="3254829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ED1833-FB11-49EF-AB14-E5D9C3A5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221" y="3254829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60EEF9-8255-4A6E-9464-EB91238C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64" y="3366407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4214C4-0FF8-437F-BF38-91015EEF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486" y="3477986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947B80-3D58-47BC-8A27-BAE67BD5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221" y="3477986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590253-7747-4C40-995C-2AD7371B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907" y="3589564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8666F33-1BAC-49D8-8A66-4FE33C25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643" y="3589564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8297C04-D16B-42BB-A4E8-35516195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750" y="3701143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869930-C515-4CEE-AC12-23932A8C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329" y="3701143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436DE8F-53B4-4B01-A590-8E7A9415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064" y="3701143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E6BD73-66F9-4041-ADFF-E921B77D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750" y="3812721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26187E9-1139-4476-8A09-338E457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329" y="3812721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5E4E780-1C6B-47F0-9176-6111070F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486" y="3812721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E5B49A6-DB1F-406D-A7A1-FF49682E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221" y="3812721"/>
            <a:ext cx="73479" cy="734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2760FFE-BE8C-4432-B02E-C489BA5E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700" y="398145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</a:defRPr>
            </a:pPr>
            <a:r>
              <a:rPr sz="600" b="0">
                <a:solidFill>
                  <a:srgbClr val="64748B"/>
                </a:solidFill>
              </a:rPr>
              <a:t>QR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70D5C4C-0EDF-445D-91C2-DE45A9EF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250" y="4038600"/>
            <a:ext cx="1123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4748B"/>
                </a:solidFill>
              </a:defRPr>
            </a:pPr>
            <a:r>
              <a:rPr sz="600" b="0">
                <a:solidFill>
                  <a:srgbClr val="64748B"/>
                </a:solidFill>
              </a:rPr>
              <a:t>QRコードスペース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F3EF729-A2CA-4A70-B2E3-76FA1853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75" y="6877050"/>
            <a:ext cx="284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</a:defRPr>
            </a:pPr>
            <a:r>
              <a:rPr sz="638" b="0">
                <a:solidFill>
                  <a:srgbClr val="64748B"/>
                </a:solidFill>
              </a:rPr>
              <a:t>※実顧客情報・APIキー・認証情報は販促素材に掲載しません。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D2EA7BA-4215-41EB-9B31-BC81DB49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50" y="190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BD7FF"/>
                </a:solidFill>
              </a:defRPr>
            </a:pPr>
            <a:r>
              <a:rPr sz="675" b="1">
                <a:solidFill>
                  <a:srgbClr val="BBD7FF"/>
                </a:solidFill>
              </a:rPr>
              <a:t>COVER / 表紙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3AF00C0-6D38-45C5-85F0-0C52397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00" y="209550"/>
            <a:ext cx="3146425" cy="7143750"/>
          </a:xfrm>
          <a:prstGeom xmlns:a="http://schemas.openxmlformats.org/drawingml/2006/main" prst="roundRect">
            <a:avLst>
              <a:gd name="adj" fmla="val 4844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123B6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F8C6317-0065-4DA6-8112-0BC5B193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250" y="608457"/>
            <a:ext cx="286512" cy="286512"/>
          </a:xfrm>
          <a:prstGeom xmlns:a="http://schemas.openxmlformats.org/drawingml/2006/main" prst="roundRect">
            <a:avLst>
              <a:gd name="adj" fmla="val 19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20C8793-D3AA-4321-A891-F8D789B9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25" y="671131"/>
            <a:ext cx="107442" cy="107442"/>
          </a:xfrm>
          <a:prstGeom xmlns:a="http://schemas.openxmlformats.org/drawingml/2006/main" prst="roundRect">
            <a:avLst>
              <a:gd name="adj" fmla="val 17730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F95AC99-8AF3-49F5-A0E5-F5F8EA74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413" y="671131"/>
            <a:ext cx="62675" cy="188023"/>
          </a:xfrm>
          <a:prstGeom xmlns:a="http://schemas.openxmlformats.org/drawingml/2006/main" prst="roundRect">
            <a:avLst>
              <a:gd name="adj" fmla="val 30395"/>
            </a:avLst>
          </a:prstGeom>
          <a:solidFill xmlns:a="http://schemas.openxmlformats.org/drawingml/2006/main">
            <a:srgbClr val="2DE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77979B1-BEC4-4CD7-8DF8-958EDBF4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204" y="590550"/>
            <a:ext cx="170116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10" b="1">
                <a:solidFill>
                  <a:srgbClr val="FFFFFF"/>
                </a:solidFill>
              </a:defRPr>
            </a:pPr>
            <a:r>
              <a:rPr sz="1410" b="1">
                <a:solidFill>
                  <a:srgbClr val="FFFFFF"/>
                </a:solidFill>
              </a:rPr>
              <a:t>ProposalPilot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3EC777F-57F1-4E60-8965-9911EC49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00" y="1352550"/>
            <a:ext cx="261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E2E6"/>
                </a:solidFill>
              </a:defRPr>
            </a:pPr>
            <a:r>
              <a:rPr sz="1800" b="1">
                <a:solidFill>
                  <a:srgbClr val="2DE2E6"/>
                </a:solidFill>
              </a:rPr>
              <a:t>AI営業秘書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BB04631-3194-41F0-8F15-70603030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00" y="1752600"/>
            <a:ext cx="26130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BD7FF"/>
                </a:solidFill>
              </a:defRPr>
            </a:pPr>
            <a:r>
              <a:rPr sz="975" b="0">
                <a:solidFill>
                  <a:srgbClr val="BBD7FF"/>
                </a:solidFill>
              </a:rPr>
              <a:t>Accelerate Every Proposal.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D96A75C-6E80-46E1-91E0-F4F50F66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00" y="2247900"/>
            <a:ext cx="26130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営業提案をAIでもっと速く、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もっと美しく。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A827AC2-DFC9-40DC-8C33-D2DF6487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00" y="3333750"/>
            <a:ext cx="2574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7E9FF"/>
                </a:solidFill>
              </a:defRPr>
            </a:pPr>
            <a:r>
              <a:rPr sz="938" b="0">
                <a:solidFill>
                  <a:srgbClr val="D7E9FF"/>
                </a:solidFill>
              </a:rPr>
              <a:t>案件入力から提案書作成、提出前チェック、各種出力までを支援します。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7626ADE-2DC2-4C88-AA84-933AA2FF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4191000"/>
            <a:ext cx="253682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15C71DE-EBBA-42A2-9C56-224A4440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4191000"/>
            <a:ext cx="25368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6CD68F1-0CFE-4F87-9012-BED6E25A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4286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E77BAA7-AEDA-473D-9500-5AF19C3C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286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1F31AA7-A8AE-4478-A0F1-2CFC5248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286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B1B7BF6-2617-4455-B084-083BDE7F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67200"/>
            <a:ext cx="114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</a:defRPr>
            </a:pPr>
            <a:r>
              <a:rPr sz="600" b="0">
                <a:solidFill>
                  <a:srgbClr val="64748B"/>
                </a:solidFill>
              </a:rPr>
              <a:t>AI営業秘書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ABFA456-62B1-4D75-A381-A2907EB0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4629150"/>
            <a:ext cx="22320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E53074F-3F00-4A33-9A7C-33077637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724400"/>
            <a:ext cx="114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案件情報を入力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267EBD9-97D5-4670-A56F-76B896B7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5143500"/>
            <a:ext cx="1065466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0B86EF-6561-4F0F-BAE3-464C5A5A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5295900"/>
            <a:ext cx="811784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5E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94EF999-9E41-4B11-A0F7-905F0049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5486400"/>
            <a:ext cx="862521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5B4A7E4-5238-4FE5-9D53-03768AFC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5657850"/>
            <a:ext cx="684943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212FC9F-26B7-491E-AC4B-094CF18A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813" y="5162550"/>
            <a:ext cx="963994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9F8FF"/>
          </a:solidFill>
          <a:ln xmlns:a="http://schemas.openxmlformats.org/drawingml/2006/main" w="9525">
            <a:solidFill>
              <a:srgbClr val="2DE2E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1EB6502-4427-4798-AF0F-D1977D06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063" y="5229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E94C80D-DB20-499F-B47A-5092E85D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13" y="5238750"/>
            <a:ext cx="544894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C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72359E6-048D-4248-958D-FCC60B77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813" y="5486400"/>
            <a:ext cx="963994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29845D0-5513-4989-8167-D6D52192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063" y="555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DADBD55-64C4-4951-A1D5-EA71A6D5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13" y="5562600"/>
            <a:ext cx="544894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C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06D60D3-11BE-4D90-A4B8-10028A48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813" y="5810250"/>
            <a:ext cx="963994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434134C-7AC3-456F-A266-27B542C3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063" y="587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543E6A-76D9-4C0C-8008-F315941F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13" y="5886450"/>
            <a:ext cx="544894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C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2A3791E-F2F5-48F2-92B2-A358761C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3813" y="6134100"/>
            <a:ext cx="963994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24AFB48-4122-4C33-89CB-4AF16E57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063" y="6200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7D55BDD-A226-4872-A0F1-437910AF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13" y="6210300"/>
            <a:ext cx="544894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C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D1B0395-0F14-4C4F-906E-251913BA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676900"/>
            <a:ext cx="819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A5E8361-CA52-475B-AD32-E2590EC1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724525"/>
            <a:ext cx="6667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71A33"/>
                </a:solidFill>
              </a:defRPr>
            </a:pPr>
            <a:r>
              <a:rPr sz="525" b="1">
                <a:solidFill>
                  <a:srgbClr val="071A33"/>
                </a:solidFill>
              </a:rPr>
              <a:t>画面モック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5111ED4-27BB-4C27-B474-8D47182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00" y="64960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9525">
            <a:solidFill>
              <a:srgbClr val="6EA8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64C0116-BC4E-483B-945B-5F91482E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6515100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202E980-FC3F-48E3-8618-AAF941A8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71" y="6515100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A99D800-6C46-4F49-8A38-E4B9AC21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957" y="6515100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7274420-4340-4A8D-AFAB-5224D9CD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879" y="6515100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E8C8291-4633-47CD-8769-871D8EE9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6594021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D3616BC-8D53-418D-B628-CD4F0BEC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71" y="6594021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A21B8CE-F93A-4C3A-BE25-3411DACA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957" y="6594021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759DCE5-12CC-478F-85A3-77558619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879" y="6594021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18193A3-BDEC-480A-AF2A-AD349697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036" y="6672943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F2CB273-47A8-4A05-8FFE-00021D75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114" y="6751864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5BEF9D4-7152-4769-B032-95276F08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879" y="6751864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F97A132-123A-4EEB-B88A-F70B6D8A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193" y="6830786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A791C72-90B8-49DC-8D51-76B4CD96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957" y="6830786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CCD51D9-7349-49FA-A145-F4DDF536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6909707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519E1DA-A9FC-47F0-BEBE-38904FD7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71" y="6909707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1DC23CE-0D7B-406C-A3F9-08BA1779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2036" y="6909707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6F3F9EE-629D-4109-81E4-70830367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350" y="6988629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B525DF6-FE9B-4EE7-9F56-C6095E11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71" y="6988629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B61A87E-6CD2-4256-9E09-E04B5B05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114" y="6988629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E913010-9A37-4971-A16D-4F54E08E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9879" y="6988629"/>
            <a:ext cx="40821" cy="408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F969433-EAB5-4F27-B4E3-51098A8A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00" y="71247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D7E9FF"/>
                </a:solidFill>
              </a:defRPr>
            </a:pPr>
            <a:r>
              <a:rPr sz="600" b="0">
                <a:solidFill>
                  <a:srgbClr val="D7E9FF"/>
                </a:solidFill>
              </a:rPr>
              <a:t>QR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6849668-5A8F-4881-9A27-BB1B5936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66103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デモ相談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C7F97E0-7D00-4FDB-907F-562E9FE5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6819900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BD7FF"/>
                </a:solidFill>
              </a:defRPr>
            </a:pPr>
            <a:r>
              <a:rPr sz="675" b="0">
                <a:solidFill>
                  <a:srgbClr val="BBD7FF"/>
                </a:solidFill>
              </a:rPr>
              <a:t>URL: 要入力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FF4C3B5-E231-4EEE-9371-F49A45C7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63" y="0"/>
            <a:ext cx="952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31E0E02-846B-407A-90A3-F009D75E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7334250"/>
            <a:ext cx="342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8BA0B8"/>
                </a:solidFill>
              </a:defRPr>
            </a:pPr>
            <a:r>
              <a:rPr sz="525" b="0">
                <a:solidFill>
                  <a:srgbClr val="8BA0B8"/>
                </a:solidFill>
              </a:rPr>
              <a:t>FOLD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2506F5D-E514-4C29-850A-1F3764D8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288" y="0"/>
            <a:ext cx="952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BF82793-20C2-467E-A309-BE268565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7334250"/>
            <a:ext cx="342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8BA0B8"/>
                </a:solidFill>
              </a:defRPr>
            </a:pPr>
            <a:r>
              <a:rPr sz="525" b="0">
                <a:solidFill>
                  <a:srgbClr val="8BA0B8"/>
                </a:solidFill>
              </a:rPr>
              <a:t>FOLD</a:t>
            </a:r>
          </a:p>
        </p:txBody>
      </p:sp>
    </p:spTree>
    <p:extLst>
      <p:ext uri="{BB962C8B-B14F-4D97-AF65-F5344CB8AC3E}">
        <p14:creationId xmlns:p14="http://schemas.microsoft.com/office/powerpoint/2010/main" val="2124498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AA8835-D066-4F25-8999-76F6974B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56552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50685-DCD2-4099-BD7C-DF7044C6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525" y="0"/>
            <a:ext cx="356552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F2A5A-B2F3-404A-932C-0EBD9B34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0" y="0"/>
            <a:ext cx="356552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F4F66-6239-4B6A-9E20-25D38435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EA8"/>
                </a:solidFill>
              </a:defRPr>
            </a:pPr>
            <a:r>
              <a:rPr sz="675" b="1">
                <a:solidFill>
                  <a:srgbClr val="7E8EA8"/>
                </a:solidFill>
              </a:rPr>
              <a:t>INSIDE 1 / AI営業秘書とは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272F6-F34F-40F9-885E-61EBC523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287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A33"/>
                </a:solidFill>
              </a:defRPr>
            </a:pPr>
            <a:r>
              <a:rPr sz="2025" b="1">
                <a:solidFill>
                  <a:srgbClr val="071A33"/>
                </a:solidFill>
              </a:rPr>
              <a:t>AI営業秘書とは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F42FA-FD3B-4535-A69B-478A7E46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66800"/>
            <a:ext cx="93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D10F3-F879-4325-BD60-AEC8AF55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71600"/>
            <a:ext cx="2879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営業活動をAIで支援する</a:t>
            </a:r>
          </a:p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営業オペレーションプラットフォーム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3FD21-D46B-44B3-95F4-27D7361D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33600"/>
            <a:ext cx="2879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</a:defRPr>
            </a:pPr>
            <a:r>
              <a:rPr sz="938" b="0">
                <a:solidFill>
                  <a:srgbClr val="64748B"/>
                </a:solidFill>
              </a:rPr>
              <a:t>案件入力から提案書作成までをワンストップで支援します。AIが提案内容の整理を支援し、人が確認してから成果物を出力する設計です。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B6E28-937C-423B-B69B-892F53CA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2574925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FBFFF-92BA-48F0-ACB3-69470EAF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25749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70DD8-1AE8-47DC-8057-1269A4BF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8A049-EB80-461B-BC98-DF677CB8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C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177CB-4A30-44D1-9715-1D14DAF6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FFECD-BFC9-465F-B0EA-4B439846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114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4748B"/>
                </a:solidFill>
              </a:defRPr>
            </a:pPr>
            <a:r>
              <a:rPr sz="600" b="0">
                <a:solidFill>
                  <a:srgbClr val="64748B"/>
                </a:solidFill>
              </a:rPr>
              <a:t>AI営業秘書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052E7-3F31-4046-8A0C-6EACB3DD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2270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7A6D7-2025-4E69-8544-8DB359D2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143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案件情報を入力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F5F64-4659-4350-9098-D0C690B4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81469" cy="1085850"/>
          </a:xfrm>
          <a:prstGeom xmlns:a="http://schemas.openxmlformats.org/drawingml/2006/main" prst="roundRect">
            <a:avLst>
              <a:gd name="adj" fmla="val 704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909E6-6B25-4510-BECB-CBF8CE9E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823976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5E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4D5D6-9745-4393-9E44-7B92B555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875474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408D9-EC1A-4C33-B029-463E99BE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69523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7001F-31E0-4349-BCC2-22BC41E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763" y="4305300"/>
            <a:ext cx="978471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9F8FF"/>
          </a:solidFill>
          <a:ln xmlns:a="http://schemas.openxmlformats.org/drawingml/2006/main" w="9525">
            <a:solidFill>
              <a:srgbClr val="2DE2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C9D15-6383-4B54-ABB1-88AE5541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013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205CD-DE84-4841-AD4C-6E49EAE3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463" y="4381500"/>
            <a:ext cx="559371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C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1CEAA6-D26A-4DE5-BA42-57E6387F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763" y="4629150"/>
            <a:ext cx="978471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D32C5-D0DE-4F7E-9E7B-8EF3DA4A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013" y="4695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9777D7-67FF-4999-8529-A8776124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463" y="4705350"/>
            <a:ext cx="559371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C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6D9AF-EABC-4388-9630-2CA5EE5F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763" y="4953000"/>
            <a:ext cx="978471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3C396-DADB-4902-80A4-1DCB263D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013" y="5019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35D6D6-5016-4D54-B2C7-C8921A8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463" y="5029200"/>
            <a:ext cx="559371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C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3CDB9C-11A6-48AA-83DB-673506E7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763" y="5276850"/>
            <a:ext cx="978471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9FE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B8FC1A-C427-420C-A599-0812D2DA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013" y="5343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799508-1C64-4447-92B6-833F840C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463" y="5353050"/>
            <a:ext cx="559371" cy="571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CB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2E5D26-AA57-4230-B58C-F80AAB22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675" y="5257800"/>
            <a:ext cx="81915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2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E5E400-B995-4256-B60E-6A8214A5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5305425"/>
            <a:ext cx="6667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71A33"/>
                </a:solidFill>
              </a:defRPr>
            </a:pPr>
            <a:r>
              <a:rPr sz="525" b="1">
                <a:solidFill>
                  <a:srgbClr val="071A33"/>
                </a:solidFill>
              </a:rPr>
              <a:t>Guided UI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08EEAD-1A4D-497A-82E4-1D3ECBB4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38900"/>
            <a:ext cx="28797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00DDCB-5BAF-4D74-9B46-7F09F99A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246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一般利用者にはシンプルに。</a:t>
            </a:r>
          </a:p>
          <a:p xmlns:a="http://schemas.openxmlformats.org/drawingml/2006/main">
            <a:pPr algn="l"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管理者には運用管理を。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8B39F2-D700-44FB-A65D-CD223CC7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125" y="190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EA8"/>
                </a:solidFill>
              </a:defRPr>
            </a:pPr>
            <a:r>
              <a:rPr sz="675" b="1">
                <a:solidFill>
                  <a:srgbClr val="7E8EA8"/>
                </a:solidFill>
              </a:rPr>
              <a:t>INSIDE 2 / 機能一覧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39A149-3571-4533-8025-0D0278C4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666750"/>
            <a:ext cx="287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A33"/>
                </a:solidFill>
              </a:defRPr>
            </a:pPr>
            <a:r>
              <a:rPr sz="2025" b="1">
                <a:solidFill>
                  <a:srgbClr val="071A33"/>
                </a:solidFill>
              </a:rPr>
              <a:t>機能一覧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03860A-BA94-4C19-A478-C0322A1A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1066800"/>
            <a:ext cx="287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提案作成、出力、管理をひとつの流れで支援します。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269915-E657-4DC5-9726-7BCF50C6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16002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2DE2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55A739-7124-49DC-9E6D-C7DE14E1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75" y="1695450"/>
            <a:ext cx="3810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10" b="1">
                <a:solidFill>
                  <a:srgbClr val="071A33"/>
                </a:solidFill>
              </a:defRPr>
            </a:pPr>
            <a:r>
              <a:rPr sz="510" b="1">
                <a:solidFill>
                  <a:srgbClr val="071A33"/>
                </a:solidFill>
              </a:rPr>
              <a:t>AI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BCE5CA-5696-4A9F-831F-0D63C9F5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1609725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</a:defRPr>
            </a:pPr>
            <a:r>
              <a:rPr sz="788" b="1">
                <a:solidFill>
                  <a:srgbClr val="0F172A"/>
                </a:solidFill>
              </a:rPr>
              <a:t>案件分析AI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4FAC76-4444-48FF-B8F7-ED15BB4C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17621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入力内容を整理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A6531A-A1F7-427F-8979-1458D828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275" y="16002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F60351-0EEB-4BBA-9165-9A3328B7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1695450"/>
            <a:ext cx="3810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10" b="1">
                <a:solidFill>
                  <a:srgbClr val="071A33"/>
                </a:solidFill>
              </a:defRPr>
            </a:pPr>
            <a:r>
              <a:rPr sz="510" b="1">
                <a:solidFill>
                  <a:srgbClr val="071A33"/>
                </a:solidFill>
              </a:rPr>
              <a:t>PROP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597796-3BFA-4FDE-BB57-0B8FA414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675" y="1609725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</a:defRPr>
            </a:pPr>
            <a:r>
              <a:rPr sz="788" b="1">
                <a:solidFill>
                  <a:srgbClr val="0F172A"/>
                </a:solidFill>
              </a:rPr>
              <a:t>提案書生成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BA0C11-E602-4459-A0E5-9C7AFA39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675" y="17621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ストーリー作成支援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5913F5-F455-4FC2-BC89-6F319C52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249555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1A137A-11C9-4A6C-B180-1134011A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75" y="2590800"/>
            <a:ext cx="3810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10" b="1">
                <a:solidFill>
                  <a:srgbClr val="071A33"/>
                </a:solidFill>
              </a:defRPr>
            </a:pPr>
            <a:r>
              <a:rPr sz="510" b="1">
                <a:solidFill>
                  <a:srgbClr val="071A33"/>
                </a:solidFill>
              </a:rPr>
              <a:t>Q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815B13-576D-4094-BEFA-1E2A266A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2505075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</a:defRPr>
            </a:pPr>
            <a:r>
              <a:rPr sz="788" b="1">
                <a:solidFill>
                  <a:srgbClr val="0F172A"/>
                </a:solidFill>
              </a:rPr>
              <a:t>Quality Gate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173582-2C20-4D93-A0F7-3E5DD758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26574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提出前チェック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AE9DCD-1251-4E2D-A434-B3FC8DC4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275" y="249555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3A4000-B55E-4739-A62E-9D5494B2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2590800"/>
            <a:ext cx="3810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10" b="1">
                <a:solidFill>
                  <a:srgbClr val="071A33"/>
                </a:solidFill>
              </a:defRPr>
            </a:pPr>
            <a:r>
              <a:rPr sz="510" b="1">
                <a:solidFill>
                  <a:srgbClr val="071A33"/>
                </a:solidFill>
              </a:rPr>
              <a:t>PPT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B1DACB-1FB6-4C06-87A8-19103CDD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675" y="2505075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</a:defRPr>
            </a:pPr>
            <a:r>
              <a:rPr sz="788" b="1">
                <a:solidFill>
                  <a:srgbClr val="0F172A"/>
                </a:solidFill>
              </a:rPr>
              <a:t>PPTX生成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645F19-D845-4182-BA71-0AE39650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675" y="26574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要約・詳細に対応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26B93D-73C7-43A3-8A68-B3288DB6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33909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2DE2E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559602-FA82-4472-9BE8-05749F14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75" y="3486150"/>
            <a:ext cx="3810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10" b="1">
                <a:solidFill>
                  <a:srgbClr val="071A33"/>
                </a:solidFill>
              </a:defRPr>
            </a:pPr>
            <a:r>
              <a:rPr sz="510" b="1">
                <a:solidFill>
                  <a:srgbClr val="071A33"/>
                </a:solidFill>
              </a:rPr>
              <a:t>B.ai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AC4C33-1403-483A-853B-37341DDC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3400425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</a:defRPr>
            </a:pPr>
            <a:r>
              <a:rPr sz="788" b="1">
                <a:solidFill>
                  <a:srgbClr val="0F172A"/>
                </a:solidFill>
              </a:rPr>
              <a:t>Beautiful.ai連携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17B90D-7500-41FA-AFFE-E4A752D0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35528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外部プレゼン生成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129109-0E1E-47BC-A3B2-683CA930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275" y="33909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3680EA-2E47-4932-A0C0-F83405F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3486150"/>
            <a:ext cx="3810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10" b="1">
                <a:solidFill>
                  <a:srgbClr val="071A33"/>
                </a:solidFill>
              </a:defRPr>
            </a:pPr>
            <a:r>
              <a:rPr sz="510" b="1">
                <a:solidFill>
                  <a:srgbClr val="071A33"/>
                </a:solidFill>
              </a:rPr>
              <a:t>PDF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903294-1F55-4230-B374-64B01DCE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675" y="3400425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</a:defRPr>
            </a:pPr>
            <a:r>
              <a:rPr sz="788" b="1">
                <a:solidFill>
                  <a:srgbClr val="0F172A"/>
                </a:solidFill>
              </a:rPr>
              <a:t>PDF生成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DB884C-077D-4D99-A44E-5EE9AEE9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675" y="35528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見積書出力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B94A133-6309-4BC0-9559-FA628491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428625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E31310-C324-4F59-B1AF-C66CB03A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75" y="4381500"/>
            <a:ext cx="3810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10" b="1">
                <a:solidFill>
                  <a:srgbClr val="071A33"/>
                </a:solidFill>
              </a:defRPr>
            </a:pPr>
            <a:r>
              <a:rPr sz="510" b="1">
                <a:solidFill>
                  <a:srgbClr val="071A33"/>
                </a:solidFill>
              </a:rPr>
              <a:t>CRM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BCA75D-43CC-43E9-867B-E2A13567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4295775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</a:defRPr>
            </a:pPr>
            <a:r>
              <a:rPr sz="788" b="1">
                <a:solidFill>
                  <a:srgbClr val="0F172A"/>
                </a:solidFill>
              </a:rPr>
              <a:t>CRM管理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42FEDD-E8AA-4375-AB4B-12F2B15D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44481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案件を継続管理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9364EA-EC59-445E-8F60-A709173B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275" y="428625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1C9A9D-5952-4D6E-B2B3-23233DF4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4381500"/>
            <a:ext cx="3810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10" b="1">
                <a:solidFill>
                  <a:srgbClr val="071A33"/>
                </a:solidFill>
              </a:defRPr>
            </a:pPr>
            <a:r>
              <a:rPr sz="510" b="1">
                <a:solidFill>
                  <a:srgbClr val="071A33"/>
                </a:solidFill>
              </a:rPr>
              <a:t>LOG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1DD5A11-87F3-4657-A06E-A38D3BFC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675" y="4295775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</a:defRPr>
            </a:pPr>
            <a:r>
              <a:rPr sz="788" b="1">
                <a:solidFill>
                  <a:srgbClr val="0F172A"/>
                </a:solidFill>
              </a:rPr>
              <a:t>監査ログ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5CF155-8564-443B-897F-9F6F1DDD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675" y="44481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操作履歴を記録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05268E3-BC4C-41E0-8804-C66CD8B4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51816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2DE2E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81F80C-6711-462C-BEE7-79726832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475" y="5276850"/>
            <a:ext cx="3810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10" b="1">
                <a:solidFill>
                  <a:srgbClr val="071A33"/>
                </a:solidFill>
              </a:defRPr>
            </a:pPr>
            <a:r>
              <a:rPr sz="510" b="1">
                <a:solidFill>
                  <a:srgbClr val="071A33"/>
                </a:solidFill>
              </a:rPr>
              <a:t>ROLE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11B01F-CFA5-443D-ADD4-B6C05783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5191125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</a:defRPr>
            </a:pPr>
            <a:r>
              <a:rPr sz="788" b="1">
                <a:solidFill>
                  <a:srgbClr val="0F172A"/>
                </a:solidFill>
              </a:rPr>
              <a:t>権限管理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B56AB5C-1FC9-41FB-9118-0F7E7327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53435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Roleごとに制御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C7E47F5-9D13-4CF9-ACA9-B5F4943E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275" y="5181600"/>
            <a:ext cx="419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9525">
            <a:solidFill>
              <a:srgbClr val="1463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1C87C29-8724-4878-8472-02392613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5276850"/>
            <a:ext cx="3810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10" b="1">
                <a:solidFill>
                  <a:srgbClr val="071A33"/>
                </a:solidFill>
              </a:defRPr>
            </a:pPr>
            <a:r>
              <a:rPr sz="510" b="1">
                <a:solidFill>
                  <a:srgbClr val="071A33"/>
                </a:solidFill>
              </a:rPr>
              <a:t>HIST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FD25399-E979-4AFE-8DF9-97324598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675" y="5191125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F172A"/>
                </a:solidFill>
              </a:defRPr>
            </a:pPr>
            <a:r>
              <a:rPr sz="788" b="1">
                <a:solidFill>
                  <a:srgbClr val="0F172A"/>
                </a:solidFill>
              </a:rPr>
              <a:t>利用履歴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E50C1C-A298-46CD-824D-0019034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675" y="53435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作成物を確認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013ACE3-C9D5-4CFC-8B80-65A391B6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650" y="190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E8EA8"/>
                </a:solidFill>
              </a:defRPr>
            </a:pPr>
            <a:r>
              <a:rPr sz="675" b="1">
                <a:solidFill>
                  <a:srgbClr val="7E8EA8"/>
                </a:solidFill>
              </a:rPr>
              <a:t>INSIDE 3 / 導入メリット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9256E0C-4754-4C2E-BEF3-BDEF470F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950" y="666750"/>
            <a:ext cx="287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71A33"/>
                </a:solidFill>
              </a:defRPr>
            </a:pPr>
            <a:r>
              <a:rPr sz="2025" b="1">
                <a:solidFill>
                  <a:srgbClr val="071A33"/>
                </a:solidFill>
              </a:rPr>
              <a:t>導入メリット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DDC9C43-6E38-4CD2-B224-C5825EF3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3950" y="1066800"/>
            <a:ext cx="287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数字の効果保証ではなく、営業提案業務の負担軽減と標準化を支援します。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4ABD757-BE07-49F6-AF13-CA833F10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100" y="1752600"/>
            <a:ext cx="1390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B9F54AF-678E-46C7-B981-3DEBFE25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1847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9525">
            <a:solidFill>
              <a:srgbClr val="2DE2E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8F28BDC-C574-4D6E-84B6-C16EE397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1905000"/>
            <a:ext cx="228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463FF"/>
                </a:solidFill>
              </a:defRPr>
            </a:pPr>
            <a:r>
              <a:rPr sz="638" b="1">
                <a:solidFill>
                  <a:srgbClr val="1463FF"/>
                </a:solidFill>
              </a:rPr>
              <a:t>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ECA02BA-BCDB-41C9-AA19-D2D70AF2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20574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3"/>
                </a:solidFill>
              </a:defRPr>
            </a:pPr>
            <a:r>
              <a:rPr sz="900" b="1">
                <a:solidFill>
                  <a:srgbClr val="071A33"/>
                </a:solidFill>
              </a:rPr>
              <a:t>提案時間短縮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6054202-2560-41F1-8B1F-0F3B7FCA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22574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資料作成の流れを支援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504F5F3-81C2-48DA-85D1-57192B1A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00" y="1752600"/>
            <a:ext cx="1390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BB7C670-1AF7-425C-9B9B-2A5BCE56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50" y="1847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9525">
            <a:solidFill>
              <a:srgbClr val="2DE2E6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C13371C-2F41-4D0C-9339-082DCB1A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50" y="1905000"/>
            <a:ext cx="228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463FF"/>
                </a:solidFill>
              </a:defRPr>
            </a:pPr>
            <a:r>
              <a:rPr sz="638" b="1">
                <a:solidFill>
                  <a:srgbClr val="1463FF"/>
                </a:solidFill>
              </a:rPr>
              <a:t>2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411269C-052F-447C-B43B-1A64947A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50" y="205740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3"/>
                </a:solidFill>
              </a:defRPr>
            </a:pPr>
            <a:r>
              <a:rPr sz="900" b="1">
                <a:solidFill>
                  <a:srgbClr val="071A33"/>
                </a:solidFill>
              </a:rPr>
              <a:t>品質均一化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3E841D8-790B-43B6-8FC4-9A5A3FE2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50" y="225742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確認項目を標準化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77A09B-F911-49DD-8D96-13FA41C4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100" y="2724150"/>
            <a:ext cx="1390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CA22D9C-7686-4AAE-859F-51AE98B7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2819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9525">
            <a:solidFill>
              <a:srgbClr val="2DE2E6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70B2E11-019C-4727-9D01-F3DDFD4E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2876550"/>
            <a:ext cx="228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463FF"/>
                </a:solidFill>
              </a:defRPr>
            </a:pPr>
            <a:r>
              <a:rPr sz="638" b="1">
                <a:solidFill>
                  <a:srgbClr val="1463FF"/>
                </a:solidFill>
              </a:rPr>
              <a:t>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175CA18-702D-4432-8477-2AC99EF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30289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3"/>
                </a:solidFill>
              </a:defRPr>
            </a:pPr>
            <a:r>
              <a:rPr sz="900" b="1">
                <a:solidFill>
                  <a:srgbClr val="071A33"/>
                </a:solidFill>
              </a:rPr>
              <a:t>営業教育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E157DAE-CA26-4CFA-85C8-EB851450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32289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手順を画面で案内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5B7E792-DD51-4E03-8531-F69A1737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00" y="2724150"/>
            <a:ext cx="1390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056A46E-AA5F-43E6-977D-FDEB42BC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50" y="2819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BFF"/>
          </a:solidFill>
          <a:ln xmlns:a="http://schemas.openxmlformats.org/drawingml/2006/main" w="9525">
            <a:solidFill>
              <a:srgbClr val="2DE2E6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D2F0AC6-8F2E-4289-AA91-513CCA69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50" y="2876550"/>
            <a:ext cx="2286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463FF"/>
                </a:solidFill>
              </a:defRPr>
            </a:pPr>
            <a:r>
              <a:rPr sz="638" b="1">
                <a:solidFill>
                  <a:srgbClr val="1463FF"/>
                </a:solidFill>
              </a:rPr>
              <a:t>4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A81E13B-9F7F-466A-87AF-6FBC8FE2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50" y="3028950"/>
            <a:ext cx="1123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A33"/>
                </a:solidFill>
              </a:defRPr>
            </a:pPr>
            <a:r>
              <a:rPr sz="900" b="1">
                <a:solidFill>
                  <a:srgbClr val="071A33"/>
                </a:solidFill>
              </a:rPr>
              <a:t>ナレッジ蓄積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27DDBB4-240B-4605-86C7-73232D4E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150" y="32289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4748B"/>
                </a:solidFill>
              </a:defRPr>
            </a:pPr>
            <a:r>
              <a:rPr sz="563" b="0">
                <a:solidFill>
                  <a:srgbClr val="64748B"/>
                </a:solidFill>
              </a:rPr>
              <a:t>作成履歴を活用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CFC6B8E-ADF7-4AD0-A5A9-F00F1E47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100" y="3848100"/>
            <a:ext cx="2765425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071A33"/>
          </a:solidFill>
          <a:ln xmlns:a="http://schemas.openxmlformats.org/drawingml/2006/main" w="9525">
            <a:solidFill>
              <a:srgbClr val="071A3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06D8D70-34D9-470B-AE12-A8889C26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4095750"/>
            <a:ext cx="2346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E2E6"/>
                </a:solidFill>
              </a:defRPr>
            </a:pPr>
            <a:r>
              <a:rPr sz="1350" b="1">
                <a:solidFill>
                  <a:srgbClr val="2DE2E6"/>
                </a:solidFill>
              </a:rPr>
              <a:t>提案成功率向上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2C6A715-242F-4F16-B4BE-F6E3EAE5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650" y="4457700"/>
            <a:ext cx="2346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7E9FF"/>
                </a:solidFill>
              </a:defRPr>
            </a:pPr>
            <a:r>
              <a:rPr sz="825" b="0">
                <a:solidFill>
                  <a:srgbClr val="D7E9FF"/>
                </a:solidFill>
              </a:rPr>
              <a:t>AIレビューと改善候補により、提案内容を見直すサイクルづくりを支援します。効果は導入後の実測で確認します。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0AA254-E49C-4EB9-B523-E58B0A16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1100" y="6858000"/>
            <a:ext cx="276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</a:defRPr>
            </a:pPr>
            <a:r>
              <a:rPr sz="638" b="0">
                <a:solidFill>
                  <a:srgbClr val="64748B"/>
                </a:solidFill>
              </a:rPr>
              <a:t>※受注率などの数値効果は保証しません。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83F7F0-3C3C-406D-85EB-8E8783D4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763" y="0"/>
            <a:ext cx="952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B32A110-E2EC-4ADF-B053-4D35A351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75" y="7334250"/>
            <a:ext cx="342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8BA0B8"/>
                </a:solidFill>
              </a:defRPr>
            </a:pPr>
            <a:r>
              <a:rPr sz="525" b="0">
                <a:solidFill>
                  <a:srgbClr val="8BA0B8"/>
                </a:solidFill>
              </a:rPr>
              <a:t>FOLD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721F3EC-4EAE-467B-8F96-576C6439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288" y="0"/>
            <a:ext cx="9525" cy="756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AC36CDB-3E2F-49A0-9151-7D8443E7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7334250"/>
            <a:ext cx="3429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25" b="0">
                <a:solidFill>
                  <a:srgbClr val="8BA0B8"/>
                </a:solidFill>
              </a:defRPr>
            </a:pPr>
            <a:r>
              <a:rPr sz="525" b="0">
                <a:solidFill>
                  <a:srgbClr val="8BA0B8"/>
                </a:solidFill>
              </a:rPr>
              <a:t>FOLD</a:t>
            </a:r>
          </a:p>
        </p:txBody>
      </p:sp>
    </p:spTree>
    <p:extLst>
      <p:ext uri="{BB962C8B-B14F-4D97-AF65-F5344CB8AC3E}">
        <p14:creationId xmlns:p14="http://schemas.microsoft.com/office/powerpoint/2010/main" val="752502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2026-07-15T19:10:49.3850000Z</dcterms:created>
  <dcterms:modified xsi:type="dcterms:W3CDTF">2026-07-15T19:10:49.3860000Z</dcterms:modified>
</coreProperties>
</file>