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76250"/>
            <a:ext cx="323850" cy="323850"/>
          </a:xfrm>
          <a:prstGeom prst="roundRect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52450"/>
            <a:ext cx="171450" cy="7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47700"/>
            <a:ext cx="114300" cy="7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9150" y="628650"/>
            <a:ext cx="66675" cy="66675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" y="495299"/>
            <a:ext cx="20954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JP"/>
              </a:rPr>
              <a:t>ProposalPilot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428750"/>
            <a:ext cx="571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DEBFF"/>
                </a:solidFill>
                <a:latin typeface="Noto Sans JP"/>
              </a:rPr>
              <a:t>ProposalPilot AI営業秘書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52624"/>
            <a:ext cx="58102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25" b="1">
                <a:solidFill>
                  <a:srgbClr val="FFFFFF"/>
                </a:solidFill>
                <a:latin typeface="Noto Sans JP"/>
              </a:rPr>
              <a:t>営業提案をAIでもっと速く、もっと美しく。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3333750"/>
            <a:ext cx="4000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DE2E6"/>
                </a:solidFill>
                <a:latin typeface="Noto Sans JP"/>
              </a:rPr>
              <a:t>Accelerate Every Proposal.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" y="3810000"/>
            <a:ext cx="5715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DEBFF"/>
                </a:solidFill>
                <a:latin typeface="Noto Sans JP"/>
              </a:rPr>
              <a:t>ProposalPilotは、案件情報入力から提案書作成、提出前チェック、PowerPoint、PDF、Beautiful.ai出力までを支援するAI営業秘書です。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5143500"/>
            <a:ext cx="865414" cy="70485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5257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5486400"/>
            <a:ext cx="67491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案件情報入力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5964" y="5391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8364" y="5143500"/>
            <a:ext cx="865414" cy="70485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22664" y="5257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2664" y="5486400"/>
            <a:ext cx="67491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AI作成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4728" y="5391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7128" y="5143500"/>
            <a:ext cx="865414" cy="70485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21428" y="5257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1428" y="5486400"/>
            <a:ext cx="67491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内容確認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3492" y="5391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5892" y="5143500"/>
            <a:ext cx="865414" cy="70485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0192" y="5257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20192" y="5486400"/>
            <a:ext cx="67491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提出前チェック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2257" y="5391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04657" y="5143500"/>
            <a:ext cx="865414" cy="704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18957" y="5257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55EEF"/>
                </a:solidFill>
                <a:latin typeface="Noto Sans JP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8957" y="5486400"/>
            <a:ext cx="67491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D2939"/>
                </a:solidFill>
                <a:latin typeface="Noto Sans JP"/>
              </a:rPr>
              <a:t>出力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1021" y="5391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03421" y="5143500"/>
            <a:ext cx="865414" cy="704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7721" y="5257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55EEF"/>
                </a:solidFill>
                <a:latin typeface="Noto Sans JP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7721" y="5486400"/>
            <a:ext cx="67491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D2939"/>
                </a:solidFill>
                <a:latin typeface="Noto Sans JP"/>
              </a:rPr>
              <a:t>AIレビューと改善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9785" y="5391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02185" y="5143500"/>
            <a:ext cx="865414" cy="704850"/>
          </a:xfrm>
          <a:prstGeom prst="roundRect">
            <a:avLst/>
          </a:prstGeom>
          <a:solidFill>
            <a:srgbClr val="12B76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16485" y="5257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16485" y="5486400"/>
            <a:ext cx="67491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完了の流れで操作します。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48550" y="5391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34250" y="914400"/>
            <a:ext cx="4000500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505700" y="1085850"/>
            <a:ext cx="3657600" cy="32385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58100" y="114300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02A43"/>
                </a:solidFill>
                <a:latin typeface="Noto Sans JP"/>
              </a:rPr>
              <a:t>ProposalPilot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15500" y="1123950"/>
            <a:ext cx="1238250" cy="228600"/>
          </a:xfrm>
          <a:prstGeom prst="roundRect">
            <a:avLst/>
          </a:prstGeom>
          <a:solidFill>
            <a:srgbClr val="EA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72650" y="1185862"/>
            <a:ext cx="11239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12B76A"/>
                </a:solidFill>
                <a:latin typeface="Noto Sans JP"/>
              </a:rPr>
              <a:t>Workspace: Sales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58100" y="1752600"/>
            <a:ext cx="3352800" cy="381000"/>
          </a:xfrm>
          <a:prstGeom prst="round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48600" y="1857375"/>
            <a:ext cx="2952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Home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58100" y="2266950"/>
            <a:ext cx="3352800" cy="381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48600" y="2371725"/>
            <a:ext cx="2952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D2939"/>
                </a:solidFill>
                <a:latin typeface="Noto Sans JP"/>
              </a:rPr>
              <a:t>Case input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58100" y="2781300"/>
            <a:ext cx="3352800" cy="381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48600" y="2886075"/>
            <a:ext cx="2952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D2939"/>
                </a:solidFill>
                <a:latin typeface="Noto Sans JP"/>
              </a:rPr>
              <a:t>Quality Gate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58100" y="3295650"/>
            <a:ext cx="3352800" cy="381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48600" y="3400425"/>
            <a:ext cx="2952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D2939"/>
                </a:solidFill>
                <a:latin typeface="Noto Sans JP"/>
              </a:rPr>
              <a:t>Creation history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06000" y="5124450"/>
            <a:ext cx="10668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01250" y="5543550"/>
            <a:ext cx="8763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QR / 要入力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20250" y="63055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DEBFF"/>
                </a:solidFill>
                <a:latin typeface="Noto Sans JP"/>
              </a:rPr>
              <a:t>Product Catalog v1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9600" y="64198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DEBFF"/>
                </a:solidFill>
                <a:latin typeface="Noto Sans JP"/>
              </a:rPr>
              <a:t>ProposalPilot / AI営業秘書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96625" y="64198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DEBFF"/>
                </a:solidFill>
                <a:latin typeface="Noto Sans JP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0050"/>
            <a:ext cx="1809750" cy="26670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70534"/>
            <a:ext cx="1695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5EEF"/>
                </a:solidFill>
                <a:latin typeface="Noto Sans JP"/>
              </a:rP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7334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102A43"/>
                </a:solidFill>
                <a:latin typeface="Noto Sans JP"/>
              </a:rPr>
              <a:t>提案書作成に残る、時間と確認の負担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1466850"/>
            <a:ext cx="6858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Noto Sans JP"/>
              </a:rPr>
              <a:t>営業資料作成には、情報整理、構成、確認、出力、修正が必要です。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198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Noto Sans JP"/>
              </a:rPr>
              <a:t>ProposalPilot / AI営業秘書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6625" y="64198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Noto Sans JP"/>
              </a:rPr>
              <a:t>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076450"/>
            <a:ext cx="53340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D2939"/>
                </a:solidFill>
                <a:latin typeface="Noto Sans JP"/>
              </a:rPr>
              <a:t>案件メールやヒアリングメモをもとに、提案内容、見積、スケジュールを整理し、社外提出前に確認する作業は負担になりがちです。担当者ごとの作り方の違いも、品質のばらつきにつながります。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3143250"/>
            <a:ext cx="2571750" cy="819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143250"/>
            <a:ext cx="47625" cy="81915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050" y="3295650"/>
            <a:ext cx="22479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Noto Sans JP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3619500"/>
            <a:ext cx="22479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案件メールやヒアリングメモをもとに、提案内容、見積、スケジュールを整理し、社外提出前に確認する作業は負担になりがちです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7100" y="3143250"/>
            <a:ext cx="2571750" cy="819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67100" y="3143250"/>
            <a:ext cx="47625" cy="819150"/>
          </a:xfrm>
          <a:prstGeom prst="rect">
            <a:avLst/>
          </a:prstGeom>
          <a:solidFill>
            <a:srgbClr val="2D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8550" y="3295650"/>
            <a:ext cx="22479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Noto Sans JP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8550" y="3619500"/>
            <a:ext cx="22479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担当者ごとの作り方の違いも、品質のばらつきにつながります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8500" y="2133600"/>
            <a:ext cx="3619500" cy="2571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19950" y="2305050"/>
            <a:ext cx="3276600" cy="32385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2350" y="236220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02A43"/>
                </a:solidFill>
                <a:latin typeface="Noto Sans JP"/>
              </a:rPr>
              <a:t>ProposalPilot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8750" y="2343150"/>
            <a:ext cx="1238250" cy="228600"/>
          </a:xfrm>
          <a:prstGeom prst="roundRect">
            <a:avLst/>
          </a:prstGeom>
          <a:solidFill>
            <a:srgbClr val="EA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5900" y="2405062"/>
            <a:ext cx="11239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12B76A"/>
                </a:solidFill>
                <a:latin typeface="Noto Sans JP"/>
              </a:rPr>
              <a:t>Workspace: Sales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72350" y="2971800"/>
            <a:ext cx="2971800" cy="381000"/>
          </a:xfrm>
          <a:prstGeom prst="round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2850" y="3076575"/>
            <a:ext cx="2571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Home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72350" y="3486150"/>
            <a:ext cx="2971800" cy="381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2850" y="3590925"/>
            <a:ext cx="2571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D2939"/>
                </a:solidFill>
                <a:latin typeface="Noto Sans JP"/>
              </a:rPr>
              <a:t>Case input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72350" y="4000500"/>
            <a:ext cx="2971800" cy="381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62850" y="4105274"/>
            <a:ext cx="2571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D2939"/>
                </a:solidFill>
                <a:latin typeface="Noto Sans JP"/>
              </a:rPr>
              <a:t>Quality Gate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72350" y="4514850"/>
            <a:ext cx="2971800" cy="381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850" y="4619625"/>
            <a:ext cx="2571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D2939"/>
                </a:solidFill>
                <a:latin typeface="Noto Sans JP"/>
              </a:rPr>
              <a:t>Creation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0050"/>
            <a:ext cx="1809750" cy="26670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70534"/>
            <a:ext cx="1695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5EEF"/>
                </a:solidFill>
                <a:latin typeface="Noto Sans JP"/>
              </a:rPr>
              <a:t>02 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7334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102A43"/>
                </a:solidFill>
                <a:latin typeface="Noto Sans JP"/>
              </a:rPr>
              <a:t>ProposalPilotは、提案作成を支援するAI営業秘書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1466850"/>
            <a:ext cx="6858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Noto Sans JP"/>
              </a:rPr>
              <a:t>入力から出力までを一つの流れで支援します。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198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Noto Sans JP"/>
              </a:rPr>
              <a:t>ProposalPilot / AI営業秘書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6625" y="64198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Noto Sans JP"/>
              </a:rPr>
              <a:t>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209800"/>
            <a:ext cx="5334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D2939"/>
                </a:solidFill>
                <a:latin typeface="Noto Sans JP"/>
              </a:rPr>
              <a:t>ProposalPilotは、案件情報を入力し、AIが提案の整理を支援し、提出前チェックを経て、PowerPoint、PDF、Beautiful.ai形式の出力へ進める製品です。一般利用者には簡単な操作フローを、管理者には運用管理機能を提供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2750" y="1676400"/>
            <a:ext cx="409575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34200" y="1847850"/>
            <a:ext cx="3752850" cy="32385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90500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02A43"/>
                </a:solidFill>
                <a:latin typeface="Noto Sans JP"/>
              </a:rPr>
              <a:t>ProposalPilot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9250" y="1885950"/>
            <a:ext cx="1238250" cy="228600"/>
          </a:xfrm>
          <a:prstGeom prst="roundRect">
            <a:avLst/>
          </a:prstGeom>
          <a:solidFill>
            <a:srgbClr val="EA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6400" y="1947862"/>
            <a:ext cx="11239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12B76A"/>
                </a:solidFill>
                <a:latin typeface="Noto Sans JP"/>
              </a:rPr>
              <a:t>Workspace: 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05650" y="2419350"/>
            <a:ext cx="372835" cy="70485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19950" y="253365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950" y="2762250"/>
            <a:ext cx="1823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案件情報入力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9435" y="266700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1835" y="2419350"/>
            <a:ext cx="372835" cy="70485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135" y="253365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135" y="2762250"/>
            <a:ext cx="1823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AI作成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5621" y="266700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8021" y="2419350"/>
            <a:ext cx="372835" cy="70485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2321" y="253365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2321" y="2762250"/>
            <a:ext cx="1823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内容確認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1807" y="266700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24207" y="2419350"/>
            <a:ext cx="372835" cy="70485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8507" y="253365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8507" y="2762250"/>
            <a:ext cx="1823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提出前チェック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7992" y="266700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30392" y="2419350"/>
            <a:ext cx="372835" cy="704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44692" y="253365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55EEF"/>
                </a:solidFill>
                <a:latin typeface="Noto Sans JP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692" y="2762250"/>
            <a:ext cx="1823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D2939"/>
                </a:solidFill>
                <a:latin typeface="Noto Sans JP"/>
              </a:rPr>
              <a:t>出力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4178" y="266700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36578" y="2419350"/>
            <a:ext cx="372835" cy="704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50878" y="253365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55EEF"/>
                </a:solidFill>
                <a:latin typeface="Noto Sans JP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0878" y="2762250"/>
            <a:ext cx="1823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D2939"/>
                </a:solidFill>
                <a:latin typeface="Noto Sans JP"/>
              </a:rPr>
              <a:t>AIレビューと改善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90364" y="266700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42764" y="2419350"/>
            <a:ext cx="372835" cy="704850"/>
          </a:xfrm>
          <a:prstGeom prst="roundRect">
            <a:avLst/>
          </a:prstGeom>
          <a:solidFill>
            <a:srgbClr val="12B76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57064" y="253365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7064" y="2762250"/>
            <a:ext cx="1823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完了の流れで操作します。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96550" y="266700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62800" y="3352800"/>
            <a:ext cx="3295650" cy="116205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34250" y="3524250"/>
            <a:ext cx="29527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02A43"/>
                </a:solidFill>
                <a:latin typeface="Noto Sans JP"/>
              </a:rPr>
              <a:t>提出前チェックとAIレビューで確認を支援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4250" y="3867150"/>
            <a:ext cx="2952750" cy="495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Noto Sans JP"/>
              </a:rPr>
              <a:t>提出前チェックでは、会社名、金額、納期、AI推測項目、上長確認などを確認します。AIレビューと改善では、提案内容の見直しや改善候補の確認を支援します。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2000" y="4095750"/>
            <a:ext cx="1714500" cy="9334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2000" y="4095750"/>
            <a:ext cx="47625" cy="933449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3449" y="4248150"/>
            <a:ext cx="13906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Noto Sans JP"/>
              </a:rPr>
              <a:t>Point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3449" y="4572000"/>
            <a:ext cx="139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ProposalPilotは、案件情報を入力し、AIが提案の整理を支援し、提出前チェックを経て、PowerPoint、PDF、Beautiful.ai形式の出力へ進める製品です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14625" y="4095750"/>
            <a:ext cx="1714500" cy="9334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14625" y="4095750"/>
            <a:ext cx="47625" cy="933449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86075" y="4248150"/>
            <a:ext cx="13906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Noto Sans JP"/>
              </a:rPr>
              <a:t>Point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86075" y="4572000"/>
            <a:ext cx="139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一般利用者には簡単な操作フローを、管理者には運用管理機能を提供します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0050"/>
            <a:ext cx="1809750" cy="26670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70534"/>
            <a:ext cx="1695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5EEF"/>
                </a:solidFill>
                <a:latin typeface="Noto Sans JP"/>
              </a:rPr>
              <a:t>03 /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7334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102A43"/>
                </a:solidFill>
                <a:latin typeface="Noto Sans JP"/>
              </a:rPr>
              <a:t>7ステップで迷わず進める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1466850"/>
            <a:ext cx="6858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Noto Sans JP"/>
              </a:rPr>
              <a:t>一般利用者は、画面の案内に沿って提案作成を進められます。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198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Noto Sans JP"/>
              </a:rPr>
              <a:t>ProposalPilot / AI営業秘書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6625" y="64198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Noto Sans JP"/>
              </a:rPr>
              <a:t>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499"/>
            <a:ext cx="1382485" cy="70485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2209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2438400"/>
            <a:ext cx="119198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案件情報入力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0685" y="2343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3085" y="2095499"/>
            <a:ext cx="1382485" cy="70485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385" y="2209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385" y="2438400"/>
            <a:ext cx="119198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AI作成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6521" y="2343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8921" y="2095499"/>
            <a:ext cx="1382485" cy="70485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03221" y="2209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3221" y="2438400"/>
            <a:ext cx="119198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内容確認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2357" y="2343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04757" y="2095499"/>
            <a:ext cx="1382485" cy="70485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19057" y="2209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9057" y="2438400"/>
            <a:ext cx="119198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提出前チェック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8192" y="2343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20592" y="2095499"/>
            <a:ext cx="1382485" cy="704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34892" y="2209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55EEF"/>
                </a:solidFill>
                <a:latin typeface="Noto Sans JP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4892" y="2438400"/>
            <a:ext cx="119198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D2939"/>
                </a:solidFill>
                <a:latin typeface="Noto Sans JP"/>
              </a:rPr>
              <a:t>出力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028" y="2343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6428" y="2095499"/>
            <a:ext cx="1382485" cy="704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50728" y="2209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55EEF"/>
                </a:solidFill>
                <a:latin typeface="Noto Sans JP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50728" y="2438400"/>
            <a:ext cx="119198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D2939"/>
                </a:solidFill>
                <a:latin typeface="Noto Sans JP"/>
              </a:rPr>
              <a:t>AIレビューと改善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9864" y="2343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52264" y="2095499"/>
            <a:ext cx="1382485" cy="704850"/>
          </a:xfrm>
          <a:prstGeom prst="roundRect">
            <a:avLst/>
          </a:prstGeom>
          <a:solidFill>
            <a:srgbClr val="12B76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66564" y="2209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66564" y="2438400"/>
            <a:ext cx="119198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完了の流れで操作します。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15700" y="2343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250" y="3238500"/>
            <a:ext cx="8763000" cy="104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D2939"/>
                </a:solidFill>
                <a:latin typeface="Noto Sans JP"/>
              </a:rPr>
              <a:t>STEP 1 案件情報入力、STEP 2 AI作成、STEP 3 内容確認、STEP 4 提出前チェック、STEP 5 出力、STEP 6 AIレビューと改善、STEP 7 完了の流れで操作します。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7250" y="4762500"/>
            <a:ext cx="876300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6800" y="4914900"/>
            <a:ext cx="80962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667085"/>
                </a:solidFill>
                <a:latin typeface="Noto Sans JP"/>
              </a:rPr>
              <a:t>初めて使う人にも、次の操作が見えやすい構成です。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0050"/>
            <a:ext cx="1809750" cy="26670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70534"/>
            <a:ext cx="1695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5EEF"/>
                </a:solidFill>
                <a:latin typeface="Noto Sans JP"/>
              </a:rPr>
              <a:t>04 / AI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7334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102A43"/>
                </a:solidFill>
                <a:latin typeface="Noto Sans JP"/>
              </a:rPr>
              <a:t>案件情報から提案の骨子づくりを支援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1466850"/>
            <a:ext cx="6858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Noto Sans JP"/>
              </a:rPr>
              <a:t>案件内容の整理と提案ストーリー作成を支援します。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198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Noto Sans JP"/>
              </a:rPr>
              <a:t>ProposalPilot / AI営業秘書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6625" y="64198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Noto Sans JP"/>
              </a:rPr>
              <a:t>5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2095499"/>
            <a:ext cx="4095750" cy="3048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2362200"/>
            <a:ext cx="1238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Noto Sans JP"/>
              </a:rPr>
              <a:t>Demo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2781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D2939"/>
                </a:solidFill>
                <a:latin typeface="Noto Sans JP"/>
              </a:rPr>
              <a:t>株式会社サンプルリフォームは、問い合わせ増加と採用強化を目的にコーポレートサイトのリニューアルを検討しています。現行サイトは情報が古く、スマートフォンで見づらい状態です。想定ページ数は20ページ、CMS導入希望、問い合わせフォームあり、公開希望は3か月後です。競合は地域密着型のリフォーム会社です。提案では、問い合わせ導線、施工事例、採用ページ、更新しやすいCMS、公開後の運用体制を重視してください。入力されていない数値や実績は推測で作らないでくださ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500" y="4324350"/>
            <a:ext cx="1428750" cy="247649"/>
          </a:xfrm>
          <a:prstGeom prst="roundRect">
            <a:avLst/>
          </a:prstGeom>
          <a:solidFill>
            <a:srgbClr val="EA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9650" y="4390548"/>
            <a:ext cx="13144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>
                <a:solidFill>
                  <a:srgbClr val="12B76A"/>
                </a:solidFill>
                <a:latin typeface="Noto Sans JP"/>
              </a:rPr>
              <a:t>Demo data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0" y="3276600"/>
            <a:ext cx="38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1">
                <a:solidFill>
                  <a:srgbClr val="155EEF"/>
                </a:solidFill>
                <a:latin typeface="Noto Sans JP"/>
              </a:rPr>
              <a:t>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5500" y="1809750"/>
            <a:ext cx="4476750" cy="3524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9350" y="2190750"/>
            <a:ext cx="371475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0">
                <a:solidFill>
                  <a:srgbClr val="1D2939"/>
                </a:solidFill>
                <a:latin typeface="Noto Sans JP"/>
              </a:rPr>
              <a:t>案件メールやメモを貼り付けると、AIが案件概要、課題、提案方針、スケジュール、注意事項の整理を支援します。営業担当は内容を確認し、必要に応じて修正します。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9350" y="3905249"/>
            <a:ext cx="342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9350" y="3905249"/>
            <a:ext cx="47625" cy="45720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57650"/>
            <a:ext cx="31051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Noto Sans JP"/>
              </a:rPr>
              <a:t>AI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81500"/>
            <a:ext cx="3105150" cy="-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案件メールやメモを貼り付けると、AIが案件概要、課題、提案方針、スケジュール、注意事項の整理を支援します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9350" y="4457700"/>
            <a:ext cx="342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9350" y="4457700"/>
            <a:ext cx="47625" cy="45720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610100"/>
            <a:ext cx="31051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Noto Sans JP"/>
              </a:rPr>
              <a:t>AI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33950"/>
            <a:ext cx="3105150" cy="-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営業担当は内容を確認し、必要に応じて修正します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0050"/>
            <a:ext cx="1809750" cy="26670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70534"/>
            <a:ext cx="1695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5EEF"/>
                </a:solidFill>
                <a:latin typeface="Noto Sans JP"/>
              </a:rPr>
              <a:t>05 /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7334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102A43"/>
                </a:solidFill>
                <a:latin typeface="Noto Sans JP"/>
              </a:rPr>
              <a:t>用途に合わせて成果物を出力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1466850"/>
            <a:ext cx="6858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Noto Sans JP"/>
              </a:rPr>
              <a:t>要約PowerPoint、詳細PowerPoint、見積PDF、Beautiful.aiに対応します。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198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Noto Sans JP"/>
              </a:rPr>
              <a:t>ProposalPilot / AI営業秘書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6625" y="64198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Noto Sans JP"/>
              </a:rPr>
              <a:t>6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" y="2057400"/>
            <a:ext cx="4381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8700" y="2286000"/>
            <a:ext cx="590550" cy="59055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9750" y="2286000"/>
            <a:ext cx="2476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Noto Sans JP"/>
              </a:rPr>
              <a:t>Summary PowerPoint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9750" y="2609850"/>
            <a:ext cx="3000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短時間の説明向けには要約PowerPoint、社内確認や本提案向けには詳細PowerPoint、見積書としてはPDFを出力できます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53100" y="2057400"/>
            <a:ext cx="4381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81700" y="2286000"/>
            <a:ext cx="590550" cy="59055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2750" y="2286000"/>
            <a:ext cx="2476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Noto Sans JP"/>
              </a:rPr>
              <a:t>Detailed PowerPoint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0" y="2609850"/>
            <a:ext cx="3000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Beautiful.ai連携により、デザインされたプレゼン生成も支援します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" y="3505200"/>
            <a:ext cx="4381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B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8700" y="3733799"/>
            <a:ext cx="590550" cy="590550"/>
          </a:xfrm>
          <a:prstGeom prst="roundRect">
            <a:avLst/>
          </a:prstGeom>
          <a:solidFill>
            <a:srgbClr val="EA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09750" y="3733799"/>
            <a:ext cx="2476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Noto Sans JP"/>
              </a:rPr>
              <a:t>Estimate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9750" y="4057650"/>
            <a:ext cx="3000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短時間の説明向けには要約PowerPoint、社内確認や本提案向けには詳細PowerPoint、見積書としてはPDFを出力できます。Beautiful.ai連携により、デザインされたプレゼン生成も支援します。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53100" y="3505200"/>
            <a:ext cx="4381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B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81700" y="3733799"/>
            <a:ext cx="590550" cy="590550"/>
          </a:xfrm>
          <a:prstGeom prst="round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2750" y="3733799"/>
            <a:ext cx="2476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Noto Sans JP"/>
              </a:rPr>
              <a:t>Beautiful.ai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0" y="4057650"/>
            <a:ext cx="3000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短時間の説明向けには要約PowerPoint、社内確認や本提案向けには詳細PowerPoint、見積書としてはPDFを出力できます。Beautiful.ai連携により、デザインされたプレゼン生成も支援します。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0050"/>
            <a:ext cx="1809750" cy="26670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70534"/>
            <a:ext cx="1695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5EEF"/>
                </a:solidFill>
                <a:latin typeface="Noto Sans JP"/>
              </a:rPr>
              <a:t>06 /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7334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102A43"/>
                </a:solidFill>
                <a:latin typeface="Noto Sans JP"/>
              </a:rPr>
              <a:t>提出前チェックとAIレビューで確認を支援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1466850"/>
            <a:ext cx="6858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Noto Sans JP"/>
              </a:rPr>
              <a:t>社外提出前に人が確認すべき項目を画面上で整理します。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198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Noto Sans JP"/>
              </a:rPr>
              <a:t>ProposalPilot / AI営業秘書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6625" y="64198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Noto Sans JP"/>
              </a:rPr>
              <a:t>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095499"/>
            <a:ext cx="495300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D2939"/>
                </a:solidFill>
                <a:latin typeface="Noto Sans JP"/>
              </a:rPr>
              <a:t>提出前チェックでは、会社名、金額、納期、AI推測項目、上長確認などを確認します。AIレビューと改善では、提案内容の見直しや改善候補の確認を支援します。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733550"/>
            <a:ext cx="4000500" cy="3371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29450" y="1905000"/>
            <a:ext cx="3657600" cy="32385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81850" y="196215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02A43"/>
                </a:solidFill>
                <a:latin typeface="Noto Sans JP"/>
              </a:rPr>
              <a:t>ProposalPilot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9250" y="1943100"/>
            <a:ext cx="1238250" cy="228600"/>
          </a:xfrm>
          <a:prstGeom prst="roundRect">
            <a:avLst/>
          </a:prstGeom>
          <a:solidFill>
            <a:srgbClr val="EA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6400" y="2005012"/>
            <a:ext cx="11239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12B76A"/>
                </a:solidFill>
                <a:latin typeface="Noto Sans JP"/>
              </a:rPr>
              <a:t>Workspace: 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900" y="2476500"/>
            <a:ext cx="359228" cy="70485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590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819400"/>
            <a:ext cx="16872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案件情報入力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1078" y="2724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3478" y="2476500"/>
            <a:ext cx="359228" cy="70485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7778" y="2590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7778" y="2819400"/>
            <a:ext cx="16872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AI作成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3657" y="2724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6057" y="2476500"/>
            <a:ext cx="359228" cy="70485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0357" y="2590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0357" y="2819400"/>
            <a:ext cx="16872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内容確認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6235" y="2724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78635" y="2476500"/>
            <a:ext cx="359228" cy="704850"/>
          </a:xfrm>
          <a:prstGeom prst="roundRect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2935" y="2590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2935" y="2819400"/>
            <a:ext cx="16872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提出前チェック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8814" y="2724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71214" y="2476500"/>
            <a:ext cx="359228" cy="704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5514" y="2590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55EEF"/>
                </a:solidFill>
                <a:latin typeface="Noto Sans JP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5514" y="2819400"/>
            <a:ext cx="16872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D2939"/>
                </a:solidFill>
                <a:latin typeface="Noto Sans JP"/>
              </a:rPr>
              <a:t>出力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11392" y="2724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63792" y="2476500"/>
            <a:ext cx="359228" cy="704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78092" y="2590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55EEF"/>
                </a:solidFill>
                <a:latin typeface="Noto Sans JP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8092" y="2819400"/>
            <a:ext cx="16872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D2939"/>
                </a:solidFill>
                <a:latin typeface="Noto Sans JP"/>
              </a:rPr>
              <a:t>AIレビューと改善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3971" y="2724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>-&gt;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56371" y="2476500"/>
            <a:ext cx="359228" cy="704850"/>
          </a:xfrm>
          <a:prstGeom prst="roundRect">
            <a:avLst/>
          </a:prstGeom>
          <a:solidFill>
            <a:srgbClr val="12B76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70671" y="2590800"/>
            <a:ext cx="228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Noto Sans JP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70671" y="2819400"/>
            <a:ext cx="16872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Noto Sans JP"/>
              </a:rPr>
              <a:t>完了の流れで操作します。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96550" y="272415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7085"/>
                </a:solidFill>
                <a:latin typeface="Noto Sans JP"/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58050" y="3409950"/>
            <a:ext cx="3200400" cy="116205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29500" y="3581400"/>
            <a:ext cx="2857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02A43"/>
                </a:solidFill>
                <a:latin typeface="Noto Sans JP"/>
              </a:rPr>
              <a:t>提出前チェックとAIレビューで確認を支援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9500" y="3924300"/>
            <a:ext cx="2857500" cy="495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Noto Sans JP"/>
              </a:rPr>
              <a:t>提出前チェックでは、会社名、金額、納期、AI推測項目、上長確認などを確認します。AIレビューと改善では、提案内容の見直しや改善候補の確認を支援します。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7250" y="3524250"/>
            <a:ext cx="228600" cy="228600"/>
          </a:xfrm>
          <a:prstGeom prst="roundRect">
            <a:avLst/>
          </a:prstGeom>
          <a:solidFill>
            <a:srgbClr val="12B76A"/>
          </a:solidFill>
          <a:ln w="12700">
            <a:solidFill>
              <a:srgbClr val="12B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57300" y="3505200"/>
            <a:ext cx="390524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D2939"/>
                </a:solidFill>
                <a:latin typeface="Noto Sans JP"/>
              </a:rPr>
              <a:t>提出前チェックでは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7250" y="3924300"/>
            <a:ext cx="228600" cy="228600"/>
          </a:xfrm>
          <a:prstGeom prst="roundRect">
            <a:avLst/>
          </a:prstGeom>
          <a:solidFill>
            <a:srgbClr val="12B76A"/>
          </a:solidFill>
          <a:ln w="12700">
            <a:solidFill>
              <a:srgbClr val="12B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57300" y="3905249"/>
            <a:ext cx="390524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D2939"/>
                </a:solidFill>
                <a:latin typeface="Noto Sans JP"/>
              </a:rPr>
              <a:t>会社名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7250" y="4324350"/>
            <a:ext cx="228600" cy="228600"/>
          </a:xfrm>
          <a:prstGeom prst="roundRect">
            <a:avLst/>
          </a:prstGeom>
          <a:solidFill>
            <a:srgbClr val="12B76A"/>
          </a:solidFill>
          <a:ln w="12700">
            <a:solidFill>
              <a:srgbClr val="12B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57300" y="4305300"/>
            <a:ext cx="390524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D2939"/>
                </a:solidFill>
                <a:latin typeface="Noto Sans JP"/>
              </a:rPr>
              <a:t>金額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7250" y="4724400"/>
            <a:ext cx="228600" cy="228600"/>
          </a:xfrm>
          <a:prstGeom prst="roundRect">
            <a:avLst/>
          </a:prstGeom>
          <a:solidFill>
            <a:srgbClr val="12B76A"/>
          </a:solidFill>
          <a:ln w="12700">
            <a:solidFill>
              <a:srgbClr val="12B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57300" y="4705350"/>
            <a:ext cx="390524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D2939"/>
                </a:solidFill>
                <a:latin typeface="Noto Sans JP"/>
              </a:rPr>
              <a:t>納期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7250" y="5124450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57300" y="5105400"/>
            <a:ext cx="390524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D2939"/>
                </a:solidFill>
                <a:latin typeface="Noto Sans JP"/>
              </a:rPr>
              <a:t>AI推測項目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0050"/>
            <a:ext cx="1809750" cy="266700"/>
          </a:xfrm>
          <a:prstGeom prst="round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70534"/>
            <a:ext cx="1695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DDEBFF"/>
                </a:solidFill>
                <a:latin typeface="Noto Sans JP"/>
              </a:rPr>
              <a:t>07 /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7334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FFFFFF"/>
                </a:solidFill>
                <a:latin typeface="Noto Sans JP"/>
              </a:rPr>
              <a:t>管理者向けの運用管理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1466850"/>
            <a:ext cx="6858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DEBFF"/>
                </a:solidFill>
                <a:latin typeface="Noto Sans JP"/>
              </a:rPr>
              <a:t>管理者は利用者、権限、監査ログ、診断を確認できます。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198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DEBFF"/>
                </a:solidFill>
                <a:latin typeface="Noto Sans JP"/>
              </a:rPr>
              <a:t>ProposalPilot / AI営業秘書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6625" y="64198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DEBFF"/>
                </a:solidFill>
                <a:latin typeface="Noto Sans JP"/>
              </a:rPr>
              <a:t>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038349"/>
            <a:ext cx="5429250" cy="990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0">
                <a:solidFill>
                  <a:srgbClr val="DDEBFF"/>
                </a:solidFill>
                <a:latin typeface="Noto Sans JP"/>
              </a:rPr>
              <a:t>admin、manager、member、viewerのRoleに応じて、利用できる機能を分けます。Organization / Workspace単位で利用範囲を管理し、主要操作は監査ログに記録します。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34250" y="1676400"/>
            <a:ext cx="3429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05700" y="1847850"/>
            <a:ext cx="3086100" cy="32385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8100" y="190500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02A43"/>
                </a:solidFill>
                <a:latin typeface="Noto Sans JP"/>
              </a:rPr>
              <a:t>ProposalPilot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885950"/>
            <a:ext cx="1238250" cy="228600"/>
          </a:xfrm>
          <a:prstGeom prst="roundRect">
            <a:avLst/>
          </a:prstGeom>
          <a:solidFill>
            <a:srgbClr val="EA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01150" y="1947862"/>
            <a:ext cx="11239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12B76A"/>
                </a:solidFill>
                <a:latin typeface="Noto Sans JP"/>
              </a:rPr>
              <a:t>Workspace: 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58100" y="2457450"/>
            <a:ext cx="2781300" cy="32385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29550" y="253365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D2939"/>
                </a:solidFill>
                <a:latin typeface="Noto Sans JP"/>
              </a:rPr>
              <a:t>admin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58100" y="2914650"/>
            <a:ext cx="2781300" cy="323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9550" y="299085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1D2939"/>
                </a:solidFill>
                <a:latin typeface="Noto Sans JP"/>
              </a:rPr>
              <a:t>manager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58100" y="3371850"/>
            <a:ext cx="2781300" cy="323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29550" y="344805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1D2939"/>
                </a:solidFill>
                <a:latin typeface="Noto Sans JP"/>
              </a:rPr>
              <a:t>member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58100" y="3829050"/>
            <a:ext cx="2781300" cy="323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29550" y="3905249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1D2939"/>
                </a:solidFill>
                <a:latin typeface="Noto Sans JP"/>
              </a:rPr>
              <a:t>viewer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7250" y="3352800"/>
            <a:ext cx="4476750" cy="323850"/>
          </a:xfrm>
          <a:prstGeom prst="roundRect">
            <a:avLst/>
          </a:prstGeom>
          <a:solidFill>
            <a:srgbClr val="143A5A"/>
          </a:solidFill>
          <a:ln w="12700">
            <a:solidFill>
              <a:srgbClr val="2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6800" y="342900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Noto Sans JP"/>
              </a:rPr>
              <a:t>admin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250" y="3829050"/>
            <a:ext cx="4476750" cy="323850"/>
          </a:xfrm>
          <a:prstGeom prst="roundRect">
            <a:avLst/>
          </a:prstGeom>
          <a:solidFill>
            <a:srgbClr val="143A5A"/>
          </a:solidFill>
          <a:ln w="12700">
            <a:solidFill>
              <a:srgbClr val="2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800" y="3905249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Noto Sans JP"/>
              </a:rPr>
              <a:t>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7250" y="4305300"/>
            <a:ext cx="4476750" cy="323850"/>
          </a:xfrm>
          <a:prstGeom prst="roundRect">
            <a:avLst/>
          </a:prstGeom>
          <a:solidFill>
            <a:srgbClr val="143A5A"/>
          </a:solidFill>
          <a:ln w="12700">
            <a:solidFill>
              <a:srgbClr val="2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438150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Noto Sans JP"/>
              </a:rPr>
              <a:t>member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250" y="4781550"/>
            <a:ext cx="4476750" cy="323850"/>
          </a:xfrm>
          <a:prstGeom prst="roundRect">
            <a:avLst/>
          </a:prstGeom>
          <a:solidFill>
            <a:srgbClr val="143A5A"/>
          </a:solidFill>
          <a:ln w="12700">
            <a:solidFill>
              <a:srgbClr val="2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6800" y="485775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Noto Sans JP"/>
              </a:rPr>
              <a:t>viewer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19750" y="3543300"/>
            <a:ext cx="1524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19750" y="3543300"/>
            <a:ext cx="47625" cy="952500"/>
          </a:xfrm>
          <a:prstGeom prst="rect">
            <a:avLst/>
          </a:prstGeom>
          <a:solidFill>
            <a:srgbClr val="2D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91200" y="3695700"/>
            <a:ext cx="12001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Noto Sans JP"/>
              </a:rPr>
              <a:t>Organization / Workspace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1200" y="4019549"/>
            <a:ext cx="1200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Workspace unit operation scope.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19750" y="4686300"/>
            <a:ext cx="1524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19750" y="4686300"/>
            <a:ext cx="47625" cy="9525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91200" y="4838700"/>
            <a:ext cx="12001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Noto Sans JP"/>
              </a:rPr>
              <a:t>Audit 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91200" y="5162550"/>
            <a:ext cx="1200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Major operations can be reviewed.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0050"/>
            <a:ext cx="1809750" cy="26670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70534"/>
            <a:ext cx="1695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5EEF"/>
                </a:solidFill>
                <a:latin typeface="Noto Sans JP"/>
              </a:rPr>
              <a:t>08 /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7334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102A43"/>
                </a:solidFill>
                <a:latin typeface="Noto Sans JP"/>
              </a:rPr>
              <a:t>提案作成業務の標準化を支援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1466850"/>
            <a:ext cx="6858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Noto Sans JP"/>
              </a:rPr>
              <a:t>提案資料作成の負担軽減と確認プロセスの標準化を支援します。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198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Noto Sans JP"/>
              </a:rPr>
              <a:t>ProposalPilot / AI営業秘書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6625" y="64198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Noto Sans JP"/>
              </a:rPr>
              <a:t>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1885950"/>
            <a:ext cx="9906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D2939"/>
                </a:solidFill>
                <a:latin typeface="Noto Sans JP"/>
              </a:rPr>
              <a:t>新規案件の提案、既存顧客への追加提案、Web制作提案、営業DX提案、社内確認用資料作成などに利用できます。効果数値は導入後の実測により確認します。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50" y="2762250"/>
            <a:ext cx="3048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2762250"/>
            <a:ext cx="47625" cy="91440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2914650"/>
            <a:ext cx="27241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Noto Sans JP"/>
              </a:rPr>
              <a:t>Use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238500"/>
            <a:ext cx="2724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新規案件の提案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90999" y="2762250"/>
            <a:ext cx="3048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0999" y="2762250"/>
            <a:ext cx="47625" cy="9144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2450" y="2914650"/>
            <a:ext cx="27241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Noto Sans JP"/>
              </a:rPr>
              <a:t>Use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2450" y="3238500"/>
            <a:ext cx="2724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既存顧客への追加提案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15250" y="2762250"/>
            <a:ext cx="3048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15250" y="2762250"/>
            <a:ext cx="47625" cy="91440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6700" y="2914650"/>
            <a:ext cx="27241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Noto Sans JP"/>
              </a:rPr>
              <a:t>Use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6700" y="3238500"/>
            <a:ext cx="2724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Web制作提案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50" y="4000500"/>
            <a:ext cx="3048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6750" y="4000500"/>
            <a:ext cx="47625" cy="9144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" y="4152900"/>
            <a:ext cx="27241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Noto Sans JP"/>
              </a:rPr>
              <a:t>Use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4476750"/>
            <a:ext cx="2724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営業DX提案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90999" y="4000500"/>
            <a:ext cx="3048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0999" y="4000500"/>
            <a:ext cx="47625" cy="91440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2450" y="4152900"/>
            <a:ext cx="27241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Noto Sans JP"/>
              </a:rPr>
              <a:t>Use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2450" y="4476750"/>
            <a:ext cx="2724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社内確認用資料作成などに利用できます。効果数値は導入後の実測により確認します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0050"/>
            <a:ext cx="1809750" cy="26670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70534"/>
            <a:ext cx="1695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5EEF"/>
                </a:solidFill>
                <a:latin typeface="Noto Sans JP"/>
              </a:rPr>
              <a:t>09 /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7334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102A43"/>
                </a:solidFill>
                <a:latin typeface="Noto Sans JP"/>
              </a:rPr>
              <a:t>営業提案業務に特化した一気通貫支援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1466850"/>
            <a:ext cx="6858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Noto Sans JP"/>
              </a:rPr>
              <a:t>汎用AIやデザインツールとは異なり、営業提案の流れに沿って支援します。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198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Noto Sans JP"/>
              </a:rPr>
              <a:t>ProposalPilot / AI営業秘書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6625" y="64198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Noto Sans JP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2038349"/>
            <a:ext cx="10287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1D2939"/>
                </a:solidFill>
                <a:latin typeface="Noto Sans JP"/>
              </a:rPr>
              <a:t>ChatGPTは汎用的なAI対話、GammaやCanvaは資料作成、Beautiful.aiはプレゼンデザイン、Notion AIはナレッジ整理に強みがあります。ProposalPilotは、案件入力、提案生成、提出前チェック、出力、履歴、管理機能を営業提案の流れとしてまとめる点が特徴です。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43250"/>
            <a:ext cx="10572750" cy="2114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143250"/>
            <a:ext cx="2114550" cy="352425"/>
          </a:xfrm>
          <a:prstGeom prst="rect">
            <a:avLst/>
          </a:prstGeom>
          <a:solidFill>
            <a:srgbClr val="F1F5F9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050" y="3257550"/>
            <a:ext cx="19240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02A43"/>
                </a:solidFill>
                <a:latin typeface="Noto Sans JP"/>
              </a:rPr>
              <a:t>Axis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0350" y="3143250"/>
            <a:ext cx="2114550" cy="352425"/>
          </a:xfrm>
          <a:prstGeom prst="rect">
            <a:avLst/>
          </a:prstGeom>
          <a:solidFill>
            <a:srgbClr val="F1F5F9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5600" y="3257550"/>
            <a:ext cx="19240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Noto Sans JP"/>
              </a:rPr>
              <a:t>General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14900" y="3143250"/>
            <a:ext cx="2114550" cy="352425"/>
          </a:xfrm>
          <a:prstGeom prst="rect">
            <a:avLst/>
          </a:prstGeom>
          <a:solidFill>
            <a:srgbClr val="F1F5F9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150" y="3257550"/>
            <a:ext cx="19240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Noto Sans JP"/>
              </a:rPr>
              <a:t>Deck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9450" y="3143250"/>
            <a:ext cx="2114550" cy="352425"/>
          </a:xfrm>
          <a:prstGeom prst="rect">
            <a:avLst/>
          </a:prstGeom>
          <a:solidFill>
            <a:srgbClr val="F1F5F9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4700" y="3257550"/>
            <a:ext cx="19240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Noto Sans JP"/>
              </a:rPr>
              <a:t>Design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3143250"/>
            <a:ext cx="2114550" cy="352425"/>
          </a:xfrm>
          <a:prstGeom prst="rect">
            <a:avLst/>
          </a:prstGeom>
          <a:solidFill>
            <a:srgbClr val="F1F5F9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257550"/>
            <a:ext cx="19240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Noto Sans JP"/>
              </a:rPr>
              <a:t>ProposalPilot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3590925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D2939"/>
                </a:solidFill>
                <a:latin typeface="Noto Sans JP"/>
              </a:rPr>
              <a:t>Sales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5600" y="3590925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150" y="3590925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Partial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4700" y="3590925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Assets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0" y="3590925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050" y="3943350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D2939"/>
                </a:solidFill>
                <a:latin typeface="Noto Sans JP"/>
              </a:rPr>
              <a:t>Quality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5600" y="3943350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Manual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0150" y="3943350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Limited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4700" y="3943350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Manual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9250" y="3943350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Included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050" y="4295775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D2939"/>
                </a:solidFill>
                <a:latin typeface="Noto Sans JP"/>
              </a:rPr>
              <a:t>PPTX /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5600" y="4295775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Separate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150" y="4295775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Partial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24700" y="4295775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9250" y="4295775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Same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050" y="4648200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D2939"/>
                </a:solidFill>
                <a:latin typeface="Noto Sans JP"/>
              </a:rPr>
              <a:t>Beautiful.ai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95600" y="4648200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Separate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150" y="4648200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Separate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4700" y="4648200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Separate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9250" y="4648200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Connected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050" y="5000625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D2939"/>
                </a:solidFill>
                <a:latin typeface="Noto Sans JP"/>
              </a:rPr>
              <a:t>History / Role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95600" y="5000625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Separate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10150" y="5000625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Limited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24700" y="5000625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Limited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9250" y="5000625"/>
            <a:ext cx="19240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Noto Sans JP"/>
              </a:rPr>
              <a:t>Workspace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850" y="55245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667085"/>
                </a:solidFill>
                <a:latin typeface="Noto Sans JP"/>
              </a:rPr>
              <a:t>競合の価格や性能を断定しない。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0050"/>
            <a:ext cx="1809750" cy="26670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70534"/>
            <a:ext cx="1695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55EEF"/>
                </a:solidFill>
                <a:latin typeface="Noto Sans JP"/>
              </a:rPr>
              <a:t>10 /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7334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102A43"/>
                </a:solidFill>
                <a:latin typeface="Noto Sans JP"/>
              </a:rPr>
              <a:t>小さく試し、運用に合わせて広げる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1466850"/>
            <a:ext cx="6858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Noto Sans JP"/>
              </a:rPr>
              <a:t>デモ、試験利用、運用設定、本番利用の順で導入できます。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198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Noto Sans JP"/>
              </a:rPr>
              <a:t>ProposalPilot / AI営業秘書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6625" y="64198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Noto Sans JP"/>
              </a:rP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885950"/>
            <a:ext cx="9906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D2939"/>
                </a:solidFill>
                <a:latin typeface="Noto Sans JP"/>
              </a:rPr>
              <a:t>まずは架空案件または社内用データでデモを確認し、利用者と管理者の操作を確認します。その後、Organization / Workspace、Role、Beautiful.ai設定、バックアップ手順を整え、本番利用へ進めます。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250" y="2781300"/>
            <a:ext cx="169545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66800" y="3009900"/>
            <a:ext cx="704850" cy="22860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3950" y="3071812"/>
            <a:ext cx="590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155EEF"/>
                </a:solidFill>
                <a:latin typeface="Noto Sans JP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467100"/>
            <a:ext cx="1295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Noto Sans JP"/>
              </a:rPr>
              <a:t>まずは架空案件または社内用データでデモを確認し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33700" y="2781300"/>
            <a:ext cx="169545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43250" y="3009900"/>
            <a:ext cx="704850" cy="22860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071812"/>
            <a:ext cx="590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155EEF"/>
                </a:solidFill>
                <a:latin typeface="Noto Sans JP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3250" y="3467100"/>
            <a:ext cx="1295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Noto Sans JP"/>
              </a:rPr>
              <a:t>利用者と管理者の操作を確認します。その後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0150" y="2781300"/>
            <a:ext cx="169545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9700" y="3009900"/>
            <a:ext cx="704850" cy="22860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850" y="3071812"/>
            <a:ext cx="590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155EEF"/>
                </a:solidFill>
                <a:latin typeface="Noto Sans JP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9700" y="3467100"/>
            <a:ext cx="1295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Noto Sans JP"/>
              </a:rPr>
              <a:t>Organization / Workspace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2781300"/>
            <a:ext cx="169545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96150" y="3009900"/>
            <a:ext cx="704850" cy="22860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3299" y="3071812"/>
            <a:ext cx="590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155EEF"/>
                </a:solidFill>
                <a:latin typeface="Noto Sans JP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150" y="3467100"/>
            <a:ext cx="1295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Noto Sans JP"/>
              </a:rPr>
              <a:t>Role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63050" y="2781300"/>
            <a:ext cx="169545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72600" y="3009900"/>
            <a:ext cx="704850" cy="22860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29750" y="3071812"/>
            <a:ext cx="590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155EEF"/>
                </a:solidFill>
                <a:latin typeface="Noto Sans JP"/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467100"/>
            <a:ext cx="1295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02A43"/>
                </a:solidFill>
                <a:latin typeface="Noto Sans JP"/>
              </a:rPr>
              <a:t>Beautiful.ai設定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250" y="4762500"/>
            <a:ext cx="22860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700" y="4914900"/>
            <a:ext cx="2000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Noto Sans JP"/>
              </a:rPr>
              <a:t>Pricing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" y="5162550"/>
            <a:ext cx="2000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55EEF"/>
                </a:solidFill>
                <a:latin typeface="Noto Sans JP"/>
              </a:rPr>
              <a:t>デモ・導入相談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4250" y="4762500"/>
            <a:ext cx="22860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5700" y="4914900"/>
            <a:ext cx="2000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Noto Sans JP"/>
              </a:rPr>
              <a:t>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95700" y="5162550"/>
            <a:ext cx="2000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B76A"/>
                </a:solidFill>
                <a:latin typeface="Noto Sans JP"/>
              </a:rPr>
              <a:t>TBD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1250" y="4762500"/>
            <a:ext cx="22860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2700" y="4914900"/>
            <a:ext cx="2000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Noto Sans JP"/>
              </a:rPr>
              <a:t>Beautiful.ai fee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2700" y="5162550"/>
            <a:ext cx="2000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DB022"/>
                </a:solidFill>
                <a:latin typeface="Noto Sans JP"/>
              </a:rPr>
              <a:t>TBD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14350"/>
            <a:ext cx="323850" cy="323850"/>
          </a:xfrm>
          <a:prstGeom prst="roundRect">
            <a:avLst/>
          </a:prstGeom>
          <a:solidFill>
            <a:srgbClr val="D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90550"/>
            <a:ext cx="171450" cy="7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85800"/>
            <a:ext cx="114300" cy="7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9150" y="666750"/>
            <a:ext cx="66675" cy="66675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" y="533400"/>
            <a:ext cx="20954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JP"/>
              </a:rPr>
              <a:t>ProposalPilot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428750"/>
            <a:ext cx="5905500" cy="495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Noto Sans JP"/>
              </a:rPr>
              <a:t>デモ・導入相談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095499"/>
            <a:ext cx="628650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Noto Sans JP"/>
              </a:rPr>
              <a:t>まずは現在の提案作成フローをお聞かせください。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3067050"/>
            <a:ext cx="5715000" cy="495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0">
                <a:solidFill>
                  <a:srgbClr val="DDEBFF"/>
                </a:solidFill>
                <a:latin typeface="Noto Sans JP"/>
              </a:rPr>
              <a:t>ProposalPilotのデモ、試験利用、導入相談については、以下よりお問い合わせください。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4000500"/>
            <a:ext cx="2095499" cy="323850"/>
          </a:xfrm>
          <a:prstGeom prst="roundRect">
            <a:avLst/>
          </a:prstGeom>
          <a:solidFill>
            <a:srgbClr val="2D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4089082"/>
            <a:ext cx="198119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02A43"/>
                </a:solidFill>
                <a:latin typeface="Noto Sans JP"/>
              </a:rPr>
              <a:t>Demo / 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39000" y="1047749"/>
            <a:ext cx="3333750" cy="3333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390650"/>
            <a:ext cx="2095499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Noto Sans JP"/>
              </a:rPr>
              <a:t>Contact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1899" y="19431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667085"/>
                </a:solidFill>
                <a:latin typeface="Noto Sans JP"/>
              </a:rPr>
              <a:t>Company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0" y="194310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D2939"/>
                </a:solidFill>
                <a:latin typeface="Noto Sans JP"/>
              </a:rPr>
              <a:t>要入力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1899" y="234315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667085"/>
                </a:solidFill>
                <a:latin typeface="Noto Sans JP"/>
              </a:rPr>
              <a:t>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0" y="234315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D2939"/>
                </a:solidFill>
                <a:latin typeface="Noto Sans JP"/>
              </a:rPr>
              <a:t>要入力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1899" y="27432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667085"/>
                </a:solidFill>
                <a:latin typeface="Noto Sans JP"/>
              </a:rPr>
              <a:t>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0" y="274320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D2939"/>
                </a:solidFill>
                <a:latin typeface="Noto Sans JP"/>
              </a:rPr>
              <a:t>要入力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1899" y="314325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667085"/>
                </a:solidFill>
                <a:latin typeface="Noto Sans JP"/>
              </a:rPr>
              <a:t>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750" y="314325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D2939"/>
                </a:solidFill>
                <a:latin typeface="Noto Sans JP"/>
              </a:rPr>
              <a:t>要入力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1899" y="35433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667085"/>
                </a:solidFill>
                <a:latin typeface="Noto Sans JP"/>
              </a:rPr>
              <a:t>Phone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7750" y="354330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D2939"/>
                </a:solidFill>
                <a:latin typeface="Noto Sans JP"/>
              </a:rPr>
              <a:t>要入力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500" y="3276600"/>
            <a:ext cx="990599" cy="9905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3050" y="3543300"/>
            <a:ext cx="571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>
                <a:solidFill>
                  <a:srgbClr val="667085"/>
                </a:solidFill>
                <a:latin typeface="Noto Sans JP"/>
              </a:rPr>
              <a:t>QR</a:t>
            </a:r>
          </a:p>
          <a:p>
            <a:pPr algn="ctr"/>
            <a:r>
              <a:rPr sz="1125" b="1">
                <a:solidFill>
                  <a:srgbClr val="667085"/>
                </a:solidFill>
                <a:latin typeface="Noto Sans JP"/>
              </a:rPr>
              <a:t>要入力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" y="6229350"/>
            <a:ext cx="4095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DEBFF"/>
                </a:solidFill>
                <a:latin typeface="Noto Sans JP"/>
              </a:rPr>
              <a:t>Terms / Privacy: 要入力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4198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DEBFF"/>
                </a:solidFill>
                <a:latin typeface="Noto Sans JP"/>
              </a:rPr>
              <a:t>ProposalPilot / AI営業秘書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6625" y="64198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DEBFF"/>
                </a:solidFill>
                <a:latin typeface="Noto Sans JP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