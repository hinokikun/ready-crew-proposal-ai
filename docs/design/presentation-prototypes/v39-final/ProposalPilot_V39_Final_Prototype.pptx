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03974f972694561" /><Relationship Type="http://schemas.openxmlformats.org/officeDocument/2006/relationships/extended-properties" Target="/docProps/app.xml" Id="R20c5b13c6bef4027" /><Relationship Type="http://schemas.openxmlformats.org/officeDocument/2006/relationships/officeDocument" Target="/ppt/presentation.xml" Id="R53acc5d08ff74bf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87b2db9b7374c96"/>
  </p:sldMasterIdLst>
  <p:notesMasterIdLst>
    <p:notesMasterId xmlns:r="http://schemas.openxmlformats.org/officeDocument/2006/relationships" r:id="Re71cca7c3cc14731"/>
  </p:notesMasterIdLst>
  <p:sldIdLst>
    <p:sldId xmlns:r="http://schemas.openxmlformats.org/officeDocument/2006/relationships" id="256" r:id="Ra364ee92a8cd479f"/>
    <p:sldId xmlns:r="http://schemas.openxmlformats.org/officeDocument/2006/relationships" id="257" r:id="R07cf593c69fc4ff4"/>
    <p:sldId xmlns:r="http://schemas.openxmlformats.org/officeDocument/2006/relationships" id="258" r:id="Rb57145b5da044192"/>
    <p:sldId xmlns:r="http://schemas.openxmlformats.org/officeDocument/2006/relationships" id="259" r:id="R11cc4c10d3374f43"/>
    <p:sldId xmlns:r="http://schemas.openxmlformats.org/officeDocument/2006/relationships" id="260" r:id="R37d607e5d7a94c2a"/>
    <p:sldId xmlns:r="http://schemas.openxmlformats.org/officeDocument/2006/relationships" id="261" r:id="Rff5a8c48e6844c3e"/>
    <p:sldId xmlns:r="http://schemas.openxmlformats.org/officeDocument/2006/relationships" id="262" r:id="Rf428a84d3f304f83"/>
    <p:sldId xmlns:r="http://schemas.openxmlformats.org/officeDocument/2006/relationships" id="263" r:id="R830bc38c3c7248d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01f3ea6a7b64a4f" /><Relationship Type="http://schemas.openxmlformats.org/officeDocument/2006/relationships/slideMaster" Target="/ppt/slideMasters/slideMaster1.xml" Id="Rc87b2db9b7374c96" /><Relationship Type="http://schemas.openxmlformats.org/officeDocument/2006/relationships/notesMaster" Target="/ppt/notesMasters/notesMaster1.xml" Id="Re71cca7c3cc14731" /><Relationship Type="http://schemas.openxmlformats.org/officeDocument/2006/relationships/presProps" Target="/ppt/presProps.xml" Id="Rf5cf98011ec74722" /><Relationship Type="http://schemas.openxmlformats.org/officeDocument/2006/relationships/tableStyles" Target="/ppt/tableStyles.xml" Id="Ra948bec7df6242f1" /><Relationship Type="http://schemas.openxmlformats.org/officeDocument/2006/relationships/slide" Target="/ppt/slides/slide1.xml" Id="Ra364ee92a8cd479f" /><Relationship Type="http://schemas.openxmlformats.org/officeDocument/2006/relationships/slide" Target="/ppt/slides/slide2.xml" Id="R07cf593c69fc4ff4" /><Relationship Type="http://schemas.openxmlformats.org/officeDocument/2006/relationships/slide" Target="/ppt/slides/slide3.xml" Id="Rb57145b5da044192" /><Relationship Type="http://schemas.openxmlformats.org/officeDocument/2006/relationships/slide" Target="/ppt/slides/slide4.xml" Id="R11cc4c10d3374f43" /><Relationship Type="http://schemas.openxmlformats.org/officeDocument/2006/relationships/slide" Target="/ppt/slides/slide5.xml" Id="R37d607e5d7a94c2a" /><Relationship Type="http://schemas.openxmlformats.org/officeDocument/2006/relationships/slide" Target="/ppt/slides/slide6.xml" Id="Rff5a8c48e6844c3e" /><Relationship Type="http://schemas.openxmlformats.org/officeDocument/2006/relationships/slide" Target="/ppt/slides/slide7.xml" Id="Rf428a84d3f304f83" /><Relationship Type="http://schemas.openxmlformats.org/officeDocument/2006/relationships/slide" Target="/ppt/slides/slide8.xml" Id="R830bc38c3c7248d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76be05bb7ad4a2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d7db9d108624dfa" /><Relationship Type="http://schemas.openxmlformats.org/officeDocument/2006/relationships/notesMaster" Target="/ppt/notesMasters/notesMaster1.xml" Id="Rf4f9ba989c2d418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440bb033731479f" /><Relationship Type="http://schemas.openxmlformats.org/officeDocument/2006/relationships/notesMaster" Target="/ppt/notesMasters/notesMaster1.xml" Id="Rda81455deb4e430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314744556434a7e" /><Relationship Type="http://schemas.openxmlformats.org/officeDocument/2006/relationships/notesMaster" Target="/ppt/notesMasters/notesMaster1.xml" Id="Ra38732a07ca1452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ad1aeae7c4d4376" /><Relationship Type="http://schemas.openxmlformats.org/officeDocument/2006/relationships/notesMaster" Target="/ppt/notesMasters/notesMaster1.xml" Id="R805f68dd3bc3403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f8465c2135c4caa" /><Relationship Type="http://schemas.openxmlformats.org/officeDocument/2006/relationships/notesMaster" Target="/ppt/notesMasters/notesMaster1.xml" Id="Re455375ef64341b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34fd4103fd04a5a" /><Relationship Type="http://schemas.openxmlformats.org/officeDocument/2006/relationships/notesMaster" Target="/ppt/notesMasters/notesMaster1.xml" Id="R6e6c11798e0f479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2f3201bcfd44714" /><Relationship Type="http://schemas.openxmlformats.org/officeDocument/2006/relationships/notesMaster" Target="/ppt/notesMasters/notesMaster1.xml" Id="R615421b7f26b42d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a39bd27e2fe4bb7" /><Relationship Type="http://schemas.openxmlformats.org/officeDocument/2006/relationships/notesMaster" Target="/ppt/notesMasters/notesMaster1.xml" Id="R9324f903c8c3478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a3522cc915423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d295f4902044567" /><Relationship Type="http://schemas.openxmlformats.org/officeDocument/2006/relationships/slideLayout" Target="/ppt/slideLayouts/slideLayout1.xml" Id="R8f476a62157e438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f476a62157e438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7a80d5b025474b" /><Relationship Type="http://schemas.openxmlformats.org/officeDocument/2006/relationships/notesSlide" Target="/ppt/notesSlides/notesSlide1.xml" Id="R4f85477b347f42b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f5bee634354f41" /><Relationship Type="http://schemas.openxmlformats.org/officeDocument/2006/relationships/notesSlide" Target="/ppt/notesSlides/notesSlide2.xml" Id="R5c74589e10c6445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aed1a7f62f4b11" /><Relationship Type="http://schemas.openxmlformats.org/officeDocument/2006/relationships/notesSlide" Target="/ppt/notesSlides/notesSlide3.xml" Id="R71b773d18af0498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6335dec4fb4d70" /><Relationship Type="http://schemas.openxmlformats.org/officeDocument/2006/relationships/notesSlide" Target="/ppt/notesSlides/notesSlide4.xml" Id="R0a7efec8644f4d4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116cb6877b4ca6" /><Relationship Type="http://schemas.openxmlformats.org/officeDocument/2006/relationships/notesSlide" Target="/ppt/notesSlides/notesSlide5.xml" Id="R6c2b280a98d943d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cac89d00cf43dc" /><Relationship Type="http://schemas.openxmlformats.org/officeDocument/2006/relationships/notesSlide" Target="/ppt/notesSlides/notesSlide6.xml" Id="Re88269141509400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75b878d44d4c9a" /><Relationship Type="http://schemas.openxmlformats.org/officeDocument/2006/relationships/notesSlide" Target="/ppt/notesSlides/notesSlide7.xml" Id="R28057d57b9bd47d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783bf462464687" /><Relationship Type="http://schemas.openxmlformats.org/officeDocument/2006/relationships/notesSlide" Target="/ppt/notesSlides/notesSlide8.xml" Id="R5b6267aca3f24fd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206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B4E7ABE-9FA8-454F-8433-601C29F06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206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7C7D6A-9869-4A31-A1A3-5AF3819B6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624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EFF7A9-6B06-4033-B9F4-8AF5F9AFE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624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32A67A-61A9-445F-9375-50D4E4AA0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800100"/>
            <a:ext cx="3429000" cy="4476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1C398E"/>
          </a:solidFill>
          <a:ln xmlns:a="http://schemas.openxmlformats.org/drawingml/2006/main" w="9525">
            <a:solidFill>
              <a:srgbClr val="193CB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BFB392-6EBC-4E3E-989D-BB5A18495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162050"/>
            <a:ext cx="3429000" cy="4476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0F172B"/>
          </a:solidFill>
          <a:ln xmlns:a="http://schemas.openxmlformats.org/drawingml/2006/main" w="9525">
            <a:solidFill>
              <a:srgbClr val="1447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08A1E9-D2FD-4E6C-A408-861D004CF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466850"/>
            <a:ext cx="2876550" cy="2266950"/>
          </a:xfrm>
          <a:prstGeom xmlns:a="http://schemas.openxmlformats.org/drawingml/2006/main" prst="roundRect">
            <a:avLst>
              <a:gd name="adj" fmla="val 6723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EDB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F09478-4FAF-4ADA-9E7B-8840A5BA5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695450"/>
            <a:ext cx="24193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EDB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15715F-D7FB-42EA-89B3-077A59E44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47925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47E6"/>
                </a:solidFill>
              </a:defRPr>
            </a:pPr>
            <a:r>
              <a:rPr sz="1350" b="1">
                <a:solidFill>
                  <a:srgbClr val="1447E6"/>
                </a:solidFill>
              </a:rPr>
              <a:t>生花商品画像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899624-B3D0-493C-A855-A59C9767E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086100"/>
            <a:ext cx="20383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D3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D743CC-15B0-4EDC-A88F-C2CEEB8BD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6870" y="1895475"/>
            <a:ext cx="519684" cy="51968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7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0B72CE-B662-497D-8B91-C286796A5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2066" y="2143506"/>
            <a:ext cx="59055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EF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A22322-13E9-465F-8D11-D12852A43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6004" y="2415159"/>
            <a:ext cx="614172" cy="61417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96A00E-9B7F-4F35-9274-1D2F5F82C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651379"/>
            <a:ext cx="555117" cy="55511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5D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890675-9884-4B6D-BBBA-B231C1591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1279" y="2356104"/>
            <a:ext cx="460629" cy="460629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D3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A623E3-00EF-4387-9E45-38F3CE758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8523" y="2474214"/>
            <a:ext cx="366141" cy="1653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16" b="1">
                <a:solidFill>
                  <a:srgbClr val="020618"/>
                </a:solidFill>
              </a:defRPr>
            </a:pPr>
            <a:r>
              <a:rPr sz="1116" b="1">
                <a:solidFill>
                  <a:srgbClr val="020618"/>
                </a:solidFill>
              </a:rPr>
              <a:t>AI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7B0FA9-426F-4A23-8686-AA0C876A8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406" y="1741932"/>
            <a:ext cx="318897" cy="29528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D3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C068B4-09E7-4B8C-A96F-A61600EAB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406" y="1741932"/>
            <a:ext cx="29528" cy="318897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D3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9EC9AE-8ED5-4BBE-AD17-AE30DC47F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7104" y="1741932"/>
            <a:ext cx="318897" cy="29528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D3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26FDF6-19CE-41D7-B1B0-EB2A8DFB7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6474" y="1741932"/>
            <a:ext cx="29528" cy="318897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D3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2F8DA8-14A1-4336-A62C-FB8A5A482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406" y="3484054"/>
            <a:ext cx="318897" cy="29528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D3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E52CD4-C0F7-47DC-959F-93FCD1E88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406" y="3194685"/>
            <a:ext cx="29528" cy="318897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D3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C376E9-E9CD-4B5C-A013-38E5E9F00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7104" y="3484054"/>
            <a:ext cx="318897" cy="29528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D3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607E4F-38DE-4C98-8C61-49EC73E0B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6474" y="3194685"/>
            <a:ext cx="29528" cy="318897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D3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E7203E-661A-4EA5-B0CD-F274A8DD8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000500"/>
            <a:ext cx="876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EF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745D31-92FB-407E-A920-901756145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057650"/>
            <a:ext cx="685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93CB8"/>
                </a:solidFill>
              </a:defRPr>
            </a:pPr>
            <a:r>
              <a:rPr sz="900" b="1">
                <a:solidFill>
                  <a:srgbClr val="193CB8"/>
                </a:solidFill>
              </a:rPr>
              <a:t>種類候補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DBA12F3-25B5-419A-91CC-A6D1878E0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000500"/>
            <a:ext cx="495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1E7EA2B-E9FB-4A30-B3C8-94C4A9C6E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057650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93CB8"/>
                </a:solidFill>
              </a:defRPr>
            </a:pPr>
            <a:r>
              <a:rPr sz="900" b="1">
                <a:solidFill>
                  <a:srgbClr val="193CB8"/>
                </a:solidFill>
              </a:rPr>
              <a:t>色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D96DA42-0A11-41B5-88A4-8356498FD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000500"/>
            <a:ext cx="6286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EF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B36E349-2CF6-43D9-BEB0-E1F8154C2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057650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93CB8"/>
                </a:solidFill>
              </a:defRPr>
            </a:pPr>
            <a:r>
              <a:rPr sz="900" b="1">
                <a:solidFill>
                  <a:srgbClr val="193CB8"/>
                </a:solidFill>
              </a:rPr>
              <a:t>等級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B9C2FC0-854F-4FA2-96EF-63C8ADCAF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000500"/>
            <a:ext cx="6858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6094443-5CE6-40D0-8138-B1D8135B2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057650"/>
            <a:ext cx="495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93CB8"/>
                </a:solidFill>
              </a:defRPr>
            </a:pPr>
            <a:r>
              <a:rPr sz="900" b="1">
                <a:solidFill>
                  <a:srgbClr val="193CB8"/>
                </a:solidFill>
              </a:rPr>
              <a:t>状態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A63A311-7B1B-415D-A830-B560C7944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619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D3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2D110EA-DD47-4EBA-A603-9138FE0DF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76275"/>
            <a:ext cx="1390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20618"/>
                </a:solidFill>
              </a:defRPr>
            </a:pPr>
            <a:r>
              <a:rPr sz="900" b="1">
                <a:solidFill>
                  <a:srgbClr val="020618"/>
                </a:solidFill>
              </a:rPr>
              <a:t>Executive Proposal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77EF791-AC13-469D-95E0-2C2268363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61912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生花オークション向け</a:t>
            </a:r>
          </a:p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AI画像認識導入支援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F783D98-A3D9-493E-9910-ACDFD1345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86100"/>
            <a:ext cx="5810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CEFAFE"/>
                </a:solidFill>
              </a:defRPr>
            </a:pPr>
            <a:r>
              <a:rPr sz="2550" b="1">
                <a:solidFill>
                  <a:srgbClr val="CEFAFE"/>
                </a:solidFill>
              </a:rPr>
              <a:t>画像認識による</a:t>
            </a:r>
          </a:p>
          <a:p xmlns:a="http://schemas.openxmlformats.org/drawingml/2006/main">
            <a:pPr algn="l">
              <a:defRPr sz="2550" b="1">
                <a:solidFill>
                  <a:srgbClr val="CEFAFE"/>
                </a:solidFill>
              </a:defRPr>
            </a:pPr>
            <a:r>
              <a:rPr sz="2550" b="1">
                <a:solidFill>
                  <a:srgbClr val="CEFAFE"/>
                </a:solidFill>
              </a:rPr>
              <a:t>商品判定業務の高度化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5D44B4E-CCBB-4C51-AE22-424BB842D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05300"/>
            <a:ext cx="5810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2E8F0"/>
                </a:solidFill>
              </a:defRPr>
            </a:pPr>
            <a:r>
              <a:rPr sz="1425" b="0">
                <a:solidFill>
                  <a:srgbClr val="E2E8F0"/>
                </a:solidFill>
              </a:rPr>
              <a:t>商品画像と商品データの対応確認、品質チェック、種類・色・等級・状態分類をAI候補提示で支援します。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42E6F8D-7BA7-40C9-8101-14906700A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911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ProposalPilot / AI営業秘書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E12991E-0DE4-4800-8F05-52B6314DD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ProposalPilot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0702B06-B971-4B23-8095-D1869BD57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64008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AD5E2"/>
                </a:solidFill>
              </a:defRPr>
            </a:pPr>
            <a:r>
              <a:rPr sz="825" b="0">
                <a:solidFill>
                  <a:srgbClr val="CAD5E2"/>
                </a:solidFill>
              </a:rPr>
              <a:t>Hero Cover / Business outcome first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AD31FB3-668E-42ED-A6E3-3CA9E7943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75832228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24724E1-A081-4678-B562-EE9894EEA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4287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5D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09F1AB-FF15-4B6F-865E-7D66943A0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2925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SUMMARY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D046B7-639E-437D-B20A-B5F12C98E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AIが置き換えるのではなく、人の判断を支援する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01C3B2-0CE1-4F7B-B10C-76B05E1E2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66850"/>
            <a:ext cx="828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PoCでは、確認時間・修正率・登録品質を測定し、現場運用に合う導入範囲を決めます。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6D37AA-C20A-41BB-B094-14DB92358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43150"/>
            <a:ext cx="533400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0206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94A912-6463-40D1-B2B8-CA7CCAD8C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62890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AI候補提示 + 人の最終確認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1081A1-7691-4A10-A88E-A9E53981B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0861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CAD5E2"/>
                </a:solidFill>
              </a:defRPr>
            </a:pPr>
            <a:r>
              <a:rPr sz="1200" b="0">
                <a:solidFill>
                  <a:srgbClr val="CAD5E2"/>
                </a:solidFill>
              </a:rPr>
              <a:t>自動化しすぎず、判断品質と現場安心感を両立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D1F1C0-9F95-48FE-B17D-AB4A580AE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52700"/>
            <a:ext cx="23812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DA8594-7345-483A-BD2D-6746F2E0D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876550"/>
            <a:ext cx="4953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20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C98599-D12D-43E8-BB91-A3E3EBED6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0194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課題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29FFBF-DCD2-4378-B3A6-7E83E9CA0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83845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課題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D91592-348C-4BDD-B5FB-97754CA42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162300"/>
            <a:ext cx="1219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5556C"/>
                </a:solidFill>
              </a:defRPr>
            </a:pPr>
            <a:r>
              <a:rPr sz="1125" b="0">
                <a:solidFill>
                  <a:srgbClr val="45556C"/>
                </a:solidFill>
              </a:rPr>
              <a:t>人手判定による工数と品質差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34B55A-9166-4826-B71F-C041ECC4D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191000"/>
            <a:ext cx="23812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BB871A-0257-40F9-B305-FAFDFF183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514850"/>
            <a:ext cx="4953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155D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1E25E0-A452-40C6-A838-93E4F9690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6577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提案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434625-BF4B-45F6-827E-CE45DB05D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47675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提案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244A93-3A26-475E-80E5-E82CDD19F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800600"/>
            <a:ext cx="1219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5556C"/>
                </a:solidFill>
              </a:defRPr>
            </a:pPr>
            <a:r>
              <a:rPr sz="1125" b="0">
                <a:solidFill>
                  <a:srgbClr val="45556C"/>
                </a:solidFill>
              </a:rPr>
              <a:t>種類・色・等級・状態の候補提示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D64AC4-B568-4F51-83DC-6DF1D45B4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552700"/>
            <a:ext cx="23812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C25211-8656-460E-9956-C753A957B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876550"/>
            <a:ext cx="4953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00BC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3693A5-9800-416C-BCE9-7832BE308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0194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成果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3C8302-7E9B-4511-AF75-1F5D822FB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83845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成果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B37AD3-859E-499A-97E4-D5E6C0B70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162300"/>
            <a:ext cx="1219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5556C"/>
                </a:solidFill>
              </a:defRPr>
            </a:pPr>
            <a:r>
              <a:rPr sz="1125" b="0">
                <a:solidFill>
                  <a:srgbClr val="45556C"/>
                </a:solidFill>
              </a:rPr>
              <a:t>確認時間・修正率・登録品質を評価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1CA117-0DF4-4059-8067-D4FC5AD07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543300"/>
            <a:ext cx="11239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D3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F29884-B8B8-4F6F-9DF6-023E9E1D6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362325"/>
            <a:ext cx="266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D3F2"/>
                </a:solidFill>
              </a:defRPr>
            </a:pPr>
            <a:r>
              <a:rPr sz="2250" b="1">
                <a:solidFill>
                  <a:srgbClr val="00D3F2"/>
                </a:solidFill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663AE5-F4A6-4FE5-9DE9-575737388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543300"/>
            <a:ext cx="11239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D3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D7722FF-389C-4D64-BB3B-283A4976C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62325"/>
            <a:ext cx="266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D3F2"/>
                </a:solidFill>
              </a:defRPr>
            </a:pPr>
            <a:r>
              <a:rPr sz="2250" b="1">
                <a:solidFill>
                  <a:srgbClr val="00D3F2"/>
                </a:solidFill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9ED200-16D0-4748-9C2F-ECBC7A93D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38750"/>
            <a:ext cx="9144000" cy="4572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CFEFF"/>
          </a:solidFill>
          <a:ln xmlns:a="http://schemas.openxmlformats.org/drawingml/2006/main" w="9525">
            <a:solidFill>
              <a:srgbClr val="A2F4F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A62E101-5498-4BAA-9958-358D32434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3530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20618"/>
                </a:solidFill>
              </a:defRPr>
            </a:pPr>
            <a:r>
              <a:rPr sz="1500" b="1">
                <a:solidFill>
                  <a:srgbClr val="020618"/>
                </a:solidFill>
              </a:rPr>
              <a:t>提案の焦点：PoCで“使える精度”と“現場で回る運用”を同時に検証する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42B7091-B61A-4EE1-BEFF-422C3D7EB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20618"/>
                </a:solidFill>
              </a:defRPr>
            </a:pPr>
            <a:r>
              <a:rPr sz="975" b="1">
                <a:solidFill>
                  <a:srgbClr val="020618"/>
                </a:solidFill>
              </a:rPr>
              <a:t>ProposalPilot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5329287-9065-48FD-BFAE-C5079656F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64008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48E"/>
                </a:solidFill>
              </a:defRPr>
            </a:pPr>
            <a:r>
              <a:rPr sz="825" b="0">
                <a:solidFill>
                  <a:srgbClr val="62748E"/>
                </a:solidFill>
              </a:rPr>
              <a:t>Executive Summary / three-point visual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3EBD13E-23EE-40AC-9B6B-EC8CF9028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5556C"/>
                </a:solidFill>
              </a:defRPr>
            </a:pPr>
            <a:r>
              <a:rPr sz="1050" b="1">
                <a:solidFill>
                  <a:srgbClr val="45556C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7602351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12583A7-075E-40BB-82F9-626949D5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4287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5D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322346-CE57-4A71-8731-2D1672097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2925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F64D21-1248-4E9C-BFE8-B8C0B2CC4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判定業務のボトルネックを可視化する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8A30BB-3CA4-4350-BD0D-60B1A47E7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66850"/>
            <a:ext cx="828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単なる課題リストではなく、商品登録までの流れに紐づけてボトルネックを確認します。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1F74B9-81A1-443B-802A-7D2CF8005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16764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8AFB9C-8A1C-48B8-94A6-55AF93F0A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05100"/>
            <a:ext cx="4572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55D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E4DB49-E7FF-4691-8408-08DEB2794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289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1A2F76-2E6F-454B-A472-0E2A66554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762250"/>
            <a:ext cx="85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20618"/>
                </a:solidFill>
              </a:defRPr>
            </a:pPr>
            <a:r>
              <a:rPr sz="1050" b="1">
                <a:solidFill>
                  <a:srgbClr val="020618"/>
                </a:solidFill>
              </a:rPr>
              <a:t>商品画像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D4302A-D612-4E70-B45E-0CC6D389B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9718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1A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4A9F47-079D-486C-9D6A-01E9E066D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790825"/>
            <a:ext cx="266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51A2FF"/>
                </a:solidFill>
              </a:defRPr>
            </a:pPr>
            <a:r>
              <a:rPr sz="2250" b="1">
                <a:solidFill>
                  <a:srgbClr val="51A2FF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A8D334-F8AF-47F7-8402-C96AC0E33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457450"/>
            <a:ext cx="16764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8B7E58-DCCC-47FB-9149-1E482EABE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705100"/>
            <a:ext cx="4572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55D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A53E42-1A90-44C7-84EA-CCCF75537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8289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ID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B2D8A6-23B3-43D0-8D33-395AA79FC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762250"/>
            <a:ext cx="85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20618"/>
                </a:solidFill>
              </a:defRPr>
            </a:pPr>
            <a:r>
              <a:rPr sz="1050" b="1">
                <a:solidFill>
                  <a:srgbClr val="020618"/>
                </a:solidFill>
              </a:rPr>
              <a:t>商品データ照合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9BDCB3-A131-4F88-8FB3-3CEFF62AC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718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1A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A03E7D-0D5B-4D52-841C-DDBA76B28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790825"/>
            <a:ext cx="266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51A2FF"/>
                </a:solidFill>
              </a:defRPr>
            </a:pPr>
            <a:r>
              <a:rPr sz="2250" b="1">
                <a:solidFill>
                  <a:srgbClr val="51A2FF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045572-8B01-4F2B-AA8D-2E238062D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457450"/>
            <a:ext cx="16764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4BD15F-CA51-4979-B0E6-F6A9CFFFF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705100"/>
            <a:ext cx="4572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0D3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B53B3C-2682-4D8B-91E7-FE8A2B3C3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8289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9A157D-08E1-4798-9B63-013EE35C6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762250"/>
            <a:ext cx="85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20618"/>
                </a:solidFill>
              </a:defRPr>
            </a:pPr>
            <a:r>
              <a:rPr sz="1050" b="1">
                <a:solidFill>
                  <a:srgbClr val="020618"/>
                </a:solidFill>
              </a:rPr>
              <a:t>種類・色・等級・状態確認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D709ED-D38B-4392-9C28-4184FD33E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9718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1A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E30E0C-B5A3-4A34-BA1E-EC20EE46D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790825"/>
            <a:ext cx="266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51A2FF"/>
                </a:solidFill>
              </a:defRPr>
            </a:pPr>
            <a:r>
              <a:rPr sz="2250" b="1">
                <a:solidFill>
                  <a:srgbClr val="51A2FF"/>
                </a:solidFill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FBD34C-9FB0-4956-BDCF-CDECC9342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457450"/>
            <a:ext cx="16764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35C036-7645-455C-9CEC-C9420D90B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705100"/>
            <a:ext cx="4572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55D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D286C9-98BD-4396-8FEE-C140460AE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8289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分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9A586B-3C7B-4EA7-8BB9-1BCFCD5A0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762250"/>
            <a:ext cx="85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20618"/>
                </a:solidFill>
              </a:defRPr>
            </a:pPr>
            <a:r>
              <a:rPr sz="1050" b="1">
                <a:solidFill>
                  <a:srgbClr val="020618"/>
                </a:solidFill>
              </a:rPr>
              <a:t>カテゴリ分類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552DF3-DF7D-4E07-8F8C-81564A9EE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9718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1A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003E8C3-59F6-4FCF-8442-5E6A02037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790825"/>
            <a:ext cx="266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51A2FF"/>
                </a:solidFill>
              </a:defRPr>
            </a:pPr>
            <a:r>
              <a:rPr sz="2250" b="1">
                <a:solidFill>
                  <a:srgbClr val="51A2FF"/>
                </a:solidFill>
              </a:rPr>
              <a:t>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5ADBC4E-2B06-49D3-A17F-CC86A5A48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457450"/>
            <a:ext cx="16764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0115A59-AD5D-4019-9F41-84321428E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705100"/>
            <a:ext cx="4572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55D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58D3691-BA2B-4162-98BC-6EF63618A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8289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DB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8ED8B0C-27DF-4F4C-9A6C-BBE7FB49B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762250"/>
            <a:ext cx="85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20618"/>
                </a:solidFill>
              </a:defRPr>
            </a:pPr>
            <a:r>
              <a:rPr sz="1050" b="1">
                <a:solidFill>
                  <a:srgbClr val="020618"/>
                </a:solidFill>
              </a:rPr>
              <a:t>商品登録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98C67F5-1D25-47A2-885B-6CACFDE13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62400"/>
            <a:ext cx="15240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FEE68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685702-4284-4746-85B0-C45A0A205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52900"/>
            <a:ext cx="1295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BB4D00"/>
                </a:solidFill>
              </a:defRPr>
            </a:pPr>
            <a:r>
              <a:rPr sz="1125" b="1">
                <a:solidFill>
                  <a:srgbClr val="BB4D00"/>
                </a:solidFill>
              </a:rPr>
              <a:t>繁忙時の処理遅延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B3C7AD5-8843-4A7D-B5D2-9129B2C86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524250"/>
            <a:ext cx="28575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FDB1A19-2AAD-41D4-BA56-55ADA46DB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962400"/>
            <a:ext cx="15240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FEE68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858566B-6737-42D0-A541-CF0309DE3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152900"/>
            <a:ext cx="1295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BB4D00"/>
                </a:solidFill>
              </a:defRPr>
            </a:pPr>
            <a:r>
              <a:rPr sz="1125" b="1">
                <a:solidFill>
                  <a:srgbClr val="BB4D00"/>
                </a:solidFill>
              </a:rPr>
              <a:t>誤分類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6612D54-C85F-4B7C-93B9-C231FBF65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524250"/>
            <a:ext cx="28575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7A8D4E6-D872-490C-B441-902ADC2E4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962400"/>
            <a:ext cx="15240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1F2"/>
          </a:solidFill>
          <a:ln xmlns:a="http://schemas.openxmlformats.org/drawingml/2006/main" w="9525">
            <a:solidFill>
              <a:srgbClr val="FFCCD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05C7835-E188-452C-A2D9-669679C97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152900"/>
            <a:ext cx="1295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70036"/>
                </a:solidFill>
              </a:defRPr>
            </a:pPr>
            <a:r>
              <a:rPr sz="1125" b="1">
                <a:solidFill>
                  <a:srgbClr val="C70036"/>
                </a:solidFill>
              </a:rPr>
              <a:t>属人化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B3BFD8A-C073-4ABC-AA8D-D7DB00A1C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524250"/>
            <a:ext cx="28575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20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0B4646A-4933-4CC9-AF5D-0183CF20C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962400"/>
            <a:ext cx="15240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FEE68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67F8700-D771-48F0-A284-0D01248F3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152900"/>
            <a:ext cx="1295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BB4D00"/>
                </a:solidFill>
              </a:defRPr>
            </a:pPr>
            <a:r>
              <a:rPr sz="1125" b="1">
                <a:solidFill>
                  <a:srgbClr val="BB4D00"/>
                </a:solidFill>
              </a:rPr>
              <a:t>品質ばらつき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0C35A77-BB47-4AB6-BC1A-E0EF417EE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524250"/>
            <a:ext cx="28575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5E83519-AF92-4A2B-B489-DB73520AE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962400"/>
            <a:ext cx="15240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FEE68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C26DEF5-4842-4206-B971-CEB2B286E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152900"/>
            <a:ext cx="1295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BB4D00"/>
                </a:solidFill>
              </a:defRPr>
            </a:pPr>
            <a:r>
              <a:rPr sz="1125" b="1">
                <a:solidFill>
                  <a:srgbClr val="BB4D00"/>
                </a:solidFill>
              </a:rPr>
              <a:t>履歴再利用しにくい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4E34C9C-C2E9-4AB5-A1C4-E8841AAC1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524250"/>
            <a:ext cx="28575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8065B5F-16ED-4B08-AECE-BB2AC9020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38750"/>
            <a:ext cx="914400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0206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93F1AE3-2720-4ABE-991F-AB4FF33F5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4102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判断基準と確認履歴が分断されるほど、処理速度・分類品質・教育効率が同時に下がる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0BFF0E7-8920-4F92-9FC7-7573B03EA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20618"/>
                </a:solidFill>
              </a:defRPr>
            </a:pPr>
            <a:r>
              <a:rPr sz="975" b="1">
                <a:solidFill>
                  <a:srgbClr val="020618"/>
                </a:solidFill>
              </a:rPr>
              <a:t>ProposalPilot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D4D3338-D82B-44A5-87B5-1AF3167DE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64008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48E"/>
                </a:solidFill>
              </a:defRPr>
            </a:pPr>
            <a:r>
              <a:rPr sz="825" b="0">
                <a:solidFill>
                  <a:srgbClr val="62748E"/>
                </a:solidFill>
              </a:rPr>
              <a:t>Problem / flow-linked bottlenecks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B3CB370-4791-433C-B557-8213AEAE3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5556C"/>
                </a:solidFill>
              </a:defRPr>
            </a:pPr>
            <a:r>
              <a:rPr sz="1050" b="1">
                <a:solidFill>
                  <a:srgbClr val="45556C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0197096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87F5019-B8AE-434C-A01F-6D8C63DE1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4287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5D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E417C1-7660-48D5-A11A-C1EBE0B0D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2925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CHANGE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0DB487-0E8A-4353-8F11-34C187221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AI候補提示で、人の関与を最終確認へ移す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562AA0-FD80-4829-9B23-61FB9177D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66850"/>
            <a:ext cx="828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完全自動化ではなく、人の確認を残すことで導入リスクを抑えます。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20B251-3989-45DB-B005-F0F65DF6D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20618"/>
                </a:solidFill>
              </a:defRPr>
            </a:pPr>
            <a:r>
              <a:rPr sz="1950" b="1">
                <a:solidFill>
                  <a:srgbClr val="020618"/>
                </a:solidFill>
              </a:rPr>
              <a:t>Before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A7021D-9EA6-48C8-965D-4D40D0364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433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55DFC"/>
                </a:solidFill>
              </a:defRPr>
            </a:pPr>
            <a:r>
              <a:rPr sz="1950" b="1">
                <a:solidFill>
                  <a:srgbClr val="155DFC"/>
                </a:solidFill>
              </a:rPr>
              <a:t>After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844CE5-9668-4E82-A2B3-1B8A129CA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943100"/>
            <a:ext cx="12382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BAEEC5-3DBA-46E1-8BFB-7FFF86C07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171700"/>
            <a:ext cx="108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20618"/>
                </a:solidFill>
              </a:defRPr>
            </a:pPr>
            <a:r>
              <a:rPr sz="1125" b="1">
                <a:solidFill>
                  <a:srgbClr val="020618"/>
                </a:solidFill>
              </a:rPr>
              <a:t>商品画像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210B80-BADA-433F-99C9-9E20E73AA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247900"/>
            <a:ext cx="2667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0A1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537F5E-9B4B-4F90-B55C-18CDAEF9C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066925"/>
            <a:ext cx="266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0A1B9"/>
                </a:solidFill>
              </a:defRPr>
            </a:pPr>
            <a:r>
              <a:rPr sz="2250" b="1">
                <a:solidFill>
                  <a:srgbClr val="90A1B9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2342C9-FC72-44EE-8151-2B6CB1B83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943100"/>
            <a:ext cx="12382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50BC1F-D25F-400E-A385-ED9021380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171700"/>
            <a:ext cx="108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20618"/>
                </a:solidFill>
              </a:defRPr>
            </a:pPr>
            <a:r>
              <a:rPr sz="1125" b="1">
                <a:solidFill>
                  <a:srgbClr val="020618"/>
                </a:solidFill>
              </a:rPr>
              <a:t>人が目視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DA167E-89F0-4CAF-9994-ADBE3A20B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247900"/>
            <a:ext cx="2667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0A1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55B233-ABA7-4F04-A56F-983D1D584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066925"/>
            <a:ext cx="266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0A1B9"/>
                </a:solidFill>
              </a:defRPr>
            </a:pPr>
            <a:r>
              <a:rPr sz="2250" b="1">
                <a:solidFill>
                  <a:srgbClr val="90A1B9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640932-D62D-4B1B-814C-A7DA858D3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943100"/>
            <a:ext cx="12382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0D9490-5E59-4EB7-8482-A790ED7E2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171700"/>
            <a:ext cx="108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20618"/>
                </a:solidFill>
              </a:defRPr>
            </a:pPr>
            <a:r>
              <a:rPr sz="1125" b="1">
                <a:solidFill>
                  <a:srgbClr val="020618"/>
                </a:solidFill>
              </a:rPr>
              <a:t>商品データ照合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39A2D7-1E58-4B40-A2D4-20D3E33FE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47900"/>
            <a:ext cx="2667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0A1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7E274D-3B68-4DFE-A4FA-8AB3F0B74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66925"/>
            <a:ext cx="266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0A1B9"/>
                </a:solidFill>
              </a:defRPr>
            </a:pPr>
            <a:r>
              <a:rPr sz="2250" b="1">
                <a:solidFill>
                  <a:srgbClr val="90A1B9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946DAF-A919-4DA5-902F-347249273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943100"/>
            <a:ext cx="12382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EA4C87-1924-47FD-AF31-C678117E2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171700"/>
            <a:ext cx="108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20618"/>
                </a:solidFill>
              </a:defRPr>
            </a:pPr>
            <a:r>
              <a:rPr sz="1125" b="1">
                <a:solidFill>
                  <a:srgbClr val="020618"/>
                </a:solidFill>
              </a:rPr>
              <a:t>分類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3AF926-1C84-4DD5-AC89-F7AB36843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247900"/>
            <a:ext cx="2667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0A1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E7FFAB-2627-4F0F-85F7-0FCD72A42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66925"/>
            <a:ext cx="266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0A1B9"/>
                </a:solidFill>
              </a:defRPr>
            </a:pPr>
            <a:r>
              <a:rPr sz="2250" b="1">
                <a:solidFill>
                  <a:srgbClr val="90A1B9"/>
                </a:solidFill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FA7E10-6F04-4F1A-AE6B-9A2507017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943100"/>
            <a:ext cx="12382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FD3ED9-1525-40FA-BB99-E68D97E43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71700"/>
            <a:ext cx="108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20618"/>
                </a:solidFill>
              </a:defRPr>
            </a:pPr>
            <a:r>
              <a:rPr sz="1125" b="1">
                <a:solidFill>
                  <a:srgbClr val="020618"/>
                </a:solidFill>
              </a:rPr>
              <a:t>品質確認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BFDCC4-A9A9-4D77-98D3-A8007D5C3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247900"/>
            <a:ext cx="2667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0A1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90DF44-D9E4-4362-A431-93BF7768D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066925"/>
            <a:ext cx="266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0A1B9"/>
                </a:solidFill>
              </a:defRPr>
            </a:pPr>
            <a:r>
              <a:rPr sz="2250" b="1">
                <a:solidFill>
                  <a:srgbClr val="90A1B9"/>
                </a:solidFill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D498184-80D7-40FA-9626-B85344910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943100"/>
            <a:ext cx="12382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10FA90-ABAF-4C29-9C4F-A7CA926D8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171700"/>
            <a:ext cx="108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20618"/>
                </a:solidFill>
              </a:defRPr>
            </a:pPr>
            <a:r>
              <a:rPr sz="1125" b="1">
                <a:solidFill>
                  <a:srgbClr val="020618"/>
                </a:solidFill>
              </a:rPr>
              <a:t>手入力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C542A97-7FD1-4058-A618-08808AA72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810000"/>
            <a:ext cx="12382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EDB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3AAF3B2-DB06-464C-8565-A8413098C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000500"/>
            <a:ext cx="1085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93CB8"/>
                </a:solidFill>
              </a:defRPr>
            </a:pPr>
            <a:r>
              <a:rPr sz="975" b="1">
                <a:solidFill>
                  <a:srgbClr val="193CB8"/>
                </a:solidFill>
              </a:rPr>
              <a:t>商品画像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36AD7AF-B054-4037-91BB-7BCE2C53D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114800"/>
            <a:ext cx="2667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5D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FFD5CCF-986A-48C5-9EC3-E31C47986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933825"/>
            <a:ext cx="266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55DFC"/>
                </a:solidFill>
              </a:defRPr>
            </a:pPr>
            <a:r>
              <a:rPr sz="2250" b="1">
                <a:solidFill>
                  <a:srgbClr val="155DFC"/>
                </a:solidFill>
              </a:rPr>
              <a:t>→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723675B-2DFF-4AC4-8947-FA4A92534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810000"/>
            <a:ext cx="12382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CEFAFE"/>
          </a:solidFill>
          <a:ln xmlns:a="http://schemas.openxmlformats.org/drawingml/2006/main" w="9525">
            <a:solidFill>
              <a:srgbClr val="53EAF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725C1EA-ECA9-48AA-8DB0-E0C5FDECE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000500"/>
            <a:ext cx="1085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05F78"/>
                </a:solidFill>
              </a:defRPr>
            </a:pPr>
            <a:r>
              <a:rPr sz="975" b="1">
                <a:solidFill>
                  <a:srgbClr val="005F78"/>
                </a:solidFill>
              </a:rPr>
              <a:t>AI候補判定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6425D70-FA65-4544-8D55-01217E9DF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114800"/>
            <a:ext cx="2667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5D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28DC8F0-F983-4EFC-A60F-EAB76A4CF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933825"/>
            <a:ext cx="266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55DFC"/>
                </a:solidFill>
              </a:defRPr>
            </a:pPr>
            <a:r>
              <a:rPr sz="2250" b="1">
                <a:solidFill>
                  <a:srgbClr val="155DFC"/>
                </a:solidFill>
              </a:rPr>
              <a:t>→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6F5027F-CD1D-40D0-8C68-6372D9409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810000"/>
            <a:ext cx="12382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EDBF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8616668-D98E-4ED0-877F-0F26C083D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000500"/>
            <a:ext cx="1085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93CB8"/>
                </a:solidFill>
              </a:defRPr>
            </a:pPr>
            <a:r>
              <a:rPr sz="975" b="1">
                <a:solidFill>
                  <a:srgbClr val="193CB8"/>
                </a:solidFill>
              </a:rPr>
              <a:t>人が最終確認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A580D6C-E4F8-40EE-B70B-020AEEC35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114800"/>
            <a:ext cx="2667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5D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ED8B2C9-83E9-4F8D-A976-CCAB27701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33825"/>
            <a:ext cx="266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55DFC"/>
                </a:solidFill>
              </a:defRPr>
            </a:pPr>
            <a:r>
              <a:rPr sz="2250" b="1">
                <a:solidFill>
                  <a:srgbClr val="155DFC"/>
                </a:solidFill>
              </a:rPr>
              <a:t>→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072CB7A-50E6-48E5-A1F2-2526700CA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810000"/>
            <a:ext cx="12382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EDBF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7DF904F-5A8C-4944-BD0B-C926C8408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000500"/>
            <a:ext cx="1085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93CB8"/>
                </a:solidFill>
              </a:defRPr>
            </a:pPr>
            <a:r>
              <a:rPr sz="975" b="1">
                <a:solidFill>
                  <a:srgbClr val="193CB8"/>
                </a:solidFill>
              </a:rPr>
              <a:t>API/CSV連携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C4917E0-6097-4B34-AD0F-4FA18E816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114800"/>
            <a:ext cx="2667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5D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396ED54-9349-438E-AA1F-39BCE3248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933825"/>
            <a:ext cx="266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55DFC"/>
                </a:solidFill>
              </a:defRPr>
            </a:pPr>
            <a:r>
              <a:rPr sz="2250" b="1">
                <a:solidFill>
                  <a:srgbClr val="155DFC"/>
                </a:solidFill>
              </a:rPr>
              <a:t>→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A81819D-82D0-41DC-AD7D-6ECEAF629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810000"/>
            <a:ext cx="12382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EDBF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5487365-CB17-4D2B-8043-007A0B88E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00500"/>
            <a:ext cx="1085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93CB8"/>
                </a:solidFill>
              </a:defRPr>
            </a:pPr>
            <a:r>
              <a:rPr sz="975" b="1">
                <a:solidFill>
                  <a:srgbClr val="193CB8"/>
                </a:solidFill>
              </a:rPr>
              <a:t>商品管理システム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BDBC8F1-BE65-4978-9053-C9B435776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114800"/>
            <a:ext cx="2667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5D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A535771-4BB6-400F-898D-E1D64847F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933825"/>
            <a:ext cx="266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55DFC"/>
                </a:solidFill>
              </a:defRPr>
            </a:pPr>
            <a:r>
              <a:rPr sz="2250" b="1">
                <a:solidFill>
                  <a:srgbClr val="155DFC"/>
                </a:solidFill>
              </a:rPr>
              <a:t>→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DEF9761-4190-460E-9A68-57CFA665A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810000"/>
            <a:ext cx="12382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EDBF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3E8B29F-2EEA-4924-9963-4ECCA17E2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000500"/>
            <a:ext cx="1085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93CB8"/>
                </a:solidFill>
              </a:defRPr>
            </a:pPr>
            <a:r>
              <a:rPr sz="975" b="1">
                <a:solidFill>
                  <a:srgbClr val="193CB8"/>
                </a:solidFill>
              </a:rPr>
              <a:t>判定履歴を再学習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B8ADD58-2E7C-45A6-8646-B33D7A89F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819400"/>
            <a:ext cx="75247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E4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5F27310-B45A-4473-A4DA-F6B3C1139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819400"/>
            <a:ext cx="61912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3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3725372-3C39-403F-B142-651081903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7622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70036"/>
                </a:solidFill>
              </a:defRPr>
            </a:pPr>
            <a:r>
              <a:rPr sz="1125" b="1">
                <a:solidFill>
                  <a:srgbClr val="C70036"/>
                </a:solidFill>
              </a:rPr>
              <a:t>人の判断負荷が長い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35ED6AB-F3E8-4DF3-8922-34917BC18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686300"/>
            <a:ext cx="75247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E7E7A8F-5377-4441-81C3-96039A668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686300"/>
            <a:ext cx="17907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D3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C3A46AE-F5A6-4DDE-8B72-38F698968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686300"/>
            <a:ext cx="15049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5D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3CDF904-E8C9-4976-BF10-4BB9D168F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6291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5DFC"/>
                </a:solidFill>
              </a:defRPr>
            </a:pPr>
            <a:r>
              <a:rPr sz="1125" b="1">
                <a:solidFill>
                  <a:srgbClr val="155DFC"/>
                </a:solidFill>
              </a:rPr>
              <a:t>AI候補 + 人の確認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A6D0A71-1395-4E2D-9570-4CB849CB6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314950"/>
            <a:ext cx="8020050" cy="47625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ECFEFF"/>
          </a:solidFill>
          <a:ln xmlns:a="http://schemas.openxmlformats.org/drawingml/2006/main" w="9525">
            <a:solidFill>
              <a:srgbClr val="A2F4FD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67AECE7-D820-43F9-AAD0-EA004FA4D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448300"/>
            <a:ext cx="7448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20618"/>
                </a:solidFill>
              </a:defRPr>
            </a:pPr>
            <a:r>
              <a:rPr sz="1425" b="1">
                <a:solidFill>
                  <a:srgbClr val="020618"/>
                </a:solidFill>
              </a:rPr>
              <a:t>判断履歴を改善へ活用し、PoC後の精度改善サイクルにつなげる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2FC6DEA-77BE-4B2B-A250-6E698D597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20618"/>
                </a:solidFill>
              </a:defRPr>
            </a:pPr>
            <a:r>
              <a:rPr sz="975" b="1">
                <a:solidFill>
                  <a:srgbClr val="020618"/>
                </a:solidFill>
              </a:rPr>
              <a:t>ProposalPilot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BF9764C-FDC5-4461-9C9C-4A9A15064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64008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48E"/>
                </a:solidFill>
              </a:defRPr>
            </a:pPr>
            <a:r>
              <a:rPr sz="825" b="0">
                <a:solidFill>
                  <a:srgbClr val="62748E"/>
                </a:solidFill>
              </a:rPr>
              <a:t>Before / After / human-in-the-loop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EB200A7-1B32-4B5E-8C86-2BF1C3BDA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5556C"/>
                </a:solidFill>
              </a:defRPr>
            </a:pPr>
            <a:r>
              <a:rPr sz="1050" b="1">
                <a:solidFill>
                  <a:srgbClr val="45556C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819515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206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F7CD61F-4BAB-4FAB-8785-1FAF3C6E0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4287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D3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6D9B3C-C3BF-4AE4-84CF-8381373CC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2925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20618"/>
                </a:solidFill>
              </a:defRPr>
            </a:pPr>
            <a:r>
              <a:rPr sz="900" b="1">
                <a:solidFill>
                  <a:srgbClr val="020618"/>
                </a:solidFill>
              </a:rPr>
              <a:t>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782903-B037-4A5E-849D-99CF282EC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AI判定を確認フローへ差し込み、学習ループへ戻す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9393E6-EA9E-4547-923A-4858F1D31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66850"/>
            <a:ext cx="828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AD5E2"/>
                </a:solidFill>
              </a:defRPr>
            </a:pPr>
            <a:r>
              <a:rPr sz="1275" b="0">
                <a:solidFill>
                  <a:srgbClr val="CAD5E2"/>
                </a:solidFill>
              </a:rPr>
              <a:t>5レイヤーで構成し、既存の商品管理システムにはAPIまたはCSVで段階連携します。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9B87AD-495E-410A-9568-D1AF2D950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43150"/>
            <a:ext cx="1714500" cy="1581150"/>
          </a:xfrm>
          <a:prstGeom xmlns:a="http://schemas.openxmlformats.org/drawingml/2006/main" prst="roundRect">
            <a:avLst>
              <a:gd name="adj" fmla="val 9639"/>
            </a:avLst>
          </a:prstGeom>
          <a:solidFill xmlns:a="http://schemas.openxmlformats.org/drawingml/2006/main">
            <a:srgbClr val="1D293D"/>
          </a:solidFill>
          <a:ln xmlns:a="http://schemas.openxmlformats.org/drawingml/2006/main" w="9525">
            <a:solidFill>
              <a:srgbClr val="45556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7C5C0E-6DDC-46D6-A7B1-02E11C11C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552700"/>
            <a:ext cx="4953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155D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006D94-F94C-4672-B8FE-5377F20A2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69557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IMG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175140-CC7C-404E-A313-93C56E427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8135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1B44D2-DCA6-4D6C-A1CC-8A77C0B47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86150"/>
            <a:ext cx="1257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E2E8F0"/>
                </a:solidFill>
              </a:defRPr>
            </a:pPr>
            <a:r>
              <a:rPr sz="975" b="0">
                <a:solidFill>
                  <a:srgbClr val="E2E8F0"/>
                </a:solidFill>
              </a:rPr>
              <a:t>商品画像</a:t>
            </a:r>
          </a:p>
          <a:p xmlns:a="http://schemas.openxmlformats.org/drawingml/2006/main">
            <a:pPr algn="ctr">
              <a:defRPr sz="975" b="0">
                <a:solidFill>
                  <a:srgbClr val="E2E8F0"/>
                </a:solidFill>
              </a:defRPr>
            </a:pPr>
            <a:r>
              <a:rPr sz="975" b="0">
                <a:solidFill>
                  <a:srgbClr val="E2E8F0"/>
                </a:solidFill>
              </a:rPr>
              <a:t>ロット情報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59DE14-5D90-407D-91B0-63E2ED8AE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124200"/>
            <a:ext cx="4191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D3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73DBA6-022D-4C97-B4F9-35CAA7CA9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943225"/>
            <a:ext cx="266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D3F2"/>
                </a:solidFill>
              </a:defRPr>
            </a:pPr>
            <a:r>
              <a:rPr sz="2250" b="1">
                <a:solidFill>
                  <a:srgbClr val="00D3F2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576E1A-1192-4B77-BFEF-5B4C1B391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943100"/>
            <a:ext cx="1714500" cy="1581150"/>
          </a:xfrm>
          <a:prstGeom xmlns:a="http://schemas.openxmlformats.org/drawingml/2006/main" prst="roundRect">
            <a:avLst>
              <a:gd name="adj" fmla="val 9639"/>
            </a:avLst>
          </a:prstGeom>
          <a:solidFill xmlns:a="http://schemas.openxmlformats.org/drawingml/2006/main">
            <a:srgbClr val="1447E6"/>
          </a:solidFill>
          <a:ln xmlns:a="http://schemas.openxmlformats.org/drawingml/2006/main" w="9525">
            <a:solidFill>
              <a:srgbClr val="45556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AFCB3F-D716-448B-A817-BB0304DF5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152650"/>
            <a:ext cx="4953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00D3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E19D91-178C-4311-98B6-F7A06EDEE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2955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AI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B07DD3-08A4-4887-9BCA-EED5B2B05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813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AI Processing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E4CB47-B54F-4D9E-A046-53F59FE40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086100"/>
            <a:ext cx="1257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E2E8F0"/>
                </a:solidFill>
              </a:defRPr>
            </a:pPr>
            <a:r>
              <a:rPr sz="975" b="0">
                <a:solidFill>
                  <a:srgbClr val="E2E8F0"/>
                </a:solidFill>
              </a:rPr>
              <a:t>種類・色・等級・状態</a:t>
            </a:r>
          </a:p>
          <a:p xmlns:a="http://schemas.openxmlformats.org/drawingml/2006/main">
            <a:pPr algn="ctr">
              <a:defRPr sz="975" b="0">
                <a:solidFill>
                  <a:srgbClr val="E2E8F0"/>
                </a:solidFill>
              </a:defRPr>
            </a:pPr>
            <a:r>
              <a:rPr sz="975" b="0">
                <a:solidFill>
                  <a:srgbClr val="E2E8F0"/>
                </a:solidFill>
              </a:rPr>
              <a:t>候補判定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83375D-6513-428D-B4B5-F58F6F981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724150"/>
            <a:ext cx="4191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D3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8DD045-5A05-4B6E-B596-7ABC42AD8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543175"/>
            <a:ext cx="266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D3F2"/>
                </a:solidFill>
              </a:defRPr>
            </a:pPr>
            <a:r>
              <a:rPr sz="2250" b="1">
                <a:solidFill>
                  <a:srgbClr val="00D3F2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359A5C-BB3B-4D38-95FD-EC7FF4272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343150"/>
            <a:ext cx="1714500" cy="1581150"/>
          </a:xfrm>
          <a:prstGeom xmlns:a="http://schemas.openxmlformats.org/drawingml/2006/main" prst="roundRect">
            <a:avLst>
              <a:gd name="adj" fmla="val 9639"/>
            </a:avLst>
          </a:prstGeom>
          <a:solidFill xmlns:a="http://schemas.openxmlformats.org/drawingml/2006/main">
            <a:srgbClr val="0092B8"/>
          </a:solidFill>
          <a:ln xmlns:a="http://schemas.openxmlformats.org/drawingml/2006/main" w="9525">
            <a:solidFill>
              <a:srgbClr val="45556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F3CE23-13FA-486A-B8CB-3A840EA18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552700"/>
            <a:ext cx="4953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155D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8BEC0B-E033-4B08-B143-711CC9C2B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69557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1E16C1-0BDF-4DF2-B5AC-F5657E39C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18135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Human Review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BFEFDB-0FCA-4739-BBBD-2FAA9F6D7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486150"/>
            <a:ext cx="1257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E2E8F0"/>
                </a:solidFill>
              </a:defRPr>
            </a:pPr>
            <a:r>
              <a:rPr sz="975" b="0">
                <a:solidFill>
                  <a:srgbClr val="E2E8F0"/>
                </a:solidFill>
              </a:rPr>
              <a:t>確認・修正・承認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E0F5FF-ECB0-4C7E-BA8A-20A8E7A96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124200"/>
            <a:ext cx="4191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D3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0875B8-BFB6-43AA-93CA-997017DB0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943225"/>
            <a:ext cx="266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D3F2"/>
                </a:solidFill>
              </a:defRPr>
            </a:pPr>
            <a:r>
              <a:rPr sz="2250" b="1">
                <a:solidFill>
                  <a:srgbClr val="00D3F2"/>
                </a:solidFill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A1A00A9-FB64-435B-A7A2-38CE0E5D5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43100"/>
            <a:ext cx="1714500" cy="1581150"/>
          </a:xfrm>
          <a:prstGeom xmlns:a="http://schemas.openxmlformats.org/drawingml/2006/main" prst="roundRect">
            <a:avLst>
              <a:gd name="adj" fmla="val 9639"/>
            </a:avLst>
          </a:prstGeom>
          <a:solidFill xmlns:a="http://schemas.openxmlformats.org/drawingml/2006/main">
            <a:srgbClr val="193CB8"/>
          </a:solidFill>
          <a:ln xmlns:a="http://schemas.openxmlformats.org/drawingml/2006/main" w="9525">
            <a:solidFill>
              <a:srgbClr val="45556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5E7F35-3E5F-4D6D-BD29-C8937E62B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152650"/>
            <a:ext cx="4953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155D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DC7E6FB-B0D6-4044-AC0F-7CE527FD2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2955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API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E66031-2126-40AA-A23C-406D1BDF9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7813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Integration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D17C8B0-FA4F-4B37-9937-752AED114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086100"/>
            <a:ext cx="1257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E2E8F0"/>
                </a:solidFill>
              </a:defRPr>
            </a:pPr>
            <a:r>
              <a:rPr sz="975" b="0">
                <a:solidFill>
                  <a:srgbClr val="E2E8F0"/>
                </a:solidFill>
              </a:rPr>
              <a:t>API / CSV</a:t>
            </a:r>
          </a:p>
          <a:p xmlns:a="http://schemas.openxmlformats.org/drawingml/2006/main">
            <a:pPr algn="ctr">
              <a:defRPr sz="975" b="0">
                <a:solidFill>
                  <a:srgbClr val="E2E8F0"/>
                </a:solidFill>
              </a:defRPr>
            </a:pPr>
            <a:r>
              <a:rPr sz="975" b="0">
                <a:solidFill>
                  <a:srgbClr val="E2E8F0"/>
                </a:solidFill>
              </a:rPr>
              <a:t>商品管理システム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2F33C6C-B3C2-4C75-8C64-7A6373D3B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724150"/>
            <a:ext cx="4191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D3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919236E-6ED1-4FC8-B555-1F3408EDA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543175"/>
            <a:ext cx="266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D3F2"/>
                </a:solidFill>
              </a:defRPr>
            </a:pPr>
            <a:r>
              <a:rPr sz="2250" b="1">
                <a:solidFill>
                  <a:srgbClr val="00D3F2"/>
                </a:solidFill>
              </a:rPr>
              <a:t>→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C983226-75B0-4174-974F-0FEB184D0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43150"/>
            <a:ext cx="1714500" cy="1581150"/>
          </a:xfrm>
          <a:prstGeom xmlns:a="http://schemas.openxmlformats.org/drawingml/2006/main" prst="roundRect">
            <a:avLst>
              <a:gd name="adj" fmla="val 9639"/>
            </a:avLst>
          </a:prstGeom>
          <a:solidFill xmlns:a="http://schemas.openxmlformats.org/drawingml/2006/main">
            <a:srgbClr val="1D293D"/>
          </a:solidFill>
          <a:ln xmlns:a="http://schemas.openxmlformats.org/drawingml/2006/main" w="9525">
            <a:solidFill>
              <a:srgbClr val="45556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03BDB2E-AAA3-4FE2-B6E1-3D40A6300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552700"/>
            <a:ext cx="4953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155D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22B0873-A808-4CC6-82F8-75F04EC6C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69557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DB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97CA28F-F5BE-4D69-9F8D-AE5FF833A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18135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Learning &amp; Ops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31B9AA9-4515-468E-955E-004C3AD65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486150"/>
            <a:ext cx="1257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E2E8F0"/>
                </a:solidFill>
              </a:defRPr>
            </a:pPr>
            <a:r>
              <a:rPr sz="975" b="0">
                <a:solidFill>
                  <a:srgbClr val="E2E8F0"/>
                </a:solidFill>
              </a:rPr>
              <a:t>ログ・誤判定</a:t>
            </a:r>
          </a:p>
          <a:p xmlns:a="http://schemas.openxmlformats.org/drawingml/2006/main">
            <a:pPr algn="ctr">
              <a:defRPr sz="975" b="0">
                <a:solidFill>
                  <a:srgbClr val="E2E8F0"/>
                </a:solidFill>
              </a:defRPr>
            </a:pPr>
            <a:r>
              <a:rPr sz="975" b="0">
                <a:solidFill>
                  <a:srgbClr val="E2E8F0"/>
                </a:solidFill>
              </a:rPr>
              <a:t>再学習データ・監視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4ECFF8E-FBD3-4290-AF8B-CBF1C5C71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810125"/>
            <a:ext cx="58102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915DEC9-0551-4180-8440-850F4D6BB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962525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20618"/>
                </a:solidFill>
              </a:defRPr>
            </a:pPr>
            <a:r>
              <a:rPr sz="1350" b="1">
                <a:solidFill>
                  <a:srgbClr val="020618"/>
                </a:solidFill>
              </a:rPr>
              <a:t>確認結果と誤判定を次の改善データとして蓄積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AA755F0-4AC5-4118-B75E-95DA510A5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705350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00D3F2"/>
                </a:solidFill>
              </a:defRPr>
            </a:pPr>
            <a:r>
              <a:rPr sz="4350" b="1">
                <a:solidFill>
                  <a:srgbClr val="00D3F2"/>
                </a:solidFill>
              </a:rPr>
              <a:t>↺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8431B8A-262D-43FF-920E-E4703B4C3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ProposalPilot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673C16A-05CE-4437-9F66-03AF195F7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64008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AD5E2"/>
                </a:solidFill>
              </a:defRPr>
            </a:pPr>
            <a:r>
              <a:rPr sz="825" b="0">
                <a:solidFill>
                  <a:srgbClr val="CAD5E2"/>
                </a:solidFill>
              </a:rPr>
              <a:t>Architecture / layered system with learning loop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8304515-8A63-4065-8D78-038A79757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5409627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F3FBB58-A013-4CF8-8D18-1AFA8C8AF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4287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5D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B9DEFD-7DFD-414D-A328-5B86C9E04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2925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PoC PLAN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420404-0C2D-4F11-9DC8-B3C3ECA19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PoCは精度だけでなく、現場で回る判断プロセスかを検証する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97683E-872D-463F-A490-323F640B0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66850"/>
            <a:ext cx="828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各フェーズで成果物と判断ポイントを明確にし、2027年5月頃の導入判断へつなげます。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362A47-1E29-411A-AAC3-7B0F5F032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142875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EB32A2-7662-42D3-B4B1-846EF4866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14600"/>
            <a:ext cx="323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55DFC"/>
                </a:solidFill>
              </a:defRPr>
            </a:pPr>
            <a:r>
              <a:rPr sz="1500" b="1">
                <a:solidFill>
                  <a:srgbClr val="155DFC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762588-5083-4BFD-A179-F11C16F67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19400"/>
            <a:ext cx="1200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20618"/>
                </a:solidFill>
              </a:defRPr>
            </a:pPr>
            <a:r>
              <a:rPr sz="975" b="1">
                <a:solidFill>
                  <a:srgbClr val="020618"/>
                </a:solidFill>
              </a:rPr>
              <a:t>要件・評価基準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91CE10-F7D6-43EF-88B4-6F4392263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05150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45556C"/>
                </a:solidFill>
              </a:defRPr>
            </a:pPr>
            <a:r>
              <a:rPr sz="900" b="0">
                <a:solidFill>
                  <a:srgbClr val="45556C"/>
                </a:solidFill>
              </a:rPr>
              <a:t>対象カテゴリ</a:t>
            </a:r>
          </a:p>
          <a:p xmlns:a="http://schemas.openxmlformats.org/drawingml/2006/main">
            <a:pPr algn="ctr">
              <a:defRPr sz="900" b="0">
                <a:solidFill>
                  <a:srgbClr val="45556C"/>
                </a:solidFill>
              </a:defRPr>
            </a:pPr>
            <a:r>
              <a:rPr sz="900" b="0">
                <a:solidFill>
                  <a:srgbClr val="45556C"/>
                </a:solidFill>
              </a:rPr>
              <a:t>合格条件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C37835-51F1-432A-9918-B78A54319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819400"/>
            <a:ext cx="4191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5D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DC41F5-D24D-406D-B5ED-47C721958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638425"/>
            <a:ext cx="266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55DFC"/>
                </a:solidFill>
              </a:defRPr>
            </a:pPr>
            <a:r>
              <a:rPr sz="2250" b="1">
                <a:solidFill>
                  <a:srgbClr val="155DFC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8F919D-4956-4FBD-9167-0392C33B1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24250"/>
            <a:ext cx="108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447E6"/>
                </a:solidFill>
              </a:defRPr>
            </a:pPr>
            <a:r>
              <a:rPr sz="900" b="1">
                <a:solidFill>
                  <a:srgbClr val="1447E6"/>
                </a:solidFill>
              </a:rPr>
              <a:t>範囲確定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298127-C462-4C29-8E1A-4F056BD54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333750"/>
            <a:ext cx="142875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D57CFE-02B9-4A73-B942-0A2C8D3BD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486150"/>
            <a:ext cx="323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55DFC"/>
                </a:solidFill>
              </a:defRPr>
            </a:pPr>
            <a:r>
              <a:rPr sz="1500" b="1">
                <a:solidFill>
                  <a:srgbClr val="155DFC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E05A6C-5676-4AFA-BAAB-D4682B4A2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790950"/>
            <a:ext cx="1200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20618"/>
                </a:solidFill>
              </a:defRPr>
            </a:pPr>
            <a:r>
              <a:rPr sz="975" b="1">
                <a:solidFill>
                  <a:srgbClr val="020618"/>
                </a:solidFill>
              </a:rPr>
              <a:t>画像データ確認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26C850-A2E8-4EDD-919A-592A5EF55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076700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45556C"/>
                </a:solidFill>
              </a:defRPr>
            </a:pPr>
            <a:r>
              <a:rPr sz="900" b="0">
                <a:solidFill>
                  <a:srgbClr val="45556C"/>
                </a:solidFill>
              </a:rPr>
              <a:t>画像品質</a:t>
            </a:r>
          </a:p>
          <a:p xmlns:a="http://schemas.openxmlformats.org/drawingml/2006/main">
            <a:pPr algn="ctr">
              <a:defRPr sz="900" b="0">
                <a:solidFill>
                  <a:srgbClr val="45556C"/>
                </a:solidFill>
              </a:defRPr>
            </a:pPr>
            <a:r>
              <a:rPr sz="900" b="0">
                <a:solidFill>
                  <a:srgbClr val="45556C"/>
                </a:solidFill>
              </a:rPr>
              <a:t>データ量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FE88A4-CD28-49B4-B4F1-CB8A4CFA0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790950"/>
            <a:ext cx="4191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5D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2992C1-2056-4DB3-8788-5572E14D5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609975"/>
            <a:ext cx="266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55DFC"/>
                </a:solidFill>
              </a:defRPr>
            </a:pPr>
            <a:r>
              <a:rPr sz="2250" b="1">
                <a:solidFill>
                  <a:srgbClr val="155DFC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1A7E02-4B49-41AE-BDB5-B0E5A115A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495800"/>
            <a:ext cx="108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447E6"/>
                </a:solidFill>
              </a:defRPr>
            </a:pPr>
            <a:r>
              <a:rPr sz="900" b="1">
                <a:solidFill>
                  <a:srgbClr val="1447E6"/>
                </a:solidFill>
              </a:rPr>
              <a:t>学習可否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A555E5-7378-4150-B39F-41559DCF7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362200"/>
            <a:ext cx="142875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346EC8-B518-4AEC-BE39-A572FB39E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514600"/>
            <a:ext cx="323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55DFC"/>
                </a:solidFill>
              </a:defRPr>
            </a:pPr>
            <a:r>
              <a:rPr sz="1500" b="1">
                <a:solidFill>
                  <a:srgbClr val="155DFC"/>
                </a:solidFill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5A1672-BD08-4641-AC51-F2599FFE9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19400"/>
            <a:ext cx="1200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20618"/>
                </a:solidFill>
              </a:defRPr>
            </a:pPr>
            <a:r>
              <a:rPr sz="975" b="1">
                <a:solidFill>
                  <a:srgbClr val="020618"/>
                </a:solidFill>
              </a:rPr>
              <a:t>アノテーション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B6D853-5B6E-44A4-B711-121B1ADDF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105150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45556C"/>
                </a:solidFill>
              </a:defRPr>
            </a:pPr>
            <a:r>
              <a:rPr sz="900" b="0">
                <a:solidFill>
                  <a:srgbClr val="45556C"/>
                </a:solidFill>
              </a:rPr>
              <a:t>正解ラベル</a:t>
            </a:r>
          </a:p>
          <a:p xmlns:a="http://schemas.openxmlformats.org/drawingml/2006/main">
            <a:pPr algn="ctr">
              <a:defRPr sz="900" b="0">
                <a:solidFill>
                  <a:srgbClr val="45556C"/>
                </a:solidFill>
              </a:defRPr>
            </a:pPr>
            <a:r>
              <a:rPr sz="900" b="0">
                <a:solidFill>
                  <a:srgbClr val="45556C"/>
                </a:solidFill>
              </a:rPr>
              <a:t>分類基準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F10B77-CA34-493D-9A4B-D82A68FF3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819400"/>
            <a:ext cx="4191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5D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C88F53-3955-4A5C-BD1E-FAB0BE7DD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638425"/>
            <a:ext cx="266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55DFC"/>
                </a:solidFill>
              </a:defRPr>
            </a:pPr>
            <a:r>
              <a:rPr sz="2250" b="1">
                <a:solidFill>
                  <a:srgbClr val="155DFC"/>
                </a:solidFill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1A1EC4-848B-4FF0-81DC-C1152B55F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524250"/>
            <a:ext cx="108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447E6"/>
                </a:solidFill>
              </a:defRPr>
            </a:pPr>
            <a:r>
              <a:rPr sz="900" b="1">
                <a:solidFill>
                  <a:srgbClr val="1447E6"/>
                </a:solidFill>
              </a:rPr>
              <a:t>基準合意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B13009-25FD-462B-B268-C8CF2558F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333750"/>
            <a:ext cx="142875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155DFC"/>
          </a:solidFill>
          <a:ln xmlns:a="http://schemas.openxmlformats.org/drawingml/2006/main" w="9525">
            <a:solidFill>
              <a:srgbClr val="155DF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7303123-43F8-43A8-BB20-CBB4F5EEB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486150"/>
            <a:ext cx="323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6CFBFFB-ADF5-4A51-86C2-3B3B07599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790950"/>
            <a:ext cx="1200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モデル検証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7C8B9E8-845A-496C-8C20-87E222A12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76700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DBEAFE"/>
                </a:solidFill>
              </a:defRPr>
            </a:pPr>
            <a:r>
              <a:rPr sz="900" b="0">
                <a:solidFill>
                  <a:srgbClr val="DBEAFE"/>
                </a:solidFill>
              </a:rPr>
              <a:t>候補判定</a:t>
            </a:r>
          </a:p>
          <a:p xmlns:a="http://schemas.openxmlformats.org/drawingml/2006/main">
            <a:pPr algn="ctr">
              <a:defRPr sz="900" b="0">
                <a:solidFill>
                  <a:srgbClr val="DBEAFE"/>
                </a:solidFill>
              </a:defRPr>
            </a:pPr>
            <a:r>
              <a:rPr sz="900" b="0">
                <a:solidFill>
                  <a:srgbClr val="DBEAFE"/>
                </a:solidFill>
              </a:rPr>
              <a:t>誤判定分析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192DE95-A6B8-4F15-8D80-16BF2BEAF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790950"/>
            <a:ext cx="4191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D3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4271FA4-53B2-43DE-8B65-B6B46C5DA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609975"/>
            <a:ext cx="266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D3F2"/>
                </a:solidFill>
              </a:defRPr>
            </a:pPr>
            <a:r>
              <a:rPr sz="2250" b="1">
                <a:solidFill>
                  <a:srgbClr val="00D3F2"/>
                </a:solidFill>
              </a:rPr>
              <a:t>→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CD7CC34-4BDE-4E14-8350-1BB6C1A99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95800"/>
            <a:ext cx="108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447E6"/>
                </a:solidFill>
              </a:defRPr>
            </a:pPr>
            <a:r>
              <a:rPr sz="900" b="1">
                <a:solidFill>
                  <a:srgbClr val="1447E6"/>
                </a:solidFill>
              </a:rPr>
              <a:t>改善判断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FD6AED7-5B36-4A05-9441-FCC47E76E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362200"/>
            <a:ext cx="142875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9F40AB2-2E54-4AA8-BCDC-33573618A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14600"/>
            <a:ext cx="323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55DFC"/>
                </a:solidFill>
              </a:defRPr>
            </a:pPr>
            <a:r>
              <a:rPr sz="1500" b="1">
                <a:solidFill>
                  <a:srgbClr val="155DFC"/>
                </a:solidFill>
              </a:rPr>
              <a:t>5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AA96AD3-B846-49E4-8F3D-89D3F3D62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19400"/>
            <a:ext cx="1200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20618"/>
                </a:solidFill>
              </a:defRPr>
            </a:pPr>
            <a:r>
              <a:rPr sz="975" b="1">
                <a:solidFill>
                  <a:srgbClr val="020618"/>
                </a:solidFill>
              </a:rPr>
              <a:t>現場検証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35C1CDE-557C-4D2A-B048-C8284CB77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105150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45556C"/>
                </a:solidFill>
              </a:defRPr>
            </a:pPr>
            <a:r>
              <a:rPr sz="900" b="0">
                <a:solidFill>
                  <a:srgbClr val="45556C"/>
                </a:solidFill>
              </a:rPr>
              <a:t>確認時間</a:t>
            </a:r>
          </a:p>
          <a:p xmlns:a="http://schemas.openxmlformats.org/drawingml/2006/main">
            <a:pPr algn="ctr">
              <a:defRPr sz="900" b="0">
                <a:solidFill>
                  <a:srgbClr val="45556C"/>
                </a:solidFill>
              </a:defRPr>
            </a:pPr>
            <a:r>
              <a:rPr sz="900" b="0">
                <a:solidFill>
                  <a:srgbClr val="45556C"/>
                </a:solidFill>
              </a:rPr>
              <a:t>修正率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02828E0-8DD4-4144-BC2F-ECA85227F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819400"/>
            <a:ext cx="4191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5D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E872ADB-25EB-4B91-8FE3-6B09FB584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38425"/>
            <a:ext cx="266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55DFC"/>
                </a:solidFill>
              </a:defRPr>
            </a:pPr>
            <a:r>
              <a:rPr sz="2250" b="1">
                <a:solidFill>
                  <a:srgbClr val="155DFC"/>
                </a:solidFill>
              </a:rPr>
              <a:t>→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0B3AB29-05DF-403F-B94B-0A56BA969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524250"/>
            <a:ext cx="108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447E6"/>
                </a:solidFill>
              </a:defRPr>
            </a:pPr>
            <a:r>
              <a:rPr sz="900" b="1">
                <a:solidFill>
                  <a:srgbClr val="1447E6"/>
                </a:solidFill>
              </a:rPr>
              <a:t>運用適合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1AD30A2-CD43-4504-B936-5CC635C60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333750"/>
            <a:ext cx="142875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8C3F044-8596-4409-BCFC-88F4766B2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486150"/>
            <a:ext cx="323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55DFC"/>
                </a:solidFill>
              </a:defRPr>
            </a:pPr>
            <a:r>
              <a:rPr sz="1500" b="1">
                <a:solidFill>
                  <a:srgbClr val="155DFC"/>
                </a:solidFill>
              </a:rPr>
              <a:t>6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A548D25-F39E-4776-A872-AC00CF613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790950"/>
            <a:ext cx="1200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20618"/>
                </a:solidFill>
              </a:defRPr>
            </a:pPr>
            <a:r>
              <a:rPr sz="975" b="1">
                <a:solidFill>
                  <a:srgbClr val="020618"/>
                </a:solidFill>
              </a:rPr>
              <a:t>本番判断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A4778A5-BBE7-43CE-A1DD-5B5A0DFBE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076700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45556C"/>
                </a:solidFill>
              </a:defRPr>
            </a:pPr>
            <a:r>
              <a:rPr sz="900" b="0">
                <a:solidFill>
                  <a:srgbClr val="45556C"/>
                </a:solidFill>
              </a:rPr>
              <a:t>連携範囲</a:t>
            </a:r>
          </a:p>
          <a:p xmlns:a="http://schemas.openxmlformats.org/drawingml/2006/main">
            <a:pPr algn="ctr">
              <a:defRPr sz="900" b="0">
                <a:solidFill>
                  <a:srgbClr val="45556C"/>
                </a:solidFill>
              </a:defRPr>
            </a:pPr>
            <a:r>
              <a:rPr sz="900" b="0">
                <a:solidFill>
                  <a:srgbClr val="45556C"/>
                </a:solidFill>
              </a:rPr>
              <a:t>費用確定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2764C35-6E28-4293-B07A-F9A734015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495800"/>
            <a:ext cx="108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447E6"/>
                </a:solidFill>
              </a:defRPr>
            </a:pPr>
            <a:r>
              <a:rPr sz="900" b="1">
                <a:solidFill>
                  <a:srgbClr val="1447E6"/>
                </a:solidFill>
              </a:rPr>
              <a:t>導入判断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BD27E84-03E0-436F-8BE4-380B4B13E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143500"/>
            <a:ext cx="8953500" cy="514350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ECFEFF"/>
          </a:solidFill>
          <a:ln xmlns:a="http://schemas.openxmlformats.org/drawingml/2006/main" w="9525">
            <a:solidFill>
              <a:srgbClr val="A2F4FD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4CC5AF7-C737-4C49-A01F-C5BA02AB5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295900"/>
            <a:ext cx="830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20618"/>
                </a:solidFill>
              </a:defRPr>
            </a:pPr>
            <a:r>
              <a:rPr sz="1350" b="1">
                <a:solidFill>
                  <a:srgbClr val="020618"/>
                </a:solidFill>
              </a:rPr>
              <a:t>合格条件：対象カテゴリ・目標精度・人手修正率・確認時間・現場適合性をPoCで確定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3F4B54D-BB44-436B-AEDE-318A04C03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20618"/>
                </a:solidFill>
              </a:defRPr>
            </a:pPr>
            <a:r>
              <a:rPr sz="975" b="1">
                <a:solidFill>
                  <a:srgbClr val="020618"/>
                </a:solidFill>
              </a:rPr>
              <a:t>ProposalPilot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5CA141D-413C-469E-B138-7EBE4B55D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64008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48E"/>
                </a:solidFill>
              </a:defRPr>
            </a:pPr>
            <a:r>
              <a:rPr sz="825" b="0">
                <a:solidFill>
                  <a:srgbClr val="62748E"/>
                </a:solidFill>
              </a:rPr>
              <a:t>PoC Plan / phase gates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7764066-4E7E-4D2A-8DA5-A5663BB26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5556C"/>
                </a:solidFill>
              </a:defRPr>
            </a:pPr>
            <a:r>
              <a:rPr sz="1050" b="1">
                <a:solidFill>
                  <a:srgbClr val="45556C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90772488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5DA5623-9BAE-4E5E-8475-C8B65E43D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4287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5D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D4F775-3F51-4DBE-8C84-9C4ADAF36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2925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KPI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312758-32A6-45AA-A926-94845B188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PoCで確定する評価設計を提示する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E67DC7-59F1-4381-B89C-1BE58C862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66850"/>
            <a:ext cx="828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現状値・目標値・判定基準を並べ、何を測れば導入判断できるかを明確にします。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69EA0F-D68D-4348-8FF0-60C4C2CB9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76450"/>
            <a:ext cx="10782300" cy="3086100"/>
          </a:xfrm>
          <a:prstGeom xmlns:a="http://schemas.openxmlformats.org/drawingml/2006/main" prst="roundRect">
            <a:avLst>
              <a:gd name="adj" fmla="val 49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CC286A-A448-44BF-A9F4-A03AD9AB1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3050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55DFC"/>
                </a:solidFill>
              </a:defRPr>
            </a:pPr>
            <a:r>
              <a:rPr sz="1125" b="1">
                <a:solidFill>
                  <a:srgbClr val="155DFC"/>
                </a:solidFill>
              </a:rPr>
              <a:t>評価方法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9F26AD-C285-4B44-AC18-9753B908B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3050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55DFC"/>
                </a:solidFill>
              </a:defRPr>
            </a:pPr>
            <a:r>
              <a:rPr sz="1125" b="1">
                <a:solidFill>
                  <a:srgbClr val="155DFC"/>
                </a:solidFill>
              </a:rPr>
              <a:t>現状値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419531-8F52-4DF6-BB80-13C88E16C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3050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55DFC"/>
                </a:solidFill>
              </a:defRPr>
            </a:pPr>
            <a:r>
              <a:rPr sz="1125" b="1">
                <a:solidFill>
                  <a:srgbClr val="155DFC"/>
                </a:solidFill>
              </a:rPr>
              <a:t>目標値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583ACE-AA86-4CBF-9E37-D531F8D01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3050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55DFC"/>
                </a:solidFill>
              </a:defRPr>
            </a:pPr>
            <a:r>
              <a:rPr sz="1125" b="1">
                <a:solidFill>
                  <a:srgbClr val="155DFC"/>
                </a:solidFill>
              </a:rPr>
              <a:t>判定基準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F66354-E80C-4E7A-8FF8-34D04CD41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241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20618"/>
                </a:solidFill>
              </a:defRPr>
            </a:pPr>
            <a:r>
              <a:rPr sz="1125" b="1">
                <a:solidFill>
                  <a:srgbClr val="020618"/>
                </a:solidFill>
              </a:rPr>
              <a:t>候補正答率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44C6D6-4E03-4F0E-8E12-4B2F34573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686050"/>
            <a:ext cx="14668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A3B377-C79A-42C7-B480-DA4222087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743200"/>
            <a:ext cx="1314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5556C"/>
                </a:solidFill>
              </a:defRPr>
            </a:pPr>
            <a:r>
              <a:rPr sz="900" b="1">
                <a:solidFill>
                  <a:srgbClr val="45556C"/>
                </a:solidFill>
              </a:rPr>
              <a:t>PoCで測定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062DF6-D95E-42E5-936A-7D1FA3C9F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686050"/>
            <a:ext cx="14668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8156D0-D873-4DF5-9639-EF785E32E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743200"/>
            <a:ext cx="1314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5556C"/>
                </a:solidFill>
              </a:defRPr>
            </a:pPr>
            <a:r>
              <a:rPr sz="900" b="1">
                <a:solidFill>
                  <a:srgbClr val="45556C"/>
                </a:solidFill>
              </a:rPr>
              <a:t>要確認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5ED905-D428-4302-89FD-885E9EAE8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686050"/>
            <a:ext cx="14668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CFEFF"/>
          </a:solidFill>
          <a:ln xmlns:a="http://schemas.openxmlformats.org/drawingml/2006/main" w="9525">
            <a:solidFill>
              <a:srgbClr val="A2F4F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9F9326-69B9-425D-91F2-D05C998F6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743200"/>
            <a:ext cx="1314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05F78"/>
                </a:solidFill>
              </a:defRPr>
            </a:pPr>
            <a:r>
              <a:rPr sz="900" b="1">
                <a:solidFill>
                  <a:srgbClr val="005F78"/>
                </a:solidFill>
              </a:rPr>
              <a:t>PoCで確定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385095-B41B-4C81-AFF2-CB6D0323E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686050"/>
            <a:ext cx="14668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B20828-0CC2-4CFB-B75C-64C4A8C58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43200"/>
            <a:ext cx="1314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5556C"/>
                </a:solidFill>
              </a:defRPr>
            </a:pPr>
            <a:r>
              <a:rPr sz="900" b="1">
                <a:solidFill>
                  <a:srgbClr val="45556C"/>
                </a:solidFill>
              </a:rPr>
              <a:t>合意基準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0DAF08-B21D-4F80-A80C-8C885D600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861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20618"/>
                </a:solidFill>
              </a:defRPr>
            </a:pPr>
            <a:r>
              <a:rPr sz="1125" b="1">
                <a:solidFill>
                  <a:srgbClr val="020618"/>
                </a:solidFill>
              </a:rPr>
              <a:t>人手修正率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EA60F3-99B7-47F6-8231-967AEB443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048000"/>
            <a:ext cx="14668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80CABC-8632-4DAB-81F6-F5ADD1F05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105150"/>
            <a:ext cx="1314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5556C"/>
                </a:solidFill>
              </a:defRPr>
            </a:pPr>
            <a:r>
              <a:rPr sz="900" b="1">
                <a:solidFill>
                  <a:srgbClr val="45556C"/>
                </a:solidFill>
              </a:rPr>
              <a:t>PoCで測定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E18B47-AC81-4B46-B051-F1A839FEF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048000"/>
            <a:ext cx="14668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50F13F-0289-44AA-B809-BF484AF20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105150"/>
            <a:ext cx="1314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5556C"/>
                </a:solidFill>
              </a:defRPr>
            </a:pPr>
            <a:r>
              <a:rPr sz="900" b="1">
                <a:solidFill>
                  <a:srgbClr val="45556C"/>
                </a:solidFill>
              </a:rPr>
              <a:t>要確認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4C23EA-E832-4CA2-9D30-03FC98E74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048000"/>
            <a:ext cx="14668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CFEFF"/>
          </a:solidFill>
          <a:ln xmlns:a="http://schemas.openxmlformats.org/drawingml/2006/main" w="9525">
            <a:solidFill>
              <a:srgbClr val="A2F4F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AC3471-1B0A-468A-AF0B-8D7CD9BF3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105150"/>
            <a:ext cx="1314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05F78"/>
                </a:solidFill>
              </a:defRPr>
            </a:pPr>
            <a:r>
              <a:rPr sz="900" b="1">
                <a:solidFill>
                  <a:srgbClr val="005F78"/>
                </a:solidFill>
              </a:rPr>
              <a:t>PoCで確定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0B96C7-CA1B-41C0-AD14-4681D15A5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048000"/>
            <a:ext cx="14668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B02ACD-C787-4EBA-8D52-BA84A7266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05150"/>
            <a:ext cx="1314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5556C"/>
                </a:solidFill>
              </a:defRPr>
            </a:pPr>
            <a:r>
              <a:rPr sz="900" b="1">
                <a:solidFill>
                  <a:srgbClr val="45556C"/>
                </a:solidFill>
              </a:rPr>
              <a:t>合意基準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75F63AF-4205-4B0F-B94C-B47B46831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480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20618"/>
                </a:solidFill>
              </a:defRPr>
            </a:pPr>
            <a:r>
              <a:rPr sz="1125" b="1">
                <a:solidFill>
                  <a:srgbClr val="020618"/>
                </a:solidFill>
              </a:rPr>
              <a:t>1件あたり確認時間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B675B38-5E84-40EC-9FA3-7DB4DEC28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409950"/>
            <a:ext cx="14668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1D92FB6-B290-4FE0-B946-3E11FD5CA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467100"/>
            <a:ext cx="1314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5556C"/>
                </a:solidFill>
              </a:defRPr>
            </a:pPr>
            <a:r>
              <a:rPr sz="900" b="1">
                <a:solidFill>
                  <a:srgbClr val="45556C"/>
                </a:solidFill>
              </a:rPr>
              <a:t>PoCで測定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573013A-8C8B-43BF-BC36-15CB4F66F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409950"/>
            <a:ext cx="14668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50DF14A-36BE-4FAD-B098-252453D38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467100"/>
            <a:ext cx="1314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5556C"/>
                </a:solidFill>
              </a:defRPr>
            </a:pPr>
            <a:r>
              <a:rPr sz="900" b="1">
                <a:solidFill>
                  <a:srgbClr val="45556C"/>
                </a:solidFill>
              </a:rPr>
              <a:t>要確認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8D83B81-E04F-4FB3-803D-F70BE7F3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409950"/>
            <a:ext cx="14668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CFEFF"/>
          </a:solidFill>
          <a:ln xmlns:a="http://schemas.openxmlformats.org/drawingml/2006/main" w="9525">
            <a:solidFill>
              <a:srgbClr val="A2F4F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23EF331-6F7E-4D99-92F1-860EC6CF1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467100"/>
            <a:ext cx="1314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05F78"/>
                </a:solidFill>
              </a:defRPr>
            </a:pPr>
            <a:r>
              <a:rPr sz="900" b="1">
                <a:solidFill>
                  <a:srgbClr val="005F78"/>
                </a:solidFill>
              </a:rPr>
              <a:t>PoCで確定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B207D3C-0FDE-4E6D-93BD-8F0255BCF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409950"/>
            <a:ext cx="14668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232D0F9-336D-4BD3-B105-E6D1F97AD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467100"/>
            <a:ext cx="1314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5556C"/>
                </a:solidFill>
              </a:defRPr>
            </a:pPr>
            <a:r>
              <a:rPr sz="900" b="1">
                <a:solidFill>
                  <a:srgbClr val="45556C"/>
                </a:solidFill>
              </a:rPr>
              <a:t>合意基準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D4D70AB-4A7C-43C6-9964-26DAD4AFC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100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20618"/>
                </a:solidFill>
              </a:defRPr>
            </a:pPr>
            <a:r>
              <a:rPr sz="1125" b="1">
                <a:solidFill>
                  <a:srgbClr val="020618"/>
                </a:solidFill>
              </a:rPr>
              <a:t>商品登録処理時間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0894742-BDEB-41F3-92A7-918197BF5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771900"/>
            <a:ext cx="14668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95837EC-683F-4395-A4C8-6DE722E40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829050"/>
            <a:ext cx="1314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5556C"/>
                </a:solidFill>
              </a:defRPr>
            </a:pPr>
            <a:r>
              <a:rPr sz="900" b="1">
                <a:solidFill>
                  <a:srgbClr val="45556C"/>
                </a:solidFill>
              </a:rPr>
              <a:t>PoCで測定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0B8B405-D1EF-4399-8C47-37127CA3F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771900"/>
            <a:ext cx="14668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9B18600-05C3-42BC-9719-B719BEAD5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829050"/>
            <a:ext cx="1314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5556C"/>
                </a:solidFill>
              </a:defRPr>
            </a:pPr>
            <a:r>
              <a:rPr sz="900" b="1">
                <a:solidFill>
                  <a:srgbClr val="45556C"/>
                </a:solidFill>
              </a:rPr>
              <a:t>要確認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913D893-3E44-45BF-ABBF-EA63D8787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771900"/>
            <a:ext cx="14668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CFEFF"/>
          </a:solidFill>
          <a:ln xmlns:a="http://schemas.openxmlformats.org/drawingml/2006/main" w="9525">
            <a:solidFill>
              <a:srgbClr val="A2F4FD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514E92F-D72D-495B-B2B3-D8FB0E347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829050"/>
            <a:ext cx="1314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05F78"/>
                </a:solidFill>
              </a:defRPr>
            </a:pPr>
            <a:r>
              <a:rPr sz="900" b="1">
                <a:solidFill>
                  <a:srgbClr val="005F78"/>
                </a:solidFill>
              </a:rPr>
              <a:t>PoCで確定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BC19C22-5EC4-4030-BC2B-2435B5AA1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771900"/>
            <a:ext cx="14668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05E1FC9-DA3E-425F-B68C-A79DDCF7A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829050"/>
            <a:ext cx="1314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5556C"/>
                </a:solidFill>
              </a:defRPr>
            </a:pPr>
            <a:r>
              <a:rPr sz="900" b="1">
                <a:solidFill>
                  <a:srgbClr val="45556C"/>
                </a:solidFill>
              </a:rPr>
              <a:t>合意基準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349CB15-2867-4291-AF9A-20E2290ED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719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20618"/>
                </a:solidFill>
              </a:defRPr>
            </a:pPr>
            <a:r>
              <a:rPr sz="1125" b="1">
                <a:solidFill>
                  <a:srgbClr val="020618"/>
                </a:solidFill>
              </a:rPr>
              <a:t>担当者間ばらつき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EE6EA94-D829-4321-84FF-7AA1522A6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133850"/>
            <a:ext cx="14668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9EF251E-4FE7-4742-B711-B2EA4A6E8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191000"/>
            <a:ext cx="1314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5556C"/>
                </a:solidFill>
              </a:defRPr>
            </a:pPr>
            <a:r>
              <a:rPr sz="900" b="1">
                <a:solidFill>
                  <a:srgbClr val="45556C"/>
                </a:solidFill>
              </a:rPr>
              <a:t>PoCで測定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58134FA-EF41-4B28-8757-62605F44F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133850"/>
            <a:ext cx="14668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9EE3B01-05AB-404C-A0C9-1EF15A280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191000"/>
            <a:ext cx="1314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5556C"/>
                </a:solidFill>
              </a:defRPr>
            </a:pPr>
            <a:r>
              <a:rPr sz="900" b="1">
                <a:solidFill>
                  <a:srgbClr val="45556C"/>
                </a:solidFill>
              </a:rPr>
              <a:t>要確認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E3B3D6F-3F0B-4CCB-A719-4CB6EEF36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133850"/>
            <a:ext cx="14668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CFEFF"/>
          </a:solidFill>
          <a:ln xmlns:a="http://schemas.openxmlformats.org/drawingml/2006/main" w="9525">
            <a:solidFill>
              <a:srgbClr val="A2F4FD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DBB0422-C193-42B7-91C2-B4A7F4B2C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191000"/>
            <a:ext cx="1314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05F78"/>
                </a:solidFill>
              </a:defRPr>
            </a:pPr>
            <a:r>
              <a:rPr sz="900" b="1">
                <a:solidFill>
                  <a:srgbClr val="005F78"/>
                </a:solidFill>
              </a:rPr>
              <a:t>PoCで確定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BC2BE0E-8652-43F0-957A-005ABE19F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133850"/>
            <a:ext cx="14668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4E648FA-2A00-4DA4-B61D-8B8A26F9B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191000"/>
            <a:ext cx="1314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5556C"/>
                </a:solidFill>
              </a:defRPr>
            </a:pPr>
            <a:r>
              <a:rPr sz="900" b="1">
                <a:solidFill>
                  <a:srgbClr val="45556C"/>
                </a:solidFill>
              </a:rPr>
              <a:t>合意基準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4D4DC34-3B08-455B-95D4-CE716786F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339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20618"/>
                </a:solidFill>
              </a:defRPr>
            </a:pPr>
            <a:r>
              <a:rPr sz="1125" b="1">
                <a:solidFill>
                  <a:srgbClr val="020618"/>
                </a:solidFill>
              </a:rPr>
              <a:t>誤登録率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9387EE7-C228-436D-9FFB-0B968F5D8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495800"/>
            <a:ext cx="14668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1450C86-6A4C-4D97-AFC0-58D1E28AE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552950"/>
            <a:ext cx="1314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5556C"/>
                </a:solidFill>
              </a:defRPr>
            </a:pPr>
            <a:r>
              <a:rPr sz="900" b="1">
                <a:solidFill>
                  <a:srgbClr val="45556C"/>
                </a:solidFill>
              </a:rPr>
              <a:t>PoCで測定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3C4A38E-6B9F-4B11-B3BE-32238DDF8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495800"/>
            <a:ext cx="14668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506350A-3EDA-4500-A9EE-F6EDB3AC8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552950"/>
            <a:ext cx="1314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5556C"/>
                </a:solidFill>
              </a:defRPr>
            </a:pPr>
            <a:r>
              <a:rPr sz="900" b="1">
                <a:solidFill>
                  <a:srgbClr val="45556C"/>
                </a:solidFill>
              </a:rPr>
              <a:t>要確認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DD08CC8-015B-44DC-9CFC-37F9F546B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495800"/>
            <a:ext cx="14668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CFEFF"/>
          </a:solidFill>
          <a:ln xmlns:a="http://schemas.openxmlformats.org/drawingml/2006/main" w="9525">
            <a:solidFill>
              <a:srgbClr val="A2F4FD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D0E6CC4-B09E-4DC0-83DC-07981EE85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552950"/>
            <a:ext cx="1314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05F78"/>
                </a:solidFill>
              </a:defRPr>
            </a:pPr>
            <a:r>
              <a:rPr sz="900" b="1">
                <a:solidFill>
                  <a:srgbClr val="005F78"/>
                </a:solidFill>
              </a:rPr>
              <a:t>PoCで確定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8A1B3A3-EFF2-43B3-96DA-DCF7C53E1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495800"/>
            <a:ext cx="14668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EBE42A4-1A37-466B-AFCE-65C1EC1CF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552950"/>
            <a:ext cx="1314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5556C"/>
                </a:solidFill>
              </a:defRPr>
            </a:pPr>
            <a:r>
              <a:rPr sz="900" b="1">
                <a:solidFill>
                  <a:srgbClr val="45556C"/>
                </a:solidFill>
              </a:rPr>
              <a:t>合意基準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421BC04-2A1A-4410-A34E-D4052AA99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86400"/>
            <a:ext cx="99060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206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9F2386B-CEED-4A76-B63B-98C4BDFC4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619750"/>
            <a:ext cx="914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評価の主役は“数値の断定”ではなく、導入判断に必要な測定設計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E29EF47-269A-44F0-B677-65C811E0C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20618"/>
                </a:solidFill>
              </a:defRPr>
            </a:pPr>
            <a:r>
              <a:rPr sz="975" b="1">
                <a:solidFill>
                  <a:srgbClr val="020618"/>
                </a:solidFill>
              </a:rPr>
              <a:t>ProposalPilot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A26F312-7EB4-4D65-AACE-CBC42EF5A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64008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48E"/>
                </a:solidFill>
              </a:defRPr>
            </a:pPr>
            <a:r>
              <a:rPr sz="825" b="0">
                <a:solidFill>
                  <a:srgbClr val="62748E"/>
                </a:solidFill>
              </a:rPr>
              <a:t>KPI Dashboard / evaluation matrix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3268BE9-0C53-4A10-A263-9AA574B94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5556C"/>
                </a:solidFill>
              </a:defRPr>
            </a:pPr>
            <a:r>
              <a:rPr sz="1050" b="1">
                <a:solidFill>
                  <a:srgbClr val="45556C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9974467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561E419-3935-4B69-A9C6-C6CC73672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4287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5D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2A6639-0B2F-4EF4-8190-D367E9C3E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2925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ESTIMATE / NEXT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77524F-9F78-4DC5-991E-BE78D7CDD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1,000万円の予算上限内で、まずPoC範囲を確定する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E774D3-529B-48F7-AC47-72F40F7DA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66850"/>
            <a:ext cx="828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正式見積は対象画像・判定カテゴリ・連携条件を確認した後に確定します。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A9FD32-1D04-4F43-AA99-F8CC10109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76450"/>
            <a:ext cx="3333750" cy="2762250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206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C34FDF-0779-43EB-BD76-174CFDDB7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003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AD5E2"/>
                </a:solidFill>
              </a:defRPr>
            </a:pPr>
            <a:r>
              <a:rPr sz="1800" b="1">
                <a:solidFill>
                  <a:srgbClr val="CAD5E2"/>
                </a:solidFill>
              </a:rPr>
              <a:t>予算上限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B64A5A-73BC-4927-8D82-2C40B1191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14650"/>
            <a:ext cx="2686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1,000万円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8E82BA-0381-443D-8597-B34C88CD9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3380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全体想定は要件により調整</a:t>
            </a:r>
          </a:p>
          <a:p xmlns:a="http://schemas.openxmlformats.org/drawingml/2006/main">
            <a:pPr algn="ctr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PoC範囲を先に確定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5C75EF-F3E9-4703-8161-E5B956632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76450"/>
            <a:ext cx="27813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DAECF9-5303-4BE2-8FC4-5C1008D50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209800"/>
            <a:ext cx="3619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155D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E3CB1D-CB38-45B5-B442-4291396C8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28600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D95D0E-B622-49ED-8F6B-C59073813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286000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20618"/>
                </a:solidFill>
              </a:defRPr>
            </a:pPr>
            <a:r>
              <a:rPr sz="1200" b="1">
                <a:solidFill>
                  <a:srgbClr val="020618"/>
                </a:solidFill>
              </a:rPr>
              <a:t>要件・PoC設計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A21767-5FB3-43CE-9A3C-316CCDC91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76450"/>
            <a:ext cx="27813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C33617-547C-4AA2-9C60-AF2EA120A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209800"/>
            <a:ext cx="3619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155D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27486E-EF0E-4B16-8AE5-5C435F1AB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28600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0656B9-029F-47FD-B19F-0C8524978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86000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20618"/>
                </a:solidFill>
              </a:defRPr>
            </a:pPr>
            <a:r>
              <a:rPr sz="1200" b="1">
                <a:solidFill>
                  <a:srgbClr val="020618"/>
                </a:solidFill>
              </a:rPr>
              <a:t>データ準備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C6AE91-4176-4852-AF8D-2A59255B6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14650"/>
            <a:ext cx="27813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CFEFF"/>
          </a:solidFill>
          <a:ln xmlns:a="http://schemas.openxmlformats.org/drawingml/2006/main" w="9525">
            <a:solidFill>
              <a:srgbClr val="A2F4F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DF69FF-9A38-4CCE-8C10-746C4CE9C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048000"/>
            <a:ext cx="3619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00D3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170CEB-923D-494C-AED8-B7D22BA06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2420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DAEB9E-33BB-4CEC-A1D7-C6776C294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124200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20618"/>
                </a:solidFill>
              </a:defRPr>
            </a:pPr>
            <a:r>
              <a:rPr sz="1200" b="1">
                <a:solidFill>
                  <a:srgbClr val="020618"/>
                </a:solidFill>
              </a:rPr>
              <a:t>AIモデル検証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D778CD-6250-42CA-B68F-C6919D631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914650"/>
            <a:ext cx="27813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E83AAF-D9BB-48AA-8688-85C029ED2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048000"/>
            <a:ext cx="3619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155D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4117FE-6F99-4E18-B351-918779CCD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12420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3B01BA-FBAE-4B85-90C9-2FCA6A84D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24200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20618"/>
                </a:solidFill>
              </a:defRPr>
            </a:pPr>
            <a:r>
              <a:rPr sz="1200" b="1">
                <a:solidFill>
                  <a:srgbClr val="020618"/>
                </a:solidFill>
              </a:rPr>
              <a:t>確認UI・システム連携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6FFC87-31DB-473D-ADE9-39DCE2DE6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752850"/>
            <a:ext cx="27813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5A7CF0-610A-436E-8727-5721325ED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886200"/>
            <a:ext cx="3619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155D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3498BC-5E70-4C8A-AF9F-DD6885A0C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96240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5FA9F59-7A59-4355-B951-FE0E9C3A2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962400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20618"/>
                </a:solidFill>
              </a:defRPr>
            </a:pPr>
            <a:r>
              <a:rPr sz="1200" b="1">
                <a:solidFill>
                  <a:srgbClr val="020618"/>
                </a:solidFill>
              </a:rPr>
              <a:t>本番導入・運用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A99063D-3A17-4645-861B-F1F6FC551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667250"/>
            <a:ext cx="59245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EDB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0CFF45A-049A-43F9-AF62-26549319E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819650"/>
            <a:ext cx="535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55DFC"/>
                </a:solidFill>
              </a:defRPr>
            </a:pPr>
            <a:r>
              <a:rPr sz="1275" b="1">
                <a:solidFill>
                  <a:srgbClr val="155DFC"/>
                </a:solidFill>
              </a:rPr>
              <a:t>次のアクション：画像サンプル確認 / 判定カテゴリ確定 / 正解データ確認 / PoC評価基準合意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6388341-4049-4ADF-BE2B-F45AFA5E9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20618"/>
                </a:solidFill>
              </a:defRPr>
            </a:pPr>
            <a:r>
              <a:rPr sz="975" b="1">
                <a:solidFill>
                  <a:srgbClr val="020618"/>
                </a:solidFill>
              </a:rPr>
              <a:t>ProposalPilot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A105EC6-B461-4A3E-8149-4E9738F42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64008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48E"/>
                </a:solidFill>
              </a:defRPr>
            </a:pPr>
            <a:r>
              <a:rPr sz="825" b="0">
                <a:solidFill>
                  <a:srgbClr val="62748E"/>
                </a:solidFill>
              </a:rPr>
              <a:t>Estimate and next action / scope before quote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BC02B92-2AE6-4B2B-9236-2B3DDEF8D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5556C"/>
                </a:solidFill>
              </a:defRPr>
            </a:pPr>
            <a:r>
              <a:rPr sz="1050" b="1">
                <a:solidFill>
                  <a:srgbClr val="45556C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591294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2026-07-16T22:59:41.7230000Z</dcterms:created>
  <dcterms:modified xsi:type="dcterms:W3CDTF">2026-07-16T22:59:41.7230000Z</dcterms:modified>
</coreProperties>
</file>