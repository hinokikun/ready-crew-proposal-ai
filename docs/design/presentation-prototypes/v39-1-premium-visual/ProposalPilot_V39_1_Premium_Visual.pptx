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60338ad0e4f15" /><Relationship Type="http://schemas.openxmlformats.org/officeDocument/2006/relationships/extended-properties" Target="/docProps/app.xml" Id="R8e445ee22fdd43a7" /><Relationship Type="http://schemas.openxmlformats.org/officeDocument/2006/relationships/officeDocument" Target="/ppt/presentation.xml" Id="Rf1cbad555e39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a4ab462934b8f"/>
  </p:sldMasterIdLst>
  <p:notesMasterIdLst>
    <p:notesMasterId xmlns:r="http://schemas.openxmlformats.org/officeDocument/2006/relationships" r:id="R4c042db9230248b6"/>
  </p:notesMasterIdLst>
  <p:sldIdLst>
    <p:sldId xmlns:r="http://schemas.openxmlformats.org/officeDocument/2006/relationships" id="256" r:id="Reea93bd4eba949ba"/>
    <p:sldId xmlns:r="http://schemas.openxmlformats.org/officeDocument/2006/relationships" id="257" r:id="R850a65101aa64886"/>
    <p:sldId xmlns:r="http://schemas.openxmlformats.org/officeDocument/2006/relationships" id="258" r:id="R04054f78d8874568"/>
    <p:sldId xmlns:r="http://schemas.openxmlformats.org/officeDocument/2006/relationships" id="259" r:id="Re129ecbb4a4248e4"/>
    <p:sldId xmlns:r="http://schemas.openxmlformats.org/officeDocument/2006/relationships" id="260" r:id="R394424a446364306"/>
    <p:sldId xmlns:r="http://schemas.openxmlformats.org/officeDocument/2006/relationships" id="261" r:id="R28d84fb7131d48ba"/>
    <p:sldId xmlns:r="http://schemas.openxmlformats.org/officeDocument/2006/relationships" id="262" r:id="R0f491d8c51874a67"/>
    <p:sldId xmlns:r="http://schemas.openxmlformats.org/officeDocument/2006/relationships" id="263" r:id="R3d7cb557340848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33b1ed6cd43a8" /><Relationship Type="http://schemas.openxmlformats.org/officeDocument/2006/relationships/slideMaster" Target="/ppt/slideMasters/slideMaster1.xml" Id="R41ca4ab462934b8f" /><Relationship Type="http://schemas.openxmlformats.org/officeDocument/2006/relationships/notesMaster" Target="/ppt/notesMasters/notesMaster1.xml" Id="R4c042db9230248b6" /><Relationship Type="http://schemas.openxmlformats.org/officeDocument/2006/relationships/presProps" Target="/ppt/presProps.xml" Id="Rad1e4be0af384195" /><Relationship Type="http://schemas.openxmlformats.org/officeDocument/2006/relationships/tableStyles" Target="/ppt/tableStyles.xml" Id="R9a81cf55ccaf4d6e" /><Relationship Type="http://schemas.openxmlformats.org/officeDocument/2006/relationships/slide" Target="/ppt/slides/slide1.xml" Id="Reea93bd4eba949ba" /><Relationship Type="http://schemas.openxmlformats.org/officeDocument/2006/relationships/slide" Target="/ppt/slides/slide2.xml" Id="R850a65101aa64886" /><Relationship Type="http://schemas.openxmlformats.org/officeDocument/2006/relationships/slide" Target="/ppt/slides/slide3.xml" Id="R04054f78d8874568" /><Relationship Type="http://schemas.openxmlformats.org/officeDocument/2006/relationships/slide" Target="/ppt/slides/slide4.xml" Id="Re129ecbb4a4248e4" /><Relationship Type="http://schemas.openxmlformats.org/officeDocument/2006/relationships/slide" Target="/ppt/slides/slide5.xml" Id="R394424a446364306" /><Relationship Type="http://schemas.openxmlformats.org/officeDocument/2006/relationships/slide" Target="/ppt/slides/slide6.xml" Id="R28d84fb7131d48ba" /><Relationship Type="http://schemas.openxmlformats.org/officeDocument/2006/relationships/slide" Target="/ppt/slides/slide7.xml" Id="R0f491d8c51874a67" /><Relationship Type="http://schemas.openxmlformats.org/officeDocument/2006/relationships/slide" Target="/ppt/slides/slide8.xml" Id="R3d7cb5573408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f502ba4f0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52837160754280" /><Relationship Type="http://schemas.openxmlformats.org/officeDocument/2006/relationships/notesMaster" Target="/ppt/notesMasters/notesMaster1.xml" Id="R377fd295eadc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08e3880624df3" /><Relationship Type="http://schemas.openxmlformats.org/officeDocument/2006/relationships/notesMaster" Target="/ppt/notesMasters/notesMaster1.xml" Id="R7eb8b73fe02e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a6951fb17b4947" /><Relationship Type="http://schemas.openxmlformats.org/officeDocument/2006/relationships/notesMaster" Target="/ppt/notesMasters/notesMaster1.xml" Id="R524b2768525a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3eb58e163949b2" /><Relationship Type="http://schemas.openxmlformats.org/officeDocument/2006/relationships/notesMaster" Target="/ppt/notesMasters/notesMaster1.xml" Id="Rb39a4c6ea88641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692b767824b64" /><Relationship Type="http://schemas.openxmlformats.org/officeDocument/2006/relationships/notesMaster" Target="/ppt/notesMasters/notesMaster1.xml" Id="Re499221932e8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7dfe9e10447c2" /><Relationship Type="http://schemas.openxmlformats.org/officeDocument/2006/relationships/notesMaster" Target="/ppt/notesMasters/notesMaster1.xml" Id="R33c799a81f414f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ed5236b7744ad" /><Relationship Type="http://schemas.openxmlformats.org/officeDocument/2006/relationships/notesMaster" Target="/ppt/notesMasters/notesMaster1.xml" Id="R1d623003c84748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3714f1e882494b" /><Relationship Type="http://schemas.openxmlformats.org/officeDocument/2006/relationships/notesMaster" Target="/ppt/notesMasters/notesMaster1.xml" Id="R5754866b52d8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cd86a565242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3a6a624e341da" /><Relationship Type="http://schemas.openxmlformats.org/officeDocument/2006/relationships/slideLayout" Target="/ppt/slideLayouts/slideLayout1.xml" Id="Rc340a2989edf49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0a2989edf49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9c3c1f99a4f67" /><Relationship Type="http://schemas.openxmlformats.org/officeDocument/2006/relationships/notesSlide" Target="/ppt/notesSlides/notesSlide1.xml" Id="R4cf23113f6f5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49696c9a44f7e" /><Relationship Type="http://schemas.openxmlformats.org/officeDocument/2006/relationships/notesSlide" Target="/ppt/notesSlides/notesSlide2.xml" Id="R73b4760c8df349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e97e9ea3401e" /><Relationship Type="http://schemas.openxmlformats.org/officeDocument/2006/relationships/notesSlide" Target="/ppt/notesSlides/notesSlide3.xml" Id="Rb994422d3ed248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ecff484ca4b75" /><Relationship Type="http://schemas.openxmlformats.org/officeDocument/2006/relationships/notesSlide" Target="/ppt/notesSlides/notesSlide4.xml" Id="R90511c478eb9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8f26b5a1412a" /><Relationship Type="http://schemas.openxmlformats.org/officeDocument/2006/relationships/notesSlide" Target="/ppt/notesSlides/notesSlide5.xml" Id="R3d4e80dd1bc5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443c1bbb046d2" /><Relationship Type="http://schemas.openxmlformats.org/officeDocument/2006/relationships/notesSlide" Target="/ppt/notesSlides/notesSlide6.xml" Id="R23b7cdb035054d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5c0a194ba4198" /><Relationship Type="http://schemas.openxmlformats.org/officeDocument/2006/relationships/notesSlide" Target="/ppt/notesSlides/notesSlide7.xml" Id="Rebe830ef163a42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4c4eea88f4b8e" /><Relationship Type="http://schemas.openxmlformats.org/officeDocument/2006/relationships/notesSlide" Target="/ppt/notesSlides/notesSlide8.xml" Id="Rcbb742580f1145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1BDE7-8E0B-4571-82B6-1E292D5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4762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B732-F824-4274-B7F0-EFFC5B73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07A6-C56F-4738-AAD6-8AD01D9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7250"/>
            <a:ext cx="44767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A2A5B"/>
          </a:solidFill>
          <a:ln xmlns:a="http://schemas.openxmlformats.org/drawingml/2006/main" w="19050">
            <a:solidFill>
              <a:srgbClr val="1D51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2C60F-AFA0-4AD1-ABE7-387CC37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44767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12D61"/>
          </a:solidFill>
          <a:ln xmlns:a="http://schemas.openxmlformats.org/drawingml/2006/main" w="19050">
            <a:solidFill>
              <a:srgbClr val="2462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2312-26A8-458E-8F4D-A4E07CA2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36957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77D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84FAA-F624-431E-8AA1-A6612A6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57325"/>
            <a:ext cx="817245" cy="1173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DF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BCC5D-3090-49B2-8AD9-EB894AB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1897380"/>
            <a:ext cx="1068705" cy="733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A9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3FDEA-1500-4B3F-8A18-F2386A0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705" y="2735580"/>
            <a:ext cx="838200" cy="1026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3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22BC-68F2-4E28-9014-2087C479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2798445"/>
            <a:ext cx="859155" cy="963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F0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E7967-90A3-4230-B2D1-16565D37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023110"/>
            <a:ext cx="1005840" cy="754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F4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14F7D-6C6C-429C-96D2-515D54EA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352550"/>
            <a:ext cx="859155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B9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43508-1B21-42DA-8CE1-0E8C558F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470" y="2274570"/>
            <a:ext cx="691515" cy="691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6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B87EB-05FF-4761-8533-5CEB86D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23050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95952-F464-464B-AC6D-4F31717F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2125"/>
            <a:ext cx="3943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E507D-A475-47FF-8073-3F5B63C6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62125"/>
            <a:ext cx="57150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9FB09-0A94-4C84-8284-813EC15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115" y="1762125"/>
            <a:ext cx="3943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7A2B5-26B9-45C7-95E4-B7C7E273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62125"/>
            <a:ext cx="57150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BD58D-DF00-4E8D-9E30-8DEC527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95725"/>
            <a:ext cx="3943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93B04-5E0E-44DD-AAB6-1D7E9467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58540"/>
            <a:ext cx="57150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87DA1-798C-44E9-9FCB-97115FC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115" y="3895725"/>
            <a:ext cx="3943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EFF44-E3D2-4829-8C24-B3462E8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58540"/>
            <a:ext cx="57150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66FE6-BBFF-4739-B47E-4500AB6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90700"/>
            <a:ext cx="381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05E9D-3B95-4823-BD6F-548B4AA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2573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9525">
            <a:solidFill>
              <a:srgbClr val="BFE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BA8"/>
                </a:solidFill>
              </a:defRPr>
            </a:pPr>
            <a:r>
              <a:rPr sz="1050" b="1">
                <a:solidFill>
                  <a:srgbClr val="0A5BA8"/>
                </a:solidFill>
              </a:rPr>
              <a:t>種類候補: バラ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CE752-73C3-49ED-99BC-9202E176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71725"/>
            <a:ext cx="12001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9525">
            <a:solidFill>
              <a:srgbClr val="BFE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BA8"/>
                </a:solidFill>
              </a:defRPr>
            </a:pPr>
            <a:r>
              <a:rPr sz="1050" b="1">
                <a:solidFill>
                  <a:srgbClr val="0A5BA8"/>
                </a:solidFill>
              </a:rPr>
              <a:t>色: Blue Mix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2ADC5-4F72-45FF-ADF8-F66688D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3144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5CF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等級: 確認待ち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FBFA1-F068-41A3-9192-34507E0C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13144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FF8EF"/>
          </a:solidFill>
          <a:ln xmlns:a="http://schemas.openxmlformats.org/drawingml/2006/main" w="9525">
            <a:solidFill>
              <a:srgbClr val="B3E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状態: 良好候補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CFCFE-8904-4010-9924-EA3375A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14800"/>
            <a:ext cx="2400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9525">
            <a:solidFill>
              <a:srgbClr val="4AD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92B7F-1C09-4EB1-9F31-2B8F5A0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95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F2FF"/>
                </a:solidFill>
              </a:defRPr>
            </a:pPr>
            <a:r>
              <a:rPr sz="1275" b="1">
                <a:solidFill>
                  <a:srgbClr val="80F2FF"/>
                </a:solidFill>
              </a:rPr>
              <a:t>AI候補提示 → 人が確認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372E2-F386-4442-A4EB-B4D764F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生花オークション向け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AI画像認識導入支援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2021D-7BE5-47A0-ADBD-A1A7086B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EAFF"/>
                </a:solidFill>
              </a:defRPr>
            </a:pPr>
            <a:r>
              <a:rPr sz="2250" b="1">
                <a:solidFill>
                  <a:srgbClr val="D6EAFF"/>
                </a:solidFill>
              </a:rPr>
              <a:t>画像認識による</a:t>
            </a:r>
          </a:p>
          <a:p xmlns:a="http://schemas.openxmlformats.org/drawingml/2006/main">
            <a:pPr algn="l">
              <a:defRPr sz="2250" b="1">
                <a:solidFill>
                  <a:srgbClr val="D6EAFF"/>
                </a:solidFill>
              </a:defRPr>
            </a:pPr>
            <a:r>
              <a:rPr sz="2250" b="1">
                <a:solidFill>
                  <a:srgbClr val="D6EAFF"/>
                </a:solidFill>
              </a:rPr>
              <a:t>商品判定業務の高度化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17EA0-AA64-4094-BE69-0900E4B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0F2FF"/>
                </a:solidFill>
              </a:defRPr>
            </a:pPr>
            <a:r>
              <a:rPr sz="1350" b="1">
                <a:solidFill>
                  <a:srgbClr val="80F2FF"/>
                </a:solidFill>
              </a:rPr>
              <a:t>ProposalPilot / AI営業秘書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0389D8-70E5-4B6D-8432-B18A62F2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D9FBE7-1AB9-4178-94F2-8F1E1350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C7EA"/>
                </a:solidFill>
              </a:defRPr>
            </a:pPr>
            <a:r>
              <a:rPr sz="1650" b="0">
                <a:solidFill>
                  <a:srgbClr val="A8C7EA"/>
                </a:solidFill>
              </a:rPr>
              <a:t>AIが仕事をしている様子が見える提案書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888825-24A9-4B3B-B955-017B7394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ProposalPilot / AI営業秘書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6FCA9-0FFB-4C66-BEC2-E38DE764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5942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CBE2ED-7E9C-4AC3-BC88-58DB7757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63FF"/>
                </a:solidFill>
              </a:defRPr>
            </a:pPr>
            <a:r>
              <a:rPr sz="2025" b="1">
                <a:solidFill>
                  <a:srgbClr val="1463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ED9BD-1220-4A77-A65B-5454ABE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7067-B9E3-434B-9AB1-11A28B87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AIは人を置き換えない。</a:t>
            </a:r>
          </a:p>
          <a:p xmlns:a="http://schemas.openxmlformats.org/drawingml/2006/main">
            <a:pPr algn="l"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人の判断を強くする。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E92E4-7ABF-4E6C-9909-60D34D60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506A"/>
                </a:solidFill>
              </a:defRPr>
            </a:pPr>
            <a:r>
              <a:rPr sz="1575" b="0">
                <a:solidFill>
                  <a:srgbClr val="40506A"/>
                </a:solidFill>
              </a:rPr>
              <a:t>PoCでは、確認時間・修正率・登録品質を、現場の判断プロセスに沿って評価します。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78A84-DDAE-4D91-96BF-1C0E7CE6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2000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8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E975C-1ECA-455E-B32A-254EBDF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5690"/>
            <a:ext cx="312039" cy="448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DF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FAC6C-47F5-45DD-AB7A-7CEF18BB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84" y="3783711"/>
            <a:ext cx="408051" cy="280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A9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F0002-E359-48C7-A19E-BFCD88B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76" y="4103751"/>
            <a:ext cx="320040" cy="392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3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B6E07-CCCA-4907-9650-E29093C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" y="4127754"/>
            <a:ext cx="328041" cy="368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F0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5BAB2-61DA-41D2-86E2-B353A95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11" y="3831717"/>
            <a:ext cx="384048" cy="28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F4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003E4-0092-44DE-86CC-5BA2A3B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" y="3575685"/>
            <a:ext cx="328041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B9FF"/>
          </a:solidFill>
          <a:ln xmlns:a="http://schemas.openxmlformats.org/drawingml/2006/main" w="9525">
            <a:solidFill>
              <a:srgbClr val="D3EA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4D095-9742-4271-81BA-43FECD0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59" y="3927729"/>
            <a:ext cx="264033" cy="264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6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1C867-3D89-4C2E-B9CF-70A714E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" y="4015740"/>
            <a:ext cx="88011" cy="88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BBED8-37C6-4609-91EF-BEE5C7F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現場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3F937-4F10-42BD-9936-325AC12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7225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人手判定による</a:t>
            </a:r>
          </a:p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工数と品質差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4AE34-0499-45D8-9D3E-01247FA1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33725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19050">
            <a:solidFill>
              <a:srgbClr val="43D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3E30E-2D81-44F2-95FE-0E4AFBD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194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F2FF"/>
                </a:solidFill>
              </a:defRPr>
            </a:pPr>
            <a:r>
              <a:rPr sz="1800" b="1">
                <a:solidFill>
                  <a:srgbClr val="80F2FF"/>
                </a:solidFill>
              </a:rPr>
              <a:t>AI候補提示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1C660-9AE8-44D2-9246-177B95B7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95725"/>
            <a:ext cx="154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F2F89-0F8F-4496-8B1C-A8A26FD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95725"/>
            <a:ext cx="38100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81FA9-AC6D-44BA-8810-7CF06A96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895725"/>
            <a:ext cx="154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85286-3944-4D3F-B293-3B0E66EE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95725"/>
            <a:ext cx="38100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03F1B-B40D-4CF2-B6B5-07DBB37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14875"/>
            <a:ext cx="154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84451-8047-427D-BD7A-54D594CC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98670"/>
            <a:ext cx="38100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8CD32-CEBF-44B4-9360-F4B357E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714875"/>
            <a:ext cx="154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A209B-04ED-43A0-9DE0-8320916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8670"/>
            <a:ext cx="38100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CE2C4-3B7C-42B9-8BE6-63C7477E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43475"/>
            <a:ext cx="590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種類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9BB32-8EE3-47E5-B0E7-EC414D6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43475"/>
            <a:ext cx="4572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D4865-CC25-4BF5-AB01-AE52164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43475"/>
            <a:ext cx="590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等級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01543-D548-4D92-BB88-B2DF4F57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23241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C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7517C-31CD-4EAB-91BD-BDEEC7D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E7075-5256-42B0-B634-58149C31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561441-6276-4EF6-B82D-83D56E57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10025"/>
            <a:ext cx="209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9206C-EB2C-4668-8AD1-A99602AF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95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人の最終確認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6502E-CA4E-4C9A-809D-4394817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719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確認・修正・承認を</a:t>
            </a:r>
          </a:p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担当者が担う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F1C75-9367-494A-AAD9-1F52FE7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57575"/>
            <a:ext cx="17907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19050">
            <a:solidFill>
              <a:srgbClr val="B2EE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4CDD76-DECF-45F5-AA97-2A1B9467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671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34D"/>
                </a:solidFill>
              </a:defRPr>
            </a:pPr>
            <a:r>
              <a:rPr sz="1575" b="1">
                <a:solidFill>
                  <a:srgbClr val="08734D"/>
                </a:solidFill>
              </a:rPr>
              <a:t>成果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329B8A-65E6-4E34-BAA6-237EF03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81475"/>
            <a:ext cx="127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4D"/>
                </a:solidFill>
              </a:defRPr>
            </a:pPr>
            <a:r>
              <a:rPr sz="1500" b="1">
                <a:solidFill>
                  <a:srgbClr val="08734D"/>
                </a:solidFill>
              </a:rPr>
              <a:t>登録品質を</a:t>
            </a:r>
          </a:p>
          <a:p xmlns:a="http://schemas.openxmlformats.org/drawingml/2006/main">
            <a:pPr algn="ctr">
              <a:defRPr sz="1500" b="1">
                <a:solidFill>
                  <a:srgbClr val="08734D"/>
                </a:solidFill>
              </a:defRPr>
            </a:pPr>
            <a:r>
              <a:rPr sz="1500" b="1">
                <a:solidFill>
                  <a:srgbClr val="08734D"/>
                </a:solidFill>
              </a:rPr>
              <a:t>測定可能にする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EED4BC-D443-4014-9685-B41E9DB5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1957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2D69D-AB98-4E19-8919-CDD9980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24325"/>
            <a:ext cx="2286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0DCB49-0BA4-4B14-911A-1390F798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957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B6BA82-1F3A-4027-8B52-0D116F0D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2286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61A11-F42C-42DD-AE9C-E5BD721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1957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DF0671-462F-43B0-AE48-9CC94019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24325"/>
            <a:ext cx="2286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150D45-7735-45BB-9E12-854AF5A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255C46-4326-43D2-8F2C-6E16321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6183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231E55-E450-4F66-9536-4129433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63FF"/>
                </a:solidFill>
              </a:defRPr>
            </a:pPr>
            <a:r>
              <a:rPr sz="2025" b="1">
                <a:solidFill>
                  <a:srgbClr val="1463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1B52C-5BC7-4122-86FC-CDE3389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Current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F8A4-9444-4A70-8623-3C2819B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商品登録まで続く、人の判断負荷を可視化する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0CB4F-3075-48FC-8ED3-1352038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処理が進むほど、照合・分類・品質確認の判断が積み重なり、繁忙時の遅延と品質差を生みます。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60C2A-2922-4370-A198-52CD5E0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81450"/>
            <a:ext cx="7239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4E1"/>
          </a:solidFill>
          <a:ln xmlns:a="http://schemas.openxmlformats.org/drawingml/2006/main" w="9525">
            <a:solidFill>
              <a:srgbClr val="F1C0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24E5A-69E0-4A66-869A-547701F8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6400"/>
                </a:solidFill>
              </a:defRPr>
            </a:pPr>
            <a:r>
              <a:rPr sz="1650" b="1">
                <a:solidFill>
                  <a:srgbClr val="9A6400"/>
                </a:solidFill>
              </a:rPr>
              <a:t>人の判断負荷が長く続く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111CD-1845-4427-B39E-2EE8E85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5621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F2C51-5EF1-44B7-B211-F0A4AE7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1AAC2-A311-457E-803C-EE5541D8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0C3B8-1CB9-4F34-A442-3925320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05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F3119-08DE-40C4-8A10-1C8C7FC9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52775"/>
            <a:ext cx="152400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12537-24E4-4E75-A83E-890B882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商品画像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953A7-9256-4A3B-99FD-694BEFB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B9E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5BA8"/>
                </a:solidFill>
              </a:defRPr>
            </a:pPr>
            <a:r>
              <a:rPr sz="1125" b="1">
                <a:solidFill>
                  <a:srgbClr val="0A5BA8"/>
                </a:solidFill>
              </a:rPr>
              <a:t>入力待ち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B4890-7477-4353-B3BC-20D84B7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62300"/>
            <a:ext cx="342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4ABB5-5BBD-4F4B-B15C-B6DE693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575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CD5F5-2577-44AF-BC38-B99DFD45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5621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C5853-22AA-4DA7-B5B2-48ABFFE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09434-E7BC-40C6-BE37-C238D13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E4797-0465-4DFB-A4B5-5D13ED6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209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B0BAB-70D0-4DCA-8E9A-03915D7B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データ照合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FCE49-A421-423F-9EFC-700EE60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0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B9E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5BA8"/>
                </a:solidFill>
              </a:defRPr>
            </a:pPr>
            <a:r>
              <a:rPr sz="1125" b="1">
                <a:solidFill>
                  <a:srgbClr val="0A5BA8"/>
                </a:solidFill>
              </a:rPr>
              <a:t>目視確認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97A5D-F073-4533-9C42-33629408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342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2031B-14CE-4F04-8FC9-5A3724D4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575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015DF-F76E-4C41-BD1B-0B28E6E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15621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2D47B-1AE2-465D-BD14-56837D19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1388B-C514-43AF-9908-AE9F834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1D3F0-9E99-4DD0-906B-2EA35D8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209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382D6-C943-4711-8C61-00359C6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種類・色・等級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7001A0-09EC-4F3C-8EE2-69B4EE20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E9EF"/>
          </a:solidFill>
          <a:ln xmlns:a="http://schemas.openxmlformats.org/drawingml/2006/main" w="9525">
            <a:solidFill>
              <a:srgbClr val="F6B5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2E46"/>
                </a:solidFill>
              </a:defRPr>
            </a:pPr>
            <a:r>
              <a:rPr sz="1125" b="1">
                <a:solidFill>
                  <a:srgbClr val="B72E46"/>
                </a:solidFill>
              </a:rPr>
              <a:t>判定基準差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19824-6908-4D34-8D19-4E22F0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342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B018E-F630-44F7-9E59-C1C23D7D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2EFCE-197C-45FA-80BC-941A728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5621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2FCD1C-F51F-4522-9064-D146385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5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00361-C8C5-4365-A073-BCE983A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479F8A-7D03-4B58-A4DC-41C89309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209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A04AD4-D678-4A0C-AD3E-9660C28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カテゴリ分類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38AACF-7040-43C1-9CFD-10063E5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E9EF"/>
          </a:solidFill>
          <a:ln xmlns:a="http://schemas.openxmlformats.org/drawingml/2006/main" w="9525">
            <a:solidFill>
              <a:srgbClr val="F6B5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2E46"/>
                </a:solidFill>
              </a:defRPr>
            </a:pPr>
            <a:r>
              <a:rPr sz="1125" b="1">
                <a:solidFill>
                  <a:srgbClr val="B72E46"/>
                </a:solidFill>
              </a:rPr>
              <a:t>誤分類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CD482-A725-47C7-B66A-0DDC683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42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43BAEA-A3B3-4E1A-B571-009FC923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575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D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8F9DE6-762B-4601-B7B0-C6E588B6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15621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036E7-0BDC-4F15-BBCA-2617896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0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B3912-A28F-4EF7-B01B-9853D82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76575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CA6C41-5EE9-4373-94AA-4CFC238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337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商品登録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EB605-98AB-4FA9-BAA2-F433E7F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E9EF"/>
          </a:solidFill>
          <a:ln xmlns:a="http://schemas.openxmlformats.org/drawingml/2006/main" w="9525">
            <a:solidFill>
              <a:srgbClr val="F6B5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2E46"/>
                </a:solidFill>
              </a:defRPr>
            </a:pPr>
            <a:r>
              <a:rPr sz="1125" b="1">
                <a:solidFill>
                  <a:srgbClr val="B72E46"/>
                </a:solidFill>
              </a:rPr>
              <a:t>履歴分断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DD7E39-1F0A-4707-B252-0724AB4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947462-1C21-46EF-AFAC-F68633A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67150"/>
            <a:ext cx="1524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5B94A8-392B-4489-AE2A-18EC15D3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524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DE0C08-4F56-47E7-8207-E901BD5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152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0A5C3-0E55-407D-B734-B29BC0A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1524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B6705B-3398-42F7-8C29-AAAA863A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81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繁忙時に負荷が蓄積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83D3CA-4595-4DE2-893B-65C8E24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F4F37-F02E-4A7E-A31F-FB2E745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6897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E879DF-F6D9-4C4F-8038-6FA7B78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D9FF"/>
                </a:solidFill>
              </a:defRPr>
            </a:pPr>
            <a:r>
              <a:rPr sz="2025" b="1">
                <a:solidFill>
                  <a:srgbClr val="20D9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602F3-FA7D-4DF6-9BFE-8DF54FA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76B"/>
          </a:solidFill>
          <a:ln xmlns:a="http://schemas.openxmlformats.org/drawingml/2006/main" w="9525">
            <a:solidFill>
              <a:srgbClr val="225D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F2FF"/>
                </a:solidFill>
              </a:defRPr>
            </a:pPr>
            <a:r>
              <a:rPr sz="975" b="1">
                <a:solidFill>
                  <a:srgbClr val="80F2FF"/>
                </a:solidFill>
              </a:rPr>
              <a:t>Before / 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212BE-5461-41C8-A8A9-FAAC2DCD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人の関与範囲が、全工程から最終確認へ移る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B647-C998-4DF5-B17C-27F3AAB6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D4F6"/>
                </a:solidFill>
              </a:defRPr>
            </a:pPr>
            <a:r>
              <a:rPr sz="1500" b="0">
                <a:solidFill>
                  <a:srgbClr val="B9D4F6"/>
                </a:solidFill>
              </a:rPr>
              <a:t>AIは候補を提示し、最終判断は人が担う。判断履歴は改善ループへ戻します。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558C2-7459-4C1F-A1D9-5B166E6D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FA3"/>
                </a:solidFill>
              </a:defRPr>
            </a:pPr>
            <a:r>
              <a:rPr sz="1650" b="1">
                <a:solidFill>
                  <a:srgbClr val="FF8FA3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70EF3-E0A9-40A3-B0A7-38BFB7C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F2FF"/>
                </a:solidFill>
              </a:defRPr>
            </a:pPr>
            <a:r>
              <a:rPr sz="1650" b="1">
                <a:solidFill>
                  <a:srgbClr val="80F2FF"/>
                </a:solidFill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4784C-1AA3-4388-887B-6CD9556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95500"/>
            <a:ext cx="8477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2F56"/>
          </a:solidFill>
          <a:ln xmlns:a="http://schemas.openxmlformats.org/drawingml/2006/main" w="9525">
            <a:solidFill>
              <a:srgbClr val="3657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185A9-8D2B-4B2A-9083-CB9677C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8477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335B"/>
          </a:solidFill>
          <a:ln xmlns:a="http://schemas.openxmlformats.org/drawingml/2006/main" w="9525">
            <a:solidFill>
              <a:srgbClr val="278E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358C4-0D3A-4F97-9EA5-AC93A9F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6457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21EEC-EE74-4F38-9682-19C4BB95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861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2E46"/>
                </a:solidFill>
              </a:defRPr>
            </a:pPr>
            <a:r>
              <a:rPr sz="1350" b="1">
                <a:solidFill>
                  <a:srgbClr val="B72E46"/>
                </a:solidFill>
              </a:rPr>
              <a:t>人の関与範囲が長い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23234-300A-42A0-869D-869B9DF1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3943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FC266-E058-4FE9-B3B9-523E7981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5BA8"/>
                </a:solidFill>
              </a:defRPr>
            </a:pPr>
            <a:r>
              <a:rPr sz="1350" b="1">
                <a:solidFill>
                  <a:srgbClr val="0A5BA8"/>
                </a:solidFill>
              </a:rPr>
              <a:t>AI処理範囲が広がる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EE7D5-CDD1-4C48-8B15-C408A3F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2E78B-869C-4DD1-B52A-21FC8AC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054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34D"/>
                </a:solidFill>
              </a:defRPr>
            </a:pPr>
            <a:r>
              <a:rPr sz="1350" b="1">
                <a:solidFill>
                  <a:srgbClr val="08734D"/>
                </a:solidFill>
              </a:rPr>
              <a:t>人が承認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5A62-92B0-4548-8EF9-F9A82011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04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95B49-F919-4922-8E6C-975234C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画像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E0715-3693-4A4B-844D-89B5C90D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765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64F7D-1651-4EE0-8E6B-44D1681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04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ECC37-BE84-474C-8EB3-D61082D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照合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C3AC9-F2A8-47B0-B847-29131EE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C95C1-ECCD-4A59-AD51-07AA2DDB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04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17731-A50A-4C92-8185-D44575C8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分類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3C01B-43C0-45B2-B3D5-C1A9113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E17B7-FF4B-428B-8722-BE8FF7A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04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A63C7-DF43-49B4-889E-6299EC0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品質確認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7DB63-025D-4885-896C-745BFD3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A6DD0-0091-42F3-A479-070CD7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04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CE3BF-4432-49FC-91A4-A272BFA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手入力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68022-8C18-4C73-8616-ECB8E81F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3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C3406-BAA1-4806-95AC-5FA5D31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6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3A973-2FB6-4C07-B8CF-BB3A3EB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F2FF"/>
                </a:solidFill>
              </a:defRPr>
            </a:pPr>
            <a:r>
              <a:rPr sz="1200" b="1">
                <a:solidFill>
                  <a:srgbClr val="E7F2FF"/>
                </a:solidFill>
              </a:rPr>
              <a:t>登録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B7F39-AE56-4839-97EA-84A1D5D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2F5B34-2B6A-4AD8-8A8E-B90DF38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5BA8"/>
                </a:solidFill>
              </a:defRPr>
            </a:pPr>
            <a:r>
              <a:rPr sz="1200" b="1">
                <a:solidFill>
                  <a:srgbClr val="0A5BA8"/>
                </a:solidFill>
              </a:rPr>
              <a:t>画像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0227D-3DA8-4985-A98C-A59D1ED0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238A5-9F36-4A39-9908-FC6FB2ED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0F243-924F-4C77-B3BA-AA321F5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5BA8"/>
                </a:solidFill>
              </a:defRPr>
            </a:pPr>
            <a:r>
              <a:rPr sz="1200" b="1">
                <a:solidFill>
                  <a:srgbClr val="0A5BA8"/>
                </a:solidFill>
              </a:rPr>
              <a:t>AI候補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089788-353A-4B89-9CFC-30C0EAD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E388E7-85DE-42F6-8DE9-1F6A210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BEA55-48DD-4A63-9962-7E7C22FE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34D"/>
                </a:solidFill>
              </a:defRPr>
            </a:pPr>
            <a:r>
              <a:rPr sz="1200" b="1">
                <a:solidFill>
                  <a:srgbClr val="08734D"/>
                </a:solidFill>
              </a:rPr>
              <a:t>人の確認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C66967-9435-48C5-8D39-8B1F876B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9E0CC6-841B-45BA-9337-E15572C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C753F4-77EB-44C9-9379-1AC5843B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5BA8"/>
                </a:solidFill>
              </a:defRPr>
            </a:pPr>
            <a:r>
              <a:rPr sz="1200" b="1">
                <a:solidFill>
                  <a:srgbClr val="0A5BA8"/>
                </a:solidFill>
              </a:rPr>
              <a:t>API/CSV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AB5CBD-405E-422D-A6B1-B3AEF8D8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B9F8BC-D95D-4413-80F0-26351D9B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EB8875-282F-4AD6-B18B-C8D2195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5BA8"/>
                </a:solidFill>
              </a:defRPr>
            </a:pPr>
            <a:r>
              <a:rPr sz="1200" b="1">
                <a:solidFill>
                  <a:srgbClr val="0A5BA8"/>
                </a:solidFill>
              </a:rPr>
              <a:t>商品管理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DBDFC9-F89C-45F3-98F7-535EAB3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FD896-E5B9-4063-89E6-084A112C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E5A"/>
          </a:solidFill>
          <a:ln xmlns:a="http://schemas.openxmlformats.org/drawingml/2006/main" w="9525">
            <a:solidFill>
              <a:srgbClr val="42D9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9C145E-DF5E-4C83-94AC-CCA76D5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0F2FF"/>
                </a:solidFill>
              </a:defRPr>
            </a:pPr>
            <a:r>
              <a:rPr sz="1200" b="1">
                <a:solidFill>
                  <a:srgbClr val="80F2FF"/>
                </a:solidFill>
              </a:rPr>
              <a:t>改善ループ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0E649A-043C-4496-9C6F-175EA78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D9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2CE77-F395-42B7-884F-7C727E5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1025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D9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F1D2B7-6B81-45A1-8E37-E1D8A36E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959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DF0738-F74F-4076-B2C0-45F390D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38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F2FF"/>
                </a:solidFill>
              </a:defRPr>
            </a:pPr>
            <a:r>
              <a:rPr sz="1350" b="1">
                <a:solidFill>
                  <a:srgbClr val="80F2FF"/>
                </a:solidFill>
              </a:rPr>
              <a:t>判断履歴を改善へ活用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4E64D8-7E71-4654-A2F8-F649F78E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ProposalPilot / AI営業秘書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3F92DD-D70B-4A1D-AAC8-C608F0B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434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4250C8-558F-406C-8D1D-51BBE27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D9FF"/>
                </a:solidFill>
              </a:defRPr>
            </a:pPr>
            <a:r>
              <a:rPr sz="2025" b="1">
                <a:solidFill>
                  <a:srgbClr val="20D9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0434A-8678-4E74-AC0C-0677A2C1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76B"/>
          </a:solidFill>
          <a:ln xmlns:a="http://schemas.openxmlformats.org/drawingml/2006/main" w="9525">
            <a:solidFill>
              <a:srgbClr val="225D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F2FF"/>
                </a:solidFill>
              </a:defRPr>
            </a:pPr>
            <a:r>
              <a:rPr sz="975" b="1">
                <a:solidFill>
                  <a:srgbClr val="80F2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FE51-891D-409F-A643-A90B7AC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Vision EngineとHuman Review UIを中核に据える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824F5-3C67-4A58-BD7D-262CB45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D4F6"/>
                </a:solidFill>
              </a:defRPr>
            </a:pPr>
            <a:r>
              <a:rPr sz="1500" b="0">
                <a:solidFill>
                  <a:srgbClr val="B9D4F6"/>
                </a:solidFill>
              </a:rPr>
              <a:t>画像・ロット情報をAI候補へ変換し、人の確認を通じて連携と改善ループへつなぎます。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233BB-7820-4969-81B1-FCAB4ED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32575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28575">
            <a:solidFill>
              <a:srgbClr val="42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3605-CE8A-486A-90CA-C24434D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F2FF"/>
                </a:solidFill>
              </a:defRPr>
            </a:pPr>
            <a:r>
              <a:rPr sz="2100" b="1">
                <a:solidFill>
                  <a:srgbClr val="80F2FF"/>
                </a:solidFill>
              </a:rPr>
              <a:t>AI Vision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53635-FBB3-44AA-AC09-7A349A41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9944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0B401-60CA-4D58-B8BB-46921E15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38100" cy="99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5173D-C6FB-401E-BCB7-AA817540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559" y="2800350"/>
            <a:ext cx="9944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B7226-AB2B-4554-BA59-4C770AA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8100" cy="99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E785D-89AD-4025-AE8C-BF9D46E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9944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15FF-C2A6-4AD8-94B3-7DF710D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3359"/>
            <a:ext cx="38100" cy="99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C1F56-B18E-41F3-BBC6-113485B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559" y="3314700"/>
            <a:ext cx="9944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1A4AF-E133-4FCD-A1C5-6B117CE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3359"/>
            <a:ext cx="38100" cy="99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2E599-2CDF-4260-86AB-E4C6523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62300"/>
            <a:ext cx="590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種類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8E913-658C-4CEB-B2AE-F4B5353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4572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F4294-7564-4C27-876C-2605168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62300"/>
            <a:ext cx="590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等級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7C269-9F19-4D34-844B-96FCE02B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590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F3164"/>
          </a:solidFill>
          <a:ln xmlns:a="http://schemas.openxmlformats.org/drawingml/2006/main" w="9525">
            <a:solidFill>
              <a:srgbClr val="2F6BA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0F2FF"/>
                </a:solidFill>
              </a:defRPr>
            </a:pPr>
            <a:r>
              <a:rPr sz="1050" b="1">
                <a:solidFill>
                  <a:srgbClr val="80F2FF"/>
                </a:solidFill>
              </a:rPr>
              <a:t>状態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C6B06-760D-482C-AE32-0C62C2BF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1145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60CE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E3541-4EF9-483C-94BC-B72AC4A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04EB4-F05C-45BD-913F-89F3BD8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670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915D5-9939-4C19-8A13-DF25CCB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DB770-8410-46A4-B4C5-C1CB68BA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52725"/>
            <a:ext cx="152400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4A969-1982-4DFC-AC1F-A00B5C9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574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Input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E9182-632F-402B-B643-FF8656B9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商品画像</a:t>
            </a:r>
          </a:p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ロット情報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77A7E-EF90-4216-B8F8-8D4EA9F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0050"/>
            <a:ext cx="3619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DE6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D371A-BB01-4339-B5BD-6E368665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95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4AA40-184D-4B6E-9F02-2EAD89C2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81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E7085-BF4B-4DF3-A1B6-F4849158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24400"/>
            <a:ext cx="209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2A780-4D99-43DA-B514-2380C24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38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Human Review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00C78-D5F8-407F-A69F-48896CB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530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34D"/>
                </a:solidFill>
              </a:defRPr>
            </a:pPr>
            <a:r>
              <a:rPr sz="1125" b="1">
                <a:solidFill>
                  <a:srgbClr val="08734D"/>
                </a:solidFill>
              </a:rPr>
              <a:t>確認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402FD-7F45-4DB7-92FC-EC03DA36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530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5CF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400"/>
                </a:solidFill>
              </a:defRPr>
            </a:pPr>
            <a:r>
              <a:rPr sz="1125" b="1">
                <a:solidFill>
                  <a:srgbClr val="9A6400"/>
                </a:solidFill>
              </a:rPr>
              <a:t>修正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D73AF-7A7A-4D09-982D-EB82365A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685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B9E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5BA8"/>
                </a:solidFill>
              </a:defRPr>
            </a:pPr>
            <a:r>
              <a:rPr sz="1125" b="1">
                <a:solidFill>
                  <a:srgbClr val="0A5BA8"/>
                </a:solidFill>
              </a:rPr>
              <a:t>承認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A4EDC-A580-412B-8759-0E40421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2669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9050">
            <a:solidFill>
              <a:srgbClr val="60CE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6197A-7871-4D5E-8D51-E2606C17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E2E26D-72CB-41BC-8E16-F7A3F750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AEE20-BFB7-4B90-BD27-5755252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Integration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1B65B2-A5C0-422F-A32C-1BFA3E91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API / CSV</a:t>
            </a:r>
          </a:p>
          <a:p xmlns:a="http://schemas.openxmlformats.org/drawingml/2006/main">
            <a:pPr algn="l">
              <a:defRPr sz="1350" b="1">
                <a:solidFill>
                  <a:srgbClr val="40506A"/>
                </a:solidFill>
              </a:defRPr>
            </a:pPr>
            <a:r>
              <a:rPr sz="1350" b="1">
                <a:solidFill>
                  <a:srgbClr val="40506A"/>
                </a:solidFill>
              </a:rPr>
              <a:t>商品管理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D622DC-38C8-4397-AF41-FA9B58B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05500"/>
            <a:ext cx="7639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31C9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89FA5-2419-42BB-BB7B-CDF405D6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1027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F2FF"/>
                </a:solidFill>
              </a:defRPr>
            </a:pPr>
            <a:r>
              <a:rPr sz="1350" b="1">
                <a:solidFill>
                  <a:srgbClr val="80F2FF"/>
                </a:solidFill>
              </a:rPr>
              <a:t>Learning &amp; Operations：ログ・誤判定・再学習データ・監視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D5A24F-B1E0-4481-A0A4-BADA544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F87262-206E-4F6C-9ACA-E6A1CCD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527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4BBCCC-6AB7-4EBF-A7E2-FFE2A8A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104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1AC59-E8CF-4382-B77E-313A376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2095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184CCB-82DF-480E-874A-D13ACFBF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C9E046-F629-4A6D-88C3-0B31700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5765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6270A4-8123-426A-BF3E-4526250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769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D9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36B6BF-D9FE-4879-8E51-482685E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68580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D9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3C6E63-19A6-4276-9BB5-17320F0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ProposalPilot / AI営業秘書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2554E6-52CA-415C-9E50-69BB1C4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EAFF"/>
                </a:solidFill>
              </a:defRPr>
            </a:pPr>
            <a:r>
              <a:rPr sz="975" b="1">
                <a:solidFill>
                  <a:srgbClr val="D9EA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9039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C3AB2D-0C94-4406-AA4E-5652538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63FF"/>
                </a:solidFill>
              </a:defRPr>
            </a:pPr>
            <a:r>
              <a:rPr sz="2025" b="1">
                <a:solidFill>
                  <a:srgbClr val="1463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A07B8-3AF8-4B24-828C-B68FD13C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PoC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D1980-2273-451F-9ADB-66687F2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導入判断へ向かう6つのゲートを設計する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497AB-665C-4BD1-8C30-3C6665F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2027年5月頃の導入想定に向け、PoCで評価基準と現場適合性を確認します。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44647-7A8D-4429-A1DA-CCA90A8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95250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8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35475-D0E0-4568-B428-2FD4A17F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69532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B345-54DC-4E40-81ED-D33C3CD0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4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482B7-2DFD-45FB-A59B-32CB3D5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48C04-37CA-44CE-91FD-A05271F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6407E-A8F3-4537-8951-81415F2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要件・評価基準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F0563-A3F1-4F50-94C1-9F0DCBF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作業: 指標定義</a:t>
            </a:r>
          </a:p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成果物: 評価表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B3D81-3760-4971-A800-D495ABFF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46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D845C-988D-4E3E-8DAB-06AD386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69443-E675-48F1-AC90-469D44D3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5519B-B591-4D1E-A6BC-C491E589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81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画像データ確認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1E829-6B0D-4273-95EE-A79124A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作業: サンプル確認</a:t>
            </a:r>
          </a:p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成果物: データ課題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4426C-FE23-49A0-9D4B-44895F0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46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F7184-CF13-4245-9222-AA5228B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E3DF2-8776-4302-B361-B09A5CE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EAC01-AC83-4CD1-BBEF-BA885F1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アノテーション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F0CFD-07DA-433A-B592-58D1133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作業: 正解整理</a:t>
            </a:r>
          </a:p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成果物: 学習準備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0E9E8-C44A-4A03-9324-0BBB97C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46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BAC42-9A6E-48EF-9860-958DEA7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97F87-3540-4C22-8F4F-7DEAC370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5FDD2-4EBE-4DB9-8419-A14EA682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モデル検証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5C239-DDC9-43F5-B38E-6AC08B2E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作業: 候補判定</a:t>
            </a:r>
          </a:p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成果物: 精度検証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9579A-4282-4CFD-B791-53D3BAE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46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D42A1-3A09-42D0-9A25-EC40A5F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A47DC-8690-45B4-9727-9930F9C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80856-3BA2-4A44-8C25-A48631D0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現場検証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6FFC9-9C7E-4EE5-851C-37D67131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作業: 操作確認</a:t>
            </a:r>
          </a:p>
          <a:p xmlns:a="http://schemas.openxmlformats.org/drawingml/2006/main">
            <a:pPr algn="ctr">
              <a:defRPr sz="1050" b="0">
                <a:solidFill>
                  <a:srgbClr val="40506A"/>
                </a:solidFill>
              </a:defRPr>
            </a:pPr>
            <a:r>
              <a:rPr sz="1050" b="0">
                <a:solidFill>
                  <a:srgbClr val="40506A"/>
                </a:solidFill>
              </a:rPr>
              <a:t>成果物: 運用課題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C2623-8D07-44C0-9F47-ADF70FC5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52E"/>
          </a:solidFill>
          <a:ln xmlns:a="http://schemas.openxmlformats.org/drawingml/2006/main" w="38100">
            <a:solidFill>
              <a:srgbClr val="20D9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3155A-1A18-4508-B1C4-7070F56A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F2FF"/>
                </a:solidFill>
              </a:defRPr>
            </a:pPr>
            <a:r>
              <a:rPr sz="1650" b="1">
                <a:solidFill>
                  <a:srgbClr val="80F2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191B4-4505-41B9-8BF5-9668C32E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861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19050">
            <a:solidFill>
              <a:srgbClr val="20D9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B46DE7-03A1-427D-8F47-55F4478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81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F2FF"/>
                </a:solidFill>
              </a:defRPr>
            </a:pPr>
            <a:r>
              <a:rPr sz="1275" b="1">
                <a:solidFill>
                  <a:srgbClr val="80F2FF"/>
                </a:solidFill>
              </a:rPr>
              <a:t>本番判断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A4815C-619A-4D76-89A4-3DE37F1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6EAFF"/>
                </a:solidFill>
              </a:defRPr>
            </a:pPr>
            <a:r>
              <a:rPr sz="1050" b="0">
                <a:solidFill>
                  <a:srgbClr val="D6EAFF"/>
                </a:solidFill>
              </a:rPr>
              <a:t>作業: 条件合意</a:t>
            </a:r>
          </a:p>
          <a:p xmlns:a="http://schemas.openxmlformats.org/drawingml/2006/main">
            <a:pPr algn="ctr">
              <a:defRPr sz="1050" b="0">
                <a:solidFill>
                  <a:srgbClr val="D6EAFF"/>
                </a:solidFill>
              </a:defRPr>
            </a:pPr>
            <a:r>
              <a:rPr sz="1050" b="0">
                <a:solidFill>
                  <a:srgbClr val="D6EAFF"/>
                </a:solidFill>
              </a:rPr>
              <a:t>成果物: 実行判断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21D883-980D-4520-BEB6-91D4DD6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953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19050">
            <a:solidFill>
              <a:srgbClr val="B2EE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52651D-D2DE-4011-8B90-A202636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合格条件はPoCで確定：カテゴリ・精度・時間・現場適合性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F07AE9-842B-4517-B100-84AC80B2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CE59E9-B7CC-4AD5-99E3-EFEAA3D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9715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A14B9F-48CD-4477-8F57-36DD5D9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63FF"/>
                </a:solidFill>
              </a:defRPr>
            </a:pPr>
            <a:r>
              <a:rPr sz="2025" b="1">
                <a:solidFill>
                  <a:srgbClr val="1463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BB91A-E9A3-40E6-A7F1-B756E12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E09A6-D32F-4B99-8936-A171F97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導入判断ダッシュボードで、PoCの評価軸を揃える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CD3C4-6837-4A00-99D8-0B0FD1F9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実績値を捏造せず、現状値・目標値・測定方法・判定基準をPoCで確定します。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48E5A-A7A2-4C02-BB27-B995C9E5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7632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22BCF-F48E-478E-AE09-E7D71E4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57500" cy="3048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8939-2E7E-4216-B743-94A2054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評価は</a:t>
            </a:r>
          </a:p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4251E-B8AA-4C94-A94C-A7C1C9E6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D4F6"/>
                </a:solidFill>
              </a:defRPr>
            </a:pPr>
            <a:r>
              <a:rPr sz="1425" b="1">
                <a:solidFill>
                  <a:srgbClr val="B9D4F6"/>
                </a:solidFill>
              </a:rPr>
              <a:t>未測定を正直に扱い、</a:t>
            </a:r>
          </a:p>
          <a:p xmlns:a="http://schemas.openxmlformats.org/drawingml/2006/main">
            <a:pPr algn="ctr">
              <a:defRPr sz="1425" b="1">
                <a:solidFill>
                  <a:srgbClr val="B9D4F6"/>
                </a:solidFill>
              </a:defRPr>
            </a:pPr>
            <a:r>
              <a:rPr sz="1425" b="1">
                <a:solidFill>
                  <a:srgbClr val="B9D4F6"/>
                </a:solidFill>
              </a:rPr>
              <a:t>判断に必要なデータだけを集める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B882F-393C-4D5C-9A9F-18371E7B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3390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84536-44BB-45C9-9CDC-B4D68CE8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33900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9C248-EE6A-4093-8292-99EA42D5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453390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F7E7E-AD25-4056-98EE-EC176F12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F996B-82B2-4F41-A19C-93B9273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8E5E2-EC11-4FF4-BEB0-855165B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08804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2760C-EE3B-4F2C-818F-6D3D435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04" y="495300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EA499-0A47-4C84-81B0-573EA3B7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08804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4D860-7741-4006-AB7F-399E533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FFC6A-E3F0-4881-8D62-17A804A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431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候補正答率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BCE66-1EF8-4FDE-9C52-0D6BE3B9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BA8"/>
                </a:solidFill>
              </a:defRPr>
            </a:pPr>
            <a:r>
              <a:rPr sz="1050" b="1">
                <a:solidFill>
                  <a:srgbClr val="0A5BA8"/>
                </a:solidFill>
              </a:rPr>
              <a:t>PoCで測定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358D6-C5F9-4105-B7DC-21D5A32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EB5C3-7AD4-4C3C-A8DA-9F8FAC5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6C665-2F40-42AE-A9D7-B780F3F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77FA0-2DE5-46DA-AE69-59E2AE3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人手修正率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0BE70-6F7D-48B4-9282-509E946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BA8"/>
                </a:solidFill>
              </a:defRPr>
            </a:pPr>
            <a:r>
              <a:rPr sz="1050" b="1">
                <a:solidFill>
                  <a:srgbClr val="0A5BA8"/>
                </a:solidFill>
              </a:rPr>
              <a:t>PoCで測定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6B147-3A32-4ECE-B18A-38DEFF7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985C2-4163-4C56-A464-21F5982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933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1029D-9DE0-46B8-A394-33BB93E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A23F0-9B59-41A4-A6B2-36F9871E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431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確認時間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5A7F2-69E2-4257-A89C-1B9E990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PoCで確定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CE706-5C58-422B-88A4-C0168FE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C9AD9-E771-4CD0-AFEE-324A8DD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6D23C-554D-4938-A978-8E83817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C6973-357E-4367-9840-B9BA2557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719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登録処理時間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C9E56-5B1E-43BE-852F-AC2096A7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PoCで確定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C4E3CB-F451-4295-9F49-8DA87D11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A64BFB-A677-4897-A1A9-A9752C9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BC88A9-0531-4F32-8F82-F398AF5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C0430-1F54-4C24-832D-56EEA639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719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判定ばらつき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AFC045-25D9-4239-9B44-B55C595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合意が必要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E01994-2AA4-489F-9FCD-6C97DCD3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D2EA0A-D5D3-4188-B2A8-C9B26C7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933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D10A5C-6356-48A4-BB56-32202AC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1962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DA7AF5-A91F-4B51-8A69-C2022F2A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719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誤登録率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27B9B7-E202-4CC0-8722-F3E22FB3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2435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合意が必要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D38BB2-93AB-4FDC-B3F4-A31A981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67250"/>
            <a:ext cx="1504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F461C0-8B42-42E6-99E8-F2C8CB6F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67250"/>
            <a:ext cx="1200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73FFB7-AA82-4BC7-BAB1-6339A7BC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C624E5-1615-4CBE-823E-158EC0B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8269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EF6950-A4DC-44B4-9143-B63D9524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63FF"/>
                </a:solidFill>
              </a:defRPr>
            </a:pPr>
            <a:r>
              <a:rPr sz="2025" b="1">
                <a:solidFill>
                  <a:srgbClr val="1463F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21813-6D25-46D3-954F-1B8A5AE4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390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Decision &amp;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6C6EF-FEBC-4754-91D8-CB1C04E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</a:defRPr>
            </a:pPr>
            <a:r>
              <a:rPr sz="2550" b="1">
                <a:solidFill>
                  <a:srgbClr val="101827"/>
                </a:solidFill>
              </a:rPr>
              <a:t>予算の話ではなく、PoC範囲を決める意思決定にする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E2738-5458-4B3F-8099-558D61B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1,000万円は予算上限です。正式見積は、対象画像・判定カテゴリ・連携条件の確認後に確定します。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8E894-B08B-4B0E-A6A1-12C07212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9146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19050">
            <a:solidFill>
              <a:srgbClr val="42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6E05-A3AF-4763-846D-AD27A13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F2FF"/>
                </a:solidFill>
              </a:defRPr>
            </a:pPr>
            <a:r>
              <a:rPr sz="1800" b="1">
                <a:solidFill>
                  <a:srgbClr val="80F2FF"/>
                </a:solidFill>
              </a:rPr>
              <a:t>予算上限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61CCC-C219-488A-AD40-A9025BA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1,000万円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5CA51-FD54-4A9A-A1B5-BE35D79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D4F6"/>
                </a:solidFill>
              </a:defRPr>
            </a:pPr>
            <a:r>
              <a:rPr sz="1350" b="1">
                <a:solidFill>
                  <a:srgbClr val="B9D4F6"/>
                </a:solidFill>
              </a:rPr>
              <a:t>正式見積ではなく、</a:t>
            </a:r>
          </a:p>
          <a:p xmlns:a="http://schemas.openxmlformats.org/drawingml/2006/main">
            <a:pPr algn="ctr">
              <a:defRPr sz="1350" b="1">
                <a:solidFill>
                  <a:srgbClr val="B9D4F6"/>
                </a:solidFill>
              </a:defRPr>
            </a:pPr>
            <a:r>
              <a:rPr sz="1350" b="1">
                <a:solidFill>
                  <a:srgbClr val="B9D4F6"/>
                </a:solidFill>
              </a:rPr>
              <a:t>PoC範囲を決めるための上限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EBCD6-49F9-4464-924E-186999D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83085-6134-43D4-A68B-13FC69B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AD811-6505-4320-8AE6-13E9244A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04" y="493395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5B39B-372D-4A9C-9537-73927F95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B7030-1D39-4E56-B68C-336606B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49A8-F845-4DC1-BC95-AEF9CF81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8854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B65BF-03EB-4774-89B4-8DE3347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04" y="5353050"/>
            <a:ext cx="8229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C2A61-2EE7-4FD6-8F94-1583312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08854"/>
            <a:ext cx="381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ED53F-3014-4FA4-AE14-FC7D5218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F2FF"/>
                </a:solidFill>
              </a:defRPr>
            </a:pPr>
            <a:r>
              <a:rPr sz="1275" b="1">
                <a:solidFill>
                  <a:srgbClr val="80F2FF"/>
                </a:solidFill>
              </a:rPr>
              <a:t>Scope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FA22C-1FBB-478F-9711-77924FA0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1885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11C4-F0AB-4C74-9E59-98FB750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要件・PoC設計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F37EE-733B-4C1C-B943-2E5D108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1885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688B8-55B8-4533-A590-1354650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データ準備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62256-D4C2-4B4E-89F2-A83ABE92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1885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5BB72-9AF8-414D-8B22-BBEC0D5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AIモデル検証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3E481-98FA-4D04-9131-5420D8B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885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C4948-34D1-46CE-8C01-9D90AAE9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確認UI・連携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C27B9-F6D2-4921-86AB-619AE2F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29050"/>
            <a:ext cx="1885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19050">
            <a:solidFill>
              <a:srgbClr val="B2EE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E9F93-B2DE-4F13-BAB9-C596520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34D"/>
                </a:solidFill>
              </a:defRPr>
            </a:pPr>
            <a:r>
              <a:rPr sz="1425" b="1">
                <a:solidFill>
                  <a:srgbClr val="08734D"/>
                </a:solidFill>
              </a:rPr>
              <a:t>本番導入・運用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01B2F-CFDB-4ED0-8303-A9AA735C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343150" cy="26098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3FFC5-A27B-4A0D-ABC7-FA98DEE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次に決めること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2CE47-31CB-41B6-8DF4-28AA8274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20AF91-A2CF-4517-840C-21B92A1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AC4D35-F8B7-4A60-9BD2-1F76DE6F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384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506A"/>
                </a:solidFill>
              </a:defRPr>
            </a:pPr>
            <a:r>
              <a:rPr sz="1275" b="1">
                <a:solidFill>
                  <a:srgbClr val="40506A"/>
                </a:solidFill>
              </a:rPr>
              <a:t>画像サンプル確認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B65E0-58A8-4815-8B7B-2B9EAC1C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C0D5A5-0682-4A91-B3F6-B97CB9B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B0BD8-D4DF-4F31-9CE2-1362F0CF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506A"/>
                </a:solidFill>
              </a:defRPr>
            </a:pPr>
            <a:r>
              <a:rPr sz="1275" b="1">
                <a:solidFill>
                  <a:srgbClr val="40506A"/>
                </a:solidFill>
              </a:rPr>
              <a:t>判定カテゴリ確定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038DBF-65FB-4085-A9D3-741C8BB4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F2808-1F2D-442F-B9E1-5EEBF74C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862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BE5C82-67AF-4EED-B942-EEF16F7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385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506A"/>
                </a:solidFill>
              </a:defRPr>
            </a:pPr>
            <a:r>
              <a:rPr sz="1275" b="1">
                <a:solidFill>
                  <a:srgbClr val="40506A"/>
                </a:solidFill>
              </a:rPr>
              <a:t>正解データ確認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94B378-AC73-42B2-BEF0-585BC17D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8AFCAB-5B92-4FA9-A000-C403E30A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BF06DD-C49C-441C-BD28-1D7A0C1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38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506A"/>
                </a:solidFill>
              </a:defRPr>
            </a:pPr>
            <a:r>
              <a:rPr sz="1275" b="1">
                <a:solidFill>
                  <a:srgbClr val="40506A"/>
                </a:solidFill>
              </a:rPr>
              <a:t>PoC評価基準合意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5C2798-3D74-4384-8337-0669007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57800"/>
            <a:ext cx="68199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9050">
            <a:solidFill>
              <a:srgbClr val="BFE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40848B-9CF3-4DF9-9CB3-F6EDE8D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7210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5BA8"/>
                </a:solidFill>
              </a:defRPr>
            </a:pPr>
            <a:r>
              <a:rPr sz="1500" b="1">
                <a:solidFill>
                  <a:srgbClr val="0A5BA8"/>
                </a:solidFill>
              </a:rPr>
              <a:t>次回商談では、PoC対象範囲と評価条件を合意する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164D8-19C8-42E0-AA2E-D9DE5D0B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A2BBC6-97CE-405E-891C-28B1195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9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9707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2026-07-17T00:30:46.7060000Z</dcterms:created>
  <dcterms:modified xsi:type="dcterms:W3CDTF">2026-07-17T00:30:46.7060000Z</dcterms:modified>
</coreProperties>
</file>