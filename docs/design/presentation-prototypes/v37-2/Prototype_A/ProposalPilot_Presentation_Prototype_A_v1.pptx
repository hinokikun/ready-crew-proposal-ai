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2b299a2e143b4" /><Relationship Type="http://schemas.openxmlformats.org/officeDocument/2006/relationships/extended-properties" Target="/docProps/app.xml" Id="Rc1033a35a6634dda" /><Relationship Type="http://schemas.openxmlformats.org/officeDocument/2006/relationships/officeDocument" Target="/ppt/presentation.xml" Id="R6cf4bfb0d857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24e3d9d9d342ab"/>
  </p:sldMasterIdLst>
  <p:notesMasterIdLst>
    <p:notesMasterId xmlns:r="http://schemas.openxmlformats.org/officeDocument/2006/relationships" r:id="R058b146ef4664bfa"/>
  </p:notesMasterIdLst>
  <p:sldIdLst>
    <p:sldId xmlns:r="http://schemas.openxmlformats.org/officeDocument/2006/relationships" id="256" r:id="R7651eaa1d2d743f8"/>
    <p:sldId xmlns:r="http://schemas.openxmlformats.org/officeDocument/2006/relationships" id="257" r:id="R5103aea85b304dd8"/>
    <p:sldId xmlns:r="http://schemas.openxmlformats.org/officeDocument/2006/relationships" id="258" r:id="Rf78945f795ea4603"/>
    <p:sldId xmlns:r="http://schemas.openxmlformats.org/officeDocument/2006/relationships" id="259" r:id="R547770f43abf48fb"/>
    <p:sldId xmlns:r="http://schemas.openxmlformats.org/officeDocument/2006/relationships" id="260" r:id="Rffbd0ae08500481f"/>
    <p:sldId xmlns:r="http://schemas.openxmlformats.org/officeDocument/2006/relationships" id="261" r:id="Rae8278bb555746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afb5d47884098" /><Relationship Type="http://schemas.openxmlformats.org/officeDocument/2006/relationships/slideMaster" Target="/ppt/slideMasters/slideMaster1.xml" Id="R6324e3d9d9d342ab" /><Relationship Type="http://schemas.openxmlformats.org/officeDocument/2006/relationships/notesMaster" Target="/ppt/notesMasters/notesMaster1.xml" Id="R058b146ef4664bfa" /><Relationship Type="http://schemas.openxmlformats.org/officeDocument/2006/relationships/presProps" Target="/ppt/presProps.xml" Id="Rc2e905f441654be4" /><Relationship Type="http://schemas.openxmlformats.org/officeDocument/2006/relationships/tableStyles" Target="/ppt/tableStyles.xml" Id="Re87d1ada9c0440f1" /><Relationship Type="http://schemas.openxmlformats.org/officeDocument/2006/relationships/slide" Target="/ppt/slides/slide1.xml" Id="R7651eaa1d2d743f8" /><Relationship Type="http://schemas.openxmlformats.org/officeDocument/2006/relationships/slide" Target="/ppt/slides/slide2.xml" Id="R5103aea85b304dd8" /><Relationship Type="http://schemas.openxmlformats.org/officeDocument/2006/relationships/slide" Target="/ppt/slides/slide3.xml" Id="Rf78945f795ea4603" /><Relationship Type="http://schemas.openxmlformats.org/officeDocument/2006/relationships/slide" Target="/ppt/slides/slide4.xml" Id="R547770f43abf48fb" /><Relationship Type="http://schemas.openxmlformats.org/officeDocument/2006/relationships/slide" Target="/ppt/slides/slide5.xml" Id="Rffbd0ae08500481f" /><Relationship Type="http://schemas.openxmlformats.org/officeDocument/2006/relationships/slide" Target="/ppt/slides/slide6.xml" Id="Rae8278bb5557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3a006578f48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acb7cb2bd4580" /><Relationship Type="http://schemas.openxmlformats.org/officeDocument/2006/relationships/notesMaster" Target="/ppt/notesMasters/notesMaster1.xml" Id="R0f8fcb001bf5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e436c7b814582" /><Relationship Type="http://schemas.openxmlformats.org/officeDocument/2006/relationships/notesMaster" Target="/ppt/notesMasters/notesMaster1.xml" Id="R91da3f7c7a7b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f31a52def4650" /><Relationship Type="http://schemas.openxmlformats.org/officeDocument/2006/relationships/notesMaster" Target="/ppt/notesMasters/notesMaster1.xml" Id="R5dc83fd06b48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b140da25d4f5e" /><Relationship Type="http://schemas.openxmlformats.org/officeDocument/2006/relationships/notesMaster" Target="/ppt/notesMasters/notesMaster1.xml" Id="R232311ae483a47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7439c2bf34bac" /><Relationship Type="http://schemas.openxmlformats.org/officeDocument/2006/relationships/notesMaster" Target="/ppt/notesMasters/notesMaster1.xml" Id="Rd6d8fffdaa94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4841c962e47ea" /><Relationship Type="http://schemas.openxmlformats.org/officeDocument/2006/relationships/notesMaster" Target="/ppt/notesMasters/notesMaster1.xml" Id="R17d0f3232cdd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4f94643e8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7215d54b0499e" /><Relationship Type="http://schemas.openxmlformats.org/officeDocument/2006/relationships/slideLayout" Target="/ppt/slideLayouts/slideLayout1.xml" Id="R6860428fef5b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60428fef5b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8b0c67a0458e" /><Relationship Type="http://schemas.openxmlformats.org/officeDocument/2006/relationships/notesSlide" Target="/ppt/notesSlides/notesSlide1.xml" Id="Rf49fb667091f4c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650bca3584bab" /><Relationship Type="http://schemas.openxmlformats.org/officeDocument/2006/relationships/notesSlide" Target="/ppt/notesSlides/notesSlide2.xml" Id="Re6acd95b00ec4b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302bfcf644220" /><Relationship Type="http://schemas.openxmlformats.org/officeDocument/2006/relationships/notesSlide" Target="/ppt/notesSlides/notesSlide3.xml" Id="R1859216b1e5b44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c913d96034070" /><Relationship Type="http://schemas.openxmlformats.org/officeDocument/2006/relationships/notesSlide" Target="/ppt/notesSlides/notesSlide4.xml" Id="R226b7f4bbb48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dfa9c81184946" /><Relationship Type="http://schemas.openxmlformats.org/officeDocument/2006/relationships/notesSlide" Target="/ppt/notesSlides/notesSlide5.xml" Id="Rc9c556c6dd6a4b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dbbcef2741fa" /><Relationship Type="http://schemas.openxmlformats.org/officeDocument/2006/relationships/notesSlide" Target="/ppt/notesSlides/notesSlide6.xml" Id="Rebd611697ff846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6DFCF-5035-4D2C-88A1-F45ABFF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8388A-A6A4-4ADD-8A27-035DEC7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2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2F341-41C0-4C0B-99BD-A3B6E48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64EA2-894F-4503-BFA1-B09FC00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Editorial Premium Prototype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A059B-9000-4A5F-9ED8-6C0E203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38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生花オークション向け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AI画像認識 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18012-9785-4345-8DAC-891D280B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等級・品種・状態確認の属人性を下げ、登録品質と処理速度を同時に高めるPoC提案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DB4E-3C41-4F82-9187-A0273F0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A1B9"/>
                </a:solidFill>
              </a:defRPr>
            </a:pPr>
            <a:r>
              <a:rPr sz="1200" b="0">
                <a:solidFill>
                  <a:srgbClr val="90A1B9"/>
                </a:solidFill>
              </a:rPr>
              <a:t>ProposalPilot / Premium Presentation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D71F5-B495-467C-A5B9-F89C3393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974" y="1935480"/>
            <a:ext cx="1024128" cy="10241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A492E-29FB-4064-9781-4970F2C5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62" y="2532888"/>
            <a:ext cx="1024128" cy="10241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F2132-5CE9-447B-A9B2-D15FE522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606" y="2895600"/>
            <a:ext cx="1109472" cy="1109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F77E2-AAD5-4931-AA09-56A5330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374" y="3471672"/>
            <a:ext cx="981456" cy="981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E4B5-3FAA-4C5D-8448-51548B26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6936"/>
            <a:ext cx="768096" cy="7680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48246-C58A-4DF8-8ED9-ABD0AE8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534" y="1594104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8A8CF-DEFB-4C24-A0EE-66140934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534" y="1594104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7CA34-9186-4F42-AA2F-E001DB5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852" y="1594104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DC370-C17D-4ED6-92FE-8B79F153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677" y="1594104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B3BAC-8917-4D60-B789-57E9393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534" y="5002911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307CE-797B-45EE-9D3F-F703979E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534" y="4498086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DD45A-7023-4038-B062-7D0F72C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852" y="5002911"/>
            <a:ext cx="552450" cy="47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FD379-1129-4119-AB1F-459D616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677" y="4498086"/>
            <a:ext cx="47625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3E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2FE5A-FC65-4A47-BAC3-B11EC205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694" y="3066288"/>
            <a:ext cx="5974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52" b="1">
                <a:solidFill>
                  <a:srgbClr val="020618"/>
                </a:solidFill>
              </a:defRPr>
            </a:pPr>
            <a:r>
              <a:rPr sz="2352" b="1">
                <a:solidFill>
                  <a:srgbClr val="020618"/>
                </a:solidFill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25D9F-E9F2-4402-9240-C4C7913F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画像認識 × 人の最終確認 × 既存業務連携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A3C5A-9426-4CEA-B794-715C641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6DCEC-AFA1-44FD-B2D9-6CA79C0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AD5E2"/>
                </a:solidFill>
              </a:defRPr>
            </a:pPr>
            <a:r>
              <a:rPr sz="900" b="0">
                <a:solidFill>
                  <a:srgbClr val="CAD5E2"/>
                </a:solidFill>
              </a:rPr>
              <a:t>Prototype A / Editorial Premium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09541-4C79-4FCA-855F-28F31228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985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3D096-318F-43DF-8922-5F9FC951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確認作業の属人性が、登録品質と処理速度のボトルネックになる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38B6-34D2-46EA-B2B3-E093171A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生花は品種・等級・状態の判断が細かく、目視確認だけでは繁忙時にばらつきが出やすい。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DF691-7497-4C1A-AD77-D722B5CE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F6CD8-44EF-400C-9842-0E6E3DE1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DFC"/>
                </a:solidFill>
              </a:defRPr>
            </a:pPr>
            <a:r>
              <a:rPr sz="3150" b="1">
                <a:solidFill>
                  <a:srgbClr val="155DF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0988-2179-4238-87F5-51FDCEE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判断基準が人に依存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9871A-B559-4B56-92A8-2263AF1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担当者ごとの差が、等級判定や登録コメントの品質差につながる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62797-768E-4444-AA0B-BFB798C5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DC0A-F6ED-4074-9E84-8EC84585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DFC"/>
                </a:solidFill>
              </a:defRPr>
            </a:pPr>
            <a:r>
              <a:rPr sz="3150" b="1">
                <a:solidFill>
                  <a:srgbClr val="155DF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4423E-B543-4328-AF4F-95B13785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繁忙時に確認が滞留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AD76D-73DD-4524-B0A5-ABDB1C3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入荷量が増えるほど、撮影後の確認・登録が後ろ倒しになる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AB3E1-B461-4092-96F5-B7AAD757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EA0E-023A-401E-BCDA-44F62B4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DFC"/>
                </a:solidFill>
              </a:defRPr>
            </a:pPr>
            <a:r>
              <a:rPr sz="3150" b="1">
                <a:solidFill>
                  <a:srgbClr val="155DF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AEFE2-3602-4E84-BAD6-252CE31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履歴が学習資産になりにくい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E6C0D-A638-4596-A88A-936B3AB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過去の判断結果が、次回判断や新人教育に活用されにくい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1CACF-D828-4D71-9648-8D703258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584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05192-CB3F-43BB-8070-3DAC12D5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AIは判断を置き換えるのではなく、候補提示と根拠整理で人の確認を速く・揃える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7179C-AB8B-4F06-8203-836AB79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28463-0036-4873-BDA8-928FA7F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A / Current Issues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5AA1A-6E4C-4FD0-A0E7-75308C3C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7605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DC5D7-B917-42F8-B9FC-875DD75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Before / Afterで見る業務の変化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CDC0-4E27-4E62-8857-D549D635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AI画像認識を挟むことで、確認者はゼロから判断するのではなく、候補を検証する役割へ移行します。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8A797-55FB-459E-B612-1B95A33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8462-6E63-4C49-808A-6FD13508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762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E406-5A38-48E3-9FAF-70E79DF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400BF-9C59-4B7D-B895-290CAC0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47E6"/>
                </a:solidFill>
              </a:defRPr>
            </a:pPr>
            <a:r>
              <a:rPr sz="2250" b="1">
                <a:solidFill>
                  <a:srgbClr val="1447E6"/>
                </a:solidFill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D65EA-79FC-4A6E-92C2-6B44FF34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C226-4F89-4DBF-A376-D15711FF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4158"/>
                </a:solidFill>
              </a:defRPr>
            </a:pPr>
            <a:r>
              <a:rPr sz="1125" b="1">
                <a:solidFill>
                  <a:srgbClr val="314158"/>
                </a:solidFill>
              </a:rPr>
              <a:t>撮影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377B-0888-4591-A736-1965B86E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920B8-C956-4FED-9479-E6AEDB7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4158"/>
                </a:solidFill>
              </a:defRPr>
            </a:pPr>
            <a:r>
              <a:rPr sz="1125" b="1">
                <a:solidFill>
                  <a:srgbClr val="314158"/>
                </a:solidFill>
              </a:rPr>
              <a:t>目視確認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BF8DA-055E-4CC5-87BF-2A753837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60BFC-B544-48DE-9791-D20DAA3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4158"/>
                </a:solidFill>
              </a:defRPr>
            </a:pPr>
            <a:r>
              <a:rPr sz="1125" b="1">
                <a:solidFill>
                  <a:srgbClr val="314158"/>
                </a:solidFill>
              </a:rPr>
              <a:t>等級・状態判断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0EEB4-46EF-4172-809E-89581F36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8124E-55A3-49B0-8505-22638B5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4158"/>
                </a:solidFill>
              </a:defRPr>
            </a:pPr>
            <a:r>
              <a:rPr sz="1125" b="1">
                <a:solidFill>
                  <a:srgbClr val="314158"/>
                </a:solidFill>
              </a:rPr>
              <a:t>手入力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F95C7-AB70-45FD-9321-058E8C7C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D0541-212B-44F4-8FE4-B6862E1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4158"/>
                </a:solidFill>
              </a:defRPr>
            </a:pPr>
            <a:r>
              <a:rPr sz="1125" b="1">
                <a:solidFill>
                  <a:srgbClr val="314158"/>
                </a:solidFill>
              </a:rPr>
              <a:t>再確認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DC2BC-17F1-48E7-A4F2-8480C105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39C3C-40F8-4C60-A4DB-4A827B9E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90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3CB8"/>
                </a:solidFill>
              </a:defRPr>
            </a:pPr>
            <a:r>
              <a:rPr sz="1125" b="1">
                <a:solidFill>
                  <a:srgbClr val="193CB8"/>
                </a:solidFill>
              </a:rPr>
              <a:t>撮影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93959-C685-4F92-BA23-89D9F4C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E4F31-24B4-438B-87C0-2807E9C2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3CB8"/>
                </a:solidFill>
              </a:defRPr>
            </a:pPr>
            <a:r>
              <a:rPr sz="1125" b="1">
                <a:solidFill>
                  <a:srgbClr val="193CB8"/>
                </a:solidFill>
              </a:rPr>
              <a:t>AI候補提示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98FEF-D09D-4EE5-A7ED-7C6E30D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A78AA-1D53-4FCB-B2EE-EF06707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90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3CB8"/>
                </a:solidFill>
              </a:defRPr>
            </a:pPr>
            <a:r>
              <a:rPr sz="1125" b="1">
                <a:solidFill>
                  <a:srgbClr val="193CB8"/>
                </a:solidFill>
              </a:rPr>
              <a:t>人が最終確認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6E430-E2F6-4786-9A05-3490C7C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338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7D8A8-E879-455E-AE88-E3875B5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3CB8"/>
                </a:solidFill>
              </a:defRPr>
            </a:pPr>
            <a:r>
              <a:rPr sz="1125" b="1">
                <a:solidFill>
                  <a:srgbClr val="193CB8"/>
                </a:solidFill>
              </a:rPr>
              <a:t>自動登録補助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4CA4F-1A36-4EE6-A4D9-5784260D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F1AA8-246C-4432-8F70-DBC47D13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91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3CB8"/>
                </a:solidFill>
              </a:defRPr>
            </a:pPr>
            <a:r>
              <a:rPr sz="1125" b="1">
                <a:solidFill>
                  <a:srgbClr val="193CB8"/>
                </a:solidFill>
              </a:rPr>
              <a:t>品質履歴化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97B3F-272A-49E8-8017-B90B35C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42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0B8DB"/>
                </a:solidFill>
              </a:defRPr>
            </a:pPr>
            <a:r>
              <a:rPr sz="4650" b="1">
                <a:solidFill>
                  <a:srgbClr val="00B8D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C64A7-2009-4ADE-98DF-6119E386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確認時間を短縮しながら、最終判断は人が担保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9E724-6662-4B8E-B4B8-5ECF52DA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47FB8-1ED7-4A93-A8B1-46D648D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A / Before After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6F5D9-135E-4A79-8CB5-DFF0D52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2203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5C51E-B203-4019-AF14-4D1B733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既存業務を止めず、AI判定を確認フローへ差し込む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96FF-89AA-4DB2-9372-1F2348D5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5E2"/>
                </a:solidFill>
              </a:defRPr>
            </a:pPr>
            <a:r>
              <a:rPr sz="1350" b="0">
                <a:solidFill>
                  <a:srgbClr val="CAD5E2"/>
                </a:solidFill>
              </a:rPr>
              <a:t>画像・判定候補・人の確認結果を分けて扱い、PoC段階から運用に耐える構成を検証します。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02F0-72E2-4870-A0F8-BCD4F0F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2860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656C1-C355-4C39-A284-A215BB3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撮影・受付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94465-996B-4C86-9A08-B6FEA9C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1F5F9"/>
                </a:solidFill>
              </a:defRPr>
            </a:pPr>
            <a:r>
              <a:rPr sz="1200" b="0">
                <a:solidFill>
                  <a:srgbClr val="F1F5F9"/>
                </a:solidFill>
              </a:rPr>
              <a:t>入荷画像 / ロット情報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DA3E3-2E9C-4103-9AB0-7B546EE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EAFD"/>
                </a:solidFill>
              </a:defRPr>
            </a:pPr>
            <a:r>
              <a:rPr sz="2550" b="1">
                <a:solidFill>
                  <a:srgbClr val="53EAF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104E7-BD34-4DF2-988A-0F934F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22860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447E6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7208F-66BB-4396-9357-BC69EC4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C0766-9BBC-400D-93F8-A91F0DF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1F5F9"/>
                </a:solidFill>
              </a:defRPr>
            </a:pPr>
            <a:r>
              <a:rPr sz="1200" b="0">
                <a:solidFill>
                  <a:srgbClr val="F1F5F9"/>
                </a:solidFill>
              </a:rPr>
              <a:t>品種候補 / 等級候補 / 異常検知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1FE7-9483-4057-87D0-566AA8A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EAFD"/>
                </a:solidFill>
              </a:defRPr>
            </a:pPr>
            <a:r>
              <a:rPr sz="2550" b="1">
                <a:solidFill>
                  <a:srgbClr val="53EAF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C0597-2871-4975-968A-29C22F1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2860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0092B8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DF603-D2CB-4D1E-B25D-86C9A9E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人の確認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0BB5B-0AB3-4EC5-AB30-A46E7FD2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1F5F9"/>
                </a:solidFill>
              </a:defRPr>
            </a:pPr>
            <a:r>
              <a:rPr sz="1200" b="0">
                <a:solidFill>
                  <a:srgbClr val="F1F5F9"/>
                </a:solidFill>
              </a:rPr>
              <a:t>候補確認 / 修正 / 承認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D25BE-D603-44C0-AB56-2147C517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EAFD"/>
                </a:solidFill>
              </a:defRPr>
            </a:pPr>
            <a:r>
              <a:rPr sz="2550" b="1">
                <a:solidFill>
                  <a:srgbClr val="53EAF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78DE7-11DB-435B-A52F-E91D62C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2860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F549D-98F9-474B-9CEC-361AFC0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業務連携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F18C4-C85D-41F8-B645-61F6F48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1F5F9"/>
                </a:solidFill>
              </a:defRPr>
            </a:pPr>
            <a:r>
              <a:rPr sz="1200" b="0">
                <a:solidFill>
                  <a:srgbClr val="F1F5F9"/>
                </a:solidFill>
              </a:rPr>
              <a:t>台帳 / オークション登録 / 履歴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B8818-26F1-4945-A0A8-EE25B61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89916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FE125-1966-4082-9CEE-6AC2C3E0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PoCで見るべきこと：精度だけでなく、確認者の判断速度・修正率・登録品質まで測定する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B262-0319-490C-B6C1-9216542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96123-E47F-4021-93F1-DFFA1A2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AD5E2"/>
                </a:solidFill>
              </a:defRPr>
            </a:pPr>
            <a:r>
              <a:rPr sz="900" b="0">
                <a:solidFill>
                  <a:srgbClr val="CAD5E2"/>
                </a:solidFill>
              </a:rPr>
              <a:t>Prototype A /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FC77B-CD7E-4B71-B33B-45BA80B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8716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652D9-AC03-4827-B8B7-79F6B134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PoCは“精度確認”ではなく、現場で使える判断補助かを検証する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377C4-16DA-40BE-8CB4-DCE96E8A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4〜8週間で小さく検証し、導入判断に必要な精度・工数・運用負荷を見える化します。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B367D-0E03-430C-959B-CA5FBFD5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363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D6E7F-E50E-4005-9378-A37F28E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770C1-4EA5-4B4D-8A12-2D56B3D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8891D-6289-4F95-A0B7-CB1D28B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583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要件整理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33469-7509-488B-BCD2-31EFC45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9583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対象品目・画像条件・判定項目を確定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8A06B-E444-4450-A9B2-D80E1C5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CD2CD-15B0-4A66-B9C5-57FCAB5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59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43EAE-1380-4185-9D69-DB7175B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3143250"/>
            <a:ext cx="19583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データ準備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6ACD0-FA95-430F-9D91-3DBAA1A6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3676650"/>
            <a:ext cx="19583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サンプル画像と正解ラベルを整理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0BC80-54D4-4666-95D4-F6CF061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93AA7-D16E-437B-9B4E-9395B9D4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259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07CEB-F596-431E-8FBE-A1CDD33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143250"/>
            <a:ext cx="19583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PoC構築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B7D84-8254-46A0-8484-C383A02B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676650"/>
            <a:ext cx="19583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AI判定と確認画面を試作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0E085-BAF1-4EDA-95F5-AB1F968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2D0E0-26D8-45F3-BEAC-EDF3C689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59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C63AB-7E27-460C-AC8F-3A99D54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143250"/>
            <a:ext cx="19583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現場検証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029AE-FC71-4E6F-B021-5C0C9B69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76650"/>
            <a:ext cx="19583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精度・修正率・確認時間を測定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7441B-B479-4662-8CC7-5942961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98C23-4CAD-4160-9B3A-BB0EA8A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590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BA4CE-43B3-4E9C-A98F-3B7EE45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3143250"/>
            <a:ext cx="19583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導入判断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E6959-17AD-4C50-BE37-0C40AF0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3676650"/>
            <a:ext cx="19583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本番化範囲と費用を確定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63DD8-9E52-4DD5-A323-F9D9C0ED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58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F8D8F-9E51-49F1-98F8-BC932B5D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7210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成功条件：確認時間の短縮、修正率の低減、担当者間の判断ばらつき低減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30515-FAA1-492E-BA53-2111A48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78257-0861-43AB-BC27-06E9C5F7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A / PoC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8F98A-A6EF-4C1A-8A75-138CB468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1186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0692F-5C65-4C44-AC40-D02CA068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まずはPoCで効果と運用適合性を確認する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8D4FF-67A7-464E-992E-41B0187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概算は入力条件・対象品目数・画像データ量により変動します。未入力の数値は本提案で確定しません。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04AF7-6401-4CD6-AA31-4215115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9DE03-8A38-449A-A73C-A7A514A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D6A7F-952F-46D8-87B1-8773E60A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D2575-D1A4-4E1D-BE1B-2E4E75BB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PoC設計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36715-0E9F-44B1-B273-E477C66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対象範囲・評価指標・検証計画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6A9D4-3CE4-4957-BFF3-C5C6A85F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E46CB-DCC2-42B3-A9E5-B240D1FC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1C31B-A0EC-418C-B832-1188135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A892B-F8A6-445D-823D-84B1236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AIモデル検証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15428-3C90-4403-B2D1-DBD7408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画像分類・状態判定・精度改善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1BB8F-2893-4A0D-B37F-CDF4D5C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762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6F6A4-68FF-4C40-98DA-BAE36E2C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46AE8-06C6-4845-82C4-C8E3EF8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3ECF1-89AA-4753-ACAF-0EA6E7A6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確認UI試作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4E809-81CE-4247-B9F0-BC384F0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候補表示・修正・承認フロー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28036-2BAF-4A0D-BBFC-D73966DE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4762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3C870-E71A-47C4-836A-0D8D6A08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72295-2562-4E91-8B58-890C554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C9E1D-AFD9-4977-9764-9910F162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運用支援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D4C0-0B16-449C-AC67-011B403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結果分析・本番化ロードマップ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05A34-6A03-4844-9FF1-799FA27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4BEA8-B4BC-4666-A2F7-202976EA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概算レンジ：個別見積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F03CF-204A-4DD0-A6C0-3360D91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9525">
            <a:solidFill>
              <a:srgbClr val="53EA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87EA4-94D3-4CAC-B0EB-690596FE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次のアクション：対象品目と画像サンプルの確認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31528-5999-4027-9ACA-ADB1941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ProposalPilot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00E47-8DF4-4AEF-8DA1-C1F3465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3817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Prototype A / Estimate &amp;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4F799-E737-4CF3-9255-572B06FE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0862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2026-07-16T21:52:32.5530000Z</dcterms:created>
  <dcterms:modified xsi:type="dcterms:W3CDTF">2026-07-16T21:52:32.5530000Z</dcterms:modified>
</coreProperties>
</file>