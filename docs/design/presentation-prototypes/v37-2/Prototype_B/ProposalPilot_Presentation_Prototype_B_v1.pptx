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2371d434e4cd7" /><Relationship Type="http://schemas.openxmlformats.org/officeDocument/2006/relationships/extended-properties" Target="/docProps/app.xml" Id="R56394573817f4deb" /><Relationship Type="http://schemas.openxmlformats.org/officeDocument/2006/relationships/officeDocument" Target="/ppt/presentation.xml" Id="R10e218458436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255d135fb4471"/>
  </p:sldMasterIdLst>
  <p:notesMasterIdLst>
    <p:notesMasterId xmlns:r="http://schemas.openxmlformats.org/officeDocument/2006/relationships" r:id="R3eab0103ad2c4295"/>
  </p:notesMasterIdLst>
  <p:sldIdLst>
    <p:sldId xmlns:r="http://schemas.openxmlformats.org/officeDocument/2006/relationships" id="256" r:id="R4aa29caf4b4c4023"/>
    <p:sldId xmlns:r="http://schemas.openxmlformats.org/officeDocument/2006/relationships" id="257" r:id="Rec3261f534204cfa"/>
    <p:sldId xmlns:r="http://schemas.openxmlformats.org/officeDocument/2006/relationships" id="258" r:id="R28cd47bfd8fa405f"/>
    <p:sldId xmlns:r="http://schemas.openxmlformats.org/officeDocument/2006/relationships" id="259" r:id="R9a9050f30868432a"/>
    <p:sldId xmlns:r="http://schemas.openxmlformats.org/officeDocument/2006/relationships" id="260" r:id="R1b2fd16828bf49ed"/>
    <p:sldId xmlns:r="http://schemas.openxmlformats.org/officeDocument/2006/relationships" id="261" r:id="Ra66d4217602644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ca2fd044ee4a57" /><Relationship Type="http://schemas.openxmlformats.org/officeDocument/2006/relationships/slideMaster" Target="/ppt/slideMasters/slideMaster1.xml" Id="R95e255d135fb4471" /><Relationship Type="http://schemas.openxmlformats.org/officeDocument/2006/relationships/notesMaster" Target="/ppt/notesMasters/notesMaster1.xml" Id="R3eab0103ad2c4295" /><Relationship Type="http://schemas.openxmlformats.org/officeDocument/2006/relationships/presProps" Target="/ppt/presProps.xml" Id="Rbec6587b383245b9" /><Relationship Type="http://schemas.openxmlformats.org/officeDocument/2006/relationships/tableStyles" Target="/ppt/tableStyles.xml" Id="R17bfff952b0049e2" /><Relationship Type="http://schemas.openxmlformats.org/officeDocument/2006/relationships/slide" Target="/ppt/slides/slide1.xml" Id="R4aa29caf4b4c4023" /><Relationship Type="http://schemas.openxmlformats.org/officeDocument/2006/relationships/slide" Target="/ppt/slides/slide2.xml" Id="Rec3261f534204cfa" /><Relationship Type="http://schemas.openxmlformats.org/officeDocument/2006/relationships/slide" Target="/ppt/slides/slide3.xml" Id="R28cd47bfd8fa405f" /><Relationship Type="http://schemas.openxmlformats.org/officeDocument/2006/relationships/slide" Target="/ppt/slides/slide4.xml" Id="R9a9050f30868432a" /><Relationship Type="http://schemas.openxmlformats.org/officeDocument/2006/relationships/slide" Target="/ppt/slides/slide5.xml" Id="R1b2fd16828bf49ed" /><Relationship Type="http://schemas.openxmlformats.org/officeDocument/2006/relationships/slide" Target="/ppt/slides/slide6.xml" Id="Ra66d42176026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a970cb0e3a41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4600e9e5dc4a96" /><Relationship Type="http://schemas.openxmlformats.org/officeDocument/2006/relationships/notesMaster" Target="/ppt/notesMasters/notesMaster1.xml" Id="Rd06b0902ea454a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02dba6c5c469d" /><Relationship Type="http://schemas.openxmlformats.org/officeDocument/2006/relationships/notesMaster" Target="/ppt/notesMasters/notesMaster1.xml" Id="Recd267d573704a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eb46615c8842c2" /><Relationship Type="http://schemas.openxmlformats.org/officeDocument/2006/relationships/notesMaster" Target="/ppt/notesMasters/notesMaster1.xml" Id="R5164ddfdf8834a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6d39eedfd4684" /><Relationship Type="http://schemas.openxmlformats.org/officeDocument/2006/relationships/notesMaster" Target="/ppt/notesMasters/notesMaster1.xml" Id="Rd91062142b2f44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9adb9cd3d24dc3" /><Relationship Type="http://schemas.openxmlformats.org/officeDocument/2006/relationships/notesMaster" Target="/ppt/notesMasters/notesMaster1.xml" Id="Rdea274d3402348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0fa0ef3f504f38" /><Relationship Type="http://schemas.openxmlformats.org/officeDocument/2006/relationships/notesMaster" Target="/ppt/notesMasters/notesMaster1.xml" Id="Red9e71d9b54b49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4298885c945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27450962b94eb4" /><Relationship Type="http://schemas.openxmlformats.org/officeDocument/2006/relationships/slideLayout" Target="/ppt/slideLayouts/slideLayout1.xml" Id="R62234fc562b54a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234fc562b54a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5884b783548e4" /><Relationship Type="http://schemas.openxmlformats.org/officeDocument/2006/relationships/notesSlide" Target="/ppt/notesSlides/notesSlide1.xml" Id="R5daf144254f74f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ac5c450c7435c" /><Relationship Type="http://schemas.openxmlformats.org/officeDocument/2006/relationships/notesSlide" Target="/ppt/notesSlides/notesSlide2.xml" Id="R97c0ceb628eb4f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7272f4765406c" /><Relationship Type="http://schemas.openxmlformats.org/officeDocument/2006/relationships/notesSlide" Target="/ppt/notesSlides/notesSlide3.xml" Id="Re744ac37261d4d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104e21aa84765" /><Relationship Type="http://schemas.openxmlformats.org/officeDocument/2006/relationships/notesSlide" Target="/ppt/notesSlides/notesSlide4.xml" Id="R47ee363fc512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3cc8b569e4430" /><Relationship Type="http://schemas.openxmlformats.org/officeDocument/2006/relationships/notesSlide" Target="/ppt/notesSlides/notesSlide5.xml" Id="R22f893ed853b4f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3722735074a13" /><Relationship Type="http://schemas.openxmlformats.org/officeDocument/2006/relationships/notesSlide" Target="/ppt/notesSlides/notesSlide6.xml" Id="Rbacb2743736443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54A88B-3A42-4A21-871B-CD501B30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A2685-281D-4205-87D1-8FE2C712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7700"/>
            <a:ext cx="4476750" cy="5048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99CA3-5030-4E0F-8460-B719D62D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A746-7670-4C5E-96ED-F4900FA2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Modern SaaS Visual Prototype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239BE-B573-4578-8815-69428825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生花画像認識AIで</a:t>
            </a:r>
          </a:p>
          <a:p xmlns:a="http://schemas.openxmlformats.org/drawingml/2006/main">
            <a:pPr algn="l"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確認業務を標準化する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0CA3D-EA74-4263-B86B-E089945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品種・等級・状態の候補をAIが提示し、人が最終確認する運用へ。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66381-4149-4051-A045-B73BA04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38250"/>
            <a:ext cx="3429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B84C9-BFDB-48B0-AD44-DB6608A4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668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581D7-7B7F-4CC9-8927-8356C845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8E560-9200-4277-8452-721713F6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候補提示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62692-9FCD-44E0-8A50-491D3FF8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AI分類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2A5EF-9721-476F-96D4-B618E523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3429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DEFD3-4EDB-4AB4-9EBA-88713A1B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9D7F2-1E37-4099-BC70-252E00A2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CC880-0511-4EF4-9B92-3491329B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最終確認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E8863-4C37-475E-84B6-D9C582C9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人が承認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8CED3-EC4C-4C79-8B1D-F50AA754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3429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76876-37BB-421A-B7E8-C6375647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052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6F467-973E-4922-8F67-1DB9BA5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EE6177-D785-4975-BDC3-AE1AB9B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履歴化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FF3FA-CF83-407F-B79C-42296619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品質改善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8B474-1DCE-41DA-8C27-1C213BF9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46" y="4751070"/>
            <a:ext cx="438912" cy="43891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0A052-1C0A-4C56-A1E3-1BE45DE4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498" y="5007102"/>
            <a:ext cx="438912" cy="43891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9966A-A120-45CD-BF8B-EB1617D2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874" y="5162550"/>
            <a:ext cx="475488" cy="4754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BBB64-19E4-4DD0-8A52-6551A2B5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346" y="5409438"/>
            <a:ext cx="420624" cy="4206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5D3EA-167B-4E13-B964-D04B3F6B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71694"/>
            <a:ext cx="329184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4DEB40-2DF4-4C22-97F9-815438BD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986" y="4604766"/>
            <a:ext cx="552450" cy="47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538DC-CC29-4251-8A77-0666F829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986" y="4604766"/>
            <a:ext cx="47625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C8DDD-8BB5-4A0E-9C1A-F0230FF8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4604766"/>
            <a:ext cx="552450" cy="47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17FCA-1E04-4152-A9B8-22EB061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833" y="4604766"/>
            <a:ext cx="47625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72061E-19CE-44C4-AF46-D8BCA36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986" y="6038469"/>
            <a:ext cx="552450" cy="47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2DC9D3-A56A-403C-A534-FD171AD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986" y="5533644"/>
            <a:ext cx="47625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6722B7-195A-4C79-A07F-DB078449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6038469"/>
            <a:ext cx="552450" cy="47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1743C-891E-40B2-B891-2F382DB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833" y="5533644"/>
            <a:ext cx="47625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AEFCA1-4F90-42C2-B880-E2E4FD3E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626" y="5235702"/>
            <a:ext cx="256032" cy="192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08" b="1">
                <a:solidFill>
                  <a:srgbClr val="FFFFFF"/>
                </a:solidFill>
              </a:defRPr>
            </a:pPr>
            <a:r>
              <a:rPr sz="1008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EC63CA-4E4D-458C-B745-8669DA3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6D3B41-3412-451A-BCF3-1577297C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B / Modern SaaS Visual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7F0235-2A8A-4039-B17E-4205F99F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2463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170C3-3980-4217-86DB-0062369A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現場の課題を“測れる業務改善テーマ”へ変換する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39FD8-418B-4FD7-A385-AB32456A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PoCでは、精度だけでなく確認時間・修正率・登録遅延まで同じ画面で追跡します。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612BF-40E1-4904-A004-B54FAD04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937FF-0A9D-4AFB-95F8-67D52643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確認工数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A1A2C-877E-41C5-8ECD-6BBFC8C6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短縮対象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E7821-9009-45A6-B955-50F795D5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B683F-5F4B-462A-842F-A5D8DE81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050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判定ばらつき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113CD-4DB0-4831-988A-E25D627D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標準化対象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DE185-1C59-4E54-88ED-A7B6A60D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98D8C-BE46-45BB-B5B1-16804D29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登録遅延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13C34-840C-41F6-987D-88FB5964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改善対象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46E03-29B7-48FC-AEEB-2C5A7EB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015C1-30CF-4448-8209-6768D186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教育負荷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3E6F5-8F30-4BA5-ADAF-FD2992DF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削減対象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D1168-E3B3-4FF2-B9BD-63DC3D31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8566A-4CC0-4993-9CC7-E3C80CBC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撮影 → AI候補 → 人の確認 → 登録 → 履歴分析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1FDB0-F7D0-4819-9BA2-5A6D52C8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EBCA0-2702-4E9D-85A8-A1177785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B / Current Issues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B0328-9123-492C-BBB2-C1CDF6FA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1797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6F895E-3A27-464D-8A49-2A1AEAFC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AI候補を起点に、確認フローを短くする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B5D47-2BB4-4FED-9933-3871FFEB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4158"/>
                </a:solidFill>
              </a:defRPr>
            </a:pPr>
            <a:r>
              <a:rPr sz="2100" b="1">
                <a:solidFill>
                  <a:srgbClr val="314158"/>
                </a:solidFill>
              </a:rPr>
              <a:t>Before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ABC0D-AF08-46AE-9322-1A6FBB00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9750"/>
            <a:ext cx="1619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76FB1-19A4-4E05-9A0A-8FC6C237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93D"/>
                </a:solidFill>
              </a:defRPr>
            </a:pPr>
            <a:r>
              <a:rPr sz="1500" b="1">
                <a:solidFill>
                  <a:srgbClr val="1D293D"/>
                </a:solidFill>
              </a:rPr>
              <a:t>撮影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30850-C0FD-4E0B-8D1D-E5D4EB9D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38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41C78-A0A1-411A-83BF-80C84831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1619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361DB-4D8A-48B9-866B-64E53A3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93D"/>
                </a:solidFill>
              </a:defRPr>
            </a:pPr>
            <a:r>
              <a:rPr sz="1500" b="1">
                <a:solidFill>
                  <a:srgbClr val="1D293D"/>
                </a:solidFill>
              </a:rPr>
              <a:t>目視判断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B6874-9D2C-41DB-95D1-FBFB8A7A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BB7B2-CD2E-493F-A650-BB222057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1619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B3615-1B35-41F8-B599-04DADF74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93D"/>
                </a:solidFill>
              </a:defRPr>
            </a:pPr>
            <a:r>
              <a:rPr sz="1500" b="1">
                <a:solidFill>
                  <a:srgbClr val="1D293D"/>
                </a:solidFill>
              </a:rPr>
              <a:t>手入力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F3E66-3613-49C3-B50B-5D7D176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A7F63-9146-43AB-8CD6-A2629958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1619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AE885-CC4C-4FCC-8858-61405748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93D"/>
                </a:solidFill>
              </a:defRPr>
            </a:pPr>
            <a:r>
              <a:rPr sz="1500" b="1">
                <a:solidFill>
                  <a:srgbClr val="1D293D"/>
                </a:solidFill>
              </a:rPr>
              <a:t>再確認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65255-0851-42B0-8B06-2978A8AA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7BC6F-FF44-4F60-A53F-3BE544AE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4250"/>
            <a:ext cx="1619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A75BF-414F-4D70-8F3C-635EDD3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CB8"/>
                </a:solidFill>
              </a:defRPr>
            </a:pPr>
            <a:r>
              <a:rPr sz="1500" b="1">
                <a:solidFill>
                  <a:srgbClr val="193CB8"/>
                </a:solidFill>
              </a:rPr>
              <a:t>撮影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AE8BC-AB58-44FA-BD36-AD0BAB8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52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61482-6251-4EE6-AD2B-ED30C94C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1619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60B79-CD66-4499-B2A9-A457EC33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CB8"/>
                </a:solidFill>
              </a:defRPr>
            </a:pPr>
            <a:r>
              <a:rPr sz="1500" b="1">
                <a:solidFill>
                  <a:srgbClr val="193CB8"/>
                </a:solidFill>
              </a:rPr>
              <a:t>AI候補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F89D5-3DEE-460C-83A7-AAD5D3EE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52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704CD-8BC1-41F1-928A-7A2A9210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619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83C76-603B-40F0-A2A8-8785AFD0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CB8"/>
                </a:solidFill>
              </a:defRPr>
            </a:pPr>
            <a:r>
              <a:rPr sz="1500" b="1">
                <a:solidFill>
                  <a:srgbClr val="193CB8"/>
                </a:solidFill>
              </a:rPr>
              <a:t>人が承認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C4FB9-4635-4ED2-B82B-0DD475AA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0B98A-3B9F-44C2-BD78-8B10DAD9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1619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D4EAF-EB17-467F-A8F3-FC6DBB6A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CB8"/>
                </a:solidFill>
              </a:defRPr>
            </a:pPr>
            <a:r>
              <a:rPr sz="1500" b="1">
                <a:solidFill>
                  <a:srgbClr val="193CB8"/>
                </a:solidFill>
              </a:rPr>
              <a:t>自動登録補助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F5C60-4874-4498-8D51-AA6507F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86868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06501-238F-40DD-B09B-09275670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判断を自動化しきらず、人の承認を残すことで現場導入リスクを下げる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D1660-E84C-4DC8-ADEA-9576C721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7C341-9D1B-4035-A27A-8407E1A4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B / Before After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6A855-3C4A-4BEB-8621-591DA20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4030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7959B-9FDE-4594-9E34-F2C7DADA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構成は小さく始め、既存台帳・登録業務へ段階連携する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00685-72B1-45F1-B645-7AED6BD3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95500" cy="2381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53E3B-BA0B-4CDB-B0D0-EE3C25E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81250"/>
            <a:ext cx="11049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414AF-D948-42C9-9FA5-60CFD900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455E8-952F-407A-B5FF-4A5139FE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画像</a:t>
            </a:r>
          </a:p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ロット情報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126D7-2F4B-45CB-A20E-7B85B45F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B7FFF"/>
                </a:solidFill>
              </a:defRPr>
            </a:pPr>
            <a:r>
              <a:rPr sz="2550" b="1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F8856-B8BA-4123-953A-0CB68528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95500"/>
            <a:ext cx="2095500" cy="2381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1EE90-9CE0-4433-805E-DE53B214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81250"/>
            <a:ext cx="11049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6AC59-C619-4A45-B395-B1E47458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95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AI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56A65-9D43-4B01-8022-9C93AF87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品種候補</a:t>
            </a:r>
          </a:p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等級候補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9F01E-6EBA-4E80-8B70-62796AFD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B7FFF"/>
                </a:solidFill>
              </a:defRPr>
            </a:pPr>
            <a:r>
              <a:rPr sz="2550" b="1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138C9-A276-443B-B06B-195D944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095500" cy="2381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B89A1-9F46-4EB6-9D5D-81A4365D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11049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1D57E-D49C-4311-8B63-F22885D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Review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BA27C-0692-4C56-BBCC-B17D3259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確認</a:t>
            </a:r>
          </a:p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修正</a:t>
            </a:r>
          </a:p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承認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90C16-411C-4768-9DE8-83B59750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B7FFF"/>
                </a:solidFill>
              </a:defRPr>
            </a:pPr>
            <a:r>
              <a:rPr sz="2550" b="1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B606D-9EE2-4410-B8CF-4D782C4A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095500" cy="2381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51288-816F-4595-BBF7-0AAE2CD9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1049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05BD4-CC20-400D-AAFD-6CAD7B3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95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Business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71CBA-D429-4E22-BACA-01BA5B70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147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台帳</a:t>
            </a:r>
          </a:p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登録</a:t>
            </a:r>
          </a:p>
          <a:p xmlns:a="http://schemas.openxmlformats.org/drawingml/2006/main">
            <a:pPr algn="ctr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履歴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7573A-525A-42D0-9F51-0DF61A8D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18985-CADC-4EE7-B0B8-2F90AA85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86375"/>
            <a:ext cx="925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保存対象は判定結果と確認履歴。画像・個人情報・秘密情報の扱いはPoC開始前に範囲を確定。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E736E-FA01-415A-8585-DFC5E740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EF8EB8-DD8C-4E13-9D6F-D74AD6BB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B / 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90CE2-86E7-4283-9C01-8A9CC7D1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3558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FE4F6-7FC0-4F21-AC14-3E28645A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4〜8週間で導入判断に必要な材料をそろえる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D2FD4-9836-4865-96FA-2DDD996A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1905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A235E-2778-4F70-881C-C1828D70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要件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EE46F-2728-40F2-B97A-887D04C8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評価項目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9B5CA-3337-4E83-9736-99CD769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57400"/>
            <a:ext cx="1619250" cy="1905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EC994-6837-45E5-ACAF-C830F4A8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81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データ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02862-A660-44C3-B6DC-6B7B9052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正解データ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62EAE-72BE-4F3B-9C90-940033F8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57400"/>
            <a:ext cx="1619250" cy="1905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9525">
            <a:solidFill>
              <a:srgbClr val="155D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C2FD8-6F27-49EA-B465-7D434213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AI検証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EA7DB-5131-463B-9276-55E5534C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EFAFE"/>
                </a:solidFill>
              </a:defRPr>
            </a:pPr>
            <a:r>
              <a:rPr sz="1200" b="1">
                <a:solidFill>
                  <a:srgbClr val="CEFAFE"/>
                </a:solidFill>
              </a:rPr>
              <a:t>候補提示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5C56D-772D-4FCE-8D8A-1AB09D8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1619250" cy="1905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707FF-21D7-4E61-9F24-F455FA8B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現場検証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84345-F9DD-42EA-A6ED-E0CCD46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現場測定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FE83C-C6BD-4F32-A37F-FDDEC4E0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57400"/>
            <a:ext cx="1619250" cy="1905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0676C-9B58-4E43-AB2E-5C35E6E3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52C91-1CDF-40F7-A43F-7744917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本番範囲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5510E-08B7-4C15-99D5-E4CBE5CD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CD8E1-D5E8-4008-B716-9E624ADD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評価指標：候補正答率、確認時間、修正率、担当者間ばらつき、運用負荷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B4D07-E1F4-44E2-9CCD-D26D5116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850E4-EA82-4DE3-BD19-8B1CC1F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B / PoC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76881-0879-4A14-93DE-49279006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3944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22D5B-FD41-4F77-8E55-4FDF47B4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PoC範囲を確定し、次回打ち合わせで実施判断へ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16CD2-F039-4158-B69D-C12A89D4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費用は対象品目数・画像データ量・連携範囲により変動します。未確認の事実は確定見積に含めません。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91D6-8884-499E-9005-0A7D4842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190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8548D-19FC-40C9-A2C8-04BE7A2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9A37E-4616-4691-8DEC-609A449C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PoC設計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13EE9-725F-48A6-9F1F-C236261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190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539C0-E7DF-4346-BD1C-6C41A45B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431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9B14B-2A18-4A61-A09A-CB1EFA12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AI検証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751A8-3F33-4B45-A37E-47C27746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190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37BAA-A5F1-43A1-88F6-25484023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69D54-1CB5-4FF1-85D2-74FEF70B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確認UI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5F071-CCC7-4460-8B1E-BAB3A40C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2190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74024-52D1-411E-9721-DE44AD2F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8C8F2-A0F8-4291-B494-05A52D0A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運用設計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0244E-FD10-4827-B430-D9940B0E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4191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BC401-62E8-4E77-AD79-E50F62D0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20618"/>
                </a:solidFill>
              </a:defRPr>
            </a:pPr>
            <a:r>
              <a:rPr sz="2025" b="1">
                <a:solidFill>
                  <a:srgbClr val="020618"/>
                </a:solidFill>
              </a:rPr>
              <a:t>概算：個別見積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8020D-47D0-4F1B-8497-EFF003E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191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49780-1513-4E09-AF0E-84EC2B3A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29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次回：画像サンプル確認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60DC8-0161-4F52-9133-33702807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ProposalPilot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693F2-C7AA-475A-BB6F-9876FAD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AD5E2"/>
                </a:solidFill>
              </a:defRPr>
            </a:pPr>
            <a:r>
              <a:rPr sz="900" b="0">
                <a:solidFill>
                  <a:srgbClr val="CAD5E2"/>
                </a:solidFill>
              </a:rPr>
              <a:t>Prototype B / Estimate &amp;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CAE7C-6357-4D4E-944D-9A4247A8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5926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2026-07-16T21:52:33.9430000Z</dcterms:created>
  <dcterms:modified xsi:type="dcterms:W3CDTF">2026-07-16T21:52:33.9430000Z</dcterms:modified>
</coreProperties>
</file>